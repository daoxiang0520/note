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51"/>
  </p:handoutMasterIdLst>
  <p:sldIdLst>
    <p:sldId id="542" r:id="rId3"/>
    <p:sldId id="1204" r:id="rId5"/>
    <p:sldId id="1576" r:id="rId6"/>
    <p:sldId id="1252" r:id="rId7"/>
    <p:sldId id="1453" r:id="rId8"/>
    <p:sldId id="1213" r:id="rId9"/>
    <p:sldId id="1294" r:id="rId10"/>
    <p:sldId id="1544" r:id="rId11"/>
    <p:sldId id="1545" r:id="rId12"/>
    <p:sldId id="1548" r:id="rId13"/>
    <p:sldId id="1551" r:id="rId14"/>
    <p:sldId id="1546" r:id="rId15"/>
    <p:sldId id="1293" r:id="rId16"/>
    <p:sldId id="1214" r:id="rId17"/>
    <p:sldId id="1285" r:id="rId18"/>
    <p:sldId id="1286" r:id="rId19"/>
    <p:sldId id="1287" r:id="rId20"/>
    <p:sldId id="1288" r:id="rId21"/>
    <p:sldId id="1289" r:id="rId22"/>
    <p:sldId id="1290" r:id="rId23"/>
    <p:sldId id="1291" r:id="rId24"/>
    <p:sldId id="1292" r:id="rId25"/>
    <p:sldId id="1552" r:id="rId26"/>
    <p:sldId id="1553" r:id="rId27"/>
    <p:sldId id="1216" r:id="rId28"/>
    <p:sldId id="1217" r:id="rId29"/>
    <p:sldId id="1577" r:id="rId30"/>
    <p:sldId id="1218" r:id="rId31"/>
    <p:sldId id="1219" r:id="rId32"/>
    <p:sldId id="1223" r:id="rId33"/>
    <p:sldId id="1225" r:id="rId34"/>
    <p:sldId id="1555" r:id="rId35"/>
    <p:sldId id="1224" r:id="rId36"/>
    <p:sldId id="1253" r:id="rId37"/>
    <p:sldId id="1254" r:id="rId38"/>
    <p:sldId id="1412" r:id="rId39"/>
    <p:sldId id="1578" r:id="rId40"/>
    <p:sldId id="1220" r:id="rId41"/>
    <p:sldId id="1221" r:id="rId42"/>
    <p:sldId id="1222" r:id="rId43"/>
    <p:sldId id="1226" r:id="rId44"/>
    <p:sldId id="1261" r:id="rId45"/>
    <p:sldId id="1227" r:id="rId46"/>
    <p:sldId id="1228" r:id="rId47"/>
    <p:sldId id="1229" r:id="rId48"/>
    <p:sldId id="1268" r:id="rId49"/>
    <p:sldId id="1269" r:id="rId50"/>
  </p:sldIdLst>
  <p:sldSz cx="12192000" cy="6858000"/>
  <p:notesSz cx="7302500" cy="9586595"/>
  <p:custDataLst>
    <p:tags r:id="rId55"/>
  </p:custDataLst>
  <p:defaultTextStyle>
    <a:defPPr>
      <a:defRPr lang="en-US"/>
    </a:defPPr>
    <a:lvl1pPr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5pPr>
    <a:lvl6pPr marL="2286000" algn="l" defTabSz="914400" rtl="0" eaLnBrk="1" latinLnBrk="0" hangingPunct="1">
      <a:defRPr sz="2400" b="1" kern="1200">
        <a:solidFill>
          <a:schemeClr val="tx1"/>
        </a:solidFill>
        <a:latin typeface="Arial Narrow" panose="020B0706020202030204" pitchFamily="34" charset="0"/>
        <a:ea typeface="+mn-ea"/>
        <a:cs typeface="+mn-cs"/>
      </a:defRPr>
    </a:lvl6pPr>
    <a:lvl7pPr marL="2743200" algn="l" defTabSz="914400" rtl="0" eaLnBrk="1" latinLnBrk="0" hangingPunct="1">
      <a:defRPr sz="2400" b="1" kern="1200">
        <a:solidFill>
          <a:schemeClr val="tx1"/>
        </a:solidFill>
        <a:latin typeface="Arial Narrow" panose="020B0706020202030204" pitchFamily="34" charset="0"/>
        <a:ea typeface="+mn-ea"/>
        <a:cs typeface="+mn-cs"/>
      </a:defRPr>
    </a:lvl7pPr>
    <a:lvl8pPr marL="3200400" algn="l" defTabSz="914400" rtl="0" eaLnBrk="1" latinLnBrk="0" hangingPunct="1">
      <a:defRPr sz="2400" b="1" kern="1200">
        <a:solidFill>
          <a:schemeClr val="tx1"/>
        </a:solidFill>
        <a:latin typeface="Arial Narrow" panose="020B0706020202030204" pitchFamily="34" charset="0"/>
        <a:ea typeface="+mn-ea"/>
        <a:cs typeface="+mn-cs"/>
      </a:defRPr>
    </a:lvl8pPr>
    <a:lvl9pPr marL="3657600" algn="l" defTabSz="914400" rtl="0" eaLnBrk="1" latinLnBrk="0" hangingPunct="1">
      <a:defRPr sz="2400" b="1" kern="1200">
        <a:solidFill>
          <a:schemeClr val="tx1"/>
        </a:solidFill>
        <a:latin typeface="Arial Narrow" panose="020B0706020202030204" pitchFamily="34" charset="0"/>
        <a:ea typeface="+mn-ea"/>
        <a:cs typeface="+mn-cs"/>
      </a:defRPr>
    </a:lvl9pPr>
  </p:defaultTextStyle>
  <p:extLst>
    <p:ext uri="{EFAFB233-063F-42B5-8137-9DF3F51BA10A}">
      <p15:sldGuideLst xmlns:p15="http://schemas.microsoft.com/office/powerpoint/2012/main">
        <p15:guide id="1" orient="horz" pos="242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0000"/>
    <a:srgbClr val="BFBFBF"/>
    <a:srgbClr val="990000"/>
    <a:srgbClr val="F6F5BD"/>
    <a:srgbClr val="F1C7C7"/>
    <a:srgbClr val="D5F1CF"/>
    <a:srgbClr val="E9E1C9"/>
    <a:srgbClr val="DED8C4"/>
    <a:srgbClr val="E7DDBB"/>
    <a:srgbClr val="DDCE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141" autoAdjust="0"/>
    <p:restoredTop sz="96281" autoAdjust="0"/>
  </p:normalViewPr>
  <p:slideViewPr>
    <p:cSldViewPr snapToObjects="1" showGuides="1">
      <p:cViewPr varScale="1">
        <p:scale>
          <a:sx n="112" d="100"/>
          <a:sy n="112" d="100"/>
        </p:scale>
        <p:origin x="200" y="504"/>
      </p:cViewPr>
      <p:guideLst>
        <p:guide orient="horz" pos="2424"/>
        <p:guide pos="3840"/>
      </p:guideLst>
    </p:cSldViewPr>
  </p:slideViewPr>
  <p:notesTextViewPr>
    <p:cViewPr>
      <p:scale>
        <a:sx n="125" d="100"/>
        <a:sy n="125" d="100"/>
      </p:scale>
      <p:origin x="0" y="0"/>
    </p:cViewPr>
  </p:notesTextViewPr>
  <p:sorterViewPr>
    <p:cViewPr>
      <p:scale>
        <a:sx n="80" d="100"/>
        <a:sy n="80" d="100"/>
      </p:scale>
      <p:origin x="0" y="3584"/>
    </p:cViewPr>
  </p:sorterViewPr>
  <p:notesViewPr>
    <p:cSldViewPr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gs" Target="tags/tag10.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ln>
          <a:effectLst/>
        </p:spPr>
        <p:txBody>
          <a:bodyPr vert="horz" wrap="square" lIns="96422" tIns="48211" rIns="96422" bIns="48211" numCol="1" anchor="t" anchorCtr="0" compatLnSpc="1"/>
          <a:lstStyle>
            <a:lvl1pPr defTabSz="965200">
              <a:defRPr sz="1200" smtClean="0">
                <a:latin typeface="Times New Roman" panose="02020603050405020304" pitchFamily="18" charset="0"/>
              </a:defRPr>
            </a:lvl1pPr>
          </a:lstStyle>
          <a:p>
            <a:pPr>
              <a:defRPr/>
            </a:pPr>
            <a:r>
              <a:rPr lang="en-US"/>
              <a:t>DAC 2001 Tutorial</a:t>
            </a:r>
            <a:endParaRPr lang="en-US"/>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ln>
          <a:effectLst/>
        </p:spPr>
        <p:txBody>
          <a:bodyPr vert="horz" wrap="square" lIns="96422" tIns="48211" rIns="96422" bIns="48211" numCol="1" anchor="t" anchorCtr="0" compatLnSpc="1"/>
          <a:lstStyle>
            <a:lvl1pPr algn="r" defTabSz="965200">
              <a:defRPr sz="1200" smtClean="0">
                <a:latin typeface="Times New Roman" panose="02020603050405020304" pitchFamily="18" charset="0"/>
              </a:defRPr>
            </a:lvl1pPr>
          </a:lstStyle>
          <a:p>
            <a:pPr>
              <a:defRPr/>
            </a:pPr>
            <a:endParaRPr lang="en-US"/>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ln>
          <a:effectLst/>
        </p:spPr>
        <p:txBody>
          <a:bodyPr vert="horz" wrap="square" lIns="96422" tIns="48211" rIns="96422" bIns="48211" numCol="1" anchor="b" anchorCtr="0" compatLnSpc="1"/>
          <a:lstStyle>
            <a:lvl1pPr defTabSz="965200">
              <a:defRPr sz="1200" smtClean="0">
                <a:latin typeface="Times New Roman" panose="02020603050405020304" pitchFamily="18" charset="0"/>
                <a:cs typeface="Times New Roman" panose="02020603050405020304" pitchFamily="18" charset="0"/>
              </a:defRPr>
            </a:lvl1pPr>
          </a:lstStyle>
          <a:p>
            <a:pPr>
              <a:defRPr/>
            </a:pPr>
            <a:r>
              <a:rPr lang="en-US"/>
              <a:t>©R.A. Rutenbar, 2001</a:t>
            </a:r>
            <a:endParaRPr lang="en-US"/>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ln>
          <a:effectLst/>
        </p:spPr>
        <p:txBody>
          <a:bodyPr vert="horz" wrap="square" lIns="96422" tIns="48211" rIns="96422" bIns="48211" numCol="1" anchor="b" anchorCtr="0" compatLnSpc="1"/>
          <a:lstStyle>
            <a:lvl1pPr algn="r" defTabSz="965200">
              <a:defRPr sz="1200" smtClean="0">
                <a:latin typeface="Times New Roman" panose="02020603050405020304" pitchFamily="18" charset="0"/>
              </a:defRPr>
            </a:lvl1pPr>
          </a:lstStyle>
          <a:p>
            <a:pPr>
              <a:defRPr/>
            </a:pPr>
            <a:fld id="{83587096-7852-44F5-9A71-D621B1FF2472}"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ln>
          <a:effectLst/>
        </p:spPr>
        <p:txBody>
          <a:bodyPr vert="horz" wrap="square" lIns="91440" tIns="45720" rIns="91440" bIns="45720" numCol="1" anchor="t" anchorCtr="0" compatLnSpc="1"/>
          <a:lstStyle>
            <a:lvl1pPr>
              <a:defRPr sz="1200" b="0" smtClean="0">
                <a:latin typeface="Times New Roman" panose="02020603050405020304"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ln>
          <a:effectLst/>
        </p:spPr>
        <p:txBody>
          <a:bodyPr vert="horz" wrap="square" lIns="91440" tIns="45720" rIns="91440" bIns="45720" numCol="1" anchor="t" anchorCtr="0" compatLnSpc="1"/>
          <a:lstStyle>
            <a:lvl1pPr algn="r">
              <a:defRPr sz="1200" b="0" smtClean="0">
                <a:latin typeface="Times New Roman" panose="02020603050405020304"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406400" y="685800"/>
            <a:ext cx="6502400" cy="3657600"/>
          </a:xfrm>
          <a:prstGeom prst="rect">
            <a:avLst/>
          </a:prstGeom>
          <a:noFill/>
          <a:ln w="9525">
            <a:solidFill>
              <a:srgbClr val="000000"/>
            </a:solidFill>
            <a:miter lim="800000"/>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ln>
          <a:effectLst/>
        </p:spPr>
        <p:txBody>
          <a:bodyPr vert="horz" wrap="square" lIns="91440" tIns="45720" rIns="91440" bIns="45720" numCol="1" anchor="b" anchorCtr="0" compatLnSpc="1"/>
          <a:lstStyle>
            <a:lvl1pPr>
              <a:defRPr sz="1200" b="0" smtClean="0">
                <a:latin typeface="Times New Roman" panose="02020603050405020304"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ln>
          <a:effectLst/>
        </p:spPr>
        <p:txBody>
          <a:bodyPr vert="horz" wrap="square" lIns="91440" tIns="45720" rIns="91440" bIns="45720" numCol="1" anchor="b" anchorCtr="0" compatLnSpc="1"/>
          <a:lstStyle>
            <a:lvl1pPr algn="r">
              <a:defRPr sz="1200" b="0" smtClean="0">
                <a:latin typeface="Times New Roman" panose="02020603050405020304" pitchFamily="18" charset="0"/>
              </a:defRPr>
            </a:lvl1pPr>
          </a:lstStyle>
          <a:p>
            <a:pPr>
              <a:defRPr/>
            </a:pPr>
            <a:fld id="{40F64717-A5A5-4C4E-9291-2F18B7410B06}"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lib.csdn.net/base/linux" TargetMode="External"/><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7" Type="http://schemas.openxmlformats.org/officeDocument/2006/relationships/hyperlink" Target="https://man7.org/linux/man-pages/man2/read.2.html" TargetMode="External"/><Relationship Id="rId6" Type="http://schemas.openxmlformats.org/officeDocument/2006/relationships/hyperlink" Target="https://man7.org/linux/man-pages/man2/signalfd.2.html" TargetMode="External"/><Relationship Id="rId5" Type="http://schemas.openxmlformats.org/officeDocument/2006/relationships/hyperlink" Target="https://man7.org/linux/man-pages/man3/sigwait.3.html" TargetMode="External"/><Relationship Id="rId4" Type="http://schemas.openxmlformats.org/officeDocument/2006/relationships/hyperlink" Target="https://man7.org/linux/man-pages/man2/sigtimedwait.2.html" TargetMode="External"/><Relationship Id="rId3" Type="http://schemas.openxmlformats.org/officeDocument/2006/relationships/hyperlink" Target="https://man7.org/linux/man-pages/man2/sigwaitinfo.2.html" TargetMode="External"/><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xfrm>
            <a:off x="406400" y="685800"/>
            <a:ext cx="6502400" cy="3657600"/>
          </a:xfrm>
        </p:spPr>
      </p:sp>
      <p:sp>
        <p:nvSpPr>
          <p:cNvPr id="51203" name="Notes Placeholder 2"/>
          <p:cNvSpPr>
            <a:spLocks noGrp="1"/>
          </p:cNvSpPr>
          <p:nvPr>
            <p:ph type="body" idx="1"/>
          </p:nvPr>
        </p:nvSpPr>
        <p:spPr>
          <a:noFill/>
        </p:spPr>
        <p:txBody>
          <a:bodyPr/>
          <a:lstStyle/>
          <a:p>
            <a:endParaRPr lang="en-US" dirty="0"/>
          </a:p>
        </p:txBody>
      </p:sp>
      <p:sp>
        <p:nvSpPr>
          <p:cNvPr id="51204" name="Slide Number Placeholder 3"/>
          <p:cNvSpPr>
            <a:spLocks noGrp="1"/>
          </p:cNvSpPr>
          <p:nvPr>
            <p:ph type="sldNum" sz="quarter" idx="5"/>
          </p:nvPr>
        </p:nvSpPr>
        <p:spPr>
          <a:noFill/>
        </p:spPr>
        <p:txBody>
          <a:bodyPr/>
          <a:lstStyle/>
          <a:p>
            <a:fld id="{7F803353-72E2-470C-8E67-87750F01FAF1}" type="slidenum">
              <a:rPr lang="en-US"/>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Rot="1" noChangeAspect="1" noChangeArrowheads="1" noTextEdit="1"/>
          </p:cNvSpPr>
          <p:nvPr>
            <p:ph type="sldImg"/>
          </p:nvPr>
        </p:nvSpPr>
        <p:spPr>
          <a:xfrm>
            <a:off x="406400" y="685800"/>
            <a:ext cx="6502400" cy="3657600"/>
          </a:xfrm>
        </p:spPr>
      </p:sp>
      <p:sp>
        <p:nvSpPr>
          <p:cNvPr id="56934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85800"/>
            <a:ext cx="6502400" cy="36576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406400" y="685800"/>
            <a:ext cx="6502400" cy="3657600"/>
          </a:xfrm>
        </p:spPr>
      </p:sp>
      <p:sp>
        <p:nvSpPr>
          <p:cNvPr id="24579" name="Rectangle 3"/>
          <p:cNvSpPr>
            <a:spLocks noGrp="1" noChangeArrowheads="1"/>
          </p:cNvSpPr>
          <p:nvPr>
            <p:ph type="body" idx="1"/>
          </p:nvPr>
        </p:nvSpPr>
        <p:spPr>
          <a:noFill/>
          <a:ln w="9525"/>
        </p:spPr>
        <p:txBody>
          <a:bodyPr/>
          <a:lstStyle/>
          <a:p>
            <a:r>
              <a:rPr lang="en-US" altLang="zh-CN" sz="1200" b="1" i="0" u="none" strike="noStrike" kern="1200" dirty="0">
                <a:solidFill>
                  <a:schemeClr val="tx1"/>
                </a:solidFill>
                <a:effectLst/>
                <a:latin typeface="Times New Roman" panose="02020603050405020304" pitchFamily="18" charset="0"/>
                <a:ea typeface="+mn-ea"/>
                <a:cs typeface="+mn-cs"/>
                <a:hlinkClick r:id="rId3" tooltip="Linux知识库"/>
              </a:rPr>
              <a:t>Linux</a:t>
            </a:r>
            <a:r>
              <a:rPr lang="zh-CN" altLang="en-US" sz="1200" b="0" i="0" kern="1200" dirty="0">
                <a:solidFill>
                  <a:schemeClr val="tx1"/>
                </a:solidFill>
                <a:effectLst/>
                <a:latin typeface="Times New Roman" panose="02020603050405020304" pitchFamily="18" charset="0"/>
                <a:ea typeface="+mn-ea"/>
                <a:cs typeface="+mn-cs"/>
              </a:rPr>
              <a:t>下有</a:t>
            </a:r>
            <a:r>
              <a:rPr lang="en-US" altLang="zh-CN" sz="1200" b="0" i="0" kern="1200" dirty="0">
                <a:solidFill>
                  <a:schemeClr val="tx1"/>
                </a:solidFill>
                <a:effectLst/>
                <a:latin typeface="Times New Roman" panose="02020603050405020304" pitchFamily="18" charset="0"/>
                <a:ea typeface="+mn-ea"/>
                <a:cs typeface="+mn-cs"/>
              </a:rPr>
              <a:t>3</a:t>
            </a:r>
            <a:r>
              <a:rPr lang="zh-CN" altLang="en-US" sz="1200" b="0" i="0" kern="1200" dirty="0">
                <a:solidFill>
                  <a:schemeClr val="tx1"/>
                </a:solidFill>
                <a:effectLst/>
                <a:latin typeface="Times New Roman" panose="02020603050405020304" pitchFamily="18" charset="0"/>
                <a:ea typeface="+mn-ea"/>
                <a:cs typeface="+mn-cs"/>
              </a:rPr>
              <a:t>个特殊的进程，</a:t>
            </a:r>
            <a:r>
              <a:rPr lang="en-US" altLang="zh-CN" sz="1200" b="0" i="0" kern="1200" dirty="0">
                <a:solidFill>
                  <a:schemeClr val="tx1"/>
                </a:solidFill>
                <a:effectLst/>
                <a:latin typeface="Times New Roman" panose="02020603050405020304" pitchFamily="18" charset="0"/>
                <a:ea typeface="+mn-ea"/>
                <a:cs typeface="+mn-cs"/>
              </a:rPr>
              <a:t>idle</a:t>
            </a:r>
            <a:r>
              <a:rPr lang="zh-CN" altLang="en-US" sz="1200" b="0" i="0" kern="1200" dirty="0">
                <a:solidFill>
                  <a:schemeClr val="tx1"/>
                </a:solidFill>
                <a:effectLst/>
                <a:latin typeface="Times New Roman" panose="02020603050405020304" pitchFamily="18" charset="0"/>
                <a:ea typeface="+mn-ea"/>
                <a:cs typeface="+mn-cs"/>
              </a:rPr>
              <a:t>进程</a:t>
            </a:r>
            <a:r>
              <a:rPr lang="en-US" altLang="zh-CN" sz="1200" b="0" i="0" kern="1200" dirty="0">
                <a:solidFill>
                  <a:schemeClr val="tx1"/>
                </a:solidFill>
                <a:effectLst/>
                <a:latin typeface="Times New Roman" panose="02020603050405020304" pitchFamily="18" charset="0"/>
                <a:ea typeface="+mn-ea"/>
                <a:cs typeface="+mn-cs"/>
              </a:rPr>
              <a:t>(PID = 0), </a:t>
            </a:r>
            <a:r>
              <a:rPr lang="en-US" altLang="zh-CN" sz="1200" b="0" i="0" kern="1200" dirty="0" err="1">
                <a:solidFill>
                  <a:schemeClr val="tx1"/>
                </a:solidFill>
                <a:effectLst/>
                <a:latin typeface="Times New Roman" panose="02020603050405020304" pitchFamily="18" charset="0"/>
                <a:ea typeface="+mn-ea"/>
                <a:cs typeface="+mn-cs"/>
              </a:rPr>
              <a:t>init</a:t>
            </a:r>
            <a:r>
              <a:rPr lang="zh-CN" altLang="en-US" sz="1200" b="0" i="0" kern="1200" dirty="0">
                <a:solidFill>
                  <a:schemeClr val="tx1"/>
                </a:solidFill>
                <a:effectLst/>
                <a:latin typeface="Times New Roman" panose="02020603050405020304" pitchFamily="18" charset="0"/>
                <a:ea typeface="+mn-ea"/>
                <a:cs typeface="+mn-cs"/>
              </a:rPr>
              <a:t>进程</a:t>
            </a:r>
            <a:r>
              <a:rPr lang="en-US" altLang="zh-CN" sz="1200" b="0" i="0" kern="1200" dirty="0">
                <a:solidFill>
                  <a:schemeClr val="tx1"/>
                </a:solidFill>
                <a:effectLst/>
                <a:latin typeface="Times New Roman" panose="02020603050405020304" pitchFamily="18" charset="0"/>
                <a:ea typeface="+mn-ea"/>
                <a:cs typeface="+mn-cs"/>
              </a:rPr>
              <a:t>(PID = 1)</a:t>
            </a:r>
            <a:r>
              <a:rPr lang="zh-CN" altLang="en-US" sz="1200" b="0" i="0" kern="1200" dirty="0">
                <a:solidFill>
                  <a:schemeClr val="tx1"/>
                </a:solidFill>
                <a:effectLst/>
                <a:latin typeface="Times New Roman" panose="02020603050405020304" pitchFamily="18" charset="0"/>
                <a:ea typeface="+mn-ea"/>
                <a:cs typeface="+mn-cs"/>
              </a:rPr>
              <a:t>和</a:t>
            </a:r>
            <a:r>
              <a:rPr lang="en-US" altLang="zh-CN" sz="1200" b="0" i="0" kern="1200" dirty="0" err="1">
                <a:solidFill>
                  <a:schemeClr val="tx1"/>
                </a:solidFill>
                <a:effectLst/>
                <a:latin typeface="Times New Roman" panose="02020603050405020304" pitchFamily="18" charset="0"/>
                <a:ea typeface="+mn-ea"/>
                <a:cs typeface="+mn-cs"/>
              </a:rPr>
              <a:t>kthreadd</a:t>
            </a:r>
            <a:r>
              <a:rPr lang="en-US" altLang="zh-CN" sz="1200" b="0" i="0" kern="1200" dirty="0">
                <a:solidFill>
                  <a:schemeClr val="tx1"/>
                </a:solidFill>
                <a:effectLst/>
                <a:latin typeface="Times New Roman" panose="02020603050405020304" pitchFamily="18" charset="0"/>
                <a:ea typeface="+mn-ea"/>
                <a:cs typeface="+mn-cs"/>
              </a:rPr>
              <a:t>(PID = 2)</a:t>
            </a:r>
            <a:br>
              <a:rPr lang="en-US" altLang="zh-CN" sz="1200" b="0" i="0" kern="1200" dirty="0">
                <a:solidFill>
                  <a:schemeClr val="tx1"/>
                </a:solidFill>
                <a:effectLst/>
                <a:latin typeface="Times New Roman" panose="02020603050405020304" pitchFamily="18" charset="0"/>
                <a:ea typeface="+mn-ea"/>
                <a:cs typeface="+mn-cs"/>
              </a:rPr>
            </a:br>
            <a:r>
              <a:rPr lang="en-US" altLang="zh-CN" sz="1200" b="0" i="0" kern="1200" dirty="0">
                <a:solidFill>
                  <a:schemeClr val="tx1"/>
                </a:solidFill>
                <a:effectLst/>
                <a:latin typeface="Times New Roman" panose="02020603050405020304" pitchFamily="18" charset="0"/>
                <a:ea typeface="+mn-ea"/>
                <a:cs typeface="+mn-cs"/>
              </a:rPr>
              <a:t>* idle</a:t>
            </a:r>
            <a:r>
              <a:rPr lang="zh-CN" altLang="en-US" sz="1200" b="0" i="0" kern="1200" dirty="0">
                <a:solidFill>
                  <a:schemeClr val="tx1"/>
                </a:solidFill>
                <a:effectLst/>
                <a:latin typeface="Times New Roman" panose="02020603050405020304" pitchFamily="18" charset="0"/>
                <a:ea typeface="+mn-ea"/>
                <a:cs typeface="+mn-cs"/>
              </a:rPr>
              <a:t>进程由系统自动创建</a:t>
            </a:r>
            <a:r>
              <a:rPr lang="en-US" altLang="zh-CN" sz="1200" b="0" i="0" kern="1200" dirty="0">
                <a:solidFill>
                  <a:schemeClr val="tx1"/>
                </a:solidFill>
                <a:effectLst/>
                <a:latin typeface="Times New Roman" panose="02020603050405020304" pitchFamily="18" charset="0"/>
                <a:ea typeface="+mn-ea"/>
                <a:cs typeface="+mn-cs"/>
              </a:rPr>
              <a:t>, </a:t>
            </a:r>
            <a:r>
              <a:rPr lang="zh-CN" altLang="en-US" sz="1200" b="0" i="0" kern="1200" dirty="0">
                <a:solidFill>
                  <a:schemeClr val="tx1"/>
                </a:solidFill>
                <a:effectLst/>
                <a:latin typeface="Times New Roman" panose="02020603050405020304" pitchFamily="18" charset="0"/>
                <a:ea typeface="+mn-ea"/>
                <a:cs typeface="+mn-cs"/>
              </a:rPr>
              <a:t>运行在内核态 </a:t>
            </a:r>
            <a:br>
              <a:rPr lang="zh-CN" altLang="en-US" sz="1200" b="0" i="0" kern="1200" dirty="0">
                <a:solidFill>
                  <a:schemeClr val="tx1"/>
                </a:solidFill>
                <a:effectLst/>
                <a:latin typeface="Times New Roman" panose="02020603050405020304" pitchFamily="18" charset="0"/>
                <a:ea typeface="+mn-ea"/>
                <a:cs typeface="+mn-cs"/>
              </a:rPr>
            </a:br>
            <a:r>
              <a:rPr lang="en-US" altLang="zh-CN" sz="1200" b="0" i="0" kern="1200" dirty="0">
                <a:solidFill>
                  <a:schemeClr val="tx1"/>
                </a:solidFill>
                <a:effectLst/>
                <a:latin typeface="Times New Roman" panose="02020603050405020304" pitchFamily="18" charset="0"/>
                <a:ea typeface="+mn-ea"/>
                <a:cs typeface="+mn-cs"/>
              </a:rPr>
              <a:t>idle</a:t>
            </a:r>
            <a:r>
              <a:rPr lang="zh-CN" altLang="en-US" sz="1200" b="0" i="0" kern="1200" dirty="0">
                <a:solidFill>
                  <a:schemeClr val="tx1"/>
                </a:solidFill>
                <a:effectLst/>
                <a:latin typeface="Times New Roman" panose="02020603050405020304" pitchFamily="18" charset="0"/>
                <a:ea typeface="+mn-ea"/>
                <a:cs typeface="+mn-cs"/>
              </a:rPr>
              <a:t>进程其</a:t>
            </a:r>
            <a:r>
              <a:rPr lang="en-US" altLang="zh-CN" sz="1200" b="0" i="0" kern="1200" dirty="0" err="1">
                <a:solidFill>
                  <a:schemeClr val="tx1"/>
                </a:solidFill>
                <a:effectLst/>
                <a:latin typeface="Times New Roman" panose="02020603050405020304" pitchFamily="18" charset="0"/>
                <a:ea typeface="+mn-ea"/>
                <a:cs typeface="+mn-cs"/>
              </a:rPr>
              <a:t>pid</a:t>
            </a:r>
            <a:r>
              <a:rPr lang="en-US" altLang="zh-CN" sz="1200" b="0" i="0" kern="1200" dirty="0">
                <a:solidFill>
                  <a:schemeClr val="tx1"/>
                </a:solidFill>
                <a:effectLst/>
                <a:latin typeface="Times New Roman" panose="02020603050405020304" pitchFamily="18" charset="0"/>
                <a:ea typeface="+mn-ea"/>
                <a:cs typeface="+mn-cs"/>
              </a:rPr>
              <a:t>=0</a:t>
            </a:r>
            <a:r>
              <a:rPr lang="zh-CN" altLang="en-US" sz="1200" b="0" i="0" kern="1200" dirty="0">
                <a:solidFill>
                  <a:schemeClr val="tx1"/>
                </a:solidFill>
                <a:effectLst/>
                <a:latin typeface="Times New Roman" panose="02020603050405020304" pitchFamily="18" charset="0"/>
                <a:ea typeface="+mn-ea"/>
                <a:cs typeface="+mn-cs"/>
              </a:rPr>
              <a:t>，其前身是系统创建的第一个进程，也是唯一一个没有通过</a:t>
            </a:r>
            <a:r>
              <a:rPr lang="en-US" altLang="zh-CN" sz="1200" b="0" i="0" kern="1200" dirty="0">
                <a:solidFill>
                  <a:schemeClr val="tx1"/>
                </a:solidFill>
                <a:effectLst/>
                <a:latin typeface="Times New Roman" panose="02020603050405020304" pitchFamily="18" charset="0"/>
                <a:ea typeface="+mn-ea"/>
                <a:cs typeface="+mn-cs"/>
              </a:rPr>
              <a:t>fork</a:t>
            </a:r>
            <a:r>
              <a:rPr lang="zh-CN" altLang="en-US" sz="1200" b="0" i="0" kern="1200" dirty="0">
                <a:solidFill>
                  <a:schemeClr val="tx1"/>
                </a:solidFill>
                <a:effectLst/>
                <a:latin typeface="Times New Roman" panose="02020603050405020304" pitchFamily="18" charset="0"/>
                <a:ea typeface="+mn-ea"/>
                <a:cs typeface="+mn-cs"/>
              </a:rPr>
              <a:t>或者</a:t>
            </a:r>
            <a:r>
              <a:rPr lang="en-US" altLang="zh-CN" sz="1200" b="0" i="0" kern="1200" dirty="0" err="1">
                <a:solidFill>
                  <a:schemeClr val="tx1"/>
                </a:solidFill>
                <a:effectLst/>
                <a:latin typeface="Times New Roman" panose="02020603050405020304" pitchFamily="18" charset="0"/>
                <a:ea typeface="+mn-ea"/>
                <a:cs typeface="+mn-cs"/>
              </a:rPr>
              <a:t>kernel_thread</a:t>
            </a:r>
            <a:r>
              <a:rPr lang="zh-CN" altLang="en-US" sz="1200" b="0" i="0" kern="1200" dirty="0">
                <a:solidFill>
                  <a:schemeClr val="tx1"/>
                </a:solidFill>
                <a:effectLst/>
                <a:latin typeface="Times New Roman" panose="02020603050405020304" pitchFamily="18" charset="0"/>
                <a:ea typeface="+mn-ea"/>
                <a:cs typeface="+mn-cs"/>
              </a:rPr>
              <a:t>产生的进程。完成加载系统后，演变为进程调度、交换</a:t>
            </a:r>
            <a:br>
              <a:rPr lang="zh-CN" altLang="en-US" sz="1200" b="0" i="0" kern="1200" dirty="0">
                <a:solidFill>
                  <a:schemeClr val="tx1"/>
                </a:solidFill>
                <a:effectLst/>
                <a:latin typeface="Times New Roman" panose="02020603050405020304" pitchFamily="18" charset="0"/>
                <a:ea typeface="+mn-ea"/>
                <a:cs typeface="+mn-cs"/>
              </a:rPr>
            </a:br>
            <a:endParaRPr lang="en-US" altLang="zh-CN" sz="1200" b="0" i="0" kern="1200" dirty="0">
              <a:solidFill>
                <a:schemeClr val="tx1"/>
              </a:solidFill>
              <a:effectLst/>
              <a:latin typeface="Times New Roman" panose="02020603050405020304" pitchFamily="18" charset="0"/>
              <a:ea typeface="+mn-ea"/>
              <a:cs typeface="+mn-cs"/>
            </a:endParaRPr>
          </a:p>
          <a:p>
            <a:pPr marL="171450" indent="-171450">
              <a:buFont typeface="Arial" panose="020B0704020202020204" pitchFamily="34" charset="0"/>
              <a:buChar char="•"/>
            </a:pPr>
            <a:r>
              <a:rPr lang="en-US" altLang="zh-CN" sz="1200" b="0" i="0" kern="1200" dirty="0" err="1">
                <a:solidFill>
                  <a:schemeClr val="tx1"/>
                </a:solidFill>
                <a:effectLst/>
                <a:latin typeface="Times New Roman" panose="02020603050405020304" pitchFamily="18" charset="0"/>
                <a:ea typeface="+mn-ea"/>
                <a:cs typeface="+mn-cs"/>
              </a:rPr>
              <a:t>init</a:t>
            </a:r>
            <a:r>
              <a:rPr lang="zh-CN" altLang="en-US" sz="1200" b="0" i="0" kern="1200" dirty="0">
                <a:solidFill>
                  <a:schemeClr val="tx1"/>
                </a:solidFill>
                <a:effectLst/>
                <a:latin typeface="Times New Roman" panose="02020603050405020304" pitchFamily="18" charset="0"/>
                <a:ea typeface="+mn-ea"/>
                <a:cs typeface="+mn-cs"/>
              </a:rPr>
              <a:t>进程由</a:t>
            </a:r>
            <a:r>
              <a:rPr lang="en-US" altLang="zh-CN" sz="1200" b="0" i="0" kern="1200" dirty="0">
                <a:solidFill>
                  <a:schemeClr val="tx1"/>
                </a:solidFill>
                <a:effectLst/>
                <a:latin typeface="Times New Roman" panose="02020603050405020304" pitchFamily="18" charset="0"/>
                <a:ea typeface="+mn-ea"/>
                <a:cs typeface="+mn-cs"/>
              </a:rPr>
              <a:t>idle</a:t>
            </a:r>
            <a:r>
              <a:rPr lang="zh-CN" altLang="en-US" sz="1200" b="0" i="0" kern="1200" dirty="0">
                <a:solidFill>
                  <a:schemeClr val="tx1"/>
                </a:solidFill>
                <a:effectLst/>
                <a:latin typeface="Times New Roman" panose="02020603050405020304" pitchFamily="18" charset="0"/>
                <a:ea typeface="+mn-ea"/>
                <a:cs typeface="+mn-cs"/>
              </a:rPr>
              <a:t>通过</a:t>
            </a:r>
            <a:r>
              <a:rPr lang="en-US" altLang="zh-CN" sz="1200" b="0" i="0" kern="1200" dirty="0" err="1">
                <a:solidFill>
                  <a:schemeClr val="tx1"/>
                </a:solidFill>
                <a:effectLst/>
                <a:latin typeface="Times New Roman" panose="02020603050405020304" pitchFamily="18" charset="0"/>
                <a:ea typeface="+mn-ea"/>
                <a:cs typeface="+mn-cs"/>
              </a:rPr>
              <a:t>kernel_thread</a:t>
            </a:r>
            <a:r>
              <a:rPr lang="zh-CN" altLang="en-US" sz="1200" b="0" i="0" kern="1200" dirty="0">
                <a:solidFill>
                  <a:schemeClr val="tx1"/>
                </a:solidFill>
                <a:effectLst/>
                <a:latin typeface="Times New Roman" panose="02020603050405020304" pitchFamily="18" charset="0"/>
                <a:ea typeface="+mn-ea"/>
                <a:cs typeface="+mn-cs"/>
              </a:rPr>
              <a:t>创建，在内核空间完成初始化后</a:t>
            </a:r>
            <a:r>
              <a:rPr lang="en-US" altLang="zh-CN" sz="1200" b="0" i="0" kern="1200" dirty="0">
                <a:solidFill>
                  <a:schemeClr val="tx1"/>
                </a:solidFill>
                <a:effectLst/>
                <a:latin typeface="Times New Roman" panose="02020603050405020304" pitchFamily="18" charset="0"/>
                <a:ea typeface="+mn-ea"/>
                <a:cs typeface="+mn-cs"/>
              </a:rPr>
              <a:t>, </a:t>
            </a:r>
            <a:r>
              <a:rPr lang="zh-CN" altLang="en-US" sz="1200" b="0" i="0" kern="1200" dirty="0">
                <a:solidFill>
                  <a:schemeClr val="tx1"/>
                </a:solidFill>
                <a:effectLst/>
                <a:latin typeface="Times New Roman" panose="02020603050405020304" pitchFamily="18" charset="0"/>
                <a:ea typeface="+mn-ea"/>
                <a:cs typeface="+mn-cs"/>
              </a:rPr>
              <a:t>加载</a:t>
            </a:r>
            <a:r>
              <a:rPr lang="en-US" altLang="zh-CN" sz="1200" b="0" i="0" kern="1200" dirty="0" err="1">
                <a:solidFill>
                  <a:schemeClr val="tx1"/>
                </a:solidFill>
                <a:effectLst/>
                <a:latin typeface="Times New Roman" panose="02020603050405020304" pitchFamily="18" charset="0"/>
                <a:ea typeface="+mn-ea"/>
                <a:cs typeface="+mn-cs"/>
              </a:rPr>
              <a:t>init</a:t>
            </a:r>
            <a:r>
              <a:rPr lang="zh-CN" altLang="en-US" sz="1200" b="0" i="0" kern="1200" dirty="0" err="1">
                <a:solidFill>
                  <a:schemeClr val="tx1"/>
                </a:solidFill>
                <a:effectLst/>
                <a:latin typeface="Times New Roman" panose="02020603050405020304" pitchFamily="18" charset="0"/>
                <a:ea typeface="+mn-ea"/>
                <a:cs typeface="+mn-cs"/>
              </a:rPr>
              <a:t>进</a:t>
            </a:r>
            <a:r>
              <a:rPr lang="zh-CN" altLang="en-US" sz="1200" b="0" i="0" kern="1200" dirty="0">
                <a:solidFill>
                  <a:schemeClr val="tx1"/>
                </a:solidFill>
                <a:effectLst/>
                <a:latin typeface="Times New Roman" panose="02020603050405020304" pitchFamily="18" charset="0"/>
                <a:ea typeface="+mn-ea"/>
                <a:cs typeface="+mn-cs"/>
              </a:rPr>
              <a:t>程，它是系统中所有其它用户进程的祖先进程。 </a:t>
            </a:r>
            <a:br>
              <a:rPr lang="zh-CN" altLang="en-US" dirty="0"/>
            </a:br>
            <a:r>
              <a:rPr lang="zh-CN" altLang="en-US" dirty="0"/>
              <a:t>进程号为</a:t>
            </a:r>
            <a:r>
              <a:rPr lang="en-US" altLang="zh-CN" dirty="0"/>
              <a:t>1</a:t>
            </a:r>
            <a:r>
              <a:rPr lang="zh-CN" altLang="en-US" dirty="0"/>
              <a:t>的进程通常是用户空间的第一个进程，也就是</a:t>
            </a:r>
            <a:r>
              <a:rPr lang="en-US" b="1" dirty="0" err="1"/>
              <a:t>init</a:t>
            </a:r>
            <a:r>
              <a:rPr lang="zh-CN" altLang="en-US" b="1" dirty="0"/>
              <a:t>进程</a:t>
            </a:r>
            <a:r>
              <a:rPr lang="zh-CN" altLang="en-US" dirty="0"/>
              <a:t>。在传统的</a:t>
            </a:r>
            <a:r>
              <a:rPr lang="en-US" dirty="0"/>
              <a:t>Unix</a:t>
            </a:r>
            <a:r>
              <a:rPr lang="zh-CN" altLang="en-US" dirty="0"/>
              <a:t>系统中，</a:t>
            </a:r>
            <a:r>
              <a:rPr lang="en-US" dirty="0" err="1"/>
              <a:t>init</a:t>
            </a:r>
            <a:r>
              <a:rPr lang="zh-CN" altLang="en-US" dirty="0"/>
              <a:t>进程是系统引导时的第一个用户级进程，负责初始化系统环境、启动其他系统服务和守护进程。在较新的</a:t>
            </a:r>
            <a:r>
              <a:rPr lang="en-US" dirty="0"/>
              <a:t>Linux</a:t>
            </a:r>
            <a:r>
              <a:rPr lang="zh-CN" altLang="en-US" dirty="0"/>
              <a:t>发行版中，可能使用的是</a:t>
            </a:r>
            <a:r>
              <a:rPr lang="en-US" dirty="0" err="1"/>
              <a:t>init</a:t>
            </a:r>
            <a:r>
              <a:rPr lang="zh-CN" altLang="en-US" dirty="0"/>
              <a:t>的替代品，比如</a:t>
            </a:r>
            <a:r>
              <a:rPr lang="en-US" dirty="0" err="1"/>
              <a:t>systemd</a:t>
            </a:r>
            <a:r>
              <a:rPr lang="zh-CN" altLang="en-US" dirty="0"/>
              <a:t>等，但</a:t>
            </a:r>
            <a:r>
              <a:rPr lang="en-US" dirty="0"/>
              <a:t>PID 1</a:t>
            </a:r>
            <a:r>
              <a:rPr lang="zh-CN" altLang="en-US" dirty="0"/>
              <a:t>仍然代表系统的主控进程。</a:t>
            </a:r>
            <a:endParaRPr lang="en-US" altLang="zh-CN" dirty="0"/>
          </a:p>
          <a:p>
            <a:pPr marL="171450" indent="-171450">
              <a:buFont typeface="Arial" panose="020B0704020202020204" pitchFamily="34" charset="0"/>
              <a:buChar char="•"/>
            </a:pPr>
            <a:endParaRPr lang="en-US" sz="1200" b="0" i="0" kern="1200" dirty="0">
              <a:solidFill>
                <a:schemeClr val="tx1"/>
              </a:solidFill>
              <a:effectLst/>
              <a:latin typeface="Times New Roman" panose="02020603050405020304" pitchFamily="18" charset="0"/>
              <a:ea typeface="+mn-ea"/>
              <a:cs typeface="+mn-cs"/>
            </a:endParaRPr>
          </a:p>
          <a:p>
            <a:r>
              <a:rPr lang="en-US" sz="1200" b="0" i="0" kern="1200" dirty="0">
                <a:solidFill>
                  <a:schemeClr val="tx1"/>
                </a:solidFill>
                <a:effectLst/>
                <a:latin typeface="Times New Roman" panose="02020603050405020304" pitchFamily="18" charset="0"/>
                <a:ea typeface="+mn-ea"/>
                <a:cs typeface="+mn-cs"/>
              </a:rPr>
              <a:t>* </a:t>
            </a:r>
            <a:r>
              <a:rPr lang="en-US" sz="1200" b="0" i="0" kern="1200" dirty="0" err="1">
                <a:solidFill>
                  <a:schemeClr val="tx1"/>
                </a:solidFill>
                <a:effectLst/>
                <a:latin typeface="Times New Roman" panose="02020603050405020304" pitchFamily="18" charset="0"/>
                <a:ea typeface="+mn-ea"/>
                <a:cs typeface="+mn-cs"/>
              </a:rPr>
              <a:t>kthreadd进程由idle通过kernel_thread创建，并始终运行在内核空间</a:t>
            </a:r>
            <a:r>
              <a:rPr lang="en-US" sz="1200" b="0" i="0" kern="1200" dirty="0">
                <a:solidFill>
                  <a:schemeClr val="tx1"/>
                </a:solidFill>
                <a:effectLst/>
                <a:latin typeface="Times New Roman" panose="02020603050405020304" pitchFamily="18" charset="0"/>
                <a:ea typeface="+mn-ea"/>
                <a:cs typeface="+mn-cs"/>
              </a:rPr>
              <a:t>, 负责所有内核线程的调度和管理 </a:t>
            </a:r>
            <a:br>
              <a:rPr lang="en-US" sz="1200" b="0" i="0" kern="1200" dirty="0">
                <a:solidFill>
                  <a:schemeClr val="tx1"/>
                </a:solidFill>
                <a:effectLst/>
                <a:latin typeface="Times New Roman" panose="02020603050405020304" pitchFamily="18" charset="0"/>
                <a:ea typeface="+mn-ea"/>
                <a:cs typeface="+mn-cs"/>
              </a:rPr>
            </a:br>
            <a:r>
              <a:rPr lang="en-US" sz="1200" b="0" i="0" kern="1200" dirty="0" err="1">
                <a:solidFill>
                  <a:schemeClr val="tx1"/>
                </a:solidFill>
                <a:effectLst/>
                <a:latin typeface="Times New Roman" panose="02020603050405020304" pitchFamily="18" charset="0"/>
                <a:ea typeface="+mn-ea"/>
                <a:cs typeface="+mn-cs"/>
              </a:rPr>
              <a:t>它的任务就是管理和调度其他内核线程kernel_thread</a:t>
            </a:r>
            <a:r>
              <a:rPr lang="en-US" sz="1200" b="0" i="0" kern="1200" dirty="0">
                <a:solidFill>
                  <a:schemeClr val="tx1"/>
                </a:solidFill>
                <a:effectLst/>
                <a:latin typeface="Times New Roman" panose="02020603050405020304" pitchFamily="18" charset="0"/>
                <a:ea typeface="+mn-ea"/>
                <a:cs typeface="+mn-cs"/>
              </a:rPr>
              <a:t>, </a:t>
            </a:r>
            <a:r>
              <a:rPr lang="en-US" sz="1200" b="0" i="0" kern="1200" dirty="0" err="1">
                <a:solidFill>
                  <a:schemeClr val="tx1"/>
                </a:solidFill>
                <a:effectLst/>
                <a:latin typeface="Times New Roman" panose="02020603050405020304" pitchFamily="18" charset="0"/>
                <a:ea typeface="+mn-ea"/>
                <a:cs typeface="+mn-cs"/>
              </a:rPr>
              <a:t>会循环执行一个kthread的函数，该函数的作用就是运行kthread_create_list全局链表中维护的kthread</a:t>
            </a:r>
            <a:r>
              <a:rPr lang="en-US" sz="1200" b="0" i="0" kern="1200" dirty="0">
                <a:solidFill>
                  <a:schemeClr val="tx1"/>
                </a:solidFill>
                <a:effectLst/>
                <a:latin typeface="Times New Roman" panose="02020603050405020304" pitchFamily="18" charset="0"/>
                <a:ea typeface="+mn-ea"/>
                <a:cs typeface="+mn-cs"/>
              </a:rPr>
              <a:t>, 当我们调用kernel_thread创建的内核线程会被加入到此链表中，因此所有的内核线程都是直接或者间接的以kthreadd为父进程 </a:t>
            </a:r>
            <a:br>
              <a:rPr lang="en-US" sz="1200" b="0" i="0" kern="1200" dirty="0">
                <a:solidFill>
                  <a:schemeClr val="tx1"/>
                </a:solidFill>
                <a:effectLst/>
                <a:latin typeface="Times New Roman" panose="02020603050405020304" pitchFamily="18" charset="0"/>
                <a:ea typeface="+mn-ea"/>
                <a:cs typeface="+mn-cs"/>
              </a:rPr>
            </a:br>
            <a:endParaRPr lang="en-US" sz="1200" b="0" i="0" kern="1200" dirty="0">
              <a:solidFill>
                <a:schemeClr val="tx1"/>
              </a:solidFill>
              <a:effectLst/>
              <a:latin typeface="Times New Roman" panose="02020603050405020304" pitchFamily="18" charset="0"/>
              <a:ea typeface="+mn-ea"/>
              <a:cs typeface="+mn-cs"/>
            </a:endParaRPr>
          </a:p>
          <a:p>
            <a:br>
              <a:rPr lang="en-US" dirty="0"/>
            </a:br>
            <a:endParaRPr lang="zh-CN" altLang="en-US" sz="1200" b="0" i="0" kern="1200" dirty="0">
              <a:solidFill>
                <a:schemeClr val="tx1"/>
              </a:solidFill>
              <a:effectLst/>
              <a:latin typeface="Times New Roman" panose="02020603050405020304" pitchFamily="18" charset="0"/>
              <a:ea typeface="+mn-ea"/>
              <a:cs typeface="+mn-cs"/>
            </a:endParaRPr>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Rot="1" noChangeAspect="1" noChangeArrowheads="1" noTextEdit="1"/>
          </p:cNvSpPr>
          <p:nvPr>
            <p:ph type="sldImg"/>
          </p:nvPr>
        </p:nvSpPr>
        <p:spPr>
          <a:xfrm>
            <a:off x="406400" y="685800"/>
            <a:ext cx="6502400" cy="3657600"/>
          </a:xfrm>
        </p:spPr>
      </p:sp>
      <p:sp>
        <p:nvSpPr>
          <p:cNvPr id="580611" name="Rectangle 3"/>
          <p:cNvSpPr>
            <a:spLocks noGrp="1" noChangeArrowheads="1"/>
          </p:cNvSpPr>
          <p:nvPr>
            <p:ph type="body" idx="1"/>
          </p:nvPr>
        </p:nvSpPr>
        <p:spPr/>
        <p:txBody>
          <a:bodyPr/>
          <a:lstStyle/>
          <a:p>
            <a:r>
              <a:rPr lang="en-US" i="0" dirty="0"/>
              <a:t>Thinking back to the 1960s again, for people to be able to share a computer, it’s not enough for the computer to have processes. We need a way for each user to communicate with the computer directly, and tell it to start up processes and run programs.  We need a user interface.</a:t>
            </a:r>
            <a:endParaRPr lang="en-US" i="0" dirty="0"/>
          </a:p>
          <a:p>
            <a:endParaRPr lang="en-US" i="0" dirty="0"/>
          </a:p>
          <a:p>
            <a:r>
              <a:rPr lang="en-US" i="0" dirty="0"/>
              <a:t>The specific kind of user interface we need is called a </a:t>
            </a:r>
            <a:r>
              <a:rPr lang="en-US" i="1" dirty="0"/>
              <a:t>shell</a:t>
            </a:r>
            <a:r>
              <a:rPr lang="en-US" i="0" dirty="0"/>
              <a:t>.  A shell is a program that runs other programs, as instructed by the user.  When you log into the sharks and type commands, the program that receives and executes those commands is a shell program.</a:t>
            </a:r>
            <a:endParaRPr lang="en-US" i="0" dirty="0"/>
          </a:p>
          <a:p>
            <a:endParaRPr lang="en-US" i="0" dirty="0"/>
          </a:p>
          <a:p>
            <a:r>
              <a:rPr lang="en-US" i="0" dirty="0"/>
              <a:t>I’m showing an example of a </a:t>
            </a:r>
            <a:r>
              <a:rPr lang="en-US" i="1" dirty="0"/>
              <a:t>command line </a:t>
            </a:r>
            <a:r>
              <a:rPr lang="en-US" i="0" dirty="0"/>
              <a:t>shell, but they don’t have to work that way.  The desktop interface on Windows and Mac is also a shell, because its primary purpose is to start other programs for you.  It might even be called a shell internally.</a:t>
            </a:r>
            <a:endParaRPr lang="en-US" i="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Rot="1" noChangeAspect="1" noChangeArrowheads="1" noTextEdit="1"/>
          </p:cNvSpPr>
          <p:nvPr>
            <p:ph type="sldImg"/>
          </p:nvPr>
        </p:nvSpPr>
        <p:spPr>
          <a:xfrm>
            <a:off x="406400" y="685800"/>
            <a:ext cx="6502400" cy="3657600"/>
          </a:xfrm>
        </p:spPr>
      </p:sp>
      <p:sp>
        <p:nvSpPr>
          <p:cNvPr id="581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p:cNvSpPr>
            <a:spLocks noGrp="1" noRot="1" noChangeAspect="1" noChangeArrowheads="1" noTextEdit="1"/>
          </p:cNvSpPr>
          <p:nvPr>
            <p:ph type="sldImg"/>
          </p:nvPr>
        </p:nvSpPr>
        <p:spPr>
          <a:xfrm>
            <a:off x="406400" y="685800"/>
            <a:ext cx="6502400" cy="3657600"/>
          </a:xfrm>
        </p:spPr>
      </p:sp>
      <p:sp>
        <p:nvSpPr>
          <p:cNvPr id="54169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82" name="Text Box 2"/>
          <p:cNvSpPr txBox="1">
            <a:spLocks noChangeArrowheads="1"/>
          </p:cNvSpPr>
          <p:nvPr/>
        </p:nvSpPr>
        <p:spPr bwMode="auto">
          <a:xfrm>
            <a:off x="1266211" y="725993"/>
            <a:ext cx="4773249" cy="3580827"/>
          </a:xfrm>
          <a:prstGeom prst="rect">
            <a:avLst/>
          </a:prstGeom>
          <a:solidFill>
            <a:srgbClr val="FFFFFF"/>
          </a:solidFill>
          <a:ln w="9525">
            <a:solidFill>
              <a:srgbClr val="000000"/>
            </a:solidFill>
            <a:miter lim="800000"/>
          </a:ln>
          <a:effectLst/>
        </p:spPr>
        <p:txBody>
          <a:bodyPr wrap="none" lIns="91294" tIns="45647" rIns="91294" bIns="45647" anchor="ctr"/>
          <a:lstStyle/>
          <a:p>
            <a:endParaRPr lang="en-US" dirty="0">
              <a:latin typeface="Calibri" panose="020F0502020204030204" pitchFamily="34" charset="0"/>
            </a:endParaRPr>
          </a:p>
        </p:txBody>
      </p:sp>
      <p:sp>
        <p:nvSpPr>
          <p:cNvPr id="686083" name="Rectangle 3"/>
          <p:cNvSpPr txBox="1">
            <a:spLocks noGrp="1" noChangeArrowheads="1"/>
          </p:cNvSpPr>
          <p:nvPr>
            <p:ph type="body"/>
          </p:nvPr>
        </p:nvSpPr>
        <p:spPr/>
        <p:txBody>
          <a:bodyPr wrap="none" anchor="ctr"/>
          <a:lstStyle/>
          <a:p>
            <a:r>
              <a:rPr lang="en-US" dirty="0"/>
              <a:t>./</a:t>
            </a:r>
            <a:r>
              <a:rPr lang="en-US" dirty="0" err="1"/>
              <a:t>shellex</a:t>
            </a:r>
            <a:endParaRPr lang="en-US" dirty="0"/>
          </a:p>
          <a:p>
            <a:r>
              <a:rPr lang="en-US" dirty="0"/>
              <a:t>&gt;./delay</a:t>
            </a:r>
            <a:r>
              <a:rPr lang="en-US" baseline="0" dirty="0"/>
              <a:t> 10 &amp;</a:t>
            </a:r>
            <a:endParaRPr lang="en-US" baseline="0" dirty="0"/>
          </a:p>
          <a:p>
            <a:r>
              <a:rPr lang="en-US" baseline="0" dirty="0"/>
              <a:t>&gt;/bin/</a:t>
            </a:r>
            <a:r>
              <a:rPr lang="en-US" baseline="0" dirty="0" err="1"/>
              <a:t>ps</a:t>
            </a:r>
            <a:endParaRPr lang="en-US" baseline="0" dirty="0"/>
          </a:p>
          <a:p>
            <a:r>
              <a:rPr lang="en-US" baseline="0" dirty="0"/>
              <a:t>...</a:t>
            </a:r>
            <a:endParaRPr lang="en-US" baseline="0" dirty="0"/>
          </a:p>
          <a:p>
            <a:r>
              <a:rPr lang="en-US" baseline="0" dirty="0"/>
              <a:t>&gt;/bin/</a:t>
            </a:r>
            <a:r>
              <a:rPr lang="en-US" baseline="0" dirty="0" err="1"/>
              <a:t>ps</a:t>
            </a:r>
            <a:endParaRPr lang="en-US" baseline="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8130" name="Text Box 2"/>
          <p:cNvSpPr txBox="1">
            <a:spLocks noChangeArrowheads="1"/>
          </p:cNvSpPr>
          <p:nvPr/>
        </p:nvSpPr>
        <p:spPr bwMode="auto">
          <a:xfrm>
            <a:off x="1266211" y="725993"/>
            <a:ext cx="4773249" cy="3580827"/>
          </a:xfrm>
          <a:prstGeom prst="rect">
            <a:avLst/>
          </a:prstGeom>
          <a:solidFill>
            <a:srgbClr val="FFFFFF"/>
          </a:solidFill>
          <a:ln w="9525">
            <a:solidFill>
              <a:srgbClr val="000000"/>
            </a:solidFill>
            <a:miter lim="800000"/>
          </a:ln>
          <a:effectLst/>
        </p:spPr>
        <p:txBody>
          <a:bodyPr wrap="none" lIns="91294" tIns="45647" rIns="91294" bIns="45647" anchor="ctr"/>
          <a:lstStyle/>
          <a:p>
            <a:endParaRPr lang="en-US" dirty="0">
              <a:latin typeface="Calibri" panose="020F0502020204030204" pitchFamily="34" charset="0"/>
            </a:endParaRPr>
          </a:p>
        </p:txBody>
      </p:sp>
      <p:sp>
        <p:nvSpPr>
          <p:cNvPr id="688131" name="Rectangle 3"/>
          <p:cNvSpPr txBox="1">
            <a:spLocks noGrp="1" noChangeArrowheads="1"/>
          </p:cNvSpPr>
          <p:nvPr>
            <p:ph type="body"/>
          </p:nvPr>
        </p:nvSpPr>
        <p:spPr/>
        <p:txBody>
          <a:bodyPr wrap="none" anchor="ct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85800"/>
            <a:ext cx="6502400" cy="36576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Rot="1" noChangeAspect="1" noChangeArrowheads="1" noTextEdit="1"/>
          </p:cNvSpPr>
          <p:nvPr>
            <p:ph type="sldImg"/>
          </p:nvPr>
        </p:nvSpPr>
        <p:spPr>
          <a:xfrm>
            <a:off x="406400" y="685800"/>
            <a:ext cx="6502400" cy="3657600"/>
          </a:xfrm>
        </p:spPr>
      </p:sp>
      <p:sp>
        <p:nvSpPr>
          <p:cNvPr id="583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xfrm>
            <a:off x="406400" y="685800"/>
            <a:ext cx="6502400" cy="3657600"/>
          </a:xfrm>
        </p:spPr>
      </p:sp>
      <p:sp>
        <p:nvSpPr>
          <p:cNvPr id="58470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Rot="1" noChangeAspect="1" noChangeArrowheads="1" noTextEdit="1"/>
          </p:cNvSpPr>
          <p:nvPr>
            <p:ph type="sldImg"/>
          </p:nvPr>
        </p:nvSpPr>
        <p:spPr>
          <a:xfrm>
            <a:off x="406400" y="685800"/>
            <a:ext cx="6502400" cy="3657600"/>
          </a:xfrm>
        </p:spPr>
      </p:sp>
      <p:sp>
        <p:nvSpPr>
          <p:cNvPr id="588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Rot="1" noChangeAspect="1" noChangeArrowheads="1" noTextEdit="1"/>
          </p:cNvSpPr>
          <p:nvPr>
            <p:ph type="sldImg"/>
          </p:nvPr>
        </p:nvSpPr>
        <p:spPr>
          <a:xfrm>
            <a:off x="406400" y="685800"/>
            <a:ext cx="6502400" cy="3657600"/>
          </a:xfrm>
        </p:spPr>
      </p:sp>
      <p:sp>
        <p:nvSpPr>
          <p:cNvPr id="592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Rot="1" noChangeAspect="1" noChangeArrowheads="1" noTextEdit="1"/>
          </p:cNvSpPr>
          <p:nvPr>
            <p:ph type="sldImg"/>
          </p:nvPr>
        </p:nvSpPr>
        <p:spPr>
          <a:xfrm>
            <a:off x="406400" y="685800"/>
            <a:ext cx="6502400" cy="3657600"/>
          </a:xfrm>
        </p:spPr>
      </p:sp>
      <p:sp>
        <p:nvSpPr>
          <p:cNvPr id="589827" name="Rectangle 3"/>
          <p:cNvSpPr>
            <a:spLocks noGrp="1" noChangeArrowheads="1"/>
          </p:cNvSpPr>
          <p:nvPr>
            <p:ph type="body" idx="1"/>
          </p:nvPr>
        </p:nvSpPr>
        <p:spPr/>
        <p:txBody>
          <a:bodyPr/>
          <a:lstStyle/>
          <a:p>
            <a:r>
              <a:rPr lang="en-US" dirty="0"/>
              <a:t>The command </a:t>
            </a:r>
            <a:r>
              <a:rPr lang="en-US" sz="1200" b="1" kern="1200" dirty="0">
                <a:solidFill>
                  <a:schemeClr val="tx1"/>
                </a:solidFill>
                <a:effectLst/>
                <a:latin typeface="Times New Roman" panose="02020603050405020304" pitchFamily="18" charset="0"/>
                <a:ea typeface="+mn-ea"/>
                <a:cs typeface="+mn-cs"/>
              </a:rPr>
              <a:t>kill </a:t>
            </a:r>
            <a:r>
              <a:rPr lang="en-US" dirty="0"/>
              <a:t>sends the specified </a:t>
            </a:r>
            <a:r>
              <a:rPr lang="en-US" sz="1200" i="1" kern="1200" dirty="0">
                <a:solidFill>
                  <a:schemeClr val="tx1"/>
                </a:solidFill>
                <a:effectLst/>
                <a:latin typeface="Times New Roman" panose="02020603050405020304" pitchFamily="18" charset="0"/>
                <a:ea typeface="+mn-ea"/>
                <a:cs typeface="+mn-cs"/>
              </a:rPr>
              <a:t>signal</a:t>
            </a:r>
            <a:r>
              <a:rPr lang="en-US" dirty="0"/>
              <a:t> to the specified processes or process groups.</a:t>
            </a:r>
            <a:r>
              <a:rPr lang="zh-CN" altLang="en-US" dirty="0"/>
              <a:t> </a:t>
            </a:r>
            <a:r>
              <a:rPr lang="en-US" altLang="zh-CN" dirty="0"/>
              <a:t>kill</a:t>
            </a:r>
            <a:r>
              <a:rPr lang="zh-CN" altLang="en-US" dirty="0"/>
              <a:t>可以发送信号给目标进程</a:t>
            </a:r>
            <a:r>
              <a:rPr lang="en-US" altLang="zh-CN" dirty="0"/>
              <a:t>/</a:t>
            </a:r>
            <a:r>
              <a:rPr lang="zh-CN" altLang="en-US" dirty="0"/>
              <a:t>进程组。不一定非要是</a:t>
            </a:r>
            <a:r>
              <a:rPr lang="en-US" altLang="zh-CN" dirty="0"/>
              <a:t>SIGKILL</a:t>
            </a:r>
            <a:r>
              <a:rPr lang="zh-CN" altLang="en-US" dirty="0"/>
              <a:t>，只是经常这样做而已。</a:t>
            </a:r>
            <a:endParaRPr lang="en-US" altLang="zh-CN" dirty="0"/>
          </a:p>
          <a:p>
            <a:r>
              <a:rPr lang="en-US" altLang="zh-CN" dirty="0"/>
              <a:t>SIGKILL</a:t>
            </a:r>
            <a:r>
              <a:rPr lang="zh-CN" altLang="en-US" dirty="0"/>
              <a:t>的</a:t>
            </a:r>
            <a:r>
              <a:rPr lang="en-US" altLang="zh-CN" dirty="0"/>
              <a:t>id</a:t>
            </a:r>
            <a:r>
              <a:rPr lang="zh-CN" altLang="en-US" dirty="0"/>
              <a:t>就是</a:t>
            </a:r>
            <a:r>
              <a:rPr lang="en-US" altLang="zh-CN" dirty="0"/>
              <a:t>9</a:t>
            </a:r>
            <a:r>
              <a:rPr lang="zh-CN" altLang="en-US" dirty="0"/>
              <a:t>。</a:t>
            </a:r>
            <a:r>
              <a:rPr lang="en-US" dirty="0"/>
              <a:t>The signals </a:t>
            </a:r>
            <a:r>
              <a:rPr lang="en-US" b="1" dirty="0">
                <a:solidFill>
                  <a:srgbClr val="502000"/>
                </a:solidFill>
                <a:effectLst/>
              </a:rPr>
              <a:t>SIGKILL </a:t>
            </a:r>
            <a:r>
              <a:rPr lang="en-US" dirty="0"/>
              <a:t>and </a:t>
            </a:r>
            <a:r>
              <a:rPr lang="en-US" b="1" dirty="0">
                <a:solidFill>
                  <a:srgbClr val="502000"/>
                </a:solidFill>
                <a:effectLst/>
              </a:rPr>
              <a:t>SIGSTOP </a:t>
            </a:r>
            <a:r>
              <a:rPr lang="en-US" dirty="0"/>
              <a:t>cannot be caught, blocked, or ignored.</a:t>
            </a:r>
            <a:endParaRPr lang="en-US" altLang="zh-CN" dirty="0"/>
          </a:p>
          <a:p>
            <a:r>
              <a:rPr lang="en-US" dirty="0"/>
              <a:t>If no signal is specified, the TERM signal is sent. The default action for this signal is to terminate the process. This signal should be used in preference to the KILL signal (number 9), since a process may install a handler for the TERM signal in order to perform clean-up steps before terminating in an orderly fashion. If a process does not terminate after a TERM signal has been sent, then the KILL signal may be used; be aware that the latter signal cannot be caught, and so does not give the target process the opportunity to perform any clean-up before terminating.</a:t>
            </a: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Rot="1" noChangeAspect="1" noChangeArrowheads="1" noTextEdit="1"/>
          </p:cNvSpPr>
          <p:nvPr>
            <p:ph type="sldImg"/>
          </p:nvPr>
        </p:nvSpPr>
        <p:spPr>
          <a:xfrm>
            <a:off x="406400" y="685800"/>
            <a:ext cx="6502400" cy="3657600"/>
          </a:xfrm>
        </p:spPr>
      </p:sp>
      <p:sp>
        <p:nvSpPr>
          <p:cNvPr id="590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Rot="1" noChangeAspect="1" noChangeArrowheads="1" noTextEdit="1"/>
          </p:cNvSpPr>
          <p:nvPr>
            <p:ph type="sldImg"/>
          </p:nvPr>
        </p:nvSpPr>
        <p:spPr>
          <a:xfrm>
            <a:off x="406400" y="685800"/>
            <a:ext cx="6502400" cy="3657600"/>
          </a:xfrm>
        </p:spPr>
      </p:sp>
      <p:sp>
        <p:nvSpPr>
          <p:cNvPr id="591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85800"/>
            <a:ext cx="6502400" cy="36576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Rot="1" noChangeAspect="1" noChangeArrowheads="1" noTextEdit="1"/>
          </p:cNvSpPr>
          <p:nvPr>
            <p:ph type="sldImg"/>
          </p:nvPr>
        </p:nvSpPr>
        <p:spPr>
          <a:xfrm>
            <a:off x="406400" y="685800"/>
            <a:ext cx="6502400" cy="3657600"/>
          </a:xfrm>
        </p:spPr>
      </p:sp>
      <p:sp>
        <p:nvSpPr>
          <p:cNvPr id="585731" name="Rectangle 3"/>
          <p:cNvSpPr>
            <a:spLocks noGrp="1" noChangeArrowheads="1"/>
          </p:cNvSpPr>
          <p:nvPr>
            <p:ph type="body" idx="1"/>
          </p:nvPr>
        </p:nvSpPr>
        <p:spPr/>
        <p:txBody>
          <a:bodyPr/>
          <a:lstStyle/>
          <a:p>
            <a:r>
              <a:rPr lang="en-US" b="0" i="0" dirty="0">
                <a:solidFill>
                  <a:srgbClr val="3B4045"/>
                </a:solidFill>
                <a:effectLst/>
                <a:latin typeface="-apple-system"/>
              </a:rPr>
              <a:t>Before transferring control back to a process in user mode, the Kernel always checks the pending signals for this process. </a:t>
            </a:r>
            <a:r>
              <a:rPr lang="en-US" b="0" i="0" dirty="0" err="1">
                <a:solidFill>
                  <a:srgbClr val="3B4045"/>
                </a:solidFill>
                <a:effectLst/>
                <a:latin typeface="-apple-system"/>
              </a:rPr>
              <a:t>在一个进程被再次调度执行之前</a:t>
            </a:r>
            <a:r>
              <a:rPr lang="zh-CN" altLang="en-US" b="0" i="0" dirty="0">
                <a:solidFill>
                  <a:srgbClr val="3B4045"/>
                </a:solidFill>
                <a:effectLst/>
                <a:latin typeface="-apple-system"/>
              </a:rPr>
              <a:t>，</a:t>
            </a:r>
            <a:r>
              <a:rPr lang="en-US" altLang="zh-CN" b="0" i="0" dirty="0">
                <a:solidFill>
                  <a:srgbClr val="3B4045"/>
                </a:solidFill>
                <a:effectLst/>
                <a:latin typeface="-apple-system"/>
              </a:rPr>
              <a:t>kernel</a:t>
            </a:r>
            <a:r>
              <a:rPr lang="zh-CN" altLang="en-US" b="0" i="0" dirty="0">
                <a:solidFill>
                  <a:srgbClr val="3B4045"/>
                </a:solidFill>
                <a:effectLst/>
                <a:latin typeface="-apple-system"/>
              </a:rPr>
              <a:t>会检查是否有需要处理的信号到达，如果有，就去处理，例如终止该进程（如果收到</a:t>
            </a:r>
            <a:r>
              <a:rPr lang="en-US" altLang="zh-CN" b="0" i="0" dirty="0">
                <a:solidFill>
                  <a:srgbClr val="3B4045"/>
                </a:solidFill>
                <a:effectLst/>
                <a:latin typeface="-apple-system"/>
              </a:rPr>
              <a:t>SIGKILL</a:t>
            </a:r>
            <a:r>
              <a:rPr lang="zh-CN" altLang="en-US" b="0" i="0" dirty="0">
                <a:solidFill>
                  <a:srgbClr val="3B4045"/>
                </a:solidFill>
                <a:effectLst/>
                <a:latin typeface="-apple-system"/>
              </a:rPr>
              <a:t>）或者跳转到该信号的处理程序。这种方式应该是异步的。</a:t>
            </a:r>
            <a:endParaRPr lang="en-US" altLang="zh-CN" b="0" i="0" dirty="0">
              <a:solidFill>
                <a:srgbClr val="3B4045"/>
              </a:solidFill>
              <a:effectLst/>
              <a:latin typeface="-apple-system"/>
            </a:endParaRPr>
          </a:p>
          <a:p>
            <a:endParaRPr lang="en-US" altLang="zh-CN" b="0" i="0" dirty="0">
              <a:solidFill>
                <a:srgbClr val="3B4045"/>
              </a:solidFill>
              <a:effectLst/>
              <a:latin typeface="-apple-system"/>
            </a:endParaRPr>
          </a:p>
          <a:p>
            <a:r>
              <a:rPr lang="zh-CN" altLang="en-US" b="0" i="0" dirty="0">
                <a:solidFill>
                  <a:srgbClr val="3B4045"/>
                </a:solidFill>
                <a:effectLst/>
                <a:latin typeface="-apple-system"/>
              </a:rPr>
              <a:t>所谓同步的接受信号是指阻塞进程的执行直到收到某个信号，此时</a:t>
            </a:r>
            <a:r>
              <a:rPr lang="en-US" altLang="zh-CN" b="0" i="0" dirty="0">
                <a:solidFill>
                  <a:srgbClr val="3B4045"/>
                </a:solidFill>
                <a:effectLst/>
                <a:latin typeface="-apple-system"/>
              </a:rPr>
              <a:t>kernel</a:t>
            </a:r>
            <a:r>
              <a:rPr lang="zh-CN" altLang="en-US" b="0" i="0" dirty="0">
                <a:solidFill>
                  <a:srgbClr val="3B4045"/>
                </a:solidFill>
                <a:effectLst/>
                <a:latin typeface="-apple-system"/>
              </a:rPr>
              <a:t>会将信号的信息返回给调用者。？？？</a:t>
            </a:r>
            <a:endParaRPr lang="en-US" altLang="zh-CN" b="0" i="0" dirty="0">
              <a:solidFill>
                <a:srgbClr val="3B4045"/>
              </a:solidFill>
              <a:effectLst/>
              <a:latin typeface="-apple-system"/>
            </a:endParaRPr>
          </a:p>
          <a:p>
            <a:endParaRPr lang="en-US" b="0" i="0" dirty="0">
              <a:solidFill>
                <a:schemeClr val="tx1"/>
              </a:solidFill>
              <a:effectLst/>
              <a:latin typeface="-apple-system"/>
            </a:endParaRPr>
          </a:p>
          <a:p>
            <a:r>
              <a:rPr lang="en-US" b="1" dirty="0">
                <a:solidFill>
                  <a:schemeClr val="tx1"/>
                </a:solidFill>
                <a:effectLst/>
              </a:rPr>
              <a:t>Synchronously accepting a signal</a:t>
            </a:r>
            <a:r>
              <a:rPr lang="en-US" dirty="0">
                <a:solidFill>
                  <a:schemeClr val="tx1"/>
                </a:solidFill>
              </a:rPr>
              <a:t> Rather than asynchronously catching a signal via a signal handler, it is possible to synchronously accept the signal, that is, to block execution until the signal is delivered, at which point the kernel returns information about the signal to the caller. There are two general ways to do this: • </a:t>
            </a:r>
            <a:r>
              <a:rPr lang="en-US" u="none" strike="noStrike" dirty="0">
                <a:solidFill>
                  <a:schemeClr val="tx1"/>
                </a:solidFill>
                <a:effectLst/>
                <a:hlinkClick r:id="rId3"/>
              </a:rPr>
              <a:t>sigwaitinfo(2)</a:t>
            </a:r>
            <a:r>
              <a:rPr lang="en-US" dirty="0">
                <a:solidFill>
                  <a:schemeClr val="tx1"/>
                </a:solidFill>
              </a:rPr>
              <a:t>, </a:t>
            </a:r>
            <a:r>
              <a:rPr lang="en-US" u="none" strike="noStrike" dirty="0">
                <a:solidFill>
                  <a:schemeClr val="tx1"/>
                </a:solidFill>
                <a:effectLst/>
                <a:hlinkClick r:id="rId4"/>
              </a:rPr>
              <a:t>sigtimedwait(2)</a:t>
            </a:r>
            <a:r>
              <a:rPr lang="en-US" dirty="0">
                <a:solidFill>
                  <a:schemeClr val="tx1"/>
                </a:solidFill>
              </a:rPr>
              <a:t>, and </a:t>
            </a:r>
            <a:r>
              <a:rPr lang="en-US" u="none" strike="noStrike" dirty="0">
                <a:solidFill>
                  <a:schemeClr val="tx1"/>
                </a:solidFill>
                <a:effectLst/>
                <a:hlinkClick r:id="rId5"/>
              </a:rPr>
              <a:t>sigwait(3)</a:t>
            </a:r>
            <a:r>
              <a:rPr lang="en-US" dirty="0">
                <a:solidFill>
                  <a:schemeClr val="tx1"/>
                </a:solidFill>
              </a:rPr>
              <a:t> suspend execution until one of the signals in a specified set is delivered. Each of these calls returns information about the delivered signal. • </a:t>
            </a:r>
            <a:r>
              <a:rPr lang="en-US" u="none" strike="noStrike" dirty="0">
                <a:solidFill>
                  <a:schemeClr val="tx1"/>
                </a:solidFill>
                <a:effectLst/>
                <a:hlinkClick r:id="rId6"/>
              </a:rPr>
              <a:t>signalfd(2)</a:t>
            </a:r>
            <a:r>
              <a:rPr lang="en-US" dirty="0">
                <a:solidFill>
                  <a:schemeClr val="tx1"/>
                </a:solidFill>
              </a:rPr>
              <a:t> returns a file descriptor that can be used to read information about signals that are delivered to the caller. Each </a:t>
            </a:r>
            <a:r>
              <a:rPr lang="en-US" u="none" strike="noStrike" dirty="0">
                <a:solidFill>
                  <a:schemeClr val="tx1"/>
                </a:solidFill>
                <a:effectLst/>
                <a:hlinkClick r:id="rId7"/>
              </a:rPr>
              <a:t>read(2)</a:t>
            </a:r>
            <a:r>
              <a:rPr lang="en-US" dirty="0">
                <a:solidFill>
                  <a:schemeClr val="tx1"/>
                </a:solidFill>
              </a:rPr>
              <a:t> from this file descriptor blocks until one of the signals in the set specified in the </a:t>
            </a:r>
            <a:r>
              <a:rPr lang="en-US" u="none" strike="noStrike" dirty="0">
                <a:solidFill>
                  <a:schemeClr val="tx1"/>
                </a:solidFill>
                <a:effectLst/>
                <a:hlinkClick r:id="rId6"/>
              </a:rPr>
              <a:t>signalfd(2)</a:t>
            </a:r>
            <a:r>
              <a:rPr lang="en-US" dirty="0">
                <a:solidFill>
                  <a:schemeClr val="tx1"/>
                </a:solidFill>
              </a:rPr>
              <a:t> call is delivered to the caller. The buffer returned by </a:t>
            </a:r>
            <a:r>
              <a:rPr lang="en-US" u="none" strike="noStrike" dirty="0">
                <a:solidFill>
                  <a:schemeClr val="tx1"/>
                </a:solidFill>
                <a:effectLst/>
                <a:hlinkClick r:id="rId7"/>
              </a:rPr>
              <a:t>read(2)</a:t>
            </a:r>
            <a:r>
              <a:rPr lang="en-US" dirty="0">
                <a:solidFill>
                  <a:schemeClr val="tx1"/>
                </a:solidFill>
              </a:rPr>
              <a:t> contains a structure describing the signal.</a:t>
            </a:r>
            <a:endParaRPr lang="en-US" dirty="0">
              <a:solidFill>
                <a:schemeClr val="tx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Rot="1" noChangeAspect="1" noChangeArrowheads="1" noTextEdit="1"/>
          </p:cNvSpPr>
          <p:nvPr>
            <p:ph type="sldImg"/>
          </p:nvPr>
        </p:nvSpPr>
        <p:spPr>
          <a:xfrm>
            <a:off x="406400" y="685800"/>
            <a:ext cx="6502400" cy="3657600"/>
          </a:xfrm>
        </p:spPr>
      </p:sp>
      <p:sp>
        <p:nvSpPr>
          <p:cNvPr id="586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Rot="1" noChangeAspect="1" noChangeArrowheads="1" noTextEdit="1"/>
          </p:cNvSpPr>
          <p:nvPr>
            <p:ph type="sldImg"/>
          </p:nvPr>
        </p:nvSpPr>
        <p:spPr>
          <a:xfrm>
            <a:off x="406400" y="685800"/>
            <a:ext cx="6502400" cy="3657600"/>
          </a:xfrm>
        </p:spPr>
      </p:sp>
      <p:sp>
        <p:nvSpPr>
          <p:cNvPr id="587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Rot="1" noChangeAspect="1" noChangeArrowheads="1" noTextEdit="1"/>
          </p:cNvSpPr>
          <p:nvPr>
            <p:ph type="sldImg"/>
          </p:nvPr>
        </p:nvSpPr>
        <p:spPr>
          <a:xfrm>
            <a:off x="406400" y="685800"/>
            <a:ext cx="6502400" cy="3657600"/>
          </a:xfrm>
        </p:spPr>
      </p:sp>
      <p:sp>
        <p:nvSpPr>
          <p:cNvPr id="593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Rot="1" noChangeAspect="1" noChangeArrowheads="1" noTextEdit="1"/>
          </p:cNvSpPr>
          <p:nvPr>
            <p:ph type="sldImg"/>
          </p:nvPr>
        </p:nvSpPr>
        <p:spPr>
          <a:xfrm>
            <a:off x="406400" y="685800"/>
            <a:ext cx="6502400" cy="3657600"/>
          </a:xfrm>
        </p:spPr>
      </p:sp>
      <p:sp>
        <p:nvSpPr>
          <p:cNvPr id="593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Rot="1" noChangeAspect="1" noChangeArrowheads="1" noTextEdit="1"/>
          </p:cNvSpPr>
          <p:nvPr>
            <p:ph type="sldImg"/>
          </p:nvPr>
        </p:nvSpPr>
        <p:spPr>
          <a:xfrm>
            <a:off x="406400" y="685800"/>
            <a:ext cx="6502400" cy="3657600"/>
          </a:xfrm>
        </p:spPr>
      </p:sp>
      <p:sp>
        <p:nvSpPr>
          <p:cNvPr id="594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Rot="1" noChangeAspect="1" noChangeArrowheads="1" noTextEdit="1"/>
          </p:cNvSpPr>
          <p:nvPr>
            <p:ph type="sldImg"/>
          </p:nvPr>
        </p:nvSpPr>
        <p:spPr>
          <a:xfrm>
            <a:off x="406400" y="685800"/>
            <a:ext cx="6502400" cy="3657600"/>
          </a:xfrm>
        </p:spPr>
      </p:sp>
      <p:sp>
        <p:nvSpPr>
          <p:cNvPr id="595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Rot="1" noChangeAspect="1" noChangeArrowheads="1" noTextEdit="1"/>
          </p:cNvSpPr>
          <p:nvPr>
            <p:ph type="sldImg"/>
          </p:nvPr>
        </p:nvSpPr>
        <p:spPr>
          <a:xfrm>
            <a:off x="406400" y="685800"/>
            <a:ext cx="6502400" cy="3657600"/>
          </a:xfrm>
        </p:spPr>
      </p:sp>
      <p:sp>
        <p:nvSpPr>
          <p:cNvPr id="596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502000"/>
                </a:solidFill>
                <a:effectLst/>
              </a:rPr>
              <a:t>SIG_BLOCK</a:t>
            </a:r>
            <a:r>
              <a:rPr lang="en-US" dirty="0"/>
              <a:t> The set of blocked signals is the union of the current set and the </a:t>
            </a:r>
            <a:r>
              <a:rPr lang="en-US" i="1" dirty="0">
                <a:solidFill>
                  <a:srgbClr val="006000"/>
                </a:solidFill>
                <a:effectLst/>
              </a:rPr>
              <a:t>set</a:t>
            </a:r>
            <a:r>
              <a:rPr lang="en-US" dirty="0"/>
              <a:t> argument.</a:t>
            </a:r>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08013"/>
            <a:ext cx="10363200" cy="1470025"/>
          </a:xfrm>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914400" y="3886200"/>
            <a:ext cx="10236656" cy="1752600"/>
          </a:xfrm>
        </p:spPr>
        <p:txBody>
          <a:bodyPr/>
          <a:lstStyle>
            <a:lvl1pPr marL="0" indent="0" algn="l">
              <a:buNone/>
              <a:defRPr sz="2000" b="0">
                <a:latin typeface="Calibri" panose="020F0502020204030204"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6025" y="435678"/>
            <a:ext cx="10122791" cy="762000"/>
          </a:xfrm>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Content Placeholder 2"/>
          <p:cNvSpPr>
            <a:spLocks noGrp="1"/>
          </p:cNvSpPr>
          <p:nvPr>
            <p:ph idx="1"/>
          </p:nvPr>
        </p:nvSpPr>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Calibri" panose="020F0502020204030204"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Calibri" panose="020F0502020204030204"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sz="2800">
                <a:latin typeface="Calibri" panose="020F0502020204030204" pitchFamily="34" charset="0"/>
              </a:defRPr>
            </a:lvl1pPr>
            <a:lvl2pPr>
              <a:defRPr sz="2400">
                <a:latin typeface="Calibri" panose="020F0502020204030204" pitchFamily="34" charset="0"/>
              </a:defRPr>
            </a:lvl2pPr>
            <a:lvl3pPr>
              <a:defRPr sz="2000">
                <a:latin typeface="Calibri" panose="020F0502020204030204" pitchFamily="34" charset="0"/>
              </a:defRPr>
            </a:lvl3pPr>
            <a:lvl4pPr>
              <a:defRPr sz="1800">
                <a:latin typeface="Calibri" panose="020F0502020204030204" pitchFamily="34" charset="0"/>
              </a:defRPr>
            </a:lvl4pPr>
            <a:lvl5pPr>
              <a:defRPr sz="1800">
                <a:latin typeface="Calibri" panose="020F0502020204030204"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sz="2800">
                <a:latin typeface="Calibri" panose="020F0502020204030204" pitchFamily="34" charset="0"/>
              </a:defRPr>
            </a:lvl1pPr>
            <a:lvl2pPr>
              <a:defRPr sz="2400">
                <a:latin typeface="Calibri" panose="020F0502020204030204" pitchFamily="34" charset="0"/>
              </a:defRPr>
            </a:lvl2pPr>
            <a:lvl3pPr>
              <a:defRPr sz="2000">
                <a:latin typeface="Calibri" panose="020F0502020204030204" pitchFamily="34" charset="0"/>
              </a:defRPr>
            </a:lvl3pPr>
            <a:lvl4pPr>
              <a:defRPr sz="1800">
                <a:latin typeface="Calibri" panose="020F0502020204030204" pitchFamily="34" charset="0"/>
              </a:defRPr>
            </a:lvl4pPr>
            <a:lvl5pPr>
              <a:defRPr sz="1800">
                <a:latin typeface="Calibri" panose="020F0502020204030204"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400">
                <a:latin typeface="Calibri" panose="020F0502020204030204" pitchFamily="34" charset="0"/>
              </a:defRPr>
            </a:lvl1pPr>
            <a:lvl2pPr>
              <a:defRPr sz="2000">
                <a:latin typeface="Calibri" panose="020F0502020204030204" pitchFamily="34" charset="0"/>
              </a:defRPr>
            </a:lvl2pPr>
            <a:lvl3pPr>
              <a:defRPr sz="1800">
                <a:latin typeface="Calibri" panose="020F0502020204030204" pitchFamily="34" charset="0"/>
              </a:defRPr>
            </a:lvl3pPr>
            <a:lvl4pPr>
              <a:defRPr sz="1600">
                <a:latin typeface="Calibri" panose="020F0502020204030204" pitchFamily="34" charset="0"/>
              </a:defRPr>
            </a:lvl4pPr>
            <a:lvl5pPr>
              <a:defRPr sz="1600">
                <a:latin typeface="Calibri" panose="020F0502020204030204"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93368" y="2174875"/>
            <a:ext cx="5389033" cy="3951288"/>
          </a:xfrm>
        </p:spPr>
        <p:txBody>
          <a:bodyPr/>
          <a:lstStyle>
            <a:lvl1pPr>
              <a:defRPr sz="2400">
                <a:latin typeface="Calibri" panose="020F0502020204030204" pitchFamily="34" charset="0"/>
              </a:defRPr>
            </a:lvl1pPr>
            <a:lvl2pPr>
              <a:defRPr sz="2000">
                <a:latin typeface="Calibri" panose="020F0502020204030204" pitchFamily="34" charset="0"/>
              </a:defRPr>
            </a:lvl2pPr>
            <a:lvl3pPr>
              <a:defRPr sz="1800">
                <a:latin typeface="Calibri" panose="020F0502020204030204" pitchFamily="34" charset="0"/>
              </a:defRPr>
            </a:lvl3pPr>
            <a:lvl4pPr>
              <a:defRPr sz="1600">
                <a:latin typeface="Calibri" panose="020F0502020204030204" pitchFamily="34" charset="0"/>
              </a:defRPr>
            </a:lvl4pPr>
            <a:lvl5pPr>
              <a:defRPr sz="1600">
                <a:latin typeface="Calibri" panose="020F0502020204030204"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7017" y="445070"/>
            <a:ext cx="10121900" cy="762000"/>
          </a:xfrm>
        </p:spPr>
        <p:txBody>
          <a:bodyPr/>
          <a:lstStyle>
            <a:lvl1pPr>
              <a:defRPr>
                <a:latin typeface="Calibri" panose="020F0502020204030204" pitchFamily="34" charset="0"/>
              </a:defRPr>
            </a:lvl1pPr>
          </a:lstStyle>
          <a:p>
            <a:r>
              <a:rPr lang="en-US" dirty="0"/>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98787" y="142582"/>
            <a:ext cx="10121900" cy="762000"/>
          </a:xfrm>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Calibri" panose="020F0502020204030204" pitchFamily="34" charset="0"/>
              </a:defRPr>
            </a:lvl1pPr>
          </a:lstStyle>
          <a:p>
            <a:r>
              <a:rPr lang="en-US" dirty="0"/>
              <a:t>Click to edit Master title style</a:t>
            </a:r>
            <a:endParaRPr lang="en-US" dirty="0"/>
          </a:p>
        </p:txBody>
      </p:sp>
      <p:sp>
        <p:nvSpPr>
          <p:cNvPr id="3" name="Content Placeholder 2"/>
          <p:cNvSpPr>
            <a:spLocks noGrp="1"/>
          </p:cNvSpPr>
          <p:nvPr>
            <p:ph idx="1"/>
          </p:nvPr>
        </p:nvSpPr>
        <p:spPr>
          <a:xfrm>
            <a:off x="4766733" y="273051"/>
            <a:ext cx="6815667" cy="5853113"/>
          </a:xfrm>
        </p:spPr>
        <p:txBody>
          <a:bodyPr/>
          <a:lstStyle>
            <a:lvl1pPr>
              <a:defRPr sz="3200">
                <a:latin typeface="Calibri" panose="020F0502020204030204" pitchFamily="34" charset="0"/>
              </a:defRPr>
            </a:lvl1pPr>
            <a:lvl2pPr>
              <a:defRPr sz="2800">
                <a:latin typeface="Calibri" panose="020F0502020204030204" pitchFamily="34" charset="0"/>
              </a:defRPr>
            </a:lvl2pPr>
            <a:lvl3pPr>
              <a:defRPr sz="2400">
                <a:latin typeface="Calibri" panose="020F0502020204030204" pitchFamily="34" charset="0"/>
              </a:defRPr>
            </a:lvl3pPr>
            <a:lvl4pPr>
              <a:defRPr sz="2000">
                <a:latin typeface="Calibri" panose="020F0502020204030204" pitchFamily="34" charset="0"/>
              </a:defRPr>
            </a:lvl4pPr>
            <a:lvl5pPr>
              <a:defRPr sz="2000">
                <a:latin typeface="Calibri" panose="020F0502020204030204" pitchFamily="34" charset="0"/>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Calibri" panose="020F0502020204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Calibri" panose="020F0502020204030204" pitchFamily="34"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Calibri" panose="020F0502020204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2" y="228601"/>
            <a:ext cx="2914649" cy="6105525"/>
          </a:xfrm>
        </p:spPr>
        <p:txBody>
          <a:bodyPr vert="eaVert"/>
          <a:lstStyle>
            <a:lvl1pPr>
              <a:defRPr>
                <a:latin typeface="Calibri" panose="020F0502020204030204"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a:xfrm>
            <a:off x="529167" y="228601"/>
            <a:ext cx="8544984" cy="6105525"/>
          </a:xfrm>
        </p:spPr>
        <p:txBody>
          <a:bodyPr vert="eaVert"/>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quarter" idx="2"/>
          </p:nvPr>
        </p:nvSpPr>
        <p:spPr>
          <a:xfrm>
            <a:off x="6216651" y="1362076"/>
            <a:ext cx="5162549" cy="2409825"/>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Content Placeholder 4"/>
          <p:cNvSpPr>
            <a:spLocks noGrp="1"/>
          </p:cNvSpPr>
          <p:nvPr>
            <p:ph sz="quarter" idx="3"/>
          </p:nvPr>
        </p:nvSpPr>
        <p:spPr>
          <a:xfrm>
            <a:off x="6216651" y="3924301"/>
            <a:ext cx="5162549" cy="2409825"/>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Text Placeholder 2"/>
          <p:cNvSpPr>
            <a:spLocks noGrp="1"/>
          </p:cNvSpPr>
          <p:nvPr>
            <p:ph type="body" sz="half" idx="1"/>
          </p:nvPr>
        </p:nvSpPr>
        <p:spPr>
          <a:xfrm>
            <a:off x="850901" y="1362075"/>
            <a:ext cx="5162551" cy="497205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98787" y="371182"/>
            <a:ext cx="10121900" cy="762000"/>
          </a:xfrm>
          <a:prstGeom prst="rect">
            <a:avLst/>
          </a:prstGeom>
          <a:noFill/>
          <a:ln w="9525">
            <a:noFill/>
            <a:miter lim="800000"/>
          </a:ln>
        </p:spPr>
        <p:txBody>
          <a:bodyPr vert="horz" wrap="square" lIns="91440" tIns="45720" rIns="91440" bIns="45720" numCol="1" anchor="ctr" anchorCtr="0" compatLnSpc="1"/>
          <a:lstStyle/>
          <a:p>
            <a:pPr lvl="0"/>
            <a:r>
              <a:rPr lang="en-US" dirty="0"/>
              <a:t>Click to edit Master title style</a:t>
            </a:r>
            <a:endParaRPr lang="en-US" dirty="0"/>
          </a:p>
        </p:txBody>
      </p:sp>
      <p:sp>
        <p:nvSpPr>
          <p:cNvPr id="8195" name="Rectangle 3"/>
          <p:cNvSpPr>
            <a:spLocks noGrp="1" noChangeArrowheads="1"/>
          </p:cNvSpPr>
          <p:nvPr>
            <p:ph type="body" idx="1"/>
          </p:nvPr>
        </p:nvSpPr>
        <p:spPr bwMode="auto">
          <a:xfrm>
            <a:off x="529167" y="1362075"/>
            <a:ext cx="10528300" cy="4972050"/>
          </a:xfrm>
          <a:prstGeom prst="rect">
            <a:avLst/>
          </a:prstGeom>
          <a:noFill/>
          <a:ln w="9525">
            <a:noFill/>
            <a:miter lim="800000"/>
          </a:ln>
        </p:spPr>
        <p:txBody>
          <a:bodyPr vert="horz" wrap="square" lIns="91440" tIns="45720" rIns="91440" bIns="45720" numCol="1" anchor="t" anchorCtr="0" compatLnSpc="1"/>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Text Box 5"/>
          <p:cNvSpPr txBox="1">
            <a:spLocks noChangeArrowheads="1"/>
          </p:cNvSpPr>
          <p:nvPr userDrawn="1"/>
        </p:nvSpPr>
        <p:spPr bwMode="auto">
          <a:xfrm>
            <a:off x="10530418" y="-26987"/>
            <a:ext cx="1746249" cy="277813"/>
          </a:xfrm>
          <a:prstGeom prst="rect">
            <a:avLst/>
          </a:prstGeom>
          <a:noFill/>
          <a:ln w="25400">
            <a:noFill/>
            <a:miter lim="800000"/>
          </a:ln>
          <a:effectLst/>
        </p:spPr>
        <p:txBody>
          <a:bodyPr>
            <a:spAutoFit/>
          </a:bodyPr>
          <a:lstStyle/>
          <a:p>
            <a:pPr>
              <a:defRPr/>
            </a:pPr>
            <a:r>
              <a:rPr lang="en-US" sz="1200" dirty="0">
                <a:solidFill>
                  <a:schemeClr val="bg1"/>
                </a:solidFill>
                <a:latin typeface="仿宋" panose="02010609060101010101" pitchFamily="49" charset="-122"/>
                <a:ea typeface="仿宋" panose="02010609060101010101" pitchFamily="49" charset="-122"/>
              </a:rPr>
              <a:t>Carnegie Mellon</a:t>
            </a:r>
            <a:endParaRPr lang="en-US" sz="1200" dirty="0">
              <a:solidFill>
                <a:schemeClr val="bg1"/>
              </a:solidFill>
              <a:latin typeface="仿宋" panose="02010609060101010101" pitchFamily="49" charset="-122"/>
              <a:ea typeface="仿宋" panose="02010609060101010101" pitchFamily="49" charset="-122"/>
            </a:endParaRPr>
          </a:p>
        </p:txBody>
      </p:sp>
      <p:sp>
        <p:nvSpPr>
          <p:cNvPr id="6" name="Rectangle 5"/>
          <p:cNvSpPr/>
          <p:nvPr userDrawn="1"/>
        </p:nvSpPr>
        <p:spPr>
          <a:xfrm>
            <a:off x="11774458" y="6611780"/>
            <a:ext cx="312906"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Arial Narrow" panose="020B0706020202030204" pitchFamily="34" charset="0"/>
                <a:ea typeface="MS PGothic" panose="020B0600070205080204" pitchFamily="-96" charset="-128"/>
                <a:cs typeface="MS PGothic" panose="020B0600070205080204" pitchFamily="-96" charset="-128"/>
              </a:rPr>
            </a:fld>
            <a:endParaRPr lang="en-US" sz="2400" dirty="0"/>
          </a:p>
        </p:txBody>
      </p:sp>
      <p:sp>
        <p:nvSpPr>
          <p:cNvPr id="2" name="TextBox 8"/>
          <p:cNvSpPr txBox="1"/>
          <p:nvPr userDrawn="1"/>
        </p:nvSpPr>
        <p:spPr>
          <a:xfrm>
            <a:off x="215" y="6553201"/>
            <a:ext cx="3459480" cy="275590"/>
          </a:xfrm>
          <a:prstGeom prst="rect">
            <a:avLst/>
          </a:prstGeom>
          <a:noFill/>
        </p:spPr>
        <p:txBody>
          <a:bodyPr wrap="none" rtlCol="0">
            <a:spAutoFit/>
          </a:bodyPr>
          <a:lstStyle/>
          <a:p>
            <a:pPr algn="l"/>
            <a:r>
              <a:rPr lang="zh-CN" altLang="en-US" sz="1200" b="0">
                <a:solidFill>
                  <a:schemeClr val="tx1">
                    <a:tint val="75000"/>
                  </a:schemeClr>
                </a:solidFill>
                <a:latin typeface="仿宋" panose="02010609060101010101" pitchFamily="49" charset="-122"/>
                <a:ea typeface="仿宋" panose="02010609060101010101" pitchFamily="49" charset="-122"/>
                <a:sym typeface="+mn-ea"/>
              </a:rPr>
              <a:t>计算机系统基础-深入理解计算机系统（第三版）</a:t>
            </a:r>
            <a:endParaRPr lang="zh-CN" altLang="en-US" sz="1200" b="0" i="0" dirty="0">
              <a:latin typeface="仿宋" panose="02010609060101010101" pitchFamily="49" charset="-122"/>
              <a:ea typeface="仿宋" panose="02010609060101010101" pitchFamily="49" charset="-122"/>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marL="119380" indent="-119380" algn="l" rtl="0" eaLnBrk="1" fontAlgn="base" hangingPunct="1">
        <a:spcBef>
          <a:spcPct val="0"/>
        </a:spcBef>
        <a:spcAft>
          <a:spcPct val="0"/>
        </a:spcAft>
        <a:defRPr sz="3600" b="1">
          <a:solidFill>
            <a:schemeClr val="tx1"/>
          </a:solidFill>
          <a:latin typeface="仿宋" panose="02010609060101010101" pitchFamily="49" charset="-122"/>
          <a:ea typeface="仿宋" panose="02010609060101010101" pitchFamily="49" charset="-122"/>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仿宋" panose="02010609060101010101" pitchFamily="49" charset="-122"/>
          <a:ea typeface="仿宋" panose="02010609060101010101" pitchFamily="49" charset="-122"/>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仿宋" panose="02010609060101010101" pitchFamily="49" charset="-122"/>
          <a:ea typeface="仿宋" panose="02010609060101010101" pitchFamily="49" charset="-122"/>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仿宋" panose="02010609060101010101" pitchFamily="49" charset="-122"/>
          <a:ea typeface="仿宋" panose="02010609060101010101" pitchFamily="49" charset="-122"/>
        </a:defRPr>
      </a:lvl3pPr>
      <a:lvl4pPr marL="1600200" indent="-228600" algn="l" rtl="0" eaLnBrk="1" fontAlgn="base" hangingPunct="1">
        <a:spcBef>
          <a:spcPct val="20000"/>
        </a:spcBef>
        <a:spcAft>
          <a:spcPct val="0"/>
        </a:spcAft>
        <a:buChar char="–"/>
        <a:defRPr sz="2000">
          <a:solidFill>
            <a:schemeClr val="tx1"/>
          </a:solidFill>
          <a:latin typeface="仿宋" panose="02010609060101010101" pitchFamily="49" charset="-122"/>
          <a:ea typeface="仿宋" panose="02010609060101010101" pitchFamily="49" charset="-122"/>
        </a:defRPr>
      </a:lvl4pPr>
      <a:lvl5pPr marL="2057400" indent="-228600" algn="l" rtl="0" eaLnBrk="1" fontAlgn="base" hangingPunct="1">
        <a:spcBef>
          <a:spcPct val="20000"/>
        </a:spcBef>
        <a:spcAft>
          <a:spcPct val="0"/>
        </a:spcAft>
        <a:buChar char="»"/>
        <a:defRPr sz="2000">
          <a:solidFill>
            <a:schemeClr val="tx1"/>
          </a:solidFill>
          <a:latin typeface="仿宋" panose="02010609060101010101" pitchFamily="49" charset="-122"/>
          <a:ea typeface="仿宋" panose="02010609060101010101" pitchFamily="49" charset="-122"/>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0" Type="http://schemas.openxmlformats.org/officeDocument/2006/relationships/notesSlide" Target="../notesSlides/notesSlide33.xml"/><Relationship Id="rId1" Type="http://schemas.openxmlformats.org/officeDocument/2006/relationships/tags" Target="../tags/tag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1828800" y="1371600"/>
            <a:ext cx="8841105" cy="2133600"/>
          </a:xfrm>
        </p:spPr>
        <p:txBody>
          <a:bodyPr/>
          <a:lstStyle/>
          <a:p>
            <a:pPr marL="0" indent="0"/>
            <a:r>
              <a:rPr lang="zh-CN" altLang="en-US" sz="4400" dirty="0">
                <a:cs typeface="仿宋" panose="02010609060101010101" pitchFamily="49" charset="-122"/>
                <a:sym typeface="+mn-ea"/>
              </a:rPr>
              <a:t>异常控制流：信号与非本地跳转</a:t>
            </a:r>
            <a:br>
              <a:rPr lang="zh-CN" altLang="en-US" sz="4400" dirty="0">
                <a:cs typeface="仿宋" panose="02010609060101010101" pitchFamily="49" charset="-122"/>
                <a:sym typeface="+mn-ea"/>
              </a:rPr>
            </a:br>
            <a:br>
              <a:rPr lang="en-US" dirty="0">
                <a:cs typeface="仿宋" panose="02010609060101010101" pitchFamily="49" charset="-122"/>
                <a:sym typeface="+mn-ea"/>
              </a:rPr>
            </a:br>
            <a:r>
              <a:rPr lang="zh-CN" altLang="en-US" sz="2800" dirty="0">
                <a:cs typeface="仿宋" panose="02010609060101010101" pitchFamily="49" charset="-122"/>
                <a:sym typeface="+mn-ea"/>
              </a:rPr>
              <a:t>计算机系统基础</a:t>
            </a:r>
            <a:br>
              <a:rPr lang="en-US" dirty="0">
                <a:cs typeface="仿宋" panose="02010609060101010101" pitchFamily="49" charset="-122"/>
                <a:sym typeface="+mn-ea"/>
              </a:rPr>
            </a:br>
            <a:endParaRPr lang="en-US" sz="2000" b="0" dirty="0"/>
          </a:p>
        </p:txBody>
      </p:sp>
      <p:sp>
        <p:nvSpPr>
          <p:cNvPr id="2" name="副标题 1"/>
          <p:cNvSpPr/>
          <p:nvPr>
            <p:ph type="subTitle" idx="1"/>
          </p:nvPr>
        </p:nvSpPr>
        <p:spPr/>
        <p:txBody>
          <a:bodyPr/>
          <a:p>
            <a:endParaRPr lang="zh-CN"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1026"/>
          <p:cNvSpPr>
            <a:spLocks noGrp="1" noChangeArrowheads="1"/>
          </p:cNvSpPr>
          <p:nvPr>
            <p:ph type="title"/>
          </p:nvPr>
        </p:nvSpPr>
        <p:spPr/>
        <p:txBody>
          <a:bodyPr/>
          <a:lstStyle/>
          <a:p>
            <a:r>
              <a:rPr lang="zh-CN" altLang="en-US"/>
              <a:t>异常控制流</a:t>
            </a:r>
            <a:r>
              <a:rPr lang="zh-CN" altLang="en-US" dirty="0">
                <a:cs typeface="Consolas" panose="020B0609020204030204" pitchFamily="49" charset="0"/>
                <a:sym typeface="+mn-ea"/>
              </a:rPr>
              <a:t>发生在</a:t>
            </a:r>
            <a:r>
              <a:rPr lang="en-US" dirty="0">
                <a:cs typeface="Consolas" panose="020B0609020204030204" pitchFamily="49" charset="0"/>
                <a:sym typeface="+mn-ea"/>
              </a:rPr>
              <a:t>计算机系统的</a:t>
            </a:r>
            <a:r>
              <a:rPr lang="zh-CN" altLang="en-US" dirty="0">
                <a:cs typeface="Consolas" panose="020B0609020204030204" pitchFamily="49" charset="0"/>
                <a:sym typeface="+mn-ea"/>
              </a:rPr>
              <a:t>各个层次</a:t>
            </a:r>
            <a:endParaRPr lang="zh-CN" altLang="en-US" dirty="0"/>
          </a:p>
        </p:txBody>
      </p:sp>
      <p:sp>
        <p:nvSpPr>
          <p:cNvPr id="545795" name="Rectangle 1027"/>
          <p:cNvSpPr>
            <a:spLocks noGrp="1" noChangeArrowheads="1"/>
          </p:cNvSpPr>
          <p:nvPr>
            <p:ph type="body" idx="1"/>
          </p:nvPr>
        </p:nvSpPr>
        <p:spPr>
          <a:xfrm>
            <a:off x="1143000" y="1285875"/>
            <a:ext cx="8674101" cy="4972050"/>
          </a:xfrm>
        </p:spPr>
        <p:txBody>
          <a:bodyPr/>
          <a:lstStyle/>
          <a:p>
            <a:r>
              <a:rPr lang="zh-CN" altLang="en-US" sz="2800" dirty="0"/>
              <a:t>异常</a:t>
            </a:r>
            <a:endParaRPr lang="en-US" sz="2800" dirty="0"/>
          </a:p>
          <a:p>
            <a:pPr lvl="1"/>
            <a:r>
              <a:rPr lang="zh-CN" altLang="en-US" sz="2400"/>
              <a:t>硬件和操作系统内核软件</a:t>
            </a:r>
            <a:endParaRPr lang="zh-CN" altLang="en-US" sz="2400"/>
          </a:p>
          <a:p>
            <a:r>
              <a:rPr lang="zh-CN" altLang="en-US" sz="2800" dirty="0"/>
              <a:t>进程上下文切换</a:t>
            </a:r>
            <a:endParaRPr lang="en-US" sz="2800" dirty="0"/>
          </a:p>
          <a:p>
            <a:pPr lvl="1"/>
            <a:r>
              <a:rPr lang="zh-CN" altLang="en-US" sz="2400"/>
              <a:t>硬件计时器和内核软件</a:t>
            </a:r>
            <a:endParaRPr lang="zh-CN" altLang="en-US"/>
          </a:p>
          <a:p>
            <a:r>
              <a:rPr lang="zh-CN" altLang="en-US" sz="2800" dirty="0"/>
              <a:t>信号</a:t>
            </a:r>
            <a:endParaRPr lang="en-US" sz="2800" dirty="0"/>
          </a:p>
          <a:p>
            <a:pPr lvl="1"/>
            <a:r>
              <a:rPr lang="zh-CN" altLang="en-US" sz="2400"/>
              <a:t>内核软件和应用程序软件</a:t>
            </a:r>
            <a:endParaRPr lang="zh-CN" altLang="en-US" sz="2400"/>
          </a:p>
          <a:p>
            <a:r>
              <a:rPr lang="zh-CN" altLang="en-US" sz="2800" dirty="0"/>
              <a:t>非本地跳转</a:t>
            </a:r>
            <a:endParaRPr lang="en-US" sz="2800" dirty="0"/>
          </a:p>
          <a:p>
            <a:pPr lvl="1"/>
            <a:r>
              <a:rPr lang="zh-CN" altLang="en-US" sz="2400" dirty="0"/>
              <a:t>应用程序代码</a:t>
            </a:r>
            <a:endParaRPr lang="zh-CN" altLang="en-US" sz="2400" dirty="0"/>
          </a:p>
        </p:txBody>
      </p:sp>
      <p:sp>
        <p:nvSpPr>
          <p:cNvPr id="545797" name="AutoShape 1029"/>
          <p:cNvSpPr/>
          <p:nvPr/>
        </p:nvSpPr>
        <p:spPr bwMode="auto">
          <a:xfrm>
            <a:off x="8449733" y="1524000"/>
            <a:ext cx="183085" cy="1214735"/>
          </a:xfrm>
          <a:prstGeom prst="rightBrace">
            <a:avLst>
              <a:gd name="adj1" fmla="val 104167"/>
              <a:gd name="adj2" fmla="val 50000"/>
            </a:avLst>
          </a:prstGeom>
          <a:noFill/>
          <a:ln w="19050">
            <a:solidFill>
              <a:schemeClr val="tx2"/>
            </a:solidFill>
            <a:round/>
            <a:tailEnd type="none" w="sm" len="sm"/>
          </a:ln>
          <a:effectLst/>
        </p:spPr>
        <p:txBody>
          <a:bodyPr wrap="square" lIns="45720" rIns="45720" anchor="ctr">
            <a:spAutoFit/>
          </a:bodyPr>
          <a:lstStyle/>
          <a:p>
            <a:endParaRPr lang="en-US" dirty="0">
              <a:latin typeface="Calibri" panose="020F0502020204030204" pitchFamily="34" charset="0"/>
            </a:endParaRPr>
          </a:p>
        </p:txBody>
      </p:sp>
      <p:sp>
        <p:nvSpPr>
          <p:cNvPr id="545798" name="Text Box 1030"/>
          <p:cNvSpPr txBox="1">
            <a:spLocks noChangeArrowheads="1"/>
          </p:cNvSpPr>
          <p:nvPr/>
        </p:nvSpPr>
        <p:spPr bwMode="auto">
          <a:xfrm>
            <a:off x="8690291" y="1941017"/>
            <a:ext cx="1007745" cy="460375"/>
          </a:xfrm>
          <a:prstGeom prst="rect">
            <a:avLst/>
          </a:prstGeom>
          <a:noFill/>
          <a:ln w="19050">
            <a:noFill/>
            <a:miter lim="800000"/>
            <a:tailEnd type="none" w="sm" len="sm"/>
          </a:ln>
          <a:effectLst/>
        </p:spPr>
        <p:txBody>
          <a:bodyPr wrap="none" lIns="45720" rIns="45720">
            <a:spAutoFit/>
          </a:bodyPr>
          <a:lstStyle/>
          <a:p>
            <a:r>
              <a:rPr lang="zh-CN" altLang="en-US" dirty="0">
                <a:latin typeface="SimHei" panose="02010600030101010101" charset="-122"/>
                <a:ea typeface="SimHei" panose="02010600030101010101" charset="-122"/>
              </a:rPr>
              <a:t>已完成</a:t>
            </a:r>
            <a:endParaRPr lang="zh-CN" altLang="en-US" dirty="0">
              <a:latin typeface="SimHei" panose="02010600030101010101" charset="-122"/>
              <a:ea typeface="SimHei" panose="02010600030101010101" charset="-122"/>
            </a:endParaRPr>
          </a:p>
        </p:txBody>
      </p:sp>
      <p:sp>
        <p:nvSpPr>
          <p:cNvPr id="8" name="AutoShape 1029"/>
          <p:cNvSpPr/>
          <p:nvPr/>
        </p:nvSpPr>
        <p:spPr bwMode="auto">
          <a:xfrm>
            <a:off x="8449733" y="3429000"/>
            <a:ext cx="183086" cy="1371599"/>
          </a:xfrm>
          <a:prstGeom prst="rightBrace">
            <a:avLst>
              <a:gd name="adj1" fmla="val 104167"/>
              <a:gd name="adj2" fmla="val 50000"/>
            </a:avLst>
          </a:prstGeom>
          <a:noFill/>
          <a:ln w="19050">
            <a:solidFill>
              <a:schemeClr val="tx2"/>
            </a:solidFill>
            <a:round/>
            <a:tailEnd type="none" w="sm" len="sm"/>
          </a:ln>
          <a:effectLst/>
        </p:spPr>
        <p:txBody>
          <a:bodyPr wrap="square" lIns="45720" rIns="45720" anchor="ctr">
            <a:spAutoFit/>
          </a:bodyPr>
          <a:lstStyle/>
          <a:p>
            <a:endParaRPr lang="en-US" dirty="0">
              <a:latin typeface="Calibri" panose="020F0502020204030204" pitchFamily="34" charset="0"/>
            </a:endParaRPr>
          </a:p>
        </p:txBody>
      </p:sp>
      <p:sp>
        <p:nvSpPr>
          <p:cNvPr id="9" name="Text Box 1030"/>
          <p:cNvSpPr txBox="1">
            <a:spLocks noChangeArrowheads="1"/>
          </p:cNvSpPr>
          <p:nvPr/>
        </p:nvSpPr>
        <p:spPr bwMode="auto">
          <a:xfrm>
            <a:off x="8690291" y="3843784"/>
            <a:ext cx="1007745" cy="460375"/>
          </a:xfrm>
          <a:prstGeom prst="rect">
            <a:avLst/>
          </a:prstGeom>
          <a:noFill/>
          <a:ln w="19050">
            <a:noFill/>
            <a:miter lim="800000"/>
            <a:tailEnd type="none" w="sm" len="sm"/>
          </a:ln>
          <a:effectLst/>
        </p:spPr>
        <p:txBody>
          <a:bodyPr wrap="none" lIns="45720" rIns="45720">
            <a:spAutoFit/>
          </a:bodyPr>
          <a:lstStyle/>
          <a:p>
            <a:pPr algn="l"/>
            <a:r>
              <a:rPr lang="zh-CN" altLang="en-US" dirty="0">
                <a:latin typeface="SimHei" panose="02010600030101010101" charset="-122"/>
                <a:ea typeface="SimHei" panose="02010600030101010101" charset="-122"/>
                <a:sym typeface="+mn-ea"/>
              </a:rPr>
              <a:t>待</a:t>
            </a:r>
            <a:r>
              <a:rPr lang="zh-CN" altLang="en-US" dirty="0">
                <a:latin typeface="SimHei" panose="02010600030101010101" charset="-122"/>
                <a:ea typeface="SimHei" panose="02010600030101010101" charset="-122"/>
                <a:sym typeface="+mn-ea"/>
              </a:rPr>
              <a:t>完成</a:t>
            </a:r>
            <a:endParaRPr lang="zh-CN" altLang="en-US" dirty="0">
              <a:latin typeface="SimHei" panose="02010600030101010101" charset="-122"/>
              <a:ea typeface="SimHei" panose="02010600030101010101" charset="-122"/>
              <a:sym typeface="+mn-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主要内容</a:t>
            </a:r>
            <a:endParaRPr lang="zh-CN" altLang="en-US" dirty="0"/>
          </a:p>
        </p:txBody>
      </p:sp>
      <p:sp>
        <p:nvSpPr>
          <p:cNvPr id="3" name="Content Placeholder 2"/>
          <p:cNvSpPr>
            <a:spLocks noGrp="1"/>
          </p:cNvSpPr>
          <p:nvPr>
            <p:ph idx="1"/>
          </p:nvPr>
        </p:nvSpPr>
        <p:spPr/>
        <p:txBody>
          <a:bodyPr/>
          <a:lstStyle/>
          <a:p>
            <a:r>
              <a:rPr lang="zh-CN" altLang="en-US" dirty="0">
                <a:solidFill>
                  <a:schemeClr val="tx1"/>
                </a:solidFill>
                <a:latin typeface="Consolas" panose="020B0609020204030204" pitchFamily="49" charset="0"/>
                <a:cs typeface="Consolas" panose="020B0609020204030204" pitchFamily="49" charset="0"/>
              </a:rPr>
              <a:t>Shell</a:t>
            </a:r>
            <a:endParaRPr lang="zh-CN" altLang="en-US" dirty="0">
              <a:solidFill>
                <a:schemeClr val="tx1"/>
              </a:solidFill>
              <a:latin typeface="Consolas" panose="020B0609020204030204" pitchFamily="49" charset="0"/>
              <a:cs typeface="Consolas" panose="020B0609020204030204" pitchFamily="49" charset="0"/>
            </a:endParaRPr>
          </a:p>
          <a:p>
            <a:pPr algn="l"/>
            <a:r>
              <a:rPr lang="en-US" dirty="0">
                <a:solidFill>
                  <a:schemeClr val="bg1">
                    <a:lumMod val="65000"/>
                  </a:schemeClr>
                </a:solidFill>
                <a:latin typeface="仿宋" panose="02010609060101010101" pitchFamily="49" charset="-122"/>
                <a:cs typeface="Consolas" panose="020B0609020204030204" pitchFamily="49" charset="0"/>
              </a:rPr>
              <a:t>信号</a:t>
            </a:r>
            <a:endParaRPr lang="en-US" dirty="0">
              <a:solidFill>
                <a:schemeClr val="bg1">
                  <a:lumMod val="65000"/>
                </a:schemeClr>
              </a:solidFill>
              <a:latin typeface="仿宋" panose="02010609060101010101" pitchFamily="49" charset="-122"/>
              <a:cs typeface="Consolas" panose="020B0609020204030204" pitchFamily="49" charset="0"/>
            </a:endParaRPr>
          </a:p>
          <a:p>
            <a:pPr lvl="1" algn="l"/>
            <a:r>
              <a:rPr lang="zh-CN" altLang="en-US" sz="2000" dirty="0">
                <a:solidFill>
                  <a:schemeClr val="bg1">
                    <a:lumMod val="65000"/>
                  </a:schemeClr>
                </a:solidFill>
                <a:latin typeface="仿宋" panose="02010609060101010101" pitchFamily="49" charset="-122"/>
                <a:cs typeface="Consolas" panose="020B0609020204030204" pitchFamily="49" charset="0"/>
              </a:rPr>
              <a:t>信号的发送</a:t>
            </a:r>
            <a:endParaRPr lang="zh-CN" altLang="en-US" sz="2000" dirty="0">
              <a:solidFill>
                <a:schemeClr val="bg1">
                  <a:lumMod val="65000"/>
                </a:schemeClr>
              </a:solidFill>
              <a:latin typeface="仿宋" panose="02010609060101010101" pitchFamily="49" charset="-122"/>
              <a:cs typeface="Consolas" panose="020B0609020204030204" pitchFamily="49" charset="0"/>
            </a:endParaRPr>
          </a:p>
          <a:p>
            <a:pPr lvl="1" algn="l"/>
            <a:r>
              <a:rPr lang="zh-CN" altLang="en-US" sz="2000" dirty="0">
                <a:solidFill>
                  <a:schemeClr val="bg1">
                    <a:lumMod val="65000"/>
                  </a:schemeClr>
                </a:solidFill>
                <a:latin typeface="仿宋" panose="02010609060101010101" pitchFamily="49" charset="-122"/>
                <a:cs typeface="Consolas" panose="020B0609020204030204" pitchFamily="49" charset="0"/>
              </a:rPr>
              <a:t>信号的接收</a:t>
            </a:r>
            <a:endParaRPr lang="zh-CN" altLang="en-US" sz="2000" dirty="0">
              <a:solidFill>
                <a:schemeClr val="bg1">
                  <a:lumMod val="65000"/>
                </a:schemeClr>
              </a:solidFill>
              <a:latin typeface="仿宋" panose="02010609060101010101" pitchFamily="49" charset="-122"/>
              <a:cs typeface="Consolas" panose="020B0609020204030204" pitchFamily="49" charset="0"/>
            </a:endParaRPr>
          </a:p>
          <a:p>
            <a:pPr lvl="1" algn="l"/>
            <a:r>
              <a:rPr lang="zh-CN" altLang="en-US" dirty="0">
                <a:solidFill>
                  <a:schemeClr val="bg1">
                    <a:lumMod val="65000"/>
                  </a:schemeClr>
                </a:solidFill>
                <a:latin typeface="仿宋" panose="02010609060101010101" pitchFamily="49" charset="-122"/>
                <a:cs typeface="Consolas" panose="020B0609020204030204" pitchFamily="49" charset="0"/>
              </a:rPr>
              <a:t>安全的信号处理函数</a:t>
            </a:r>
            <a:endParaRPr lang="zh-CN" altLang="en-US" dirty="0">
              <a:solidFill>
                <a:schemeClr val="bg1">
                  <a:lumMod val="65000"/>
                </a:schemeClr>
              </a:solidFill>
              <a:latin typeface="仿宋" panose="02010609060101010101" pitchFamily="49" charset="-122"/>
              <a:cs typeface="Consolas" panose="020B0609020204030204" pitchFamily="49" charset="0"/>
            </a:endParaRPr>
          </a:p>
          <a:p>
            <a:pPr lvl="1" algn="l"/>
            <a:r>
              <a:rPr lang="zh-CN" altLang="en-US" dirty="0">
                <a:solidFill>
                  <a:schemeClr val="bg1">
                    <a:lumMod val="65000"/>
                  </a:schemeClr>
                </a:solidFill>
                <a:latin typeface="仿宋" panose="02010609060101010101" pitchFamily="49" charset="-122"/>
                <a:cs typeface="Consolas" panose="020B0609020204030204" pitchFamily="49" charset="0"/>
              </a:rPr>
              <a:t>几个典型的例子</a:t>
            </a:r>
            <a:endParaRPr lang="en-US" dirty="0">
              <a:solidFill>
                <a:schemeClr val="bg1">
                  <a:lumMod val="65000"/>
                </a:schemeClr>
              </a:solidFill>
              <a:latin typeface="仿宋" panose="02010609060101010101" pitchFamily="49" charset="-122"/>
              <a:cs typeface="Consolas" panose="020B0609020204030204" pitchFamily="49" charset="0"/>
            </a:endParaRPr>
          </a:p>
          <a:p>
            <a:r>
              <a:rPr lang="zh-CN" altLang="en-US" dirty="0">
                <a:solidFill>
                  <a:schemeClr val="bg1">
                    <a:lumMod val="65000"/>
                  </a:schemeClr>
                </a:solidFill>
                <a:latin typeface="仿宋" panose="02010609060101010101" pitchFamily="49" charset="-122"/>
              </a:rPr>
              <a:t>非本地跳转</a:t>
            </a:r>
            <a:endParaRPr lang="zh-CN" altLang="en-US" dirty="0">
              <a:solidFill>
                <a:schemeClr val="bg1">
                  <a:lumMod val="65000"/>
                </a:schemeClr>
              </a:solidFill>
              <a:latin typeface="仿宋"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96" name="Rectangle 20"/>
          <p:cNvSpPr>
            <a:spLocks noGrp="1" noChangeArrowheads="1"/>
          </p:cNvSpPr>
          <p:nvPr>
            <p:ph type="title"/>
          </p:nvPr>
        </p:nvSpPr>
        <p:spPr/>
        <p:txBody>
          <a:bodyPr/>
          <a:lstStyle/>
          <a:p>
            <a:r>
              <a:rPr lang="en-US" dirty="0">
                <a:latin typeface="Consolas" panose="020B0609020204030204" pitchFamily="49" charset="0"/>
                <a:cs typeface="Consolas" panose="020B0609020204030204" pitchFamily="49" charset="0"/>
              </a:rPr>
              <a:t>Linux </a:t>
            </a:r>
            <a:r>
              <a:rPr lang="zh-CN" altLang="en-US"/>
              <a:t>进程层次结构</a:t>
            </a:r>
            <a:endParaRPr lang="zh-CN" altLang="en-US"/>
          </a:p>
        </p:txBody>
      </p:sp>
      <p:sp>
        <p:nvSpPr>
          <p:cNvPr id="23555" name="Oval 3"/>
          <p:cNvSpPr>
            <a:spLocks noChangeArrowheads="1"/>
          </p:cNvSpPr>
          <p:nvPr/>
        </p:nvSpPr>
        <p:spPr bwMode="auto">
          <a:xfrm>
            <a:off x="3581400" y="3581400"/>
            <a:ext cx="1676400" cy="533400"/>
          </a:xfrm>
          <a:prstGeom prst="ellipse">
            <a:avLst/>
          </a:prstGeom>
          <a:solidFill>
            <a:srgbClr val="F6F5BD"/>
          </a:solidFill>
          <a:ln w="25400">
            <a:solidFill>
              <a:schemeClr val="tx1"/>
            </a:solidFill>
            <a:round/>
          </a:ln>
        </p:spPr>
        <p:txBody>
          <a:bodyPr wrap="none" anchor="ctr"/>
          <a:lstStyle/>
          <a:p>
            <a:pPr algn="ctr">
              <a:lnSpc>
                <a:spcPct val="100000"/>
              </a:lnSpc>
            </a:pPr>
            <a:r>
              <a:rPr lang="zh-CN" altLang="en-US" sz="2000" dirty="0">
                <a:latin typeface="FangSong" panose="02010609060101010101" pitchFamily="49" charset="-122"/>
                <a:ea typeface="FangSong" panose="02010609060101010101" pitchFamily="49" charset="-122"/>
                <a:cs typeface="Consolas" panose="020B0609020204030204" pitchFamily="49" charset="0"/>
              </a:rPr>
              <a:t>登录</a:t>
            </a:r>
            <a:r>
              <a:rPr lang="en-US" sz="2000" dirty="0">
                <a:latin typeface="Consolas" panose="020B0609020204030204" pitchFamily="49" charset="0"/>
                <a:ea typeface="SimHei" panose="02010600030101010101" charset="-122"/>
                <a:cs typeface="Consolas" panose="020B0609020204030204" pitchFamily="49" charset="0"/>
              </a:rPr>
              <a:t> shell</a:t>
            </a:r>
            <a:endParaRPr lang="en-US" sz="2000" dirty="0">
              <a:latin typeface="Consolas" panose="020B0609020204030204" pitchFamily="49" charset="0"/>
              <a:ea typeface="SimHei" panose="02010600030101010101" charset="-122"/>
              <a:cs typeface="Consolas" panose="020B0609020204030204" pitchFamily="49" charset="0"/>
            </a:endParaRPr>
          </a:p>
        </p:txBody>
      </p:sp>
      <p:sp>
        <p:nvSpPr>
          <p:cNvPr id="23557" name="Oval 5"/>
          <p:cNvSpPr>
            <a:spLocks noChangeArrowheads="1"/>
          </p:cNvSpPr>
          <p:nvPr/>
        </p:nvSpPr>
        <p:spPr bwMode="auto">
          <a:xfrm>
            <a:off x="3581400" y="4572000"/>
            <a:ext cx="1676400" cy="533400"/>
          </a:xfrm>
          <a:prstGeom prst="ellipse">
            <a:avLst/>
          </a:prstGeom>
          <a:solidFill>
            <a:srgbClr val="F6F5BD"/>
          </a:solidFill>
          <a:ln w="25400">
            <a:solidFill>
              <a:schemeClr val="tx1"/>
            </a:solidFill>
            <a:round/>
          </a:ln>
        </p:spPr>
        <p:txBody>
          <a:bodyPr wrap="none" anchor="ctr"/>
          <a:lstStyle/>
          <a:p>
            <a:pPr algn="ctr">
              <a:lnSpc>
                <a:spcPct val="100000"/>
              </a:lnSpc>
            </a:pPr>
            <a:r>
              <a:rPr lang="zh-CN" altLang="en-US" sz="2000">
                <a:latin typeface="Consolas" panose="020B0609020204030204" pitchFamily="49" charset="0"/>
                <a:ea typeface="FangSong" panose="02010609060101010101" pitchFamily="49" charset="-122"/>
                <a:cs typeface="Consolas" panose="020B0609020204030204" pitchFamily="49" charset="0"/>
                <a:sym typeface="+mn-ea"/>
              </a:rPr>
              <a:t>子进程</a:t>
            </a:r>
            <a:endParaRPr lang="en-US" sz="2000">
              <a:latin typeface="Consolas" panose="020B0609020204030204" pitchFamily="49" charset="0"/>
              <a:ea typeface="FangSong" panose="02010609060101010101" pitchFamily="49" charset="-122"/>
              <a:cs typeface="Consolas" panose="020B0609020204030204" pitchFamily="49" charset="0"/>
            </a:endParaRPr>
          </a:p>
        </p:txBody>
      </p:sp>
      <p:sp>
        <p:nvSpPr>
          <p:cNvPr id="23558" name="Oval 6"/>
          <p:cNvSpPr>
            <a:spLocks noChangeArrowheads="1"/>
          </p:cNvSpPr>
          <p:nvPr/>
        </p:nvSpPr>
        <p:spPr bwMode="auto">
          <a:xfrm>
            <a:off x="1524000" y="4572000"/>
            <a:ext cx="1676400" cy="533400"/>
          </a:xfrm>
          <a:prstGeom prst="ellipse">
            <a:avLst/>
          </a:prstGeom>
          <a:solidFill>
            <a:srgbClr val="F6F5BD"/>
          </a:solidFill>
          <a:ln w="25400">
            <a:solidFill>
              <a:schemeClr val="tx1"/>
            </a:solidFill>
            <a:round/>
          </a:ln>
        </p:spPr>
        <p:txBody>
          <a:bodyPr wrap="none" anchor="ctr"/>
          <a:lstStyle/>
          <a:p>
            <a:pPr algn="ctr">
              <a:lnSpc>
                <a:spcPct val="100000"/>
              </a:lnSpc>
            </a:pPr>
            <a:r>
              <a:rPr lang="zh-CN" altLang="en-US" sz="2000" dirty="0">
                <a:latin typeface="Consolas" panose="020B0609020204030204" pitchFamily="49" charset="0"/>
                <a:ea typeface="FangSong" panose="02010609060101010101" pitchFamily="49" charset="-122"/>
                <a:cs typeface="Consolas" panose="020B0609020204030204" pitchFamily="49" charset="0"/>
              </a:rPr>
              <a:t>子进程</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p:txBody>
      </p:sp>
      <p:sp>
        <p:nvSpPr>
          <p:cNvPr id="23559" name="Oval 7"/>
          <p:cNvSpPr>
            <a:spLocks noChangeArrowheads="1"/>
          </p:cNvSpPr>
          <p:nvPr/>
        </p:nvSpPr>
        <p:spPr bwMode="auto">
          <a:xfrm>
            <a:off x="4648200" y="5715000"/>
            <a:ext cx="1676400" cy="533400"/>
          </a:xfrm>
          <a:prstGeom prst="ellipse">
            <a:avLst/>
          </a:prstGeom>
          <a:solidFill>
            <a:srgbClr val="F6F5BD"/>
          </a:solidFill>
          <a:ln w="25400">
            <a:solidFill>
              <a:schemeClr val="tx1"/>
            </a:solidFill>
            <a:round/>
          </a:ln>
        </p:spPr>
        <p:txBody>
          <a:bodyPr wrap="none" anchor="ctr"/>
          <a:lstStyle/>
          <a:p>
            <a:pPr algn="ctr">
              <a:lnSpc>
                <a:spcPct val="100000"/>
              </a:lnSpc>
            </a:pPr>
            <a:r>
              <a:rPr lang="zh-CN" altLang="en-US" sz="2000">
                <a:latin typeface="Consolas" panose="020B0609020204030204" pitchFamily="49" charset="0"/>
                <a:ea typeface="FangSong" panose="02010609060101010101" pitchFamily="49" charset="-122"/>
                <a:cs typeface="Consolas" panose="020B0609020204030204" pitchFamily="49" charset="0"/>
                <a:sym typeface="+mn-ea"/>
              </a:rPr>
              <a:t>孙进程</a:t>
            </a:r>
            <a:endParaRPr lang="en-US" sz="2000">
              <a:latin typeface="Consolas" panose="020B0609020204030204" pitchFamily="49" charset="0"/>
              <a:ea typeface="FangSong" panose="02010609060101010101" pitchFamily="49" charset="-122"/>
              <a:cs typeface="Consolas" panose="020B0609020204030204" pitchFamily="49" charset="0"/>
            </a:endParaRPr>
          </a:p>
        </p:txBody>
      </p:sp>
      <p:sp>
        <p:nvSpPr>
          <p:cNvPr id="23560" name="Oval 8"/>
          <p:cNvSpPr>
            <a:spLocks noChangeArrowheads="1"/>
          </p:cNvSpPr>
          <p:nvPr/>
        </p:nvSpPr>
        <p:spPr bwMode="auto">
          <a:xfrm>
            <a:off x="2438400" y="5715000"/>
            <a:ext cx="1676400" cy="533400"/>
          </a:xfrm>
          <a:prstGeom prst="ellipse">
            <a:avLst/>
          </a:prstGeom>
          <a:solidFill>
            <a:srgbClr val="F6F5BD"/>
          </a:solidFill>
          <a:ln w="25400">
            <a:solidFill>
              <a:schemeClr val="tx1"/>
            </a:solidFill>
            <a:round/>
          </a:ln>
        </p:spPr>
        <p:txBody>
          <a:bodyPr wrap="none" anchor="ctr"/>
          <a:lstStyle/>
          <a:p>
            <a:pPr algn="ctr">
              <a:lnSpc>
                <a:spcPct val="100000"/>
              </a:lnSpc>
            </a:pPr>
            <a:r>
              <a:rPr lang="zh-CN" altLang="en-US" sz="2000">
                <a:latin typeface="Consolas" panose="020B0609020204030204" pitchFamily="49" charset="0"/>
                <a:ea typeface="FangSong" panose="02010609060101010101" pitchFamily="49" charset="-122"/>
                <a:cs typeface="Consolas" panose="020B0609020204030204" pitchFamily="49" charset="0"/>
              </a:rPr>
              <a:t>孙进程</a:t>
            </a:r>
            <a:endParaRPr lang="zh-CN" altLang="en-US" sz="2000">
              <a:latin typeface="Consolas" panose="020B0609020204030204" pitchFamily="49" charset="0"/>
              <a:ea typeface="FangSong" panose="02010609060101010101" pitchFamily="49" charset="-122"/>
              <a:cs typeface="Consolas" panose="020B0609020204030204" pitchFamily="49" charset="0"/>
            </a:endParaRPr>
          </a:p>
        </p:txBody>
      </p:sp>
      <p:sp>
        <p:nvSpPr>
          <p:cNvPr id="23561" name="Line 9"/>
          <p:cNvSpPr>
            <a:spLocks noChangeShapeType="1"/>
          </p:cNvSpPr>
          <p:nvPr/>
        </p:nvSpPr>
        <p:spPr bwMode="auto">
          <a:xfrm flipH="1">
            <a:off x="2895600" y="4038600"/>
            <a:ext cx="990600" cy="609600"/>
          </a:xfrm>
          <a:prstGeom prst="line">
            <a:avLst/>
          </a:prstGeom>
          <a:noFill/>
          <a:ln w="25400">
            <a:solidFill>
              <a:schemeClr val="tx1"/>
            </a:solidFill>
            <a:round/>
          </a:ln>
        </p:spPr>
        <p:txBody>
          <a:bodyPr wrap="none" anchor="ctr"/>
          <a:lstStyle/>
          <a:p>
            <a:pPr algn="ctr"/>
            <a:endParaRPr lang="en-US" sz="2000">
              <a:latin typeface="Consolas" panose="020B0609020204030204" pitchFamily="49" charset="0"/>
              <a:ea typeface="FangSong" panose="02010609060101010101" pitchFamily="49" charset="-122"/>
              <a:cs typeface="Consolas" panose="020B0609020204030204" pitchFamily="49" charset="0"/>
            </a:endParaRPr>
          </a:p>
        </p:txBody>
      </p:sp>
      <p:sp>
        <p:nvSpPr>
          <p:cNvPr id="23563" name="Oval 12"/>
          <p:cNvSpPr>
            <a:spLocks noChangeArrowheads="1"/>
          </p:cNvSpPr>
          <p:nvPr/>
        </p:nvSpPr>
        <p:spPr bwMode="auto">
          <a:xfrm>
            <a:off x="4343400" y="1447800"/>
            <a:ext cx="1676400" cy="533400"/>
          </a:xfrm>
          <a:prstGeom prst="ellipse">
            <a:avLst/>
          </a:prstGeom>
          <a:solidFill>
            <a:schemeClr val="bg1"/>
          </a:solidFill>
          <a:ln w="25400">
            <a:solidFill>
              <a:schemeClr val="tx1"/>
            </a:solidFill>
            <a:prstDash val="sysDot"/>
            <a:round/>
          </a:ln>
        </p:spPr>
        <p:txBody>
          <a:bodyPr wrap="none" anchor="ctr"/>
          <a:lstStyle/>
          <a:p>
            <a:pPr algn="ctr">
              <a:lnSpc>
                <a:spcPct val="100000"/>
              </a:lnSpc>
            </a:pPr>
            <a:r>
              <a:rPr lang="en-US" sz="2000" dirty="0">
                <a:latin typeface="Courier New" panose="02070609020205020404" charset="0"/>
              </a:rPr>
              <a:t>[0]</a:t>
            </a:r>
            <a:endParaRPr lang="en-US" sz="2000" dirty="0">
              <a:latin typeface="Courier New" panose="02070609020205020404" charset="0"/>
            </a:endParaRPr>
          </a:p>
        </p:txBody>
      </p:sp>
      <p:sp>
        <p:nvSpPr>
          <p:cNvPr id="23564" name="Line 13"/>
          <p:cNvSpPr>
            <a:spLocks noChangeShapeType="1"/>
          </p:cNvSpPr>
          <p:nvPr/>
        </p:nvSpPr>
        <p:spPr bwMode="auto">
          <a:xfrm flipH="1">
            <a:off x="5181600" y="1981200"/>
            <a:ext cx="0" cy="457200"/>
          </a:xfrm>
          <a:prstGeom prst="line">
            <a:avLst/>
          </a:prstGeom>
          <a:noFill/>
          <a:ln w="25400">
            <a:solidFill>
              <a:schemeClr val="tx1"/>
            </a:solidFill>
            <a:prstDash val="dot"/>
            <a:round/>
          </a:ln>
        </p:spPr>
        <p:txBody>
          <a:bodyPr wrap="none" anchor="ctr"/>
          <a:lstStyle/>
          <a:p>
            <a:pPr algn="ctr"/>
            <a:endParaRPr lang="en-US" sz="2000">
              <a:ln>
                <a:solidFill>
                  <a:schemeClr val="tx1"/>
                </a:solidFill>
                <a:prstDash val="dot"/>
              </a:ln>
            </a:endParaRPr>
          </a:p>
        </p:txBody>
      </p:sp>
      <p:sp>
        <p:nvSpPr>
          <p:cNvPr id="23565" name="Line 14"/>
          <p:cNvSpPr>
            <a:spLocks noChangeShapeType="1"/>
          </p:cNvSpPr>
          <p:nvPr/>
        </p:nvSpPr>
        <p:spPr bwMode="auto">
          <a:xfrm flipH="1">
            <a:off x="4724400" y="2971800"/>
            <a:ext cx="381000" cy="304800"/>
          </a:xfrm>
          <a:prstGeom prst="line">
            <a:avLst/>
          </a:prstGeom>
          <a:noFill/>
          <a:ln w="25400">
            <a:solidFill>
              <a:schemeClr val="tx1"/>
            </a:solidFill>
            <a:round/>
          </a:ln>
        </p:spPr>
        <p:txBody>
          <a:bodyPr wrap="none" anchor="ctr"/>
          <a:lstStyle/>
          <a:p>
            <a:pPr algn="ctr"/>
            <a:endParaRPr lang="en-US" sz="2000"/>
          </a:p>
        </p:txBody>
      </p:sp>
      <p:sp>
        <p:nvSpPr>
          <p:cNvPr id="23566" name="Line 15"/>
          <p:cNvSpPr>
            <a:spLocks noChangeShapeType="1"/>
          </p:cNvSpPr>
          <p:nvPr/>
        </p:nvSpPr>
        <p:spPr bwMode="auto">
          <a:xfrm flipH="1">
            <a:off x="4419600" y="4114800"/>
            <a:ext cx="0" cy="457200"/>
          </a:xfrm>
          <a:prstGeom prst="line">
            <a:avLst/>
          </a:prstGeom>
          <a:noFill/>
          <a:ln w="25400">
            <a:solidFill>
              <a:schemeClr val="tx1"/>
            </a:solidFill>
            <a:round/>
          </a:ln>
        </p:spPr>
        <p:txBody>
          <a:bodyPr wrap="none" anchor="ctr"/>
          <a:lstStyle/>
          <a:p>
            <a:pPr algn="ctr"/>
            <a:endParaRPr lang="en-US" sz="2000">
              <a:latin typeface="Consolas" panose="020B0609020204030204" pitchFamily="49" charset="0"/>
              <a:ea typeface="FangSong" panose="02010609060101010101" pitchFamily="49" charset="-122"/>
              <a:cs typeface="Consolas" panose="020B0609020204030204" pitchFamily="49" charset="0"/>
            </a:endParaRPr>
          </a:p>
        </p:txBody>
      </p:sp>
      <p:sp>
        <p:nvSpPr>
          <p:cNvPr id="23567" name="Line 16"/>
          <p:cNvSpPr>
            <a:spLocks noChangeShapeType="1"/>
          </p:cNvSpPr>
          <p:nvPr/>
        </p:nvSpPr>
        <p:spPr bwMode="auto">
          <a:xfrm>
            <a:off x="4572000" y="5105400"/>
            <a:ext cx="914400" cy="609600"/>
          </a:xfrm>
          <a:prstGeom prst="line">
            <a:avLst/>
          </a:prstGeom>
          <a:noFill/>
          <a:ln w="25400">
            <a:solidFill>
              <a:schemeClr val="tx1"/>
            </a:solidFill>
            <a:round/>
          </a:ln>
        </p:spPr>
        <p:txBody>
          <a:bodyPr wrap="none" anchor="ctr"/>
          <a:lstStyle/>
          <a:p>
            <a:pPr algn="ctr"/>
            <a:endParaRPr lang="en-US" sz="2000">
              <a:latin typeface="Consolas" panose="020B0609020204030204" pitchFamily="49" charset="0"/>
              <a:ea typeface="FangSong" panose="02010609060101010101" pitchFamily="49" charset="-122"/>
              <a:cs typeface="Consolas" panose="020B0609020204030204" pitchFamily="49" charset="0"/>
            </a:endParaRPr>
          </a:p>
        </p:txBody>
      </p:sp>
      <p:sp>
        <p:nvSpPr>
          <p:cNvPr id="23568" name="Line 17"/>
          <p:cNvSpPr>
            <a:spLocks noChangeShapeType="1"/>
          </p:cNvSpPr>
          <p:nvPr/>
        </p:nvSpPr>
        <p:spPr bwMode="auto">
          <a:xfrm flipH="1">
            <a:off x="3352800" y="5105400"/>
            <a:ext cx="838200" cy="609600"/>
          </a:xfrm>
          <a:prstGeom prst="line">
            <a:avLst/>
          </a:prstGeom>
          <a:noFill/>
          <a:ln w="25400">
            <a:solidFill>
              <a:schemeClr val="tx1"/>
            </a:solidFill>
            <a:round/>
          </a:ln>
        </p:spPr>
        <p:txBody>
          <a:bodyPr wrap="none" anchor="ctr"/>
          <a:lstStyle/>
          <a:p>
            <a:pPr algn="ctr"/>
            <a:endParaRPr lang="en-US" sz="2000">
              <a:latin typeface="Consolas" panose="020B0609020204030204" pitchFamily="49" charset="0"/>
              <a:ea typeface="FangSong" panose="02010609060101010101" pitchFamily="49" charset="-122"/>
              <a:cs typeface="Consolas" panose="020B0609020204030204" pitchFamily="49" charset="0"/>
            </a:endParaRPr>
          </a:p>
        </p:txBody>
      </p:sp>
      <p:sp>
        <p:nvSpPr>
          <p:cNvPr id="23569" name="Line 18"/>
          <p:cNvSpPr>
            <a:spLocks noChangeShapeType="1"/>
          </p:cNvSpPr>
          <p:nvPr/>
        </p:nvSpPr>
        <p:spPr bwMode="auto">
          <a:xfrm flipH="1">
            <a:off x="2667000" y="2819400"/>
            <a:ext cx="1752600" cy="685800"/>
          </a:xfrm>
          <a:prstGeom prst="line">
            <a:avLst/>
          </a:prstGeom>
          <a:noFill/>
          <a:ln w="25400">
            <a:solidFill>
              <a:schemeClr val="tx1"/>
            </a:solidFill>
            <a:round/>
          </a:ln>
        </p:spPr>
        <p:txBody>
          <a:bodyPr wrap="none" anchor="ctr"/>
          <a:lstStyle/>
          <a:p>
            <a:pPr algn="ctr"/>
            <a:endParaRPr lang="en-US" sz="2000"/>
          </a:p>
        </p:txBody>
      </p:sp>
      <p:sp>
        <p:nvSpPr>
          <p:cNvPr id="23570" name="Oval 19"/>
          <p:cNvSpPr>
            <a:spLocks noChangeArrowheads="1"/>
          </p:cNvSpPr>
          <p:nvPr/>
        </p:nvSpPr>
        <p:spPr bwMode="auto">
          <a:xfrm>
            <a:off x="762000" y="3352800"/>
            <a:ext cx="2133600" cy="762000"/>
          </a:xfrm>
          <a:prstGeom prst="ellipse">
            <a:avLst/>
          </a:prstGeom>
          <a:solidFill>
            <a:schemeClr val="accent6">
              <a:lumMod val="20000"/>
              <a:lumOff val="80000"/>
            </a:schemeClr>
          </a:solidFill>
          <a:ln w="25400">
            <a:solidFill>
              <a:schemeClr val="tx1"/>
            </a:solidFill>
            <a:prstDash val="sysDot"/>
            <a:round/>
          </a:ln>
        </p:spPr>
        <p:txBody>
          <a:bodyPr wrap="none" anchor="ctr"/>
          <a:lstStyle/>
          <a:p>
            <a:pPr algn="ctr">
              <a:lnSpc>
                <a:spcPct val="100000"/>
              </a:lnSpc>
            </a:pPr>
            <a:r>
              <a:rPr lang="zh-CN" altLang="en-US" sz="2000" dirty="0">
                <a:latin typeface="FangSong" panose="02010609060101010101" pitchFamily="49" charset="-122"/>
                <a:ea typeface="FangSong" panose="02010609060101010101" pitchFamily="49" charset="-122"/>
              </a:rPr>
              <a:t>守护进程</a:t>
            </a:r>
            <a:endParaRPr lang="en-US" sz="2000" dirty="0">
              <a:latin typeface="FangSong" panose="02010609060101010101" pitchFamily="49" charset="-122"/>
              <a:ea typeface="FangSong" panose="02010609060101010101" pitchFamily="49" charset="-122"/>
            </a:endParaRPr>
          </a:p>
          <a:p>
            <a:pPr algn="ctr">
              <a:lnSpc>
                <a:spcPct val="100000"/>
              </a:lnSpc>
            </a:pPr>
            <a:r>
              <a:rPr lang="en-US" sz="2000" dirty="0">
                <a:latin typeface="Consolas" panose="020B0609020204030204" pitchFamily="49" charset="0"/>
                <a:cs typeface="Consolas" panose="020B0609020204030204" pitchFamily="49" charset="0"/>
              </a:rPr>
              <a:t>e.g. </a:t>
            </a:r>
            <a:r>
              <a:rPr lang="en-US" sz="2000" dirty="0">
                <a:latin typeface="Courier New" panose="02070609020205020404" charset="0"/>
              </a:rPr>
              <a:t>httpd</a:t>
            </a:r>
            <a:endParaRPr lang="en-US" sz="2000" dirty="0">
              <a:latin typeface="Courier New" panose="02070609020205020404" charset="0"/>
            </a:endParaRPr>
          </a:p>
        </p:txBody>
      </p:sp>
      <p:sp>
        <p:nvSpPr>
          <p:cNvPr id="23571" name="Oval 11"/>
          <p:cNvSpPr>
            <a:spLocks noChangeArrowheads="1"/>
          </p:cNvSpPr>
          <p:nvPr/>
        </p:nvSpPr>
        <p:spPr bwMode="auto">
          <a:xfrm>
            <a:off x="4343400" y="2438400"/>
            <a:ext cx="1676400" cy="533400"/>
          </a:xfrm>
          <a:prstGeom prst="ellipse">
            <a:avLst/>
          </a:prstGeom>
          <a:solidFill>
            <a:srgbClr val="CCFFCC"/>
          </a:solidFill>
          <a:ln w="25400">
            <a:solidFill>
              <a:schemeClr val="tx1"/>
            </a:solidFill>
            <a:round/>
          </a:ln>
        </p:spPr>
        <p:txBody>
          <a:bodyPr wrap="none" anchor="ctr"/>
          <a:lstStyle/>
          <a:p>
            <a:pPr algn="ctr">
              <a:lnSpc>
                <a:spcPct val="100000"/>
              </a:lnSpc>
            </a:pPr>
            <a:r>
              <a:rPr lang="en-US" sz="2000">
                <a:latin typeface="Courier New" panose="02070609020205020404" charset="0"/>
              </a:rPr>
              <a:t>init [1]</a:t>
            </a:r>
            <a:endParaRPr lang="en-US" sz="2000">
              <a:latin typeface="Courier New" panose="02070609020205020404" charset="0"/>
            </a:endParaRPr>
          </a:p>
        </p:txBody>
      </p:sp>
      <p:sp>
        <p:nvSpPr>
          <p:cNvPr id="20" name="Oval 3"/>
          <p:cNvSpPr>
            <a:spLocks noChangeArrowheads="1"/>
          </p:cNvSpPr>
          <p:nvPr/>
        </p:nvSpPr>
        <p:spPr bwMode="auto">
          <a:xfrm>
            <a:off x="6324600" y="3581400"/>
            <a:ext cx="1676400" cy="533400"/>
          </a:xfrm>
          <a:prstGeom prst="ellipse">
            <a:avLst/>
          </a:prstGeom>
          <a:solidFill>
            <a:srgbClr val="F6F5BD"/>
          </a:solidFill>
          <a:ln w="25400">
            <a:solidFill>
              <a:schemeClr val="tx1"/>
            </a:solidFill>
            <a:round/>
          </a:ln>
        </p:spPr>
        <p:txBody>
          <a:bodyPr wrap="none" anchor="ctr"/>
          <a:lstStyle/>
          <a:p>
            <a:pPr algn="ctr">
              <a:lnSpc>
                <a:spcPct val="100000"/>
              </a:lnSpc>
            </a:pPr>
            <a:r>
              <a:rPr lang="zh-CN" altLang="en-US" sz="2000" dirty="0">
                <a:latin typeface="FangSong" panose="02010609060101010101" pitchFamily="49" charset="-122"/>
                <a:ea typeface="FangSong" panose="02010609060101010101" pitchFamily="49" charset="-122"/>
                <a:sym typeface="+mn-ea"/>
              </a:rPr>
              <a:t>登录</a:t>
            </a:r>
            <a:r>
              <a:rPr lang="en-US" sz="2000" dirty="0">
                <a:latin typeface="Consolas" panose="020B0609020204030204" pitchFamily="49" charset="0"/>
                <a:ea typeface="SimHei" panose="02010600030101010101" charset="-122"/>
                <a:cs typeface="Consolas" panose="020B0609020204030204" pitchFamily="49" charset="0"/>
                <a:sym typeface="+mn-ea"/>
              </a:rPr>
              <a:t> shell</a:t>
            </a:r>
            <a:endParaRPr lang="en-US" sz="2000" dirty="0">
              <a:latin typeface="SimHei" panose="02010600030101010101" charset="-122"/>
              <a:ea typeface="SimHei" panose="02010600030101010101" charset="-122"/>
            </a:endParaRPr>
          </a:p>
        </p:txBody>
      </p:sp>
      <p:sp>
        <p:nvSpPr>
          <p:cNvPr id="21" name="Line 14"/>
          <p:cNvSpPr>
            <a:spLocks noChangeShapeType="1"/>
          </p:cNvSpPr>
          <p:nvPr/>
        </p:nvSpPr>
        <p:spPr bwMode="auto">
          <a:xfrm>
            <a:off x="5600701" y="2959100"/>
            <a:ext cx="402019" cy="317500"/>
          </a:xfrm>
          <a:prstGeom prst="line">
            <a:avLst/>
          </a:prstGeom>
          <a:noFill/>
          <a:ln w="25400">
            <a:solidFill>
              <a:schemeClr val="tx1"/>
            </a:solidFill>
            <a:round/>
          </a:ln>
        </p:spPr>
        <p:txBody>
          <a:bodyPr wrap="none" anchor="ctr"/>
          <a:lstStyle/>
          <a:p>
            <a:pPr algn="ctr"/>
            <a:endParaRPr lang="en-US" sz="2000"/>
          </a:p>
        </p:txBody>
      </p:sp>
      <p:sp>
        <p:nvSpPr>
          <p:cNvPr id="22" name="Oval 5"/>
          <p:cNvSpPr>
            <a:spLocks noChangeArrowheads="1"/>
          </p:cNvSpPr>
          <p:nvPr/>
        </p:nvSpPr>
        <p:spPr bwMode="auto">
          <a:xfrm>
            <a:off x="6350000" y="4572000"/>
            <a:ext cx="1676400" cy="533400"/>
          </a:xfrm>
          <a:prstGeom prst="ellipse">
            <a:avLst/>
          </a:prstGeom>
          <a:solidFill>
            <a:srgbClr val="F6F5BD"/>
          </a:solidFill>
          <a:ln w="25400">
            <a:solidFill>
              <a:schemeClr val="tx1"/>
            </a:solidFill>
            <a:round/>
          </a:ln>
        </p:spPr>
        <p:txBody>
          <a:bodyPr wrap="none" anchor="ctr"/>
          <a:lstStyle/>
          <a:p>
            <a:pPr algn="ctr">
              <a:lnSpc>
                <a:spcPct val="100000"/>
              </a:lnSpc>
            </a:pPr>
            <a:r>
              <a:rPr lang="zh-CN" altLang="en-US" sz="2000">
                <a:latin typeface="Consolas" panose="020B0609020204030204" pitchFamily="49" charset="0"/>
                <a:ea typeface="FangSong" panose="02010609060101010101" pitchFamily="49" charset="-122"/>
                <a:cs typeface="Consolas" panose="020B0609020204030204" pitchFamily="49" charset="0"/>
                <a:sym typeface="+mn-ea"/>
              </a:rPr>
              <a:t>子进程</a:t>
            </a:r>
            <a:endParaRPr lang="en-US" sz="2000">
              <a:latin typeface="Consolas" panose="020B0609020204030204" pitchFamily="49" charset="0"/>
              <a:ea typeface="FangSong" panose="02010609060101010101" pitchFamily="49" charset="-122"/>
              <a:cs typeface="Consolas" panose="020B0609020204030204" pitchFamily="49" charset="0"/>
            </a:endParaRPr>
          </a:p>
        </p:txBody>
      </p:sp>
      <p:sp>
        <p:nvSpPr>
          <p:cNvPr id="23" name="Line 15"/>
          <p:cNvSpPr>
            <a:spLocks noChangeShapeType="1"/>
          </p:cNvSpPr>
          <p:nvPr/>
        </p:nvSpPr>
        <p:spPr bwMode="auto">
          <a:xfrm flipH="1">
            <a:off x="7188200" y="4114800"/>
            <a:ext cx="0" cy="457200"/>
          </a:xfrm>
          <a:prstGeom prst="line">
            <a:avLst/>
          </a:prstGeom>
          <a:noFill/>
          <a:ln w="25400">
            <a:solidFill>
              <a:schemeClr val="tx1"/>
            </a:solidFill>
            <a:round/>
          </a:ln>
        </p:spPr>
        <p:txBody>
          <a:bodyPr wrap="none" anchor="ctr"/>
          <a:lstStyle/>
          <a:p>
            <a:pPr algn="ctr"/>
            <a:endParaRPr lang="en-US" sz="2000">
              <a:latin typeface="Consolas" panose="020B0609020204030204" pitchFamily="49" charset="0"/>
              <a:ea typeface="FangSong" panose="02010609060101010101" pitchFamily="49" charset="-122"/>
              <a:cs typeface="Consolas" panose="020B0609020204030204" pitchFamily="49" charset="0"/>
            </a:endParaRPr>
          </a:p>
        </p:txBody>
      </p:sp>
      <p:sp>
        <p:nvSpPr>
          <p:cNvPr id="2" name="TextBox 1"/>
          <p:cNvSpPr txBox="1"/>
          <p:nvPr/>
        </p:nvSpPr>
        <p:spPr>
          <a:xfrm>
            <a:off x="5562601" y="3276600"/>
            <a:ext cx="440119" cy="523220"/>
          </a:xfrm>
          <a:prstGeom prst="rect">
            <a:avLst/>
          </a:prstGeom>
          <a:noFill/>
        </p:spPr>
        <p:txBody>
          <a:bodyPr wrap="none" rtlCol="0">
            <a:spAutoFit/>
          </a:bodyPr>
          <a:lstStyle/>
          <a:p>
            <a:r>
              <a:rPr lang="en-US" sz="2800" dirty="0">
                <a:latin typeface="Calibri" panose="020F0502020204030204" pitchFamily="34" charset="0"/>
              </a:rPr>
              <a:t>…</a:t>
            </a:r>
            <a:endParaRPr lang="en-US" sz="2800" dirty="0">
              <a:latin typeface="Calibri" panose="020F0502020204030204" pitchFamily="34" charset="0"/>
            </a:endParaRPr>
          </a:p>
        </p:txBody>
      </p:sp>
      <p:sp>
        <p:nvSpPr>
          <p:cNvPr id="3" name="TextBox 2"/>
          <p:cNvSpPr txBox="1"/>
          <p:nvPr/>
        </p:nvSpPr>
        <p:spPr>
          <a:xfrm rot="13380000">
            <a:off x="5902366" y="3224857"/>
            <a:ext cx="348886" cy="365760"/>
          </a:xfrm>
          <a:prstGeom prst="rect">
            <a:avLst/>
          </a:prstGeom>
          <a:noFill/>
        </p:spPr>
        <p:txBody>
          <a:bodyPr wrap="none" rtlCol="0">
            <a:spAutoFit/>
          </a:bodyPr>
          <a:lstStyle/>
          <a:p>
            <a:r>
              <a:rPr lang="en-US" sz="1800" dirty="0">
                <a:latin typeface="Calibri" panose="020F0502020204030204" pitchFamily="34" charset="0"/>
              </a:rPr>
              <a:t>…</a:t>
            </a:r>
            <a:endParaRPr lang="en-US" sz="1800" dirty="0">
              <a:latin typeface="Calibri" panose="020F0502020204030204" pitchFamily="34" charset="0"/>
            </a:endParaRPr>
          </a:p>
        </p:txBody>
      </p:sp>
      <p:sp>
        <p:nvSpPr>
          <p:cNvPr id="28" name="Line 14"/>
          <p:cNvSpPr>
            <a:spLocks noChangeShapeType="1"/>
          </p:cNvSpPr>
          <p:nvPr/>
        </p:nvSpPr>
        <p:spPr bwMode="auto">
          <a:xfrm flipH="1">
            <a:off x="4267200" y="3416300"/>
            <a:ext cx="228600" cy="165100"/>
          </a:xfrm>
          <a:prstGeom prst="line">
            <a:avLst/>
          </a:prstGeom>
          <a:noFill/>
          <a:ln w="25400">
            <a:solidFill>
              <a:schemeClr val="tx1"/>
            </a:solidFill>
            <a:round/>
          </a:ln>
        </p:spPr>
        <p:txBody>
          <a:bodyPr wrap="none" anchor="ctr"/>
          <a:lstStyle/>
          <a:p>
            <a:pPr algn="ctr"/>
            <a:endParaRPr lang="en-US" sz="2000"/>
          </a:p>
        </p:txBody>
      </p:sp>
      <p:sp>
        <p:nvSpPr>
          <p:cNvPr id="29" name="TextBox 28"/>
          <p:cNvSpPr txBox="1"/>
          <p:nvPr/>
        </p:nvSpPr>
        <p:spPr>
          <a:xfrm rot="8700000" flipH="1">
            <a:off x="4492948" y="3224857"/>
            <a:ext cx="348886" cy="365760"/>
          </a:xfrm>
          <a:prstGeom prst="rect">
            <a:avLst/>
          </a:prstGeom>
          <a:noFill/>
        </p:spPr>
        <p:txBody>
          <a:bodyPr wrap="none" rtlCol="0">
            <a:spAutoFit/>
          </a:bodyPr>
          <a:lstStyle/>
          <a:p>
            <a:r>
              <a:rPr lang="en-US" sz="1800" dirty="0">
                <a:latin typeface="Calibri" panose="020F0502020204030204" pitchFamily="34" charset="0"/>
              </a:rPr>
              <a:t>…</a:t>
            </a:r>
            <a:endParaRPr lang="en-US" sz="1800" dirty="0">
              <a:latin typeface="Calibri" panose="020F0502020204030204" pitchFamily="34" charset="0"/>
            </a:endParaRPr>
          </a:p>
        </p:txBody>
      </p:sp>
      <p:sp>
        <p:nvSpPr>
          <p:cNvPr id="30" name="Line 14"/>
          <p:cNvSpPr>
            <a:spLocks noChangeShapeType="1"/>
          </p:cNvSpPr>
          <p:nvPr/>
        </p:nvSpPr>
        <p:spPr bwMode="auto">
          <a:xfrm>
            <a:off x="6248400" y="3450571"/>
            <a:ext cx="304800" cy="209887"/>
          </a:xfrm>
          <a:prstGeom prst="line">
            <a:avLst/>
          </a:prstGeom>
          <a:noFill/>
          <a:ln w="25400">
            <a:solidFill>
              <a:schemeClr val="tx1"/>
            </a:solidFill>
            <a:round/>
          </a:ln>
        </p:spPr>
        <p:txBody>
          <a:bodyPr wrap="none" anchor="ctr"/>
          <a:lstStyle/>
          <a:p>
            <a:pPr algn="ctr"/>
            <a:endParaRPr lang="en-US" sz="2000"/>
          </a:p>
        </p:txBody>
      </p:sp>
      <p:sp>
        <p:nvSpPr>
          <p:cNvPr id="4" name="TextBox 3"/>
          <p:cNvSpPr txBox="1"/>
          <p:nvPr/>
        </p:nvSpPr>
        <p:spPr>
          <a:xfrm>
            <a:off x="7607300" y="5699791"/>
            <a:ext cx="3886200" cy="645160"/>
          </a:xfrm>
          <a:prstGeom prst="rect">
            <a:avLst/>
          </a:prstGeom>
          <a:noFill/>
        </p:spPr>
        <p:txBody>
          <a:bodyPr wrap="square" rtlCol="0">
            <a:spAutoFit/>
          </a:bodyPr>
          <a:lstStyle/>
          <a:p>
            <a:r>
              <a:rPr lang="zh-CN" altLang="en-US" sz="1800" dirty="0">
                <a:latin typeface="Consolas" panose="020B0609020204030204" pitchFamily="49" charset="0"/>
                <a:ea typeface="FangSong" panose="02010609060101010101" pitchFamily="49" charset="-122"/>
                <a:cs typeface="Consolas" panose="020B0609020204030204" pitchFamily="49" charset="0"/>
              </a:rPr>
              <a:t>注意：可以使用</a:t>
            </a:r>
            <a:r>
              <a:rPr lang="en-US" altLang="zh-CN" sz="1800" dirty="0">
                <a:latin typeface="Consolas" panose="020B0609020204030204" pitchFamily="49" charset="0"/>
                <a:ea typeface="FangSong" panose="02010609060101010101" pitchFamily="49" charset="-122"/>
                <a:cs typeface="Consolas" panose="020B0609020204030204" pitchFamily="49" charset="0"/>
              </a:rPr>
              <a:t> </a:t>
            </a:r>
            <a:r>
              <a:rPr lang="en-US" sz="1800" dirty="0">
                <a:latin typeface="Consolas" panose="020B0609020204030204" pitchFamily="49" charset="0"/>
                <a:ea typeface="FangSong" panose="02010609060101010101" pitchFamily="49" charset="-122"/>
                <a:cs typeface="Consolas" panose="020B0609020204030204" pitchFamily="49" charset="0"/>
              </a:rPr>
              <a:t>Linux </a:t>
            </a:r>
            <a:r>
              <a:rPr lang="en-US" sz="1800" b="0" dirty="0" err="1">
                <a:latin typeface="Consolas" panose="020B0609020204030204" pitchFamily="49" charset="0"/>
                <a:ea typeface="FangSong" panose="02010609060101010101" pitchFamily="49" charset="-122"/>
                <a:cs typeface="Consolas" panose="020B0609020204030204" pitchFamily="49" charset="0"/>
              </a:rPr>
              <a:t>pstree</a:t>
            </a:r>
            <a:r>
              <a:rPr lang="en-US" sz="1800" dirty="0">
                <a:latin typeface="Consolas" panose="020B0609020204030204" pitchFamily="49" charset="0"/>
                <a:ea typeface="FangSong" panose="02010609060101010101" pitchFamily="49" charset="-122"/>
                <a:cs typeface="Consolas" panose="020B0609020204030204" pitchFamily="49" charset="0"/>
              </a:rPr>
              <a:t> </a:t>
            </a:r>
            <a:r>
              <a:rPr lang="zh-CN" altLang="en-US" sz="1800" dirty="0">
                <a:latin typeface="Consolas" panose="020B0609020204030204" pitchFamily="49" charset="0"/>
                <a:ea typeface="FangSong" panose="02010609060101010101" pitchFamily="49" charset="-122"/>
                <a:cs typeface="Consolas" panose="020B0609020204030204" pitchFamily="49" charset="0"/>
              </a:rPr>
              <a:t>指令查看层次结构</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5" name="Text Box 4"/>
          <p:cNvSpPr txBox="1"/>
          <p:nvPr/>
        </p:nvSpPr>
        <p:spPr>
          <a:xfrm>
            <a:off x="6076315" y="1495425"/>
            <a:ext cx="5819775" cy="1476375"/>
          </a:xfrm>
          <a:prstGeom prst="rect">
            <a:avLst/>
          </a:prstGeom>
          <a:noFill/>
        </p:spPr>
        <p:txBody>
          <a:bodyPr wrap="square" rtlCol="0">
            <a:spAutoFit/>
          </a:bodyPr>
          <a:p>
            <a:pPr marL="285750" indent="-285750">
              <a:buFont typeface="Arial" panose="020B0704020202020204" pitchFamily="34" charset="0"/>
              <a:buChar char="•"/>
            </a:pPr>
            <a:r>
              <a:rPr lang="en-US" sz="1800" dirty="0" smtClean="0">
                <a:latin typeface="Calibri" panose="020F0502020204030204" pitchFamily="34" charset="0"/>
              </a:rPr>
              <a:t>0</a:t>
            </a:r>
            <a:r>
              <a:rPr lang="zh-CN" altLang="en-US" sz="1800" dirty="0" smtClean="0">
                <a:latin typeface="Calibri" panose="020F0502020204030204" pitchFamily="34" charset="0"/>
              </a:rPr>
              <a:t>号进程</a:t>
            </a:r>
            <a:r>
              <a:rPr lang="en-US" altLang="zh-CN" sz="1800" dirty="0" smtClean="0">
                <a:latin typeface="Calibri" panose="020F0502020204030204" pitchFamily="34" charset="0"/>
              </a:rPr>
              <a:t>：idle</a:t>
            </a:r>
            <a:r>
              <a:rPr lang="zh-CN" altLang="en-US" sz="1800" dirty="0" smtClean="0">
                <a:latin typeface="Calibri" panose="020F0502020204030204" pitchFamily="34" charset="0"/>
              </a:rPr>
              <a:t>进程</a:t>
            </a:r>
            <a:endParaRPr lang="zh-CN" altLang="en-US" sz="1800" dirty="0" smtClean="0">
              <a:latin typeface="Calibri" panose="020F0502020204030204" pitchFamily="34" charset="0"/>
            </a:endParaRPr>
          </a:p>
          <a:p>
            <a:pPr marL="285750" indent="-285750">
              <a:buFont typeface="Arial" panose="020B0704020202020204" pitchFamily="34" charset="0"/>
              <a:buChar char="•"/>
            </a:pPr>
            <a:r>
              <a:rPr lang="en-US" altLang="zh-CN" sz="1800" dirty="0" smtClean="0">
                <a:latin typeface="Calibri" panose="020F0502020204030204" pitchFamily="34" charset="0"/>
              </a:rPr>
              <a:t>1</a:t>
            </a:r>
            <a:r>
              <a:rPr lang="zh-CN" altLang="en-US" sz="1800" dirty="0" smtClean="0">
                <a:latin typeface="Calibri" panose="020F0502020204030204" pitchFamily="34" charset="0"/>
              </a:rPr>
              <a:t>号进程</a:t>
            </a:r>
            <a:r>
              <a:rPr lang="en-US" altLang="zh-CN" sz="1800" dirty="0" smtClean="0">
                <a:latin typeface="Calibri" panose="020F0502020204030204" pitchFamily="34" charset="0"/>
              </a:rPr>
              <a:t>：init，</a:t>
            </a:r>
            <a:r>
              <a:rPr lang="zh-CN" altLang="en-US" sz="1800" dirty="0" smtClean="0">
                <a:latin typeface="Calibri" panose="020F0502020204030204" pitchFamily="34" charset="0"/>
              </a:rPr>
              <a:t>由</a:t>
            </a:r>
            <a:r>
              <a:rPr lang="en-US" altLang="zh-CN" sz="1800" dirty="0" smtClean="0">
                <a:latin typeface="Calibri" panose="020F0502020204030204" pitchFamily="34" charset="0"/>
              </a:rPr>
              <a:t>idle</a:t>
            </a:r>
            <a:r>
              <a:rPr lang="zh-CN" altLang="en-US" sz="1800" dirty="0" smtClean="0">
                <a:latin typeface="Calibri" panose="020F0502020204030204" pitchFamily="34" charset="0"/>
              </a:rPr>
              <a:t>创建</a:t>
            </a:r>
            <a:r>
              <a:rPr lang="en-US" altLang="zh-CN" sz="1800" dirty="0" smtClean="0">
                <a:latin typeface="Calibri" panose="020F0502020204030204" pitchFamily="34" charset="0"/>
              </a:rPr>
              <a:t>，</a:t>
            </a:r>
            <a:r>
              <a:rPr lang="zh-CN" altLang="en-US" sz="1800" dirty="0" smtClean="0">
                <a:latin typeface="Calibri" panose="020F0502020204030204" pitchFamily="34" charset="0"/>
              </a:rPr>
              <a:t>所有用户级进程的</a:t>
            </a:r>
            <a:r>
              <a:rPr lang="zh-CN" altLang="en-US" sz="1800" dirty="0" smtClean="0">
                <a:latin typeface="Calibri" panose="020F0502020204030204" pitchFamily="34" charset="0"/>
              </a:rPr>
              <a:t>祖先进程</a:t>
            </a:r>
            <a:endParaRPr lang="zh-CN" altLang="en-US" sz="1800" dirty="0" smtClean="0">
              <a:latin typeface="Calibri" panose="020F0502020204030204" pitchFamily="34" charset="0"/>
            </a:endParaRPr>
          </a:p>
          <a:p>
            <a:pPr marL="285750" indent="-285750">
              <a:buFont typeface="Arial" panose="020B0704020202020204" pitchFamily="34" charset="0"/>
              <a:buChar char="•"/>
            </a:pPr>
            <a:r>
              <a:rPr lang="en-US" altLang="zh-CN" sz="1800" dirty="0" smtClean="0">
                <a:latin typeface="Calibri" panose="020F0502020204030204" pitchFamily="34" charset="0"/>
              </a:rPr>
              <a:t>2</a:t>
            </a:r>
            <a:r>
              <a:rPr lang="zh-CN" altLang="en-US" sz="1800" dirty="0" smtClean="0">
                <a:latin typeface="Calibri" panose="020F0502020204030204" pitchFamily="34" charset="0"/>
              </a:rPr>
              <a:t>号进程</a:t>
            </a:r>
            <a:r>
              <a:rPr lang="en-US" altLang="zh-CN" sz="1800" dirty="0" smtClean="0">
                <a:latin typeface="Calibri" panose="020F0502020204030204" pitchFamily="34" charset="0"/>
              </a:rPr>
              <a:t>：kthreadd，</a:t>
            </a:r>
            <a:r>
              <a:rPr lang="zh-CN" altLang="en-US" sz="1800" dirty="0" smtClean="0">
                <a:latin typeface="Calibri" panose="020F0502020204030204" pitchFamily="34" charset="0"/>
              </a:rPr>
              <a:t>由</a:t>
            </a:r>
            <a:r>
              <a:rPr lang="en-US" altLang="zh-CN" sz="1800" dirty="0" smtClean="0">
                <a:latin typeface="Calibri" panose="020F0502020204030204" pitchFamily="34" charset="0"/>
              </a:rPr>
              <a:t>idle</a:t>
            </a:r>
            <a:r>
              <a:rPr lang="zh-CN" altLang="en-US" sz="1800" dirty="0" smtClean="0">
                <a:latin typeface="Calibri" panose="020F0502020204030204" pitchFamily="34" charset="0"/>
              </a:rPr>
              <a:t>创建</a:t>
            </a:r>
            <a:r>
              <a:rPr lang="en-US" altLang="zh-CN" sz="1800" dirty="0" smtClean="0">
                <a:latin typeface="Calibri" panose="020F0502020204030204" pitchFamily="34" charset="0"/>
              </a:rPr>
              <a:t>，</a:t>
            </a:r>
            <a:r>
              <a:rPr lang="zh-CN" altLang="en-US" sz="1800" dirty="0" smtClean="0">
                <a:latin typeface="Calibri" panose="020F0502020204030204" pitchFamily="34" charset="0"/>
              </a:rPr>
              <a:t>所有内核</a:t>
            </a:r>
            <a:r>
              <a:rPr lang="zh-CN" altLang="en-US" sz="1800" dirty="0" smtClean="0">
                <a:latin typeface="Calibri" panose="020F0502020204030204" pitchFamily="34" charset="0"/>
              </a:rPr>
              <a:t>级进程的祖先</a:t>
            </a:r>
            <a:r>
              <a:rPr lang="zh-CN" altLang="en-US" sz="1800" dirty="0" smtClean="0">
                <a:latin typeface="Calibri" panose="020F0502020204030204" pitchFamily="34" charset="0"/>
              </a:rPr>
              <a:t>进程</a:t>
            </a:r>
            <a:endParaRPr lang="zh-CN" altLang="en-US" sz="1800" dirty="0" smtClean="0">
              <a:latin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5959475" y="533400"/>
            <a:ext cx="4639310" cy="6115685"/>
          </a:xfrm>
          <a:prstGeom prst="rect">
            <a:avLst/>
          </a:prstGeom>
        </p:spPr>
      </p:pic>
      <p:sp>
        <p:nvSpPr>
          <p:cNvPr id="5" name="文本框 4"/>
          <p:cNvSpPr txBox="1"/>
          <p:nvPr/>
        </p:nvSpPr>
        <p:spPr>
          <a:xfrm>
            <a:off x="457200" y="1676400"/>
            <a:ext cx="4735830" cy="2245360"/>
          </a:xfrm>
          <a:prstGeom prst="rect">
            <a:avLst/>
          </a:prstGeom>
        </p:spPr>
        <p:txBody>
          <a:bodyPr wrap="square">
            <a:spAutoFit/>
          </a:bodyPr>
          <a:p>
            <a:pPr marL="0" indent="0" algn="l" fontAlgn="base">
              <a:spcBef>
                <a:spcPct val="0"/>
              </a:spcBef>
              <a:spcAft>
                <a:spcPct val="0"/>
              </a:spcAft>
            </a:pPr>
            <a:r>
              <a:rPr lang="en-US" altLang="zh-CN" sz="2000" b="0" i="0">
                <a:latin typeface="Times New Roman Regular" panose="02020603050405020304" charset="0"/>
                <a:ea typeface="Microsoft YaHei" charset="0"/>
                <a:cs typeface="Times New Roman Regular" panose="02020603050405020304" charset="0"/>
              </a:rPr>
              <a:t>systemd </a:t>
            </a:r>
            <a:r>
              <a:rPr lang="zh-CN" altLang="en-US" sz="2000" b="0" i="0">
                <a:latin typeface="Times New Roman Regular" panose="02020603050405020304" charset="0"/>
                <a:ea typeface="Microsoft YaHei" charset="0"/>
                <a:cs typeface="Times New Roman Regular" panose="02020603050405020304" charset="0"/>
              </a:rPr>
              <a:t>从</a:t>
            </a:r>
            <a:r>
              <a:rPr lang="en-US" altLang="zh-CN" sz="2000" b="0" i="0">
                <a:latin typeface="Times New Roman Regular" panose="02020603050405020304" charset="0"/>
                <a:ea typeface="Microsoft YaHei" charset="0"/>
                <a:cs typeface="Times New Roman Regular" panose="02020603050405020304" charset="0"/>
              </a:rPr>
              <a:t> 2010 </a:t>
            </a:r>
            <a:r>
              <a:rPr lang="zh-CN" altLang="en-US" sz="2000" b="0" i="0">
                <a:latin typeface="Times New Roman Regular" panose="02020603050405020304" charset="0"/>
                <a:ea typeface="Microsoft YaHei" charset="0"/>
                <a:cs typeface="Times New Roman Regular" panose="02020603050405020304" charset="0"/>
              </a:rPr>
              <a:t>年代中期开始</a:t>
            </a:r>
            <a:r>
              <a:rPr lang="en-US" altLang="zh-CN" sz="2000" b="0" i="0">
                <a:latin typeface="Times New Roman Regular" panose="02020603050405020304" charset="0"/>
                <a:ea typeface="Microsoft YaHei" charset="0"/>
                <a:cs typeface="Times New Roman Regular" panose="02020603050405020304" charset="0"/>
              </a:rPr>
              <a:t>，</a:t>
            </a:r>
            <a:r>
              <a:rPr lang="zh-CN" altLang="en-US" sz="2000" b="0" i="0">
                <a:latin typeface="Times New Roman Regular" panose="02020603050405020304" charset="0"/>
                <a:ea typeface="Microsoft YaHei" charset="0"/>
                <a:cs typeface="Times New Roman Regular" panose="02020603050405020304" charset="0"/>
              </a:rPr>
              <a:t>逐渐替换</a:t>
            </a:r>
            <a:r>
              <a:rPr lang="en-US" altLang="zh-CN" sz="2000" b="0" i="0">
                <a:latin typeface="Times New Roman Regular" panose="02020603050405020304" charset="0"/>
                <a:ea typeface="Microsoft YaHei" charset="0"/>
                <a:cs typeface="Times New Roman Regular" panose="02020603050405020304" charset="0"/>
              </a:rPr>
              <a:t>init</a:t>
            </a:r>
            <a:r>
              <a:rPr lang="zh-CN" altLang="en-US" sz="2000" b="0" i="0">
                <a:latin typeface="Times New Roman Regular" panose="02020603050405020304" charset="0"/>
                <a:ea typeface="Microsoft YaHei" charset="0"/>
                <a:cs typeface="Times New Roman Regular" panose="02020603050405020304" charset="0"/>
              </a:rPr>
              <a:t>成为大多数主流</a:t>
            </a:r>
            <a:r>
              <a:rPr lang="en-US" altLang="zh-CN" sz="2000" b="0" i="0">
                <a:latin typeface="Times New Roman Regular" panose="02020603050405020304" charset="0"/>
                <a:ea typeface="Microsoft YaHei" charset="0"/>
                <a:cs typeface="Times New Roman Regular" panose="02020603050405020304" charset="0"/>
              </a:rPr>
              <a:t> Linux </a:t>
            </a:r>
            <a:r>
              <a:rPr lang="zh-CN" altLang="en-US" sz="2000" b="0" i="0">
                <a:latin typeface="Times New Roman Regular" panose="02020603050405020304" charset="0"/>
                <a:ea typeface="Microsoft YaHei" charset="0"/>
                <a:cs typeface="Times New Roman Regular" panose="02020603050405020304" charset="0"/>
              </a:rPr>
              <a:t>发行版的默认初始化系统。</a:t>
            </a:r>
            <a:endParaRPr lang="zh-CN" altLang="en-US" sz="2000" b="0" i="0">
              <a:latin typeface="Times New Roman Regular" panose="02020603050405020304" charset="0"/>
              <a:ea typeface="Microsoft YaHei" charset="0"/>
              <a:cs typeface="Times New Roman Regular" panose="02020603050405020304" charset="0"/>
            </a:endParaRPr>
          </a:p>
          <a:p>
            <a:pPr marL="0" indent="0" algn="l" fontAlgn="base">
              <a:spcBef>
                <a:spcPct val="0"/>
              </a:spcBef>
              <a:spcAft>
                <a:spcPct val="0"/>
              </a:spcAft>
            </a:pPr>
            <a:endParaRPr lang="zh-CN" altLang="en-US" sz="2000" b="0" i="0">
              <a:latin typeface="Times New Roman Regular" panose="02020603050405020304" charset="0"/>
              <a:ea typeface="Microsoft YaHei" charset="0"/>
              <a:cs typeface="Times New Roman Regular" panose="02020603050405020304" charset="0"/>
            </a:endParaRPr>
          </a:p>
          <a:p>
            <a:pPr marL="0" indent="0" algn="l" fontAlgn="base">
              <a:spcBef>
                <a:spcPct val="0"/>
              </a:spcBef>
              <a:spcAft>
                <a:spcPct val="0"/>
              </a:spcAft>
            </a:pPr>
            <a:r>
              <a:rPr lang="en-US" altLang="zh-CN" sz="2000" b="0" i="0">
                <a:latin typeface="Times New Roman Regular" panose="02020603050405020304" charset="0"/>
                <a:ea typeface="Microsoft YaHei" charset="0"/>
                <a:cs typeface="Times New Roman Regular" panose="02020603050405020304" charset="0"/>
              </a:rPr>
              <a:t>Ubuntu 15.04 (Vivid Vervet)</a:t>
            </a:r>
            <a:endParaRPr lang="en-US" altLang="zh-CN" sz="2000" b="0" i="0">
              <a:latin typeface="Times New Roman Regular" panose="02020603050405020304" charset="0"/>
              <a:ea typeface="Microsoft YaHei" charset="0"/>
              <a:cs typeface="Times New Roman Regular" panose="02020603050405020304" charset="0"/>
            </a:endParaRPr>
          </a:p>
          <a:p>
            <a:pPr marL="0" indent="0" algn="l"/>
            <a:r>
              <a:rPr lang="zh-CN" altLang="en-US" sz="2000" b="0" i="0">
                <a:latin typeface="Times New Roman Regular" panose="02020603050405020304" charset="0"/>
                <a:ea typeface="Microsoft YaHei" charset="0"/>
                <a:cs typeface="Times New Roman Regular" panose="02020603050405020304" charset="0"/>
              </a:rPr>
              <a:t>（</a:t>
            </a:r>
            <a:r>
              <a:rPr lang="en-US" altLang="zh-CN" sz="2000" b="0" i="0">
                <a:latin typeface="Times New Roman Regular" panose="02020603050405020304" charset="0"/>
                <a:ea typeface="Microsoft YaHei" charset="0"/>
                <a:cs typeface="Times New Roman Regular" panose="02020603050405020304" charset="0"/>
              </a:rPr>
              <a:t>2015</a:t>
            </a:r>
            <a:r>
              <a:rPr lang="zh-CN" altLang="en-US" sz="2000" b="0" i="0">
                <a:latin typeface="Times New Roman Regular" panose="02020603050405020304" charset="0"/>
                <a:ea typeface="Microsoft YaHei" charset="0"/>
                <a:cs typeface="Times New Roman Regular" panose="02020603050405020304" charset="0"/>
              </a:rPr>
              <a:t>年发布）：</a:t>
            </a:r>
            <a:r>
              <a:rPr lang="en-US" altLang="zh-CN" sz="2000" b="0" i="0">
                <a:latin typeface="Times New Roman Regular" panose="02020603050405020304" charset="0"/>
                <a:ea typeface="Microsoft YaHei" charset="0"/>
                <a:cs typeface="Times New Roman Regular" panose="02020603050405020304" charset="0"/>
              </a:rPr>
              <a:t>systemd </a:t>
            </a:r>
            <a:r>
              <a:rPr lang="zh-CN" altLang="en-US" sz="2000" b="0" i="0">
                <a:latin typeface="Times New Roman Regular" panose="02020603050405020304" charset="0"/>
                <a:ea typeface="Microsoft YaHei" charset="0"/>
                <a:cs typeface="Times New Roman Regular" panose="02020603050405020304" charset="0"/>
              </a:rPr>
              <a:t>成为默认的初始化系统</a:t>
            </a:r>
            <a:endParaRPr lang="zh-CN" altLang="en-US" sz="2000" b="0" i="0">
              <a:latin typeface="Times New Roman Regular" panose="02020603050405020304" charset="0"/>
              <a:ea typeface="Microsoft YaHei" charset="0"/>
              <a:cs typeface="Times New Roman Regular"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lstStyle/>
          <a:p>
            <a:r>
              <a:rPr lang="en-US"/>
              <a:t>Shell </a:t>
            </a:r>
            <a:r>
              <a:rPr lang="zh-CN" altLang="en-US"/>
              <a:t>程序</a:t>
            </a:r>
            <a:endParaRPr lang="zh-CN" altLang="en-US"/>
          </a:p>
        </p:txBody>
      </p:sp>
      <p:sp>
        <p:nvSpPr>
          <p:cNvPr id="542723" name="Rectangle 3"/>
          <p:cNvSpPr>
            <a:spLocks noGrp="1" noChangeArrowheads="1"/>
          </p:cNvSpPr>
          <p:nvPr>
            <p:ph type="body" idx="1"/>
          </p:nvPr>
        </p:nvSpPr>
        <p:spPr/>
        <p:txBody>
          <a:bodyPr/>
          <a:lstStyle/>
          <a:p>
            <a:r>
              <a:rPr lang="en-US">
                <a:solidFill>
                  <a:srgbClr val="00B050"/>
                </a:solidFill>
              </a:rPr>
              <a:t>Shell </a:t>
            </a:r>
            <a:r>
              <a:rPr lang="zh-CN" altLang="en-US"/>
              <a:t>是代表用户</a:t>
            </a:r>
            <a:r>
              <a:rPr lang="zh-CN" altLang="en-US">
                <a:solidFill>
                  <a:srgbClr val="00B050"/>
                </a:solidFill>
              </a:rPr>
              <a:t>运行程序的应用程序</a:t>
            </a:r>
            <a:endParaRPr lang="zh-CN" altLang="en-US"/>
          </a:p>
          <a:p>
            <a:pPr lvl="1"/>
            <a:r>
              <a:rPr lang="en-US"/>
              <a:t>sh 			Original Unix shell (Stephen Bourne, AT&amp;T Bell Labs, 1977)</a:t>
            </a:r>
            <a:endParaRPr lang="en-US"/>
          </a:p>
          <a:p>
            <a:pPr lvl="1"/>
            <a:r>
              <a:rPr lang="en-US"/>
              <a:t>csh/tcsh 	BSD Unix C shell</a:t>
            </a:r>
            <a:endParaRPr lang="en-US"/>
          </a:p>
          <a:p>
            <a:pPr lvl="1"/>
            <a:r>
              <a:rPr lang="en-US"/>
              <a:t>bash 			“Bourne-Again” Shell (default Linux shell)</a:t>
            </a:r>
            <a:endParaRPr lang="en-US"/>
          </a:p>
          <a:p>
            <a:pPr lvl="0"/>
            <a:r>
              <a:rPr lang="en-US"/>
              <a:t>Windows</a:t>
            </a:r>
            <a:r>
              <a:rPr lang="zh-CN" altLang="en-US"/>
              <a:t>和</a:t>
            </a:r>
            <a:r>
              <a:rPr lang="en-US" altLang="zh-CN"/>
              <a:t>Mac</a:t>
            </a:r>
            <a:r>
              <a:rPr lang="zh-CN" altLang="en-US"/>
              <a:t>上的桌面系统</a:t>
            </a:r>
            <a:r>
              <a:rPr lang="en-US" altLang="zh-CN"/>
              <a:t>，</a:t>
            </a:r>
            <a:r>
              <a:rPr lang="zh-CN" altLang="en-US"/>
              <a:t>也可以视为一个</a:t>
            </a:r>
            <a:r>
              <a:rPr lang="en-US" altLang="zh-CN"/>
              <a:t>shell</a:t>
            </a:r>
            <a:endParaRPr lang="en-US" altLang="zh-CN"/>
          </a:p>
          <a:p>
            <a:pPr lvl="1"/>
            <a:r>
              <a:rPr lang="zh-CN" altLang="en-US"/>
              <a:t>其主要目的就是给用户一个启动其他程序的环境</a:t>
            </a:r>
            <a:endParaRPr lang="zh-CN" altLang="en-US"/>
          </a:p>
        </p:txBody>
      </p:sp>
      <p:pic>
        <p:nvPicPr>
          <p:cNvPr id="3" name="Picture 2"/>
          <p:cNvPicPr>
            <a:picLocks noChangeAspect="1"/>
          </p:cNvPicPr>
          <p:nvPr/>
        </p:nvPicPr>
        <p:blipFill>
          <a:blip r:embed="rId1"/>
          <a:stretch>
            <a:fillRect/>
          </a:stretch>
        </p:blipFill>
        <p:spPr>
          <a:xfrm>
            <a:off x="3428999" y="3886200"/>
            <a:ext cx="6108700" cy="25400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Consolas" panose="020B0609020204030204" pitchFamily="49" charset="0"/>
                <a:cs typeface="Consolas" panose="020B0609020204030204" pitchFamily="49" charset="0"/>
                <a:sym typeface="+mn-ea"/>
              </a:rPr>
              <a:t>Shell </a:t>
            </a:r>
            <a:r>
              <a:rPr lang="zh-CN" altLang="en-US">
                <a:latin typeface="Consolas" panose="020B0609020204030204" pitchFamily="49" charset="0"/>
                <a:cs typeface="Consolas" panose="020B0609020204030204" pitchFamily="49" charset="0"/>
                <a:sym typeface="+mn-ea"/>
              </a:rPr>
              <a:t>程序</a:t>
            </a:r>
            <a:endParaRPr lang="en-US" altLang="zh-CN" dirty="0"/>
          </a:p>
        </p:txBody>
      </p:sp>
      <p:sp>
        <p:nvSpPr>
          <p:cNvPr id="3" name="Content Placeholder 2"/>
          <p:cNvSpPr>
            <a:spLocks noGrp="1"/>
          </p:cNvSpPr>
          <p:nvPr>
            <p:ph idx="1"/>
          </p:nvPr>
        </p:nvSpPr>
        <p:spPr>
          <a:xfrm>
            <a:off x="399415" y="1362075"/>
            <a:ext cx="5078095" cy="4972050"/>
          </a:xfrm>
        </p:spPr>
        <p:txBody>
          <a:bodyPr/>
          <a:lstStyle/>
          <a:p>
            <a:r>
              <a:rPr lang="zh-CN" altLang="en-US" sz="2800" dirty="0"/>
              <a:t>简单的</a:t>
            </a:r>
            <a:r>
              <a:rPr lang="en-US" sz="2800" dirty="0">
                <a:latin typeface="Consolas" panose="020B0609020204030204" pitchFamily="49" charset="0"/>
                <a:cs typeface="Consolas" panose="020B0609020204030204" pitchFamily="49" charset="0"/>
              </a:rPr>
              <a:t> Shell</a:t>
            </a:r>
            <a:endParaRPr lang="en-US" sz="2800" dirty="0"/>
          </a:p>
          <a:p>
            <a:pPr lvl="1"/>
            <a:r>
              <a:rPr lang="zh-CN" altLang="en-US" sz="2400" dirty="0"/>
              <a:t>教科书</a:t>
            </a:r>
            <a:r>
              <a:rPr lang="en-US" altLang="zh-CN" sz="2400" dirty="0">
                <a:latin typeface="Consolas" panose="020B0609020204030204" pitchFamily="49" charset="0"/>
                <a:cs typeface="Consolas" panose="020B0609020204030204" pitchFamily="49" charset="0"/>
              </a:rPr>
              <a:t> 524 </a:t>
            </a:r>
            <a:r>
              <a:rPr lang="zh-CN" altLang="en-US" sz="2400" dirty="0"/>
              <a:t>页起</a:t>
            </a:r>
            <a:endParaRPr lang="en-US" sz="2400" dirty="0"/>
          </a:p>
          <a:p>
            <a:pPr lvl="1"/>
            <a:r>
              <a:rPr lang="zh-CN" altLang="en-US" sz="2400" dirty="0"/>
              <a:t>实现一个非常基本的</a:t>
            </a:r>
            <a:r>
              <a:rPr lang="en-US" altLang="zh-CN" sz="2400" dirty="0">
                <a:latin typeface="Consolas" panose="020B0609020204030204" pitchFamily="49" charset="0"/>
                <a:cs typeface="Consolas" panose="020B0609020204030204" pitchFamily="49" charset="0"/>
              </a:rPr>
              <a:t> </a:t>
            </a:r>
            <a:r>
              <a:rPr lang="en-US" sz="2400" dirty="0">
                <a:latin typeface="Consolas" panose="020B0609020204030204" pitchFamily="49" charset="0"/>
                <a:cs typeface="Consolas" panose="020B0609020204030204" pitchFamily="49" charset="0"/>
              </a:rPr>
              <a:t>S</a:t>
            </a:r>
            <a:r>
              <a:rPr lang="en-US" sz="2400" dirty="0">
                <a:latin typeface="Consolas" panose="020B0609020204030204" pitchFamily="49" charset="0"/>
                <a:cs typeface="Consolas" panose="020B0609020204030204" pitchFamily="49" charset="0"/>
              </a:rPr>
              <a:t>hell</a:t>
            </a:r>
            <a:endParaRPr lang="en-US" sz="2400" dirty="0">
              <a:latin typeface="Consolas" panose="020B0609020204030204" pitchFamily="49" charset="0"/>
              <a:cs typeface="Consolas" panose="020B0609020204030204" pitchFamily="49" charset="0"/>
            </a:endParaRPr>
          </a:p>
          <a:p>
            <a:pPr lvl="1"/>
            <a:r>
              <a:rPr lang="zh-CN" altLang="en-US" sz="2400" dirty="0"/>
              <a:t>目的</a:t>
            </a:r>
            <a:endParaRPr lang="en-US" sz="2400" dirty="0"/>
          </a:p>
          <a:p>
            <a:pPr lvl="2"/>
            <a:r>
              <a:rPr lang="zh-CN" altLang="en-US" sz="2400" dirty="0">
                <a:latin typeface="仿宋" panose="02010609060101010101" pitchFamily="49" charset="-122"/>
              </a:rPr>
              <a:t>了解键入命令时会发生什么</a:t>
            </a:r>
            <a:endParaRPr lang="en-US" sz="2400" dirty="0">
              <a:latin typeface="仿宋" panose="02010609060101010101" pitchFamily="49" charset="-122"/>
            </a:endParaRPr>
          </a:p>
          <a:p>
            <a:pPr lvl="2"/>
            <a:r>
              <a:rPr lang="zh-CN" altLang="en-US" sz="2400" dirty="0">
                <a:latin typeface="仿宋" panose="02010609060101010101" pitchFamily="49" charset="-122"/>
              </a:rPr>
              <a:t>理解进程控制操作的使用和运行</a:t>
            </a:r>
            <a:endParaRPr lang="zh-CN" altLang="en-US" sz="2400" dirty="0">
              <a:latin typeface="仿宋" panose="02010609060101010101" pitchFamily="49" charset="-122"/>
            </a:endParaRPr>
          </a:p>
        </p:txBody>
      </p:sp>
      <p:sp>
        <p:nvSpPr>
          <p:cNvPr id="4" name="Text Box 7"/>
          <p:cNvSpPr txBox="1">
            <a:spLocks noChangeArrowheads="1"/>
          </p:cNvSpPr>
          <p:nvPr/>
        </p:nvSpPr>
        <p:spPr bwMode="auto">
          <a:xfrm>
            <a:off x="5410200" y="304800"/>
            <a:ext cx="6587461" cy="4524316"/>
          </a:xfrm>
          <a:prstGeom prst="rect">
            <a:avLst/>
          </a:prstGeom>
          <a:solidFill>
            <a:schemeClr val="bg1">
              <a:lumMod val="85000"/>
            </a:schemeClr>
          </a:solidFill>
          <a:ln w="3175">
            <a:noFill/>
            <a:miter lim="800000"/>
          </a:ln>
          <a:effectLst/>
        </p:spPr>
        <p:txBody>
          <a:bodyPr wrap="none">
            <a:spAutoFit/>
          </a:bodyPr>
          <a:lstStyle/>
          <a:p>
            <a:pPr algn="l">
              <a:lnSpc>
                <a:spcPct val="100000"/>
              </a:lnSpc>
            </a:pPr>
            <a:r>
              <a:rPr lang="en-US" sz="1600" b="1" dirty="0" err="1">
                <a:latin typeface="Courier New" panose="02070609020205020404" charset="0"/>
              </a:rPr>
              <a:t>linux</a:t>
            </a:r>
            <a:r>
              <a:rPr lang="en-US" sz="1600" b="1" dirty="0">
                <a:latin typeface="Courier New" panose="02070609020205020404" charset="0"/>
              </a:rPr>
              <a:t>&gt; </a:t>
            </a:r>
            <a:r>
              <a:rPr lang="en-US" sz="1600" dirty="0">
                <a:solidFill>
                  <a:srgbClr val="3366FF"/>
                </a:solidFill>
                <a:latin typeface="Courier New" panose="02070609020205020404" charset="0"/>
              </a:rPr>
              <a:t>./</a:t>
            </a:r>
            <a:r>
              <a:rPr lang="en-US" sz="1600" dirty="0" err="1">
                <a:solidFill>
                  <a:srgbClr val="3366FF"/>
                </a:solidFill>
                <a:latin typeface="Courier New" panose="02070609020205020404" charset="0"/>
              </a:rPr>
              <a:t>shellex</a:t>
            </a:r>
            <a:endParaRPr lang="en-US" sz="1600" dirty="0">
              <a:solidFill>
                <a:srgbClr val="3366FF"/>
              </a:solidFill>
              <a:latin typeface="Courier New" panose="02070609020205020404" charset="0"/>
            </a:endParaRPr>
          </a:p>
          <a:p>
            <a:r>
              <a:rPr lang="hu-HU" sz="1600" dirty="0">
                <a:latin typeface="Courier New" panose="02070609020205020404" charset="0"/>
              </a:rPr>
              <a:t>&gt; </a:t>
            </a:r>
            <a:r>
              <a:rPr lang="hu-HU" sz="1600" dirty="0">
                <a:solidFill>
                  <a:srgbClr val="3366FF"/>
                </a:solidFill>
                <a:latin typeface="Courier New" panose="02070609020205020404" charset="0"/>
              </a:rPr>
              <a:t>/bin/ls -l csapp.c</a:t>
            </a:r>
            <a:endParaRPr lang="hu-HU" sz="1600" dirty="0">
              <a:solidFill>
                <a:srgbClr val="3366FF"/>
              </a:solidFill>
              <a:latin typeface="Courier New" panose="02070609020205020404" charset="0"/>
            </a:endParaRPr>
          </a:p>
          <a:p>
            <a:r>
              <a:rPr lang="hu-HU" sz="1600" dirty="0">
                <a:latin typeface="Courier New" panose="02070609020205020404" charset="0"/>
              </a:rPr>
              <a:t>-rw-r--r-- 1 bryant users 23053 Jun 15  2015 csapp.c</a:t>
            </a:r>
            <a:endParaRPr lang="hu-HU" sz="1600" dirty="0">
              <a:latin typeface="Courier New" panose="02070609020205020404" charset="0"/>
            </a:endParaRPr>
          </a:p>
          <a:p>
            <a:r>
              <a:rPr lang="hu-HU" sz="1600" dirty="0">
                <a:latin typeface="Courier New" panose="02070609020205020404" charset="0"/>
              </a:rPr>
              <a:t>&gt; </a:t>
            </a:r>
            <a:r>
              <a:rPr lang="hu-HU" sz="1600" dirty="0">
                <a:solidFill>
                  <a:srgbClr val="3366FF"/>
                </a:solidFill>
                <a:latin typeface="Courier New" panose="02070609020205020404" charset="0"/>
              </a:rPr>
              <a:t>/bin/ps</a:t>
            </a:r>
            <a:endParaRPr lang="hu-HU" sz="1600" dirty="0">
              <a:solidFill>
                <a:srgbClr val="3366FF"/>
              </a:solidFill>
              <a:latin typeface="Courier New" panose="02070609020205020404" charset="0"/>
            </a:endParaRPr>
          </a:p>
          <a:p>
            <a:r>
              <a:rPr lang="hu-HU" sz="1600" dirty="0">
                <a:latin typeface="Courier New" panose="02070609020205020404" charset="0"/>
              </a:rPr>
              <a:t>  PID TTY          TIME CMD</a:t>
            </a:r>
            <a:endParaRPr lang="hu-HU" sz="1600" dirty="0">
              <a:latin typeface="Courier New" panose="02070609020205020404" charset="0"/>
            </a:endParaRPr>
          </a:p>
          <a:p>
            <a:r>
              <a:rPr lang="hu-HU" sz="1600" dirty="0">
                <a:latin typeface="Courier New" panose="02070609020205020404" charset="0"/>
              </a:rPr>
              <a:t>31542 pts/2    00:00:01 tcsh</a:t>
            </a:r>
            <a:endParaRPr lang="hu-HU" sz="1600" dirty="0">
              <a:latin typeface="Courier New" panose="02070609020205020404" charset="0"/>
            </a:endParaRPr>
          </a:p>
          <a:p>
            <a:r>
              <a:rPr lang="hu-HU" sz="1600" dirty="0">
                <a:latin typeface="Courier New" panose="02070609020205020404" charset="0"/>
              </a:rPr>
              <a:t>32017 pts/2    00:00:00 shellex</a:t>
            </a:r>
            <a:endParaRPr lang="hu-HU" sz="1600" dirty="0">
              <a:latin typeface="Courier New" panose="02070609020205020404" charset="0"/>
            </a:endParaRPr>
          </a:p>
          <a:p>
            <a:r>
              <a:rPr lang="hu-HU" sz="1600" dirty="0">
                <a:latin typeface="Courier New" panose="02070609020205020404" charset="0"/>
              </a:rPr>
              <a:t>32019 pts/2    00:00:00 ps</a:t>
            </a:r>
            <a:endParaRPr lang="hu-HU" sz="1600" dirty="0">
              <a:latin typeface="Courier New" panose="02070609020205020404" charset="0"/>
            </a:endParaRPr>
          </a:p>
          <a:p>
            <a:r>
              <a:rPr lang="hu-HU" sz="1600" dirty="0">
                <a:latin typeface="Courier New" panose="02070609020205020404" charset="0"/>
              </a:rPr>
              <a:t>&gt;</a:t>
            </a:r>
            <a:r>
              <a:rPr lang="en-US" sz="1600" dirty="0">
                <a:latin typeface="Courier New" panose="02070609020205020404" charset="0"/>
              </a:rPr>
              <a:t> </a:t>
            </a:r>
            <a:r>
              <a:rPr lang="en-US" sz="1600" dirty="0">
                <a:solidFill>
                  <a:srgbClr val="3366FF"/>
                </a:solidFill>
                <a:latin typeface="Courier New" panose="02070609020205020404" charset="0"/>
              </a:rPr>
              <a:t>/bin/sleep 10 &amp;</a:t>
            </a:r>
            <a:endParaRPr lang="en-US" sz="1600" dirty="0">
              <a:solidFill>
                <a:srgbClr val="3366FF"/>
              </a:solidFill>
              <a:latin typeface="Courier New" panose="02070609020205020404" charset="0"/>
            </a:endParaRPr>
          </a:p>
          <a:p>
            <a:r>
              <a:rPr lang="en-US" sz="1600" dirty="0">
                <a:latin typeface="Courier New" panose="02070609020205020404" charset="0"/>
              </a:rPr>
              <a:t>32031 /bin/sleep 10 &amp;</a:t>
            </a:r>
            <a:endParaRPr lang="en-US" sz="1600" dirty="0">
              <a:latin typeface="Courier New" panose="02070609020205020404" charset="0"/>
            </a:endParaRPr>
          </a:p>
          <a:p>
            <a:r>
              <a:rPr lang="en-US" sz="1600" dirty="0">
                <a:latin typeface="Courier New" panose="02070609020205020404" charset="0"/>
              </a:rPr>
              <a:t>&gt; </a:t>
            </a:r>
            <a:r>
              <a:rPr lang="en-US" sz="1600" dirty="0">
                <a:solidFill>
                  <a:srgbClr val="3366FF"/>
                </a:solidFill>
                <a:latin typeface="Courier New" panose="02070609020205020404" charset="0"/>
              </a:rPr>
              <a:t>/bin/</a:t>
            </a:r>
            <a:r>
              <a:rPr lang="en-US" sz="1600" dirty="0" err="1">
                <a:solidFill>
                  <a:srgbClr val="3366FF"/>
                </a:solidFill>
                <a:latin typeface="Courier New" panose="02070609020205020404" charset="0"/>
              </a:rPr>
              <a:t>ps</a:t>
            </a:r>
            <a:endParaRPr lang="en-US" sz="1600" dirty="0">
              <a:solidFill>
                <a:srgbClr val="3366FF"/>
              </a:solidFill>
              <a:latin typeface="Courier New" panose="02070609020205020404" charset="0"/>
            </a:endParaRPr>
          </a:p>
          <a:p>
            <a:r>
              <a:rPr lang="en-US" sz="1600" dirty="0">
                <a:latin typeface="Courier New" panose="02070609020205020404" charset="0"/>
              </a:rPr>
              <a:t> PID TTY          TIME CMD</a:t>
            </a:r>
            <a:endParaRPr lang="en-US" sz="1600" dirty="0">
              <a:latin typeface="Courier New" panose="02070609020205020404" charset="0"/>
            </a:endParaRPr>
          </a:p>
          <a:p>
            <a:r>
              <a:rPr lang="en-US" sz="1600" dirty="0">
                <a:latin typeface="Courier New" panose="02070609020205020404" charset="0"/>
              </a:rPr>
              <a:t>31542 </a:t>
            </a:r>
            <a:r>
              <a:rPr lang="en-US" sz="1600" dirty="0" err="1">
                <a:latin typeface="Courier New" panose="02070609020205020404" charset="0"/>
              </a:rPr>
              <a:t>pts</a:t>
            </a:r>
            <a:r>
              <a:rPr lang="en-US" sz="1600" dirty="0">
                <a:latin typeface="Courier New" panose="02070609020205020404" charset="0"/>
              </a:rPr>
              <a:t>/2    00:00:01 </a:t>
            </a:r>
            <a:r>
              <a:rPr lang="en-US" sz="1600" dirty="0" err="1">
                <a:latin typeface="Courier New" panose="02070609020205020404" charset="0"/>
              </a:rPr>
              <a:t>tcsh</a:t>
            </a:r>
            <a:endParaRPr lang="en-US" sz="1600" dirty="0">
              <a:latin typeface="Courier New" panose="02070609020205020404" charset="0"/>
            </a:endParaRPr>
          </a:p>
          <a:p>
            <a:r>
              <a:rPr lang="en-US" sz="1600" dirty="0">
                <a:latin typeface="Courier New" panose="02070609020205020404" charset="0"/>
              </a:rPr>
              <a:t>32024 </a:t>
            </a:r>
            <a:r>
              <a:rPr lang="en-US" sz="1600" dirty="0" err="1">
                <a:latin typeface="Courier New" panose="02070609020205020404" charset="0"/>
              </a:rPr>
              <a:t>pts</a:t>
            </a:r>
            <a:r>
              <a:rPr lang="en-US" sz="1600" dirty="0">
                <a:latin typeface="Courier New" panose="02070609020205020404" charset="0"/>
              </a:rPr>
              <a:t>/2    00:00:00 </a:t>
            </a:r>
            <a:r>
              <a:rPr lang="en-US" sz="1600" dirty="0" err="1">
                <a:latin typeface="Courier New" panose="02070609020205020404" charset="0"/>
              </a:rPr>
              <a:t>emacs</a:t>
            </a:r>
            <a:endParaRPr lang="en-US" sz="1600" dirty="0">
              <a:latin typeface="Courier New" panose="02070609020205020404" charset="0"/>
            </a:endParaRPr>
          </a:p>
          <a:p>
            <a:r>
              <a:rPr lang="en-US" sz="1600" dirty="0">
                <a:latin typeface="Courier New" panose="02070609020205020404" charset="0"/>
              </a:rPr>
              <a:t>32030 </a:t>
            </a:r>
            <a:r>
              <a:rPr lang="en-US" sz="1600" dirty="0" err="1">
                <a:latin typeface="Courier New" panose="02070609020205020404" charset="0"/>
              </a:rPr>
              <a:t>pts</a:t>
            </a:r>
            <a:r>
              <a:rPr lang="en-US" sz="1600" dirty="0">
                <a:latin typeface="Courier New" panose="02070609020205020404" charset="0"/>
              </a:rPr>
              <a:t>/2    00:00:00 </a:t>
            </a:r>
            <a:r>
              <a:rPr lang="en-US" sz="1600" dirty="0" err="1">
                <a:latin typeface="Courier New" panose="02070609020205020404" charset="0"/>
              </a:rPr>
              <a:t>shellex</a:t>
            </a:r>
            <a:endParaRPr lang="en-US" sz="1600" dirty="0">
              <a:latin typeface="Courier New" panose="02070609020205020404" charset="0"/>
            </a:endParaRPr>
          </a:p>
          <a:p>
            <a:r>
              <a:rPr lang="en-US" sz="1600" dirty="0">
                <a:latin typeface="Courier New" panose="02070609020205020404" charset="0"/>
              </a:rPr>
              <a:t>32031 </a:t>
            </a:r>
            <a:r>
              <a:rPr lang="en-US" sz="1600" dirty="0" err="1">
                <a:latin typeface="Courier New" panose="02070609020205020404" charset="0"/>
              </a:rPr>
              <a:t>pts</a:t>
            </a:r>
            <a:r>
              <a:rPr lang="en-US" sz="1600" dirty="0">
                <a:latin typeface="Courier New" panose="02070609020205020404" charset="0"/>
              </a:rPr>
              <a:t>/2    00:00:00 sleep</a:t>
            </a:r>
            <a:endParaRPr lang="en-US" sz="1600" dirty="0">
              <a:latin typeface="Courier New" panose="02070609020205020404" charset="0"/>
            </a:endParaRPr>
          </a:p>
          <a:p>
            <a:r>
              <a:rPr lang="en-US" sz="1600" dirty="0">
                <a:latin typeface="Courier New" panose="02070609020205020404" charset="0"/>
              </a:rPr>
              <a:t>32033 </a:t>
            </a:r>
            <a:r>
              <a:rPr lang="en-US" sz="1600" dirty="0" err="1">
                <a:latin typeface="Courier New" panose="02070609020205020404" charset="0"/>
              </a:rPr>
              <a:t>pts</a:t>
            </a:r>
            <a:r>
              <a:rPr lang="en-US" sz="1600" dirty="0">
                <a:latin typeface="Courier New" panose="02070609020205020404" charset="0"/>
              </a:rPr>
              <a:t>/2    00:00:00 </a:t>
            </a:r>
            <a:r>
              <a:rPr lang="en-US" sz="1600" dirty="0" err="1">
                <a:latin typeface="Courier New" panose="02070609020205020404" charset="0"/>
              </a:rPr>
              <a:t>ps</a:t>
            </a:r>
            <a:endParaRPr lang="en-US" sz="1600" dirty="0">
              <a:latin typeface="Courier New" panose="02070609020205020404" charset="0"/>
            </a:endParaRPr>
          </a:p>
          <a:p>
            <a:r>
              <a:rPr lang="hu-HU" sz="1600" dirty="0">
                <a:latin typeface="Courier New" panose="02070609020205020404" charset="0"/>
              </a:rPr>
              <a:t>&gt; </a:t>
            </a:r>
            <a:r>
              <a:rPr lang="hu-HU" sz="1600" dirty="0">
                <a:solidFill>
                  <a:srgbClr val="3366FF"/>
                </a:solidFill>
                <a:latin typeface="Courier New" panose="02070609020205020404" charset="0"/>
              </a:rPr>
              <a:t>quit</a:t>
            </a:r>
            <a:endParaRPr lang="hu-HU" sz="1600" dirty="0">
              <a:solidFill>
                <a:srgbClr val="3366FF"/>
              </a:solidFill>
              <a:latin typeface="Courier New" panose="02070609020205020404" charset="0"/>
            </a:endParaRPr>
          </a:p>
        </p:txBody>
      </p:sp>
      <p:pic>
        <p:nvPicPr>
          <p:cNvPr id="6" name="图片 5"/>
          <p:cNvPicPr>
            <a:picLocks noChangeAspect="1"/>
          </p:cNvPicPr>
          <p:nvPr/>
        </p:nvPicPr>
        <p:blipFill>
          <a:blip r:embed="rId1"/>
          <a:stretch>
            <a:fillRect/>
          </a:stretch>
        </p:blipFill>
        <p:spPr>
          <a:xfrm>
            <a:off x="7620000" y="5181600"/>
            <a:ext cx="3886200" cy="1244600"/>
          </a:xfrm>
          <a:prstGeom prst="rect">
            <a:avLst/>
          </a:prstGeom>
        </p:spPr>
      </p:pic>
      <p:sp>
        <p:nvSpPr>
          <p:cNvPr id="5" name="文本框 4"/>
          <p:cNvSpPr txBox="1"/>
          <p:nvPr/>
        </p:nvSpPr>
        <p:spPr>
          <a:xfrm>
            <a:off x="914400" y="5181600"/>
            <a:ext cx="6096000" cy="368300"/>
          </a:xfrm>
          <a:prstGeom prst="rect">
            <a:avLst/>
          </a:prstGeom>
          <a:noFill/>
        </p:spPr>
        <p:txBody>
          <a:bodyPr wrap="square" rtlCol="0" anchor="t">
            <a:spAutoFit/>
          </a:bodyPr>
          <a:p>
            <a:r>
              <a:rPr lang="en-US" altLang="zh-CN" sz="1800" dirty="0" smtClean="0">
                <a:latin typeface="Calibri" panose="020F0502020204030204" pitchFamily="34" charset="0"/>
              </a:rPr>
              <a:t>https://csapp.cs.cmu.edu/3e/ics3/code/ecf/shellex.c</a:t>
            </a:r>
            <a:endParaRPr lang="zh-CN" altLang="en-US" sz="1800" dirty="0" smtClean="0">
              <a:latin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前台进程与后台进程</a:t>
            </a:r>
            <a:endParaRPr lang="zh-CN" altLang="en-US"/>
          </a:p>
        </p:txBody>
      </p:sp>
      <p:sp>
        <p:nvSpPr>
          <p:cNvPr id="3" name="Content Placeholder 2"/>
          <p:cNvSpPr>
            <a:spLocks noGrp="1"/>
          </p:cNvSpPr>
          <p:nvPr>
            <p:ph idx="1"/>
          </p:nvPr>
        </p:nvSpPr>
        <p:spPr>
          <a:xfrm>
            <a:off x="528955" y="1362075"/>
            <a:ext cx="9350375" cy="4972050"/>
          </a:xfrm>
        </p:spPr>
        <p:txBody>
          <a:bodyPr/>
          <a:p>
            <a:r>
              <a:rPr lang="zh-CN" altLang="en-US"/>
              <a:t>前台和后台</a:t>
            </a:r>
            <a:r>
              <a:rPr lang="en-US" altLang="zh-CN"/>
              <a:t>，</a:t>
            </a:r>
            <a:r>
              <a:rPr lang="zh-CN" altLang="en-US"/>
              <a:t>是相对于当前终端</a:t>
            </a:r>
            <a:r>
              <a:rPr lang="en-US" altLang="zh-CN"/>
              <a:t>S</a:t>
            </a:r>
            <a:r>
              <a:rPr lang="en-US" altLang="zh-CN"/>
              <a:t>hell</a:t>
            </a:r>
            <a:r>
              <a:rPr lang="zh-CN" altLang="en-US"/>
              <a:t>而言的</a:t>
            </a:r>
            <a:endParaRPr lang="zh-CN" altLang="en-US"/>
          </a:p>
          <a:p>
            <a:pPr lvl="1"/>
            <a:r>
              <a:rPr lang="zh-CN" altLang="en-US"/>
              <a:t>在</a:t>
            </a:r>
            <a:r>
              <a:rPr lang="en-US" altLang="en-US"/>
              <a:t> Linux/Unix Shell </a:t>
            </a:r>
            <a:r>
              <a:rPr lang="zh-CN" altLang="en-US"/>
              <a:t>中，前台进程与后台进程的核心区别在于：是否占用当前终端会话的控制权以及如何接收输入信号</a:t>
            </a:r>
            <a:endParaRPr lang="zh-CN" altLang="en-US"/>
          </a:p>
          <a:p>
            <a:pPr lvl="0"/>
            <a:r>
              <a:rPr lang="en-US" altLang="zh-CN">
                <a:sym typeface="+mn-ea"/>
              </a:rPr>
              <a:t>Shell</a:t>
            </a:r>
            <a:r>
              <a:rPr lang="zh-CN" altLang="en-US">
                <a:sym typeface="+mn-ea"/>
              </a:rPr>
              <a:t>提供了与用户交互</a:t>
            </a:r>
            <a:r>
              <a:rPr lang="en-US" altLang="zh-CN">
                <a:sym typeface="+mn-ea"/>
              </a:rPr>
              <a:t>（</a:t>
            </a:r>
            <a:r>
              <a:rPr lang="zh-CN" altLang="en-US">
                <a:sym typeface="+mn-ea"/>
              </a:rPr>
              <a:t>输入</a:t>
            </a:r>
            <a:r>
              <a:rPr lang="en-US" altLang="zh-CN">
                <a:sym typeface="+mn-ea"/>
              </a:rPr>
              <a:t>、</a:t>
            </a:r>
            <a:r>
              <a:rPr lang="zh-CN" altLang="en-US">
                <a:sym typeface="+mn-ea"/>
              </a:rPr>
              <a:t>输出</a:t>
            </a:r>
            <a:r>
              <a:rPr lang="en-US" altLang="zh-CN">
                <a:sym typeface="+mn-ea"/>
              </a:rPr>
              <a:t>）</a:t>
            </a:r>
            <a:r>
              <a:rPr lang="zh-CN" altLang="en-US">
                <a:sym typeface="+mn-ea"/>
              </a:rPr>
              <a:t>的会话通道</a:t>
            </a:r>
            <a:endParaRPr lang="zh-CN" altLang="en-US">
              <a:sym typeface="+mn-ea"/>
            </a:endParaRPr>
          </a:p>
          <a:p>
            <a:pPr lvl="1"/>
            <a:r>
              <a:rPr lang="zh-CN" altLang="en-US">
                <a:sym typeface="+mn-ea"/>
              </a:rPr>
              <a:t>只能为</a:t>
            </a:r>
            <a:r>
              <a:rPr lang="zh-CN" altLang="en-US" b="1">
                <a:sym typeface="+mn-ea"/>
              </a:rPr>
              <a:t>默认</a:t>
            </a:r>
            <a:r>
              <a:rPr lang="zh-CN" altLang="en-US">
                <a:sym typeface="+mn-ea"/>
              </a:rPr>
              <a:t>的</a:t>
            </a:r>
            <a:r>
              <a:rPr lang="zh-CN" altLang="en-US" b="1">
                <a:sym typeface="+mn-ea"/>
              </a:rPr>
              <a:t>单个</a:t>
            </a:r>
            <a:r>
              <a:rPr lang="zh-CN" altLang="en-US" b="1">
                <a:sym typeface="+mn-ea"/>
              </a:rPr>
              <a:t>当前</a:t>
            </a:r>
            <a:r>
              <a:rPr lang="zh-CN" altLang="en-US">
                <a:sym typeface="+mn-ea"/>
              </a:rPr>
              <a:t>进程提供</a:t>
            </a:r>
            <a:r>
              <a:rPr lang="zh-CN" altLang="en-US" b="1">
                <a:sym typeface="+mn-ea"/>
              </a:rPr>
              <a:t>输入和控制</a:t>
            </a:r>
            <a:r>
              <a:rPr lang="zh-CN" altLang="en-US">
                <a:sym typeface="+mn-ea"/>
              </a:rPr>
              <a:t>的通道</a:t>
            </a:r>
            <a:r>
              <a:rPr lang="en-US" altLang="zh-CN">
                <a:sym typeface="+mn-ea"/>
              </a:rPr>
              <a:t>，</a:t>
            </a:r>
            <a:r>
              <a:rPr lang="zh-CN" altLang="en-US">
                <a:sym typeface="+mn-ea"/>
              </a:rPr>
              <a:t>该进程称为</a:t>
            </a:r>
            <a:r>
              <a:rPr lang="zh-CN" altLang="en-US" b="1">
                <a:sym typeface="+mn-ea"/>
              </a:rPr>
              <a:t>前台进程</a:t>
            </a:r>
            <a:r>
              <a:rPr lang="en-US" altLang="zh-CN" b="1">
                <a:sym typeface="+mn-ea"/>
              </a:rPr>
              <a:t>；</a:t>
            </a:r>
            <a:endParaRPr lang="en-US" altLang="zh-CN" b="1">
              <a:sym typeface="+mn-ea"/>
            </a:endParaRPr>
          </a:p>
          <a:p>
            <a:pPr lvl="1"/>
            <a:r>
              <a:rPr lang="zh-CN" altLang="en-US">
                <a:sym typeface="+mn-ea"/>
              </a:rPr>
              <a:t>其余并发的进程称为</a:t>
            </a:r>
            <a:r>
              <a:rPr lang="zh-CN" altLang="en-US" b="1">
                <a:sym typeface="+mn-ea"/>
              </a:rPr>
              <a:t>后台进程</a:t>
            </a:r>
            <a:endParaRPr lang="zh-CN" altLang="en-US" b="1">
              <a:sym typeface="+mn-ea"/>
            </a:endParaRPr>
          </a:p>
          <a:p>
            <a:pPr lvl="0"/>
            <a:r>
              <a:rPr lang="zh-CN" altLang="en-US" sz="2400" b="1">
                <a:sym typeface="+mn-ea"/>
              </a:rPr>
              <a:t>实际的</a:t>
            </a:r>
            <a:r>
              <a:rPr lang="zh-CN" altLang="en-US" sz="2400" b="1">
                <a:sym typeface="+mn-ea"/>
              </a:rPr>
              <a:t>例子</a:t>
            </a:r>
            <a:endParaRPr lang="zh-CN" altLang="en-US" sz="2400" b="1">
              <a:sym typeface="+mn-ea"/>
            </a:endParaRPr>
          </a:p>
          <a:p>
            <a:pPr lvl="1"/>
            <a:r>
              <a:rPr lang="zh-CN" altLang="en-US" sz="2000" b="1">
                <a:sym typeface="+mn-ea"/>
              </a:rPr>
              <a:t>想象一下手机上的焦点</a:t>
            </a:r>
            <a:r>
              <a:rPr lang="zh-CN" altLang="en-US" b="1">
                <a:sym typeface="+mn-ea"/>
              </a:rPr>
              <a:t>界面</a:t>
            </a:r>
            <a:r>
              <a:rPr lang="en-US" altLang="zh-CN" b="1">
                <a:sym typeface="+mn-ea"/>
              </a:rPr>
              <a:t>/</a:t>
            </a:r>
            <a:r>
              <a:rPr lang="zh-CN" altLang="en-US" b="1">
                <a:sym typeface="+mn-ea"/>
              </a:rPr>
              <a:t>窗口</a:t>
            </a:r>
            <a:endParaRPr lang="zh-CN" altLang="en-US" b="1">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前台进程与后台进程</a:t>
            </a:r>
            <a:endParaRPr lang="zh-CN" altLang="en-US"/>
          </a:p>
        </p:txBody>
      </p:sp>
      <p:sp>
        <p:nvSpPr>
          <p:cNvPr id="3" name="Content Placeholder 2"/>
          <p:cNvSpPr>
            <a:spLocks noGrp="1"/>
          </p:cNvSpPr>
          <p:nvPr>
            <p:ph idx="1"/>
          </p:nvPr>
        </p:nvSpPr>
        <p:spPr/>
        <p:txBody>
          <a:bodyPr/>
          <a:p>
            <a:pPr lvl="0"/>
            <a:r>
              <a:rPr lang="zh-CN" altLang="en-US"/>
              <a:t>前台进程</a:t>
            </a:r>
            <a:endParaRPr lang="zh-CN" altLang="en-US"/>
          </a:p>
          <a:p>
            <a:pPr lvl="1"/>
            <a:r>
              <a:rPr lang="zh-CN" altLang="en-US"/>
              <a:t>阻塞</a:t>
            </a:r>
            <a:r>
              <a:rPr lang="en-US" altLang="zh-CN"/>
              <a:t>shell：</a:t>
            </a:r>
            <a:r>
              <a:rPr lang="zh-CN" altLang="en-US"/>
              <a:t>一旦运行</a:t>
            </a:r>
            <a:r>
              <a:rPr lang="en-US" altLang="zh-CN"/>
              <a:t>，</a:t>
            </a:r>
            <a:r>
              <a:rPr lang="zh-CN" altLang="en-US"/>
              <a:t>你通常只能等它运行完毕或者需要输入</a:t>
            </a:r>
            <a:r>
              <a:rPr lang="en-US" altLang="zh-CN"/>
              <a:t>，</a:t>
            </a:r>
            <a:r>
              <a:rPr lang="zh-CN" altLang="en-US"/>
              <a:t>才能输入</a:t>
            </a:r>
            <a:endParaRPr lang="zh-CN" altLang="en-US"/>
          </a:p>
          <a:p>
            <a:pPr lvl="1"/>
            <a:r>
              <a:rPr lang="zh-CN" altLang="en-US"/>
              <a:t>接收信号</a:t>
            </a:r>
            <a:r>
              <a:rPr lang="en-US" altLang="zh-CN"/>
              <a:t>：ctrl+c, ctrl+z</a:t>
            </a:r>
            <a:r>
              <a:rPr lang="zh-CN" altLang="en-US"/>
              <a:t>信号只会发送给前台进程</a:t>
            </a:r>
            <a:endParaRPr lang="zh-CN" altLang="en-US"/>
          </a:p>
          <a:p>
            <a:pPr lvl="1"/>
            <a:r>
              <a:rPr lang="zh-CN" altLang="en-US"/>
              <a:t>标准输入</a:t>
            </a:r>
            <a:r>
              <a:rPr lang="en-US" altLang="zh-CN"/>
              <a:t>：</a:t>
            </a:r>
            <a:r>
              <a:rPr lang="zh-CN" altLang="en-US"/>
              <a:t>当前键盘</a:t>
            </a:r>
            <a:endParaRPr lang="en-US" altLang="zh-CN"/>
          </a:p>
          <a:p>
            <a:pPr lvl="1"/>
            <a:r>
              <a:rPr lang="zh-CN" altLang="en-US"/>
              <a:t>标准输出</a:t>
            </a:r>
            <a:r>
              <a:rPr lang="en-US" altLang="zh-CN"/>
              <a:t>/</a:t>
            </a:r>
            <a:r>
              <a:rPr lang="zh-CN" altLang="en-US"/>
              <a:t>错误</a:t>
            </a:r>
            <a:r>
              <a:rPr lang="en-US" altLang="zh-CN"/>
              <a:t>：</a:t>
            </a:r>
            <a:r>
              <a:rPr lang="zh-CN" altLang="en-US"/>
              <a:t>当前屏幕</a:t>
            </a:r>
            <a:endParaRPr lang="zh-CN" altLang="en-US"/>
          </a:p>
          <a:p>
            <a:pPr lvl="0"/>
            <a:r>
              <a:rPr lang="zh-CN" altLang="en-US"/>
              <a:t>后台进程</a:t>
            </a:r>
            <a:endParaRPr lang="zh-CN" altLang="en-US"/>
          </a:p>
          <a:p>
            <a:pPr lvl="1"/>
            <a:r>
              <a:rPr lang="zh-CN" altLang="en-US"/>
              <a:t>非阻塞</a:t>
            </a:r>
            <a:r>
              <a:rPr lang="en-US" altLang="zh-CN"/>
              <a:t>shell：</a:t>
            </a:r>
            <a:r>
              <a:rPr lang="zh-CN" altLang="en-US"/>
              <a:t>启动之后</a:t>
            </a:r>
            <a:r>
              <a:rPr lang="en-US" altLang="zh-CN"/>
              <a:t>，</a:t>
            </a:r>
            <a:r>
              <a:rPr lang="zh-CN" altLang="en-US"/>
              <a:t>会在后台运行</a:t>
            </a:r>
            <a:r>
              <a:rPr lang="en-US" altLang="zh-CN"/>
              <a:t>，</a:t>
            </a:r>
            <a:r>
              <a:rPr lang="zh-CN" altLang="en-US"/>
              <a:t>并立即返回</a:t>
            </a:r>
            <a:r>
              <a:rPr lang="en-US" altLang="zh-CN"/>
              <a:t>shell</a:t>
            </a:r>
            <a:r>
              <a:rPr lang="zh-CN" altLang="en-US"/>
              <a:t>提示符</a:t>
            </a:r>
            <a:r>
              <a:rPr lang="en-US" altLang="zh-CN"/>
              <a:t>；</a:t>
            </a:r>
            <a:r>
              <a:rPr lang="zh-CN" altLang="en-US"/>
              <a:t>你可以立即运行新的命令</a:t>
            </a:r>
            <a:endParaRPr lang="zh-CN" altLang="en-US"/>
          </a:p>
          <a:p>
            <a:pPr lvl="1"/>
            <a:r>
              <a:rPr lang="zh-CN" altLang="en-US"/>
              <a:t>启动方式</a:t>
            </a:r>
            <a:r>
              <a:rPr lang="en-US" altLang="zh-CN"/>
              <a:t>：</a:t>
            </a:r>
            <a:r>
              <a:rPr lang="zh-CN" altLang="en-US"/>
              <a:t>在命令末尾加</a:t>
            </a:r>
            <a:r>
              <a:rPr lang="en-US" altLang="zh-CN"/>
              <a:t>&amp;</a:t>
            </a:r>
            <a:endParaRPr lang="en-US" altLang="zh-CN"/>
          </a:p>
          <a:p>
            <a:pPr lvl="1"/>
            <a:r>
              <a:rPr lang="zh-CN" altLang="en-US"/>
              <a:t>接收信号</a:t>
            </a:r>
            <a:r>
              <a:rPr lang="en-US" altLang="zh-CN"/>
              <a:t>：</a:t>
            </a:r>
            <a:r>
              <a:rPr lang="zh-CN" altLang="en-US"/>
              <a:t>忽略</a:t>
            </a:r>
            <a:r>
              <a:rPr lang="en-US" altLang="zh-CN"/>
              <a:t>ctrl+c和ctrl+z，</a:t>
            </a:r>
            <a:r>
              <a:rPr lang="zh-CN" altLang="en-US"/>
              <a:t>但是不会忽略终端关闭的信号</a:t>
            </a:r>
            <a:r>
              <a:rPr lang="en-US" altLang="zh-CN"/>
              <a:t>SIGUP</a:t>
            </a:r>
            <a:endParaRPr lang="en-US" altLang="zh-CN"/>
          </a:p>
          <a:p>
            <a:pPr lvl="1"/>
            <a:r>
              <a:rPr lang="zh-CN" altLang="en-US"/>
              <a:t>标准输入</a:t>
            </a:r>
            <a:r>
              <a:rPr lang="en-US" altLang="zh-CN"/>
              <a:t>：</a:t>
            </a:r>
            <a:r>
              <a:rPr lang="zh-CN" altLang="en-US">
                <a:solidFill>
                  <a:srgbClr val="00B050"/>
                </a:solidFill>
              </a:rPr>
              <a:t>无法从键盘读取输入</a:t>
            </a:r>
            <a:r>
              <a:rPr lang="en-US" altLang="zh-CN"/>
              <a:t>；</a:t>
            </a:r>
            <a:r>
              <a:rPr lang="zh-CN" altLang="en-US"/>
              <a:t>如果</a:t>
            </a:r>
            <a:r>
              <a:rPr lang="zh-CN" altLang="en-US"/>
              <a:t>代码需要读取</a:t>
            </a:r>
            <a:r>
              <a:rPr lang="en-US" altLang="zh-CN"/>
              <a:t>，</a:t>
            </a:r>
            <a:r>
              <a:rPr lang="zh-CN" altLang="en-US"/>
              <a:t>进程会进入暂停</a:t>
            </a:r>
            <a:r>
              <a:rPr lang="en-US" altLang="zh-CN"/>
              <a:t>Stopped	</a:t>
            </a:r>
            <a:endParaRPr lang="en-US" altLang="zh-CN"/>
          </a:p>
          <a:p>
            <a:pPr lvl="1"/>
            <a:r>
              <a:rPr lang="zh-CN" altLang="en-US"/>
              <a:t>标准输出</a:t>
            </a:r>
            <a:r>
              <a:rPr lang="en-US" altLang="zh-CN"/>
              <a:t>/</a:t>
            </a:r>
            <a:r>
              <a:rPr lang="zh-CN" altLang="en-US"/>
              <a:t>错误</a:t>
            </a:r>
            <a:r>
              <a:rPr lang="en-US" altLang="zh-CN"/>
              <a:t>：</a:t>
            </a:r>
            <a:r>
              <a:rPr lang="zh-CN" altLang="en-US">
                <a:solidFill>
                  <a:srgbClr val="00B050"/>
                </a:solidFill>
              </a:rPr>
              <a:t>仍然会打印到当前终</a:t>
            </a:r>
            <a:r>
              <a:rPr lang="zh-CN" altLang="en-US"/>
              <a:t>端</a:t>
            </a:r>
            <a:r>
              <a:rPr lang="en-US" altLang="zh-CN"/>
              <a:t>（</a:t>
            </a:r>
            <a:r>
              <a:rPr lang="zh-CN" altLang="en-US"/>
              <a:t>可能跟前台进程的</a:t>
            </a:r>
            <a:r>
              <a:rPr lang="zh-CN" altLang="en-US">
                <a:solidFill>
                  <a:srgbClr val="00B050"/>
                </a:solidFill>
              </a:rPr>
              <a:t>输出混杂</a:t>
            </a:r>
            <a:r>
              <a:rPr lang="en-US" altLang="zh-CN">
                <a:solidFill>
                  <a:srgbClr val="00B050"/>
                </a:solidFill>
              </a:rPr>
              <a:t>，</a:t>
            </a:r>
            <a:r>
              <a:rPr lang="zh-CN" altLang="en-US">
                <a:solidFill>
                  <a:srgbClr val="00B050"/>
                </a:solidFill>
              </a:rPr>
              <a:t>或者干扰输入</a:t>
            </a:r>
            <a:r>
              <a:rPr lang="en-US" altLang="zh-CN"/>
              <a:t>）</a:t>
            </a:r>
            <a:endParaRPr lang="en-US" altLang="zh-CN"/>
          </a:p>
          <a:p>
            <a:pPr lvl="1"/>
            <a:r>
              <a:rPr lang="zh-CN" altLang="en-US"/>
              <a:t>如果需要</a:t>
            </a:r>
            <a:r>
              <a:rPr lang="zh-CN" altLang="en-US"/>
              <a:t>干净的输入输出</a:t>
            </a:r>
            <a:r>
              <a:rPr lang="en-US" altLang="zh-CN"/>
              <a:t>：</a:t>
            </a:r>
            <a:r>
              <a:rPr lang="zh-CN" altLang="en-US"/>
              <a:t>使用重定向功能</a:t>
            </a:r>
            <a:endParaRPr lang="zh-CN" altLang="en-US"/>
          </a:p>
          <a:p>
            <a:pPr lvl="0"/>
            <a:endParaRPr lang="zh-CN" altLang="en-US"/>
          </a:p>
          <a:p>
            <a:pPr lvl="1"/>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前后台的</a:t>
            </a:r>
            <a:r>
              <a:rPr lang="zh-CN" altLang="en-US"/>
              <a:t>切换</a:t>
            </a:r>
            <a:endParaRPr lang="zh-CN" altLang="en-US"/>
          </a:p>
        </p:txBody>
      </p:sp>
      <p:sp>
        <p:nvSpPr>
          <p:cNvPr id="3" name="Content Placeholder 2"/>
          <p:cNvSpPr>
            <a:spLocks noGrp="1"/>
          </p:cNvSpPr>
          <p:nvPr>
            <p:ph idx="1"/>
          </p:nvPr>
        </p:nvSpPr>
        <p:spPr/>
        <p:txBody>
          <a:bodyPr/>
          <a:p>
            <a:r>
              <a:rPr lang="en-US" altLang="zh-CN"/>
              <a:t>ctrl+z</a:t>
            </a:r>
            <a:endParaRPr lang="en-US" altLang="zh-CN"/>
          </a:p>
          <a:p>
            <a:pPr lvl="1"/>
            <a:r>
              <a:rPr lang="zh-CN" altLang="en-US"/>
              <a:t>暂停</a:t>
            </a:r>
            <a:r>
              <a:rPr lang="zh-CN" altLang="en-US"/>
              <a:t>前台进程</a:t>
            </a:r>
            <a:endParaRPr lang="zh-CN" altLang="en-US"/>
          </a:p>
          <a:p>
            <a:pPr lvl="0"/>
            <a:r>
              <a:rPr lang="en-US" altLang="zh-CN"/>
              <a:t>fg</a:t>
            </a:r>
            <a:endParaRPr lang="en-US" altLang="zh-CN"/>
          </a:p>
          <a:p>
            <a:pPr lvl="1"/>
            <a:r>
              <a:rPr lang="zh-CN" altLang="en-US"/>
              <a:t>将进程转</a:t>
            </a:r>
            <a:r>
              <a:rPr lang="zh-CN" altLang="en-US"/>
              <a:t>前台</a:t>
            </a:r>
            <a:endParaRPr lang="zh-CN" altLang="en-US"/>
          </a:p>
          <a:p>
            <a:pPr lvl="0"/>
            <a:r>
              <a:rPr lang="en-US" altLang="zh-CN"/>
              <a:t>bg</a:t>
            </a:r>
            <a:endParaRPr lang="en-US" altLang="zh-CN"/>
          </a:p>
          <a:p>
            <a:pPr lvl="1"/>
            <a:r>
              <a:rPr lang="zh-CN" altLang="en-US"/>
              <a:t>将进程转</a:t>
            </a:r>
            <a:r>
              <a:rPr lang="zh-CN" altLang="en-US"/>
              <a:t>后台</a:t>
            </a:r>
            <a:endParaRPr lang="zh-CN" altLang="en-US"/>
          </a:p>
          <a:p>
            <a:pPr lvl="0"/>
            <a:r>
              <a:rPr lang="en-US" altLang="zh-CN"/>
              <a:t>jobs</a:t>
            </a:r>
            <a:endParaRPr lang="en-US" altLang="zh-CN"/>
          </a:p>
          <a:p>
            <a:pPr lvl="1"/>
            <a:r>
              <a:rPr lang="zh-CN" altLang="en-US"/>
              <a:t>显示进程</a:t>
            </a:r>
            <a:r>
              <a:rPr lang="zh-CN" altLang="en-US"/>
              <a:t>队列</a:t>
            </a:r>
            <a:endParaRPr lang="zh-CN" altLang="en-US"/>
          </a:p>
        </p:txBody>
      </p:sp>
      <p:sp>
        <p:nvSpPr>
          <p:cNvPr id="4" name="Text Box 3"/>
          <p:cNvSpPr txBox="1"/>
          <p:nvPr/>
        </p:nvSpPr>
        <p:spPr>
          <a:xfrm>
            <a:off x="3195955" y="990600"/>
            <a:ext cx="8849360" cy="5885180"/>
          </a:xfrm>
          <a:prstGeom prst="rect">
            <a:avLst/>
          </a:prstGeom>
          <a:ln>
            <a:solidFill>
              <a:srgbClr val="00B050"/>
            </a:solidFill>
          </a:ln>
        </p:spPr>
        <p:txBody>
          <a:bodyPr>
            <a:noAutofit/>
          </a:bodyPr>
          <a:p>
            <a:r>
              <a:rPr sz="1800">
                <a:latin typeface="Arial Narrow Bold" panose="020B0706020202030204" charset="0"/>
                <a:cs typeface="Arial Narrow Bold" panose="020B0706020202030204" charset="0"/>
              </a:rPr>
              <a:t>$ ./delay50 50</a:t>
            </a:r>
            <a:r>
              <a:rPr lang="en-US" sz="1800" b="0"/>
              <a:t>		</a:t>
            </a:r>
            <a:r>
              <a:rPr lang="en-US" sz="1800" b="0">
                <a:solidFill>
                  <a:srgbClr val="00B050"/>
                </a:solidFill>
              </a:rPr>
              <a:t>// </a:t>
            </a:r>
            <a:r>
              <a:rPr lang="zh-CN" altLang="en-US" sz="1800" b="0">
                <a:solidFill>
                  <a:srgbClr val="00B050"/>
                </a:solidFill>
              </a:rPr>
              <a:t>前台运行</a:t>
            </a:r>
            <a:endParaRPr sz="1800" b="0"/>
          </a:p>
          <a:p>
            <a:r>
              <a:rPr sz="1800" b="0"/>
              <a:t>进程 PID: 3346959</a:t>
            </a:r>
            <a:endParaRPr sz="1800" b="0"/>
          </a:p>
          <a:p>
            <a:r>
              <a:rPr sz="1800" b="0"/>
              <a:t>开始倒计时 50 秒，每隔 10 秒打印一次进度...</a:t>
            </a:r>
            <a:endParaRPr sz="1800" b="0"/>
          </a:p>
          <a:p>
            <a:r>
              <a:rPr sz="1800">
                <a:latin typeface="Arial Narrow Bold" panose="020B0706020202030204" charset="0"/>
                <a:cs typeface="Arial Narrow Bold" panose="020B0706020202030204" charset="0"/>
              </a:rPr>
              <a:t>^Z</a:t>
            </a:r>
            <a:r>
              <a:rPr lang="en-US" sz="1800" b="0"/>
              <a:t>			</a:t>
            </a:r>
            <a:r>
              <a:rPr lang="en-US" sz="1800" b="0">
                <a:solidFill>
                  <a:srgbClr val="00B050"/>
                </a:solidFill>
              </a:rPr>
              <a:t>// ctrl+z: </a:t>
            </a:r>
            <a:r>
              <a:rPr lang="zh-CN" altLang="en-US" sz="1800" b="0">
                <a:solidFill>
                  <a:srgbClr val="00B050"/>
                </a:solidFill>
              </a:rPr>
              <a:t>暂停进程</a:t>
            </a:r>
            <a:endParaRPr sz="1800" b="0"/>
          </a:p>
          <a:p>
            <a:r>
              <a:rPr sz="1800" b="0"/>
              <a:t>[1]+  Stopped                 ./delay50 50</a:t>
            </a:r>
            <a:r>
              <a:rPr lang="en-US" sz="1800" b="0"/>
              <a:t>	</a:t>
            </a:r>
            <a:r>
              <a:rPr lang="en-US" sz="1800" b="0">
                <a:solidFill>
                  <a:srgbClr val="00B050"/>
                </a:solidFill>
              </a:rPr>
              <a:t>// </a:t>
            </a:r>
            <a:r>
              <a:rPr lang="zh-CN" altLang="en-US" sz="1800" b="0">
                <a:solidFill>
                  <a:srgbClr val="00B050"/>
                </a:solidFill>
              </a:rPr>
              <a:t>状态显示为</a:t>
            </a:r>
            <a:r>
              <a:rPr lang="en-US" altLang="zh-CN" sz="1800" b="0">
                <a:solidFill>
                  <a:srgbClr val="00B050"/>
                </a:solidFill>
              </a:rPr>
              <a:t>Stopped</a:t>
            </a:r>
            <a:endParaRPr sz="1800" b="0">
              <a:solidFill>
                <a:srgbClr val="00B050"/>
              </a:solidFill>
            </a:endParaRPr>
          </a:p>
          <a:p>
            <a:endParaRPr sz="1800" b="0"/>
          </a:p>
          <a:p>
            <a:r>
              <a:rPr sz="1800">
                <a:latin typeface="Arial Narrow Bold" panose="020B0706020202030204" charset="0"/>
                <a:cs typeface="Arial Narrow Bold" panose="020B0706020202030204" charset="0"/>
              </a:rPr>
              <a:t>$ fg %1</a:t>
            </a:r>
            <a:r>
              <a:rPr lang="en-US" sz="1800" b="0"/>
              <a:t>			</a:t>
            </a:r>
            <a:r>
              <a:rPr lang="en-US" sz="1800" b="0">
                <a:solidFill>
                  <a:srgbClr val="00B050"/>
                </a:solidFill>
              </a:rPr>
              <a:t>// fg</a:t>
            </a:r>
            <a:r>
              <a:rPr lang="zh-CN" altLang="en-US" sz="1800" b="0">
                <a:solidFill>
                  <a:srgbClr val="00B050"/>
                </a:solidFill>
              </a:rPr>
              <a:t>命令</a:t>
            </a:r>
            <a:r>
              <a:rPr lang="en-US" altLang="zh-CN" sz="1800" b="0">
                <a:solidFill>
                  <a:srgbClr val="00B050"/>
                </a:solidFill>
              </a:rPr>
              <a:t>，</a:t>
            </a:r>
            <a:r>
              <a:rPr lang="zh-CN" altLang="en-US" sz="1800" b="0">
                <a:solidFill>
                  <a:srgbClr val="00B050"/>
                </a:solidFill>
              </a:rPr>
              <a:t>转为前台运行</a:t>
            </a:r>
            <a:endParaRPr sz="1800" b="0"/>
          </a:p>
          <a:p>
            <a:r>
              <a:rPr sz="1800" b="0"/>
              <a:t>./delay50 50</a:t>
            </a:r>
            <a:endParaRPr sz="1800" b="0"/>
          </a:p>
          <a:p>
            <a:r>
              <a:rPr sz="1800" b="0"/>
              <a:t>[PID: 3346959] 剩余 40 秒</a:t>
            </a:r>
            <a:r>
              <a:rPr lang="en-US" sz="1800" b="0"/>
              <a:t>	</a:t>
            </a:r>
            <a:r>
              <a:rPr lang="en-US" sz="1800" b="0">
                <a:solidFill>
                  <a:srgbClr val="00B050"/>
                </a:solidFill>
                <a:sym typeface="+mn-ea"/>
              </a:rPr>
              <a:t>//</a:t>
            </a:r>
            <a:r>
              <a:rPr lang="zh-CN" altLang="en-US" sz="1800" b="0">
                <a:solidFill>
                  <a:srgbClr val="00B050"/>
                </a:solidFill>
                <a:sym typeface="+mn-ea"/>
              </a:rPr>
              <a:t>前台运行时</a:t>
            </a:r>
            <a:r>
              <a:rPr lang="en-US" altLang="zh-CN" sz="1800" b="0">
                <a:solidFill>
                  <a:srgbClr val="00B050"/>
                </a:solidFill>
                <a:sym typeface="+mn-ea"/>
              </a:rPr>
              <a:t>，</a:t>
            </a:r>
            <a:r>
              <a:rPr lang="zh-CN" altLang="en-US" sz="1800" b="0">
                <a:solidFill>
                  <a:srgbClr val="00B050"/>
                </a:solidFill>
                <a:sym typeface="+mn-ea"/>
              </a:rPr>
              <a:t>不允许提示符</a:t>
            </a:r>
            <a:r>
              <a:rPr lang="en-US" altLang="zh-CN" sz="1800" b="0">
                <a:solidFill>
                  <a:srgbClr val="00B050"/>
                </a:solidFill>
                <a:sym typeface="+mn-ea"/>
              </a:rPr>
              <a:t>$、</a:t>
            </a:r>
            <a:r>
              <a:rPr lang="zh-CN" altLang="en-US" sz="1800" b="0">
                <a:solidFill>
                  <a:srgbClr val="00B050"/>
                </a:solidFill>
                <a:sym typeface="+mn-ea"/>
              </a:rPr>
              <a:t>不接收新输入</a:t>
            </a:r>
            <a:endParaRPr sz="1800" b="0"/>
          </a:p>
          <a:p>
            <a:r>
              <a:rPr sz="1800" b="0"/>
              <a:t>[PID: 3346959] 剩余 30 秒</a:t>
            </a:r>
            <a:endParaRPr sz="1800" b="0"/>
          </a:p>
          <a:p>
            <a:r>
              <a:rPr sz="1800">
                <a:latin typeface="Arial Narrow Bold" panose="020B0706020202030204" charset="0"/>
                <a:cs typeface="Arial Narrow Bold" panose="020B0706020202030204" charset="0"/>
              </a:rPr>
              <a:t>^Z</a:t>
            </a:r>
            <a:r>
              <a:rPr lang="en-US" sz="1800" b="0"/>
              <a:t>			</a:t>
            </a:r>
            <a:r>
              <a:rPr lang="en-US" sz="1800" b="0">
                <a:solidFill>
                  <a:srgbClr val="00B050"/>
                </a:solidFill>
                <a:sym typeface="+mn-ea"/>
              </a:rPr>
              <a:t>// ctrl+z: </a:t>
            </a:r>
            <a:r>
              <a:rPr lang="zh-CN" altLang="en-US" sz="1800" b="0">
                <a:solidFill>
                  <a:srgbClr val="00B050"/>
                </a:solidFill>
                <a:sym typeface="+mn-ea"/>
              </a:rPr>
              <a:t>暂停进程</a:t>
            </a:r>
            <a:endParaRPr sz="1800" b="0"/>
          </a:p>
          <a:p>
            <a:r>
              <a:rPr sz="1800" b="0"/>
              <a:t>[1]+  Stopped                 ./delay50 50</a:t>
            </a:r>
            <a:endParaRPr sz="1800" b="0"/>
          </a:p>
          <a:p>
            <a:endParaRPr sz="1800" b="0"/>
          </a:p>
          <a:p>
            <a:r>
              <a:rPr sz="1800">
                <a:latin typeface="Arial Narrow Bold" panose="020B0706020202030204" charset="0"/>
                <a:cs typeface="Arial Narrow Bold" panose="020B0706020202030204" charset="0"/>
              </a:rPr>
              <a:t>$ bg %1</a:t>
            </a:r>
            <a:r>
              <a:rPr lang="en-US" sz="1800" b="0"/>
              <a:t>			</a:t>
            </a:r>
            <a:r>
              <a:rPr lang="en-US" sz="1800" b="0">
                <a:solidFill>
                  <a:srgbClr val="00B050"/>
                </a:solidFill>
              </a:rPr>
              <a:t>// bg</a:t>
            </a:r>
            <a:r>
              <a:rPr lang="zh-CN" altLang="en-US" sz="1800" b="0">
                <a:solidFill>
                  <a:srgbClr val="00B050"/>
                </a:solidFill>
              </a:rPr>
              <a:t>命令</a:t>
            </a:r>
            <a:r>
              <a:rPr lang="en-US" altLang="zh-CN" sz="1800" b="0">
                <a:solidFill>
                  <a:srgbClr val="00B050"/>
                </a:solidFill>
              </a:rPr>
              <a:t>，</a:t>
            </a:r>
            <a:r>
              <a:rPr lang="zh-CN" altLang="en-US" sz="1800" b="0">
                <a:solidFill>
                  <a:srgbClr val="00B050"/>
                </a:solidFill>
              </a:rPr>
              <a:t>转为后台运行</a:t>
            </a:r>
            <a:endParaRPr sz="1800" b="0"/>
          </a:p>
          <a:p>
            <a:r>
              <a:rPr sz="1800" b="0"/>
              <a:t>[1]+ ./delay50 50 &amp;</a:t>
            </a:r>
            <a:endParaRPr sz="1800" b="0"/>
          </a:p>
          <a:p>
            <a:r>
              <a:rPr sz="1800" b="0"/>
              <a:t>[PID: 3346959] 剩余 20 秒</a:t>
            </a:r>
            <a:r>
              <a:rPr lang="en-US" sz="1800" b="0"/>
              <a:t>	</a:t>
            </a:r>
            <a:endParaRPr sz="1800" b="0"/>
          </a:p>
          <a:p>
            <a:r>
              <a:rPr sz="1800" b="0"/>
              <a:t>$ [PID: 3346959] 剩余 10 秒</a:t>
            </a:r>
            <a:r>
              <a:rPr lang="en-US" sz="1800" b="0"/>
              <a:t>	</a:t>
            </a:r>
            <a:r>
              <a:rPr lang="en-US" sz="1800" b="0">
                <a:solidFill>
                  <a:srgbClr val="00B050"/>
                </a:solidFill>
              </a:rPr>
              <a:t>//</a:t>
            </a:r>
            <a:r>
              <a:rPr lang="zh-CN" altLang="en-US" sz="1800" b="0">
                <a:solidFill>
                  <a:srgbClr val="00B050"/>
                </a:solidFill>
              </a:rPr>
              <a:t>后台运行时</a:t>
            </a:r>
            <a:r>
              <a:rPr lang="en-US" altLang="zh-CN" sz="1800" b="0">
                <a:solidFill>
                  <a:srgbClr val="00B050"/>
                </a:solidFill>
              </a:rPr>
              <a:t>，</a:t>
            </a:r>
            <a:r>
              <a:rPr lang="zh-CN" altLang="en-US" sz="1800" b="0">
                <a:solidFill>
                  <a:srgbClr val="00B050"/>
                </a:solidFill>
              </a:rPr>
              <a:t>输出</a:t>
            </a:r>
            <a:r>
              <a:rPr lang="en-US" altLang="zh-CN" sz="1800" b="0">
                <a:solidFill>
                  <a:srgbClr val="00B050"/>
                </a:solidFill>
              </a:rPr>
              <a:t>$、</a:t>
            </a:r>
            <a:r>
              <a:rPr lang="zh-CN" altLang="en-US" sz="1800" b="0">
                <a:solidFill>
                  <a:srgbClr val="00B050"/>
                </a:solidFill>
              </a:rPr>
              <a:t>接收新输入</a:t>
            </a:r>
            <a:r>
              <a:rPr lang="en-US" altLang="zh-CN" sz="1800" b="0">
                <a:solidFill>
                  <a:srgbClr val="00B050"/>
                </a:solidFill>
              </a:rPr>
              <a:t>；</a:t>
            </a:r>
            <a:r>
              <a:rPr lang="zh-CN" altLang="en-US" sz="1800" b="0">
                <a:solidFill>
                  <a:srgbClr val="00B050"/>
                </a:solidFill>
              </a:rPr>
              <a:t>但可能被后台输出干扰</a:t>
            </a:r>
            <a:endParaRPr sz="1800" b="0">
              <a:solidFill>
                <a:srgbClr val="00B050"/>
              </a:solidFill>
            </a:endParaRPr>
          </a:p>
          <a:p>
            <a:r>
              <a:rPr sz="1800" b="0"/>
              <a:t>[PID: 3346959] 剩余 0 秒，倒计时结束。</a:t>
            </a:r>
            <a:endParaRPr sz="1800" b="0"/>
          </a:p>
          <a:p>
            <a:r>
              <a:rPr sz="1800" b="0"/>
              <a:t>50 秒时间到，程序退出。</a:t>
            </a:r>
            <a:endParaRPr sz="1800" b="0"/>
          </a:p>
          <a:p>
            <a:r>
              <a:rPr sz="1800" b="0"/>
              <a:t>[1]+  Done                    ./delay50 50</a:t>
            </a:r>
            <a:r>
              <a:rPr lang="en-US" sz="1800" b="0"/>
              <a:t>	</a:t>
            </a:r>
            <a:r>
              <a:rPr lang="en-US" sz="1800" b="0">
                <a:solidFill>
                  <a:srgbClr val="00B050"/>
                </a:solidFill>
                <a:sym typeface="+mn-ea"/>
              </a:rPr>
              <a:t>// </a:t>
            </a:r>
            <a:r>
              <a:rPr lang="zh-CN" altLang="en-US" sz="1800" b="0">
                <a:solidFill>
                  <a:srgbClr val="00B050"/>
                </a:solidFill>
                <a:sym typeface="+mn-ea"/>
              </a:rPr>
              <a:t>状态显示为</a:t>
            </a:r>
            <a:r>
              <a:rPr lang="en-US" altLang="zh-CN" sz="1800" b="0">
                <a:solidFill>
                  <a:srgbClr val="00B050"/>
                </a:solidFill>
                <a:sym typeface="+mn-ea"/>
              </a:rPr>
              <a:t>Done</a:t>
            </a:r>
            <a:endParaRPr sz="1800" b="0">
              <a:solidFill>
                <a:srgbClr val="00B050"/>
              </a:solidFill>
            </a:endParaRPr>
          </a:p>
          <a:p>
            <a:r>
              <a:rPr sz="1800" b="0"/>
              <a:t>$ </a:t>
            </a:r>
            <a:endParaRPr sz="1800"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前后台进程的切换</a:t>
            </a:r>
            <a:r>
              <a:rPr lang="zh-CN" altLang="en-US"/>
              <a:t>例子</a:t>
            </a:r>
            <a:endParaRPr lang="zh-CN" altLang="en-US"/>
          </a:p>
        </p:txBody>
      </p:sp>
      <p:sp>
        <p:nvSpPr>
          <p:cNvPr id="4" name="Text Box 3"/>
          <p:cNvSpPr txBox="1"/>
          <p:nvPr/>
        </p:nvSpPr>
        <p:spPr>
          <a:xfrm>
            <a:off x="609600" y="1066800"/>
            <a:ext cx="4961890" cy="5827395"/>
          </a:xfrm>
          <a:prstGeom prst="rect">
            <a:avLst/>
          </a:prstGeom>
          <a:ln>
            <a:solidFill>
              <a:srgbClr val="00B050"/>
            </a:solidFill>
          </a:ln>
        </p:spPr>
        <p:txBody>
          <a:bodyPr>
            <a:noAutofit/>
          </a:bodyPr>
          <a:p>
            <a:r>
              <a:rPr lang="en-US" altLang="en-US" sz="1800"/>
              <a:t>$ </a:t>
            </a:r>
            <a:r>
              <a:rPr lang="en-US" altLang="en-US" sz="1800">
                <a:latin typeface="Arial Narrow Bold" panose="020B0706020202030204" charset="0"/>
                <a:cs typeface="Arial Narrow Bold" panose="020B0706020202030204" charset="0"/>
              </a:rPr>
              <a:t>./delay60 60</a:t>
            </a:r>
            <a:r>
              <a:rPr lang="en-US" altLang="en-US" sz="1800"/>
              <a:t>	</a:t>
            </a:r>
            <a:r>
              <a:rPr lang="en-US" altLang="en-US" sz="1800">
                <a:solidFill>
                  <a:srgbClr val="00B050"/>
                </a:solidFill>
              </a:rPr>
              <a:t>// </a:t>
            </a:r>
            <a:r>
              <a:rPr lang="zh-CN" altLang="en-US" sz="1800">
                <a:solidFill>
                  <a:srgbClr val="00B050"/>
                </a:solidFill>
              </a:rPr>
              <a:t>启动</a:t>
            </a:r>
            <a:r>
              <a:rPr lang="en-US" altLang="zh-CN" sz="1800">
                <a:solidFill>
                  <a:srgbClr val="00B050"/>
                </a:solidFill>
              </a:rPr>
              <a:t>60</a:t>
            </a:r>
            <a:r>
              <a:rPr lang="zh-CN" altLang="en-US" sz="1800">
                <a:solidFill>
                  <a:srgbClr val="00B050"/>
                </a:solidFill>
              </a:rPr>
              <a:t>秒延迟进程</a:t>
            </a:r>
            <a:endParaRPr lang="en-US" altLang="en-US" sz="1800"/>
          </a:p>
          <a:p>
            <a:r>
              <a:rPr lang="zh-CN" altLang="en-US" sz="1800" b="0"/>
              <a:t>进程</a:t>
            </a:r>
            <a:r>
              <a:rPr lang="en-US" altLang="en-US" sz="1800" b="0"/>
              <a:t> PID: 3354611</a:t>
            </a:r>
            <a:endParaRPr lang="en-US" altLang="en-US" sz="1800" b="0"/>
          </a:p>
          <a:p>
            <a:r>
              <a:rPr lang="zh-CN" altLang="en-US" sz="1800" b="0"/>
              <a:t>开始倒计时</a:t>
            </a:r>
            <a:r>
              <a:rPr lang="en-US" altLang="en-US" sz="1800" b="0"/>
              <a:t> 60 </a:t>
            </a:r>
            <a:r>
              <a:rPr lang="zh-CN" altLang="en-US" sz="1800" b="0"/>
              <a:t>秒，每隔</a:t>
            </a:r>
            <a:r>
              <a:rPr lang="en-US" altLang="en-US" sz="1800" b="0"/>
              <a:t> 10 </a:t>
            </a:r>
            <a:r>
              <a:rPr lang="zh-CN" altLang="en-US" sz="1800" b="0"/>
              <a:t>秒打印一次进度</a:t>
            </a:r>
            <a:r>
              <a:rPr lang="en-US" altLang="en-US" sz="1800" b="0"/>
              <a:t>...</a:t>
            </a:r>
            <a:endParaRPr lang="en-US" altLang="en-US" sz="1800" b="0"/>
          </a:p>
          <a:p>
            <a:endParaRPr lang="en-US" altLang="en-US" sz="1800" b="0"/>
          </a:p>
          <a:p>
            <a:r>
              <a:rPr lang="en-US" altLang="en-US" sz="1800" b="0"/>
              <a:t>^Z		</a:t>
            </a:r>
            <a:r>
              <a:rPr lang="en-US" altLang="en-US" sz="1800" b="0">
                <a:solidFill>
                  <a:srgbClr val="00B050"/>
                </a:solidFill>
                <a:sym typeface="+mn-ea"/>
              </a:rPr>
              <a:t>// </a:t>
            </a:r>
            <a:r>
              <a:rPr lang="zh-CN" altLang="en-US" sz="1800" b="0">
                <a:solidFill>
                  <a:srgbClr val="00B050"/>
                </a:solidFill>
                <a:sym typeface="+mn-ea"/>
              </a:rPr>
              <a:t>暂停该进程</a:t>
            </a:r>
            <a:endParaRPr lang="en-US" altLang="en-US" sz="1800" b="0"/>
          </a:p>
          <a:p>
            <a:r>
              <a:rPr lang="en-US" altLang="en-US" sz="1800" b="0"/>
              <a:t>[1]+  Stopped                 ./delay60 60</a:t>
            </a:r>
            <a:endParaRPr lang="en-US" altLang="en-US" sz="1800" b="0"/>
          </a:p>
          <a:p>
            <a:r>
              <a:rPr lang="en-US" altLang="en-US" sz="1800"/>
              <a:t>$ .</a:t>
            </a:r>
            <a:r>
              <a:rPr lang="en-US" altLang="en-US" sz="1800">
                <a:latin typeface="Arial Narrow Bold" panose="020B0706020202030204" charset="0"/>
                <a:cs typeface="Arial Narrow Bold" panose="020B0706020202030204" charset="0"/>
              </a:rPr>
              <a:t>/delay50 50</a:t>
            </a:r>
            <a:r>
              <a:rPr lang="en-US" altLang="en-US" sz="1800"/>
              <a:t>	</a:t>
            </a:r>
            <a:r>
              <a:rPr lang="en-US" altLang="en-US" sz="1800">
                <a:solidFill>
                  <a:srgbClr val="00B050"/>
                </a:solidFill>
                <a:sym typeface="+mn-ea"/>
              </a:rPr>
              <a:t>// </a:t>
            </a:r>
            <a:r>
              <a:rPr lang="zh-CN" altLang="en-US" sz="1800">
                <a:solidFill>
                  <a:srgbClr val="00B050"/>
                </a:solidFill>
                <a:sym typeface="+mn-ea"/>
              </a:rPr>
              <a:t>启动</a:t>
            </a:r>
            <a:r>
              <a:rPr lang="en-US" altLang="zh-CN" sz="1800">
                <a:solidFill>
                  <a:srgbClr val="00B050"/>
                </a:solidFill>
                <a:sym typeface="+mn-ea"/>
              </a:rPr>
              <a:t>50</a:t>
            </a:r>
            <a:r>
              <a:rPr lang="zh-CN" altLang="en-US" sz="1800">
                <a:solidFill>
                  <a:srgbClr val="00B050"/>
                </a:solidFill>
                <a:sym typeface="+mn-ea"/>
              </a:rPr>
              <a:t>秒延迟进程</a:t>
            </a:r>
            <a:endParaRPr lang="en-US" altLang="en-US" sz="1800"/>
          </a:p>
          <a:p>
            <a:r>
              <a:rPr lang="zh-CN" altLang="en-US" sz="1800" b="0"/>
              <a:t>进程</a:t>
            </a:r>
            <a:r>
              <a:rPr lang="en-US" altLang="en-US" sz="1800" b="0"/>
              <a:t> PID: 3354642</a:t>
            </a:r>
            <a:endParaRPr lang="en-US" altLang="en-US" sz="1800" b="0"/>
          </a:p>
          <a:p>
            <a:r>
              <a:rPr lang="zh-CN" altLang="en-US" sz="1800" b="0"/>
              <a:t>开始倒计时</a:t>
            </a:r>
            <a:r>
              <a:rPr lang="en-US" altLang="en-US" sz="1800" b="0"/>
              <a:t> 50 </a:t>
            </a:r>
            <a:r>
              <a:rPr lang="zh-CN" altLang="en-US" sz="1800" b="0"/>
              <a:t>秒，每隔</a:t>
            </a:r>
            <a:r>
              <a:rPr lang="en-US" altLang="en-US" sz="1800" b="0"/>
              <a:t> 10 </a:t>
            </a:r>
            <a:r>
              <a:rPr lang="zh-CN" altLang="en-US" sz="1800" b="0"/>
              <a:t>秒打印一次进度</a:t>
            </a:r>
            <a:r>
              <a:rPr lang="en-US" altLang="en-US" sz="1800" b="0"/>
              <a:t>...</a:t>
            </a:r>
            <a:endParaRPr lang="en-US" altLang="en-US" sz="1800" b="0"/>
          </a:p>
          <a:p>
            <a:endParaRPr lang="en-US" altLang="en-US" sz="1800" b="0"/>
          </a:p>
          <a:p>
            <a:r>
              <a:rPr lang="en-US" altLang="en-US" sz="1800" b="0"/>
              <a:t>^Z		</a:t>
            </a:r>
            <a:r>
              <a:rPr lang="en-US" altLang="en-US" sz="1800" b="0">
                <a:solidFill>
                  <a:srgbClr val="00B050"/>
                </a:solidFill>
                <a:sym typeface="+mn-ea"/>
              </a:rPr>
              <a:t>// </a:t>
            </a:r>
            <a:r>
              <a:rPr lang="zh-CN" altLang="en-US" sz="1800" b="0">
                <a:solidFill>
                  <a:srgbClr val="00B050"/>
                </a:solidFill>
                <a:sym typeface="+mn-ea"/>
              </a:rPr>
              <a:t>暂停该进程</a:t>
            </a:r>
            <a:endParaRPr lang="en-US" altLang="en-US" sz="1800" b="0"/>
          </a:p>
          <a:p>
            <a:r>
              <a:rPr lang="en-US" altLang="en-US" sz="1800" b="0"/>
              <a:t>[2]+  Stopped                 ./delay50 50</a:t>
            </a:r>
            <a:endParaRPr lang="en-US" altLang="en-US" sz="1800" b="0"/>
          </a:p>
          <a:p>
            <a:r>
              <a:rPr lang="en-US" altLang="en-US" sz="1800">
                <a:latin typeface="Arial Narrow Bold" panose="020B0706020202030204" charset="0"/>
                <a:cs typeface="Arial Narrow Bold" panose="020B0706020202030204" charset="0"/>
              </a:rPr>
              <a:t>$ jobs</a:t>
            </a:r>
            <a:r>
              <a:rPr lang="en-US" altLang="en-US" sz="1800"/>
              <a:t>		</a:t>
            </a:r>
            <a:r>
              <a:rPr lang="en-US" altLang="en-US" sz="1800">
                <a:solidFill>
                  <a:srgbClr val="00B050"/>
                </a:solidFill>
              </a:rPr>
              <a:t>// jobs</a:t>
            </a:r>
            <a:r>
              <a:rPr lang="zh-CN" altLang="en-US" sz="1800">
                <a:solidFill>
                  <a:srgbClr val="00B050"/>
                </a:solidFill>
              </a:rPr>
              <a:t>查看进程状态</a:t>
            </a:r>
            <a:endParaRPr lang="en-US" altLang="en-US" sz="1800"/>
          </a:p>
          <a:p>
            <a:r>
              <a:rPr lang="en-US" altLang="en-US" sz="1800" b="0"/>
              <a:t>[1]-  Stopped                 ./delay60 60</a:t>
            </a:r>
            <a:endParaRPr lang="en-US" altLang="en-US" sz="1800" b="0"/>
          </a:p>
          <a:p>
            <a:r>
              <a:rPr lang="en-US" altLang="en-US" sz="1800" b="0"/>
              <a:t>[2]+  Stopped                 ./delay50 50</a:t>
            </a:r>
            <a:endParaRPr lang="en-US" altLang="en-US" sz="1800" b="0"/>
          </a:p>
          <a:p>
            <a:r>
              <a:rPr lang="en-US" altLang="en-US" sz="1800">
                <a:latin typeface="Arial Narrow Bold" panose="020B0706020202030204" charset="0"/>
                <a:cs typeface="Arial Narrow Bold" panose="020B0706020202030204" charset="0"/>
              </a:rPr>
              <a:t>$ bg %1		</a:t>
            </a:r>
            <a:r>
              <a:rPr lang="en-US" altLang="en-US" sz="1800">
                <a:solidFill>
                  <a:srgbClr val="00B050"/>
                </a:solidFill>
                <a:latin typeface="Arial Narrow Bold" panose="020B0706020202030204" charset="0"/>
                <a:cs typeface="Arial Narrow Bold" panose="020B0706020202030204" charset="0"/>
              </a:rPr>
              <a:t>// bg</a:t>
            </a:r>
            <a:r>
              <a:rPr lang="zh-CN" altLang="en-US" sz="1800">
                <a:solidFill>
                  <a:srgbClr val="00B050"/>
                </a:solidFill>
                <a:latin typeface="Arial Narrow Bold" panose="020B0706020202030204" charset="0"/>
                <a:cs typeface="Arial Narrow Bold" panose="020B0706020202030204" charset="0"/>
              </a:rPr>
              <a:t>后台运行</a:t>
            </a:r>
            <a:r>
              <a:rPr lang="en-US" altLang="zh-CN" sz="1800">
                <a:solidFill>
                  <a:srgbClr val="00B050"/>
                </a:solidFill>
                <a:latin typeface="Arial Narrow Bold" panose="020B0706020202030204" charset="0"/>
                <a:cs typeface="Arial Narrow Bold" panose="020B0706020202030204" charset="0"/>
              </a:rPr>
              <a:t>60</a:t>
            </a:r>
            <a:r>
              <a:rPr lang="zh-CN" altLang="en-US" sz="1800">
                <a:solidFill>
                  <a:srgbClr val="00B050"/>
                </a:solidFill>
                <a:latin typeface="Arial Narrow Bold" panose="020B0706020202030204" charset="0"/>
                <a:cs typeface="Arial Narrow Bold" panose="020B0706020202030204" charset="0"/>
              </a:rPr>
              <a:t>进程</a:t>
            </a:r>
            <a:endParaRPr lang="en-US" altLang="en-US" sz="1800">
              <a:solidFill>
                <a:srgbClr val="00B050"/>
              </a:solidFill>
              <a:latin typeface="Arial Narrow Bold" panose="020B0706020202030204" charset="0"/>
              <a:cs typeface="Arial Narrow Bold" panose="020B0706020202030204" charset="0"/>
            </a:endParaRPr>
          </a:p>
          <a:p>
            <a:r>
              <a:rPr lang="en-US" altLang="en-US" sz="1800" b="0"/>
              <a:t>[1]- ./delay60 60 &amp;</a:t>
            </a:r>
            <a:endParaRPr lang="en-US" altLang="en-US" sz="1800" b="0"/>
          </a:p>
          <a:p>
            <a:r>
              <a:rPr lang="en-US" altLang="en-US" sz="1800" b="0"/>
              <a:t>[PID: 3354611] </a:t>
            </a:r>
            <a:r>
              <a:rPr lang="zh-CN" altLang="en-US" sz="1800" b="0"/>
              <a:t>剩余</a:t>
            </a:r>
            <a:r>
              <a:rPr lang="en-US" altLang="en-US" sz="1800" b="0"/>
              <a:t> 50 </a:t>
            </a:r>
            <a:r>
              <a:rPr lang="zh-CN" altLang="en-US" sz="1800" b="0"/>
              <a:t>秒</a:t>
            </a:r>
            <a:endParaRPr lang="zh-CN" altLang="en-US" sz="1800" b="0"/>
          </a:p>
          <a:p>
            <a:r>
              <a:rPr lang="en-US" altLang="en-US" sz="1800"/>
              <a:t>$ bg %2		</a:t>
            </a:r>
            <a:r>
              <a:rPr lang="en-US" altLang="en-US" sz="1800">
                <a:solidFill>
                  <a:srgbClr val="00B050"/>
                </a:solidFill>
                <a:latin typeface="Arial Narrow Bold" panose="020B0706020202030204" charset="0"/>
                <a:cs typeface="Arial Narrow Bold" panose="020B0706020202030204" charset="0"/>
                <a:sym typeface="+mn-ea"/>
              </a:rPr>
              <a:t>// bg</a:t>
            </a:r>
            <a:r>
              <a:rPr lang="zh-CN" altLang="en-US" sz="1800">
                <a:solidFill>
                  <a:srgbClr val="00B050"/>
                </a:solidFill>
                <a:latin typeface="Arial Narrow Bold" panose="020B0706020202030204" charset="0"/>
                <a:cs typeface="Arial Narrow Bold" panose="020B0706020202030204" charset="0"/>
                <a:sym typeface="+mn-ea"/>
              </a:rPr>
              <a:t>后台运行</a:t>
            </a:r>
            <a:r>
              <a:rPr lang="en-US" altLang="zh-CN" sz="1800">
                <a:solidFill>
                  <a:srgbClr val="00B050"/>
                </a:solidFill>
                <a:latin typeface="Arial Narrow Bold" panose="020B0706020202030204" charset="0"/>
                <a:cs typeface="Arial Narrow Bold" panose="020B0706020202030204" charset="0"/>
                <a:sym typeface="+mn-ea"/>
              </a:rPr>
              <a:t>50</a:t>
            </a:r>
            <a:r>
              <a:rPr lang="zh-CN" altLang="en-US" sz="1800">
                <a:solidFill>
                  <a:srgbClr val="00B050"/>
                </a:solidFill>
                <a:latin typeface="Arial Narrow Bold" panose="020B0706020202030204" charset="0"/>
                <a:cs typeface="Arial Narrow Bold" panose="020B0706020202030204" charset="0"/>
                <a:sym typeface="+mn-ea"/>
              </a:rPr>
              <a:t>进程</a:t>
            </a:r>
            <a:endParaRPr lang="en-US" altLang="en-US" sz="1800"/>
          </a:p>
          <a:p>
            <a:r>
              <a:rPr lang="en-US" altLang="en-US" sz="1800" b="0"/>
              <a:t>[2]+ ./delay50 50 &amp;</a:t>
            </a:r>
            <a:endParaRPr lang="en-US" altLang="en-US" sz="1800" b="0"/>
          </a:p>
          <a:p>
            <a:r>
              <a:rPr lang="en-US" altLang="en-US" sz="1800" b="0"/>
              <a:t>[PID: 3354642] </a:t>
            </a:r>
            <a:r>
              <a:rPr lang="zh-CN" altLang="en-US" sz="1800" b="0"/>
              <a:t>剩余</a:t>
            </a:r>
            <a:r>
              <a:rPr lang="en-US" altLang="en-US" sz="1800" b="0"/>
              <a:t> 40 </a:t>
            </a:r>
            <a:r>
              <a:rPr lang="zh-CN" altLang="en-US" sz="1800" b="0"/>
              <a:t>秒</a:t>
            </a:r>
            <a:endParaRPr lang="en-US" altLang="en-US" sz="1800" b="0"/>
          </a:p>
        </p:txBody>
      </p:sp>
      <p:sp>
        <p:nvSpPr>
          <p:cNvPr id="3" name="Text Box 2"/>
          <p:cNvSpPr txBox="1"/>
          <p:nvPr/>
        </p:nvSpPr>
        <p:spPr>
          <a:xfrm>
            <a:off x="6170295" y="990600"/>
            <a:ext cx="5629910" cy="5827395"/>
          </a:xfrm>
          <a:prstGeom prst="rect">
            <a:avLst/>
          </a:prstGeom>
          <a:ln>
            <a:solidFill>
              <a:srgbClr val="00B050"/>
            </a:solidFill>
          </a:ln>
        </p:spPr>
        <p:txBody>
          <a:bodyPr>
            <a:noAutofit/>
          </a:bodyPr>
          <a:p>
            <a:r>
              <a:rPr lang="en-US" altLang="en-US" sz="1800">
                <a:latin typeface="Arial Narrow Bold" panose="020B0706020202030204" charset="0"/>
                <a:cs typeface="Arial Narrow Bold" panose="020B0706020202030204" charset="0"/>
              </a:rPr>
              <a:t>$ jobs		</a:t>
            </a:r>
            <a:r>
              <a:rPr lang="en-US" altLang="en-US" sz="1800">
                <a:solidFill>
                  <a:srgbClr val="00B050"/>
                </a:solidFill>
                <a:sym typeface="+mn-ea"/>
              </a:rPr>
              <a:t>// jobs</a:t>
            </a:r>
            <a:r>
              <a:rPr lang="zh-CN" altLang="en-US" sz="1800">
                <a:solidFill>
                  <a:srgbClr val="00B050"/>
                </a:solidFill>
                <a:sym typeface="+mn-ea"/>
              </a:rPr>
              <a:t>查看进程状态</a:t>
            </a:r>
            <a:endParaRPr lang="en-US" altLang="en-US" sz="1800">
              <a:latin typeface="Arial Narrow Bold" panose="020B0706020202030204" charset="0"/>
              <a:cs typeface="Arial Narrow Bold" panose="020B0706020202030204" charset="0"/>
            </a:endParaRPr>
          </a:p>
          <a:p>
            <a:r>
              <a:rPr lang="en-US" altLang="en-US" sz="1800" b="0"/>
              <a:t>[1]-  Running                 ./delay60 60 &amp;</a:t>
            </a:r>
            <a:endParaRPr lang="en-US" altLang="en-US" sz="1800" b="0"/>
          </a:p>
          <a:p>
            <a:r>
              <a:rPr lang="en-US" altLang="en-US" sz="1800" b="0"/>
              <a:t>[2]+  Running                 ./delay50 50 &amp;</a:t>
            </a:r>
            <a:endParaRPr lang="en-US" altLang="en-US" sz="1800" b="0"/>
          </a:p>
          <a:p>
            <a:r>
              <a:rPr lang="en-US" altLang="en-US" sz="1800">
                <a:latin typeface="Arial Narrow Bold" panose="020B0706020202030204" charset="0"/>
                <a:cs typeface="Arial Narrow Bold" panose="020B0706020202030204" charset="0"/>
              </a:rPr>
              <a:t>$ fg</a:t>
            </a:r>
            <a:r>
              <a:rPr lang="en-US" altLang="en-US" sz="1800" b="0"/>
              <a:t> [PID: 3354611] </a:t>
            </a:r>
            <a:r>
              <a:rPr lang="zh-CN" altLang="en-US" sz="1800" b="0"/>
              <a:t>剩余</a:t>
            </a:r>
            <a:r>
              <a:rPr lang="en-US" altLang="en-US" sz="1800" b="0"/>
              <a:t> 40 </a:t>
            </a:r>
            <a:r>
              <a:rPr lang="zh-CN" altLang="en-US" sz="1800" b="0"/>
              <a:t>秒</a:t>
            </a:r>
            <a:endParaRPr lang="zh-CN" altLang="en-US" sz="1800" b="0"/>
          </a:p>
          <a:p>
            <a:r>
              <a:rPr lang="en-US" altLang="en-US" sz="1800" b="0"/>
              <a:t>[PID: 3354642] </a:t>
            </a:r>
            <a:r>
              <a:rPr lang="zh-CN" altLang="en-US" sz="1800" b="0"/>
              <a:t>剩余</a:t>
            </a:r>
            <a:r>
              <a:rPr lang="en-US" altLang="en-US" sz="1800" b="0"/>
              <a:t> 30 </a:t>
            </a:r>
            <a:r>
              <a:rPr lang="zh-CN" altLang="en-US" sz="1800" b="0"/>
              <a:t>秒</a:t>
            </a:r>
            <a:endParaRPr lang="zh-CN" altLang="en-US" sz="1800" b="0"/>
          </a:p>
          <a:p>
            <a:r>
              <a:rPr lang="en-US" altLang="en-US" sz="1800">
                <a:latin typeface="Arial Narrow Bold" panose="020B0706020202030204" charset="0"/>
                <a:cs typeface="Arial Narrow Bold" panose="020B0706020202030204" charset="0"/>
              </a:rPr>
              <a:t>fg</a:t>
            </a:r>
            <a:r>
              <a:rPr lang="en-US" altLang="en-US" sz="1800" b="0"/>
              <a:t> $[PID: 3354611] </a:t>
            </a:r>
            <a:r>
              <a:rPr lang="zh-CN" altLang="en-US" sz="1800" b="0"/>
              <a:t>剩余</a:t>
            </a:r>
            <a:r>
              <a:rPr lang="en-US" altLang="en-US" sz="1800" b="0"/>
              <a:t> 30 </a:t>
            </a:r>
            <a:r>
              <a:rPr lang="zh-CN" altLang="en-US" sz="1800" b="0"/>
              <a:t>秒</a:t>
            </a:r>
            <a:endParaRPr lang="zh-CN" altLang="en-US" sz="1800" b="0"/>
          </a:p>
          <a:p>
            <a:r>
              <a:rPr lang="en-US" altLang="en-US" sz="1800" b="0"/>
              <a:t>-bash: fg: fg: no such job </a:t>
            </a:r>
            <a:r>
              <a:rPr lang="en-US" altLang="en-US" sz="1800">
                <a:solidFill>
                  <a:srgbClr val="00B050"/>
                </a:solidFill>
                <a:latin typeface="Arial Narrow Bold" panose="020B0706020202030204" charset="0"/>
                <a:cs typeface="Arial Narrow Bold" panose="020B0706020202030204" charset="0"/>
                <a:sym typeface="+mn-ea"/>
              </a:rPr>
              <a:t>// </a:t>
            </a:r>
            <a:r>
              <a:rPr lang="zh-CN" altLang="en-US" sz="1800" b="0">
                <a:solidFill>
                  <a:srgbClr val="00B050"/>
                </a:solidFill>
                <a:latin typeface="Arial Narrow Bold" panose="020B0706020202030204" charset="0"/>
                <a:cs typeface="Arial Narrow Bold" panose="020B0706020202030204" charset="0"/>
                <a:sym typeface="+mn-ea"/>
              </a:rPr>
              <a:t>前</a:t>
            </a:r>
            <a:r>
              <a:rPr lang="en-US" altLang="zh-CN" sz="1800" b="0">
                <a:solidFill>
                  <a:srgbClr val="00B050"/>
                </a:solidFill>
                <a:latin typeface="Arial Narrow Bold" panose="020B0706020202030204" charset="0"/>
                <a:cs typeface="Arial Narrow Bold" panose="020B0706020202030204" charset="0"/>
                <a:sym typeface="+mn-ea"/>
              </a:rPr>
              <a:t>2</a:t>
            </a:r>
            <a:r>
              <a:rPr lang="zh-CN" altLang="en-US" sz="1800" b="0">
                <a:solidFill>
                  <a:srgbClr val="00B050"/>
                </a:solidFill>
                <a:latin typeface="Arial Narrow Bold" panose="020B0706020202030204" charset="0"/>
                <a:cs typeface="Arial Narrow Bold" panose="020B0706020202030204" charset="0"/>
                <a:sym typeface="+mn-ea"/>
              </a:rPr>
              <a:t>次输入被后台输出干扰</a:t>
            </a:r>
            <a:endParaRPr lang="en-US" altLang="en-US" sz="1800" b="0"/>
          </a:p>
          <a:p>
            <a:r>
              <a:rPr lang="en-US" altLang="en-US" sz="1800" b="0"/>
              <a:t>$ [PID: 3354642] </a:t>
            </a:r>
            <a:r>
              <a:rPr lang="zh-CN" altLang="en-US" sz="1800" b="0"/>
              <a:t>剩余</a:t>
            </a:r>
            <a:r>
              <a:rPr lang="en-US" altLang="en-US" sz="1800" b="0"/>
              <a:t> 20 </a:t>
            </a:r>
            <a:r>
              <a:rPr lang="zh-CN" altLang="en-US" sz="1800" b="0"/>
              <a:t>秒</a:t>
            </a:r>
            <a:endParaRPr lang="zh-CN" altLang="en-US" sz="1800" b="0"/>
          </a:p>
          <a:p>
            <a:r>
              <a:rPr lang="en-US" altLang="en-US" sz="1800">
                <a:latin typeface="Arial Narrow Bold" panose="020B0706020202030204" charset="0"/>
                <a:cs typeface="Arial Narrow Bold" panose="020B0706020202030204" charset="0"/>
              </a:rPr>
              <a:t>fg %1		    </a:t>
            </a:r>
            <a:r>
              <a:rPr lang="en-US" altLang="en-US" sz="1800">
                <a:solidFill>
                  <a:srgbClr val="00B050"/>
                </a:solidFill>
                <a:latin typeface="Arial Narrow Bold" panose="020B0706020202030204" charset="0"/>
                <a:cs typeface="Arial Narrow Bold" panose="020B0706020202030204" charset="0"/>
              </a:rPr>
              <a:t> // </a:t>
            </a:r>
            <a:r>
              <a:rPr lang="zh-CN" altLang="en-US" sz="1800">
                <a:solidFill>
                  <a:srgbClr val="00B050"/>
                </a:solidFill>
                <a:latin typeface="Arial Narrow Bold" panose="020B0706020202030204" charset="0"/>
                <a:cs typeface="Arial Narrow Bold" panose="020B0706020202030204" charset="0"/>
              </a:rPr>
              <a:t>抢占到输入</a:t>
            </a:r>
            <a:r>
              <a:rPr lang="en-US" altLang="zh-CN" sz="1800">
                <a:solidFill>
                  <a:srgbClr val="00B050"/>
                </a:solidFill>
                <a:latin typeface="Arial Narrow Bold" panose="020B0706020202030204" charset="0"/>
                <a:cs typeface="Arial Narrow Bold" panose="020B0706020202030204" charset="0"/>
              </a:rPr>
              <a:t>，</a:t>
            </a:r>
            <a:r>
              <a:rPr lang="zh-CN" altLang="en-US" sz="1800">
                <a:solidFill>
                  <a:srgbClr val="00B050"/>
                </a:solidFill>
                <a:latin typeface="Arial Narrow Bold" panose="020B0706020202030204" charset="0"/>
                <a:cs typeface="Arial Narrow Bold" panose="020B0706020202030204" charset="0"/>
              </a:rPr>
              <a:t>成功</a:t>
            </a:r>
            <a:r>
              <a:rPr lang="en-US" altLang="zh-CN" sz="1800">
                <a:solidFill>
                  <a:srgbClr val="00B050"/>
                </a:solidFill>
                <a:latin typeface="Arial Narrow Bold" panose="020B0706020202030204" charset="0"/>
                <a:cs typeface="Arial Narrow Bold" panose="020B0706020202030204" charset="0"/>
              </a:rPr>
              <a:t>, 60</a:t>
            </a:r>
            <a:r>
              <a:rPr lang="zh-CN" altLang="en-US" sz="1800">
                <a:solidFill>
                  <a:srgbClr val="00B050"/>
                </a:solidFill>
                <a:latin typeface="Arial Narrow Bold" panose="020B0706020202030204" charset="0"/>
                <a:cs typeface="Arial Narrow Bold" panose="020B0706020202030204" charset="0"/>
              </a:rPr>
              <a:t>进程前台</a:t>
            </a:r>
            <a:endParaRPr lang="en-US" altLang="en-US" sz="1800">
              <a:latin typeface="Arial Narrow Bold" panose="020B0706020202030204" charset="0"/>
              <a:cs typeface="Arial Narrow Bold" panose="020B0706020202030204" charset="0"/>
            </a:endParaRPr>
          </a:p>
          <a:p>
            <a:r>
              <a:rPr lang="en-US" altLang="en-US" sz="1800" b="0"/>
              <a:t>./delay60 60</a:t>
            </a:r>
            <a:endParaRPr lang="en-US" altLang="en-US" sz="1800" b="0"/>
          </a:p>
          <a:p>
            <a:r>
              <a:rPr lang="en-US" altLang="en-US" sz="1800" b="0"/>
              <a:t>[PID: 3354611] </a:t>
            </a:r>
            <a:r>
              <a:rPr lang="zh-CN" altLang="en-US" sz="1800" b="0"/>
              <a:t>剩余</a:t>
            </a:r>
            <a:r>
              <a:rPr lang="en-US" altLang="en-US" sz="1800" b="0"/>
              <a:t> 20 </a:t>
            </a:r>
            <a:r>
              <a:rPr lang="zh-CN" altLang="en-US" sz="1800" b="0"/>
              <a:t>秒</a:t>
            </a:r>
            <a:endParaRPr lang="zh-CN" altLang="en-US" sz="1800" b="0"/>
          </a:p>
          <a:p>
            <a:r>
              <a:rPr lang="en-US" altLang="en-US" sz="1800" b="0"/>
              <a:t>[PID: 3354642] </a:t>
            </a:r>
            <a:r>
              <a:rPr lang="zh-CN" altLang="en-US" sz="1800" b="0"/>
              <a:t>剩余</a:t>
            </a:r>
            <a:r>
              <a:rPr lang="en-US" altLang="en-US" sz="1800" b="0"/>
              <a:t> 10 </a:t>
            </a:r>
            <a:r>
              <a:rPr lang="zh-CN" altLang="en-US" sz="1800" b="0"/>
              <a:t>秒</a:t>
            </a:r>
            <a:endParaRPr lang="zh-CN" altLang="en-US" sz="1800" b="0"/>
          </a:p>
          <a:p>
            <a:r>
              <a:rPr lang="en-US" altLang="en-US" sz="1800" b="0"/>
              <a:t>[PID: 3354611] </a:t>
            </a:r>
            <a:r>
              <a:rPr lang="zh-CN" altLang="en-US" sz="1800" b="0"/>
              <a:t>剩余</a:t>
            </a:r>
            <a:r>
              <a:rPr lang="en-US" altLang="en-US" sz="1800" b="0"/>
              <a:t> 10 </a:t>
            </a:r>
            <a:r>
              <a:rPr lang="zh-CN" altLang="en-US" sz="1800" b="0"/>
              <a:t>秒</a:t>
            </a:r>
            <a:endParaRPr lang="zh-CN" altLang="en-US" sz="1800" b="0"/>
          </a:p>
          <a:p>
            <a:r>
              <a:rPr lang="en-US" altLang="en-US" sz="1800" b="0"/>
              <a:t>[PID: 3354642] </a:t>
            </a:r>
            <a:r>
              <a:rPr lang="zh-CN" altLang="en-US" sz="1800" b="0"/>
              <a:t>剩余</a:t>
            </a:r>
            <a:r>
              <a:rPr lang="en-US" altLang="en-US" sz="1800" b="0"/>
              <a:t> 0 </a:t>
            </a:r>
            <a:r>
              <a:rPr lang="zh-CN" altLang="en-US" sz="1800" b="0"/>
              <a:t>秒，倒计时结束。</a:t>
            </a:r>
            <a:endParaRPr lang="zh-CN" altLang="en-US" sz="1800" b="0"/>
          </a:p>
          <a:p>
            <a:endParaRPr lang="en-US" altLang="en-US" sz="1800" b="0"/>
          </a:p>
          <a:p>
            <a:r>
              <a:rPr lang="en-US" altLang="en-US" sz="1800" b="0"/>
              <a:t>50 </a:t>
            </a:r>
            <a:r>
              <a:rPr lang="zh-CN" altLang="en-US" sz="1800" b="0"/>
              <a:t>秒时间到，程序退出。</a:t>
            </a:r>
            <a:endParaRPr lang="zh-CN" altLang="en-US" sz="1800" b="0"/>
          </a:p>
          <a:p>
            <a:r>
              <a:rPr lang="en-US" altLang="en-US" sz="1800" b="0"/>
              <a:t>[PID: 3354611] </a:t>
            </a:r>
            <a:r>
              <a:rPr lang="zh-CN" altLang="en-US" sz="1800" b="0"/>
              <a:t>剩余</a:t>
            </a:r>
            <a:r>
              <a:rPr lang="en-US" altLang="en-US" sz="1800" b="0"/>
              <a:t> 0 </a:t>
            </a:r>
            <a:r>
              <a:rPr lang="zh-CN" altLang="en-US" sz="1800" b="0"/>
              <a:t>秒，倒计时结束。</a:t>
            </a:r>
            <a:endParaRPr lang="zh-CN" altLang="en-US" sz="1800" b="0"/>
          </a:p>
          <a:p>
            <a:endParaRPr lang="en-US" altLang="en-US" sz="1800" b="0"/>
          </a:p>
          <a:p>
            <a:r>
              <a:rPr lang="en-US" altLang="en-US" sz="1800" b="0"/>
              <a:t>60 </a:t>
            </a:r>
            <a:r>
              <a:rPr lang="zh-CN" altLang="en-US" sz="1800" b="0"/>
              <a:t>秒时间到，程序退出。</a:t>
            </a:r>
            <a:endParaRPr lang="zh-CN" altLang="en-US" sz="1800" b="0"/>
          </a:p>
          <a:p>
            <a:r>
              <a:rPr lang="en-US" altLang="en-US" sz="1800" b="0"/>
              <a:t>[2]   Done                    ./delay50 50</a:t>
            </a:r>
            <a:endParaRPr lang="en-US" altLang="en-US" sz="1800" b="0"/>
          </a:p>
          <a:p>
            <a:r>
              <a:rPr lang="en-US" altLang="en-US" sz="1800" b="0"/>
              <a:t>$ 	// </a:t>
            </a:r>
            <a:r>
              <a:rPr lang="zh-CN" altLang="en-US" sz="1800" b="0">
                <a:solidFill>
                  <a:srgbClr val="00B050"/>
                </a:solidFill>
              </a:rPr>
              <a:t>前台进程结束后</a:t>
            </a:r>
            <a:r>
              <a:rPr lang="en-US" altLang="zh-CN" sz="1800" b="0">
                <a:solidFill>
                  <a:srgbClr val="00B050"/>
                </a:solidFill>
              </a:rPr>
              <a:t>，</a:t>
            </a:r>
            <a:r>
              <a:rPr lang="zh-CN" altLang="en-US" sz="1800" b="0">
                <a:solidFill>
                  <a:srgbClr val="00B050"/>
                </a:solidFill>
              </a:rPr>
              <a:t>提示符恢复可输入状态</a:t>
            </a:r>
            <a:endParaRPr lang="en-US" altLang="en-US" sz="1800" b="0">
              <a:solidFill>
                <a:srgbClr val="00B050"/>
              </a:solidFill>
            </a:endParaRPr>
          </a:p>
          <a:p>
            <a:endParaRPr lang="en-US" altLang="en-US" sz="1800" b="0">
              <a:solidFill>
                <a:srgbClr val="00B05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前台进程与后台进程</a:t>
            </a:r>
            <a:endParaRPr lang="zh-CN" altLang="en-US"/>
          </a:p>
        </p:txBody>
      </p:sp>
      <p:sp>
        <p:nvSpPr>
          <p:cNvPr id="3" name="Content Placeholder 2"/>
          <p:cNvSpPr>
            <a:spLocks noGrp="1"/>
          </p:cNvSpPr>
          <p:nvPr>
            <p:ph idx="1"/>
          </p:nvPr>
        </p:nvSpPr>
        <p:spPr/>
        <p:txBody>
          <a:bodyPr/>
          <a:p>
            <a:pPr lvl="0"/>
            <a:r>
              <a:rPr lang="zh-CN" altLang="en-US" b="1">
                <a:sym typeface="+mn-ea"/>
              </a:rPr>
              <a:t>后台进程的输入输出</a:t>
            </a:r>
            <a:endParaRPr lang="zh-CN" altLang="en-US" b="1">
              <a:sym typeface="+mn-ea"/>
            </a:endParaRPr>
          </a:p>
          <a:p>
            <a:pPr lvl="1"/>
            <a:r>
              <a:rPr lang="zh-CN" altLang="en-US">
                <a:sym typeface="+mn-ea"/>
              </a:rPr>
              <a:t>一种处理机制是标准输入</a:t>
            </a:r>
            <a:r>
              <a:rPr lang="en-US" altLang="zh-CN">
                <a:sym typeface="+mn-ea"/>
              </a:rPr>
              <a:t>、</a:t>
            </a:r>
            <a:r>
              <a:rPr lang="zh-CN" altLang="en-US">
                <a:sym typeface="+mn-ea"/>
              </a:rPr>
              <a:t>标准输出</a:t>
            </a:r>
            <a:r>
              <a:rPr lang="en-US" altLang="zh-CN">
                <a:sym typeface="+mn-ea"/>
              </a:rPr>
              <a:t>、</a:t>
            </a:r>
            <a:r>
              <a:rPr lang="zh-CN" altLang="en-US">
                <a:sym typeface="+mn-ea"/>
              </a:rPr>
              <a:t>标准错误的重定向</a:t>
            </a:r>
            <a:endParaRPr lang="zh-CN" altLang="en-US"/>
          </a:p>
          <a:p>
            <a:pPr lvl="2"/>
            <a:r>
              <a:rPr lang="en-US" altLang="zh-CN">
                <a:sym typeface="+mn-ea"/>
              </a:rPr>
              <a:t># 0&gt; input.txt</a:t>
            </a:r>
            <a:endParaRPr lang="en-US" altLang="zh-CN"/>
          </a:p>
          <a:p>
            <a:pPr lvl="2"/>
            <a:r>
              <a:rPr lang="en-US" altLang="zh-CN">
                <a:sym typeface="+mn-ea"/>
              </a:rPr>
              <a:t># 1&gt; output.txt</a:t>
            </a:r>
            <a:endParaRPr lang="en-US" altLang="zh-CN"/>
          </a:p>
          <a:p>
            <a:pPr lvl="2"/>
            <a:r>
              <a:rPr lang="en-US" altLang="zh-CN">
                <a:sym typeface="+mn-ea"/>
              </a:rPr>
              <a:t># 2&gt; error.txt</a:t>
            </a:r>
            <a:endParaRPr lang="en-US" altLang="zh-CN">
              <a:sym typeface="+mn-ea"/>
            </a:endParaRPr>
          </a:p>
          <a:p>
            <a:pPr lvl="2"/>
            <a:r>
              <a:rPr lang="en-US" altLang="zh-CN">
                <a:sym typeface="+mn-ea"/>
              </a:rPr>
              <a:t># a.out &lt; input.txt &gt; output.txt &amp;</a:t>
            </a:r>
            <a:endParaRPr lang="zh-CN" altLang="en-US" b="1">
              <a:sym typeface="+mn-ea"/>
            </a:endParaRPr>
          </a:p>
          <a:p>
            <a:pPr lvl="0"/>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简单的</a:t>
            </a:r>
            <a:r>
              <a:rPr lang="en-US" altLang="zh-CN"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Shell </a:t>
            </a:r>
            <a:r>
              <a:rPr lang="zh-CN" altLang="en-US" dirty="0"/>
              <a:t>实现</a:t>
            </a:r>
            <a:endParaRPr lang="zh-CN" altLang="en-US" dirty="0"/>
          </a:p>
        </p:txBody>
      </p:sp>
      <p:sp>
        <p:nvSpPr>
          <p:cNvPr id="3" name="Content Placeholder 2"/>
          <p:cNvSpPr>
            <a:spLocks noGrp="1"/>
          </p:cNvSpPr>
          <p:nvPr>
            <p:ph idx="1"/>
          </p:nvPr>
        </p:nvSpPr>
        <p:spPr/>
        <p:txBody>
          <a:bodyPr/>
          <a:lstStyle/>
          <a:p>
            <a:r>
              <a:rPr lang="zh-CN" altLang="en-US" sz="2800" dirty="0"/>
              <a:t>基本循环</a:t>
            </a:r>
            <a:endParaRPr lang="en-US" sz="2800" dirty="0"/>
          </a:p>
          <a:p>
            <a:pPr lvl="1"/>
            <a:r>
              <a:rPr lang="en-US" altLang="zh-CN" b="1" dirty="0"/>
              <a:t>read</a:t>
            </a:r>
            <a:r>
              <a:rPr lang="zh-CN" altLang="en-US" dirty="0"/>
              <a:t>：从命令行</a:t>
            </a:r>
            <a:r>
              <a:rPr lang="zh-CN" altLang="en-US" b="1" dirty="0"/>
              <a:t>读取</a:t>
            </a:r>
            <a:r>
              <a:rPr lang="zh-CN" altLang="en-US" dirty="0"/>
              <a:t>一行输入</a:t>
            </a:r>
            <a:endParaRPr lang="zh-CN" altLang="en-US" dirty="0"/>
          </a:p>
          <a:p>
            <a:pPr lvl="1"/>
            <a:r>
              <a:rPr lang="en-US" altLang="zh-CN" b="1" dirty="0"/>
              <a:t>eval：</a:t>
            </a:r>
            <a:r>
              <a:rPr lang="zh-CN" altLang="en-US" b="1" dirty="0"/>
              <a:t>执行</a:t>
            </a:r>
            <a:r>
              <a:rPr lang="zh-CN" altLang="en-US" dirty="0"/>
              <a:t>请求的操作</a:t>
            </a:r>
            <a:r>
              <a:rPr lang="en-US" altLang="zh-CN" dirty="0"/>
              <a:t>，</a:t>
            </a:r>
            <a:r>
              <a:rPr lang="zh-CN" altLang="en-US" dirty="0"/>
              <a:t>并</a:t>
            </a:r>
            <a:r>
              <a:rPr lang="en-US" altLang="zh-CN" b="1" dirty="0"/>
              <a:t>print</a:t>
            </a:r>
            <a:r>
              <a:rPr lang="zh-CN" altLang="en-US" dirty="0"/>
              <a:t>输出</a:t>
            </a:r>
            <a:endParaRPr lang="zh-CN" altLang="en-US" dirty="0"/>
          </a:p>
          <a:p>
            <a:pPr lvl="2"/>
            <a:r>
              <a:rPr lang="zh-CN" altLang="en-US" dirty="0"/>
              <a:t>内置命令（目前只实现了</a:t>
            </a:r>
            <a:r>
              <a:rPr lang="en-US" dirty="0"/>
              <a:t> </a:t>
            </a:r>
            <a:r>
              <a:rPr lang="en-US" dirty="0">
                <a:latin typeface="Courier New" panose="02070609020205020404"/>
                <a:cs typeface="Courier New" panose="02070609020205020404"/>
              </a:rPr>
              <a:t>quit</a:t>
            </a:r>
            <a:r>
              <a:rPr lang="zh-CN" altLang="en-US" b="1" dirty="0">
                <a:latin typeface="Courier New" panose="02070609020205020404"/>
                <a:cs typeface="Courier New" panose="02070609020205020404"/>
              </a:rPr>
              <a:t>）</a:t>
            </a:r>
            <a:endParaRPr lang="en-US" dirty="0"/>
          </a:p>
          <a:p>
            <a:pPr lvl="2"/>
            <a:r>
              <a:rPr lang="zh-CN" altLang="en-US" dirty="0"/>
              <a:t>或者</a:t>
            </a:r>
            <a:r>
              <a:rPr lang="en-US" altLang="zh-CN" dirty="0"/>
              <a:t>，</a:t>
            </a:r>
            <a:r>
              <a:rPr lang="zh-CN" altLang="en-US" dirty="0"/>
              <a:t>从文件加载并执行程序</a:t>
            </a:r>
            <a:endParaRPr lang="zh-CN" altLang="en-US" dirty="0"/>
          </a:p>
          <a:p>
            <a:pPr lvl="1"/>
            <a:r>
              <a:rPr lang="en-US" altLang="zh-CN" dirty="0"/>
              <a:t>loop：</a:t>
            </a:r>
            <a:r>
              <a:rPr lang="zh-CN" altLang="en-US" dirty="0"/>
              <a:t>重复上述</a:t>
            </a:r>
            <a:r>
              <a:rPr lang="zh-CN" altLang="en-US" dirty="0"/>
              <a:t>过程</a:t>
            </a:r>
            <a:endParaRPr lang="zh-CN" altLang="en-US" dirty="0"/>
          </a:p>
          <a:p>
            <a:pPr lvl="1"/>
            <a:endParaRPr lang="zh-CN" altLang="en-US" dirty="0"/>
          </a:p>
        </p:txBody>
      </p:sp>
      <p:sp>
        <p:nvSpPr>
          <p:cNvPr id="4" name="Text Box 4"/>
          <p:cNvSpPr txBox="1">
            <a:spLocks noChangeArrowheads="1"/>
          </p:cNvSpPr>
          <p:nvPr/>
        </p:nvSpPr>
        <p:spPr bwMode="auto">
          <a:xfrm>
            <a:off x="6172200" y="2133600"/>
            <a:ext cx="5726798" cy="34290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10000"/>
          </a:bodyPr>
          <a:lstStyle/>
          <a:p>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a:solidFill>
                  <a:srgbClr val="4A00FF"/>
                </a:solidFill>
                <a:latin typeface="Menlo-Regular" panose="020B0609030804020204"/>
              </a:rPr>
              <a:t>main</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command line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while</a:t>
            </a:r>
            <a:r>
              <a:rPr lang="en-US" sz="1600" dirty="0">
                <a:solidFill>
                  <a:srgbClr val="000000"/>
                </a:solidFill>
                <a:latin typeface="Menlo-Regular" panose="020B0609030804020204"/>
              </a:rPr>
              <a:t> (1)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read */</a:t>
            </a:r>
            <a:endParaRPr lang="en-US" sz="1600" dirty="0">
              <a:solidFill>
                <a:srgbClr val="000000"/>
              </a:solidFill>
              <a:latin typeface="Menlo-Regular" panose="020B0609030804020204"/>
            </a:endParaRPr>
          </a:p>
          <a:p>
            <a:r>
              <a:rPr lang="ro-RO" sz="1600" dirty="0">
                <a:solidFill>
                  <a:srgbClr val="000000"/>
                </a:solidFill>
                <a:latin typeface="Menlo-Regular" panose="020B0609030804020204"/>
              </a:rPr>
              <a:t>        printf(</a:t>
            </a:r>
            <a:r>
              <a:rPr lang="ro-RO" sz="1600" dirty="0">
                <a:solidFill>
                  <a:srgbClr val="9D206F"/>
                </a:solidFill>
                <a:latin typeface="Menlo-Regular" panose="020B0609030804020204"/>
              </a:rPr>
              <a:t>"&gt; "</a:t>
            </a:r>
            <a:r>
              <a:rPr lang="ro-RO" sz="1600" dirty="0">
                <a:solidFill>
                  <a:srgbClr val="000000"/>
                </a:solidFill>
                <a:latin typeface="Menlo-Regular" panose="020B0609030804020204"/>
              </a:rPr>
              <a:t>);</a:t>
            </a:r>
            <a:endParaRPr lang="ro-RO" sz="1600" dirty="0">
              <a:solidFill>
                <a:srgbClr val="000000"/>
              </a:solidFill>
              <a:latin typeface="Menlo-Regular" panose="020B0609030804020204"/>
            </a:endParaRPr>
          </a:p>
          <a:p>
            <a:r>
              <a:rPr lang="ro-RO" sz="1600" dirty="0">
                <a:solidFill>
                  <a:srgbClr val="000000"/>
                </a:solidFill>
                <a:latin typeface="Menlo-Regular" panose="020B0609030804020204"/>
              </a:rPr>
              <a:t>        Fgets(cmdline, MAXLINE, stdin);</a:t>
            </a:r>
            <a:endParaRPr lang="ro-RO"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feof</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stdin</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ro-RO" sz="1600" dirty="0">
                <a:solidFill>
                  <a:srgbClr val="000000"/>
                </a:solidFill>
                <a:latin typeface="Menlo-Regular" panose="020B0609030804020204"/>
              </a:rPr>
              <a:t>        </a:t>
            </a:r>
            <a:r>
              <a:rPr lang="ro-RO" sz="1600" dirty="0">
                <a:solidFill>
                  <a:srgbClr val="CB2418"/>
                </a:solidFill>
                <a:latin typeface="Menlo-Regular" panose="020B0609030804020204"/>
              </a:rPr>
              <a:t>/* evaluate */</a:t>
            </a:r>
            <a:endParaRPr lang="ro-RO" sz="1600" dirty="0">
              <a:solidFill>
                <a:srgbClr val="000000"/>
              </a:solidFill>
              <a:latin typeface="Menlo-Regular" panose="020B0609030804020204"/>
            </a:endParaRPr>
          </a:p>
          <a:p>
            <a:r>
              <a:rPr lang="sv-SE" sz="1600" dirty="0">
                <a:solidFill>
                  <a:srgbClr val="000000"/>
                </a:solidFill>
                <a:latin typeface="Menlo-Regular" panose="020B0609030804020204"/>
              </a:rPr>
              <a:t>        </a:t>
            </a:r>
            <a:r>
              <a:rPr lang="sv-SE" sz="1600" dirty="0" err="1">
                <a:solidFill>
                  <a:srgbClr val="000000"/>
                </a:solidFill>
                <a:latin typeface="Menlo-Regular" panose="020B0609030804020204"/>
              </a:rPr>
              <a:t>eval</a:t>
            </a:r>
            <a:r>
              <a:rPr lang="sv-SE" sz="1600" dirty="0">
                <a:solidFill>
                  <a:srgbClr val="000000"/>
                </a:solidFill>
                <a:latin typeface="Menlo-Regular" panose="020B0609030804020204"/>
              </a:rPr>
              <a:t>(</a:t>
            </a:r>
            <a:r>
              <a:rPr lang="sv-SE" sz="1600" dirty="0" err="1">
                <a:solidFill>
                  <a:srgbClr val="000000"/>
                </a:solidFill>
                <a:latin typeface="Menlo-Regular" panose="020B0609030804020204"/>
              </a:rPr>
              <a:t>cmdline</a:t>
            </a:r>
            <a:r>
              <a:rPr lang="sv-SE" sz="1600" dirty="0">
                <a:solidFill>
                  <a:srgbClr val="000000"/>
                </a:solidFill>
                <a:latin typeface="Menlo-Regular" panose="020B0609030804020204"/>
              </a:rPr>
              <a:t>);</a:t>
            </a:r>
            <a:endParaRPr lang="sv-SE" sz="1600" dirty="0">
              <a:solidFill>
                <a:srgbClr val="000000"/>
              </a:solidFill>
              <a:latin typeface="Menlo-Regular" panose="020B0609030804020204"/>
            </a:endParaRPr>
          </a:p>
          <a:p>
            <a:r>
              <a:rPr lang="sv-SE" sz="1600" dirty="0">
                <a:solidFill>
                  <a:srgbClr val="000000"/>
                </a:solidFill>
                <a:latin typeface="Menlo-Regular" panose="020B0609030804020204"/>
              </a:rPr>
              <a:t>    }</a:t>
            </a:r>
            <a:endParaRPr lang="sv-SE" sz="1600" dirty="0">
              <a:solidFill>
                <a:srgbClr val="000000"/>
              </a:solidFill>
              <a:latin typeface="Menlo-Regular" panose="020B0609030804020204"/>
            </a:endParaRPr>
          </a:p>
          <a:p>
            <a:r>
              <a:rPr lang="sv-SE" sz="1600" dirty="0">
                <a:solidFill>
                  <a:srgbClr val="000000"/>
                </a:solidFill>
                <a:latin typeface="Menlo-Regular" panose="020B0609030804020204"/>
              </a:rPr>
              <a:t>}</a:t>
            </a:r>
            <a:endParaRPr lang="en-US" sz="1600" dirty="0">
              <a:latin typeface="Courier New" panose="02070609020205020404" charset="0"/>
            </a:endParaRPr>
          </a:p>
        </p:txBody>
      </p:sp>
      <p:sp>
        <p:nvSpPr>
          <p:cNvPr id="8" name="Rectangle 3"/>
          <p:cNvSpPr>
            <a:spLocks noChangeArrowheads="1"/>
          </p:cNvSpPr>
          <p:nvPr/>
        </p:nvSpPr>
        <p:spPr bwMode="auto">
          <a:xfrm>
            <a:off x="10171716" y="5225112"/>
            <a:ext cx="1422482"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sp>
        <p:nvSpPr>
          <p:cNvPr id="7" name="Text Box 6"/>
          <p:cNvSpPr txBox="1"/>
          <p:nvPr/>
        </p:nvSpPr>
        <p:spPr>
          <a:xfrm>
            <a:off x="476250" y="4191000"/>
            <a:ext cx="5795010" cy="1835150"/>
          </a:xfrm>
          <a:prstGeom prst="rect">
            <a:avLst/>
          </a:prstGeom>
        </p:spPr>
        <p:txBody>
          <a:bodyPr wrap="square">
            <a:spAutoFit/>
          </a:bodyPr>
          <a:p>
            <a:pPr marL="0" indent="0">
              <a:spcBef>
                <a:spcPts val="1600"/>
              </a:spcBef>
              <a:spcAft>
                <a:spcPts val="1600"/>
              </a:spcAft>
            </a:pPr>
            <a:r>
              <a:rPr sz="2000" b="0" i="0">
                <a:solidFill>
                  <a:srgbClr val="0F1115"/>
                </a:solidFill>
                <a:latin typeface="quote-cjk-patch"/>
                <a:ea typeface="quote-cjk-patch"/>
              </a:rPr>
              <a:t>模式是经典的 REPL（Read-Eval-Print Loop）：</a:t>
            </a:r>
            <a:endParaRPr sz="2000" b="0" i="0">
              <a:solidFill>
                <a:srgbClr val="0F1115"/>
              </a:solidFill>
              <a:latin typeface="quote-cjk-patch"/>
              <a:ea typeface="quote-cjk-patch"/>
            </a:endParaRPr>
          </a:p>
          <a:p>
            <a:pPr marL="0" indent="0">
              <a:spcBef>
                <a:spcPct val="0"/>
              </a:spcBef>
              <a:spcAft>
                <a:spcPct val="0"/>
              </a:spcAft>
              <a:buFont typeface="Arial" panose="020B0704020202020204"/>
              <a:buChar char="•"/>
            </a:pPr>
            <a:r>
              <a:rPr sz="2000" b="0" i="0">
                <a:solidFill>
                  <a:srgbClr val="0F1115"/>
                </a:solidFill>
                <a:latin typeface="quote-cjk-patch"/>
                <a:ea typeface="quote-cjk-patch"/>
              </a:rPr>
              <a:t>R</a:t>
            </a:r>
            <a:r>
              <a:rPr sz="2000" b="0" i="0">
                <a:solidFill>
                  <a:srgbClr val="0F1115"/>
                </a:solidFill>
                <a:latin typeface="quote-cjk-patch"/>
                <a:ea typeface="quote-cjk-patch"/>
              </a:rPr>
              <a:t>ead：读取命令</a:t>
            </a:r>
            <a:endParaRPr sz="2000" b="0" i="0">
              <a:solidFill>
                <a:srgbClr val="0F1115"/>
              </a:solidFill>
              <a:latin typeface="quote-cjk-patch"/>
              <a:ea typeface="quote-cjk-patch"/>
            </a:endParaRPr>
          </a:p>
          <a:p>
            <a:pPr marL="0" indent="0">
              <a:spcBef>
                <a:spcPct val="0"/>
              </a:spcBef>
              <a:spcAft>
                <a:spcPct val="0"/>
              </a:spcAft>
              <a:buFont typeface="Arial" panose="020B0704020202020204"/>
              <a:buChar char="•"/>
            </a:pPr>
            <a:r>
              <a:rPr sz="2000" b="0" i="0">
                <a:solidFill>
                  <a:srgbClr val="0F1115"/>
                </a:solidFill>
                <a:latin typeface="quote-cjk-patch"/>
                <a:ea typeface="quote-cjk-patch"/>
              </a:rPr>
              <a:t>E</a:t>
            </a:r>
            <a:r>
              <a:rPr sz="2000" b="0" i="0">
                <a:solidFill>
                  <a:srgbClr val="0F1115"/>
                </a:solidFill>
                <a:latin typeface="quote-cjk-patch"/>
                <a:ea typeface="quote-cjk-patch"/>
              </a:rPr>
              <a:t>val：执行命令</a:t>
            </a:r>
            <a:endParaRPr sz="2000" b="0" i="0">
              <a:solidFill>
                <a:srgbClr val="0F1115"/>
              </a:solidFill>
              <a:latin typeface="quote-cjk-patch"/>
              <a:ea typeface="quote-cjk-patch"/>
            </a:endParaRPr>
          </a:p>
          <a:p>
            <a:pPr marL="0" indent="0">
              <a:spcBef>
                <a:spcPct val="0"/>
              </a:spcBef>
              <a:spcAft>
                <a:spcPct val="0"/>
              </a:spcAft>
              <a:buFont typeface="Arial" panose="020B0704020202020204"/>
              <a:buChar char="•"/>
            </a:pPr>
            <a:r>
              <a:rPr sz="2000" b="0" i="0">
                <a:solidFill>
                  <a:srgbClr val="0F1115"/>
                </a:solidFill>
                <a:latin typeface="quote-cjk-patch"/>
                <a:ea typeface="quote-cjk-patch"/>
              </a:rPr>
              <a:t>P</a:t>
            </a:r>
            <a:r>
              <a:rPr sz="2000" b="0" i="0">
                <a:solidFill>
                  <a:srgbClr val="0F1115"/>
                </a:solidFill>
                <a:latin typeface="quote-cjk-patch"/>
                <a:ea typeface="quote-cjk-patch"/>
              </a:rPr>
              <a:t>rint：打印结果（通常在 eval 内部完成）</a:t>
            </a:r>
            <a:endParaRPr sz="2000" b="0" i="0">
              <a:solidFill>
                <a:srgbClr val="0F1115"/>
              </a:solidFill>
              <a:latin typeface="quote-cjk-patch"/>
              <a:ea typeface="quote-cjk-patch"/>
            </a:endParaRPr>
          </a:p>
          <a:p>
            <a:pPr marL="0" indent="0">
              <a:spcBef>
                <a:spcPct val="0"/>
              </a:spcBef>
              <a:spcAft>
                <a:spcPct val="0"/>
              </a:spcAft>
              <a:buFont typeface="Arial" panose="020B0704020202020204"/>
              <a:buChar char="•"/>
            </a:pPr>
            <a:r>
              <a:rPr sz="2000" b="0" i="0">
                <a:solidFill>
                  <a:srgbClr val="0F1115"/>
                </a:solidFill>
                <a:latin typeface="quote-cjk-patch"/>
                <a:ea typeface="quote-cjk-patch"/>
              </a:rPr>
              <a:t>Loop：重复上述过程</a:t>
            </a:r>
            <a:endParaRPr sz="2000" b="0" i="0">
              <a:solidFill>
                <a:srgbClr val="0F1115"/>
              </a:solidFill>
              <a:latin typeface="quote-cjk-patch"/>
              <a:ea typeface="quote-cjk-patch"/>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dirty="0">
                <a:latin typeface="Consolas" panose="020B0609020204030204" pitchFamily="49" charset="0"/>
                <a:cs typeface="Consolas" panose="020B0609020204030204" pitchFamily="49" charset="0"/>
              </a:rPr>
              <a:t>简单的</a:t>
            </a:r>
            <a:r>
              <a:rPr lang="en-US" altLang="zh-CN"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Shell</a:t>
            </a:r>
            <a:r>
              <a:rPr lang="en-US" dirty="0">
                <a:latin typeface="Courier New" panose="02070609020205020404" charset="0"/>
                <a:cs typeface="Courier New" panose="02070609020205020404" charset="0"/>
              </a:rPr>
              <a:t> eval </a:t>
            </a:r>
            <a:r>
              <a:rPr lang="zh-CN" altLang="en-US" dirty="0">
                <a:latin typeface="Consolas" panose="020B0609020204030204" pitchFamily="49" charset="0"/>
                <a:cs typeface="Consolas" panose="020B0609020204030204" pitchFamily="49" charset="0"/>
              </a:rPr>
              <a:t>函数</a:t>
            </a:r>
            <a:endParaRPr lang="zh-CN" altLang="en-US" dirty="0">
              <a:latin typeface="Consolas" panose="020B0609020204030204" pitchFamily="49" charset="0"/>
              <a:cs typeface="Consolas" panose="020B0609020204030204" pitchFamily="49" charset="0"/>
            </a:endParaRPr>
          </a:p>
        </p:txBody>
      </p:sp>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sp>
        <p:nvSpPr>
          <p:cNvPr id="2" name="TextBox 1"/>
          <p:cNvSpPr txBox="1"/>
          <p:nvPr/>
        </p:nvSpPr>
        <p:spPr>
          <a:xfrm>
            <a:off x="7391400" y="2173069"/>
            <a:ext cx="4267200" cy="707886"/>
          </a:xfrm>
          <a:prstGeom prst="rect">
            <a:avLst/>
          </a:prstGeom>
          <a:solidFill>
            <a:srgbClr val="DEDFF5"/>
          </a:solidFill>
        </p:spPr>
        <p:txBody>
          <a:bodyPr wrap="square" rtlCol="0">
            <a:spAutoFit/>
          </a:bodyPr>
          <a:lstStyle/>
          <a:p>
            <a:r>
              <a:rPr lang="en-US" sz="2000" dirty="0" err="1">
                <a:latin typeface="FangSong" panose="02010609060101010101" pitchFamily="49" charset="-122"/>
                <a:ea typeface="FangSong" panose="02010609060101010101" pitchFamily="49" charset="-122"/>
                <a:cs typeface="Courier New" panose="02070609020205020404" charset="0"/>
              </a:rPr>
              <a:t>parseline</a:t>
            </a:r>
            <a:r>
              <a:rPr lang="en-US" sz="2000" dirty="0">
                <a:latin typeface="FangSong" panose="02010609060101010101" pitchFamily="49" charset="-122"/>
                <a:ea typeface="FangSong" panose="02010609060101010101" pitchFamily="49" charset="-122"/>
              </a:rPr>
              <a:t> </a:t>
            </a:r>
            <a:r>
              <a:rPr lang="zh-CN" altLang="en-US" sz="2000" b="0" dirty="0">
                <a:latin typeface="FangSong" panose="02010609060101010101" pitchFamily="49" charset="-122"/>
                <a:ea typeface="FangSong" panose="02010609060101010101" pitchFamily="49" charset="-122"/>
                <a:cs typeface="SimHei" panose="02010600030101010101" charset="-122"/>
              </a:rPr>
              <a:t>解析</a:t>
            </a:r>
            <a:r>
              <a:rPr lang="en-US" sz="2000" dirty="0">
                <a:latin typeface="FangSong" panose="02010609060101010101" pitchFamily="49" charset="-122"/>
                <a:ea typeface="FangSong" panose="02010609060101010101" pitchFamily="49" charset="-122"/>
                <a:cs typeface="Consolas" panose="020B0609020204030204" pitchFamily="49" charset="0"/>
              </a:rPr>
              <a:t>‘</a:t>
            </a:r>
            <a:r>
              <a:rPr lang="en-US" sz="2000" dirty="0" err="1">
                <a:latin typeface="FangSong" panose="02010609060101010101" pitchFamily="49" charset="-122"/>
                <a:ea typeface="FangSong" panose="02010609060101010101" pitchFamily="49" charset="-122"/>
                <a:cs typeface="Consolas" panose="020B0609020204030204" pitchFamily="49" charset="0"/>
              </a:rPr>
              <a:t>buf</a:t>
            </a:r>
            <a:r>
              <a:rPr lang="en-US" sz="2000" dirty="0">
                <a:latin typeface="FangSong" panose="02010609060101010101" pitchFamily="49" charset="-122"/>
                <a:ea typeface="FangSong" panose="02010609060101010101" pitchFamily="49" charset="-122"/>
                <a:cs typeface="Consolas" panose="020B0609020204030204" pitchFamily="49" charset="0"/>
              </a:rPr>
              <a:t>’</a:t>
            </a:r>
            <a:r>
              <a:rPr lang="zh-CN" altLang="en-US" sz="2000" b="0" dirty="0">
                <a:latin typeface="FangSong" panose="02010609060101010101" pitchFamily="49" charset="-122"/>
                <a:ea typeface="FangSong" panose="02010609060101010101" pitchFamily="49" charset="-122"/>
                <a:cs typeface="SimHei" panose="02010600030101010101" charset="-122"/>
              </a:rPr>
              <a:t>，放到</a:t>
            </a:r>
            <a:r>
              <a:rPr lang="en-US" sz="2000" dirty="0" err="1">
                <a:latin typeface="FangSong" panose="02010609060101010101" pitchFamily="49" charset="-122"/>
                <a:ea typeface="FangSong" panose="02010609060101010101" pitchFamily="49" charset="-122"/>
                <a:cs typeface="Consolas" panose="020B0609020204030204" pitchFamily="49" charset="0"/>
              </a:rPr>
              <a:t>argv中</a:t>
            </a:r>
            <a:r>
              <a:rPr lang="zh-CN" altLang="en-US" sz="2000" dirty="0">
                <a:latin typeface="FangSong" panose="02010609060101010101" pitchFamily="49" charset="-122"/>
                <a:ea typeface="FangSong" panose="02010609060101010101" pitchFamily="49" charset="-122"/>
                <a:cs typeface="Consolas" panose="020B0609020204030204" pitchFamily="49" charset="0"/>
              </a:rPr>
              <a:t>，</a:t>
            </a:r>
            <a:r>
              <a:rPr lang="zh-CN" altLang="en-US" sz="2000" b="0" dirty="0">
                <a:latin typeface="FangSong" panose="02010609060101010101" pitchFamily="49" charset="-122"/>
                <a:ea typeface="FangSong" panose="02010609060101010101" pitchFamily="49" charset="-122"/>
                <a:cs typeface="SimHei" panose="02010600030101010101" charset="-122"/>
              </a:rPr>
              <a:t>并返回输入行是否以</a:t>
            </a:r>
            <a:r>
              <a:rPr lang="en-US" sz="2000" dirty="0">
                <a:latin typeface="FangSong" panose="02010609060101010101" pitchFamily="49" charset="-122"/>
                <a:ea typeface="FangSong" panose="02010609060101010101" pitchFamily="49" charset="-122"/>
                <a:cs typeface="Consolas" panose="020B0609020204030204" pitchFamily="49" charset="0"/>
              </a:rPr>
              <a:t>‘&amp;’</a:t>
            </a:r>
            <a:r>
              <a:rPr lang="zh-CN" altLang="en-US" sz="2000" b="0" dirty="0">
                <a:latin typeface="FangSong" panose="02010609060101010101" pitchFamily="49" charset="-122"/>
                <a:ea typeface="FangSong" panose="02010609060101010101" pitchFamily="49" charset="-122"/>
                <a:cs typeface="SimHei" panose="02010600030101010101" charset="-122"/>
              </a:rPr>
              <a:t>结尾</a:t>
            </a:r>
            <a:endParaRPr lang="zh-CN" altLang="en-US" sz="2000" b="0" dirty="0">
              <a:latin typeface="FangSong" panose="02010609060101010101" pitchFamily="49" charset="-122"/>
              <a:ea typeface="FangSong" panose="02010609060101010101" pitchFamily="49" charset="-122"/>
              <a:cs typeface="SimHei" panose="02010600030101010101" charset="-122"/>
            </a:endParaRPr>
          </a:p>
        </p:txBody>
      </p:sp>
      <p:cxnSp>
        <p:nvCxnSpPr>
          <p:cNvPr id="3" name="Straight Arrow Connector 2"/>
          <p:cNvCxnSpPr>
            <a:stCxn id="2" idx="1"/>
          </p:cNvCxnSpPr>
          <p:nvPr/>
        </p:nvCxnSpPr>
        <p:spPr bwMode="auto">
          <a:xfrm flipH="1" flipV="1">
            <a:off x="5410200" y="2514600"/>
            <a:ext cx="1981200" cy="12412"/>
          </a:xfrm>
          <a:prstGeom prst="straightConnector1">
            <a:avLst/>
          </a:prstGeom>
          <a:noFill/>
          <a:ln w="25400" cap="flat" cmpd="sng" algn="ctr">
            <a:solidFill>
              <a:srgbClr val="00B050"/>
            </a:solidFill>
            <a:prstDash val="solid"/>
            <a:round/>
            <a:headEnd type="none" w="med" len="med"/>
            <a:tailEnd type="triangle"/>
          </a:ln>
          <a:effectLst/>
        </p:spPr>
      </p:cxnSp>
      <p:sp>
        <p:nvSpPr>
          <p:cNvPr id="7" name="Rectangle 6"/>
          <p:cNvSpPr/>
          <p:nvPr/>
        </p:nvSpPr>
        <p:spPr bwMode="auto">
          <a:xfrm>
            <a:off x="2286000" y="2209800"/>
            <a:ext cx="3124200" cy="381000"/>
          </a:xfrm>
          <a:prstGeom prst="rect">
            <a:avLst/>
          </a:prstGeom>
          <a:noFill/>
          <a:ln w="31750" cap="flat" cmpd="sng" algn="ctr">
            <a:solidFill>
              <a:srgbClr val="00B050"/>
            </a:solidFill>
            <a:prstDash val="solid"/>
            <a:round/>
            <a:headEnd type="none" w="med" len="med"/>
            <a:tailEnd type="arrow" w="med" len="med"/>
          </a:ln>
          <a:effectLst/>
        </p:spPr>
        <p:txBody>
          <a:bodyPr rtlCol="0" anchor="ctr"/>
          <a:lstStyle/>
          <a:p>
            <a:pPr algn="ctr"/>
            <a:endParaRPr lang="en-US"/>
          </a:p>
        </p:txBody>
      </p:sp>
      <p:sp>
        <p:nvSpPr>
          <p:cNvPr id="5" name="标题 4"/>
          <p:cNvSpPr>
            <a:spLocks noGrp="1"/>
          </p:cNvSpPr>
          <p:nvPr>
            <p:ph type="title"/>
          </p:nvPr>
        </p:nvSpPr>
        <p:spPr>
          <a:noFill/>
          <a:ln w="9525">
            <a:noFill/>
            <a:miter lim="800000"/>
          </a:ln>
        </p:spPr>
        <p:txBody>
          <a:bodyPr vert="horz" wrap="square" lIns="91440" tIns="45720" rIns="91440" bIns="45720" numCol="1" rtlCol="0" anchor="ctr" anchorCtr="0" compatLnSpc="1">
            <a:normAutofit/>
          </a:bodyPr>
          <a:lstStyle/>
          <a:p>
            <a:pPr lvl="0" algn="l">
              <a:buClrTx/>
              <a:buSzTx/>
              <a:buFontTx/>
            </a:pPr>
            <a:r>
              <a:rPr lang="zh-CN" altLang="en-US" dirty="0">
                <a:latin typeface="Consolas" panose="020B0609020204030204" pitchFamily="49" charset="0"/>
                <a:cs typeface="Consolas" panose="020B0609020204030204" pitchFamily="49" charset="0"/>
                <a:sym typeface="+mn-ea"/>
              </a:rPr>
              <a:t>简单的</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eval </a:t>
            </a:r>
            <a:r>
              <a:rPr lang="zh-CN" altLang="en-US" dirty="0">
                <a:latin typeface="Consolas" panose="020B0609020204030204" pitchFamily="49" charset="0"/>
                <a:cs typeface="Consolas" panose="020B0609020204030204" pitchFamily="49" charset="0"/>
                <a:sym typeface="+mn-ea"/>
              </a:rPr>
              <a:t>函数</a:t>
            </a:r>
            <a:endParaRPr lang="en-US" dirty="0">
              <a:latin typeface="Consolas" panose="020B0609020204030204" pitchFamily="49" charset="0"/>
              <a:cs typeface="Consolas" panose="020B0609020204030204" pitchFamily="49"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dirty="0">
                <a:latin typeface="Consolas" panose="020B0609020204030204" pitchFamily="49" charset="0"/>
                <a:cs typeface="Consolas" panose="020B0609020204030204" pitchFamily="49" charset="0"/>
                <a:sym typeface="+mn-ea"/>
              </a:rPr>
              <a:t>简单的</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eval </a:t>
            </a:r>
            <a:r>
              <a:rPr lang="zh-CN" altLang="en-US" dirty="0">
                <a:latin typeface="Consolas" panose="020B0609020204030204" pitchFamily="49" charset="0"/>
                <a:cs typeface="Consolas" panose="020B0609020204030204" pitchFamily="49" charset="0"/>
                <a:sym typeface="+mn-ea"/>
              </a:rPr>
              <a:t>函数</a:t>
            </a:r>
            <a:endParaRPr lang="en-US" dirty="0"/>
          </a:p>
        </p:txBody>
      </p:sp>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sp>
        <p:nvSpPr>
          <p:cNvPr id="2" name="TextBox 1"/>
          <p:cNvSpPr txBox="1"/>
          <p:nvPr/>
        </p:nvSpPr>
        <p:spPr>
          <a:xfrm>
            <a:off x="7772400" y="2588260"/>
            <a:ext cx="1439545" cy="400110"/>
          </a:xfrm>
          <a:prstGeom prst="rect">
            <a:avLst/>
          </a:prstGeom>
          <a:solidFill>
            <a:srgbClr val="DEDFF5"/>
          </a:solidFill>
        </p:spPr>
        <p:txBody>
          <a:bodyPr wrap="square" rtlCol="0">
            <a:spAutoFit/>
          </a:bodyPr>
          <a:lstStyle/>
          <a:p>
            <a:r>
              <a:rPr lang="zh-CN" altLang="en-US" sz="2000" dirty="0">
                <a:latin typeface="FangSong" panose="02010609060101010101" pitchFamily="49" charset="-122"/>
                <a:ea typeface="FangSong" panose="02010609060101010101" pitchFamily="49" charset="-122"/>
                <a:cs typeface="Consolas" panose="020B0609020204030204" pitchFamily="49" charset="0"/>
              </a:rPr>
              <a:t>忽略空行</a:t>
            </a:r>
            <a:endParaRPr lang="zh-CN" altLang="en-US" sz="2000" dirty="0">
              <a:latin typeface="FangSong" panose="02010609060101010101" pitchFamily="49" charset="-122"/>
              <a:ea typeface="FangSong" panose="02010609060101010101" pitchFamily="49" charset="-122"/>
              <a:cs typeface="Consolas" panose="020B0609020204030204" pitchFamily="49" charset="0"/>
            </a:endParaRPr>
          </a:p>
        </p:txBody>
      </p:sp>
      <p:cxnSp>
        <p:nvCxnSpPr>
          <p:cNvPr id="3" name="Straight Arrow Connector 2"/>
          <p:cNvCxnSpPr>
            <a:stCxn id="2" idx="1"/>
          </p:cNvCxnSpPr>
          <p:nvPr/>
        </p:nvCxnSpPr>
        <p:spPr bwMode="auto">
          <a:xfrm flipH="1">
            <a:off x="6781800" y="2788315"/>
            <a:ext cx="990600" cy="30450"/>
          </a:xfrm>
          <a:prstGeom prst="straightConnector1">
            <a:avLst/>
          </a:prstGeom>
          <a:noFill/>
          <a:ln w="25400" cap="flat" cmpd="sng" algn="ctr">
            <a:solidFill>
              <a:srgbClr val="00B050"/>
            </a:solidFill>
            <a:prstDash val="solid"/>
            <a:round/>
            <a:headEnd type="none" w="med" len="med"/>
            <a:tailEnd type="triangle"/>
          </a:ln>
          <a:effectLst/>
        </p:spPr>
      </p:cxnSp>
      <p:sp>
        <p:nvSpPr>
          <p:cNvPr id="9" name="Rectangle 8"/>
          <p:cNvSpPr/>
          <p:nvPr/>
        </p:nvSpPr>
        <p:spPr bwMode="auto">
          <a:xfrm>
            <a:off x="2235200" y="2611733"/>
            <a:ext cx="4546599" cy="461661"/>
          </a:xfrm>
          <a:prstGeom prst="rect">
            <a:avLst/>
          </a:prstGeom>
          <a:noFill/>
          <a:ln w="31750" cap="flat" cmpd="sng" algn="ctr">
            <a:solidFill>
              <a:srgbClr val="00B050"/>
            </a:solidFill>
            <a:prstDash val="solid"/>
            <a:round/>
            <a:headEnd type="none" w="med" len="med"/>
            <a:tailEnd type="arrow" w="med" len="med"/>
          </a:ln>
          <a:effectLst/>
        </p:spPr>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dirty="0">
                <a:latin typeface="Consolas" panose="020B0609020204030204" pitchFamily="49" charset="0"/>
                <a:cs typeface="Consolas" panose="020B0609020204030204" pitchFamily="49" charset="0"/>
                <a:sym typeface="+mn-ea"/>
              </a:rPr>
              <a:t>简单的</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eval </a:t>
            </a:r>
            <a:r>
              <a:rPr lang="zh-CN" altLang="en-US" dirty="0">
                <a:latin typeface="Consolas" panose="020B0609020204030204" pitchFamily="49" charset="0"/>
                <a:cs typeface="Consolas" panose="020B0609020204030204" pitchFamily="49" charset="0"/>
                <a:sym typeface="+mn-ea"/>
              </a:rPr>
              <a:t>函数</a:t>
            </a:r>
            <a:endParaRPr lang="en-US" dirty="0"/>
          </a:p>
        </p:txBody>
      </p:sp>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cxnSp>
        <p:nvCxnSpPr>
          <p:cNvPr id="3" name="Straight Arrow Connector 2"/>
          <p:cNvCxnSpPr/>
          <p:nvPr/>
        </p:nvCxnSpPr>
        <p:spPr bwMode="auto">
          <a:xfrm flipH="1">
            <a:off x="5867400" y="2570145"/>
            <a:ext cx="1524000" cy="630255"/>
          </a:xfrm>
          <a:prstGeom prst="straightConnector1">
            <a:avLst/>
          </a:prstGeom>
          <a:noFill/>
          <a:ln w="25400" cap="flat" cmpd="sng" algn="ctr">
            <a:solidFill>
              <a:srgbClr val="00B050"/>
            </a:solidFill>
            <a:prstDash val="solid"/>
            <a:round/>
            <a:headEnd type="none" w="med" len="med"/>
            <a:tailEnd type="triangle"/>
          </a:ln>
          <a:effectLst/>
        </p:spPr>
      </p:cxnSp>
      <p:sp>
        <p:nvSpPr>
          <p:cNvPr id="5" name="TextBox 4"/>
          <p:cNvSpPr txBox="1"/>
          <p:nvPr/>
        </p:nvSpPr>
        <p:spPr>
          <a:xfrm>
            <a:off x="7391400" y="2062314"/>
            <a:ext cx="4147820" cy="1015663"/>
          </a:xfrm>
          <a:prstGeom prst="rect">
            <a:avLst/>
          </a:prstGeom>
          <a:solidFill>
            <a:srgbClr val="DEDFF5"/>
          </a:solidFill>
        </p:spPr>
        <p:txBody>
          <a:bodyPr wrap="square" rtlCol="0">
            <a:spAutoFit/>
          </a:bodyPr>
          <a:lstStyle/>
          <a:p>
            <a:r>
              <a:rPr lang="zh-CN" altLang="en-US" sz="2000" b="0" dirty="0">
                <a:latin typeface="Consolas" panose="020B0609020204030204" pitchFamily="49" charset="0"/>
                <a:ea typeface="FangSong" panose="02010609060101010101" pitchFamily="49" charset="-122"/>
                <a:cs typeface="Consolas" panose="020B0609020204030204" pitchFamily="49" charset="0"/>
              </a:rPr>
              <a:t>如果是内置命令，则在此程序中处理；否则，执行</a:t>
            </a:r>
            <a:r>
              <a:rPr lang="en-US" sz="2000" dirty="0">
                <a:latin typeface="Consolas" panose="020B0609020204030204" pitchFamily="49" charset="0"/>
                <a:ea typeface="FangSong" panose="02010609060101010101" pitchFamily="49" charset="-122"/>
                <a:cs typeface="Consolas" panose="020B0609020204030204" pitchFamily="49" charset="0"/>
              </a:rPr>
              <a:t> fork/exec </a:t>
            </a:r>
            <a:r>
              <a:rPr lang="zh-CN" altLang="en-US" sz="2000" b="0" dirty="0">
                <a:latin typeface="Consolas" panose="020B0609020204030204" pitchFamily="49" charset="0"/>
                <a:ea typeface="FangSong" panose="02010609060101010101" pitchFamily="49" charset="-122"/>
                <a:cs typeface="Consolas" panose="020B0609020204030204" pitchFamily="49" charset="0"/>
              </a:rPr>
              <a:t>来运行</a:t>
            </a:r>
            <a:r>
              <a:rPr lang="en-US" sz="2000" dirty="0">
                <a:latin typeface="Consolas" panose="020B0609020204030204" pitchFamily="49" charset="0"/>
                <a:ea typeface="FangSong" panose="02010609060101010101" pitchFamily="49" charset="-122"/>
                <a:cs typeface="Consolas" panose="020B0609020204030204" pitchFamily="49" charset="0"/>
              </a:rPr>
              <a:t> </a:t>
            </a:r>
            <a:r>
              <a:rPr lang="en-US" sz="2000" dirty="0" err="1">
                <a:latin typeface="Consolas" panose="020B0609020204030204" pitchFamily="49" charset="0"/>
                <a:ea typeface="FangSong" panose="02010609060101010101" pitchFamily="49" charset="-122"/>
                <a:cs typeface="Consolas" panose="020B0609020204030204" pitchFamily="49" charset="0"/>
              </a:rPr>
              <a:t>argv</a:t>
            </a:r>
            <a:r>
              <a:rPr lang="en-US" sz="2000" dirty="0">
                <a:latin typeface="Consolas" panose="020B0609020204030204" pitchFamily="49" charset="0"/>
                <a:ea typeface="FangSong" panose="02010609060101010101" pitchFamily="49" charset="-122"/>
                <a:cs typeface="Consolas" panose="020B0609020204030204" pitchFamily="49" charset="0"/>
              </a:rPr>
              <a:t>[0] </a:t>
            </a:r>
            <a:r>
              <a:rPr lang="zh-CN" altLang="en-US" sz="2000" b="0" dirty="0">
                <a:latin typeface="Consolas" panose="020B0609020204030204" pitchFamily="49" charset="0"/>
                <a:ea typeface="FangSong" panose="02010609060101010101" pitchFamily="49" charset="-122"/>
                <a:cs typeface="Consolas" panose="020B0609020204030204" pitchFamily="49" charset="0"/>
              </a:rPr>
              <a:t>指定的程序</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p:txBody>
      </p:sp>
      <p:sp>
        <p:nvSpPr>
          <p:cNvPr id="8" name="Rectangle 7"/>
          <p:cNvSpPr/>
          <p:nvPr/>
        </p:nvSpPr>
        <p:spPr bwMode="auto">
          <a:xfrm>
            <a:off x="2273301" y="3124200"/>
            <a:ext cx="3594100" cy="381000"/>
          </a:xfrm>
          <a:prstGeom prst="rect">
            <a:avLst/>
          </a:prstGeom>
          <a:noFill/>
          <a:ln w="31750" cap="flat" cmpd="sng" algn="ctr">
            <a:solidFill>
              <a:srgbClr val="00B050"/>
            </a:solidFill>
            <a:prstDash val="solid"/>
            <a:round/>
            <a:headEnd type="none" w="med" len="med"/>
            <a:tailEnd type="arrow" w="med" len="med"/>
          </a:ln>
          <a:effectLst/>
        </p:spPr>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dirty="0">
                <a:latin typeface="Consolas" panose="020B0609020204030204" pitchFamily="49" charset="0"/>
                <a:cs typeface="Consolas" panose="020B0609020204030204" pitchFamily="49" charset="0"/>
                <a:sym typeface="+mn-ea"/>
              </a:rPr>
              <a:t>简单的</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eval </a:t>
            </a:r>
            <a:r>
              <a:rPr lang="zh-CN" altLang="en-US" dirty="0">
                <a:latin typeface="Consolas" panose="020B0609020204030204" pitchFamily="49" charset="0"/>
                <a:cs typeface="Consolas" panose="020B0609020204030204" pitchFamily="49" charset="0"/>
                <a:sym typeface="+mn-ea"/>
              </a:rPr>
              <a:t>函数</a:t>
            </a:r>
            <a:endParaRPr lang="en-US" dirty="0"/>
          </a:p>
        </p:txBody>
      </p:sp>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cxnSp>
        <p:nvCxnSpPr>
          <p:cNvPr id="3" name="Straight Arrow Connector 2"/>
          <p:cNvCxnSpPr/>
          <p:nvPr/>
        </p:nvCxnSpPr>
        <p:spPr bwMode="auto">
          <a:xfrm flipH="1">
            <a:off x="5973763" y="2745656"/>
            <a:ext cx="2281184" cy="607144"/>
          </a:xfrm>
          <a:prstGeom prst="straightConnector1">
            <a:avLst/>
          </a:prstGeom>
          <a:noFill/>
          <a:ln w="25400" cap="flat" cmpd="sng" algn="ctr">
            <a:solidFill>
              <a:srgbClr val="00B050"/>
            </a:solidFill>
            <a:prstDash val="solid"/>
            <a:round/>
            <a:headEnd type="none" w="med" len="med"/>
            <a:tailEnd type="triangle"/>
          </a:ln>
          <a:effectLst/>
        </p:spPr>
      </p:cxnSp>
      <p:sp>
        <p:nvSpPr>
          <p:cNvPr id="5" name="TextBox 4"/>
          <p:cNvSpPr txBox="1"/>
          <p:nvPr/>
        </p:nvSpPr>
        <p:spPr>
          <a:xfrm>
            <a:off x="8255000" y="2532380"/>
            <a:ext cx="2291080" cy="382270"/>
          </a:xfrm>
          <a:prstGeom prst="rect">
            <a:avLst/>
          </a:prstGeom>
          <a:solidFill>
            <a:srgbClr val="DEDFF5"/>
          </a:solidFill>
        </p:spPr>
        <p:txBody>
          <a:bodyPr wrap="square" rtlCol="0">
            <a:noAutofit/>
          </a:bodyPr>
          <a:lstStyle/>
          <a:p>
            <a:r>
              <a:rPr lang="zh-CN" altLang="en-US" sz="2000" b="0" dirty="0">
                <a:latin typeface="FangSong" panose="02010609060101010101" pitchFamily="49" charset="-122"/>
                <a:ea typeface="FangSong" panose="02010609060101010101" pitchFamily="49" charset="-122"/>
              </a:rPr>
              <a:t>创建子进程</a:t>
            </a:r>
            <a:r>
              <a:rPr lang="en-US" altLang="zh-CN" sz="2000" b="0" dirty="0">
                <a:latin typeface="FangSong" panose="02010609060101010101" pitchFamily="49" charset="-122"/>
                <a:ea typeface="FangSong" panose="02010609060101010101" pitchFamily="49" charset="-122"/>
              </a:rPr>
              <a:t>：</a:t>
            </a:r>
            <a:r>
              <a:rPr lang="en-US" altLang="zh-CN" sz="2000" b="0" dirty="0">
                <a:latin typeface="FangSong" panose="02010609060101010101" pitchFamily="49" charset="-122"/>
                <a:ea typeface="FangSong" panose="02010609060101010101" pitchFamily="49" charset="-122"/>
              </a:rPr>
              <a:t>fork</a:t>
            </a:r>
            <a:endParaRPr lang="en-US" altLang="zh-CN" sz="2000" b="0" dirty="0">
              <a:latin typeface="FangSong" panose="02010609060101010101" pitchFamily="49" charset="-122"/>
              <a:ea typeface="FangSong" panose="02010609060101010101" pitchFamily="49" charset="-122"/>
            </a:endParaRPr>
          </a:p>
        </p:txBody>
      </p:sp>
      <p:sp>
        <p:nvSpPr>
          <p:cNvPr id="7" name="Rectangle 6"/>
          <p:cNvSpPr/>
          <p:nvPr/>
        </p:nvSpPr>
        <p:spPr bwMode="auto">
          <a:xfrm>
            <a:off x="3048000" y="3314700"/>
            <a:ext cx="2667000" cy="214630"/>
          </a:xfrm>
          <a:prstGeom prst="rect">
            <a:avLst/>
          </a:prstGeom>
          <a:noFill/>
          <a:ln w="31750" cap="flat" cmpd="sng" algn="ctr">
            <a:solidFill>
              <a:srgbClr val="00B050"/>
            </a:solidFill>
            <a:prstDash val="solid"/>
            <a:round/>
            <a:headEnd type="none" w="med" len="med"/>
            <a:tailEnd type="arrow" w="med" len="med"/>
          </a:ln>
          <a:effectLst/>
        </p:spPr>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dirty="0">
                <a:latin typeface="Consolas" panose="020B0609020204030204" pitchFamily="49" charset="0"/>
                <a:cs typeface="Consolas" panose="020B0609020204030204" pitchFamily="49" charset="0"/>
                <a:sym typeface="+mn-ea"/>
              </a:rPr>
              <a:t>简单的</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eval </a:t>
            </a:r>
            <a:r>
              <a:rPr lang="zh-CN" altLang="en-US" dirty="0">
                <a:latin typeface="Consolas" panose="020B0609020204030204" pitchFamily="49" charset="0"/>
                <a:cs typeface="Consolas" panose="020B0609020204030204" pitchFamily="49" charset="0"/>
                <a:sym typeface="+mn-ea"/>
              </a:rPr>
              <a:t>函数</a:t>
            </a:r>
            <a:endParaRPr lang="en-US" dirty="0"/>
          </a:p>
        </p:txBody>
      </p:sp>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cxnSp>
        <p:nvCxnSpPr>
          <p:cNvPr id="3" name="Straight Arrow Connector 2"/>
          <p:cNvCxnSpPr/>
          <p:nvPr/>
        </p:nvCxnSpPr>
        <p:spPr bwMode="auto">
          <a:xfrm flipH="1">
            <a:off x="6096000" y="2745656"/>
            <a:ext cx="2057400" cy="781050"/>
          </a:xfrm>
          <a:prstGeom prst="straightConnector1">
            <a:avLst/>
          </a:prstGeom>
          <a:noFill/>
          <a:ln w="25400" cap="flat" cmpd="sng" algn="ctr">
            <a:solidFill>
              <a:srgbClr val="00B050"/>
            </a:solidFill>
            <a:prstDash val="solid"/>
            <a:round/>
            <a:headEnd type="none" w="med" len="med"/>
            <a:tailEnd type="triangle"/>
          </a:ln>
          <a:effectLst/>
        </p:spPr>
      </p:cxnSp>
      <p:sp>
        <p:nvSpPr>
          <p:cNvPr id="2" name="TextBox 1"/>
          <p:cNvSpPr txBox="1"/>
          <p:nvPr/>
        </p:nvSpPr>
        <p:spPr>
          <a:xfrm>
            <a:off x="8153400" y="2381885"/>
            <a:ext cx="3980815" cy="706755"/>
          </a:xfrm>
          <a:prstGeom prst="rect">
            <a:avLst/>
          </a:prstGeom>
          <a:solidFill>
            <a:srgbClr val="DEDFF5"/>
          </a:solidFill>
        </p:spPr>
        <p:txBody>
          <a:bodyPr wrap="square" rtlCol="0">
            <a:spAutoFit/>
          </a:bodyPr>
          <a:lstStyle/>
          <a:p>
            <a:r>
              <a:rPr lang="zh-CN" altLang="en-US" sz="2000" b="0" dirty="0">
                <a:latin typeface="Consolas" panose="020B0609020204030204" pitchFamily="49" charset="0"/>
                <a:ea typeface="FangSong" panose="02010609060101010101" pitchFamily="49" charset="-122"/>
                <a:cs typeface="Consolas" panose="020B0609020204030204" pitchFamily="49" charset="0"/>
              </a:rPr>
              <a:t>根据</a:t>
            </a:r>
            <a:r>
              <a:rPr lang="en-US" sz="2000" b="0" dirty="0">
                <a:latin typeface="Consolas" panose="020B0609020204030204" pitchFamily="49" charset="0"/>
                <a:ea typeface="FangSong" panose="02010609060101010101" pitchFamily="49" charset="-122"/>
                <a:cs typeface="Consolas" panose="020B0609020204030204" pitchFamily="49" charset="0"/>
              </a:rPr>
              <a:t> </a:t>
            </a:r>
            <a:r>
              <a:rPr lang="en-US" sz="2000" dirty="0" err="1">
                <a:latin typeface="Consolas" panose="020B0609020204030204" pitchFamily="49" charset="0"/>
                <a:ea typeface="FangSong" panose="02010609060101010101" pitchFamily="49" charset="-122"/>
                <a:cs typeface="Consolas" panose="020B0609020204030204" pitchFamily="49" charset="0"/>
              </a:rPr>
              <a:t>argv</a:t>
            </a:r>
            <a:r>
              <a:rPr lang="en-US" sz="2000" dirty="0">
                <a:latin typeface="Consolas" panose="020B0609020204030204" pitchFamily="49" charset="0"/>
                <a:ea typeface="FangSong" panose="02010609060101010101" pitchFamily="49" charset="-122"/>
                <a:cs typeface="Consolas" panose="020B0609020204030204" pitchFamily="49" charset="0"/>
              </a:rPr>
              <a:t>[0]</a:t>
            </a:r>
            <a:r>
              <a:rPr lang="zh-CN" altLang="en-US" sz="2000" dirty="0">
                <a:latin typeface="Consolas" panose="020B0609020204030204" pitchFamily="49" charset="0"/>
                <a:ea typeface="FangSong" panose="02010609060101010101" pitchFamily="49" charset="-122"/>
                <a:cs typeface="Consolas" panose="020B0609020204030204" pitchFamily="49" charset="0"/>
              </a:rPr>
              <a:t>启动子进程</a:t>
            </a:r>
            <a:r>
              <a:rPr lang="en-US" altLang="zh-CN" sz="2000" dirty="0">
                <a:latin typeface="Consolas" panose="020B0609020204030204" pitchFamily="49" charset="0"/>
                <a:ea typeface="FangSong" panose="02010609060101010101" pitchFamily="49" charset="-122"/>
                <a:cs typeface="Consolas" panose="020B0609020204030204" pitchFamily="49" charset="0"/>
              </a:rPr>
              <a:t>：execve</a:t>
            </a:r>
            <a:endParaRPr lang="en-US" sz="2000" b="0" dirty="0">
              <a:latin typeface="Consolas" panose="020B0609020204030204" pitchFamily="49" charset="0"/>
              <a:ea typeface="FangSong" panose="02010609060101010101" pitchFamily="49" charset="-122"/>
              <a:cs typeface="Consolas" panose="020B0609020204030204" pitchFamily="49" charset="0"/>
            </a:endParaRPr>
          </a:p>
          <a:p>
            <a:r>
              <a:rPr lang="en-US" sz="2000" dirty="0" err="1">
                <a:latin typeface="Consolas" panose="020B0609020204030204" pitchFamily="49" charset="0"/>
                <a:ea typeface="FangSong" panose="02010609060101010101" pitchFamily="49" charset="-122"/>
                <a:cs typeface="Consolas" panose="020B0609020204030204" pitchFamily="49" charset="0"/>
              </a:rPr>
              <a:t>execve</a:t>
            </a:r>
            <a:r>
              <a:rPr lang="en-US" sz="2000" b="0" dirty="0">
                <a:latin typeface="Consolas" panose="020B0609020204030204" pitchFamily="49" charset="0"/>
                <a:ea typeface="FangSong" panose="02010609060101010101" pitchFamily="49" charset="-122"/>
                <a:cs typeface="Consolas" panose="020B0609020204030204" pitchFamily="49" charset="0"/>
              </a:rPr>
              <a:t> </a:t>
            </a:r>
            <a:r>
              <a:rPr lang="zh-CN" altLang="en-US" sz="2000" b="0" dirty="0">
                <a:latin typeface="Consolas" panose="020B0609020204030204" pitchFamily="49" charset="0"/>
                <a:ea typeface="FangSong" panose="02010609060101010101" pitchFamily="49" charset="-122"/>
                <a:cs typeface="Consolas" panose="020B0609020204030204" pitchFamily="49" charset="0"/>
              </a:rPr>
              <a:t>仅在发生错误时返回</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p:txBody>
      </p:sp>
      <p:sp>
        <p:nvSpPr>
          <p:cNvPr id="8" name="Rectangle 7"/>
          <p:cNvSpPr/>
          <p:nvPr/>
        </p:nvSpPr>
        <p:spPr bwMode="auto">
          <a:xfrm>
            <a:off x="3490595" y="3514725"/>
            <a:ext cx="4358005" cy="219075"/>
          </a:xfrm>
          <a:prstGeom prst="rect">
            <a:avLst/>
          </a:prstGeom>
          <a:noFill/>
          <a:ln w="31750" cap="flat" cmpd="sng" algn="ctr">
            <a:solidFill>
              <a:srgbClr val="00B050"/>
            </a:solidFill>
            <a:prstDash val="solid"/>
            <a:round/>
            <a:headEnd type="none" w="med" len="med"/>
            <a:tailEnd type="arrow" w="med" len="med"/>
          </a:ln>
          <a:effectLst/>
        </p:spPr>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dirty="0">
                <a:latin typeface="Consolas" panose="020B0609020204030204" pitchFamily="49" charset="0"/>
                <a:cs typeface="Consolas" panose="020B0609020204030204" pitchFamily="49" charset="0"/>
                <a:sym typeface="+mn-ea"/>
              </a:rPr>
              <a:t>简单的</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eval </a:t>
            </a:r>
            <a:r>
              <a:rPr lang="zh-CN" altLang="en-US" dirty="0">
                <a:latin typeface="Consolas" panose="020B0609020204030204" pitchFamily="49" charset="0"/>
                <a:cs typeface="Consolas" panose="020B0609020204030204" pitchFamily="49" charset="0"/>
                <a:sym typeface="+mn-ea"/>
              </a:rPr>
              <a:t>函数</a:t>
            </a:r>
            <a:endParaRPr lang="en-US" dirty="0"/>
          </a:p>
        </p:txBody>
      </p:sp>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cxnSp>
        <p:nvCxnSpPr>
          <p:cNvPr id="3" name="Straight Arrow Connector 2"/>
          <p:cNvCxnSpPr/>
          <p:nvPr/>
        </p:nvCxnSpPr>
        <p:spPr bwMode="auto">
          <a:xfrm flipH="1">
            <a:off x="5715000" y="4448264"/>
            <a:ext cx="2646709" cy="180885"/>
          </a:xfrm>
          <a:prstGeom prst="straightConnector1">
            <a:avLst/>
          </a:prstGeom>
          <a:noFill/>
          <a:ln w="25400" cap="flat" cmpd="sng" algn="ctr">
            <a:solidFill>
              <a:srgbClr val="00B050"/>
            </a:solidFill>
            <a:prstDash val="solid"/>
            <a:round/>
            <a:headEnd type="none" w="med" len="med"/>
            <a:tailEnd type="triangle"/>
          </a:ln>
          <a:effectLst/>
        </p:spPr>
      </p:cxnSp>
      <p:sp>
        <p:nvSpPr>
          <p:cNvPr id="5" name="TextBox 4"/>
          <p:cNvSpPr txBox="1"/>
          <p:nvPr/>
        </p:nvSpPr>
        <p:spPr>
          <a:xfrm>
            <a:off x="8419465" y="3848100"/>
            <a:ext cx="3632200" cy="707886"/>
          </a:xfrm>
          <a:prstGeom prst="rect">
            <a:avLst/>
          </a:prstGeom>
          <a:solidFill>
            <a:srgbClr val="DEDFF5"/>
          </a:solidFill>
        </p:spPr>
        <p:txBody>
          <a:bodyPr wrap="square" rtlCol="0">
            <a:spAutoFit/>
          </a:bodyPr>
          <a:lstStyle/>
          <a:p>
            <a:pPr algn="just"/>
            <a:r>
              <a:rPr lang="zh-CN" altLang="en-US" sz="2000" b="0" dirty="0">
                <a:latin typeface="FangSong" panose="02010609060101010101" pitchFamily="49" charset="-122"/>
                <a:ea typeface="FangSong" panose="02010609060101010101" pitchFamily="49" charset="-122"/>
                <a:cs typeface="Consolas" panose="020B0609020204030204" pitchFamily="49" charset="0"/>
              </a:rPr>
              <a:t>如果子进程在前台运行，则等待其完成。</a:t>
            </a:r>
            <a:endParaRPr lang="zh-CN" altLang="en-US" sz="2000" b="0" dirty="0">
              <a:latin typeface="FangSong" panose="02010609060101010101" pitchFamily="49" charset="-122"/>
              <a:ea typeface="FangSong" panose="02010609060101010101" pitchFamily="49" charset="-122"/>
              <a:cs typeface="Consolas" panose="020B0609020204030204" pitchFamily="49" charset="0"/>
            </a:endParaRPr>
          </a:p>
        </p:txBody>
      </p:sp>
      <p:sp>
        <p:nvSpPr>
          <p:cNvPr id="8" name="Rectangle 7"/>
          <p:cNvSpPr/>
          <p:nvPr/>
        </p:nvSpPr>
        <p:spPr bwMode="auto">
          <a:xfrm>
            <a:off x="2667000" y="4603928"/>
            <a:ext cx="5410200" cy="1034871"/>
          </a:xfrm>
          <a:prstGeom prst="rect">
            <a:avLst/>
          </a:prstGeom>
          <a:noFill/>
          <a:ln w="31750" cap="flat" cmpd="sng" algn="ctr">
            <a:solidFill>
              <a:srgbClr val="00B050"/>
            </a:solidFill>
            <a:prstDash val="solid"/>
            <a:round/>
            <a:headEnd type="none" w="med" len="med"/>
            <a:tailEnd type="arrow" w="med" len="med"/>
          </a:ln>
          <a:effectLst/>
        </p:spPr>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dirty="0">
                <a:latin typeface="Consolas" panose="020B0609020204030204" pitchFamily="49" charset="0"/>
                <a:cs typeface="Consolas" panose="020B0609020204030204" pitchFamily="49" charset="0"/>
                <a:sym typeface="+mn-ea"/>
              </a:rPr>
              <a:t>简单的</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eval </a:t>
            </a:r>
            <a:r>
              <a:rPr lang="zh-CN" altLang="en-US" dirty="0">
                <a:latin typeface="Consolas" panose="020B0609020204030204" pitchFamily="49" charset="0"/>
                <a:cs typeface="Consolas" panose="020B0609020204030204" pitchFamily="49" charset="0"/>
                <a:sym typeface="+mn-ea"/>
              </a:rPr>
              <a:t>函数</a:t>
            </a:r>
            <a:endParaRPr lang="en-US" dirty="0"/>
          </a:p>
        </p:txBody>
      </p:sp>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cxnSp>
        <p:nvCxnSpPr>
          <p:cNvPr id="3" name="Straight Arrow Connector 2"/>
          <p:cNvCxnSpPr/>
          <p:nvPr/>
        </p:nvCxnSpPr>
        <p:spPr bwMode="auto">
          <a:xfrm flipH="1">
            <a:off x="6781800" y="5943600"/>
            <a:ext cx="1600200" cy="0"/>
          </a:xfrm>
          <a:prstGeom prst="straightConnector1">
            <a:avLst/>
          </a:prstGeom>
          <a:noFill/>
          <a:ln w="25400" cap="flat" cmpd="sng" algn="ctr">
            <a:solidFill>
              <a:srgbClr val="00B050"/>
            </a:solidFill>
            <a:prstDash val="solid"/>
            <a:round/>
            <a:headEnd type="none" w="med" len="med"/>
            <a:tailEnd type="triangle"/>
          </a:ln>
          <a:effectLst/>
        </p:spPr>
      </p:cxnSp>
      <p:sp>
        <p:nvSpPr>
          <p:cNvPr id="5" name="TextBox 4"/>
          <p:cNvSpPr txBox="1"/>
          <p:nvPr/>
        </p:nvSpPr>
        <p:spPr>
          <a:xfrm>
            <a:off x="8382000" y="5562600"/>
            <a:ext cx="3702050" cy="707886"/>
          </a:xfrm>
          <a:prstGeom prst="rect">
            <a:avLst/>
          </a:prstGeom>
          <a:solidFill>
            <a:srgbClr val="DEDFF5"/>
          </a:solidFill>
        </p:spPr>
        <p:txBody>
          <a:bodyPr wrap="square" rtlCol="0">
            <a:spAutoFit/>
          </a:bodyPr>
          <a:lstStyle/>
          <a:p>
            <a:r>
              <a:rPr lang="zh-CN" altLang="en-US" sz="2000" b="0" dirty="0">
                <a:latin typeface="Consolas" panose="020B0609020204030204" pitchFamily="49" charset="0"/>
                <a:ea typeface="FangSong" panose="02010609060101010101" pitchFamily="49" charset="-122"/>
                <a:cs typeface="Consolas" panose="020B0609020204030204" pitchFamily="49" charset="0"/>
              </a:rPr>
              <a:t>如果子进程在后台运行，打印其</a:t>
            </a:r>
            <a:r>
              <a:rPr lang="en-US" altLang="zh-CN" sz="2000" dirty="0">
                <a:latin typeface="Consolas" panose="020B0609020204030204" pitchFamily="49" charset="0"/>
                <a:ea typeface="FangSong" panose="02010609060101010101" pitchFamily="49" charset="-122"/>
                <a:cs typeface="Consolas" panose="020B0609020204030204" pitchFamily="49" charset="0"/>
              </a:rPr>
              <a:t> PID </a:t>
            </a:r>
            <a:r>
              <a:rPr lang="zh-CN" altLang="en-US" sz="2000" b="0" dirty="0">
                <a:latin typeface="Consolas" panose="020B0609020204030204" pitchFamily="49" charset="0"/>
                <a:ea typeface="FangSong" panose="02010609060101010101" pitchFamily="49" charset="-122"/>
                <a:cs typeface="Consolas" panose="020B0609020204030204" pitchFamily="49" charset="0"/>
              </a:rPr>
              <a:t>并继续执行其他任务。</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p:txBody>
      </p:sp>
      <p:sp>
        <p:nvSpPr>
          <p:cNvPr id="7" name="Rectangle 6"/>
          <p:cNvSpPr/>
          <p:nvPr/>
        </p:nvSpPr>
        <p:spPr bwMode="auto">
          <a:xfrm>
            <a:off x="2730500" y="5600700"/>
            <a:ext cx="4051299" cy="571500"/>
          </a:xfrm>
          <a:prstGeom prst="rect">
            <a:avLst/>
          </a:prstGeom>
          <a:noFill/>
          <a:ln w="31750" cap="flat" cmpd="sng" algn="ctr">
            <a:solidFill>
              <a:srgbClr val="00B050"/>
            </a:solidFill>
            <a:prstDash val="solid"/>
            <a:round/>
            <a:headEnd type="none" w="med" len="med"/>
            <a:tailEnd type="arrow" w="med" len="med"/>
          </a:ln>
          <a:effectLst/>
        </p:spPr>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dirty="0">
                <a:latin typeface="Consolas" panose="020B0609020204030204" pitchFamily="49" charset="0"/>
                <a:cs typeface="Consolas" panose="020B0609020204030204" pitchFamily="49" charset="0"/>
                <a:sym typeface="+mn-ea"/>
              </a:rPr>
              <a:t>简单的</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eval </a:t>
            </a:r>
            <a:r>
              <a:rPr lang="zh-CN" altLang="en-US" dirty="0">
                <a:latin typeface="Consolas" panose="020B0609020204030204" pitchFamily="49" charset="0"/>
                <a:cs typeface="Consolas" panose="020B0609020204030204" pitchFamily="49" charset="0"/>
                <a:sym typeface="+mn-ea"/>
              </a:rPr>
              <a:t>函数</a:t>
            </a:r>
            <a:endParaRPr lang="en-US" dirty="0"/>
          </a:p>
        </p:txBody>
      </p:sp>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sp>
        <p:nvSpPr>
          <p:cNvPr id="5" name="TextBox 4"/>
          <p:cNvSpPr txBox="1"/>
          <p:nvPr/>
        </p:nvSpPr>
        <p:spPr>
          <a:xfrm>
            <a:off x="8573952" y="5139273"/>
            <a:ext cx="2976245" cy="830997"/>
          </a:xfrm>
          <a:prstGeom prst="rect">
            <a:avLst/>
          </a:prstGeom>
          <a:solidFill>
            <a:srgbClr val="DEDFF5"/>
          </a:solidFill>
        </p:spPr>
        <p:txBody>
          <a:bodyPr wrap="square" rtlCol="0">
            <a:spAutoFit/>
          </a:bodyPr>
          <a:lstStyle/>
          <a:p>
            <a:r>
              <a:rPr lang="zh-CN" altLang="en-US" sz="2400" b="0" i="1" dirty="0">
                <a:solidFill>
                  <a:schemeClr val="accent1">
                    <a:lumMod val="75000"/>
                  </a:schemeClr>
                </a:solidFill>
                <a:latin typeface="FangSong" panose="02010609060101010101" pitchFamily="49" charset="-122"/>
                <a:ea typeface="FangSong" panose="02010609060101010101" pitchFamily="49" charset="-122"/>
              </a:rPr>
              <a:t>糟糕！这个程序是有缺陷的。</a:t>
            </a:r>
            <a:endParaRPr lang="zh-CN" altLang="en-US" sz="2400" b="0" i="1" dirty="0">
              <a:solidFill>
                <a:schemeClr val="accent1">
                  <a:lumMod val="75000"/>
                </a:schemeClr>
              </a:solidFill>
              <a:latin typeface="FangSong" panose="02010609060101010101" pitchFamily="49" charset="-122"/>
              <a:ea typeface="FangSong" panose="02010609060101010101" pitchFamily="49"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zh-CN" altLang="en-US" dirty="0">
                <a:latin typeface="Consolas" panose="020B0609020204030204" pitchFamily="49" charset="0"/>
                <a:cs typeface="Consolas" panose="020B0609020204030204" pitchFamily="49" charset="0"/>
                <a:sym typeface="+mn-ea"/>
              </a:rPr>
              <a:t>简单的</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eval </a:t>
            </a:r>
            <a:r>
              <a:rPr lang="zh-CN" altLang="en-US" dirty="0">
                <a:latin typeface="Consolas" panose="020B0609020204030204" pitchFamily="49" charset="0"/>
                <a:cs typeface="Consolas" panose="020B0609020204030204" pitchFamily="49" charset="0"/>
                <a:sym typeface="+mn-ea"/>
              </a:rPr>
              <a:t>函数</a:t>
            </a:r>
            <a:endParaRPr lang="en-US" dirty="0"/>
          </a:p>
        </p:txBody>
      </p:sp>
      <p:sp>
        <p:nvSpPr>
          <p:cNvPr id="544772" name="Text Box 4"/>
          <p:cNvSpPr txBox="1">
            <a:spLocks noChangeArrowheads="1"/>
          </p:cNvSpPr>
          <p:nvPr/>
        </p:nvSpPr>
        <p:spPr bwMode="auto">
          <a:xfrm>
            <a:off x="1803401" y="914400"/>
            <a:ext cx="8340725" cy="5867400"/>
          </a:xfrm>
          <a:prstGeom prst="rect">
            <a:avLst/>
          </a:prstGeom>
          <a:solidFill>
            <a:srgbClr val="F6F5BD"/>
          </a:solidFill>
          <a:ln w="12700">
            <a:solidFill>
              <a:schemeClr val="tx1"/>
            </a:solidFill>
            <a:miter lim="800000"/>
            <a:tailEnd type="none" w="sm" len="sm"/>
          </a:ln>
          <a:effectLst/>
        </p:spPr>
        <p:txBody>
          <a:bodyPr wrap="square" lIns="45720" rIns="45720">
            <a:normAutofit fontScale="92500" lnSpcReduction="20000"/>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eval</a:t>
            </a:r>
            <a:r>
              <a:rPr lang="en-US" sz="1600" dirty="0">
                <a:solidFill>
                  <a:srgbClr val="000000"/>
                </a:solidFill>
                <a:latin typeface="Menlo-Regular" panose="020B0609030804020204"/>
              </a:rPr>
              <a:t>(</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cmdline</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argv</a:t>
            </a:r>
            <a:r>
              <a:rPr lang="en-US" sz="1600" dirty="0">
                <a:solidFill>
                  <a:srgbClr val="000000"/>
                </a:solidFill>
                <a:latin typeface="Menlo-Regular" panose="020B0609030804020204"/>
              </a:rPr>
              <a:t>[MAXARGS]; </a:t>
            </a:r>
            <a:r>
              <a:rPr lang="en-US" sz="1600" dirty="0">
                <a:solidFill>
                  <a:srgbClr val="CB2418"/>
                </a:solidFill>
                <a:latin typeface="Menlo-Regular" panose="020B0609030804020204"/>
              </a:rPr>
              <a:t>/* Argument list </a:t>
            </a:r>
            <a:r>
              <a:rPr lang="en-US" sz="1600" dirty="0" err="1">
                <a:solidFill>
                  <a:srgbClr val="CB2418"/>
                </a:solidFill>
                <a:latin typeface="Menlo-Regular" panose="020B0609030804020204"/>
              </a:rPr>
              <a:t>execve</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2D961E"/>
                </a:solidFill>
                <a:latin typeface="Menlo-Regular" panose="020B0609030804020204"/>
              </a:rPr>
              <a:t>char</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buf</a:t>
            </a:r>
            <a:r>
              <a:rPr lang="en-US" sz="1600" dirty="0">
                <a:solidFill>
                  <a:srgbClr val="000000"/>
                </a:solidFill>
                <a:latin typeface="Menlo-Regular" panose="020B0609030804020204"/>
              </a:rPr>
              <a:t>[MAXLINE];   </a:t>
            </a:r>
            <a:r>
              <a:rPr lang="en-US" sz="1600" dirty="0">
                <a:solidFill>
                  <a:srgbClr val="CB2418"/>
                </a:solidFill>
                <a:latin typeface="Menlo-Regular" panose="020B0609030804020204"/>
              </a:rPr>
              <a:t>/* Holds modified command line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bg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Should the job run in </a:t>
            </a:r>
            <a:r>
              <a:rPr lang="en-US" sz="1600" dirty="0" err="1">
                <a:solidFill>
                  <a:srgbClr val="CB2418"/>
                </a:solidFill>
                <a:latin typeface="Menlo-Regular" panose="020B0609030804020204"/>
              </a:rPr>
              <a:t>bg</a:t>
            </a:r>
            <a:r>
              <a:rPr lang="en-US" sz="1600" dirty="0">
                <a:solidFill>
                  <a:srgbClr val="CB2418"/>
                </a:solidFill>
                <a:latin typeface="Menlo-Regular" panose="020B0609030804020204"/>
              </a:rPr>
              <a:t> or </a:t>
            </a:r>
            <a:r>
              <a:rPr lang="en-US" sz="1600" dirty="0" err="1">
                <a:solidFill>
                  <a:srgbClr val="CB2418"/>
                </a:solidFill>
                <a:latin typeface="Menlo-Regular" panose="020B0609030804020204"/>
              </a:rPr>
              <a:t>fg</a:t>
            </a:r>
            <a:r>
              <a:rPr lang="en-US" sz="1600" dirty="0">
                <a:solidFill>
                  <a:srgbClr val="CB2418"/>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           </a:t>
            </a:r>
            <a:r>
              <a:rPr lang="fi-FI" sz="1600" dirty="0">
                <a:solidFill>
                  <a:srgbClr val="CB2418"/>
                </a:solidFill>
                <a:latin typeface="Menlo-Regular" panose="020B0609030804020204"/>
              </a:rPr>
              <a:t>/* </a:t>
            </a:r>
            <a:r>
              <a:rPr lang="fi-FI" sz="1600" dirty="0" err="1">
                <a:solidFill>
                  <a:srgbClr val="CB2418"/>
                </a:solidFill>
                <a:latin typeface="Menlo-Regular" panose="020B0609030804020204"/>
              </a:rPr>
              <a:t>Process</a:t>
            </a:r>
            <a:r>
              <a:rPr lang="fi-FI" sz="1600" dirty="0">
                <a:solidFill>
                  <a:srgbClr val="CB2418"/>
                </a:solidFill>
                <a:latin typeface="Menlo-Regular" panose="020B0609030804020204"/>
              </a:rPr>
              <a:t> id */</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strcpy(buf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bg</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parseline(buf</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argv</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return</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Ignore empty lines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builtin_command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CB2418"/>
                </a:solidFill>
                <a:latin typeface="Menlo-Regular" panose="020B0609030804020204"/>
              </a:rPr>
              <a:t>/* Child runs user job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 environ) &lt;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argv</a:t>
            </a:r>
            <a:r>
              <a:rPr lang="en-US" sz="1600" dirty="0">
                <a:solidFill>
                  <a:srgbClr val="000000"/>
                </a:solidFill>
                <a:latin typeface="Menlo-Regular" panose="020B0609030804020204"/>
              </a:rPr>
              <a: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Parent waits for foreground job to terminate */</a:t>
            </a:r>
            <a:endParaRPr lang="en-US" sz="1600" dirty="0">
              <a:solidFill>
                <a:srgbClr val="000000"/>
              </a:solidFill>
              <a:latin typeface="Menlo-Regular" panose="020B0609030804020204"/>
            </a:endParaRPr>
          </a:p>
          <a:p>
            <a:r>
              <a:rPr lang="de-DE" sz="1600" dirty="0">
                <a:solidFill>
                  <a:srgbClr val="000000"/>
                </a:solidFill>
                <a:latin typeface="Menlo-Regular" panose="020B0609030804020204"/>
              </a:rPr>
              <a:t>	</a:t>
            </a:r>
            <a:r>
              <a:rPr lang="de-DE" sz="1600" dirty="0" err="1">
                <a:solidFill>
                  <a:srgbClr val="C200FF"/>
                </a:solidFill>
                <a:latin typeface="Menlo-Regular" panose="020B0609030804020204"/>
              </a:rPr>
              <a:t>if</a:t>
            </a:r>
            <a:r>
              <a:rPr lang="de-DE" sz="1600" dirty="0">
                <a:solidFill>
                  <a:srgbClr val="000000"/>
                </a:solidFill>
                <a:latin typeface="Menlo-Regular" panose="020B0609030804020204"/>
              </a:rPr>
              <a:t> (!</a:t>
            </a:r>
            <a:r>
              <a:rPr lang="de-DE" sz="1600" dirty="0" err="1">
                <a:solidFill>
                  <a:srgbClr val="000000"/>
                </a:solidFill>
                <a:latin typeface="Menlo-Regular" panose="020B0609030804020204"/>
              </a:rPr>
              <a:t>bg</a:t>
            </a:r>
            <a:r>
              <a:rPr lang="de-DE" sz="1600" dirty="0">
                <a:solidFill>
                  <a:srgbClr val="000000"/>
                </a:solidFill>
                <a:latin typeface="Menlo-Regular" panose="020B0609030804020204"/>
              </a:rPr>
              <a:t>) {</a:t>
            </a:r>
            <a:endParaRPr lang="de-DE"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err="1">
                <a:solidFill>
                  <a:srgbClr val="C1651C"/>
                </a:solidFill>
                <a:latin typeface="Menlo-Regular" panose="020B0609030804020204"/>
              </a:rPr>
              <a:t>status</a:t>
            </a:r>
            <a:r>
              <a:rPr lang="fr-FR" sz="1600" dirty="0">
                <a:solidFill>
                  <a:srgbClr val="000000"/>
                </a:solidFill>
                <a:latin typeface="Menlo-Regular" panose="020B0609030804020204"/>
              </a:rPr>
              <a:t>;</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waitpid</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&amp;status, 0) &lt; 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unix_error</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a:t>
            </a:r>
            <a:r>
              <a:rPr lang="en-US" sz="1600" dirty="0" err="1">
                <a:solidFill>
                  <a:srgbClr val="9D206F"/>
                </a:solidFill>
                <a:latin typeface="Menlo-Regular" panose="020B0609030804020204"/>
              </a:rPr>
              <a:t>waitfg</a:t>
            </a:r>
            <a:r>
              <a:rPr lang="en-US" sz="1600" dirty="0">
                <a:solidFill>
                  <a:srgbClr val="9D206F"/>
                </a:solidFill>
                <a:latin typeface="Menlo-Regular" panose="020B0609030804020204"/>
              </a:rPr>
              <a:t>: </a:t>
            </a:r>
            <a:r>
              <a:rPr lang="en-US" sz="1600" dirty="0" err="1">
                <a:solidFill>
                  <a:srgbClr val="9D206F"/>
                </a:solidFill>
                <a:latin typeface="Menlo-Regular" panose="020B0609030804020204"/>
              </a:rPr>
              <a:t>waitpid</a:t>
            </a:r>
            <a:r>
              <a:rPr lang="en-US" sz="1600" dirty="0">
                <a:solidFill>
                  <a:srgbClr val="9D206F"/>
                </a:solidFill>
                <a:latin typeface="Menlo-Regular" panose="020B0609030804020204"/>
              </a:rPr>
              <a:t> error"</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printf(</a:t>
            </a:r>
            <a:r>
              <a:rPr lang="fi-FI" sz="1600" dirty="0" err="1">
                <a:solidFill>
                  <a:srgbClr val="9D206F"/>
                </a:solidFill>
                <a:latin typeface="Menlo-Regular" panose="020B0609030804020204"/>
              </a:rPr>
              <a:t>"%d</a:t>
            </a:r>
            <a:r>
              <a:rPr lang="fi-FI" sz="1600" dirty="0">
                <a:solidFill>
                  <a:srgbClr val="9D206F"/>
                </a:solidFill>
                <a:latin typeface="Menlo-Regular" panose="020B0609030804020204"/>
              </a:rPr>
              <a:t> %s"</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cmdline</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Rectangle 3"/>
          <p:cNvSpPr>
            <a:spLocks noChangeArrowheads="1"/>
          </p:cNvSpPr>
          <p:nvPr/>
        </p:nvSpPr>
        <p:spPr bwMode="auto">
          <a:xfrm>
            <a:off x="8648565" y="6474937"/>
            <a:ext cx="141351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shellex.c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sp>
        <p:nvSpPr>
          <p:cNvPr id="5" name="TextBox 4"/>
          <p:cNvSpPr txBox="1"/>
          <p:nvPr/>
        </p:nvSpPr>
        <p:spPr>
          <a:xfrm>
            <a:off x="8573952" y="5139273"/>
            <a:ext cx="2976245" cy="830997"/>
          </a:xfrm>
          <a:prstGeom prst="rect">
            <a:avLst/>
          </a:prstGeom>
          <a:solidFill>
            <a:srgbClr val="DEDFF5"/>
          </a:solidFill>
        </p:spPr>
        <p:txBody>
          <a:bodyPr wrap="square" rtlCol="0">
            <a:spAutoFit/>
          </a:bodyPr>
          <a:lstStyle/>
          <a:p>
            <a:r>
              <a:rPr lang="zh-CN" altLang="en-US" sz="2400" b="0" i="1" dirty="0">
                <a:solidFill>
                  <a:schemeClr val="accent1">
                    <a:lumMod val="75000"/>
                  </a:schemeClr>
                </a:solidFill>
                <a:latin typeface="FangSong" panose="02010609060101010101" pitchFamily="49" charset="-122"/>
                <a:ea typeface="FangSong" panose="02010609060101010101" pitchFamily="49" charset="-122"/>
              </a:rPr>
              <a:t>糟糕！这个程序是有缺陷的。</a:t>
            </a:r>
            <a:endParaRPr lang="zh-CN" altLang="en-US" sz="2400" b="0" i="1" dirty="0">
              <a:solidFill>
                <a:schemeClr val="accent1">
                  <a:lumMod val="75000"/>
                </a:schemeClr>
              </a:solidFill>
              <a:latin typeface="FangSong" panose="02010609060101010101" pitchFamily="49" charset="-122"/>
              <a:ea typeface="FangSong" panose="02010609060101010101" pitchFamily="49" charset="-122"/>
            </a:endParaRPr>
          </a:p>
        </p:txBody>
      </p:sp>
      <p:sp>
        <p:nvSpPr>
          <p:cNvPr id="2" name="TextBox 4"/>
          <p:cNvSpPr txBox="1"/>
          <p:nvPr/>
        </p:nvSpPr>
        <p:spPr>
          <a:xfrm>
            <a:off x="8669655" y="3581400"/>
            <a:ext cx="3417570" cy="1014730"/>
          </a:xfrm>
          <a:prstGeom prst="rect">
            <a:avLst/>
          </a:prstGeom>
          <a:solidFill>
            <a:srgbClr val="DEDFF5"/>
          </a:solidFill>
        </p:spPr>
        <p:txBody>
          <a:bodyPr wrap="square" rtlCol="0">
            <a:spAutoFit/>
          </a:bodyPr>
          <a:lstStyle/>
          <a:p>
            <a:r>
              <a:rPr lang="en-US" altLang="zh-CN" sz="2000" b="0" i="1" dirty="0">
                <a:solidFill>
                  <a:srgbClr val="FF0000"/>
                </a:solidFill>
                <a:latin typeface="FangSong" panose="02010609060101010101" pitchFamily="49" charset="-122"/>
                <a:ea typeface="FangSong" panose="02010609060101010101" pitchFamily="49" charset="-122"/>
              </a:rPr>
              <a:t>Shell</a:t>
            </a:r>
            <a:r>
              <a:rPr lang="zh-CN" altLang="en-US" sz="2000" b="0" i="1" dirty="0">
                <a:solidFill>
                  <a:srgbClr val="FF0000"/>
                </a:solidFill>
                <a:latin typeface="FangSong" panose="02010609060101010101" pitchFamily="49" charset="-122"/>
                <a:ea typeface="FangSong" panose="02010609060101010101" pitchFamily="49" charset="-122"/>
              </a:rPr>
              <a:t>使用</a:t>
            </a:r>
            <a:r>
              <a:rPr lang="en-US" altLang="zh-CN" sz="2000" b="0" i="1" dirty="0">
                <a:solidFill>
                  <a:srgbClr val="FF0000"/>
                </a:solidFill>
                <a:latin typeface="FangSong" panose="02010609060101010101" pitchFamily="49" charset="-122"/>
                <a:ea typeface="FangSong" panose="02010609060101010101" pitchFamily="49" charset="-122"/>
              </a:rPr>
              <a:t>wait</a:t>
            </a:r>
            <a:r>
              <a:rPr lang="zh-CN" altLang="en-US" sz="2000" b="0" i="1" dirty="0">
                <a:solidFill>
                  <a:srgbClr val="FF0000"/>
                </a:solidFill>
                <a:latin typeface="FangSong" panose="02010609060101010101" pitchFamily="49" charset="-122"/>
                <a:ea typeface="FangSong" panose="02010609060101010101" pitchFamily="49" charset="-122"/>
              </a:rPr>
              <a:t>对前台子进程</a:t>
            </a:r>
            <a:r>
              <a:rPr lang="en-US" altLang="zh-CN" sz="2000" b="0" i="1" dirty="0">
                <a:solidFill>
                  <a:srgbClr val="FF0000"/>
                </a:solidFill>
                <a:latin typeface="FangSong" panose="02010609060101010101" pitchFamily="49" charset="-122"/>
                <a:ea typeface="FangSong" panose="02010609060101010101" pitchFamily="49" charset="-122"/>
              </a:rPr>
              <a:t>，</a:t>
            </a:r>
            <a:r>
              <a:rPr lang="zh-CN" altLang="en-US" sz="2000" b="0" i="1" dirty="0">
                <a:solidFill>
                  <a:srgbClr val="FF0000"/>
                </a:solidFill>
                <a:latin typeface="FangSong" panose="02010609060101010101" pitchFamily="49" charset="-122"/>
                <a:ea typeface="FangSong" panose="02010609060101010101" pitchFamily="49" charset="-122"/>
              </a:rPr>
              <a:t>进行回收</a:t>
            </a:r>
            <a:endParaRPr lang="zh-CN" altLang="en-US" sz="2000" b="0" i="1" dirty="0">
              <a:solidFill>
                <a:srgbClr val="FF0000"/>
              </a:solidFill>
              <a:latin typeface="FangSong" panose="02010609060101010101" pitchFamily="49" charset="-122"/>
              <a:ea typeface="FangSong" panose="02010609060101010101" pitchFamily="49" charset="-122"/>
            </a:endParaRPr>
          </a:p>
          <a:p>
            <a:r>
              <a:rPr lang="zh-CN" altLang="en-US" sz="2000" b="0" i="1" dirty="0">
                <a:solidFill>
                  <a:srgbClr val="FF0000"/>
                </a:solidFill>
                <a:latin typeface="FangSong" panose="02010609060101010101" pitchFamily="49" charset="-122"/>
                <a:ea typeface="FangSong" panose="02010609060101010101" pitchFamily="49" charset="-122"/>
              </a:rPr>
              <a:t>但是对于后台子进程呢</a:t>
            </a:r>
            <a:r>
              <a:rPr lang="en-US" altLang="zh-CN" sz="2000" b="0" i="1" dirty="0">
                <a:solidFill>
                  <a:srgbClr val="FF0000"/>
                </a:solidFill>
                <a:latin typeface="FangSong" panose="02010609060101010101" pitchFamily="49" charset="-122"/>
                <a:ea typeface="FangSong" panose="02010609060101010101" pitchFamily="49" charset="-122"/>
              </a:rPr>
              <a:t>？</a:t>
            </a:r>
            <a:endParaRPr lang="en-US" altLang="zh-CN" sz="2000" b="0" i="1" dirty="0">
              <a:solidFill>
                <a:srgbClr val="FF0000"/>
              </a:solidFill>
              <a:latin typeface="FangSong" panose="02010609060101010101" pitchFamily="49" charset="-122"/>
              <a:ea typeface="FangSong" panose="02010609060101010101" pitchFamily="49" charset="-122"/>
            </a:endParaRPr>
          </a:p>
        </p:txBody>
      </p:sp>
      <p:cxnSp>
        <p:nvCxnSpPr>
          <p:cNvPr id="3" name="Straight Arrow Connector 2"/>
          <p:cNvCxnSpPr>
            <a:stCxn id="7" idx="3"/>
            <a:endCxn id="2" idx="1"/>
          </p:cNvCxnSpPr>
          <p:nvPr/>
        </p:nvCxnSpPr>
        <p:spPr bwMode="auto">
          <a:xfrm flipV="1">
            <a:off x="7971155" y="4088765"/>
            <a:ext cx="698500" cy="1368425"/>
          </a:xfrm>
          <a:prstGeom prst="straightConnector1">
            <a:avLst/>
          </a:prstGeom>
          <a:noFill/>
          <a:ln w="25400" cap="flat" cmpd="sng" algn="ctr">
            <a:solidFill>
              <a:srgbClr val="00B050"/>
            </a:solidFill>
            <a:prstDash val="solid"/>
            <a:round/>
            <a:headEnd type="none" w="med" len="med"/>
            <a:tailEnd type="triangle"/>
          </a:ln>
          <a:effectLst/>
        </p:spPr>
      </p:cxnSp>
      <p:sp>
        <p:nvSpPr>
          <p:cNvPr id="7" name="Rectangle 6"/>
          <p:cNvSpPr/>
          <p:nvPr/>
        </p:nvSpPr>
        <p:spPr bwMode="auto">
          <a:xfrm>
            <a:off x="2702560" y="4785360"/>
            <a:ext cx="5268595" cy="1343025"/>
          </a:xfrm>
          <a:prstGeom prst="rect">
            <a:avLst/>
          </a:prstGeom>
          <a:noFill/>
          <a:ln w="31750" cap="flat" cmpd="sng" algn="ctr">
            <a:solidFill>
              <a:srgbClr val="00B050"/>
            </a:solidFill>
            <a:prstDash val="solid"/>
            <a:round/>
            <a:headEnd type="none" w="med" len="med"/>
            <a:tailEnd type="arrow" w="med" len="med"/>
          </a:ln>
          <a:effectLst/>
        </p:spPr>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lstStyle/>
          <a:p>
            <a:r>
              <a:rPr lang="zh-CN" altLang="en-US" dirty="0"/>
              <a:t>回顾</a:t>
            </a:r>
            <a:r>
              <a:rPr lang="en-US" altLang="zh-CN" dirty="0"/>
              <a:t>：</a:t>
            </a:r>
            <a:r>
              <a:rPr lang="zh-CN" altLang="en-US" dirty="0"/>
              <a:t>回收子进程</a:t>
            </a:r>
            <a:endParaRPr lang="zh-CN" altLang="en-US" dirty="0"/>
          </a:p>
        </p:txBody>
      </p:sp>
      <p:sp>
        <p:nvSpPr>
          <p:cNvPr id="496643" name="Rectangle 3"/>
          <p:cNvSpPr>
            <a:spLocks noGrp="1" noChangeArrowheads="1"/>
          </p:cNvSpPr>
          <p:nvPr>
            <p:ph idx="1"/>
          </p:nvPr>
        </p:nvSpPr>
        <p:spPr/>
        <p:txBody>
          <a:bodyPr/>
          <a:lstStyle/>
          <a:p>
            <a:r>
              <a:rPr lang="zh-CN" altLang="en-US" dirty="0"/>
              <a:t>概念</a:t>
            </a:r>
            <a:endParaRPr lang="en-US" dirty="0"/>
          </a:p>
          <a:p>
            <a:pPr lvl="1"/>
            <a:r>
              <a:rPr lang="zh-CN" altLang="en-US" dirty="0"/>
              <a:t>当进程终止时，它仍然占用系统资源</a:t>
            </a:r>
            <a:endParaRPr lang="zh-CN" altLang="en-US" dirty="0"/>
          </a:p>
          <a:p>
            <a:pPr lvl="2"/>
            <a:r>
              <a:rPr lang="zh-CN" altLang="en-US" dirty="0"/>
              <a:t>例如：退出状态、各种操作系统表</a:t>
            </a:r>
            <a:endParaRPr lang="zh-CN" altLang="en-US" dirty="0"/>
          </a:p>
          <a:p>
            <a:pPr lvl="1"/>
            <a:r>
              <a:rPr lang="zh-CN" altLang="en-US" dirty="0"/>
              <a:t>称为 </a:t>
            </a:r>
            <a:r>
              <a:rPr lang="en-US" altLang="zh-CN" dirty="0">
                <a:latin typeface="Consolas" panose="020B0609020204030204" pitchFamily="49" charset="0"/>
                <a:cs typeface="Consolas" panose="020B0609020204030204" pitchFamily="49" charset="0"/>
              </a:rPr>
              <a:t>zombie</a:t>
            </a:r>
            <a:endParaRPr lang="en-US" dirty="0"/>
          </a:p>
          <a:p>
            <a:r>
              <a:rPr lang="zh-CN" altLang="en-US" dirty="0"/>
              <a:t>父进程</a:t>
            </a:r>
            <a:r>
              <a:rPr lang="zh-CN" altLang="en-US" dirty="0"/>
              <a:t>主动回收</a:t>
            </a:r>
            <a:endParaRPr lang="en-US" dirty="0"/>
          </a:p>
          <a:p>
            <a:pPr lvl="1"/>
            <a:r>
              <a:rPr lang="zh-CN" altLang="en-US" dirty="0"/>
              <a:t>父进程对终止的子进程执行</a:t>
            </a:r>
            <a:r>
              <a:rPr lang="en-US" dirty="0"/>
              <a:t> (</a:t>
            </a:r>
            <a:r>
              <a:rPr lang="zh-CN" altLang="en-US" dirty="0"/>
              <a:t>使用</a:t>
            </a:r>
            <a:r>
              <a:rPr lang="en-US" dirty="0"/>
              <a:t> </a:t>
            </a:r>
            <a:r>
              <a:rPr lang="en-US" dirty="0">
                <a:latin typeface="Courier New" panose="02070609020205020404"/>
                <a:cs typeface="Courier New" panose="02070609020205020404"/>
              </a:rPr>
              <a:t>wait</a:t>
            </a:r>
            <a:r>
              <a:rPr lang="en-US" dirty="0"/>
              <a:t> </a:t>
            </a:r>
            <a:r>
              <a:rPr lang="zh-CN" altLang="en-US" dirty="0"/>
              <a:t>或</a:t>
            </a:r>
            <a:r>
              <a:rPr lang="en-US" dirty="0"/>
              <a:t> </a:t>
            </a:r>
            <a:r>
              <a:rPr lang="en-US" dirty="0" err="1">
                <a:latin typeface="Courier New" panose="02070609020205020404"/>
                <a:cs typeface="Courier New" panose="02070609020205020404"/>
              </a:rPr>
              <a:t>waitpid</a:t>
            </a:r>
            <a:r>
              <a:rPr lang="en-US" dirty="0"/>
              <a:t>)</a:t>
            </a:r>
            <a:endParaRPr lang="en-US" dirty="0"/>
          </a:p>
          <a:p>
            <a:pPr lvl="1"/>
            <a:r>
              <a:rPr lang="zh-CN" altLang="en-US" dirty="0"/>
              <a:t>父进程会获得子进程的退出状态信息</a:t>
            </a:r>
            <a:endParaRPr lang="zh-CN" altLang="en-US" dirty="0"/>
          </a:p>
          <a:p>
            <a:pPr lvl="1"/>
            <a:r>
              <a:rPr lang="zh-CN" altLang="en-US" dirty="0"/>
              <a:t>内核随后删除僵尸子进程</a:t>
            </a:r>
            <a:endParaRPr lang="zh-CN" altLang="en-US" dirty="0"/>
          </a:p>
          <a:p>
            <a:r>
              <a:rPr lang="zh-CN" altLang="en-US" dirty="0"/>
              <a:t>如果父进程未回收子进程？</a:t>
            </a:r>
            <a:endParaRPr lang="en-US" dirty="0"/>
          </a:p>
          <a:p>
            <a:pPr lvl="1"/>
            <a:r>
              <a:rPr lang="zh-CN" altLang="en-US" dirty="0"/>
              <a:t>如果父进程先于</a:t>
            </a:r>
            <a:r>
              <a:rPr lang="zh-CN" altLang="en-US" dirty="0"/>
              <a:t>子进程终止而未回收子进程，孤儿进程会被</a:t>
            </a:r>
            <a:r>
              <a:rPr lang="en-US" dirty="0"/>
              <a:t> </a:t>
            </a:r>
            <a:r>
              <a:rPr lang="en-US" b="1" dirty="0">
                <a:latin typeface="Courier New" panose="02070609020205020404" charset="0"/>
              </a:rPr>
              <a:t>init</a:t>
            </a:r>
            <a:r>
              <a:rPr lang="en-US" dirty="0"/>
              <a:t> </a:t>
            </a:r>
            <a:r>
              <a:rPr lang="zh-CN" altLang="en-US" dirty="0"/>
              <a:t>进程回收</a:t>
            </a:r>
            <a:r>
              <a:rPr lang="en-US" dirty="0"/>
              <a:t>(</a:t>
            </a:r>
            <a:r>
              <a:rPr lang="en-US" dirty="0" err="1">
                <a:latin typeface="Consolas" panose="020B0609020204030204" pitchFamily="49" charset="0"/>
                <a:cs typeface="Consolas" panose="020B0609020204030204" pitchFamily="49" charset="0"/>
              </a:rPr>
              <a:t>pid</a:t>
            </a:r>
            <a:r>
              <a:rPr lang="en-US" dirty="0">
                <a:latin typeface="Consolas" panose="020B0609020204030204" pitchFamily="49" charset="0"/>
                <a:cs typeface="Consolas" panose="020B0609020204030204" pitchFamily="49" charset="0"/>
              </a:rPr>
              <a:t> == 1</a:t>
            </a:r>
            <a:r>
              <a:rPr lang="en-US" dirty="0"/>
              <a:t>)</a:t>
            </a:r>
            <a:endParaRPr lang="en-US" dirty="0"/>
          </a:p>
          <a:p>
            <a:pPr lvl="2"/>
            <a:r>
              <a:rPr lang="zh-CN" altLang="en-US" dirty="0"/>
              <a:t>但是回收会比较慢</a:t>
            </a:r>
            <a:r>
              <a:rPr lang="en-US" altLang="zh-CN" dirty="0"/>
              <a:t>，</a:t>
            </a:r>
            <a:r>
              <a:rPr lang="zh-CN" altLang="en-US" dirty="0"/>
              <a:t>不太及时</a:t>
            </a:r>
            <a:endParaRPr lang="en-US" dirty="0"/>
          </a:p>
          <a:p>
            <a:pPr lvl="1"/>
            <a:r>
              <a:rPr lang="zh-CN" altLang="en-US" dirty="0">
                <a:solidFill>
                  <a:srgbClr val="FF0000"/>
                </a:solidFill>
              </a:rPr>
              <a:t>如果父进程长时间运行</a:t>
            </a:r>
            <a:r>
              <a:rPr lang="en-US" altLang="zh-CN" dirty="0">
                <a:solidFill>
                  <a:srgbClr val="FF0000"/>
                </a:solidFill>
              </a:rPr>
              <a:t>，</a:t>
            </a:r>
            <a:r>
              <a:rPr lang="zh-CN" altLang="en-US" dirty="0">
                <a:solidFill>
                  <a:srgbClr val="FF0000"/>
                </a:solidFill>
              </a:rPr>
              <a:t>却没有回收子进程</a:t>
            </a:r>
            <a:r>
              <a:rPr lang="en-US" altLang="zh-CN" dirty="0">
                <a:solidFill>
                  <a:srgbClr val="FF0000"/>
                </a:solidFill>
              </a:rPr>
              <a:t>，</a:t>
            </a:r>
            <a:r>
              <a:rPr lang="zh-CN" altLang="en-US" dirty="0">
                <a:solidFill>
                  <a:srgbClr val="FF0000"/>
                </a:solidFill>
              </a:rPr>
              <a:t>则会有系统资源泄漏</a:t>
            </a:r>
            <a:endParaRPr lang="zh-CN" altLang="en-US" dirty="0">
              <a:solidFill>
                <a:srgbClr val="FF0000"/>
              </a:solidFill>
            </a:endParaRPr>
          </a:p>
          <a:p>
            <a:pPr lvl="2"/>
            <a:r>
              <a:rPr lang="zh-CN" altLang="en-US" dirty="0">
                <a:solidFill>
                  <a:srgbClr val="FF0000"/>
                </a:solidFill>
                <a:cs typeface="+mn-ea"/>
              </a:rPr>
              <a:t>例如</a:t>
            </a:r>
            <a:r>
              <a:rPr lang="en-US" altLang="zh-CN" dirty="0">
                <a:solidFill>
                  <a:srgbClr val="FF0000"/>
                </a:solidFill>
                <a:cs typeface="+mn-ea"/>
              </a:rPr>
              <a:t> </a:t>
            </a:r>
            <a:r>
              <a:rPr lang="en-US" dirty="0">
                <a:solidFill>
                  <a:srgbClr val="FF0000"/>
                </a:solidFill>
                <a:latin typeface="Consolas" panose="020B0609020204030204" pitchFamily="49" charset="0"/>
                <a:ea typeface="SimHei" panose="02010600030101010101" charset="-122"/>
                <a:cs typeface="Consolas" panose="020B0609020204030204" pitchFamily="49" charset="0"/>
              </a:rPr>
              <a:t>shell</a:t>
            </a:r>
            <a:r>
              <a:rPr lang="en-US" dirty="0">
                <a:solidFill>
                  <a:srgbClr val="FF0000"/>
                </a:solidFill>
              </a:rPr>
              <a:t> </a:t>
            </a:r>
            <a:r>
              <a:rPr lang="zh-CN" altLang="en-US" dirty="0">
                <a:solidFill>
                  <a:srgbClr val="FF0000"/>
                </a:solidFill>
              </a:rPr>
              <a:t>和服务器程序</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9664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664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664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664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664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664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664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664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effectLst/>
        </p:spPr>
        <p:txBody>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a:latin typeface="Consolas" panose="020B0609020204030204" pitchFamily="49" charset="0"/>
                <a:cs typeface="Consolas" panose="020B0609020204030204" pitchFamily="49" charset="0"/>
                <a:sym typeface="+mn-ea"/>
              </a:rPr>
              <a:t>示例</a:t>
            </a:r>
            <a:r>
              <a:rPr lang="en-US" altLang="zh-CN" dirty="0">
                <a:latin typeface="Consolas" panose="020B0609020204030204" pitchFamily="49" charset="0"/>
                <a:cs typeface="Consolas" panose="020B0609020204030204" pitchFamily="49" charset="0"/>
                <a:sym typeface="+mn-ea"/>
              </a:rPr>
              <a:t> </a:t>
            </a:r>
            <a:r>
              <a:rPr lang="en-US" dirty="0">
                <a:latin typeface="Consolas" panose="020B0609020204030204" pitchFamily="49" charset="0"/>
                <a:cs typeface="Consolas" panose="020B0609020204030204" pitchFamily="49" charset="0"/>
                <a:sym typeface="+mn-ea"/>
              </a:rPr>
              <a:t>Shell</a:t>
            </a:r>
            <a:r>
              <a:rPr lang="en-US" dirty="0">
                <a:latin typeface="Courier New" panose="02070609020205020404" charset="0"/>
                <a:cs typeface="Courier New" panose="02070609020205020404" charset="0"/>
                <a:sym typeface="+mn-ea"/>
              </a:rPr>
              <a:t> </a:t>
            </a:r>
            <a:r>
              <a:rPr lang="zh-CN" altLang="en-US" dirty="0">
                <a:latin typeface="Courier New" panose="02070609020205020404" charset="0"/>
                <a:cs typeface="Courier New" panose="02070609020205020404" charset="0"/>
                <a:sym typeface="+mn-ea"/>
              </a:rPr>
              <a:t>的缺陷</a:t>
            </a:r>
            <a:endParaRPr lang="en-US" altLang="zh-CN" dirty="0">
              <a:latin typeface="Courier New" panose="02070609020205020404" charset="0"/>
              <a:cs typeface="Courier New" panose="02070609020205020404" charset="0"/>
              <a:sym typeface="+mn-ea"/>
            </a:endParaRPr>
          </a:p>
        </p:txBody>
      </p:sp>
      <p:sp>
        <p:nvSpPr>
          <p:cNvPr id="685059" name="Rectangle 3"/>
          <p:cNvSpPr>
            <a:spLocks noGrp="1" noChangeArrowheads="1"/>
          </p:cNvSpPr>
          <p:nvPr>
            <p:ph idx="1"/>
          </p:nvPr>
        </p:nvSpPr>
        <p:spPr/>
        <p:txBody>
          <a:bodyPr vert="horz" wrap="square" lIns="90360" tIns="44280" rIns="90360" bIns="44280" numCol="1" anchor="t" anchorCtr="0" compatLnSpc="1"/>
          <a:lstStyle/>
          <a:p>
            <a:pPr marL="284480"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en-GB" dirty="0">
                <a:latin typeface="Consolas" panose="020B0609020204030204" pitchFamily="49" charset="0"/>
                <a:cs typeface="Consolas" panose="020B0609020204030204" pitchFamily="49" charset="0"/>
              </a:rPr>
              <a:t>Shell </a:t>
            </a:r>
            <a:r>
              <a:rPr lang="zh-CN" altLang="en-GB" dirty="0"/>
              <a:t>设计的目标是</a:t>
            </a:r>
            <a:r>
              <a:rPr lang="zh-CN" altLang="en-US" dirty="0"/>
              <a:t>持续</a:t>
            </a:r>
            <a:r>
              <a:rPr lang="zh-CN" altLang="en-GB" dirty="0"/>
              <a:t>运行</a:t>
            </a:r>
            <a:endParaRPr lang="en-GB" dirty="0"/>
          </a:p>
          <a:p>
            <a:pPr marL="684530" lvl="1"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US" dirty="0"/>
              <a:t>不应持续</a:t>
            </a:r>
            <a:r>
              <a:rPr lang="zh-CN" altLang="en-US" dirty="0"/>
              <a:t>占用不必要的资源</a:t>
            </a:r>
            <a:r>
              <a:rPr lang="en-US" altLang="zh-CN" dirty="0"/>
              <a:t>——</a:t>
            </a:r>
            <a:r>
              <a:rPr lang="zh-CN" altLang="en-US" dirty="0"/>
              <a:t>导致资源</a:t>
            </a:r>
            <a:r>
              <a:rPr lang="zh-CN" altLang="en-US" dirty="0"/>
              <a:t>泄露</a:t>
            </a:r>
            <a:endParaRPr lang="zh-CN" altLang="en-US" dirty="0"/>
          </a:p>
          <a:p>
            <a:pPr marL="1084580" lvl="2"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dirty="0"/>
              <a:t>内存</a:t>
            </a:r>
            <a:endParaRPr lang="en-GB" dirty="0"/>
          </a:p>
          <a:p>
            <a:pPr marL="1084580" lvl="2"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dirty="0"/>
              <a:t>子进程</a:t>
            </a:r>
            <a:r>
              <a:rPr lang="en-US" altLang="zh-CN" dirty="0"/>
              <a:t> （OS</a:t>
            </a:r>
            <a:r>
              <a:rPr lang="zh-CN" altLang="en-US" dirty="0"/>
              <a:t>内核维护的进程列表</a:t>
            </a:r>
            <a:r>
              <a:rPr lang="en-US" altLang="zh-CN" dirty="0"/>
              <a:t>）</a:t>
            </a:r>
            <a:endParaRPr lang="en-GB" dirty="0"/>
          </a:p>
          <a:p>
            <a:pPr marL="1084580" lvl="2"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dirty="0"/>
              <a:t>文件描述符</a:t>
            </a:r>
            <a:endParaRPr lang="en-GB" dirty="0"/>
          </a:p>
          <a:p>
            <a:pPr marL="284480"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marL="284480"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dirty="0"/>
              <a:t>示例</a:t>
            </a:r>
            <a:r>
              <a:rPr lang="en-US" altLang="zh-CN" dirty="0">
                <a:latin typeface="Consolas" panose="020B0609020204030204" pitchFamily="49" charset="0"/>
                <a:cs typeface="Consolas" panose="020B0609020204030204" pitchFamily="49" charset="0"/>
              </a:rPr>
              <a:t> S</a:t>
            </a:r>
            <a:r>
              <a:rPr lang="en-GB" dirty="0">
                <a:latin typeface="Consolas" panose="020B0609020204030204" pitchFamily="49" charset="0"/>
                <a:cs typeface="Consolas" panose="020B0609020204030204" pitchFamily="49" charset="0"/>
              </a:rPr>
              <a:t>hell </a:t>
            </a:r>
            <a:r>
              <a:rPr lang="zh-CN" altLang="en-GB" dirty="0"/>
              <a:t>可以</a:t>
            </a:r>
            <a:r>
              <a:rPr lang="zh-CN" altLang="en-US" dirty="0"/>
              <a:t>正确地等待并回收前台任务</a:t>
            </a:r>
            <a:endParaRPr lang="zh-CN" altLang="en-US" dirty="0"/>
          </a:p>
          <a:p>
            <a:pPr marL="284480"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endParaRPr lang="en-GB" dirty="0"/>
          </a:p>
          <a:p>
            <a:pPr marL="284480"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US" dirty="0"/>
              <a:t>但</a:t>
            </a:r>
            <a:r>
              <a:rPr lang="zh-CN" altLang="en-GB" dirty="0">
                <a:solidFill>
                  <a:srgbClr val="00B050"/>
                </a:solidFill>
              </a:rPr>
              <a:t>后台任务</a:t>
            </a:r>
            <a:r>
              <a:rPr lang="zh-CN" altLang="en-US" dirty="0"/>
              <a:t>呢？</a:t>
            </a:r>
            <a:endParaRPr lang="en-GB" dirty="0"/>
          </a:p>
          <a:p>
            <a:pPr marL="631825" lvl="1" indent="-266700"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US" dirty="0"/>
              <a:t>终止后会变成僵尸进程</a:t>
            </a:r>
            <a:endParaRPr lang="zh-CN" altLang="en-US" dirty="0"/>
          </a:p>
          <a:p>
            <a:pPr marL="631825" lvl="1" indent="-266700"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US" b="1" dirty="0"/>
              <a:t>因为</a:t>
            </a:r>
            <a:r>
              <a:rPr lang="en-US" altLang="zh-CN" b="1" dirty="0">
                <a:latin typeface="Consolas" panose="020B0609020204030204" pitchFamily="49" charset="0"/>
                <a:cs typeface="Consolas" panose="020B0609020204030204" pitchFamily="49" charset="0"/>
              </a:rPr>
              <a:t> Shell</a:t>
            </a:r>
            <a:r>
              <a:rPr lang="en-US" altLang="zh-CN" b="1" dirty="0"/>
              <a:t> </a:t>
            </a:r>
            <a:r>
              <a:rPr lang="zh-CN" altLang="en-US" b="1" dirty="0"/>
              <a:t>（通常）不会终止</a:t>
            </a:r>
            <a:r>
              <a:rPr lang="zh-CN" altLang="en-US" dirty="0"/>
              <a:t>，这些僵尸进程将永远不会被回收</a:t>
            </a:r>
            <a:endParaRPr lang="zh-CN" altLang="en-US" dirty="0"/>
          </a:p>
          <a:p>
            <a:pPr marL="631825" lvl="1" indent="-266700"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US" dirty="0"/>
              <a:t>会导致内存泄漏，可能耗尽内存</a:t>
            </a:r>
            <a:endParaRPr lang="zh-CN"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a:effectLst/>
        </p:spPr>
        <p:txBody>
          <a:bodyPr/>
          <a:lstStyle/>
          <a:p>
            <a: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a:cs typeface="仿宋" panose="02010609060101010101" pitchFamily="49" charset="-122"/>
                <a:sym typeface="+mn-ea"/>
              </a:rPr>
              <a:t>异常控制流 </a:t>
            </a:r>
            <a:r>
              <a:rPr lang="en-US" altLang="zh-CN" dirty="0">
                <a:cs typeface="仿宋" panose="02010609060101010101" pitchFamily="49" charset="-122"/>
                <a:sym typeface="+mn-ea"/>
              </a:rPr>
              <a:t>ECF</a:t>
            </a:r>
            <a:r>
              <a:rPr lang="zh-CN" altLang="en-US" dirty="0">
                <a:cs typeface="仿宋" panose="02010609060101010101" pitchFamily="49" charset="-122"/>
                <a:sym typeface="+mn-ea"/>
              </a:rPr>
              <a:t> 来拯救！</a:t>
            </a:r>
            <a:endParaRPr lang="en-GB" dirty="0"/>
          </a:p>
        </p:txBody>
      </p:sp>
      <p:sp>
        <p:nvSpPr>
          <p:cNvPr id="687107" name="Rectangle 3"/>
          <p:cNvSpPr>
            <a:spLocks noGrp="1" noChangeArrowheads="1"/>
          </p:cNvSpPr>
          <p:nvPr>
            <p:ph idx="1"/>
          </p:nvPr>
        </p:nvSpPr>
        <p:spPr/>
        <p:txBody>
          <a:bodyPr vert="horz" wrap="square" lIns="90360" tIns="44280" rIns="90360" bIns="44280" numCol="1" anchor="t" anchorCtr="0" compatLnSpc="1"/>
          <a:lstStyle/>
          <a:p>
            <a:pPr marL="284480" indent="-319405"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sz="2800" dirty="0"/>
              <a:t>解决方案：</a:t>
            </a:r>
            <a:r>
              <a:rPr lang="zh-CN" altLang="en-US" sz="2800" dirty="0">
                <a:cs typeface="仿宋" panose="02010609060101010101" pitchFamily="49" charset="-122"/>
                <a:sym typeface="+mn-ea"/>
              </a:rPr>
              <a:t>异常控制流</a:t>
            </a:r>
            <a:endParaRPr lang="en-GB" sz="2800" dirty="0"/>
          </a:p>
          <a:p>
            <a:pPr marL="631825" lvl="1" indent="-266700"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sz="2400" dirty="0">
                <a:cs typeface="+mn-ea"/>
              </a:rPr>
              <a:t>内核会中断常规处理来通知后台进程</a:t>
            </a:r>
            <a:r>
              <a:rPr lang="zh-CN" altLang="en-GB" sz="2400" dirty="0">
                <a:cs typeface="+mn-ea"/>
              </a:rPr>
              <a:t>已经完成</a:t>
            </a:r>
            <a:endParaRPr lang="zh-CN" altLang="en-US" dirty="0"/>
          </a:p>
          <a:p>
            <a:pPr marL="631825" lvl="1" indent="-266700" defTabSz="457200">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sz="2400" dirty="0"/>
              <a:t>在</a:t>
            </a:r>
            <a:r>
              <a:rPr lang="en-US" altLang="zh-CN" sz="2400" dirty="0">
                <a:latin typeface="Consolas" panose="020B0609020204030204" pitchFamily="49" charset="0"/>
                <a:cs typeface="Consolas" panose="020B0609020204030204" pitchFamily="49" charset="0"/>
              </a:rPr>
              <a:t> </a:t>
            </a:r>
            <a:r>
              <a:rPr lang="en-GB" sz="2400" dirty="0">
                <a:latin typeface="Consolas" panose="020B0609020204030204" pitchFamily="49" charset="0"/>
                <a:cs typeface="Consolas" panose="020B0609020204030204" pitchFamily="49" charset="0"/>
              </a:rPr>
              <a:t>Unix</a:t>
            </a:r>
            <a:r>
              <a:rPr lang="en-US" altLang="en-GB" sz="2400" dirty="0">
                <a:latin typeface="Consolas" panose="020B0609020204030204" pitchFamily="49" charset="0"/>
                <a:cs typeface="Consolas" panose="020B0609020204030204" pitchFamily="49" charset="0"/>
              </a:rPr>
              <a:t> </a:t>
            </a:r>
            <a:r>
              <a:rPr lang="zh-CN" altLang="en-US" sz="2400" dirty="0"/>
              <a:t>中，</a:t>
            </a:r>
            <a:r>
              <a:rPr lang="zh-CN" altLang="en-GB" sz="2400" dirty="0"/>
              <a:t>这种通知机制称为</a:t>
            </a:r>
            <a:r>
              <a:rPr lang="zh-CN" altLang="en-GB" sz="2400" b="1" i="1" dirty="0">
                <a:solidFill>
                  <a:srgbClr val="C00000"/>
                </a:solidFill>
              </a:rPr>
              <a:t>信号</a:t>
            </a:r>
            <a:endParaRPr lang="zh-CN" altLang="en-GB" sz="2400" b="1" i="1" dirty="0">
              <a:solidFill>
                <a:srgbClr val="C00000"/>
              </a:solidFill>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主要内容</a:t>
            </a:r>
            <a:endParaRPr lang="zh-CN" altLang="en-US" dirty="0"/>
          </a:p>
        </p:txBody>
      </p:sp>
      <p:sp>
        <p:nvSpPr>
          <p:cNvPr id="3" name="Content Placeholder 2"/>
          <p:cNvSpPr>
            <a:spLocks noGrp="1"/>
          </p:cNvSpPr>
          <p:nvPr>
            <p:ph idx="1"/>
          </p:nvPr>
        </p:nvSpPr>
        <p:spPr/>
        <p:txBody>
          <a:bodyPr/>
          <a:lstStyle/>
          <a:p>
            <a:r>
              <a:rPr lang="zh-CN" altLang="en-US" dirty="0">
                <a:solidFill>
                  <a:schemeClr val="tx1"/>
                </a:solidFill>
                <a:latin typeface="Consolas" panose="020B0609020204030204" pitchFamily="49" charset="0"/>
                <a:cs typeface="Consolas" panose="020B0609020204030204" pitchFamily="49" charset="0"/>
              </a:rPr>
              <a:t>Shell</a:t>
            </a:r>
            <a:endParaRPr lang="zh-CN" altLang="en-US" dirty="0">
              <a:solidFill>
                <a:schemeClr val="tx1"/>
              </a:solidFill>
              <a:latin typeface="Consolas" panose="020B0609020204030204" pitchFamily="49" charset="0"/>
              <a:cs typeface="Consolas" panose="020B0609020204030204" pitchFamily="49" charset="0"/>
            </a:endParaRPr>
          </a:p>
          <a:p>
            <a:pPr algn="l"/>
            <a:r>
              <a:rPr lang="en-US" dirty="0">
                <a:solidFill>
                  <a:schemeClr val="tx1"/>
                </a:solidFill>
                <a:latin typeface="仿宋" panose="02010609060101010101" pitchFamily="49" charset="-122"/>
                <a:cs typeface="Consolas" panose="020B0609020204030204" pitchFamily="49" charset="0"/>
              </a:rPr>
              <a:t>信号</a:t>
            </a:r>
            <a:endParaRPr lang="en-US" dirty="0">
              <a:solidFill>
                <a:schemeClr val="tx1"/>
              </a:solidFill>
              <a:latin typeface="仿宋" panose="02010609060101010101" pitchFamily="49" charset="-122"/>
              <a:cs typeface="Consolas" panose="020B0609020204030204" pitchFamily="49" charset="0"/>
            </a:endParaRPr>
          </a:p>
          <a:p>
            <a:pPr lvl="1" algn="l"/>
            <a:r>
              <a:rPr lang="zh-CN" altLang="en-US" sz="2000" dirty="0">
                <a:solidFill>
                  <a:schemeClr val="tx1"/>
                </a:solidFill>
                <a:latin typeface="仿宋" panose="02010609060101010101" pitchFamily="49" charset="-122"/>
                <a:cs typeface="Consolas" panose="020B0609020204030204" pitchFamily="49" charset="0"/>
              </a:rPr>
              <a:t>信号的发送</a:t>
            </a:r>
            <a:endParaRPr lang="zh-CN" altLang="en-US" sz="2000" dirty="0">
              <a:solidFill>
                <a:schemeClr val="tx1"/>
              </a:solidFill>
              <a:latin typeface="仿宋" panose="02010609060101010101" pitchFamily="49" charset="-122"/>
              <a:cs typeface="Consolas" panose="020B0609020204030204" pitchFamily="49" charset="0"/>
            </a:endParaRPr>
          </a:p>
          <a:p>
            <a:pPr lvl="1" algn="l"/>
            <a:r>
              <a:rPr lang="zh-CN" altLang="en-US" sz="2000" dirty="0">
                <a:solidFill>
                  <a:schemeClr val="bg1">
                    <a:lumMod val="65000"/>
                  </a:schemeClr>
                </a:solidFill>
                <a:latin typeface="仿宋" panose="02010609060101010101" pitchFamily="49" charset="-122"/>
                <a:cs typeface="Consolas" panose="020B0609020204030204" pitchFamily="49" charset="0"/>
              </a:rPr>
              <a:t>信号的接收</a:t>
            </a:r>
            <a:endParaRPr lang="zh-CN" altLang="en-US" sz="2000" dirty="0">
              <a:solidFill>
                <a:schemeClr val="bg1">
                  <a:lumMod val="65000"/>
                </a:schemeClr>
              </a:solidFill>
              <a:latin typeface="仿宋" panose="02010609060101010101" pitchFamily="49" charset="-122"/>
              <a:cs typeface="Consolas" panose="020B0609020204030204" pitchFamily="49" charset="0"/>
            </a:endParaRPr>
          </a:p>
          <a:p>
            <a:pPr lvl="1" algn="l"/>
            <a:r>
              <a:rPr lang="zh-CN" altLang="en-US" dirty="0">
                <a:solidFill>
                  <a:schemeClr val="bg1">
                    <a:lumMod val="65000"/>
                  </a:schemeClr>
                </a:solidFill>
                <a:latin typeface="仿宋" panose="02010609060101010101" pitchFamily="49" charset="-122"/>
                <a:cs typeface="Consolas" panose="020B0609020204030204" pitchFamily="49" charset="0"/>
              </a:rPr>
              <a:t>安全的信号处理函数</a:t>
            </a:r>
            <a:endParaRPr lang="zh-CN" altLang="en-US" dirty="0">
              <a:solidFill>
                <a:schemeClr val="bg1">
                  <a:lumMod val="65000"/>
                </a:schemeClr>
              </a:solidFill>
              <a:latin typeface="仿宋" panose="02010609060101010101" pitchFamily="49" charset="-122"/>
              <a:cs typeface="Consolas" panose="020B0609020204030204" pitchFamily="49" charset="0"/>
            </a:endParaRPr>
          </a:p>
          <a:p>
            <a:pPr lvl="1" algn="l"/>
            <a:r>
              <a:rPr lang="zh-CN" altLang="en-US" dirty="0">
                <a:solidFill>
                  <a:schemeClr val="bg1">
                    <a:lumMod val="65000"/>
                  </a:schemeClr>
                </a:solidFill>
                <a:latin typeface="仿宋" panose="02010609060101010101" pitchFamily="49" charset="-122"/>
                <a:cs typeface="Consolas" panose="020B0609020204030204" pitchFamily="49" charset="0"/>
              </a:rPr>
              <a:t>几个典型的例子</a:t>
            </a:r>
            <a:endParaRPr lang="en-US" dirty="0">
              <a:solidFill>
                <a:schemeClr val="bg1">
                  <a:lumMod val="65000"/>
                </a:schemeClr>
              </a:solidFill>
              <a:latin typeface="仿宋" panose="02010609060101010101" pitchFamily="49" charset="-122"/>
              <a:cs typeface="Consolas" panose="020B0609020204030204" pitchFamily="49" charset="0"/>
            </a:endParaRPr>
          </a:p>
          <a:p>
            <a:r>
              <a:rPr lang="zh-CN" altLang="en-US" dirty="0">
                <a:solidFill>
                  <a:schemeClr val="bg1">
                    <a:lumMod val="65000"/>
                  </a:schemeClr>
                </a:solidFill>
                <a:latin typeface="仿宋" panose="02010609060101010101" pitchFamily="49" charset="-122"/>
              </a:rPr>
              <a:t>非本地跳转</a:t>
            </a:r>
            <a:endParaRPr lang="zh-CN" altLang="en-US" dirty="0">
              <a:solidFill>
                <a:schemeClr val="bg1">
                  <a:lumMod val="65000"/>
                </a:schemeClr>
              </a:solidFill>
              <a:latin typeface="仿宋"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58" name="Rectangle 42"/>
          <p:cNvSpPr>
            <a:spLocks noGrp="1" noChangeArrowheads="1"/>
          </p:cNvSpPr>
          <p:nvPr>
            <p:ph type="title"/>
          </p:nvPr>
        </p:nvSpPr>
        <p:spPr/>
        <p:txBody>
          <a:bodyPr/>
          <a:lstStyle/>
          <a:p>
            <a:r>
              <a:rPr lang="zh-CN" altLang="en-US" dirty="0"/>
              <a:t>信号</a:t>
            </a:r>
            <a:endParaRPr lang="zh-CN" altLang="en-US" dirty="0"/>
          </a:p>
        </p:txBody>
      </p:sp>
      <p:sp>
        <p:nvSpPr>
          <p:cNvPr id="521259" name="Rectangle 43"/>
          <p:cNvSpPr>
            <a:spLocks noGrp="1" noChangeArrowheads="1"/>
          </p:cNvSpPr>
          <p:nvPr>
            <p:ph idx="1"/>
          </p:nvPr>
        </p:nvSpPr>
        <p:spPr/>
        <p:txBody>
          <a:bodyPr/>
          <a:lstStyle/>
          <a:p>
            <a:r>
              <a:rPr lang="zh-CN" altLang="en-US" dirty="0">
                <a:latin typeface="仿宋" panose="02010609060101010101" pitchFamily="49" charset="-122"/>
              </a:rPr>
              <a:t>一个</a:t>
            </a:r>
            <a:r>
              <a:rPr lang="en-US" i="1" dirty="0">
                <a:solidFill>
                  <a:srgbClr val="C00000"/>
                </a:solidFill>
                <a:latin typeface="仿宋" panose="02010609060101010101" pitchFamily="49" charset="-122"/>
              </a:rPr>
              <a:t>信号</a:t>
            </a:r>
            <a:r>
              <a:rPr lang="zh-CN" altLang="en-US">
                <a:latin typeface="仿宋" panose="02010609060101010101" pitchFamily="49" charset="-122"/>
              </a:rPr>
              <a:t>就是一条小消息，它通知进程系统中</a:t>
            </a:r>
            <a:r>
              <a:rPr lang="zh-CN" altLang="en-US">
                <a:latin typeface="仿宋" panose="02010609060101010101" pitchFamily="49" charset="-122"/>
                <a:sym typeface="+mn-ea"/>
              </a:rPr>
              <a:t>发生了一个</a:t>
            </a:r>
            <a:r>
              <a:rPr lang="zh-CN" altLang="en-US">
                <a:latin typeface="仿宋" panose="02010609060101010101" pitchFamily="49" charset="-122"/>
              </a:rPr>
              <a:t>某种类型的事件</a:t>
            </a:r>
            <a:endParaRPr lang="zh-CN" altLang="en-US">
              <a:latin typeface="仿宋" panose="02010609060101010101" pitchFamily="49" charset="-122"/>
            </a:endParaRPr>
          </a:p>
          <a:p>
            <a:pPr lvl="1"/>
            <a:r>
              <a:rPr lang="zh-CN" altLang="en-US"/>
              <a:t>类似于异常和中断</a:t>
            </a:r>
            <a:endParaRPr lang="zh-CN" altLang="en-US"/>
          </a:p>
          <a:p>
            <a:pPr lvl="1"/>
            <a:r>
              <a:rPr lang="zh-CN" altLang="en-US"/>
              <a:t>从</a:t>
            </a:r>
            <a:r>
              <a:rPr lang="zh-CN" altLang="en-US">
                <a:solidFill>
                  <a:srgbClr val="00B050"/>
                </a:solidFill>
              </a:rPr>
              <a:t>内核发送</a:t>
            </a:r>
            <a:r>
              <a:rPr lang="zh-CN" altLang="en-US"/>
              <a:t>（有时由其他进程请求）到</a:t>
            </a:r>
            <a:r>
              <a:rPr lang="zh-CN" altLang="en-US">
                <a:solidFill>
                  <a:srgbClr val="00B050"/>
                </a:solidFill>
              </a:rPr>
              <a:t>目标进程</a:t>
            </a:r>
            <a:endParaRPr lang="zh-CN" altLang="en-US"/>
          </a:p>
          <a:p>
            <a:pPr lvl="1"/>
            <a:r>
              <a:rPr lang="zh-CN" altLang="en-US"/>
              <a:t>信号类型通过</a:t>
            </a:r>
            <a:r>
              <a:rPr lang="en-US" altLang="zh-CN">
                <a:latin typeface="Consolas" panose="020B0609020204030204" pitchFamily="49" charset="0"/>
                <a:cs typeface="Consolas" panose="020B0609020204030204" pitchFamily="49" charset="0"/>
              </a:rPr>
              <a:t> ID</a:t>
            </a:r>
            <a:r>
              <a:rPr lang="zh-CN" altLang="en-US">
                <a:latin typeface="Consolas" panose="020B0609020204030204" pitchFamily="49" charset="0"/>
                <a:cs typeface="Consolas" panose="020B0609020204030204" pitchFamily="49" charset="0"/>
              </a:rPr>
              <a:t>（</a:t>
            </a:r>
            <a:r>
              <a:rPr lang="en-US" altLang="zh-CN">
                <a:latin typeface="Consolas" panose="020B0609020204030204" pitchFamily="49" charset="0"/>
                <a:cs typeface="Consolas" panose="020B0609020204030204" pitchFamily="49" charset="0"/>
              </a:rPr>
              <a:t>1-30</a:t>
            </a:r>
            <a:r>
              <a:rPr lang="zh-CN" altLang="en-US">
                <a:latin typeface="Consolas" panose="020B0609020204030204" pitchFamily="49" charset="0"/>
                <a:cs typeface="Consolas" panose="020B0609020204030204" pitchFamily="49" charset="0"/>
              </a:rPr>
              <a:t>）</a:t>
            </a:r>
            <a:r>
              <a:rPr lang="zh-CN" altLang="en-US"/>
              <a:t>标识</a:t>
            </a:r>
            <a:endParaRPr lang="zh-CN" altLang="en-US"/>
          </a:p>
          <a:p>
            <a:pPr lvl="1"/>
            <a:r>
              <a:rPr lang="zh-CN" altLang="en-US"/>
              <a:t>信号仅包含其</a:t>
            </a:r>
            <a:r>
              <a:rPr lang="en-US" altLang="zh-CN">
                <a:latin typeface="Consolas" panose="020B0609020204030204" pitchFamily="49" charset="0"/>
                <a:cs typeface="Consolas" panose="020B0609020204030204" pitchFamily="49" charset="0"/>
              </a:rPr>
              <a:t> ID </a:t>
            </a:r>
            <a:r>
              <a:rPr lang="zh-CN" altLang="en-US"/>
              <a:t>和它到达的事实，没有其他信息</a:t>
            </a:r>
            <a:endParaRPr lang="zh-CN" altLang="en-US"/>
          </a:p>
        </p:txBody>
      </p:sp>
      <p:graphicFrame>
        <p:nvGraphicFramePr>
          <p:cNvPr id="521257" name="Group 41"/>
          <p:cNvGraphicFramePr>
            <a:graphicFrameLocks noGrp="1"/>
          </p:cNvGraphicFramePr>
          <p:nvPr>
            <p:custDataLst>
              <p:tags r:id="rId1"/>
            </p:custDataLst>
          </p:nvPr>
        </p:nvGraphicFramePr>
        <p:xfrm>
          <a:off x="1676400" y="3695700"/>
          <a:ext cx="8458200" cy="2929890"/>
        </p:xfrm>
        <a:graphic>
          <a:graphicData uri="http://schemas.openxmlformats.org/drawingml/2006/table">
            <a:tbl>
              <a:tblPr bandRow="1">
                <a:tableStyleId>{6E25E649-3F16-4E02-A733-19D2CDBF48F0}</a:tableStyleId>
              </a:tblPr>
              <a:tblGrid>
                <a:gridCol w="718185"/>
                <a:gridCol w="1215390"/>
                <a:gridCol w="2169160"/>
                <a:gridCol w="4355465"/>
              </a:tblGrid>
              <a:tr h="356235">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b="1" i="1" u="none" strike="noStrike" cap="none" normalizeH="0" baseline="0" dirty="0">
                          <a:ln>
                            <a:noFill/>
                          </a:ln>
                          <a:solidFill>
                            <a:srgbClr val="990000"/>
                          </a:solidFill>
                          <a:effectLst/>
                          <a:latin typeface="Consolas" panose="020B0609020204030204" pitchFamily="49" charset="0"/>
                          <a:ea typeface="FangSong" panose="02010609060101010101" pitchFamily="49" charset="-122"/>
                          <a:cs typeface="Consolas" panose="020B0609020204030204" pitchFamily="49" charset="0"/>
                        </a:rPr>
                        <a:t>ID</a:t>
                      </a:r>
                      <a:endParaRPr kumimoji="0" lang="en-US" sz="1800" b="1" i="1" u="none" strike="noStrike" cap="none" normalizeH="0" baseline="0" dirty="0">
                        <a:ln>
                          <a:noFill/>
                        </a:ln>
                        <a:solidFill>
                          <a:srgbClr val="990000"/>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i="1" u="none" strike="noStrike" cap="none" normalizeH="0" baseline="0" dirty="0">
                          <a:ln>
                            <a:noFill/>
                          </a:ln>
                          <a:solidFill>
                            <a:srgbClr val="990000"/>
                          </a:solidFill>
                          <a:effectLst/>
                          <a:latin typeface="Consolas" panose="020B0609020204030204" pitchFamily="49" charset="0"/>
                          <a:ea typeface="FangSong" panose="02010609060101010101" pitchFamily="49" charset="-122"/>
                          <a:cs typeface="Consolas" panose="020B0609020204030204" pitchFamily="49" charset="0"/>
                        </a:rPr>
                        <a:t>名称</a:t>
                      </a:r>
                      <a:endParaRPr kumimoji="0" lang="zh-CN" altLang="en-US" sz="1800" b="1" i="1" u="none" strike="noStrike" cap="none" normalizeH="0" baseline="0" dirty="0">
                        <a:ln>
                          <a:noFill/>
                        </a:ln>
                        <a:solidFill>
                          <a:srgbClr val="990000"/>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i="1" u="none" strike="noStrike" cap="none" normalizeH="0" baseline="0" dirty="0">
                          <a:ln>
                            <a:noFill/>
                          </a:ln>
                          <a:solidFill>
                            <a:srgbClr val="990000"/>
                          </a:solidFill>
                          <a:effectLst/>
                          <a:latin typeface="Consolas" panose="020B0609020204030204" pitchFamily="49" charset="0"/>
                          <a:ea typeface="FangSong" panose="02010609060101010101" pitchFamily="49" charset="-122"/>
                          <a:cs typeface="Consolas" panose="020B0609020204030204" pitchFamily="49" charset="0"/>
                        </a:rPr>
                        <a:t>默认行为</a:t>
                      </a:r>
                      <a:endParaRPr kumimoji="0" lang="zh-CN" altLang="en-US" sz="1800" b="1" i="1" u="none" strike="noStrike" cap="none" normalizeH="0" baseline="0" dirty="0">
                        <a:ln>
                          <a:noFill/>
                        </a:ln>
                        <a:solidFill>
                          <a:srgbClr val="990000"/>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i="1" u="none" strike="noStrike" cap="none" normalizeH="0" baseline="0" dirty="0">
                          <a:ln>
                            <a:noFill/>
                          </a:ln>
                          <a:solidFill>
                            <a:srgbClr val="990000"/>
                          </a:solidFill>
                          <a:effectLst/>
                          <a:latin typeface="Consolas" panose="020B0609020204030204" pitchFamily="49" charset="0"/>
                          <a:ea typeface="FangSong" panose="02010609060101010101" pitchFamily="49" charset="-122"/>
                          <a:cs typeface="Consolas" panose="020B0609020204030204" pitchFamily="49" charset="0"/>
                        </a:rPr>
                        <a:t>相应事件</a:t>
                      </a:r>
                      <a:endParaRPr kumimoji="0" lang="zh-CN" altLang="en-US" sz="1800" b="1" i="1" u="none" strike="noStrike" cap="none" normalizeH="0" baseline="0" dirty="0">
                        <a:ln>
                          <a:noFill/>
                        </a:ln>
                        <a:solidFill>
                          <a:srgbClr val="990000"/>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r>
              <a:tr h="35687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2</a:t>
                      </a:r>
                      <a:endParaRPr kumimoji="0" 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SIGINT</a:t>
                      </a:r>
                      <a:endParaRPr kumimoji="0" 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rPr>
                        <a:t>终止</a:t>
                      </a:r>
                      <a:endPar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rPr>
                        <a:t>用户键入</a:t>
                      </a:r>
                      <a:r>
                        <a:rPr kumimoji="0" lang="en-US" altLang="zh-CN"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rPr>
                        <a:t> Ctrl-c</a:t>
                      </a:r>
                      <a:endParaRPr kumimoji="0" lang="en-US" altLang="zh-CN"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r>
              <a:tr h="356235">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dirty="0">
                          <a:ln>
                            <a:noFill/>
                          </a:ln>
                          <a:effectLst/>
                          <a:latin typeface="Consolas" panose="020B0609020204030204" pitchFamily="49" charset="0"/>
                          <a:ea typeface="FangSong" panose="02010609060101010101" pitchFamily="49" charset="-122"/>
                          <a:cs typeface="Consolas" panose="020B0609020204030204" pitchFamily="49" charset="0"/>
                        </a:rPr>
                        <a:t>9</a:t>
                      </a:r>
                      <a:endParaRPr kumimoji="0" 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SIGKILL</a:t>
                      </a:r>
                      <a:endParaRPr kumimoji="0" 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lang="zh-CN" altLang="en-US" sz="1800" b="1"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sym typeface="+mn-ea"/>
                        </a:rPr>
                        <a:t>终止</a:t>
                      </a:r>
                      <a:endPar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sym typeface="+mn-ea"/>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u="none" strike="noStrike" cap="none" normalizeH="0" baseline="0" dirty="0">
                          <a:ln>
                            <a:noFill/>
                          </a:ln>
                          <a:effectLst/>
                          <a:latin typeface="Consolas" panose="020B0609020204030204" pitchFamily="49" charset="0"/>
                          <a:ea typeface="FangSong" panose="02010609060101010101" pitchFamily="49" charset="-122"/>
                          <a:cs typeface="Consolas" panose="020B0609020204030204" pitchFamily="49" charset="0"/>
                        </a:rPr>
                        <a:t>杀死程序（不能被覆盖或忽略）</a:t>
                      </a:r>
                      <a:endPar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r>
              <a:tr h="620395">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11</a:t>
                      </a:r>
                      <a:endParaRPr kumimoji="0" 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SIGSEGV</a:t>
                      </a:r>
                      <a:endParaRPr kumimoji="0" 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lang="zh-CN" altLang="en-US" sz="1800" b="1"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sym typeface="+mn-ea"/>
                        </a:rPr>
                        <a:t>终止</a:t>
                      </a:r>
                      <a:r>
                        <a:rPr kumimoji="0" lang="en-US" sz="1800" b="1" u="none" strike="noStrike" cap="none" normalizeH="0" baseline="0" dirty="0">
                          <a:ln>
                            <a:noFill/>
                          </a:ln>
                          <a:effectLst/>
                          <a:latin typeface="Consolas" panose="020B0609020204030204" pitchFamily="49" charset="0"/>
                          <a:ea typeface="FangSong" panose="02010609060101010101" pitchFamily="49" charset="-122"/>
                          <a:cs typeface="Consolas" panose="020B0609020204030204" pitchFamily="49" charset="0"/>
                        </a:rPr>
                        <a:t> </a:t>
                      </a:r>
                      <a:endParaRPr kumimoji="0" 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rPr>
                        <a:t>段故障</a:t>
                      </a:r>
                      <a:endPar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r>
              <a:tr h="619760">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14</a:t>
                      </a:r>
                      <a:endParaRPr kumimoji="0" 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SIGALRM</a:t>
                      </a:r>
                      <a:endParaRPr kumimoji="0" 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lang="zh-CN" altLang="en-US" sz="1800" b="1"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sym typeface="+mn-ea"/>
                        </a:rPr>
                        <a:t>终止</a:t>
                      </a:r>
                      <a:endPar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sym typeface="+mn-ea"/>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rPr>
                        <a:t>定时器信号</a:t>
                      </a:r>
                      <a:endPar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r>
              <a:tr h="620395">
                <a:tc>
                  <a:txBody>
                    <a:bodyPr/>
                    <a:lstStyle/>
                    <a:p>
                      <a:pPr marL="0" marR="0" lvl="0" indent="0" algn="r"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17</a:t>
                      </a:r>
                      <a:endParaRPr kumimoji="0" 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en-US" sz="1800"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SIGCHLD</a:t>
                      </a:r>
                      <a:endParaRPr kumimoji="0" 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u="none" strike="noStrike" cap="none" normalizeH="0" baseline="0">
                          <a:ln>
                            <a:noFill/>
                          </a:ln>
                          <a:effectLst/>
                          <a:latin typeface="Consolas" panose="020B0609020204030204" pitchFamily="49" charset="0"/>
                          <a:ea typeface="FangSong" panose="02010609060101010101" pitchFamily="49" charset="-122"/>
                          <a:cs typeface="Consolas" panose="020B0609020204030204" pitchFamily="49" charset="0"/>
                        </a:rPr>
                        <a:t>忽略</a:t>
                      </a:r>
                      <a:endParaRPr kumimoji="0" lang="zh-CN" altLang="en-US" sz="1800" b="1" i="0" u="none" strike="noStrike" cap="none" normalizeH="0" baseline="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c>
                  <a:txBody>
                    <a:bodyPr/>
                    <a:lstStyle/>
                    <a:p>
                      <a:pPr marL="0" marR="0" lvl="0" indent="0" algn="l" defTabSz="895350" rtl="0" eaLnBrk="1" fontAlgn="base" latinLnBrk="0" hangingPunct="1">
                        <a:lnSpc>
                          <a:spcPct val="95000"/>
                        </a:lnSpc>
                        <a:spcBef>
                          <a:spcPct val="50000"/>
                        </a:spcBef>
                        <a:spcAft>
                          <a:spcPct val="0"/>
                        </a:spcAft>
                        <a:buClr>
                          <a:schemeClr val="hlink"/>
                        </a:buClr>
                        <a:buSzTx/>
                        <a:buFont typeface="Wingdings" panose="05000000000000000000" pitchFamily="2" charset="2"/>
                        <a:buNone/>
                      </a:pPr>
                      <a:r>
                        <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rPr>
                        <a:t>子进程停止或终止</a:t>
                      </a:r>
                      <a:endParaRPr kumimoji="0" lang="zh-CN" altLang="en-US" sz="1800" b="1" i="0" u="none" strike="noStrike" cap="none" normalizeH="0" baseline="0" dirty="0">
                        <a:ln>
                          <a:noFill/>
                        </a:ln>
                        <a:solidFill>
                          <a:schemeClr val="tx2"/>
                        </a:solidFill>
                        <a:effectLst/>
                        <a:latin typeface="Consolas" panose="020B0609020204030204" pitchFamily="49" charset="0"/>
                        <a:ea typeface="FangSong" panose="02010609060101010101" pitchFamily="49" charset="-122"/>
                        <a:cs typeface="Consolas" panose="020B0609020204030204" pitchFamily="49" charset="0"/>
                      </a:endParaRPr>
                    </a:p>
                  </a:txBody>
                  <a:tcPr horzOverflow="overflow"/>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1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r>
              <a:rPr lang="zh-CN" altLang="en-US" dirty="0"/>
              <a:t>信号术语：发送信号</a:t>
            </a:r>
            <a:endParaRPr lang="zh-CN" altLang="en-US" dirty="0"/>
          </a:p>
        </p:txBody>
      </p:sp>
      <p:sp>
        <p:nvSpPr>
          <p:cNvPr id="547843" name="Rectangle 3"/>
          <p:cNvSpPr>
            <a:spLocks noGrp="1" noChangeArrowheads="1"/>
          </p:cNvSpPr>
          <p:nvPr>
            <p:ph idx="1"/>
          </p:nvPr>
        </p:nvSpPr>
        <p:spPr/>
        <p:txBody>
          <a:bodyPr/>
          <a:lstStyle/>
          <a:p>
            <a:r>
              <a:rPr lang="zh-CN" altLang="en-US" dirty="0"/>
              <a:t>内核通过更新目的进程上下文中的某个状态，</a:t>
            </a:r>
            <a:r>
              <a:rPr lang="zh-CN" altLang="en-US" i="1" dirty="0">
                <a:solidFill>
                  <a:srgbClr val="C00000"/>
                </a:solidFill>
              </a:rPr>
              <a:t>发送</a:t>
            </a:r>
            <a:r>
              <a:rPr lang="en-US" dirty="0"/>
              <a:t> </a:t>
            </a:r>
            <a:r>
              <a:rPr lang="zh-CN" altLang="en-US" dirty="0"/>
              <a:t>（递送）一个信号给</a:t>
            </a:r>
            <a:r>
              <a:rPr lang="zh-CN" altLang="en-US" i="1" dirty="0">
                <a:solidFill>
                  <a:srgbClr val="C00000"/>
                </a:solidFill>
              </a:rPr>
              <a:t>目的进程</a:t>
            </a:r>
            <a:endParaRPr lang="en-US" dirty="0"/>
          </a:p>
          <a:p>
            <a:endParaRPr lang="en-US" dirty="0"/>
          </a:p>
          <a:p>
            <a:r>
              <a:rPr lang="zh-CN" altLang="en-US" dirty="0"/>
              <a:t>内核发送信号可能有以下原因：</a:t>
            </a:r>
            <a:endParaRPr lang="en-US" dirty="0"/>
          </a:p>
          <a:p>
            <a:pPr lvl="1"/>
            <a:r>
              <a:rPr lang="zh-CN" altLang="en-US" dirty="0">
                <a:solidFill>
                  <a:srgbClr val="FF0000"/>
                </a:solidFill>
              </a:rPr>
              <a:t>内核检测到一个系统事件，</a:t>
            </a:r>
            <a:r>
              <a:rPr lang="zh-CN" altLang="en-US" dirty="0"/>
              <a:t>比如除零错误</a:t>
            </a:r>
            <a:r>
              <a:rPr lang="en-US" dirty="0"/>
              <a:t> </a:t>
            </a:r>
            <a:r>
              <a:rPr lang="zh-CN" altLang="en-US" dirty="0"/>
              <a:t>（</a:t>
            </a:r>
            <a:r>
              <a:rPr lang="en-US" dirty="0">
                <a:latin typeface="Consolas" panose="020B0609020204030204" pitchFamily="49" charset="0"/>
                <a:cs typeface="Consolas" panose="020B0609020204030204" pitchFamily="49" charset="0"/>
              </a:rPr>
              <a:t>SIGFPE</a:t>
            </a:r>
            <a:r>
              <a:rPr lang="zh-CN" altLang="en-US" dirty="0"/>
              <a:t>）或者子进程终止</a:t>
            </a:r>
            <a:r>
              <a:rPr lang="en-US" dirty="0"/>
              <a:t> </a:t>
            </a:r>
            <a:r>
              <a:rPr lang="zh-CN" altLang="en-US" dirty="0"/>
              <a:t>（</a:t>
            </a:r>
            <a:r>
              <a:rPr lang="en-US" dirty="0">
                <a:latin typeface="Consolas" panose="020B0609020204030204" pitchFamily="49" charset="0"/>
                <a:cs typeface="Consolas" panose="020B0609020204030204" pitchFamily="49" charset="0"/>
              </a:rPr>
              <a:t>SIGCHLD</a:t>
            </a:r>
            <a:r>
              <a:rPr lang="zh-CN" altLang="en-US" dirty="0"/>
              <a:t>）</a:t>
            </a:r>
            <a:endParaRPr lang="zh-CN" altLang="en-US" dirty="0"/>
          </a:p>
          <a:p>
            <a:pPr lvl="2"/>
            <a:r>
              <a:rPr lang="zh-CN" altLang="en-US" dirty="0"/>
              <a:t>比如</a:t>
            </a:r>
            <a:r>
              <a:rPr lang="en-US" altLang="zh-CN" dirty="0"/>
              <a:t>，</a:t>
            </a:r>
            <a:r>
              <a:rPr lang="zh-CN" altLang="en-US" dirty="0"/>
              <a:t>用户程序访问非法内存地址时</a:t>
            </a:r>
            <a:r>
              <a:rPr lang="en-US" altLang="zh-CN" dirty="0"/>
              <a:t>，</a:t>
            </a:r>
            <a:r>
              <a:rPr lang="zh-CN" altLang="en-US" dirty="0"/>
              <a:t>会触发硬件异常</a:t>
            </a:r>
            <a:r>
              <a:rPr lang="zh-CN" altLang="en-US" dirty="0"/>
              <a:t>从而中断当前程序</a:t>
            </a:r>
            <a:r>
              <a:rPr lang="en-US" altLang="zh-CN" dirty="0"/>
              <a:t>，</a:t>
            </a:r>
            <a:r>
              <a:rPr lang="zh-CN" altLang="en-US" dirty="0"/>
              <a:t>转入内核</a:t>
            </a:r>
            <a:r>
              <a:rPr lang="en-US" altLang="zh-CN" dirty="0"/>
              <a:t>；</a:t>
            </a:r>
            <a:r>
              <a:rPr lang="zh-CN" altLang="en-US" dirty="0"/>
              <a:t>内核捕获该异常</a:t>
            </a:r>
            <a:r>
              <a:rPr lang="en-US" altLang="zh-CN" dirty="0"/>
              <a:t>，</a:t>
            </a:r>
            <a:r>
              <a:rPr lang="zh-CN" altLang="en-US" dirty="0"/>
              <a:t>并发送</a:t>
            </a:r>
            <a:r>
              <a:rPr lang="en-US" altLang="zh-CN" dirty="0"/>
              <a:t>SIGSEGV</a:t>
            </a:r>
            <a:r>
              <a:rPr lang="zh-CN" altLang="en-US" dirty="0"/>
              <a:t>到进程</a:t>
            </a:r>
            <a:endParaRPr lang="en-US" dirty="0"/>
          </a:p>
          <a:p>
            <a:pPr lvl="1"/>
            <a:r>
              <a:rPr lang="zh-CN" altLang="en-US" dirty="0">
                <a:solidFill>
                  <a:srgbClr val="FF0000"/>
                </a:solidFill>
              </a:rPr>
              <a:t>一个进程调用了</a:t>
            </a:r>
            <a:r>
              <a:rPr lang="en-US" altLang="zh-CN" dirty="0">
                <a:solidFill>
                  <a:srgbClr val="FF0000"/>
                </a:solidFill>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kill </a:t>
            </a:r>
            <a:r>
              <a:rPr lang="zh-CN" altLang="en-US" dirty="0">
                <a:solidFill>
                  <a:srgbClr val="FF0000"/>
                </a:solidFill>
              </a:rPr>
              <a:t>函数，</a:t>
            </a:r>
            <a:r>
              <a:rPr lang="en-US" dirty="0"/>
              <a:t> </a:t>
            </a:r>
            <a:r>
              <a:rPr lang="zh-CN" altLang="en-US" dirty="0"/>
              <a:t>显式地要求</a:t>
            </a:r>
            <a:r>
              <a:rPr lang="zh-CN" altLang="en-US" dirty="0">
                <a:solidFill>
                  <a:srgbClr val="FF0000"/>
                </a:solidFill>
              </a:rPr>
              <a:t>内核</a:t>
            </a:r>
            <a:r>
              <a:rPr lang="zh-CN" altLang="en-US" dirty="0"/>
              <a:t>发送一个信号给目的进程</a:t>
            </a:r>
            <a:endParaRPr lang="en-US" dirty="0"/>
          </a:p>
          <a:p>
            <a:pPr lvl="3"/>
            <a:endParaRPr lang="en-US" dirty="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bwMode="auto">
          <a:xfrm>
            <a:off x="7239000" y="3080188"/>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9" name="Rectangle 28"/>
          <p:cNvSpPr/>
          <p:nvPr/>
        </p:nvSpPr>
        <p:spPr bwMode="auto">
          <a:xfrm>
            <a:off x="4953000" y="3071597"/>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28" name="Rectangle 27"/>
          <p:cNvSpPr/>
          <p:nvPr/>
        </p:nvSpPr>
        <p:spPr bwMode="auto">
          <a:xfrm>
            <a:off x="2227497" y="3071597"/>
            <a:ext cx="2514600" cy="3099375"/>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p>
        </p:txBody>
      </p:sp>
      <p:sp>
        <p:nvSpPr>
          <p:cNvPr id="551938" name="Rectangle 2"/>
          <p:cNvSpPr>
            <a:spLocks noGrp="1" noChangeArrowheads="1"/>
          </p:cNvSpPr>
          <p:nvPr>
            <p:ph type="title"/>
          </p:nvPr>
        </p:nvSpPr>
        <p:spPr/>
        <p:txBody>
          <a:bodyPr/>
          <a:lstStyle/>
          <a:p>
            <a:r>
              <a:rPr lang="zh-CN" altLang="en-US" dirty="0"/>
              <a:t>发送信号：进程组</a:t>
            </a:r>
            <a:endParaRPr lang="zh-CN" altLang="en-US" dirty="0"/>
          </a:p>
        </p:txBody>
      </p:sp>
      <p:sp>
        <p:nvSpPr>
          <p:cNvPr id="551939" name="Rectangle 3"/>
          <p:cNvSpPr>
            <a:spLocks noGrp="1" noChangeArrowheads="1"/>
          </p:cNvSpPr>
          <p:nvPr>
            <p:ph idx="1"/>
          </p:nvPr>
        </p:nvSpPr>
        <p:spPr/>
        <p:txBody>
          <a:bodyPr/>
          <a:lstStyle/>
          <a:p>
            <a:r>
              <a:rPr lang="zh-CN" altLang="en-US" dirty="0"/>
              <a:t>每个进程都只属于一个进程组</a:t>
            </a:r>
            <a:endParaRPr lang="zh-CN" altLang="en-US" dirty="0"/>
          </a:p>
        </p:txBody>
      </p:sp>
      <p:sp>
        <p:nvSpPr>
          <p:cNvPr id="551940" name="Oval 4"/>
          <p:cNvSpPr>
            <a:spLocks noChangeAspect="1" noChangeArrowheads="1"/>
          </p:cNvSpPr>
          <p:nvPr/>
        </p:nvSpPr>
        <p:spPr bwMode="auto">
          <a:xfrm>
            <a:off x="3041651" y="3152776"/>
            <a:ext cx="982663" cy="885825"/>
          </a:xfrm>
          <a:prstGeom prst="ellipse">
            <a:avLst/>
          </a:prstGeom>
          <a:solidFill>
            <a:schemeClr val="accent2">
              <a:lumMod val="20000"/>
              <a:lumOff val="80000"/>
            </a:schemeClr>
          </a:solidFill>
          <a:ln w="12700">
            <a:solidFill>
              <a:schemeClr val="tx1"/>
            </a:solidFill>
            <a:round/>
          </a:ln>
          <a:effectLst/>
        </p:spPr>
        <p:txBody>
          <a:bodyPr wrap="none" anchor="ctr"/>
          <a:lstStyle/>
          <a:p>
            <a:pPr algn="ctr"/>
            <a:r>
              <a:rPr lang="zh-CN" altLang="en-US" sz="1600" dirty="0">
                <a:latin typeface="FangSong" panose="02010609060101010101" pitchFamily="49" charset="-122"/>
                <a:ea typeface="FangSong" panose="02010609060101010101" pitchFamily="49" charset="-122"/>
              </a:rPr>
              <a:t>前台</a:t>
            </a:r>
            <a:r>
              <a:rPr lang="zh-CN" altLang="en-US" sz="1600" dirty="0">
                <a:latin typeface="FangSong" panose="02010609060101010101" pitchFamily="49" charset="-122"/>
                <a:ea typeface="FangSong" panose="02010609060101010101" pitchFamily="49" charset="-122"/>
                <a:sym typeface="+mn-ea"/>
              </a:rPr>
              <a:t>作业</a:t>
            </a:r>
            <a:endParaRPr lang="zh-CN" altLang="en-US" sz="1600" dirty="0">
              <a:latin typeface="FangSong" panose="02010609060101010101" pitchFamily="49" charset="-122"/>
              <a:ea typeface="FangSong" panose="02010609060101010101" pitchFamily="49" charset="-122"/>
            </a:endParaRPr>
          </a:p>
        </p:txBody>
      </p:sp>
      <p:sp>
        <p:nvSpPr>
          <p:cNvPr id="551941" name="Oval 5"/>
          <p:cNvSpPr>
            <a:spLocks noChangeAspect="1" noChangeArrowheads="1"/>
          </p:cNvSpPr>
          <p:nvPr/>
        </p:nvSpPr>
        <p:spPr bwMode="auto">
          <a:xfrm>
            <a:off x="5237163" y="3152775"/>
            <a:ext cx="982662" cy="863600"/>
          </a:xfrm>
          <a:prstGeom prst="ellipse">
            <a:avLst/>
          </a:prstGeom>
          <a:solidFill>
            <a:schemeClr val="accent2">
              <a:lumMod val="20000"/>
              <a:lumOff val="80000"/>
            </a:schemeClr>
          </a:solidFill>
          <a:ln w="12700">
            <a:solidFill>
              <a:schemeClr val="tx1"/>
            </a:solidFill>
            <a:round/>
          </a:ln>
          <a:effectLst/>
        </p:spPr>
        <p:txBody>
          <a:bodyPr wrap="none" anchor="ctr"/>
          <a:lstStyle/>
          <a:p>
            <a:pPr algn="ctr">
              <a:lnSpc>
                <a:spcPct val="100000"/>
              </a:lnSpc>
            </a:pPr>
            <a:r>
              <a:rPr lang="zh-CN" altLang="en-US" sz="1600" dirty="0">
                <a:latin typeface="FangSong" panose="02010609060101010101" pitchFamily="49" charset="-122"/>
                <a:ea typeface="FangSong" panose="02010609060101010101" pitchFamily="49" charset="-122"/>
                <a:cs typeface="SimHei" panose="02010600030101010101" charset="-122"/>
              </a:rPr>
              <a:t>后台</a:t>
            </a:r>
            <a:r>
              <a:rPr lang="zh-CN" altLang="en-US" sz="1600" dirty="0">
                <a:latin typeface="FangSong" panose="02010609060101010101" pitchFamily="49" charset="-122"/>
                <a:ea typeface="FangSong" panose="02010609060101010101" pitchFamily="49" charset="-122"/>
                <a:sym typeface="+mn-ea"/>
              </a:rPr>
              <a:t>作业</a:t>
            </a:r>
            <a:endParaRPr lang="zh-CN" altLang="en-US" sz="1600" dirty="0">
              <a:latin typeface="FangSong" panose="02010609060101010101" pitchFamily="49" charset="-122"/>
              <a:ea typeface="FangSong" panose="02010609060101010101" pitchFamily="49" charset="-122"/>
              <a:cs typeface="SimHei" panose="02010600030101010101" charset="-122"/>
            </a:endParaRPr>
          </a:p>
          <a:p>
            <a:pPr algn="ctr">
              <a:lnSpc>
                <a:spcPct val="100000"/>
              </a:lnSpc>
            </a:pPr>
            <a:r>
              <a:rPr lang="en-US" sz="1600" dirty="0">
                <a:latin typeface="FangSong" panose="02010609060101010101" pitchFamily="49" charset="-122"/>
                <a:ea typeface="FangSong" panose="02010609060101010101" pitchFamily="49" charset="-122"/>
                <a:cs typeface="Consolas" panose="020B0609020204030204" pitchFamily="49" charset="0"/>
              </a:rPr>
              <a:t>#1</a:t>
            </a:r>
            <a:endParaRPr lang="en-US" sz="1600" dirty="0">
              <a:latin typeface="FangSong" panose="02010609060101010101" pitchFamily="49" charset="-122"/>
              <a:ea typeface="FangSong" panose="02010609060101010101" pitchFamily="49" charset="-122"/>
              <a:cs typeface="Consolas" panose="020B0609020204030204" pitchFamily="49" charset="0"/>
            </a:endParaRPr>
          </a:p>
        </p:txBody>
      </p:sp>
      <p:sp>
        <p:nvSpPr>
          <p:cNvPr id="551942" name="Oval 6"/>
          <p:cNvSpPr>
            <a:spLocks noChangeAspect="1" noChangeArrowheads="1"/>
          </p:cNvSpPr>
          <p:nvPr/>
        </p:nvSpPr>
        <p:spPr bwMode="auto">
          <a:xfrm>
            <a:off x="7391400" y="3152776"/>
            <a:ext cx="984250" cy="885825"/>
          </a:xfrm>
          <a:prstGeom prst="ellipse">
            <a:avLst/>
          </a:prstGeom>
          <a:solidFill>
            <a:schemeClr val="accent2">
              <a:lumMod val="20000"/>
              <a:lumOff val="80000"/>
            </a:schemeClr>
          </a:solidFill>
          <a:ln w="12700">
            <a:solidFill>
              <a:schemeClr val="tx1"/>
            </a:solidFill>
            <a:round/>
          </a:ln>
          <a:effectLst/>
        </p:spPr>
        <p:txBody>
          <a:bodyPr wrap="none" anchor="ctr"/>
          <a:lstStyle/>
          <a:p>
            <a:pPr algn="ctr"/>
            <a:r>
              <a:rPr lang="zh-CN" altLang="en-US" sz="1600" dirty="0">
                <a:latin typeface="FangSong" panose="02010609060101010101" pitchFamily="49" charset="-122"/>
                <a:ea typeface="FangSong" panose="02010609060101010101" pitchFamily="49" charset="-122"/>
                <a:cs typeface="SimHei" panose="02010600030101010101" charset="-122"/>
              </a:rPr>
              <a:t>后台</a:t>
            </a:r>
            <a:r>
              <a:rPr lang="zh-CN" altLang="en-US" sz="1600" dirty="0">
                <a:latin typeface="FangSong" panose="02010609060101010101" pitchFamily="49" charset="-122"/>
                <a:ea typeface="FangSong" panose="02010609060101010101" pitchFamily="49" charset="-122"/>
                <a:sym typeface="+mn-ea"/>
              </a:rPr>
              <a:t>作业</a:t>
            </a:r>
            <a:endParaRPr lang="zh-CN" altLang="en-US" sz="1600" dirty="0">
              <a:latin typeface="FangSong" panose="02010609060101010101" pitchFamily="49" charset="-122"/>
              <a:ea typeface="FangSong" panose="02010609060101010101" pitchFamily="49" charset="-122"/>
              <a:cs typeface="SimHei" panose="02010600030101010101" charset="-122"/>
            </a:endParaRPr>
          </a:p>
          <a:p>
            <a:pPr algn="ctr"/>
            <a:r>
              <a:rPr lang="en-US" sz="1600" dirty="0">
                <a:latin typeface="FangSong" panose="02010609060101010101" pitchFamily="49" charset="-122"/>
                <a:ea typeface="FangSong" panose="02010609060101010101" pitchFamily="49" charset="-122"/>
                <a:cs typeface="Consolas" panose="020B0609020204030204" pitchFamily="49" charset="0"/>
              </a:rPr>
              <a:t>#2</a:t>
            </a:r>
            <a:endParaRPr lang="en-US" sz="1600" dirty="0">
              <a:latin typeface="FangSong" panose="02010609060101010101" pitchFamily="49" charset="-122"/>
              <a:ea typeface="FangSong" panose="02010609060101010101" pitchFamily="49" charset="-122"/>
              <a:cs typeface="Consolas" panose="020B0609020204030204" pitchFamily="49" charset="0"/>
            </a:endParaRPr>
          </a:p>
        </p:txBody>
      </p:sp>
      <p:sp>
        <p:nvSpPr>
          <p:cNvPr id="551943" name="Oval 7"/>
          <p:cNvSpPr>
            <a:spLocks noChangeAspect="1" noChangeArrowheads="1"/>
          </p:cNvSpPr>
          <p:nvPr/>
        </p:nvSpPr>
        <p:spPr bwMode="auto">
          <a:xfrm>
            <a:off x="5241925" y="1828800"/>
            <a:ext cx="984250" cy="776288"/>
          </a:xfrm>
          <a:prstGeom prst="ellipse">
            <a:avLst/>
          </a:prstGeom>
          <a:solidFill>
            <a:schemeClr val="accent2">
              <a:lumMod val="20000"/>
              <a:lumOff val="80000"/>
            </a:schemeClr>
          </a:solidFill>
          <a:ln w="12700">
            <a:solidFill>
              <a:schemeClr val="tx1"/>
            </a:solidFill>
            <a:round/>
          </a:ln>
          <a:effectLst/>
        </p:spPr>
        <p:txBody>
          <a:bodyPr wrap="none" anchor="ctr"/>
          <a:lstStyle/>
          <a:p>
            <a:pPr algn="ctr">
              <a:lnSpc>
                <a:spcPct val="100000"/>
              </a:lnSpc>
            </a:pPr>
            <a:r>
              <a:rPr lang="en-US" sz="1600" dirty="0">
                <a:latin typeface="Consolas" panose="020B0609020204030204" pitchFamily="49" charset="0"/>
                <a:cs typeface="Consolas" panose="020B0609020204030204" pitchFamily="49" charset="0"/>
              </a:rPr>
              <a:t>Shell</a:t>
            </a:r>
            <a:endParaRPr lang="en-US" sz="1600" dirty="0">
              <a:latin typeface="Consolas" panose="020B0609020204030204" pitchFamily="49" charset="0"/>
              <a:cs typeface="Consolas" panose="020B0609020204030204" pitchFamily="49" charset="0"/>
            </a:endParaRPr>
          </a:p>
        </p:txBody>
      </p:sp>
      <p:sp>
        <p:nvSpPr>
          <p:cNvPr id="551944" name="Oval 8"/>
          <p:cNvSpPr>
            <a:spLocks noChangeAspect="1" noChangeArrowheads="1"/>
          </p:cNvSpPr>
          <p:nvPr/>
        </p:nvSpPr>
        <p:spPr bwMode="auto">
          <a:xfrm>
            <a:off x="2482850" y="4338639"/>
            <a:ext cx="984250" cy="776287"/>
          </a:xfrm>
          <a:prstGeom prst="ellipse">
            <a:avLst/>
          </a:prstGeom>
          <a:solidFill>
            <a:schemeClr val="accent2">
              <a:lumMod val="20000"/>
              <a:lumOff val="80000"/>
            </a:schemeClr>
          </a:solidFill>
          <a:ln w="12700">
            <a:solidFill>
              <a:schemeClr val="tx1"/>
            </a:solidFill>
            <a:round/>
          </a:ln>
          <a:effectLst/>
        </p:spPr>
        <p:txBody>
          <a:bodyPr wrap="none" anchor="ctr"/>
          <a:lstStyle/>
          <a:p>
            <a:pPr algn="ctr">
              <a:lnSpc>
                <a:spcPct val="100000"/>
              </a:lnSpc>
            </a:pPr>
            <a:r>
              <a:rPr lang="zh-CN" altLang="en-US" sz="1600" dirty="0">
                <a:latin typeface="FangSong" panose="02010609060101010101" pitchFamily="49" charset="-122"/>
                <a:ea typeface="FangSong" panose="02010609060101010101" pitchFamily="49" charset="-122"/>
              </a:rPr>
              <a:t>子进程</a:t>
            </a:r>
            <a:endParaRPr lang="zh-CN" altLang="en-US" sz="1600" dirty="0">
              <a:latin typeface="FangSong" panose="02010609060101010101" pitchFamily="49" charset="-122"/>
              <a:ea typeface="FangSong" panose="02010609060101010101" pitchFamily="49" charset="-122"/>
            </a:endParaRPr>
          </a:p>
        </p:txBody>
      </p:sp>
      <p:sp>
        <p:nvSpPr>
          <p:cNvPr id="551945" name="Oval 9"/>
          <p:cNvSpPr>
            <a:spLocks noChangeAspect="1" noChangeArrowheads="1"/>
          </p:cNvSpPr>
          <p:nvPr/>
        </p:nvSpPr>
        <p:spPr bwMode="auto">
          <a:xfrm>
            <a:off x="3608388" y="4338639"/>
            <a:ext cx="984250" cy="776287"/>
          </a:xfrm>
          <a:prstGeom prst="ellipse">
            <a:avLst/>
          </a:prstGeom>
          <a:solidFill>
            <a:schemeClr val="accent2">
              <a:lumMod val="20000"/>
              <a:lumOff val="80000"/>
            </a:schemeClr>
          </a:solidFill>
          <a:ln w="12700">
            <a:solidFill>
              <a:schemeClr val="tx1"/>
            </a:solidFill>
            <a:round/>
          </a:ln>
          <a:effectLst/>
        </p:spPr>
        <p:txBody>
          <a:bodyPr wrap="none" anchor="ctr"/>
          <a:lstStyle/>
          <a:p>
            <a:pPr algn="ctr"/>
            <a:r>
              <a:rPr lang="zh-CN" altLang="en-US" sz="1600" dirty="0">
                <a:latin typeface="FangSong" panose="02010609060101010101" pitchFamily="49" charset="-122"/>
                <a:ea typeface="FangSong" panose="02010609060101010101" pitchFamily="49" charset="-122"/>
              </a:rPr>
              <a:t>子进程</a:t>
            </a:r>
            <a:endParaRPr lang="zh-CN" altLang="en-US" sz="1600" dirty="0">
              <a:latin typeface="FangSong" panose="02010609060101010101" pitchFamily="49" charset="-122"/>
              <a:ea typeface="FangSong" panose="02010609060101010101" pitchFamily="49" charset="-122"/>
            </a:endParaRPr>
          </a:p>
        </p:txBody>
      </p:sp>
      <p:sp>
        <p:nvSpPr>
          <p:cNvPr id="551946" name="Line 10"/>
          <p:cNvSpPr>
            <a:spLocks noChangeAspect="1" noChangeShapeType="1"/>
          </p:cNvSpPr>
          <p:nvPr/>
        </p:nvSpPr>
        <p:spPr bwMode="auto">
          <a:xfrm flipH="1">
            <a:off x="3049588" y="3929857"/>
            <a:ext cx="182562" cy="460375"/>
          </a:xfrm>
          <a:prstGeom prst="line">
            <a:avLst/>
          </a:prstGeom>
          <a:noFill/>
          <a:ln w="12700">
            <a:solidFill>
              <a:schemeClr val="tx1"/>
            </a:solidFill>
            <a:round/>
          </a:ln>
          <a:effectLst/>
        </p:spPr>
        <p:txBody>
          <a:bodyPr anchor="ctr">
            <a:spAutoFit/>
          </a:bodyPr>
          <a:lstStyle/>
          <a:p>
            <a:endParaRPr lang="en-US" dirty="0">
              <a:latin typeface="Calibri" panose="020F0502020204030204" pitchFamily="34" charset="0"/>
            </a:endParaRPr>
          </a:p>
        </p:txBody>
      </p:sp>
      <p:sp>
        <p:nvSpPr>
          <p:cNvPr id="551947" name="Line 11"/>
          <p:cNvSpPr>
            <a:spLocks noChangeAspect="1" noChangeShapeType="1"/>
          </p:cNvSpPr>
          <p:nvPr/>
        </p:nvSpPr>
        <p:spPr bwMode="auto">
          <a:xfrm>
            <a:off x="3829051" y="3922713"/>
            <a:ext cx="163513" cy="460375"/>
          </a:xfrm>
          <a:prstGeom prst="line">
            <a:avLst/>
          </a:prstGeom>
          <a:noFill/>
          <a:ln w="12700">
            <a:solidFill>
              <a:schemeClr val="tx1"/>
            </a:solidFill>
            <a:round/>
          </a:ln>
          <a:effectLst/>
        </p:spPr>
        <p:txBody>
          <a:bodyPr anchor="ctr">
            <a:spAutoFit/>
          </a:bodyPr>
          <a:lstStyle/>
          <a:p>
            <a:endParaRPr lang="en-US" dirty="0">
              <a:latin typeface="Calibri" panose="020F0502020204030204" pitchFamily="34" charset="0"/>
            </a:endParaRPr>
          </a:p>
        </p:txBody>
      </p:sp>
      <p:sp>
        <p:nvSpPr>
          <p:cNvPr id="551948" name="Line 12"/>
          <p:cNvSpPr>
            <a:spLocks noChangeAspect="1" noChangeShapeType="1"/>
          </p:cNvSpPr>
          <p:nvPr/>
        </p:nvSpPr>
        <p:spPr bwMode="auto">
          <a:xfrm>
            <a:off x="5737225" y="2639220"/>
            <a:ext cx="309880" cy="460375"/>
          </a:xfrm>
          <a:prstGeom prst="line">
            <a:avLst/>
          </a:prstGeom>
          <a:noFill/>
          <a:ln w="12700">
            <a:solidFill>
              <a:schemeClr val="tx1"/>
            </a:solidFill>
            <a:round/>
          </a:ln>
          <a:effectLst/>
        </p:spPr>
        <p:txBody>
          <a:bodyPr wrap="none" anchor="ctr">
            <a:spAutoFit/>
          </a:bodyPr>
          <a:lstStyle/>
          <a:p>
            <a:endParaRPr lang="en-US" dirty="0">
              <a:latin typeface="Calibri" panose="020F0502020204030204" pitchFamily="34" charset="0"/>
            </a:endParaRPr>
          </a:p>
        </p:txBody>
      </p:sp>
      <p:sp>
        <p:nvSpPr>
          <p:cNvPr id="551949" name="Line 13"/>
          <p:cNvSpPr>
            <a:spLocks noChangeAspect="1" noChangeShapeType="1"/>
          </p:cNvSpPr>
          <p:nvPr/>
        </p:nvSpPr>
        <p:spPr bwMode="auto">
          <a:xfrm flipH="1">
            <a:off x="3911600" y="2669382"/>
            <a:ext cx="1481138" cy="460375"/>
          </a:xfrm>
          <a:prstGeom prst="line">
            <a:avLst/>
          </a:prstGeom>
          <a:noFill/>
          <a:ln w="12700">
            <a:solidFill>
              <a:schemeClr val="tx1"/>
            </a:solidFill>
            <a:round/>
          </a:ln>
          <a:effectLst/>
        </p:spPr>
        <p:txBody>
          <a:bodyPr anchor="ctr">
            <a:spAutoFit/>
          </a:bodyPr>
          <a:lstStyle/>
          <a:p>
            <a:endParaRPr lang="en-US" dirty="0">
              <a:latin typeface="Calibri" panose="020F0502020204030204" pitchFamily="34" charset="0"/>
            </a:endParaRPr>
          </a:p>
        </p:txBody>
      </p:sp>
      <p:sp>
        <p:nvSpPr>
          <p:cNvPr id="551950" name="Line 14"/>
          <p:cNvSpPr>
            <a:spLocks noChangeAspect="1" noChangeShapeType="1"/>
          </p:cNvSpPr>
          <p:nvPr/>
        </p:nvSpPr>
        <p:spPr bwMode="auto">
          <a:xfrm>
            <a:off x="6111876" y="2645570"/>
            <a:ext cx="1412875" cy="460375"/>
          </a:xfrm>
          <a:prstGeom prst="line">
            <a:avLst/>
          </a:prstGeom>
          <a:noFill/>
          <a:ln w="12700">
            <a:solidFill>
              <a:schemeClr val="tx1"/>
            </a:solidFill>
            <a:round/>
          </a:ln>
          <a:effectLst/>
        </p:spPr>
        <p:txBody>
          <a:bodyPr anchor="ctr">
            <a:spAutoFit/>
          </a:bodyPr>
          <a:lstStyle/>
          <a:p>
            <a:endParaRPr lang="en-US" dirty="0">
              <a:latin typeface="Calibri" panose="020F0502020204030204" pitchFamily="34" charset="0"/>
            </a:endParaRPr>
          </a:p>
        </p:txBody>
      </p:sp>
      <p:sp>
        <p:nvSpPr>
          <p:cNvPr id="551951" name="Text Box 15"/>
          <p:cNvSpPr txBox="1">
            <a:spLocks noChangeAspect="1" noChangeArrowheads="1"/>
          </p:cNvSpPr>
          <p:nvPr/>
        </p:nvSpPr>
        <p:spPr bwMode="auto">
          <a:xfrm>
            <a:off x="4445954" y="1992313"/>
            <a:ext cx="822960" cy="460375"/>
          </a:xfrm>
          <a:prstGeom prst="rect">
            <a:avLst/>
          </a:prstGeom>
          <a:noFill/>
          <a:ln w="12700">
            <a:noFill/>
            <a:miter lim="800000"/>
          </a:ln>
          <a:effectLst/>
        </p:spPr>
        <p:txBody>
          <a:bodyPr wrap="none" anchor="ctr">
            <a:spAutoFit/>
          </a:bodyPr>
          <a:lstStyle/>
          <a:p>
            <a:pPr algn="r">
              <a:lnSpc>
                <a:spcPct val="100000"/>
              </a:lnSpc>
            </a:pPr>
            <a:r>
              <a:rPr lang="en-US" sz="1200">
                <a:latin typeface="Courier New" panose="02070609020205020404" charset="0"/>
              </a:rPr>
              <a:t>pid=10</a:t>
            </a:r>
            <a:endParaRPr lang="en-US" sz="1200">
              <a:latin typeface="Courier New" panose="02070609020205020404" charset="0"/>
            </a:endParaRPr>
          </a:p>
          <a:p>
            <a:pPr algn="r">
              <a:lnSpc>
                <a:spcPct val="100000"/>
              </a:lnSpc>
            </a:pPr>
            <a:r>
              <a:rPr lang="en-US" sz="1200">
                <a:latin typeface="Courier New" panose="02070609020205020404" charset="0"/>
              </a:rPr>
              <a:t>pgid=10</a:t>
            </a:r>
            <a:endParaRPr lang="en-US" sz="1200">
              <a:latin typeface="Courier New" panose="02070609020205020404" charset="0"/>
            </a:endParaRPr>
          </a:p>
        </p:txBody>
      </p:sp>
      <p:sp>
        <p:nvSpPr>
          <p:cNvPr id="551953" name="Text Box 17"/>
          <p:cNvSpPr txBox="1">
            <a:spLocks noChangeAspect="1" noChangeArrowheads="1"/>
          </p:cNvSpPr>
          <p:nvPr/>
        </p:nvSpPr>
        <p:spPr bwMode="auto">
          <a:xfrm>
            <a:off x="2227498" y="5711221"/>
            <a:ext cx="1765066" cy="337185"/>
          </a:xfrm>
          <a:prstGeom prst="rect">
            <a:avLst/>
          </a:prstGeom>
          <a:noFill/>
          <a:ln w="12700">
            <a:noFill/>
            <a:miter lim="800000"/>
          </a:ln>
          <a:effectLst/>
        </p:spPr>
        <p:txBody>
          <a:bodyPr wrap="square" anchor="ctr">
            <a:spAutoFit/>
          </a:bodyPr>
          <a:lstStyle/>
          <a:p>
            <a:pPr>
              <a:lnSpc>
                <a:spcPct val="100000"/>
              </a:lnSpc>
            </a:pPr>
            <a:r>
              <a:rPr lang="zh-CN" alt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rPr>
              <a:t>前台进程组</a:t>
            </a:r>
            <a:r>
              <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rPr>
              <a:t> 20</a:t>
            </a:r>
            <a:endPar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endParaRPr>
          </a:p>
        </p:txBody>
      </p:sp>
      <p:sp>
        <p:nvSpPr>
          <p:cNvPr id="551955" name="Text Box 19"/>
          <p:cNvSpPr txBox="1">
            <a:spLocks noChangeAspect="1" noChangeArrowheads="1"/>
          </p:cNvSpPr>
          <p:nvPr/>
        </p:nvSpPr>
        <p:spPr bwMode="auto">
          <a:xfrm>
            <a:off x="4953000" y="4237912"/>
            <a:ext cx="1571264" cy="338554"/>
          </a:xfrm>
          <a:prstGeom prst="rect">
            <a:avLst/>
          </a:prstGeom>
          <a:noFill/>
          <a:ln w="12700">
            <a:noFill/>
            <a:miter lim="800000"/>
          </a:ln>
          <a:effectLst/>
        </p:spPr>
        <p:txBody>
          <a:bodyPr wrap="none" anchor="ctr">
            <a:spAutoFit/>
          </a:bodyPr>
          <a:lstStyle/>
          <a:p>
            <a:r>
              <a:rPr lang="zh-CN" alt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rPr>
              <a:t>后台进程组</a:t>
            </a:r>
            <a:r>
              <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rPr>
              <a:t> 32</a:t>
            </a:r>
            <a:endPar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endParaRPr>
          </a:p>
        </p:txBody>
      </p:sp>
      <p:sp>
        <p:nvSpPr>
          <p:cNvPr id="551956" name="Text Box 20"/>
          <p:cNvSpPr txBox="1">
            <a:spLocks noChangeAspect="1" noChangeArrowheads="1"/>
          </p:cNvSpPr>
          <p:nvPr/>
        </p:nvSpPr>
        <p:spPr bwMode="auto">
          <a:xfrm>
            <a:off x="7239000" y="4262737"/>
            <a:ext cx="1571264" cy="338554"/>
          </a:xfrm>
          <a:prstGeom prst="rect">
            <a:avLst/>
          </a:prstGeom>
          <a:noFill/>
          <a:ln w="12700">
            <a:noFill/>
            <a:miter lim="800000"/>
          </a:ln>
          <a:effectLst/>
        </p:spPr>
        <p:txBody>
          <a:bodyPr wrap="none" anchor="ctr">
            <a:spAutoFit/>
          </a:bodyPr>
          <a:lstStyle/>
          <a:p>
            <a:pPr algn="l">
              <a:lnSpc>
                <a:spcPct val="100000"/>
              </a:lnSpc>
            </a:pPr>
            <a:r>
              <a:rPr lang="zh-CN" alt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sym typeface="+mn-ea"/>
              </a:rPr>
              <a:t>后台进程组</a:t>
            </a:r>
            <a:r>
              <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sym typeface="+mn-ea"/>
              </a:rPr>
              <a:t> 40</a:t>
            </a:r>
            <a:endPar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endParaRPr>
          </a:p>
        </p:txBody>
      </p:sp>
      <p:sp>
        <p:nvSpPr>
          <p:cNvPr id="551958" name="Text Box 22"/>
          <p:cNvSpPr txBox="1">
            <a:spLocks noChangeAspect="1" noChangeArrowheads="1"/>
          </p:cNvSpPr>
          <p:nvPr/>
        </p:nvSpPr>
        <p:spPr bwMode="auto">
          <a:xfrm>
            <a:off x="2247266" y="3287713"/>
            <a:ext cx="822960" cy="460375"/>
          </a:xfrm>
          <a:prstGeom prst="rect">
            <a:avLst/>
          </a:prstGeom>
          <a:noFill/>
          <a:ln w="12700">
            <a:noFill/>
            <a:miter lim="800000"/>
          </a:ln>
          <a:effectLst/>
        </p:spPr>
        <p:txBody>
          <a:bodyPr wrap="none" anchor="ctr">
            <a:spAutoFit/>
          </a:bodyPr>
          <a:lstStyle/>
          <a:p>
            <a:pPr algn="r">
              <a:lnSpc>
                <a:spcPct val="100000"/>
              </a:lnSpc>
            </a:pPr>
            <a:r>
              <a:rPr lang="en-US" sz="1200">
                <a:latin typeface="Courier New" panose="02070609020205020404" charset="0"/>
              </a:rPr>
              <a:t>pid=20</a:t>
            </a:r>
            <a:endParaRPr lang="en-US" sz="1200">
              <a:latin typeface="Courier New" panose="02070609020205020404" charset="0"/>
            </a:endParaRPr>
          </a:p>
          <a:p>
            <a:pPr algn="r">
              <a:lnSpc>
                <a:spcPct val="100000"/>
              </a:lnSpc>
            </a:pPr>
            <a:r>
              <a:rPr lang="en-US" sz="1200">
                <a:latin typeface="Courier New" panose="02070609020205020404" charset="0"/>
              </a:rPr>
              <a:t>pgid=20</a:t>
            </a:r>
            <a:endParaRPr lang="en-US" sz="1200">
              <a:latin typeface="Courier New" panose="02070609020205020404" charset="0"/>
            </a:endParaRPr>
          </a:p>
        </p:txBody>
      </p:sp>
      <p:sp>
        <p:nvSpPr>
          <p:cNvPr id="551959" name="Text Box 23"/>
          <p:cNvSpPr txBox="1">
            <a:spLocks noChangeAspect="1" noChangeArrowheads="1"/>
          </p:cNvSpPr>
          <p:nvPr/>
        </p:nvSpPr>
        <p:spPr bwMode="auto">
          <a:xfrm>
            <a:off x="6181726" y="3338513"/>
            <a:ext cx="822960" cy="460375"/>
          </a:xfrm>
          <a:prstGeom prst="rect">
            <a:avLst/>
          </a:prstGeom>
          <a:noFill/>
          <a:ln w="12700">
            <a:noFill/>
            <a:miter lim="800000"/>
          </a:ln>
          <a:effectLst/>
        </p:spPr>
        <p:txBody>
          <a:bodyPr wrap="none" anchor="ctr">
            <a:spAutoFit/>
          </a:bodyPr>
          <a:lstStyle/>
          <a:p>
            <a:pPr algn="l">
              <a:lnSpc>
                <a:spcPct val="100000"/>
              </a:lnSpc>
            </a:pPr>
            <a:r>
              <a:rPr lang="en-US" sz="1200">
                <a:latin typeface="Courier New" panose="02070609020205020404" charset="0"/>
              </a:rPr>
              <a:t>pid=32</a:t>
            </a:r>
            <a:endParaRPr lang="en-US" sz="1200">
              <a:latin typeface="Courier New" panose="02070609020205020404" charset="0"/>
            </a:endParaRPr>
          </a:p>
          <a:p>
            <a:pPr algn="l">
              <a:lnSpc>
                <a:spcPct val="100000"/>
              </a:lnSpc>
            </a:pPr>
            <a:r>
              <a:rPr lang="en-US" sz="1200">
                <a:latin typeface="Courier New" panose="02070609020205020404" charset="0"/>
              </a:rPr>
              <a:t>pgid=32</a:t>
            </a:r>
            <a:endParaRPr lang="en-US" sz="1200">
              <a:latin typeface="Courier New" panose="02070609020205020404" charset="0"/>
            </a:endParaRPr>
          </a:p>
        </p:txBody>
      </p:sp>
      <p:sp>
        <p:nvSpPr>
          <p:cNvPr id="551960" name="Text Box 24"/>
          <p:cNvSpPr txBox="1">
            <a:spLocks noChangeAspect="1" noChangeArrowheads="1"/>
          </p:cNvSpPr>
          <p:nvPr/>
        </p:nvSpPr>
        <p:spPr bwMode="auto">
          <a:xfrm>
            <a:off x="8367930" y="3365501"/>
            <a:ext cx="822960" cy="460375"/>
          </a:xfrm>
          <a:prstGeom prst="rect">
            <a:avLst/>
          </a:prstGeom>
          <a:noFill/>
          <a:ln w="12700">
            <a:noFill/>
            <a:miter lim="800000"/>
          </a:ln>
          <a:effectLst/>
        </p:spPr>
        <p:txBody>
          <a:bodyPr wrap="none" anchor="ctr">
            <a:spAutoFit/>
          </a:bodyPr>
          <a:lstStyle/>
          <a:p>
            <a:pPr algn="l">
              <a:lnSpc>
                <a:spcPct val="100000"/>
              </a:lnSpc>
            </a:pPr>
            <a:r>
              <a:rPr lang="en-US" sz="1200">
                <a:latin typeface="Courier New" panose="02070609020205020404" charset="0"/>
              </a:rPr>
              <a:t>pid=40</a:t>
            </a:r>
            <a:endParaRPr lang="en-US" sz="1200">
              <a:latin typeface="Courier New" panose="02070609020205020404" charset="0"/>
            </a:endParaRPr>
          </a:p>
          <a:p>
            <a:pPr algn="l">
              <a:lnSpc>
                <a:spcPct val="100000"/>
              </a:lnSpc>
            </a:pPr>
            <a:r>
              <a:rPr lang="en-US" sz="1200">
                <a:latin typeface="Courier New" panose="02070609020205020404" charset="0"/>
              </a:rPr>
              <a:t>pgid=40</a:t>
            </a:r>
            <a:endParaRPr lang="en-US" sz="1200">
              <a:latin typeface="Courier New" panose="02070609020205020404" charset="0"/>
            </a:endParaRPr>
          </a:p>
        </p:txBody>
      </p:sp>
      <p:sp>
        <p:nvSpPr>
          <p:cNvPr id="551961" name="Text Box 25"/>
          <p:cNvSpPr txBox="1">
            <a:spLocks noChangeAspect="1" noChangeArrowheads="1"/>
          </p:cNvSpPr>
          <p:nvPr/>
        </p:nvSpPr>
        <p:spPr bwMode="auto">
          <a:xfrm>
            <a:off x="2547304" y="5103813"/>
            <a:ext cx="822960" cy="460375"/>
          </a:xfrm>
          <a:prstGeom prst="rect">
            <a:avLst/>
          </a:prstGeom>
          <a:noFill/>
          <a:ln w="12700">
            <a:noFill/>
            <a:miter lim="800000"/>
          </a:ln>
          <a:effectLst/>
        </p:spPr>
        <p:txBody>
          <a:bodyPr wrap="none" anchor="ctr">
            <a:spAutoFit/>
          </a:bodyPr>
          <a:lstStyle/>
          <a:p>
            <a:pPr algn="r">
              <a:lnSpc>
                <a:spcPct val="100000"/>
              </a:lnSpc>
            </a:pPr>
            <a:r>
              <a:rPr lang="en-US" sz="1200">
                <a:latin typeface="Courier New" panose="02070609020205020404" charset="0"/>
              </a:rPr>
              <a:t>pid=21</a:t>
            </a:r>
            <a:endParaRPr lang="en-US" sz="1200">
              <a:latin typeface="Courier New" panose="02070609020205020404" charset="0"/>
            </a:endParaRPr>
          </a:p>
          <a:p>
            <a:pPr algn="r">
              <a:lnSpc>
                <a:spcPct val="100000"/>
              </a:lnSpc>
            </a:pPr>
            <a:r>
              <a:rPr lang="en-US" sz="1200">
                <a:latin typeface="Courier New" panose="02070609020205020404" charset="0"/>
              </a:rPr>
              <a:t>pgid=20</a:t>
            </a:r>
            <a:endParaRPr lang="en-US" sz="1200">
              <a:latin typeface="Courier New" panose="02070609020205020404" charset="0"/>
            </a:endParaRPr>
          </a:p>
        </p:txBody>
      </p:sp>
      <p:sp>
        <p:nvSpPr>
          <p:cNvPr id="551962" name="Text Box 26"/>
          <p:cNvSpPr txBox="1">
            <a:spLocks noChangeAspect="1" noChangeArrowheads="1"/>
          </p:cNvSpPr>
          <p:nvPr/>
        </p:nvSpPr>
        <p:spPr bwMode="auto">
          <a:xfrm>
            <a:off x="3690304" y="5103813"/>
            <a:ext cx="822960" cy="460375"/>
          </a:xfrm>
          <a:prstGeom prst="rect">
            <a:avLst/>
          </a:prstGeom>
          <a:noFill/>
          <a:ln w="12700">
            <a:noFill/>
            <a:miter lim="800000"/>
          </a:ln>
          <a:effectLst/>
        </p:spPr>
        <p:txBody>
          <a:bodyPr wrap="none" anchor="ctr">
            <a:spAutoFit/>
          </a:bodyPr>
          <a:lstStyle/>
          <a:p>
            <a:pPr algn="r">
              <a:lnSpc>
                <a:spcPct val="100000"/>
              </a:lnSpc>
            </a:pPr>
            <a:r>
              <a:rPr lang="en-US" sz="1200">
                <a:latin typeface="Courier New" panose="02070609020205020404" charset="0"/>
              </a:rPr>
              <a:t>pid=22</a:t>
            </a:r>
            <a:endParaRPr lang="en-US" sz="1200">
              <a:latin typeface="Courier New" panose="02070609020205020404" charset="0"/>
            </a:endParaRPr>
          </a:p>
          <a:p>
            <a:pPr algn="r">
              <a:lnSpc>
                <a:spcPct val="100000"/>
              </a:lnSpc>
            </a:pPr>
            <a:r>
              <a:rPr lang="en-US" sz="1200">
                <a:latin typeface="Courier New" panose="02070609020205020404" charset="0"/>
              </a:rPr>
              <a:t>pgid=20</a:t>
            </a:r>
            <a:endParaRPr lang="en-US" sz="1200">
              <a:latin typeface="Courier New" panose="02070609020205020404" charset="0"/>
            </a:endParaRPr>
          </a:p>
        </p:txBody>
      </p:sp>
      <p:sp>
        <p:nvSpPr>
          <p:cNvPr id="551963" name="Rectangle 27"/>
          <p:cNvSpPr>
            <a:spLocks noChangeArrowheads="1"/>
          </p:cNvSpPr>
          <p:nvPr/>
        </p:nvSpPr>
        <p:spPr bwMode="auto">
          <a:xfrm>
            <a:off x="4876799" y="4994294"/>
            <a:ext cx="6403871" cy="1558907"/>
          </a:xfrm>
          <a:prstGeom prst="rect">
            <a:avLst/>
          </a:prstGeom>
          <a:noFill/>
          <a:ln w="9525">
            <a:noFill/>
            <a:miter lim="800000"/>
          </a:ln>
          <a:effectLst/>
        </p:spPr>
        <p:txBody>
          <a:bodyPr lIns="90479" tIns="44446" rIns="90479" bIns="44446"/>
          <a:lstStyle/>
          <a:p>
            <a:pPr algn="l" eaLnBrk="1" hangingPunct="1">
              <a:lnSpc>
                <a:spcPct val="95000"/>
              </a:lnSpc>
              <a:spcBef>
                <a:spcPct val="50000"/>
              </a:spcBef>
              <a:buClr>
                <a:schemeClr val="hlink"/>
              </a:buClr>
              <a:buFont typeface="Wingdings" panose="05000000000000000000" pitchFamily="2" charset="2"/>
              <a:buNone/>
            </a:pPr>
            <a:r>
              <a:rPr lang="en-US" sz="2000" dirty="0" err="1">
                <a:solidFill>
                  <a:schemeClr val="tx2"/>
                </a:solidFill>
                <a:latin typeface="Consolas" panose="020B0609020204030204" pitchFamily="49" charset="0"/>
                <a:ea typeface="FangSong" panose="02010609060101010101" pitchFamily="49" charset="-122"/>
                <a:cs typeface="Consolas" panose="020B0609020204030204" pitchFamily="49" charset="0"/>
              </a:rPr>
              <a:t>getpgrp</a:t>
            </a:r>
            <a:r>
              <a:rPr lang="en-US" sz="2000" dirty="0">
                <a:solidFill>
                  <a:schemeClr val="tx2"/>
                </a:solidFill>
                <a:latin typeface="Consolas" panose="020B0609020204030204" pitchFamily="49" charset="0"/>
                <a:ea typeface="FangSong" panose="02010609060101010101" pitchFamily="49" charset="-122"/>
                <a:cs typeface="Consolas" panose="020B0609020204030204" pitchFamily="49" charset="0"/>
              </a:rPr>
              <a:t>()</a:t>
            </a:r>
            <a:br>
              <a:rPr lang="en-US" sz="2000" dirty="0">
                <a:solidFill>
                  <a:schemeClr val="tx2"/>
                </a:solidFill>
                <a:latin typeface="Consolas" panose="020B0609020204030204" pitchFamily="49" charset="0"/>
                <a:ea typeface="FangSong" panose="02010609060101010101" pitchFamily="49" charset="-122"/>
                <a:cs typeface="Consolas" panose="020B0609020204030204" pitchFamily="49" charset="0"/>
              </a:rPr>
            </a:br>
            <a:r>
              <a:rPr lang="zh-CN" altLang="en-US" sz="2000" dirty="0">
                <a:solidFill>
                  <a:schemeClr val="tx2"/>
                </a:solidFill>
                <a:latin typeface="Consolas" panose="020B0609020204030204" pitchFamily="49" charset="0"/>
                <a:ea typeface="FangSong" panose="02010609060101010101" pitchFamily="49" charset="-122"/>
                <a:cs typeface="Consolas" panose="020B0609020204030204" pitchFamily="49" charset="0"/>
              </a:rPr>
              <a:t>返回当前进程的进程组</a:t>
            </a:r>
            <a:r>
              <a:rPr lang="en-US" altLang="zh-CN" sz="2000" dirty="0">
                <a:solidFill>
                  <a:schemeClr val="tx2"/>
                </a:solidFill>
                <a:latin typeface="Consolas" panose="020B0609020204030204" pitchFamily="49" charset="0"/>
                <a:ea typeface="FangSong" panose="02010609060101010101" pitchFamily="49" charset="-122"/>
                <a:cs typeface="Consolas" panose="020B0609020204030204" pitchFamily="49" charset="0"/>
              </a:rPr>
              <a:t> ID</a:t>
            </a:r>
            <a:endParaRPr lang="en-US" sz="2000"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a:p>
            <a:pPr algn="l" eaLnBrk="1" hangingPunct="1">
              <a:lnSpc>
                <a:spcPct val="95000"/>
              </a:lnSpc>
              <a:spcBef>
                <a:spcPct val="50000"/>
              </a:spcBef>
              <a:buClr>
                <a:schemeClr val="hlink"/>
              </a:buClr>
              <a:buFont typeface="Wingdings" panose="05000000000000000000" pitchFamily="2" charset="2"/>
              <a:buNone/>
            </a:pPr>
            <a:r>
              <a:rPr lang="en-US" sz="2000" dirty="0" err="1">
                <a:solidFill>
                  <a:schemeClr val="tx2"/>
                </a:solidFill>
                <a:latin typeface="Consolas" panose="020B0609020204030204" pitchFamily="49" charset="0"/>
                <a:ea typeface="FangSong" panose="02010609060101010101" pitchFamily="49" charset="-122"/>
                <a:cs typeface="Consolas" panose="020B0609020204030204" pitchFamily="49" charset="0"/>
              </a:rPr>
              <a:t>setpgid</a:t>
            </a:r>
            <a:r>
              <a:rPr lang="en-US" sz="2000" dirty="0">
                <a:solidFill>
                  <a:schemeClr val="tx2"/>
                </a:solidFill>
                <a:latin typeface="Consolas" panose="020B0609020204030204" pitchFamily="49" charset="0"/>
                <a:ea typeface="FangSong" panose="02010609060101010101" pitchFamily="49" charset="-122"/>
                <a:cs typeface="Consolas" panose="020B0609020204030204" pitchFamily="49" charset="0"/>
              </a:rPr>
              <a:t>()</a:t>
            </a:r>
            <a:br>
              <a:rPr lang="en-US" sz="2000" dirty="0">
                <a:solidFill>
                  <a:schemeClr val="tx2"/>
                </a:solidFill>
                <a:latin typeface="Consolas" panose="020B0609020204030204" pitchFamily="49" charset="0"/>
                <a:ea typeface="FangSong" panose="02010609060101010101" pitchFamily="49" charset="-122"/>
                <a:cs typeface="Consolas" panose="020B0609020204030204" pitchFamily="49" charset="0"/>
              </a:rPr>
            </a:br>
            <a:r>
              <a:rPr lang="zh-CN" altLang="en-US" sz="2000" dirty="0">
                <a:solidFill>
                  <a:schemeClr val="tx2"/>
                </a:solidFill>
                <a:latin typeface="Consolas" panose="020B0609020204030204" pitchFamily="49" charset="0"/>
                <a:ea typeface="FangSong" panose="02010609060101010101" pitchFamily="49" charset="-122"/>
                <a:cs typeface="Consolas" panose="020B0609020204030204" pitchFamily="49" charset="0"/>
              </a:rPr>
              <a:t>改变一个进程的进程组（更多详细信息请参阅教材）</a:t>
            </a:r>
            <a:endParaRPr lang="zh-CN" altLang="en-US" sz="2000"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19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63"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r>
              <a:rPr lang="zh-CN" altLang="en-US"/>
              <a:t>用</a:t>
            </a:r>
            <a:r>
              <a:rPr lang="en-US"/>
              <a:t> kill </a:t>
            </a:r>
            <a:r>
              <a:rPr lang="zh-CN" altLang="en-US"/>
              <a:t>函数发送信号</a:t>
            </a:r>
            <a:endParaRPr lang="zh-CN" altLang="en-US"/>
          </a:p>
        </p:txBody>
      </p:sp>
      <p:sp>
        <p:nvSpPr>
          <p:cNvPr id="2" name="Content Placeholder 1"/>
          <p:cNvSpPr>
            <a:spLocks noGrp="1"/>
          </p:cNvSpPr>
          <p:nvPr>
            <p:ph idx="1"/>
          </p:nvPr>
        </p:nvSpPr>
        <p:spPr>
          <a:xfrm>
            <a:off x="528955" y="1362075"/>
            <a:ext cx="4353560" cy="4972050"/>
          </a:xfrm>
        </p:spPr>
        <p:txBody>
          <a:bodyPr/>
          <a:p>
            <a:r>
              <a:rPr lang="en-US" altLang="en-US"/>
              <a:t>int kill(pid_t pid, int sig);</a:t>
            </a:r>
            <a:endParaRPr lang="en-US" altLang="en-US"/>
          </a:p>
          <a:p>
            <a:pPr lvl="1"/>
            <a:r>
              <a:rPr lang="en-US" altLang="zh-CN"/>
              <a:t>pid：</a:t>
            </a:r>
            <a:r>
              <a:rPr lang="zh-CN" altLang="en-US"/>
              <a:t>目标进程</a:t>
            </a:r>
            <a:r>
              <a:rPr lang="zh-CN" altLang="en-US"/>
              <a:t>号</a:t>
            </a:r>
            <a:endParaRPr lang="zh-CN" altLang="en-US"/>
          </a:p>
          <a:p>
            <a:pPr lvl="1"/>
            <a:r>
              <a:rPr lang="en-US" altLang="zh-CN"/>
              <a:t>sig：</a:t>
            </a:r>
            <a:r>
              <a:rPr lang="zh-CN" altLang="en-US"/>
              <a:t>发送的信号</a:t>
            </a:r>
            <a:r>
              <a:rPr lang="zh-CN" altLang="en-US"/>
              <a:t>名</a:t>
            </a:r>
            <a:endParaRPr lang="zh-CN" altLang="en-US"/>
          </a:p>
          <a:p>
            <a:pPr lvl="0"/>
            <a:r>
              <a:rPr lang="zh-CN" altLang="en-US"/>
              <a:t>说明</a:t>
            </a:r>
            <a:endParaRPr lang="zh-CN" altLang="en-US"/>
          </a:p>
          <a:p>
            <a:pPr lvl="1"/>
            <a:r>
              <a:rPr lang="en-US" altLang="zh-CN"/>
              <a:t>SIGINT</a:t>
            </a:r>
            <a:r>
              <a:rPr lang="zh-CN" altLang="en-US"/>
              <a:t>的默认行为是</a:t>
            </a:r>
            <a:r>
              <a:rPr lang="zh-CN" altLang="en-US" b="1"/>
              <a:t>中止进程</a:t>
            </a:r>
            <a:endParaRPr lang="zh-CN" altLang="en-US" b="1"/>
          </a:p>
          <a:p>
            <a:pPr lvl="1"/>
            <a:endParaRPr lang="zh-CN" altLang="en-US">
              <a:solidFill>
                <a:srgbClr val="FF0000"/>
              </a:solidFill>
            </a:endParaRPr>
          </a:p>
        </p:txBody>
      </p:sp>
      <p:sp>
        <p:nvSpPr>
          <p:cNvPr id="557060" name="Text Box 4"/>
          <p:cNvSpPr txBox="1">
            <a:spLocks noChangeArrowheads="1"/>
          </p:cNvSpPr>
          <p:nvPr/>
        </p:nvSpPr>
        <p:spPr bwMode="auto">
          <a:xfrm>
            <a:off x="4953000" y="1197610"/>
            <a:ext cx="6991985" cy="5313045"/>
          </a:xfrm>
          <a:prstGeom prst="rect">
            <a:avLst/>
          </a:prstGeom>
          <a:solidFill>
            <a:srgbClr val="F6F5BD"/>
          </a:solidFill>
          <a:ln w="12700">
            <a:solidFill>
              <a:schemeClr val="tx1"/>
            </a:solidFill>
            <a:miter lim="800000"/>
          </a:ln>
          <a:effectLst/>
        </p:spPr>
        <p:txBody>
          <a:bodyPr>
            <a:normAutofit lnSpcReduction="20000"/>
          </a:bodyPr>
          <a:lstStyle/>
          <a:p>
            <a:r>
              <a:rPr lang="en-US" sz="1400" dirty="0">
                <a:solidFill>
                  <a:srgbClr val="2D961E"/>
                </a:solidFill>
                <a:latin typeface="Menlo-Regular" panose="020B0609030804020204"/>
              </a:rPr>
              <a:t>void</a:t>
            </a:r>
            <a:r>
              <a:rPr lang="en-US" sz="1400" dirty="0">
                <a:solidFill>
                  <a:srgbClr val="000000"/>
                </a:solidFill>
                <a:latin typeface="Menlo-Regular" panose="020B0609030804020204"/>
              </a:rPr>
              <a:t> </a:t>
            </a:r>
            <a:r>
              <a:rPr lang="en-US" sz="1400" dirty="0">
                <a:solidFill>
                  <a:srgbClr val="4A00FF"/>
                </a:solidFill>
                <a:latin typeface="Menlo-Regular" panose="020B0609030804020204"/>
              </a:rPr>
              <a:t>fork12</a:t>
            </a:r>
            <a:r>
              <a:rPr lang="en-US" sz="1400" dirty="0">
                <a:solidFill>
                  <a:srgbClr val="000000"/>
                </a:solidFill>
                <a:latin typeface="Menlo-Regular" panose="020B0609030804020204"/>
              </a:rPr>
              <a:t>()</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a:t>
            </a:r>
            <a:endParaRPr lang="en-US" sz="1400" dirty="0">
              <a:solidFill>
                <a:srgbClr val="000000"/>
              </a:solidFill>
              <a:latin typeface="Menlo-Regular" panose="020B0609030804020204"/>
            </a:endParaRPr>
          </a:p>
          <a:p>
            <a:r>
              <a:rPr lang="fi-FI" sz="1400" dirty="0">
                <a:solidFill>
                  <a:srgbClr val="000000"/>
                </a:solidFill>
                <a:latin typeface="Menlo-Regular" panose="020B0609030804020204"/>
              </a:rPr>
              <a:t>    </a:t>
            </a:r>
            <a:r>
              <a:rPr lang="fi-FI" sz="1400" dirty="0" err="1">
                <a:solidFill>
                  <a:srgbClr val="2D961E"/>
                </a:solidFill>
                <a:latin typeface="Menlo-Regular" panose="020B0609030804020204"/>
              </a:rPr>
              <a:t>pid_t</a:t>
            </a:r>
            <a:r>
              <a:rPr lang="fi-FI" sz="1400" dirty="0">
                <a:solidFill>
                  <a:srgbClr val="000000"/>
                </a:solidFill>
                <a:latin typeface="Menlo-Regular" panose="020B0609030804020204"/>
              </a:rPr>
              <a:t> </a:t>
            </a:r>
            <a:r>
              <a:rPr lang="fi-FI" sz="1400" dirty="0" err="1">
                <a:solidFill>
                  <a:srgbClr val="C1651C"/>
                </a:solidFill>
                <a:latin typeface="Menlo-Regular" panose="020B0609030804020204"/>
              </a:rPr>
              <a:t>pid</a:t>
            </a:r>
            <a:r>
              <a:rPr lang="fi-FI" sz="1400" dirty="0" err="1">
                <a:solidFill>
                  <a:srgbClr val="000000"/>
                </a:solidFill>
                <a:latin typeface="Menlo-Regular" panose="020B0609030804020204"/>
              </a:rPr>
              <a:t>[N</a:t>
            </a:r>
            <a:r>
              <a:rPr lang="fi-FI" sz="1400" dirty="0">
                <a:solidFill>
                  <a:srgbClr val="000000"/>
                </a:solidFill>
                <a:latin typeface="Menlo-Regular" panose="020B0609030804020204"/>
              </a:rPr>
              <a:t>];</a:t>
            </a:r>
            <a:endParaRPr lang="fi-FI" sz="1400" dirty="0">
              <a:solidFill>
                <a:srgbClr val="000000"/>
              </a:solidFill>
              <a:latin typeface="Menlo-Regular" panose="020B0609030804020204"/>
            </a:endParaRPr>
          </a:p>
          <a:p>
            <a:r>
              <a:rPr lang="fr-FR" sz="1400" dirty="0">
                <a:solidFill>
                  <a:srgbClr val="000000"/>
                </a:solidFill>
                <a:latin typeface="Menlo-Regular" panose="020B0609030804020204"/>
              </a:rPr>
              <a:t>    </a:t>
            </a:r>
            <a:r>
              <a:rPr lang="fr-FR" sz="1400" dirty="0" err="1">
                <a:solidFill>
                  <a:srgbClr val="2D961E"/>
                </a:solidFill>
                <a:latin typeface="Menlo-Regular" panose="020B0609030804020204"/>
              </a:rPr>
              <a:t>int</a:t>
            </a:r>
            <a:r>
              <a:rPr lang="fr-FR" sz="1400" dirty="0">
                <a:solidFill>
                  <a:srgbClr val="000000"/>
                </a:solidFill>
                <a:latin typeface="Menlo-Regular" panose="020B0609030804020204"/>
              </a:rPr>
              <a:t> </a:t>
            </a:r>
            <a:r>
              <a:rPr lang="fr-FR" sz="1400" dirty="0">
                <a:solidFill>
                  <a:srgbClr val="C1651C"/>
                </a:solidFill>
                <a:latin typeface="Menlo-Regular" panose="020B0609030804020204"/>
              </a:rPr>
              <a:t>i</a:t>
            </a:r>
            <a:r>
              <a:rPr lang="fr-FR" sz="1400" dirty="0">
                <a:solidFill>
                  <a:srgbClr val="000000"/>
                </a:solidFill>
                <a:latin typeface="Menlo-Regular" panose="020B0609030804020204"/>
              </a:rPr>
              <a:t>;</a:t>
            </a:r>
            <a:endParaRPr lang="fr-FR" sz="1400" dirty="0">
              <a:solidFill>
                <a:srgbClr val="000000"/>
              </a:solidFill>
              <a:latin typeface="Menlo-Regular" panose="020B0609030804020204"/>
            </a:endParaRPr>
          </a:p>
          <a:p>
            <a:r>
              <a:rPr lang="fr-FR" sz="1400" dirty="0">
                <a:solidFill>
                  <a:srgbClr val="000000"/>
                </a:solidFill>
                <a:latin typeface="Menlo-Regular" panose="020B0609030804020204"/>
              </a:rPr>
              <a:t>    </a:t>
            </a:r>
            <a:r>
              <a:rPr lang="fr-FR" sz="1400" dirty="0" err="1">
                <a:solidFill>
                  <a:srgbClr val="2D961E"/>
                </a:solidFill>
                <a:latin typeface="Menlo-Regular" panose="020B0609030804020204"/>
              </a:rPr>
              <a:t>int</a:t>
            </a:r>
            <a:r>
              <a:rPr lang="fr-FR" sz="1400" dirty="0">
                <a:solidFill>
                  <a:srgbClr val="000000"/>
                </a:solidFill>
                <a:latin typeface="Menlo-Regular" panose="020B0609030804020204"/>
              </a:rPr>
              <a:t> </a:t>
            </a:r>
            <a:r>
              <a:rPr lang="fr-FR" sz="1400" dirty="0" err="1">
                <a:solidFill>
                  <a:srgbClr val="C1651C"/>
                </a:solidFill>
                <a:latin typeface="Menlo-Regular" panose="020B0609030804020204"/>
              </a:rPr>
              <a:t>child_status</a:t>
            </a:r>
            <a:r>
              <a:rPr lang="fr-FR" sz="1400" dirty="0">
                <a:solidFill>
                  <a:srgbClr val="000000"/>
                </a:solidFill>
                <a:latin typeface="Menlo-Regular" panose="020B0609030804020204"/>
              </a:rPr>
              <a:t>;</a:t>
            </a:r>
            <a:endParaRPr lang="fr-FR" sz="1400" dirty="0">
              <a:solidFill>
                <a:srgbClr val="000000"/>
              </a:solidFill>
              <a:latin typeface="Menlo-Regular" panose="020B0609030804020204"/>
            </a:endParaRPr>
          </a:p>
          <a:p>
            <a:endParaRPr lang="fr-FR" sz="1400" dirty="0">
              <a:solidFill>
                <a:srgbClr val="000000"/>
              </a:solidFill>
              <a:latin typeface="Menlo-Regular" panose="020B0609030804020204"/>
            </a:endParaRPr>
          </a:p>
          <a:p>
            <a:r>
              <a:rPr lang="da-DK" sz="1400" dirty="0">
                <a:solidFill>
                  <a:srgbClr val="000000"/>
                </a:solidFill>
                <a:latin typeface="Menlo-Regular" panose="020B0609030804020204"/>
              </a:rPr>
              <a:t>    </a:t>
            </a:r>
            <a:r>
              <a:rPr lang="da-DK" sz="1400" dirty="0">
                <a:solidFill>
                  <a:srgbClr val="C200FF"/>
                </a:solidFill>
                <a:latin typeface="Menlo-Regular" panose="020B0609030804020204"/>
              </a:rPr>
              <a:t>for</a:t>
            </a:r>
            <a:r>
              <a:rPr lang="da-DK" sz="1400" dirty="0">
                <a:solidFill>
                  <a:srgbClr val="000000"/>
                </a:solidFill>
                <a:latin typeface="Menlo-Regular" panose="020B0609030804020204"/>
              </a:rPr>
              <a:t> (i = 0; i &lt; N; i++)</a:t>
            </a:r>
            <a:endParaRPr lang="da-DK" sz="1400" dirty="0">
              <a:solidFill>
                <a:srgbClr val="000000"/>
              </a:solidFill>
              <a:latin typeface="Menlo-Regular" panose="020B0609030804020204"/>
            </a:endParaRPr>
          </a:p>
          <a:p>
            <a:r>
              <a:rPr lang="nb-NO" sz="1400" dirty="0">
                <a:solidFill>
                  <a:srgbClr val="000000"/>
                </a:solidFill>
                <a:latin typeface="Menlo-Regular" panose="020B0609030804020204"/>
              </a:rPr>
              <a:t>        </a:t>
            </a:r>
            <a:r>
              <a:rPr lang="nb-NO" sz="1400" dirty="0" err="1">
                <a:solidFill>
                  <a:srgbClr val="C200FF"/>
                </a:solidFill>
                <a:latin typeface="Menlo-Regular" panose="020B0609030804020204"/>
              </a:rPr>
              <a:t>if</a:t>
            </a:r>
            <a:r>
              <a:rPr lang="nb-NO" sz="1400" dirty="0">
                <a:solidFill>
                  <a:srgbClr val="000000"/>
                </a:solidFill>
                <a:latin typeface="Menlo-Regular" panose="020B0609030804020204"/>
              </a:rPr>
              <a:t> ((</a:t>
            </a:r>
            <a:r>
              <a:rPr lang="nb-NO" sz="1400" dirty="0" err="1">
                <a:solidFill>
                  <a:srgbClr val="000000"/>
                </a:solidFill>
                <a:latin typeface="Menlo-Regular" panose="020B0609030804020204"/>
              </a:rPr>
              <a:t>pid</a:t>
            </a:r>
            <a:r>
              <a:rPr lang="nb-NO" sz="1400" dirty="0">
                <a:solidFill>
                  <a:srgbClr val="000000"/>
                </a:solidFill>
                <a:latin typeface="Menlo-Regular" panose="020B0609030804020204"/>
              </a:rPr>
              <a:t>[i] = fork()) == 0) {</a:t>
            </a:r>
            <a:endParaRPr lang="nb-NO" sz="1400" dirty="0">
              <a:solidFill>
                <a:srgbClr val="000000"/>
              </a:solidFill>
              <a:latin typeface="Menlo-Regular" panose="020B0609030804020204"/>
            </a:endParaRPr>
          </a:p>
          <a:p>
            <a:r>
              <a:rPr lang="en-US" sz="1400" dirty="0">
                <a:solidFill>
                  <a:srgbClr val="000000"/>
                </a:solidFill>
                <a:latin typeface="Menlo-Regular" panose="020B0609030804020204"/>
              </a:rPr>
              <a:t>            </a:t>
            </a:r>
            <a:r>
              <a:rPr lang="en-US" sz="1400" dirty="0">
                <a:solidFill>
                  <a:srgbClr val="CB2418"/>
                </a:solidFill>
                <a:latin typeface="Menlo-Regular" panose="020B0609030804020204"/>
              </a:rPr>
              <a:t>/* Child: Infinite Loop */</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a:t>
            </a:r>
            <a:r>
              <a:rPr lang="en-US" sz="1400" dirty="0">
                <a:solidFill>
                  <a:srgbClr val="C200FF"/>
                </a:solidFill>
                <a:latin typeface="Menlo-Regular" panose="020B0609030804020204"/>
              </a:rPr>
              <a:t>while</a:t>
            </a:r>
            <a:r>
              <a:rPr lang="en-US" sz="1400" dirty="0">
                <a:solidFill>
                  <a:srgbClr val="000000"/>
                </a:solidFill>
                <a:latin typeface="Menlo-Regular" panose="020B0609030804020204"/>
              </a:rPr>
              <a:t>(1)</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a:t>
            </a:r>
            <a:endParaRPr lang="en-US" sz="1400" dirty="0">
              <a:solidFill>
                <a:srgbClr val="000000"/>
              </a:solidFill>
              <a:latin typeface="Menlo-Regular" panose="020B0609030804020204"/>
            </a:endParaRPr>
          </a:p>
          <a:p>
            <a:r>
              <a:rPr lang="da-DK" sz="1400" dirty="0">
                <a:solidFill>
                  <a:srgbClr val="000000"/>
                </a:solidFill>
                <a:latin typeface="Menlo-Regular" panose="020B0609030804020204"/>
              </a:rPr>
              <a:t>    </a:t>
            </a:r>
            <a:endParaRPr lang="da-DK" sz="1400" dirty="0">
              <a:solidFill>
                <a:srgbClr val="000000"/>
              </a:solidFill>
              <a:latin typeface="Menlo-Regular" panose="020B0609030804020204"/>
            </a:endParaRPr>
          </a:p>
          <a:p>
            <a:r>
              <a:rPr lang="da-DK" sz="1400" dirty="0">
                <a:solidFill>
                  <a:srgbClr val="000000"/>
                </a:solidFill>
                <a:latin typeface="Menlo-Regular" panose="020B0609030804020204"/>
              </a:rPr>
              <a:t>    </a:t>
            </a:r>
            <a:r>
              <a:rPr lang="da-DK" sz="1400" dirty="0">
                <a:solidFill>
                  <a:srgbClr val="C200FF"/>
                </a:solidFill>
                <a:latin typeface="Menlo-Regular" panose="020B0609030804020204"/>
              </a:rPr>
              <a:t>for</a:t>
            </a:r>
            <a:r>
              <a:rPr lang="da-DK" sz="1400" dirty="0">
                <a:solidFill>
                  <a:srgbClr val="000000"/>
                </a:solidFill>
                <a:latin typeface="Menlo-Regular" panose="020B0609030804020204"/>
              </a:rPr>
              <a:t> (i = 0; i &lt; N; i++) {</a:t>
            </a:r>
            <a:endParaRPr lang="da-DK" sz="1400" dirty="0">
              <a:solidFill>
                <a:srgbClr val="000000"/>
              </a:solidFill>
              <a:latin typeface="Menlo-Regular" panose="020B0609030804020204"/>
            </a:endParaRPr>
          </a:p>
          <a:p>
            <a:r>
              <a:rPr lang="da-DK" sz="1400" dirty="0">
                <a:solidFill>
                  <a:srgbClr val="000000"/>
                </a:solidFill>
                <a:latin typeface="Menlo-Regular" panose="020B0609030804020204"/>
              </a:rPr>
              <a:t>        </a:t>
            </a:r>
            <a:r>
              <a:rPr lang="da-DK" sz="1400" dirty="0" err="1">
                <a:solidFill>
                  <a:srgbClr val="000000"/>
                </a:solidFill>
                <a:latin typeface="Menlo-Regular" panose="020B0609030804020204"/>
              </a:rPr>
              <a:t>printf</a:t>
            </a:r>
            <a:r>
              <a:rPr lang="da-DK" sz="1400" dirty="0">
                <a:solidFill>
                  <a:srgbClr val="000000"/>
                </a:solidFill>
                <a:latin typeface="Menlo-Regular" panose="020B0609030804020204"/>
              </a:rPr>
              <a:t>(</a:t>
            </a:r>
            <a:r>
              <a:rPr lang="da-DK" sz="1400" dirty="0">
                <a:solidFill>
                  <a:srgbClr val="9D206F"/>
                </a:solidFill>
                <a:latin typeface="Menlo-Regular" panose="020B0609030804020204"/>
              </a:rPr>
              <a:t>"Killing </a:t>
            </a:r>
            <a:r>
              <a:rPr lang="da-DK" sz="1400" dirty="0" err="1">
                <a:solidFill>
                  <a:srgbClr val="9D206F"/>
                </a:solidFill>
                <a:latin typeface="Menlo-Regular" panose="020B0609030804020204"/>
              </a:rPr>
              <a:t>process</a:t>
            </a:r>
            <a:r>
              <a:rPr lang="da-DK" sz="1400" dirty="0">
                <a:solidFill>
                  <a:srgbClr val="9D206F"/>
                </a:solidFill>
                <a:latin typeface="Menlo-Regular" panose="020B0609030804020204"/>
              </a:rPr>
              <a:t> %d\n"</a:t>
            </a:r>
            <a:r>
              <a:rPr lang="da-DK" sz="1400" dirty="0">
                <a:solidFill>
                  <a:srgbClr val="000000"/>
                </a:solidFill>
                <a:latin typeface="Menlo-Regular" panose="020B0609030804020204"/>
              </a:rPr>
              <a:t>, </a:t>
            </a:r>
            <a:r>
              <a:rPr lang="da-DK" sz="1400" dirty="0" err="1">
                <a:solidFill>
                  <a:srgbClr val="000000"/>
                </a:solidFill>
                <a:latin typeface="Menlo-Regular" panose="020B0609030804020204"/>
              </a:rPr>
              <a:t>pid</a:t>
            </a:r>
            <a:r>
              <a:rPr lang="da-DK" sz="1400" dirty="0">
                <a:solidFill>
                  <a:srgbClr val="000000"/>
                </a:solidFill>
                <a:latin typeface="Menlo-Regular" panose="020B0609030804020204"/>
              </a:rPr>
              <a:t>[i]);</a:t>
            </a:r>
            <a:endParaRPr lang="da-DK" sz="1400" dirty="0">
              <a:solidFill>
                <a:srgbClr val="000000"/>
              </a:solidFill>
              <a:latin typeface="Menlo-Regular" panose="020B0609030804020204"/>
            </a:endParaRPr>
          </a:p>
          <a:p>
            <a:r>
              <a:rPr lang="da-DK" sz="1400" dirty="0">
                <a:solidFill>
                  <a:srgbClr val="000000"/>
                </a:solidFill>
                <a:latin typeface="Menlo-Regular" panose="020B0609030804020204"/>
              </a:rPr>
              <a:t>        </a:t>
            </a:r>
            <a:r>
              <a:rPr lang="da-DK" sz="1400" b="0" dirty="0" err="1">
                <a:solidFill>
                  <a:srgbClr val="FF0000"/>
                </a:solidFill>
                <a:latin typeface="Menlo-Regular" panose="020B0609030804020204"/>
              </a:rPr>
              <a:t>kill</a:t>
            </a:r>
            <a:r>
              <a:rPr lang="da-DK" sz="1400" b="0" dirty="0">
                <a:solidFill>
                  <a:srgbClr val="FF0000"/>
                </a:solidFill>
                <a:latin typeface="Menlo-Regular" panose="020B0609030804020204"/>
              </a:rPr>
              <a:t>(</a:t>
            </a:r>
            <a:r>
              <a:rPr lang="da-DK" sz="1400" b="0" dirty="0" err="1">
                <a:solidFill>
                  <a:srgbClr val="FF0000"/>
                </a:solidFill>
                <a:latin typeface="Menlo-Regular" panose="020B0609030804020204"/>
              </a:rPr>
              <a:t>pid</a:t>
            </a:r>
            <a:r>
              <a:rPr lang="da-DK" sz="1400" b="0" dirty="0">
                <a:solidFill>
                  <a:srgbClr val="FF0000"/>
                </a:solidFill>
                <a:latin typeface="Menlo-Regular" panose="020B0609030804020204"/>
              </a:rPr>
              <a:t>[i], SIGINT);</a:t>
            </a:r>
            <a:endParaRPr lang="da-DK" sz="1400" dirty="0">
              <a:solidFill>
                <a:srgbClr val="000000"/>
              </a:solidFill>
              <a:latin typeface="Menlo-Regular" panose="020B0609030804020204"/>
            </a:endParaRPr>
          </a:p>
          <a:p>
            <a:r>
              <a:rPr lang="da-DK" sz="1400" dirty="0">
                <a:solidFill>
                  <a:srgbClr val="000000"/>
                </a:solidFill>
                <a:latin typeface="Menlo-Regular" panose="020B0609030804020204"/>
              </a:rPr>
              <a:t>    }</a:t>
            </a:r>
            <a:endParaRPr lang="da-DK" sz="1400" dirty="0">
              <a:solidFill>
                <a:srgbClr val="000000"/>
              </a:solidFill>
              <a:latin typeface="Menlo-Regular" panose="020B0609030804020204"/>
            </a:endParaRPr>
          </a:p>
          <a:p>
            <a:endParaRPr lang="da-DK" sz="1400" dirty="0">
              <a:solidFill>
                <a:srgbClr val="000000"/>
              </a:solidFill>
              <a:latin typeface="Menlo-Regular" panose="020B0609030804020204"/>
            </a:endParaRPr>
          </a:p>
          <a:p>
            <a:r>
              <a:rPr lang="da-DK" sz="1400" dirty="0">
                <a:solidFill>
                  <a:srgbClr val="000000"/>
                </a:solidFill>
                <a:latin typeface="Menlo-Regular" panose="020B0609030804020204"/>
              </a:rPr>
              <a:t>    </a:t>
            </a:r>
            <a:r>
              <a:rPr lang="da-DK" sz="1400" dirty="0">
                <a:solidFill>
                  <a:srgbClr val="C200FF"/>
                </a:solidFill>
                <a:latin typeface="Menlo-Regular" panose="020B0609030804020204"/>
              </a:rPr>
              <a:t>for</a:t>
            </a:r>
            <a:r>
              <a:rPr lang="da-DK" sz="1400" dirty="0">
                <a:solidFill>
                  <a:srgbClr val="000000"/>
                </a:solidFill>
                <a:latin typeface="Menlo-Regular" panose="020B0609030804020204"/>
              </a:rPr>
              <a:t> (i = 0; i &lt; N; i++) {</a:t>
            </a:r>
            <a:endParaRPr lang="da-DK" sz="1400" dirty="0">
              <a:solidFill>
                <a:srgbClr val="000000"/>
              </a:solidFill>
              <a:latin typeface="Menlo-Regular" panose="020B0609030804020204"/>
            </a:endParaRPr>
          </a:p>
          <a:p>
            <a:r>
              <a:rPr lang="da-DK" sz="1400" dirty="0">
                <a:solidFill>
                  <a:srgbClr val="000000"/>
                </a:solidFill>
                <a:latin typeface="Menlo-Regular" panose="020B0609030804020204"/>
              </a:rPr>
              <a:t>        </a:t>
            </a:r>
            <a:r>
              <a:rPr lang="da-DK" sz="1400" dirty="0" err="1">
                <a:solidFill>
                  <a:srgbClr val="2D961E"/>
                </a:solidFill>
                <a:latin typeface="Menlo-Regular" panose="020B0609030804020204"/>
              </a:rPr>
              <a:t>pid_t</a:t>
            </a:r>
            <a:r>
              <a:rPr lang="da-DK" sz="1400" dirty="0">
                <a:solidFill>
                  <a:srgbClr val="000000"/>
                </a:solidFill>
                <a:latin typeface="Menlo-Regular" panose="020B0609030804020204"/>
              </a:rPr>
              <a:t> </a:t>
            </a:r>
            <a:r>
              <a:rPr lang="da-DK" sz="1400" dirty="0" err="1">
                <a:solidFill>
                  <a:srgbClr val="C1651C"/>
                </a:solidFill>
                <a:latin typeface="Menlo-Regular" panose="020B0609030804020204"/>
              </a:rPr>
              <a:t>wpid</a:t>
            </a:r>
            <a:r>
              <a:rPr lang="da-DK" sz="1400" dirty="0">
                <a:solidFill>
                  <a:srgbClr val="000000"/>
                </a:solidFill>
                <a:latin typeface="Menlo-Regular" panose="020B0609030804020204"/>
              </a:rPr>
              <a:t> = </a:t>
            </a:r>
            <a:r>
              <a:rPr lang="da-DK" sz="1400" dirty="0" err="1">
                <a:solidFill>
                  <a:srgbClr val="000000"/>
                </a:solidFill>
                <a:latin typeface="Menlo-Regular" panose="020B0609030804020204"/>
              </a:rPr>
              <a:t>wait</a:t>
            </a:r>
            <a:r>
              <a:rPr lang="da-DK" sz="1400" dirty="0">
                <a:solidFill>
                  <a:srgbClr val="000000"/>
                </a:solidFill>
                <a:latin typeface="Menlo-Regular" panose="020B0609030804020204"/>
              </a:rPr>
              <a:t>(&amp;</a:t>
            </a:r>
            <a:r>
              <a:rPr lang="da-DK" sz="1400" dirty="0" err="1">
                <a:solidFill>
                  <a:srgbClr val="000000"/>
                </a:solidFill>
                <a:latin typeface="Menlo-Regular" panose="020B0609030804020204"/>
              </a:rPr>
              <a:t>child_status</a:t>
            </a:r>
            <a:r>
              <a:rPr lang="da-DK" sz="1400" dirty="0">
                <a:solidFill>
                  <a:srgbClr val="000000"/>
                </a:solidFill>
                <a:latin typeface="Menlo-Regular" panose="020B0609030804020204"/>
              </a:rPr>
              <a:t>);</a:t>
            </a:r>
            <a:endParaRPr lang="da-DK" sz="1400" dirty="0">
              <a:solidFill>
                <a:srgbClr val="000000"/>
              </a:solidFill>
              <a:latin typeface="Menlo-Regular" panose="020B0609030804020204"/>
            </a:endParaRPr>
          </a:p>
          <a:p>
            <a:r>
              <a:rPr lang="da-DK" sz="1400" dirty="0">
                <a:solidFill>
                  <a:srgbClr val="000000"/>
                </a:solidFill>
                <a:latin typeface="Menlo-Regular" panose="020B0609030804020204"/>
              </a:rPr>
              <a:t>        </a:t>
            </a:r>
            <a:r>
              <a:rPr lang="da-DK" sz="1400" dirty="0" err="1">
                <a:solidFill>
                  <a:srgbClr val="C200FF"/>
                </a:solidFill>
                <a:latin typeface="Menlo-Regular" panose="020B0609030804020204"/>
              </a:rPr>
              <a:t>if</a:t>
            </a:r>
            <a:r>
              <a:rPr lang="da-DK" sz="1400" dirty="0">
                <a:solidFill>
                  <a:srgbClr val="000000"/>
                </a:solidFill>
                <a:latin typeface="Menlo-Regular" panose="020B0609030804020204"/>
              </a:rPr>
              <a:t> (WIFEXITED(</a:t>
            </a:r>
            <a:r>
              <a:rPr lang="da-DK" sz="1400" dirty="0" err="1">
                <a:solidFill>
                  <a:srgbClr val="000000"/>
                </a:solidFill>
                <a:latin typeface="Menlo-Regular" panose="020B0609030804020204"/>
              </a:rPr>
              <a:t>child_status</a:t>
            </a:r>
            <a:r>
              <a:rPr lang="da-DK" sz="1400" dirty="0">
                <a:solidFill>
                  <a:srgbClr val="000000"/>
                </a:solidFill>
                <a:latin typeface="Menlo-Regular" panose="020B0609030804020204"/>
              </a:rPr>
              <a:t>))</a:t>
            </a:r>
            <a:endParaRPr lang="da-DK" sz="1400" dirty="0">
              <a:solidFill>
                <a:srgbClr val="000000"/>
              </a:solidFill>
              <a:latin typeface="Menlo-Regular" panose="020B0609030804020204"/>
            </a:endParaRPr>
          </a:p>
          <a:p>
            <a:r>
              <a:rPr lang="da-DK" sz="1400" dirty="0">
                <a:solidFill>
                  <a:srgbClr val="000000"/>
                </a:solidFill>
                <a:latin typeface="Menlo-Regular" panose="020B0609030804020204"/>
              </a:rPr>
              <a:t>            </a:t>
            </a:r>
            <a:r>
              <a:rPr lang="da-DK" sz="1400" dirty="0" err="1">
                <a:solidFill>
                  <a:srgbClr val="000000"/>
                </a:solidFill>
                <a:latin typeface="Menlo-Regular" panose="020B0609030804020204"/>
              </a:rPr>
              <a:t>printf</a:t>
            </a:r>
            <a:r>
              <a:rPr lang="da-DK" sz="1400" dirty="0">
                <a:solidFill>
                  <a:srgbClr val="000000"/>
                </a:solidFill>
                <a:latin typeface="Menlo-Regular" panose="020B0609030804020204"/>
              </a:rPr>
              <a:t>(</a:t>
            </a:r>
            <a:r>
              <a:rPr lang="da-DK" sz="1400" dirty="0">
                <a:solidFill>
                  <a:srgbClr val="9D206F"/>
                </a:solidFill>
                <a:latin typeface="Menlo-Regular" panose="020B0609030804020204"/>
              </a:rPr>
              <a:t>"Child %d </a:t>
            </a:r>
            <a:r>
              <a:rPr lang="da-DK" sz="1400" dirty="0" err="1">
                <a:solidFill>
                  <a:srgbClr val="9D206F"/>
                </a:solidFill>
                <a:latin typeface="Menlo-Regular" panose="020B0609030804020204"/>
              </a:rPr>
              <a:t>terminated</a:t>
            </a:r>
            <a:r>
              <a:rPr lang="da-DK" sz="1400" dirty="0">
                <a:solidFill>
                  <a:srgbClr val="9D206F"/>
                </a:solidFill>
                <a:latin typeface="Menlo-Regular" panose="020B0609030804020204"/>
              </a:rPr>
              <a:t> with exit status %d\n"</a:t>
            </a:r>
            <a:r>
              <a:rPr lang="da-DK" sz="1400" dirty="0">
                <a:solidFill>
                  <a:srgbClr val="000000"/>
                </a:solidFill>
                <a:latin typeface="Menlo-Regular" panose="020B0609030804020204"/>
              </a:rPr>
              <a:t>,</a:t>
            </a:r>
            <a:endParaRPr lang="da-DK" sz="1400" dirty="0">
              <a:solidFill>
                <a:srgbClr val="000000"/>
              </a:solidFill>
              <a:latin typeface="Menlo-Regular" panose="020B0609030804020204"/>
            </a:endParaRPr>
          </a:p>
          <a:p>
            <a:r>
              <a:rPr lang="pl-PL" sz="1400" dirty="0">
                <a:solidFill>
                  <a:srgbClr val="000000"/>
                </a:solidFill>
                <a:latin typeface="Menlo-Regular" panose="020B0609030804020204"/>
              </a:rPr>
              <a:t>                   </a:t>
            </a:r>
            <a:r>
              <a:rPr lang="pl-PL" sz="1400" dirty="0" err="1">
                <a:solidFill>
                  <a:srgbClr val="000000"/>
                </a:solidFill>
                <a:latin typeface="Menlo-Regular" panose="020B0609030804020204"/>
              </a:rPr>
              <a:t>wpid</a:t>
            </a:r>
            <a:r>
              <a:rPr lang="pl-PL" sz="1400" dirty="0">
                <a:solidFill>
                  <a:srgbClr val="000000"/>
                </a:solidFill>
                <a:latin typeface="Menlo-Regular" panose="020B0609030804020204"/>
              </a:rPr>
              <a:t>, WEXITSTATUS(</a:t>
            </a:r>
            <a:r>
              <a:rPr lang="pl-PL" sz="1400" dirty="0" err="1">
                <a:solidFill>
                  <a:srgbClr val="000000"/>
                </a:solidFill>
                <a:latin typeface="Menlo-Regular" panose="020B0609030804020204"/>
              </a:rPr>
              <a:t>child_status</a:t>
            </a:r>
            <a:r>
              <a:rPr lang="pl-PL" sz="1400" dirty="0">
                <a:solidFill>
                  <a:srgbClr val="000000"/>
                </a:solidFill>
                <a:latin typeface="Menlo-Regular" panose="020B0609030804020204"/>
              </a:rPr>
              <a:t>));</a:t>
            </a:r>
            <a:endParaRPr lang="pl-PL" sz="1400" dirty="0">
              <a:solidFill>
                <a:srgbClr val="000000"/>
              </a:solidFill>
              <a:latin typeface="Menlo-Regular" panose="020B0609030804020204"/>
            </a:endParaRPr>
          </a:p>
          <a:p>
            <a:r>
              <a:rPr lang="hu-HU" sz="1400" dirty="0">
                <a:solidFill>
                  <a:srgbClr val="000000"/>
                </a:solidFill>
                <a:latin typeface="Menlo-Regular" panose="020B0609030804020204"/>
              </a:rPr>
              <a:t>        </a:t>
            </a:r>
            <a:r>
              <a:rPr lang="hu-HU" sz="1400" dirty="0">
                <a:solidFill>
                  <a:srgbClr val="C200FF"/>
                </a:solidFill>
                <a:latin typeface="Menlo-Regular" panose="020B0609030804020204"/>
              </a:rPr>
              <a:t>else</a:t>
            </a:r>
            <a:endParaRPr lang="hu-HU" sz="1400" dirty="0">
              <a:solidFill>
                <a:srgbClr val="000000"/>
              </a:solidFill>
              <a:latin typeface="Menlo-Regular" panose="020B0609030804020204"/>
            </a:endParaRPr>
          </a:p>
          <a:p>
            <a:r>
              <a:rPr lang="en-US" sz="1400" dirty="0">
                <a:solidFill>
                  <a:srgbClr val="000000"/>
                </a:solidFill>
                <a:latin typeface="Menlo-Regular" panose="020B0609030804020204"/>
              </a:rPr>
              <a:t>            </a:t>
            </a:r>
            <a:r>
              <a:rPr lang="en-US" sz="1400" dirty="0" err="1">
                <a:solidFill>
                  <a:srgbClr val="000000"/>
                </a:solidFill>
                <a:latin typeface="Menlo-Regular" panose="020B0609030804020204"/>
              </a:rPr>
              <a:t>printf</a:t>
            </a:r>
            <a:r>
              <a:rPr lang="en-US" sz="1400" dirty="0">
                <a:solidFill>
                  <a:srgbClr val="000000"/>
                </a:solidFill>
                <a:latin typeface="Menlo-Regular" panose="020B0609030804020204"/>
              </a:rPr>
              <a:t>(</a:t>
            </a:r>
            <a:r>
              <a:rPr lang="en-US" sz="1400" dirty="0">
                <a:solidFill>
                  <a:srgbClr val="9D206F"/>
                </a:solidFill>
                <a:latin typeface="Menlo-Regular" panose="020B0609030804020204"/>
              </a:rPr>
              <a:t>"Child %d terminated abnormally\n"</a:t>
            </a:r>
            <a:r>
              <a:rPr lang="en-US" sz="1400" dirty="0">
                <a:solidFill>
                  <a:srgbClr val="000000"/>
                </a:solidFill>
                <a:latin typeface="Menlo-Regular" panose="020B0609030804020204"/>
              </a:rPr>
              <a:t>, </a:t>
            </a:r>
            <a:r>
              <a:rPr lang="en-US" sz="1400" dirty="0" err="1">
                <a:solidFill>
                  <a:srgbClr val="000000"/>
                </a:solidFill>
                <a:latin typeface="Menlo-Regular" panose="020B0609030804020204"/>
              </a:rPr>
              <a:t>wpid</a:t>
            </a:r>
            <a:r>
              <a:rPr lang="en-US" sz="1400" dirty="0">
                <a:solidFill>
                  <a:srgbClr val="000000"/>
                </a:solidFill>
                <a:latin typeface="Menlo-Regular" panose="020B0609030804020204"/>
              </a:rPr>
              <a:t>);</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a:t>
            </a:r>
            <a:endParaRPr lang="en-US" sz="1400" dirty="0">
              <a:solidFill>
                <a:srgbClr val="000000"/>
              </a:solidFill>
              <a:latin typeface="Menlo-Regular" panose="020B0609030804020204"/>
            </a:endParaRPr>
          </a:p>
        </p:txBody>
      </p:sp>
      <p:sp>
        <p:nvSpPr>
          <p:cNvPr id="4" name="Rectangle 3"/>
          <p:cNvSpPr>
            <a:spLocks noChangeArrowheads="1"/>
          </p:cNvSpPr>
          <p:nvPr/>
        </p:nvSpPr>
        <p:spPr bwMode="auto">
          <a:xfrm>
            <a:off x="8471584" y="6172200"/>
            <a:ext cx="113919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charset="0"/>
                <a:ea typeface="msgothic" charset="0"/>
                <a:cs typeface="msgothic" charset="0"/>
              </a:rPr>
              <a:t>forks.c</a:t>
            </a:r>
            <a:endParaRPr lang="en-GB" sz="1800" i="1" dirty="0">
              <a:solidFill>
                <a:schemeClr val="tx1">
                  <a:lumMod val="50000"/>
                  <a:lumOff val="50000"/>
                </a:schemeClr>
              </a:solidFill>
              <a:latin typeface="Courier New" panose="02070609020205020404" charset="0"/>
              <a:ea typeface="msgothic" charset="0"/>
              <a:cs typeface="msgothic"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用</a:t>
            </a:r>
            <a:r>
              <a:rPr lang="en-US" altLang="zh-CN"/>
              <a:t>kill</a:t>
            </a:r>
            <a:r>
              <a:rPr lang="zh-CN" altLang="en-US"/>
              <a:t>函数发送</a:t>
            </a:r>
            <a:r>
              <a:rPr lang="zh-CN" altLang="en-US"/>
              <a:t>信号</a:t>
            </a:r>
            <a:endParaRPr lang="zh-CN" altLang="en-US"/>
          </a:p>
        </p:txBody>
      </p:sp>
      <p:sp>
        <p:nvSpPr>
          <p:cNvPr id="3" name="Content Placeholder 2"/>
          <p:cNvSpPr>
            <a:spLocks noGrp="1"/>
          </p:cNvSpPr>
          <p:nvPr>
            <p:ph idx="1"/>
          </p:nvPr>
        </p:nvSpPr>
        <p:spPr>
          <a:xfrm>
            <a:off x="528955" y="1362075"/>
            <a:ext cx="5700395" cy="4972050"/>
          </a:xfrm>
        </p:spPr>
        <p:txBody>
          <a:bodyPr/>
          <a:p>
            <a:r>
              <a:rPr lang="zh-CN" altLang="en-US"/>
              <a:t>流程</a:t>
            </a:r>
            <a:endParaRPr lang="zh-CN" altLang="en-US"/>
          </a:p>
          <a:p>
            <a:pPr lvl="1"/>
            <a:r>
              <a:rPr lang="en-US" altLang="zh-CN" b="1">
                <a:sym typeface="+mn-ea"/>
              </a:rPr>
              <a:t>sys_kill</a:t>
            </a:r>
            <a:r>
              <a:rPr lang="zh-CN" altLang="en-US" b="1">
                <a:sym typeface="+mn-ea"/>
              </a:rPr>
              <a:t>调用</a:t>
            </a:r>
            <a:r>
              <a:rPr lang="en-US" altLang="zh-CN">
                <a:sym typeface="+mn-ea"/>
              </a:rPr>
              <a:t>：</a:t>
            </a:r>
            <a:r>
              <a:rPr lang="zh-CN" altLang="en-US">
                <a:sym typeface="+mn-ea"/>
              </a:rPr>
              <a:t>当</a:t>
            </a:r>
            <a:r>
              <a:rPr lang="en-US" altLang="en-US">
                <a:sym typeface="+mn-ea"/>
              </a:rPr>
              <a:t>kill()</a:t>
            </a:r>
            <a:r>
              <a:rPr lang="zh-CN" altLang="en-US">
                <a:sym typeface="+mn-ea"/>
              </a:rPr>
              <a:t>系统调用触发后，内核会执行</a:t>
            </a:r>
            <a:r>
              <a:rPr lang="en-US" altLang="en-US">
                <a:sym typeface="+mn-ea"/>
              </a:rPr>
              <a:t>sys_kill</a:t>
            </a:r>
            <a:r>
              <a:rPr lang="zh-CN" altLang="en-US">
                <a:sym typeface="+mn-ea"/>
              </a:rPr>
              <a:t>来处理这个请求。</a:t>
            </a:r>
            <a:endParaRPr lang="zh-CN" altLang="en-US"/>
          </a:p>
          <a:p>
            <a:pPr lvl="1"/>
            <a:r>
              <a:rPr lang="zh-CN" altLang="en-US" b="1">
                <a:sym typeface="+mn-ea"/>
              </a:rPr>
              <a:t>查找目标进程</a:t>
            </a:r>
            <a:r>
              <a:rPr lang="en-US" altLang="zh-CN">
                <a:sym typeface="+mn-ea"/>
              </a:rPr>
              <a:t>：</a:t>
            </a:r>
            <a:r>
              <a:rPr lang="zh-CN" altLang="en-US">
                <a:sym typeface="+mn-ea"/>
              </a:rPr>
              <a:t>内核首先查找</a:t>
            </a:r>
            <a:r>
              <a:rPr lang="en-US" altLang="zh-CN">
                <a:sym typeface="+mn-ea"/>
              </a:rPr>
              <a:t>pid</a:t>
            </a:r>
            <a:r>
              <a:rPr lang="zh-CN" altLang="en-US">
                <a:sym typeface="+mn-ea"/>
              </a:rPr>
              <a:t>进程对应的进程控制块</a:t>
            </a:r>
            <a:r>
              <a:rPr lang="en-US" altLang="zh-CN">
                <a:sym typeface="+mn-ea"/>
              </a:rPr>
              <a:t>（</a:t>
            </a:r>
            <a:r>
              <a:rPr lang="zh-CN" altLang="en-US">
                <a:sym typeface="+mn-ea"/>
              </a:rPr>
              <a:t>每进程数据结构</a:t>
            </a:r>
            <a:r>
              <a:rPr lang="en-US" altLang="zh-CN">
                <a:sym typeface="+mn-ea"/>
              </a:rPr>
              <a:t>）</a:t>
            </a:r>
            <a:endParaRPr lang="en-US" altLang="zh-CN"/>
          </a:p>
          <a:p>
            <a:pPr lvl="1"/>
            <a:r>
              <a:rPr lang="zh-CN" altLang="en-US" b="1">
                <a:sym typeface="+mn-ea"/>
              </a:rPr>
              <a:t>权限检查</a:t>
            </a:r>
            <a:r>
              <a:rPr lang="en-US" altLang="zh-CN">
                <a:sym typeface="+mn-ea"/>
              </a:rPr>
              <a:t>：</a:t>
            </a:r>
            <a:r>
              <a:rPr lang="zh-CN" altLang="en-US">
                <a:sym typeface="+mn-ea"/>
              </a:rPr>
              <a:t>内核严格检查调用进程是否有权限向目标进程发送信号</a:t>
            </a:r>
            <a:endParaRPr lang="zh-CN" altLang="en-US"/>
          </a:p>
          <a:p>
            <a:pPr lvl="1"/>
            <a:r>
              <a:rPr lang="zh-CN" altLang="en-US" b="1">
                <a:sym typeface="+mn-ea"/>
              </a:rPr>
              <a:t>传给目标进程</a:t>
            </a:r>
            <a:r>
              <a:rPr lang="en-US" altLang="zh-CN">
                <a:sym typeface="+mn-ea"/>
              </a:rPr>
              <a:t>：</a:t>
            </a:r>
            <a:r>
              <a:rPr lang="zh-CN" altLang="en-US">
                <a:sym typeface="+mn-ea"/>
              </a:rPr>
              <a:t>内核更新</a:t>
            </a:r>
            <a:r>
              <a:rPr lang="en-US" altLang="zh-CN">
                <a:sym typeface="+mn-ea"/>
              </a:rPr>
              <a:t>pid</a:t>
            </a:r>
            <a:r>
              <a:rPr lang="zh-CN" altLang="en-US">
                <a:sym typeface="+mn-ea"/>
              </a:rPr>
              <a:t>进程的信号等待队列（</a:t>
            </a:r>
            <a:r>
              <a:rPr lang="en-US" altLang="en-US">
                <a:sym typeface="+mn-ea"/>
              </a:rPr>
              <a:t>pending</a:t>
            </a:r>
            <a:r>
              <a:rPr lang="zh-CN" altLang="en-US">
                <a:sym typeface="+mn-ea"/>
              </a:rPr>
              <a:t>）</a:t>
            </a:r>
            <a:endParaRPr lang="zh-CN" altLang="en-US"/>
          </a:p>
          <a:p>
            <a:pPr lvl="1"/>
            <a:r>
              <a:rPr lang="zh-CN" altLang="en-US">
                <a:solidFill>
                  <a:srgbClr val="FF0000"/>
                </a:solidFill>
                <a:sym typeface="+mn-ea"/>
              </a:rPr>
              <a:t>信号的最终处理时机是在进程被调度执行时</a:t>
            </a:r>
            <a:endParaRPr lang="zh-CN" altLang="en-US">
              <a:solidFill>
                <a:srgbClr val="FF0000"/>
              </a:solidFill>
            </a:endParaRPr>
          </a:p>
          <a:p>
            <a:pPr lvl="1"/>
            <a:endParaRPr lang="zh-CN" altLang="en-US"/>
          </a:p>
        </p:txBody>
      </p:sp>
      <p:pic>
        <p:nvPicPr>
          <p:cNvPr id="4" name="Picture 3"/>
          <p:cNvPicPr>
            <a:picLocks noChangeAspect="1"/>
          </p:cNvPicPr>
          <p:nvPr/>
        </p:nvPicPr>
        <p:blipFill>
          <a:blip r:embed="rId1"/>
          <a:stretch>
            <a:fillRect/>
          </a:stretch>
        </p:blipFill>
        <p:spPr>
          <a:xfrm>
            <a:off x="6324600" y="76200"/>
            <a:ext cx="467550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r>
              <a:rPr lang="zh-CN" altLang="en-US"/>
              <a:t>用</a:t>
            </a:r>
            <a:r>
              <a:rPr lang="en-US"/>
              <a:t> /bin/kill </a:t>
            </a:r>
            <a:r>
              <a:rPr lang="zh-CN" altLang="en-US"/>
              <a:t>命令发送信号</a:t>
            </a:r>
            <a:endParaRPr lang="zh-CN" altLang="en-US"/>
          </a:p>
        </p:txBody>
      </p:sp>
      <p:sp>
        <p:nvSpPr>
          <p:cNvPr id="553987" name="Rectangle 3"/>
          <p:cNvSpPr>
            <a:spLocks noGrp="1" noChangeArrowheads="1"/>
          </p:cNvSpPr>
          <p:nvPr>
            <p:ph idx="1"/>
          </p:nvPr>
        </p:nvSpPr>
        <p:spPr>
          <a:xfrm>
            <a:off x="528955" y="1362075"/>
            <a:ext cx="6870065" cy="4972050"/>
          </a:xfrm>
        </p:spPr>
        <p:txBody>
          <a:bodyPr/>
          <a:lstStyle/>
          <a:p>
            <a:r>
              <a:rPr lang="en-US"/>
              <a:t>/bin/kill </a:t>
            </a:r>
            <a:r>
              <a:rPr lang="zh-CN" altLang="en-US">
                <a:solidFill>
                  <a:srgbClr val="FF0000"/>
                </a:solidFill>
              </a:rPr>
              <a:t>经内核</a:t>
            </a:r>
            <a:r>
              <a:rPr lang="zh-CN" altLang="en-US"/>
              <a:t>向进程或进程组发送信号</a:t>
            </a:r>
            <a:endParaRPr lang="en-US"/>
          </a:p>
          <a:p>
            <a:r>
              <a:rPr lang="zh-CN" altLang="en-US"/>
              <a:t>示例</a:t>
            </a:r>
            <a:endParaRPr lang="en-US"/>
          </a:p>
          <a:p>
            <a:pPr lvl="1"/>
            <a:r>
              <a:rPr lang="en-US"/>
              <a:t>/bin/kill –9 24818</a:t>
            </a:r>
            <a:br>
              <a:rPr lang="en-US"/>
            </a:br>
            <a:r>
              <a:rPr lang="zh-CN" altLang="en-US"/>
              <a:t>发送信号</a:t>
            </a:r>
            <a:r>
              <a:rPr lang="en-US" altLang="zh-CN"/>
              <a:t>9</a:t>
            </a:r>
            <a:r>
              <a:rPr lang="zh-CN" altLang="en-US"/>
              <a:t>（</a:t>
            </a:r>
            <a:r>
              <a:rPr lang="en-US"/>
              <a:t>SIGKILL</a:t>
            </a:r>
            <a:r>
              <a:rPr lang="zh-CN" altLang="en-US"/>
              <a:t>）给进程</a:t>
            </a:r>
            <a:r>
              <a:rPr lang="en-US"/>
              <a:t> 24818</a:t>
            </a:r>
            <a:endParaRPr lang="en-US"/>
          </a:p>
          <a:p>
            <a:pPr lvl="1"/>
            <a:r>
              <a:rPr lang="en-US"/>
              <a:t>/bin/kill –9 –24817</a:t>
            </a:r>
            <a:br>
              <a:rPr lang="en-US"/>
            </a:br>
            <a:r>
              <a:rPr lang="zh-CN" altLang="en-US"/>
              <a:t>发送信号</a:t>
            </a:r>
            <a:r>
              <a:rPr lang="en-US" altLang="zh-CN"/>
              <a:t>9</a:t>
            </a:r>
            <a:r>
              <a:rPr lang="zh-CN" altLang="en-US"/>
              <a:t>（</a:t>
            </a:r>
            <a:r>
              <a:rPr lang="en-US"/>
              <a:t>SIGKILL</a:t>
            </a:r>
            <a:r>
              <a:rPr lang="zh-CN" altLang="en-US"/>
              <a:t>）给进程组</a:t>
            </a:r>
            <a:r>
              <a:rPr lang="en-US" altLang="zh-CN"/>
              <a:t> </a:t>
            </a:r>
            <a:r>
              <a:rPr lang="en-US"/>
              <a:t>24817 </a:t>
            </a:r>
            <a:r>
              <a:rPr lang="zh-CN" altLang="en-US"/>
              <a:t>中的每一个进程</a:t>
            </a:r>
            <a:r>
              <a:rPr lang="en-US" altLang="zh-CN"/>
              <a:t>，</a:t>
            </a:r>
            <a:r>
              <a:rPr lang="zh-CN" altLang="en-US"/>
              <a:t>从而杀死这些进程</a:t>
            </a:r>
            <a:endParaRPr lang="zh-CN" altLang="en-US"/>
          </a:p>
          <a:p>
            <a:pPr lvl="0"/>
            <a:r>
              <a:rPr lang="zh-CN" altLang="en-US" sz="2400"/>
              <a:t>说明</a:t>
            </a:r>
            <a:endParaRPr lang="zh-CN" altLang="en-US" sz="2400"/>
          </a:p>
          <a:p>
            <a:pPr lvl="1"/>
            <a:r>
              <a:rPr lang="zh-CN" altLang="en-US" b="1"/>
              <a:t>解析信号</a:t>
            </a:r>
            <a:r>
              <a:rPr lang="zh-CN" altLang="en-US"/>
              <a:t>：区分信号是</a:t>
            </a:r>
            <a:r>
              <a:rPr lang="en-US" altLang="en-US"/>
              <a:t>-9</a:t>
            </a:r>
            <a:r>
              <a:rPr lang="zh-CN" altLang="en-US"/>
              <a:t>、</a:t>
            </a:r>
            <a:r>
              <a:rPr lang="en-US" altLang="en-US"/>
              <a:t>-SIGKILL</a:t>
            </a:r>
            <a:r>
              <a:rPr lang="zh-CN" altLang="en-US"/>
              <a:t>还是</a:t>
            </a:r>
            <a:r>
              <a:rPr lang="en-US" altLang="en-US"/>
              <a:t>-KILL</a:t>
            </a:r>
            <a:r>
              <a:rPr lang="zh-CN" altLang="en-US"/>
              <a:t>，并将它们统一转换为内核能识别的信号编号。</a:t>
            </a:r>
            <a:endParaRPr lang="zh-CN" altLang="en-US"/>
          </a:p>
          <a:p>
            <a:pPr lvl="1"/>
            <a:r>
              <a:rPr lang="zh-CN" altLang="en-US" b="1"/>
              <a:t>解析</a:t>
            </a:r>
            <a:r>
              <a:rPr lang="en-US" altLang="zh-CN" b="1"/>
              <a:t>pid</a:t>
            </a:r>
            <a:r>
              <a:rPr lang="zh-CN" altLang="en-US"/>
              <a:t>：将用户提供的</a:t>
            </a:r>
            <a:r>
              <a:rPr lang="en-US" altLang="en-US"/>
              <a:t>PID</a:t>
            </a:r>
            <a:r>
              <a:rPr lang="zh-CN" altLang="en-US"/>
              <a:t>或作业</a:t>
            </a:r>
            <a:r>
              <a:rPr lang="en-US" altLang="en-US"/>
              <a:t>ID</a:t>
            </a:r>
            <a:r>
              <a:rPr lang="zh-CN" altLang="en-US"/>
              <a:t>（</a:t>
            </a:r>
            <a:r>
              <a:rPr lang="en-US" altLang="en-US"/>
              <a:t>jobspec</a:t>
            </a:r>
            <a:r>
              <a:rPr lang="zh-CN" altLang="en-US"/>
              <a:t>）解析为内核需要的进程</a:t>
            </a:r>
            <a:r>
              <a:rPr lang="en-US" altLang="en-US"/>
              <a:t>ID</a:t>
            </a:r>
            <a:r>
              <a:rPr lang="zh-CN" altLang="en-US"/>
              <a:t>。</a:t>
            </a:r>
            <a:endParaRPr lang="en-US" altLang="en-US"/>
          </a:p>
          <a:p>
            <a:pPr lvl="1"/>
            <a:r>
              <a:rPr lang="zh-CN" altLang="en-US" b="1"/>
              <a:t>系统调用</a:t>
            </a:r>
            <a:r>
              <a:rPr lang="zh-CN" altLang="en-US"/>
              <a:t>：最终调用封装好的</a:t>
            </a:r>
            <a:r>
              <a:rPr lang="en-US" altLang="en-US"/>
              <a:t>kill()</a:t>
            </a:r>
            <a:r>
              <a:rPr lang="zh-CN" altLang="en-US" b="1"/>
              <a:t>系统调用</a:t>
            </a:r>
            <a:r>
              <a:rPr lang="zh-CN" altLang="en-US"/>
              <a:t>，并将解析出的</a:t>
            </a:r>
            <a:r>
              <a:rPr lang="en-US" altLang="en-US"/>
              <a:t>pid</a:t>
            </a:r>
            <a:r>
              <a:rPr lang="zh-CN" altLang="en-US"/>
              <a:t>和</a:t>
            </a:r>
            <a:r>
              <a:rPr lang="en-US" altLang="en-US"/>
              <a:t>sig</a:t>
            </a:r>
            <a:r>
              <a:rPr lang="zh-CN" altLang="en-US"/>
              <a:t>传递给它</a:t>
            </a:r>
            <a:endParaRPr lang="zh-CN" altLang="en-US"/>
          </a:p>
        </p:txBody>
      </p:sp>
      <p:sp>
        <p:nvSpPr>
          <p:cNvPr id="553991" name="Text Box 7"/>
          <p:cNvSpPr txBox="1">
            <a:spLocks noChangeArrowheads="1"/>
          </p:cNvSpPr>
          <p:nvPr/>
        </p:nvSpPr>
        <p:spPr bwMode="auto">
          <a:xfrm>
            <a:off x="7399014" y="1835151"/>
            <a:ext cx="3840480" cy="4030980"/>
          </a:xfrm>
          <a:prstGeom prst="rect">
            <a:avLst/>
          </a:prstGeom>
          <a:solidFill>
            <a:schemeClr val="bg1">
              <a:lumMod val="85000"/>
            </a:schemeClr>
          </a:solidFill>
          <a:ln w="3175">
            <a:noFill/>
            <a:miter lim="800000"/>
          </a:ln>
          <a:effectLst/>
        </p:spPr>
        <p:txBody>
          <a:bodyPr wrap="none">
            <a:spAutoFit/>
          </a:bodyPr>
          <a:lstStyle/>
          <a:p>
            <a:pPr algn="l">
              <a:lnSpc>
                <a:spcPct val="100000"/>
              </a:lnSpc>
            </a:pPr>
            <a:r>
              <a:rPr lang="en-US" sz="1600" dirty="0" err="1">
                <a:latin typeface="Courier New" panose="02070609020205020404" charset="0"/>
              </a:rPr>
              <a:t>linux</a:t>
            </a:r>
            <a:r>
              <a:rPr lang="en-US" sz="1600" dirty="0">
                <a:latin typeface="Courier New" panose="02070609020205020404" charset="0"/>
              </a:rPr>
              <a:t>&gt; ./forks 16 </a:t>
            </a:r>
            <a:endParaRPr lang="en-US" sz="1600" dirty="0">
              <a:latin typeface="Courier New" panose="02070609020205020404" charset="0"/>
            </a:endParaRPr>
          </a:p>
          <a:p>
            <a:pPr algn="l">
              <a:lnSpc>
                <a:spcPct val="100000"/>
              </a:lnSpc>
            </a:pPr>
            <a:r>
              <a:rPr lang="en-US" sz="1600" dirty="0">
                <a:latin typeface="Courier New" panose="02070609020205020404" charset="0"/>
              </a:rPr>
              <a:t>Child1: </a:t>
            </a:r>
            <a:r>
              <a:rPr lang="en-US" sz="1600" dirty="0" err="1">
                <a:latin typeface="Courier New" panose="02070609020205020404" charset="0"/>
              </a:rPr>
              <a:t>pid</a:t>
            </a:r>
            <a:r>
              <a:rPr lang="en-US" sz="1600" dirty="0">
                <a:latin typeface="Courier New" panose="02070609020205020404" charset="0"/>
              </a:rPr>
              <a:t>=24818 </a:t>
            </a:r>
            <a:r>
              <a:rPr lang="en-US" sz="1600" dirty="0" err="1">
                <a:latin typeface="Courier New" panose="02070609020205020404" charset="0"/>
              </a:rPr>
              <a:t>pgrp</a:t>
            </a:r>
            <a:r>
              <a:rPr lang="en-US" sz="1600" dirty="0">
                <a:latin typeface="Courier New" panose="02070609020205020404" charset="0"/>
              </a:rPr>
              <a:t>=24817 </a:t>
            </a:r>
            <a:endParaRPr lang="en-US" sz="1600" dirty="0">
              <a:latin typeface="Courier New" panose="02070609020205020404" charset="0"/>
            </a:endParaRPr>
          </a:p>
          <a:p>
            <a:pPr algn="l">
              <a:lnSpc>
                <a:spcPct val="100000"/>
              </a:lnSpc>
            </a:pPr>
            <a:r>
              <a:rPr lang="en-US" sz="1600" dirty="0">
                <a:latin typeface="Courier New" panose="02070609020205020404" charset="0"/>
              </a:rPr>
              <a:t>Child2: </a:t>
            </a:r>
            <a:r>
              <a:rPr lang="en-US" sz="1600" dirty="0" err="1">
                <a:latin typeface="Courier New" panose="02070609020205020404" charset="0"/>
              </a:rPr>
              <a:t>pid</a:t>
            </a:r>
            <a:r>
              <a:rPr lang="en-US" sz="1600" dirty="0">
                <a:latin typeface="Courier New" panose="02070609020205020404" charset="0"/>
              </a:rPr>
              <a:t>=24819 </a:t>
            </a:r>
            <a:r>
              <a:rPr lang="en-US" sz="1600" dirty="0" err="1">
                <a:latin typeface="Courier New" panose="02070609020205020404" charset="0"/>
              </a:rPr>
              <a:t>pgrp</a:t>
            </a:r>
            <a:r>
              <a:rPr lang="en-US" sz="1600" dirty="0">
                <a:latin typeface="Courier New" panose="02070609020205020404" charset="0"/>
              </a:rPr>
              <a:t>=24817 </a:t>
            </a:r>
            <a:endParaRPr lang="en-US" sz="1600" dirty="0">
              <a:latin typeface="Courier New" panose="02070609020205020404" charset="0"/>
            </a:endParaRPr>
          </a:p>
          <a:p>
            <a:pPr algn="l">
              <a:lnSpc>
                <a:spcPct val="100000"/>
              </a:lnSpc>
            </a:pPr>
            <a:r>
              <a:rPr lang="en-US" sz="1600" dirty="0">
                <a:latin typeface="Courier New" panose="02070609020205020404" charset="0"/>
              </a:rPr>
              <a:t> </a:t>
            </a:r>
            <a:endParaRPr lang="en-US" sz="1600" dirty="0">
              <a:latin typeface="Courier New" panose="02070609020205020404" charset="0"/>
            </a:endParaRPr>
          </a:p>
          <a:p>
            <a:pPr algn="l">
              <a:lnSpc>
                <a:spcPct val="100000"/>
              </a:lnSpc>
            </a:pPr>
            <a:r>
              <a:rPr lang="en-US" sz="1600" dirty="0" err="1">
                <a:latin typeface="Courier New" panose="02070609020205020404" charset="0"/>
              </a:rPr>
              <a:t>linux</a:t>
            </a:r>
            <a:r>
              <a:rPr lang="en-US" sz="1600" dirty="0">
                <a:latin typeface="Courier New" panose="02070609020205020404" charset="0"/>
              </a:rPr>
              <a:t>&gt; </a:t>
            </a:r>
            <a:r>
              <a:rPr lang="en-US" sz="1600" dirty="0" err="1">
                <a:latin typeface="Courier New" panose="02070609020205020404" charset="0"/>
              </a:rPr>
              <a:t>ps</a:t>
            </a:r>
            <a:r>
              <a:rPr lang="en-US" sz="1600" dirty="0">
                <a:latin typeface="Courier New" panose="02070609020205020404" charset="0"/>
              </a:rPr>
              <a:t> </a:t>
            </a:r>
            <a:endParaRPr lang="en-US" sz="1600" dirty="0">
              <a:latin typeface="Courier New" panose="02070609020205020404" charset="0"/>
            </a:endParaRPr>
          </a:p>
          <a:p>
            <a:pPr algn="l">
              <a:lnSpc>
                <a:spcPct val="100000"/>
              </a:lnSpc>
            </a:pPr>
            <a:r>
              <a:rPr lang="en-US" sz="1600" dirty="0">
                <a:latin typeface="Courier New" panose="02070609020205020404" charset="0"/>
              </a:rPr>
              <a:t>  PID TTY          TIME CMD </a:t>
            </a:r>
            <a:endParaRPr lang="en-US" sz="1600" dirty="0">
              <a:latin typeface="Courier New" panose="02070609020205020404" charset="0"/>
            </a:endParaRPr>
          </a:p>
          <a:p>
            <a:pPr algn="l">
              <a:lnSpc>
                <a:spcPct val="100000"/>
              </a:lnSpc>
            </a:pPr>
            <a:r>
              <a:rPr lang="en-US" sz="1600" dirty="0">
                <a:latin typeface="Courier New" panose="02070609020205020404" charset="0"/>
              </a:rPr>
              <a:t>24788 pts/2    00:00:00 </a:t>
            </a:r>
            <a:r>
              <a:rPr lang="en-US" sz="1600" dirty="0" err="1">
                <a:latin typeface="Courier New" panose="02070609020205020404" charset="0"/>
              </a:rPr>
              <a:t>tcsh</a:t>
            </a:r>
            <a:r>
              <a:rPr lang="en-US" sz="1600" dirty="0">
                <a:latin typeface="Courier New" panose="02070609020205020404" charset="0"/>
              </a:rPr>
              <a:t> </a:t>
            </a:r>
            <a:endParaRPr lang="en-US" sz="1600" dirty="0">
              <a:latin typeface="Courier New" panose="02070609020205020404" charset="0"/>
            </a:endParaRPr>
          </a:p>
          <a:p>
            <a:pPr algn="l">
              <a:lnSpc>
                <a:spcPct val="100000"/>
              </a:lnSpc>
            </a:pPr>
            <a:r>
              <a:rPr lang="en-US" sz="1600" dirty="0">
                <a:latin typeface="Courier New" panose="02070609020205020404" charset="0"/>
              </a:rPr>
              <a:t>24818 pts/2    00:00:02 forks </a:t>
            </a:r>
            <a:endParaRPr lang="en-US" sz="1600" dirty="0">
              <a:latin typeface="Courier New" panose="02070609020205020404" charset="0"/>
            </a:endParaRPr>
          </a:p>
          <a:p>
            <a:pPr algn="l">
              <a:lnSpc>
                <a:spcPct val="100000"/>
              </a:lnSpc>
            </a:pPr>
            <a:r>
              <a:rPr lang="en-US" sz="1600" dirty="0">
                <a:latin typeface="Courier New" panose="02070609020205020404" charset="0"/>
              </a:rPr>
              <a:t>24819 pts/2    00:00:02 forks </a:t>
            </a:r>
            <a:endParaRPr lang="en-US" sz="1600" dirty="0">
              <a:latin typeface="Courier New" panose="02070609020205020404" charset="0"/>
            </a:endParaRPr>
          </a:p>
          <a:p>
            <a:pPr algn="l">
              <a:lnSpc>
                <a:spcPct val="100000"/>
              </a:lnSpc>
            </a:pPr>
            <a:r>
              <a:rPr lang="en-US" sz="1600" dirty="0">
                <a:latin typeface="Courier New" panose="02070609020205020404" charset="0"/>
              </a:rPr>
              <a:t>24820 pts/2    00:00:00 </a:t>
            </a:r>
            <a:r>
              <a:rPr lang="en-US" sz="1600" dirty="0" err="1">
                <a:latin typeface="Courier New" panose="02070609020205020404" charset="0"/>
              </a:rPr>
              <a:t>ps</a:t>
            </a:r>
            <a:r>
              <a:rPr lang="en-US" sz="1600" dirty="0">
                <a:latin typeface="Courier New" panose="02070609020205020404" charset="0"/>
              </a:rPr>
              <a:t> </a:t>
            </a:r>
            <a:endParaRPr lang="en-US" sz="1600" dirty="0">
              <a:latin typeface="Courier New" panose="02070609020205020404" charset="0"/>
            </a:endParaRPr>
          </a:p>
          <a:p>
            <a:pPr algn="l">
              <a:lnSpc>
                <a:spcPct val="100000"/>
              </a:lnSpc>
            </a:pPr>
            <a:r>
              <a:rPr lang="en-US" sz="1600" dirty="0" err="1">
                <a:latin typeface="Courier New" panose="02070609020205020404" charset="0"/>
              </a:rPr>
              <a:t>linux</a:t>
            </a:r>
            <a:r>
              <a:rPr lang="en-US" sz="1600" dirty="0">
                <a:latin typeface="Courier New" panose="02070609020205020404" charset="0"/>
              </a:rPr>
              <a:t>&gt; /bin/kill -9 -24817 </a:t>
            </a:r>
            <a:endParaRPr lang="en-US" sz="1600" dirty="0">
              <a:latin typeface="Courier New" panose="02070609020205020404" charset="0"/>
            </a:endParaRPr>
          </a:p>
          <a:p>
            <a:pPr algn="l">
              <a:lnSpc>
                <a:spcPct val="100000"/>
              </a:lnSpc>
            </a:pPr>
            <a:r>
              <a:rPr lang="en-US" sz="1600" dirty="0" err="1">
                <a:latin typeface="Courier New" panose="02070609020205020404" charset="0"/>
              </a:rPr>
              <a:t>linux</a:t>
            </a:r>
            <a:r>
              <a:rPr lang="en-US" sz="1600" dirty="0">
                <a:latin typeface="Courier New" panose="02070609020205020404" charset="0"/>
              </a:rPr>
              <a:t>&gt; </a:t>
            </a:r>
            <a:r>
              <a:rPr lang="en-US" sz="1600" dirty="0" err="1">
                <a:latin typeface="Courier New" panose="02070609020205020404" charset="0"/>
              </a:rPr>
              <a:t>ps</a:t>
            </a:r>
            <a:r>
              <a:rPr lang="en-US" sz="1600" dirty="0">
                <a:latin typeface="Courier New" panose="02070609020205020404" charset="0"/>
              </a:rPr>
              <a:t>  </a:t>
            </a:r>
            <a:endParaRPr lang="en-US" sz="1600" dirty="0">
              <a:latin typeface="Courier New" panose="02070609020205020404" charset="0"/>
            </a:endParaRPr>
          </a:p>
          <a:p>
            <a:pPr algn="l">
              <a:lnSpc>
                <a:spcPct val="100000"/>
              </a:lnSpc>
            </a:pPr>
            <a:r>
              <a:rPr lang="en-US" sz="1600" dirty="0">
                <a:latin typeface="Courier New" panose="02070609020205020404" charset="0"/>
              </a:rPr>
              <a:t>  PID TTY          TIME CMD </a:t>
            </a:r>
            <a:endParaRPr lang="en-US" sz="1600" dirty="0">
              <a:latin typeface="Courier New" panose="02070609020205020404" charset="0"/>
            </a:endParaRPr>
          </a:p>
          <a:p>
            <a:pPr algn="l">
              <a:lnSpc>
                <a:spcPct val="100000"/>
              </a:lnSpc>
            </a:pPr>
            <a:r>
              <a:rPr lang="en-US" sz="1600" dirty="0">
                <a:latin typeface="Courier New" panose="02070609020205020404" charset="0"/>
              </a:rPr>
              <a:t>24788 pts/2    00:00:00 </a:t>
            </a:r>
            <a:r>
              <a:rPr lang="en-US" sz="1600" dirty="0" err="1">
                <a:latin typeface="Courier New" panose="02070609020205020404" charset="0"/>
              </a:rPr>
              <a:t>tcsh</a:t>
            </a:r>
            <a:r>
              <a:rPr lang="en-US" sz="1600" dirty="0">
                <a:latin typeface="Courier New" panose="02070609020205020404" charset="0"/>
              </a:rPr>
              <a:t> </a:t>
            </a:r>
            <a:endParaRPr lang="en-US" sz="1600" dirty="0">
              <a:latin typeface="Courier New" panose="02070609020205020404" charset="0"/>
            </a:endParaRPr>
          </a:p>
          <a:p>
            <a:pPr algn="l">
              <a:lnSpc>
                <a:spcPct val="100000"/>
              </a:lnSpc>
            </a:pPr>
            <a:r>
              <a:rPr lang="en-US" sz="1600" dirty="0">
                <a:latin typeface="Courier New" panose="02070609020205020404" charset="0"/>
              </a:rPr>
              <a:t>24823 pts/2    00:00:00 </a:t>
            </a:r>
            <a:r>
              <a:rPr lang="en-US" sz="1600" dirty="0" err="1">
                <a:latin typeface="Courier New" panose="02070609020205020404" charset="0"/>
              </a:rPr>
              <a:t>ps</a:t>
            </a:r>
            <a:r>
              <a:rPr lang="en-US" sz="1600" dirty="0">
                <a:latin typeface="Courier New" panose="02070609020205020404" charset="0"/>
              </a:rPr>
              <a:t> </a:t>
            </a:r>
            <a:endParaRPr lang="en-US" sz="1600" dirty="0">
              <a:latin typeface="Courier New" panose="02070609020205020404" charset="0"/>
            </a:endParaRPr>
          </a:p>
          <a:p>
            <a:pPr algn="l">
              <a:lnSpc>
                <a:spcPct val="100000"/>
              </a:lnSpc>
            </a:pPr>
            <a:r>
              <a:rPr lang="en-US" sz="1600" dirty="0" err="1">
                <a:latin typeface="Courier New" panose="02070609020205020404" charset="0"/>
              </a:rPr>
              <a:t>linux</a:t>
            </a:r>
            <a:r>
              <a:rPr lang="en-US" sz="1600" dirty="0">
                <a:latin typeface="Courier New" panose="02070609020205020404" charset="0"/>
              </a:rPr>
              <a:t>&gt; </a:t>
            </a:r>
            <a:endParaRPr lang="en-US" sz="1600" dirty="0">
              <a:latin typeface="Courier New" panose="02070609020205020404" charset="0"/>
            </a:endParaRPr>
          </a:p>
        </p:txBody>
      </p:sp>
      <p:sp>
        <p:nvSpPr>
          <p:cNvPr id="553992" name="Rectangle 8"/>
          <p:cNvSpPr>
            <a:spLocks noChangeArrowheads="1"/>
          </p:cNvSpPr>
          <p:nvPr/>
        </p:nvSpPr>
        <p:spPr bwMode="auto">
          <a:xfrm>
            <a:off x="7399014" y="3581400"/>
            <a:ext cx="3733800" cy="266700"/>
          </a:xfrm>
          <a:prstGeom prst="rect">
            <a:avLst/>
          </a:prstGeom>
          <a:noFill/>
          <a:ln w="28575">
            <a:solidFill>
              <a:srgbClr val="C00000"/>
            </a:solidFill>
            <a:miter lim="800000"/>
          </a:ln>
          <a:effectLst/>
        </p:spPr>
        <p:txBody>
          <a:bodyPr wrap="none" lIns="45720" rIns="45720" anchor="ctr"/>
          <a:lstStyle/>
          <a:p>
            <a:endParaRPr lang="en-US" dirty="0">
              <a:latin typeface="Calibri" panose="020F0502020204030204" pitchFamily="34" charset="0"/>
            </a:endParaRPr>
          </a:p>
        </p:txBody>
      </p:sp>
      <p:sp>
        <p:nvSpPr>
          <p:cNvPr id="553995" name="Rectangle 11"/>
          <p:cNvSpPr>
            <a:spLocks noChangeArrowheads="1"/>
          </p:cNvSpPr>
          <p:nvPr/>
        </p:nvSpPr>
        <p:spPr bwMode="auto">
          <a:xfrm>
            <a:off x="7399014" y="3581401"/>
            <a:ext cx="3733800" cy="504825"/>
          </a:xfrm>
          <a:prstGeom prst="rect">
            <a:avLst/>
          </a:prstGeom>
          <a:noFill/>
          <a:ln w="28575">
            <a:solidFill>
              <a:srgbClr val="C00000"/>
            </a:solidFill>
            <a:miter lim="800000"/>
          </a:ln>
          <a:effectLst/>
        </p:spPr>
        <p:txBody>
          <a:bodyPr wrap="none" lIns="45720" rIns="45720" anchor="ctr"/>
          <a:lstStyle/>
          <a:p>
            <a:endParaRPr lang="en-US"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9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398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3995"/>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553992"/>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553987">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398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398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5398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539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92" grpId="0" bldLvl="0" animBg="1"/>
      <p:bldP spid="553992" grpId="1" bldLvl="0" animBg="1"/>
      <p:bldP spid="553995"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a:xfrm>
            <a:off x="476025" y="283278"/>
            <a:ext cx="10122791" cy="762000"/>
          </a:xfrm>
        </p:spPr>
        <p:txBody>
          <a:bodyPr/>
          <a:lstStyle/>
          <a:p>
            <a:r>
              <a:rPr lang="zh-CN" altLang="en-US"/>
              <a:t>从键盘发送信号</a:t>
            </a:r>
            <a:endParaRPr lang="zh-CN" altLang="en-US"/>
          </a:p>
        </p:txBody>
      </p:sp>
      <p:sp>
        <p:nvSpPr>
          <p:cNvPr id="555011" name="Rectangle 3"/>
          <p:cNvSpPr>
            <a:spLocks noGrp="1" noChangeArrowheads="1"/>
          </p:cNvSpPr>
          <p:nvPr>
            <p:ph idx="1"/>
          </p:nvPr>
        </p:nvSpPr>
        <p:spPr>
          <a:xfrm>
            <a:off x="529167" y="1066800"/>
            <a:ext cx="10528300" cy="4972050"/>
          </a:xfrm>
        </p:spPr>
        <p:txBody>
          <a:bodyPr/>
          <a:lstStyle/>
          <a:p>
            <a:r>
              <a:rPr lang="zh-CN" altLang="en-US"/>
              <a:t>键入</a:t>
            </a:r>
            <a:r>
              <a:rPr lang="en-US"/>
              <a:t> ctrl-c (ctrl-z) </a:t>
            </a:r>
            <a:r>
              <a:rPr lang="zh-CN" altLang="en-US"/>
              <a:t>会导致</a:t>
            </a:r>
            <a:endParaRPr lang="zh-CN" altLang="en-US"/>
          </a:p>
          <a:p>
            <a:pPr lvl="1"/>
            <a:r>
              <a:rPr lang="en-US" altLang="zh-CN"/>
              <a:t>Shell</a:t>
            </a:r>
            <a:r>
              <a:rPr lang="zh-CN" altLang="en-US"/>
              <a:t>经内核发送</a:t>
            </a:r>
            <a:r>
              <a:rPr lang="en-US"/>
              <a:t> SIGINT</a:t>
            </a:r>
            <a:r>
              <a:rPr lang="zh-CN" altLang="en-US"/>
              <a:t>（</a:t>
            </a:r>
            <a:r>
              <a:rPr lang="en-US"/>
              <a:t>SIGTSTP</a:t>
            </a:r>
            <a:r>
              <a:rPr lang="zh-CN" altLang="en-US"/>
              <a:t>）信号到</a:t>
            </a:r>
            <a:r>
              <a:rPr lang="zh-CN" altLang="en-US" b="1"/>
              <a:t>前台进程组</a:t>
            </a:r>
            <a:r>
              <a:rPr lang="zh-CN" altLang="en-US"/>
              <a:t>中的每个作业</a:t>
            </a:r>
            <a:endParaRPr lang="en-US"/>
          </a:p>
          <a:p>
            <a:pPr lvl="1"/>
            <a:r>
              <a:rPr lang="en-US"/>
              <a:t>ctrl-c</a:t>
            </a:r>
            <a:r>
              <a:rPr lang="zh-CN" altLang="en-US"/>
              <a:t>发送</a:t>
            </a:r>
            <a:r>
              <a:rPr lang="en-US"/>
              <a:t>SIGINT – </a:t>
            </a:r>
            <a:r>
              <a:rPr lang="zh-CN" altLang="en-US"/>
              <a:t>默认操作终止进程</a:t>
            </a:r>
            <a:r>
              <a:rPr lang="en-US"/>
              <a:t> </a:t>
            </a:r>
            <a:endParaRPr lang="en-US"/>
          </a:p>
          <a:p>
            <a:pPr lvl="1"/>
            <a:r>
              <a:rPr lang="en-US"/>
              <a:t>ctrl-z</a:t>
            </a:r>
            <a:r>
              <a:rPr lang="zh-CN" altLang="en-US"/>
              <a:t>发送</a:t>
            </a:r>
            <a:r>
              <a:rPr lang="en-US"/>
              <a:t>SIGTSTP –</a:t>
            </a:r>
            <a:r>
              <a:rPr lang="zh-CN" altLang="en-US"/>
              <a:t> </a:t>
            </a:r>
            <a:r>
              <a:rPr lang="zh-CN" altLang="en-US"/>
              <a:t>默认操作暂停进程</a:t>
            </a:r>
            <a:endParaRPr lang="zh-CN" altLang="en-US"/>
          </a:p>
        </p:txBody>
      </p:sp>
      <p:sp>
        <p:nvSpPr>
          <p:cNvPr id="27" name="Rectangle 26"/>
          <p:cNvSpPr/>
          <p:nvPr/>
        </p:nvSpPr>
        <p:spPr bwMode="auto">
          <a:xfrm>
            <a:off x="7620000" y="3689788"/>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latin typeface="Consolas" panose="020B0609020204030204" pitchFamily="49" charset="0"/>
              <a:ea typeface="FangSong" panose="02010609060101010101" pitchFamily="49" charset="-122"/>
              <a:cs typeface="Consolas" panose="020B0609020204030204" pitchFamily="49" charset="0"/>
            </a:endParaRPr>
          </a:p>
        </p:txBody>
      </p:sp>
      <p:sp>
        <p:nvSpPr>
          <p:cNvPr id="28" name="Rectangle 27"/>
          <p:cNvSpPr/>
          <p:nvPr/>
        </p:nvSpPr>
        <p:spPr bwMode="auto">
          <a:xfrm>
            <a:off x="5334000" y="3681197"/>
            <a:ext cx="2057400" cy="1644213"/>
          </a:xfrm>
          <a:prstGeom prst="rect">
            <a:avLst/>
          </a:prstGeom>
          <a:solidFill>
            <a:schemeClr val="bg2">
              <a:lumMod val="20000"/>
              <a:lumOff val="80000"/>
            </a:schemeClr>
          </a:solidFill>
          <a:ln w="25400" cap="flat" cmpd="sng" algn="ctr">
            <a:noFill/>
            <a:prstDash val="solid"/>
            <a:round/>
            <a:headEnd type="none" w="med" len="med"/>
            <a:tailEnd type="arrow" w="med" len="med"/>
          </a:ln>
          <a:effectLst/>
        </p:spPr>
        <p:txBody>
          <a:bodyPr rtlCol="0" anchor="ctr"/>
          <a:lstStyle/>
          <a:p>
            <a:pPr algn="ctr"/>
            <a:endParaRPr lang="en-US">
              <a:latin typeface="Consolas" panose="020B0609020204030204" pitchFamily="49" charset="0"/>
              <a:ea typeface="FangSong" panose="02010609060101010101" pitchFamily="49" charset="-122"/>
              <a:cs typeface="Consolas" panose="020B0609020204030204" pitchFamily="49" charset="0"/>
            </a:endParaRPr>
          </a:p>
        </p:txBody>
      </p:sp>
      <p:sp>
        <p:nvSpPr>
          <p:cNvPr id="29" name="Rectangle 28"/>
          <p:cNvSpPr/>
          <p:nvPr/>
        </p:nvSpPr>
        <p:spPr bwMode="auto">
          <a:xfrm>
            <a:off x="2608497" y="3681197"/>
            <a:ext cx="2514600" cy="3099375"/>
          </a:xfrm>
          <a:prstGeom prst="rect">
            <a:avLst/>
          </a:prstGeom>
          <a:solidFill>
            <a:srgbClr val="F1C7C7"/>
          </a:solidFill>
          <a:ln w="25400" cap="flat" cmpd="sng" algn="ctr">
            <a:noFill/>
            <a:prstDash val="solid"/>
            <a:round/>
            <a:headEnd type="none" w="med" len="med"/>
            <a:tailEnd type="arrow" w="med" len="med"/>
          </a:ln>
          <a:effectLst/>
        </p:spPr>
        <p:txBody>
          <a:bodyPr rtlCol="0" anchor="ctr"/>
          <a:lstStyle/>
          <a:p>
            <a:pPr algn="ctr"/>
            <a:endParaRPr lang="en-US">
              <a:latin typeface="Consolas" panose="020B0609020204030204" pitchFamily="49" charset="0"/>
              <a:ea typeface="FangSong" panose="02010609060101010101" pitchFamily="49" charset="-122"/>
              <a:cs typeface="Consolas" panose="020B0609020204030204" pitchFamily="49" charset="0"/>
            </a:endParaRPr>
          </a:p>
        </p:txBody>
      </p:sp>
      <p:sp>
        <p:nvSpPr>
          <p:cNvPr id="30" name="Oval 4"/>
          <p:cNvSpPr>
            <a:spLocks noChangeAspect="1" noChangeArrowheads="1"/>
          </p:cNvSpPr>
          <p:nvPr/>
        </p:nvSpPr>
        <p:spPr bwMode="auto">
          <a:xfrm>
            <a:off x="3422651" y="3762376"/>
            <a:ext cx="982663" cy="885825"/>
          </a:xfrm>
          <a:prstGeom prst="ellipse">
            <a:avLst/>
          </a:prstGeom>
          <a:solidFill>
            <a:schemeClr val="accent2">
              <a:lumMod val="20000"/>
              <a:lumOff val="80000"/>
            </a:schemeClr>
          </a:solidFill>
          <a:ln w="12700">
            <a:solidFill>
              <a:schemeClr val="tx1"/>
            </a:solidFill>
            <a:round/>
          </a:ln>
          <a:effectLst/>
        </p:spPr>
        <p:txBody>
          <a:bodyPr wrap="none" anchor="ctr"/>
          <a:lstStyle/>
          <a:p>
            <a:pPr algn="ctr"/>
            <a:r>
              <a:rPr lang="zh-CN" altLang="en-US" sz="1600" dirty="0">
                <a:latin typeface="Consolas" panose="020B0609020204030204" pitchFamily="49" charset="0"/>
                <a:ea typeface="FangSong" panose="02010609060101010101" pitchFamily="49" charset="-122"/>
                <a:cs typeface="Consolas" panose="020B0609020204030204" pitchFamily="49" charset="0"/>
                <a:sym typeface="+mn-ea"/>
              </a:rPr>
              <a:t>前台作业</a:t>
            </a:r>
            <a:endParaRPr lang="en-US"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31" name="Oval 5"/>
          <p:cNvSpPr>
            <a:spLocks noChangeAspect="1" noChangeArrowheads="1"/>
          </p:cNvSpPr>
          <p:nvPr/>
        </p:nvSpPr>
        <p:spPr bwMode="auto">
          <a:xfrm>
            <a:off x="5618163" y="3762375"/>
            <a:ext cx="982662" cy="863600"/>
          </a:xfrm>
          <a:prstGeom prst="ellipse">
            <a:avLst/>
          </a:prstGeom>
          <a:solidFill>
            <a:schemeClr val="accent2">
              <a:lumMod val="20000"/>
              <a:lumOff val="80000"/>
            </a:schemeClr>
          </a:solidFill>
          <a:ln w="12700">
            <a:solidFill>
              <a:schemeClr val="tx1"/>
            </a:solidFill>
            <a:round/>
          </a:ln>
          <a:effectLst/>
        </p:spPr>
        <p:txBody>
          <a:bodyPr wrap="none" anchor="ctr"/>
          <a:lstStyle/>
          <a:p>
            <a:pPr algn="ctr">
              <a:lnSpc>
                <a:spcPct val="100000"/>
              </a:lnSpc>
            </a:pPr>
            <a:r>
              <a:rPr lang="zh-CN" altLang="en-US" sz="1600" dirty="0">
                <a:latin typeface="Consolas" panose="020B0609020204030204" pitchFamily="49" charset="0"/>
                <a:ea typeface="FangSong" panose="02010609060101010101" pitchFamily="49" charset="-122"/>
                <a:cs typeface="Consolas" panose="020B0609020204030204" pitchFamily="49" charset="0"/>
                <a:sym typeface="+mn-ea"/>
              </a:rPr>
              <a:t>后台作业</a:t>
            </a: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a:p>
            <a:pPr algn="ctr">
              <a:lnSpc>
                <a:spcPct val="100000"/>
              </a:lnSpc>
            </a:pPr>
            <a:r>
              <a:rPr lang="en-US" sz="1600" dirty="0">
                <a:latin typeface="Consolas" panose="020B0609020204030204" pitchFamily="49" charset="0"/>
                <a:ea typeface="FangSong" panose="02010609060101010101" pitchFamily="49" charset="-122"/>
                <a:cs typeface="Consolas" panose="020B0609020204030204" pitchFamily="49" charset="0"/>
                <a:sym typeface="+mn-ea"/>
              </a:rPr>
              <a:t>#1</a:t>
            </a:r>
            <a:endParaRPr lang="en-US"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32" name="Oval 6"/>
          <p:cNvSpPr>
            <a:spLocks noChangeAspect="1" noChangeArrowheads="1"/>
          </p:cNvSpPr>
          <p:nvPr/>
        </p:nvSpPr>
        <p:spPr bwMode="auto">
          <a:xfrm>
            <a:off x="7772400" y="3762376"/>
            <a:ext cx="984250" cy="885825"/>
          </a:xfrm>
          <a:prstGeom prst="ellipse">
            <a:avLst/>
          </a:prstGeom>
          <a:solidFill>
            <a:schemeClr val="accent2">
              <a:lumMod val="20000"/>
              <a:lumOff val="80000"/>
            </a:schemeClr>
          </a:solidFill>
          <a:ln w="12700">
            <a:solidFill>
              <a:schemeClr val="tx1"/>
            </a:solidFill>
            <a:round/>
          </a:ln>
          <a:effectLst/>
        </p:spPr>
        <p:txBody>
          <a:bodyPr wrap="none" anchor="ctr"/>
          <a:lstStyle/>
          <a:p>
            <a:pPr algn="ctr"/>
            <a:r>
              <a:rPr lang="zh-CN" altLang="en-US" sz="1600" dirty="0">
                <a:latin typeface="Consolas" panose="020B0609020204030204" pitchFamily="49" charset="0"/>
                <a:ea typeface="FangSong" panose="02010609060101010101" pitchFamily="49" charset="-122"/>
                <a:cs typeface="Consolas" panose="020B0609020204030204" pitchFamily="49" charset="0"/>
                <a:sym typeface="+mn-ea"/>
              </a:rPr>
              <a:t>后台作业</a:t>
            </a: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a:p>
            <a:pPr algn="ctr"/>
            <a:r>
              <a:rPr lang="en-US" sz="1600" dirty="0">
                <a:latin typeface="Consolas" panose="020B0609020204030204" pitchFamily="49" charset="0"/>
                <a:ea typeface="FangSong" panose="02010609060101010101" pitchFamily="49" charset="-122"/>
                <a:cs typeface="Consolas" panose="020B0609020204030204" pitchFamily="49" charset="0"/>
                <a:sym typeface="+mn-ea"/>
              </a:rPr>
              <a:t>#2</a:t>
            </a:r>
            <a:endParaRPr lang="en-US"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33" name="Oval 7"/>
          <p:cNvSpPr>
            <a:spLocks noChangeAspect="1" noChangeArrowheads="1"/>
          </p:cNvSpPr>
          <p:nvPr/>
        </p:nvSpPr>
        <p:spPr bwMode="auto">
          <a:xfrm>
            <a:off x="5622925" y="2438400"/>
            <a:ext cx="984250" cy="776288"/>
          </a:xfrm>
          <a:prstGeom prst="ellipse">
            <a:avLst/>
          </a:prstGeom>
          <a:solidFill>
            <a:schemeClr val="accent2">
              <a:lumMod val="20000"/>
              <a:lumOff val="80000"/>
            </a:schemeClr>
          </a:solidFill>
          <a:ln w="12700">
            <a:solidFill>
              <a:schemeClr val="tx1"/>
            </a:solidFill>
            <a:round/>
          </a:ln>
          <a:effectLst/>
        </p:spPr>
        <p:txBody>
          <a:bodyPr wrap="none" anchor="ctr"/>
          <a:lstStyle/>
          <a:p>
            <a:pPr algn="ctr">
              <a:lnSpc>
                <a:spcPct val="100000"/>
              </a:lnSpc>
            </a:pPr>
            <a:r>
              <a:rPr lang="en-US" sz="1600" dirty="0">
                <a:latin typeface="Consolas" panose="020B0609020204030204" pitchFamily="49" charset="0"/>
                <a:ea typeface="FangSong" panose="02010609060101010101" pitchFamily="49" charset="-122"/>
                <a:cs typeface="Consolas" panose="020B0609020204030204" pitchFamily="49" charset="0"/>
              </a:rPr>
              <a:t>Shell</a:t>
            </a:r>
            <a:endParaRPr lang="en-US"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34" name="Oval 8"/>
          <p:cNvSpPr>
            <a:spLocks noChangeAspect="1" noChangeArrowheads="1"/>
          </p:cNvSpPr>
          <p:nvPr/>
        </p:nvSpPr>
        <p:spPr bwMode="auto">
          <a:xfrm>
            <a:off x="2863850" y="4948239"/>
            <a:ext cx="984250" cy="776287"/>
          </a:xfrm>
          <a:prstGeom prst="ellipse">
            <a:avLst/>
          </a:prstGeom>
          <a:solidFill>
            <a:schemeClr val="accent2">
              <a:lumMod val="20000"/>
              <a:lumOff val="80000"/>
            </a:schemeClr>
          </a:solidFill>
          <a:ln w="12700">
            <a:solidFill>
              <a:schemeClr val="tx1"/>
            </a:solidFill>
            <a:round/>
          </a:ln>
          <a:effectLst/>
        </p:spPr>
        <p:txBody>
          <a:bodyPr wrap="none" anchor="ctr"/>
          <a:lstStyle/>
          <a:p>
            <a:pPr algn="ctr">
              <a:lnSpc>
                <a:spcPct val="100000"/>
              </a:lnSpc>
            </a:pPr>
            <a:r>
              <a:rPr lang="zh-CN" altLang="en-US" sz="1600" dirty="0">
                <a:latin typeface="Consolas" panose="020B0609020204030204" pitchFamily="49" charset="0"/>
                <a:ea typeface="FangSong" panose="02010609060101010101" pitchFamily="49" charset="-122"/>
                <a:cs typeface="Consolas" panose="020B0609020204030204" pitchFamily="49" charset="0"/>
                <a:sym typeface="+mn-ea"/>
              </a:rPr>
              <a:t>子进程</a:t>
            </a:r>
            <a:endParaRPr lang="en-US"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35" name="Oval 9"/>
          <p:cNvSpPr>
            <a:spLocks noChangeAspect="1" noChangeArrowheads="1"/>
          </p:cNvSpPr>
          <p:nvPr/>
        </p:nvSpPr>
        <p:spPr bwMode="auto">
          <a:xfrm>
            <a:off x="3989388" y="4948239"/>
            <a:ext cx="984250" cy="776287"/>
          </a:xfrm>
          <a:prstGeom prst="ellipse">
            <a:avLst/>
          </a:prstGeom>
          <a:solidFill>
            <a:schemeClr val="accent2">
              <a:lumMod val="20000"/>
              <a:lumOff val="80000"/>
            </a:schemeClr>
          </a:solidFill>
          <a:ln w="12700">
            <a:solidFill>
              <a:schemeClr val="tx1"/>
            </a:solidFill>
            <a:round/>
          </a:ln>
          <a:effectLst/>
        </p:spPr>
        <p:txBody>
          <a:bodyPr wrap="none" anchor="ctr"/>
          <a:lstStyle/>
          <a:p>
            <a:pPr algn="ctr">
              <a:lnSpc>
                <a:spcPct val="100000"/>
              </a:lnSpc>
            </a:pPr>
            <a:r>
              <a:rPr lang="zh-CN" altLang="en-US" sz="1600" dirty="0">
                <a:latin typeface="Consolas" panose="020B0609020204030204" pitchFamily="49" charset="0"/>
                <a:ea typeface="FangSong" panose="02010609060101010101" pitchFamily="49" charset="-122"/>
                <a:cs typeface="Consolas" panose="020B0609020204030204" pitchFamily="49" charset="0"/>
                <a:sym typeface="+mn-ea"/>
              </a:rPr>
              <a:t>子进程</a:t>
            </a:r>
            <a:endParaRPr lang="en-US"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36" name="Line 10"/>
          <p:cNvSpPr>
            <a:spLocks noChangeAspect="1" noChangeShapeType="1"/>
          </p:cNvSpPr>
          <p:nvPr/>
        </p:nvSpPr>
        <p:spPr bwMode="auto">
          <a:xfrm flipH="1">
            <a:off x="3430588" y="4539457"/>
            <a:ext cx="182562" cy="460375"/>
          </a:xfrm>
          <a:prstGeom prst="line">
            <a:avLst/>
          </a:prstGeom>
          <a:noFill/>
          <a:ln w="12700">
            <a:solidFill>
              <a:schemeClr val="tx1"/>
            </a:solidFill>
            <a:round/>
          </a:ln>
          <a:effectLst/>
        </p:spPr>
        <p:txBody>
          <a:bodyPr anchor="ctr">
            <a:spAutoFit/>
          </a:bodyPr>
          <a:lstStyle/>
          <a:p>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37" name="Line 11"/>
          <p:cNvSpPr>
            <a:spLocks noChangeAspect="1" noChangeShapeType="1"/>
          </p:cNvSpPr>
          <p:nvPr/>
        </p:nvSpPr>
        <p:spPr bwMode="auto">
          <a:xfrm>
            <a:off x="4210051" y="4532313"/>
            <a:ext cx="163513" cy="460375"/>
          </a:xfrm>
          <a:prstGeom prst="line">
            <a:avLst/>
          </a:prstGeom>
          <a:noFill/>
          <a:ln w="12700">
            <a:solidFill>
              <a:schemeClr val="tx1"/>
            </a:solidFill>
            <a:round/>
          </a:ln>
          <a:effectLst/>
        </p:spPr>
        <p:txBody>
          <a:bodyPr anchor="ctr">
            <a:spAutoFit/>
          </a:bodyPr>
          <a:lstStyle/>
          <a:p>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38" name="Line 12"/>
          <p:cNvSpPr>
            <a:spLocks noChangeAspect="1" noChangeShapeType="1"/>
          </p:cNvSpPr>
          <p:nvPr/>
        </p:nvSpPr>
        <p:spPr bwMode="auto">
          <a:xfrm>
            <a:off x="6118225" y="3248820"/>
            <a:ext cx="309880" cy="460375"/>
          </a:xfrm>
          <a:prstGeom prst="line">
            <a:avLst/>
          </a:prstGeom>
          <a:noFill/>
          <a:ln w="12700">
            <a:solidFill>
              <a:schemeClr val="tx1"/>
            </a:solidFill>
            <a:round/>
          </a:ln>
          <a:effectLst/>
        </p:spPr>
        <p:txBody>
          <a:bodyPr wrap="none" anchor="ctr">
            <a:spAutoFit/>
          </a:bodyPr>
          <a:lstStyle/>
          <a:p>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39" name="Line 13"/>
          <p:cNvSpPr>
            <a:spLocks noChangeAspect="1" noChangeShapeType="1"/>
          </p:cNvSpPr>
          <p:nvPr/>
        </p:nvSpPr>
        <p:spPr bwMode="auto">
          <a:xfrm flipH="1">
            <a:off x="4292600" y="3278982"/>
            <a:ext cx="1481138" cy="460375"/>
          </a:xfrm>
          <a:prstGeom prst="line">
            <a:avLst/>
          </a:prstGeom>
          <a:noFill/>
          <a:ln w="12700">
            <a:solidFill>
              <a:schemeClr val="tx1"/>
            </a:solidFill>
            <a:round/>
          </a:ln>
          <a:effectLst/>
        </p:spPr>
        <p:txBody>
          <a:bodyPr anchor="ctr">
            <a:spAutoFit/>
          </a:bodyPr>
          <a:lstStyle/>
          <a:p>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40" name="Line 14"/>
          <p:cNvSpPr>
            <a:spLocks noChangeAspect="1" noChangeShapeType="1"/>
          </p:cNvSpPr>
          <p:nvPr/>
        </p:nvSpPr>
        <p:spPr bwMode="auto">
          <a:xfrm>
            <a:off x="6492876" y="3255170"/>
            <a:ext cx="1412875" cy="460375"/>
          </a:xfrm>
          <a:prstGeom prst="line">
            <a:avLst/>
          </a:prstGeom>
          <a:noFill/>
          <a:ln w="12700">
            <a:solidFill>
              <a:schemeClr val="tx1"/>
            </a:solidFill>
            <a:round/>
          </a:ln>
          <a:effectLst/>
        </p:spPr>
        <p:txBody>
          <a:bodyPr anchor="ctr">
            <a:spAutoFit/>
          </a:bodyPr>
          <a:lstStyle/>
          <a:p>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41" name="Text Box 15"/>
          <p:cNvSpPr txBox="1">
            <a:spLocks noChangeAspect="1" noChangeArrowheads="1"/>
          </p:cNvSpPr>
          <p:nvPr/>
        </p:nvSpPr>
        <p:spPr bwMode="auto">
          <a:xfrm>
            <a:off x="4870533" y="2601268"/>
            <a:ext cx="779381" cy="461665"/>
          </a:xfrm>
          <a:prstGeom prst="rect">
            <a:avLst/>
          </a:prstGeom>
          <a:noFill/>
          <a:ln w="12700">
            <a:noFill/>
            <a:miter lim="800000"/>
          </a:ln>
          <a:effectLst/>
        </p:spPr>
        <p:txBody>
          <a:bodyPr wrap="none" anchor="ctr">
            <a:spAutoFit/>
          </a:bodyPr>
          <a:lstStyle/>
          <a:p>
            <a:pPr algn="r">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pid=10</a:t>
            </a:r>
            <a:endParaRPr lang="en-US" sz="1200">
              <a:latin typeface="Consolas" panose="020B0609020204030204" pitchFamily="49" charset="0"/>
              <a:ea typeface="FangSong" panose="02010609060101010101" pitchFamily="49" charset="-122"/>
              <a:cs typeface="Consolas" panose="020B0609020204030204" pitchFamily="49" charset="0"/>
            </a:endParaRPr>
          </a:p>
          <a:p>
            <a:pPr algn="r">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pgid=10</a:t>
            </a:r>
            <a:endParaRPr lang="en-US" sz="1200">
              <a:latin typeface="Consolas" panose="020B0609020204030204" pitchFamily="49" charset="0"/>
              <a:ea typeface="FangSong" panose="02010609060101010101" pitchFamily="49" charset="-122"/>
              <a:cs typeface="Consolas" panose="020B0609020204030204" pitchFamily="49" charset="0"/>
            </a:endParaRPr>
          </a:p>
        </p:txBody>
      </p:sp>
      <p:sp>
        <p:nvSpPr>
          <p:cNvPr id="42" name="Text Box 17"/>
          <p:cNvSpPr txBox="1">
            <a:spLocks noChangeAspect="1" noChangeArrowheads="1"/>
          </p:cNvSpPr>
          <p:nvPr/>
        </p:nvSpPr>
        <p:spPr bwMode="auto">
          <a:xfrm>
            <a:off x="2608498" y="6320821"/>
            <a:ext cx="1765066" cy="337185"/>
          </a:xfrm>
          <a:prstGeom prst="rect">
            <a:avLst/>
          </a:prstGeom>
          <a:noFill/>
          <a:ln w="12700">
            <a:noFill/>
            <a:miter lim="800000"/>
          </a:ln>
          <a:effectLst/>
        </p:spPr>
        <p:txBody>
          <a:bodyPr wrap="square" anchor="ctr">
            <a:spAutoFit/>
          </a:bodyPr>
          <a:lstStyle/>
          <a:p>
            <a:pPr>
              <a:lnSpc>
                <a:spcPct val="100000"/>
              </a:lnSpc>
            </a:pPr>
            <a:r>
              <a:rPr lang="zh-CN" alt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sym typeface="+mn-ea"/>
              </a:rPr>
              <a:t>前台进程组</a:t>
            </a:r>
            <a:r>
              <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sym typeface="+mn-ea"/>
              </a:rPr>
              <a:t> 20</a:t>
            </a:r>
            <a:endParaRPr lang="en-US" sz="1600" i="1" dirty="0">
              <a:solidFill>
                <a:srgbClr val="C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43" name="Text Box 19"/>
          <p:cNvSpPr txBox="1">
            <a:spLocks noChangeAspect="1" noChangeArrowheads="1"/>
          </p:cNvSpPr>
          <p:nvPr/>
        </p:nvSpPr>
        <p:spPr bwMode="auto">
          <a:xfrm>
            <a:off x="5334000" y="4847512"/>
            <a:ext cx="1571264" cy="338554"/>
          </a:xfrm>
          <a:prstGeom prst="rect">
            <a:avLst/>
          </a:prstGeom>
          <a:noFill/>
          <a:ln w="12700">
            <a:noFill/>
            <a:miter lim="800000"/>
          </a:ln>
          <a:effectLst/>
        </p:spPr>
        <p:txBody>
          <a:bodyPr wrap="none" anchor="ctr">
            <a:spAutoFit/>
          </a:bodyPr>
          <a:lstStyle/>
          <a:p>
            <a:pPr algn="l"/>
            <a:r>
              <a:rPr lang="zh-CN" alt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sym typeface="+mn-ea"/>
              </a:rPr>
              <a:t>后台进程组</a:t>
            </a:r>
            <a:r>
              <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sym typeface="+mn-ea"/>
              </a:rPr>
              <a:t> 32</a:t>
            </a:r>
            <a:endPar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endParaRPr>
          </a:p>
        </p:txBody>
      </p:sp>
      <p:sp>
        <p:nvSpPr>
          <p:cNvPr id="44" name="Text Box 20"/>
          <p:cNvSpPr txBox="1">
            <a:spLocks noChangeAspect="1" noChangeArrowheads="1"/>
          </p:cNvSpPr>
          <p:nvPr/>
        </p:nvSpPr>
        <p:spPr bwMode="auto">
          <a:xfrm>
            <a:off x="7620000" y="4872337"/>
            <a:ext cx="1571264" cy="338554"/>
          </a:xfrm>
          <a:prstGeom prst="rect">
            <a:avLst/>
          </a:prstGeom>
          <a:noFill/>
          <a:ln w="12700">
            <a:noFill/>
            <a:miter lim="800000"/>
          </a:ln>
          <a:effectLst/>
        </p:spPr>
        <p:txBody>
          <a:bodyPr wrap="none" anchor="ctr">
            <a:spAutoFit/>
          </a:bodyPr>
          <a:lstStyle/>
          <a:p>
            <a:pPr algn="l">
              <a:lnSpc>
                <a:spcPct val="100000"/>
              </a:lnSpc>
            </a:pPr>
            <a:r>
              <a:rPr lang="zh-CN" alt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sym typeface="+mn-ea"/>
              </a:rPr>
              <a:t>后台进程组</a:t>
            </a:r>
            <a:r>
              <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sym typeface="+mn-ea"/>
              </a:rPr>
              <a:t> 40</a:t>
            </a:r>
            <a:endParaRPr lang="en-US" sz="1600" i="1" dirty="0">
              <a:solidFill>
                <a:schemeClr val="tx1">
                  <a:lumMod val="50000"/>
                  <a:lumOff val="50000"/>
                </a:schemeClr>
              </a:solidFill>
              <a:latin typeface="Consolas" panose="020B0609020204030204" pitchFamily="49" charset="0"/>
              <a:ea typeface="FangSong" panose="02010609060101010101" pitchFamily="49" charset="-122"/>
              <a:cs typeface="Consolas" panose="020B0609020204030204" pitchFamily="49" charset="0"/>
            </a:endParaRPr>
          </a:p>
        </p:txBody>
      </p:sp>
      <p:sp>
        <p:nvSpPr>
          <p:cNvPr id="45" name="Text Box 22"/>
          <p:cNvSpPr txBox="1">
            <a:spLocks noChangeAspect="1" noChangeArrowheads="1"/>
          </p:cNvSpPr>
          <p:nvPr/>
        </p:nvSpPr>
        <p:spPr bwMode="auto">
          <a:xfrm>
            <a:off x="2671845" y="3896668"/>
            <a:ext cx="779381" cy="461665"/>
          </a:xfrm>
          <a:prstGeom prst="rect">
            <a:avLst/>
          </a:prstGeom>
          <a:noFill/>
          <a:ln w="12700">
            <a:noFill/>
            <a:miter lim="800000"/>
          </a:ln>
          <a:effectLst/>
        </p:spPr>
        <p:txBody>
          <a:bodyPr wrap="none" anchor="ctr">
            <a:spAutoFit/>
          </a:bodyPr>
          <a:lstStyle/>
          <a:p>
            <a:pPr algn="r">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pid=20</a:t>
            </a:r>
            <a:endParaRPr lang="en-US" sz="1200">
              <a:latin typeface="Consolas" panose="020B0609020204030204" pitchFamily="49" charset="0"/>
              <a:ea typeface="FangSong" panose="02010609060101010101" pitchFamily="49" charset="-122"/>
              <a:cs typeface="Consolas" panose="020B0609020204030204" pitchFamily="49" charset="0"/>
            </a:endParaRPr>
          </a:p>
          <a:p>
            <a:pPr algn="r">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pgid=20</a:t>
            </a:r>
            <a:endParaRPr lang="en-US" sz="1200">
              <a:latin typeface="Consolas" panose="020B0609020204030204" pitchFamily="49" charset="0"/>
              <a:ea typeface="FangSong" panose="02010609060101010101" pitchFamily="49" charset="-122"/>
              <a:cs typeface="Consolas" panose="020B0609020204030204" pitchFamily="49" charset="0"/>
            </a:endParaRPr>
          </a:p>
        </p:txBody>
      </p:sp>
      <p:sp>
        <p:nvSpPr>
          <p:cNvPr id="46" name="Text Box 23"/>
          <p:cNvSpPr txBox="1">
            <a:spLocks noChangeAspect="1" noChangeArrowheads="1"/>
          </p:cNvSpPr>
          <p:nvPr/>
        </p:nvSpPr>
        <p:spPr bwMode="auto">
          <a:xfrm>
            <a:off x="6562726" y="3947468"/>
            <a:ext cx="779381" cy="461665"/>
          </a:xfrm>
          <a:prstGeom prst="rect">
            <a:avLst/>
          </a:prstGeom>
          <a:noFill/>
          <a:ln w="12700">
            <a:noFill/>
            <a:miter lim="800000"/>
          </a:ln>
          <a:effectLst/>
        </p:spPr>
        <p:txBody>
          <a:bodyPr wrap="none" anchor="ctr">
            <a:spAutoFit/>
          </a:bodyPr>
          <a:lstStyle/>
          <a:p>
            <a:pPr algn="l">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pid=32</a:t>
            </a:r>
            <a:endParaRPr lang="en-US" sz="120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pgid=32</a:t>
            </a:r>
            <a:endParaRPr lang="en-US" sz="1200">
              <a:latin typeface="Consolas" panose="020B0609020204030204" pitchFamily="49" charset="0"/>
              <a:ea typeface="FangSong" panose="02010609060101010101" pitchFamily="49" charset="-122"/>
              <a:cs typeface="Consolas" panose="020B0609020204030204" pitchFamily="49" charset="0"/>
            </a:endParaRPr>
          </a:p>
        </p:txBody>
      </p:sp>
      <p:sp>
        <p:nvSpPr>
          <p:cNvPr id="47" name="Text Box 24"/>
          <p:cNvSpPr txBox="1">
            <a:spLocks noChangeAspect="1" noChangeArrowheads="1"/>
          </p:cNvSpPr>
          <p:nvPr/>
        </p:nvSpPr>
        <p:spPr bwMode="auto">
          <a:xfrm>
            <a:off x="8748930" y="3974456"/>
            <a:ext cx="779381" cy="461665"/>
          </a:xfrm>
          <a:prstGeom prst="rect">
            <a:avLst/>
          </a:prstGeom>
          <a:noFill/>
          <a:ln w="12700">
            <a:noFill/>
            <a:miter lim="800000"/>
          </a:ln>
          <a:effectLst/>
        </p:spPr>
        <p:txBody>
          <a:bodyPr wrap="none" anchor="ctr">
            <a:spAutoFit/>
          </a:bodyPr>
          <a:lstStyle/>
          <a:p>
            <a:pPr algn="l">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pid=40</a:t>
            </a:r>
            <a:endParaRPr lang="en-US" sz="120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pgid=40</a:t>
            </a:r>
            <a:endParaRPr lang="en-US" sz="1200">
              <a:latin typeface="Consolas" panose="020B0609020204030204" pitchFamily="49" charset="0"/>
              <a:ea typeface="FangSong" panose="02010609060101010101" pitchFamily="49" charset="-122"/>
              <a:cs typeface="Consolas" panose="020B0609020204030204" pitchFamily="49" charset="0"/>
            </a:endParaRPr>
          </a:p>
        </p:txBody>
      </p:sp>
      <p:sp>
        <p:nvSpPr>
          <p:cNvPr id="48" name="Text Box 25"/>
          <p:cNvSpPr txBox="1">
            <a:spLocks noChangeAspect="1" noChangeArrowheads="1"/>
          </p:cNvSpPr>
          <p:nvPr/>
        </p:nvSpPr>
        <p:spPr bwMode="auto">
          <a:xfrm>
            <a:off x="2971883" y="5712768"/>
            <a:ext cx="779381" cy="461665"/>
          </a:xfrm>
          <a:prstGeom prst="rect">
            <a:avLst/>
          </a:prstGeom>
          <a:noFill/>
          <a:ln w="12700">
            <a:noFill/>
            <a:miter lim="800000"/>
          </a:ln>
          <a:effectLst/>
        </p:spPr>
        <p:txBody>
          <a:bodyPr wrap="none" anchor="ctr">
            <a:spAutoFit/>
          </a:bodyPr>
          <a:lstStyle/>
          <a:p>
            <a:pPr algn="r">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pid=21</a:t>
            </a:r>
            <a:endParaRPr lang="en-US" sz="1200">
              <a:latin typeface="Consolas" panose="020B0609020204030204" pitchFamily="49" charset="0"/>
              <a:ea typeface="FangSong" panose="02010609060101010101" pitchFamily="49" charset="-122"/>
              <a:cs typeface="Consolas" panose="020B0609020204030204" pitchFamily="49" charset="0"/>
            </a:endParaRPr>
          </a:p>
          <a:p>
            <a:pPr algn="r">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pgid=20</a:t>
            </a:r>
            <a:endParaRPr lang="en-US" sz="1200">
              <a:latin typeface="Consolas" panose="020B0609020204030204" pitchFamily="49" charset="0"/>
              <a:ea typeface="FangSong" panose="02010609060101010101" pitchFamily="49" charset="-122"/>
              <a:cs typeface="Consolas" panose="020B0609020204030204" pitchFamily="49" charset="0"/>
            </a:endParaRPr>
          </a:p>
        </p:txBody>
      </p:sp>
      <p:sp>
        <p:nvSpPr>
          <p:cNvPr id="49" name="Text Box 26"/>
          <p:cNvSpPr txBox="1">
            <a:spLocks noChangeAspect="1" noChangeArrowheads="1"/>
          </p:cNvSpPr>
          <p:nvPr/>
        </p:nvSpPr>
        <p:spPr bwMode="auto">
          <a:xfrm>
            <a:off x="4114883" y="5712768"/>
            <a:ext cx="779381" cy="461665"/>
          </a:xfrm>
          <a:prstGeom prst="rect">
            <a:avLst/>
          </a:prstGeom>
          <a:noFill/>
          <a:ln w="12700">
            <a:noFill/>
            <a:miter lim="800000"/>
          </a:ln>
          <a:effectLst/>
        </p:spPr>
        <p:txBody>
          <a:bodyPr wrap="none" anchor="ctr">
            <a:spAutoFit/>
          </a:bodyPr>
          <a:lstStyle/>
          <a:p>
            <a:pPr algn="r">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pid=22</a:t>
            </a:r>
            <a:endParaRPr lang="en-US" sz="1200">
              <a:latin typeface="Consolas" panose="020B0609020204030204" pitchFamily="49" charset="0"/>
              <a:ea typeface="FangSong" panose="02010609060101010101" pitchFamily="49" charset="-122"/>
              <a:cs typeface="Consolas" panose="020B0609020204030204" pitchFamily="49" charset="0"/>
            </a:endParaRPr>
          </a:p>
          <a:p>
            <a:pPr algn="r">
              <a:lnSpc>
                <a:spcPct val="100000"/>
              </a:lnSpc>
            </a:pPr>
            <a:r>
              <a:rPr lang="en-US" sz="1200">
                <a:latin typeface="Consolas" panose="020B0609020204030204" pitchFamily="49" charset="0"/>
                <a:ea typeface="FangSong" panose="02010609060101010101" pitchFamily="49" charset="-122"/>
                <a:cs typeface="Consolas" panose="020B0609020204030204" pitchFamily="49" charset="0"/>
              </a:rPr>
              <a:t>pgid=20</a:t>
            </a:r>
            <a:endParaRPr lang="en-US" sz="1200">
              <a:latin typeface="Consolas" panose="020B0609020204030204" pitchFamily="49" charset="0"/>
              <a:ea typeface="FangSong" panose="02010609060101010101" pitchFamily="49" charset="-122"/>
              <a:cs typeface="Consolas" panose="020B0609020204030204" pitchFamily="49"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r>
              <a:rPr lang="en-US">
                <a:latin typeface="Courier New" panose="02070609020205020404" charset="0"/>
              </a:rPr>
              <a:t>ctrl-c</a:t>
            </a:r>
            <a:r>
              <a:rPr lang="en-US">
                <a:latin typeface="Consolas" panose="020B0609020204030204" pitchFamily="49" charset="0"/>
                <a:cs typeface="Consolas" panose="020B0609020204030204" pitchFamily="49" charset="0"/>
              </a:rPr>
              <a:t> </a:t>
            </a:r>
            <a:r>
              <a:rPr lang="zh-CN" altLang="en-US"/>
              <a:t>和</a:t>
            </a:r>
            <a:r>
              <a:rPr lang="en-US">
                <a:latin typeface="Consolas" panose="020B0609020204030204" pitchFamily="49" charset="0"/>
                <a:cs typeface="Consolas" panose="020B0609020204030204" pitchFamily="49" charset="0"/>
              </a:rPr>
              <a:t> </a:t>
            </a:r>
            <a:r>
              <a:rPr lang="en-US">
                <a:latin typeface="Courier New" panose="02070609020205020404" charset="0"/>
              </a:rPr>
              <a:t>ctrl-z</a:t>
            </a:r>
            <a:r>
              <a:rPr lang="en-US">
                <a:latin typeface="Consolas" panose="020B0609020204030204" pitchFamily="49" charset="0"/>
                <a:cs typeface="Consolas" panose="020B0609020204030204" pitchFamily="49" charset="0"/>
              </a:rPr>
              <a:t> </a:t>
            </a:r>
            <a:r>
              <a:rPr lang="zh-CN" altLang="en-US">
                <a:latin typeface="Courier New" panose="02070609020205020404" charset="0"/>
              </a:rPr>
              <a:t>的例子</a:t>
            </a:r>
            <a:endParaRPr lang="zh-CN" altLang="en-US">
              <a:latin typeface="Courier New" panose="02070609020205020404" charset="0"/>
            </a:endParaRPr>
          </a:p>
        </p:txBody>
      </p:sp>
      <p:sp>
        <p:nvSpPr>
          <p:cNvPr id="556039" name="Text Box 7"/>
          <p:cNvSpPr txBox="1">
            <a:spLocks noChangeArrowheads="1"/>
          </p:cNvSpPr>
          <p:nvPr/>
        </p:nvSpPr>
        <p:spPr bwMode="auto">
          <a:xfrm>
            <a:off x="1676400" y="1295402"/>
            <a:ext cx="5334000" cy="4770537"/>
          </a:xfrm>
          <a:prstGeom prst="rect">
            <a:avLst/>
          </a:prstGeom>
          <a:solidFill>
            <a:schemeClr val="bg1">
              <a:lumMod val="85000"/>
            </a:schemeClr>
          </a:solidFill>
          <a:ln w="3175">
            <a:noFill/>
            <a:miter lim="800000"/>
          </a:ln>
          <a:effectLst/>
        </p:spPr>
        <p:txBody>
          <a:bodyPr wrap="square">
            <a:spAutoFit/>
          </a:bodyPr>
          <a:lstStyle/>
          <a:p>
            <a:pPr algn="l"/>
            <a:r>
              <a:rPr lang="en-US" sz="1600" dirty="0">
                <a:latin typeface="Courier New" panose="02070609020205020404" charset="0"/>
              </a:rPr>
              <a:t>bluefish&gt; ./forks 17</a:t>
            </a:r>
            <a:endParaRPr lang="en-US" sz="1600" dirty="0">
              <a:latin typeface="Courier New" panose="02070609020205020404" charset="0"/>
            </a:endParaRPr>
          </a:p>
          <a:p>
            <a:pPr algn="l"/>
            <a:r>
              <a:rPr lang="en-US" sz="1600" dirty="0">
                <a:latin typeface="Courier New" panose="02070609020205020404" charset="0"/>
              </a:rPr>
              <a:t>Child: </a:t>
            </a:r>
            <a:r>
              <a:rPr lang="en-US" sz="1600" dirty="0" err="1">
                <a:latin typeface="Courier New" panose="02070609020205020404" charset="0"/>
              </a:rPr>
              <a:t>pid</a:t>
            </a:r>
            <a:r>
              <a:rPr lang="en-US" sz="1600" dirty="0">
                <a:latin typeface="Courier New" panose="02070609020205020404" charset="0"/>
              </a:rPr>
              <a:t>=28108 </a:t>
            </a:r>
            <a:r>
              <a:rPr lang="en-US" sz="1600" dirty="0" err="1">
                <a:latin typeface="Courier New" panose="02070609020205020404" charset="0"/>
              </a:rPr>
              <a:t>pgrp</a:t>
            </a:r>
            <a:r>
              <a:rPr lang="en-US" sz="1600" dirty="0">
                <a:latin typeface="Courier New" panose="02070609020205020404" charset="0"/>
              </a:rPr>
              <a:t>=28107</a:t>
            </a:r>
            <a:endParaRPr lang="en-US" sz="1600" dirty="0">
              <a:latin typeface="Courier New" panose="02070609020205020404" charset="0"/>
            </a:endParaRPr>
          </a:p>
          <a:p>
            <a:pPr algn="l"/>
            <a:r>
              <a:rPr lang="en-US" sz="1600" dirty="0">
                <a:latin typeface="Courier New" panose="02070609020205020404" charset="0"/>
              </a:rPr>
              <a:t>Parent: </a:t>
            </a:r>
            <a:r>
              <a:rPr lang="en-US" sz="1600" dirty="0" err="1">
                <a:latin typeface="Courier New" panose="02070609020205020404" charset="0"/>
              </a:rPr>
              <a:t>pid</a:t>
            </a:r>
            <a:r>
              <a:rPr lang="en-US" sz="1600" dirty="0">
                <a:latin typeface="Courier New" panose="02070609020205020404" charset="0"/>
              </a:rPr>
              <a:t>=28107 </a:t>
            </a:r>
            <a:r>
              <a:rPr lang="en-US" sz="1600" dirty="0" err="1">
                <a:latin typeface="Courier New" panose="02070609020205020404" charset="0"/>
              </a:rPr>
              <a:t>pgrp</a:t>
            </a:r>
            <a:r>
              <a:rPr lang="en-US" sz="1600" dirty="0">
                <a:latin typeface="Courier New" panose="02070609020205020404" charset="0"/>
              </a:rPr>
              <a:t>=28107</a:t>
            </a:r>
            <a:endParaRPr lang="en-US" sz="1600" dirty="0">
              <a:latin typeface="Courier New" panose="02070609020205020404" charset="0"/>
            </a:endParaRPr>
          </a:p>
          <a:p>
            <a:pPr algn="l"/>
            <a:r>
              <a:rPr lang="en-US" sz="1600" dirty="0">
                <a:latin typeface="Courier New" panose="02070609020205020404" charset="0"/>
              </a:rPr>
              <a:t>&lt;types ctrl-</a:t>
            </a:r>
            <a:r>
              <a:rPr lang="en-US" sz="1600" dirty="0" err="1">
                <a:latin typeface="Courier New" panose="02070609020205020404" charset="0"/>
              </a:rPr>
              <a:t>z</a:t>
            </a:r>
            <a:r>
              <a:rPr lang="en-US" sz="1600" dirty="0">
                <a:latin typeface="Courier New" panose="02070609020205020404" charset="0"/>
              </a:rPr>
              <a:t>&gt;</a:t>
            </a:r>
            <a:endParaRPr lang="en-US" sz="1600" dirty="0">
              <a:latin typeface="Courier New" panose="02070609020205020404" charset="0"/>
            </a:endParaRPr>
          </a:p>
          <a:p>
            <a:pPr algn="l"/>
            <a:r>
              <a:rPr lang="en-US" sz="1600" dirty="0">
                <a:latin typeface="Courier New" panose="02070609020205020404" charset="0"/>
              </a:rPr>
              <a:t>Suspended</a:t>
            </a:r>
            <a:endParaRPr lang="en-US" sz="1600" dirty="0">
              <a:latin typeface="Courier New" panose="02070609020205020404" charset="0"/>
            </a:endParaRPr>
          </a:p>
          <a:p>
            <a:pPr algn="l"/>
            <a:r>
              <a:rPr lang="en-US" sz="1600" dirty="0">
                <a:latin typeface="Courier New" panose="02070609020205020404" charset="0"/>
              </a:rPr>
              <a:t>bluefish&gt; </a:t>
            </a:r>
            <a:r>
              <a:rPr lang="en-US" sz="1600" dirty="0" err="1">
                <a:latin typeface="Courier New" panose="02070609020205020404" charset="0"/>
              </a:rPr>
              <a:t>ps</a:t>
            </a:r>
            <a:r>
              <a:rPr lang="en-US" sz="1600" dirty="0">
                <a:latin typeface="Courier New" panose="02070609020205020404" charset="0"/>
              </a:rPr>
              <a:t> </a:t>
            </a:r>
            <a:r>
              <a:rPr lang="en-US" sz="1600" dirty="0" err="1">
                <a:latin typeface="Courier New" panose="02070609020205020404" charset="0"/>
              </a:rPr>
              <a:t>w</a:t>
            </a:r>
            <a:endParaRPr lang="en-US" sz="1600" dirty="0">
              <a:latin typeface="Courier New" panose="02070609020205020404" charset="0"/>
            </a:endParaRPr>
          </a:p>
          <a:p>
            <a:pPr algn="l"/>
            <a:r>
              <a:rPr lang="en-US" sz="1600" dirty="0">
                <a:latin typeface="Courier New" panose="02070609020205020404" charset="0"/>
              </a:rPr>
              <a:t>  PID TTY      STAT   TIME COMMAND</a:t>
            </a:r>
            <a:endParaRPr lang="en-US" sz="1600" dirty="0">
              <a:latin typeface="Courier New" panose="02070609020205020404" charset="0"/>
            </a:endParaRPr>
          </a:p>
          <a:p>
            <a:pPr algn="l"/>
            <a:r>
              <a:rPr lang="en-US" sz="1600" dirty="0">
                <a:latin typeface="Courier New" panose="02070609020205020404" charset="0"/>
              </a:rPr>
              <a:t>27699 pts/8    Ss     0:00 -</a:t>
            </a:r>
            <a:r>
              <a:rPr lang="en-US" sz="1600" dirty="0" err="1">
                <a:latin typeface="Courier New" panose="02070609020205020404" charset="0"/>
              </a:rPr>
              <a:t>tcsh</a:t>
            </a:r>
            <a:endParaRPr lang="en-US" sz="1600" dirty="0">
              <a:latin typeface="Courier New" panose="02070609020205020404" charset="0"/>
            </a:endParaRPr>
          </a:p>
          <a:p>
            <a:pPr algn="l"/>
            <a:r>
              <a:rPr lang="en-US" sz="1600" dirty="0">
                <a:latin typeface="Courier New" panose="02070609020205020404" charset="0"/>
              </a:rPr>
              <a:t>28107 pts/8    T      0:01 ./forks 17</a:t>
            </a:r>
            <a:endParaRPr lang="en-US" sz="1600" dirty="0">
              <a:latin typeface="Courier New" panose="02070609020205020404" charset="0"/>
            </a:endParaRPr>
          </a:p>
          <a:p>
            <a:pPr algn="l"/>
            <a:r>
              <a:rPr lang="en-US" sz="1600" dirty="0">
                <a:latin typeface="Courier New" panose="02070609020205020404" charset="0"/>
              </a:rPr>
              <a:t>28108 pts/8    T      0:01 ./forks 17</a:t>
            </a:r>
            <a:endParaRPr lang="en-US" sz="1600" dirty="0">
              <a:latin typeface="Courier New" panose="02070609020205020404" charset="0"/>
            </a:endParaRPr>
          </a:p>
          <a:p>
            <a:pPr algn="l"/>
            <a:r>
              <a:rPr lang="en-US" sz="1600" dirty="0">
                <a:latin typeface="Courier New" panose="02070609020205020404" charset="0"/>
              </a:rPr>
              <a:t>28109 pts/8    R+     0:00 </a:t>
            </a:r>
            <a:r>
              <a:rPr lang="en-US" sz="1600" dirty="0" err="1">
                <a:latin typeface="Courier New" panose="02070609020205020404" charset="0"/>
              </a:rPr>
              <a:t>ps</a:t>
            </a:r>
            <a:r>
              <a:rPr lang="en-US" sz="1600" dirty="0">
                <a:latin typeface="Courier New" panose="02070609020205020404" charset="0"/>
              </a:rPr>
              <a:t> </a:t>
            </a:r>
            <a:r>
              <a:rPr lang="en-US" sz="1600" dirty="0" err="1">
                <a:latin typeface="Courier New" panose="02070609020205020404" charset="0"/>
              </a:rPr>
              <a:t>w</a:t>
            </a:r>
            <a:endParaRPr lang="en-US" sz="1600" dirty="0">
              <a:latin typeface="Courier New" panose="02070609020205020404" charset="0"/>
            </a:endParaRPr>
          </a:p>
          <a:p>
            <a:pPr algn="l"/>
            <a:r>
              <a:rPr lang="en-US" sz="1600" dirty="0">
                <a:latin typeface="Courier New" panose="02070609020205020404" charset="0"/>
              </a:rPr>
              <a:t>bluefish&gt; </a:t>
            </a:r>
            <a:r>
              <a:rPr lang="en-US" sz="1600" dirty="0" err="1">
                <a:latin typeface="Courier New" panose="02070609020205020404" charset="0"/>
              </a:rPr>
              <a:t>fg</a:t>
            </a:r>
            <a:endParaRPr lang="en-US" sz="1600" dirty="0">
              <a:latin typeface="Courier New" panose="02070609020205020404" charset="0"/>
            </a:endParaRPr>
          </a:p>
          <a:p>
            <a:pPr algn="l"/>
            <a:r>
              <a:rPr lang="en-US" sz="1600" dirty="0">
                <a:latin typeface="Courier New" panose="02070609020205020404" charset="0"/>
              </a:rPr>
              <a:t>./forks 17</a:t>
            </a:r>
            <a:endParaRPr lang="en-US" sz="1600" dirty="0">
              <a:latin typeface="Courier New" panose="02070609020205020404" charset="0"/>
            </a:endParaRPr>
          </a:p>
          <a:p>
            <a:pPr algn="l"/>
            <a:r>
              <a:rPr lang="en-US" sz="1600" dirty="0">
                <a:latin typeface="Courier New" panose="02070609020205020404" charset="0"/>
              </a:rPr>
              <a:t>&lt;types ctrl-</a:t>
            </a:r>
            <a:r>
              <a:rPr lang="en-US" sz="1600" dirty="0" err="1">
                <a:latin typeface="Courier New" panose="02070609020205020404" charset="0"/>
              </a:rPr>
              <a:t>c</a:t>
            </a:r>
            <a:r>
              <a:rPr lang="en-US" sz="1600" dirty="0">
                <a:latin typeface="Courier New" panose="02070609020205020404" charset="0"/>
              </a:rPr>
              <a:t>&gt;</a:t>
            </a:r>
            <a:endParaRPr lang="en-US" sz="1600" dirty="0">
              <a:latin typeface="Courier New" panose="02070609020205020404" charset="0"/>
            </a:endParaRPr>
          </a:p>
          <a:p>
            <a:pPr algn="l"/>
            <a:r>
              <a:rPr lang="en-US" sz="1600" dirty="0">
                <a:latin typeface="Courier New" panose="02070609020205020404" charset="0"/>
              </a:rPr>
              <a:t>bluefish&gt; </a:t>
            </a:r>
            <a:r>
              <a:rPr lang="en-US" sz="1600" dirty="0" err="1">
                <a:latin typeface="Courier New" panose="02070609020205020404" charset="0"/>
              </a:rPr>
              <a:t>ps</a:t>
            </a:r>
            <a:r>
              <a:rPr lang="en-US" sz="1600" dirty="0">
                <a:latin typeface="Courier New" panose="02070609020205020404" charset="0"/>
              </a:rPr>
              <a:t> </a:t>
            </a:r>
            <a:r>
              <a:rPr lang="en-US" sz="1600" dirty="0" err="1">
                <a:latin typeface="Courier New" panose="02070609020205020404" charset="0"/>
              </a:rPr>
              <a:t>w</a:t>
            </a:r>
            <a:endParaRPr lang="en-US" sz="1600" dirty="0">
              <a:latin typeface="Courier New" panose="02070609020205020404" charset="0"/>
            </a:endParaRPr>
          </a:p>
          <a:p>
            <a:pPr algn="l"/>
            <a:r>
              <a:rPr lang="en-US" sz="1600" dirty="0">
                <a:latin typeface="Courier New" panose="02070609020205020404" charset="0"/>
              </a:rPr>
              <a:t>  PID TTY      STAT   TIME COMMAND</a:t>
            </a:r>
            <a:endParaRPr lang="en-US" sz="1600" dirty="0">
              <a:latin typeface="Courier New" panose="02070609020205020404" charset="0"/>
            </a:endParaRPr>
          </a:p>
          <a:p>
            <a:pPr algn="l"/>
            <a:r>
              <a:rPr lang="en-US" sz="1600" dirty="0">
                <a:latin typeface="Courier New" panose="02070609020205020404" charset="0"/>
              </a:rPr>
              <a:t>27699 pts/8    Ss     0:00 -</a:t>
            </a:r>
            <a:r>
              <a:rPr lang="en-US" sz="1600" dirty="0" err="1">
                <a:latin typeface="Courier New" panose="02070609020205020404" charset="0"/>
              </a:rPr>
              <a:t>tcsh</a:t>
            </a:r>
            <a:endParaRPr lang="en-US" sz="1600" dirty="0">
              <a:latin typeface="Courier New" panose="02070609020205020404" charset="0"/>
            </a:endParaRPr>
          </a:p>
          <a:p>
            <a:pPr algn="l"/>
            <a:r>
              <a:rPr lang="en-US" sz="1600" dirty="0">
                <a:latin typeface="Courier New" panose="02070609020205020404" charset="0"/>
              </a:rPr>
              <a:t>28110 pts/8    R+     0:00 </a:t>
            </a:r>
            <a:r>
              <a:rPr lang="en-US" sz="1600" dirty="0" err="1">
                <a:latin typeface="Courier New" panose="02070609020205020404" charset="0"/>
              </a:rPr>
              <a:t>ps</a:t>
            </a:r>
            <a:r>
              <a:rPr lang="en-US" sz="1600" dirty="0">
                <a:latin typeface="Courier New" panose="02070609020205020404" charset="0"/>
              </a:rPr>
              <a:t> </a:t>
            </a:r>
            <a:r>
              <a:rPr lang="en-US" sz="1600" dirty="0" err="1">
                <a:latin typeface="Courier New" panose="02070609020205020404" charset="0"/>
              </a:rPr>
              <a:t>w</a:t>
            </a:r>
            <a:endParaRPr lang="en-US" sz="1600" dirty="0">
              <a:latin typeface="Courier New" panose="02070609020205020404" charset="0"/>
            </a:endParaRPr>
          </a:p>
          <a:p>
            <a:pPr algn="l">
              <a:lnSpc>
                <a:spcPct val="100000"/>
              </a:lnSpc>
            </a:pPr>
            <a:endParaRPr lang="en-US" sz="1600" dirty="0">
              <a:latin typeface="Courier New" panose="02070609020205020404" charset="0"/>
            </a:endParaRPr>
          </a:p>
        </p:txBody>
      </p:sp>
      <p:sp>
        <p:nvSpPr>
          <p:cNvPr id="556041" name="Text Box 9"/>
          <p:cNvSpPr txBox="1">
            <a:spLocks noChangeArrowheads="1"/>
          </p:cNvSpPr>
          <p:nvPr/>
        </p:nvSpPr>
        <p:spPr bwMode="auto">
          <a:xfrm>
            <a:off x="7162800" y="1973155"/>
            <a:ext cx="4005580" cy="3415030"/>
          </a:xfrm>
          <a:prstGeom prst="rect">
            <a:avLst/>
          </a:prstGeom>
          <a:solidFill>
            <a:schemeClr val="bg1"/>
          </a:solidFill>
          <a:ln w="3175">
            <a:noFill/>
            <a:miter lim="800000"/>
          </a:ln>
          <a:effectLst/>
        </p:spPr>
        <p:txBody>
          <a:bodyPr wrap="square" lIns="45720" rIns="45720">
            <a:spAutoFit/>
          </a:bodyPr>
          <a:lstStyle/>
          <a:p>
            <a:pPr algn="l"/>
            <a:r>
              <a:rPr lang="en-US" sz="1800" dirty="0">
                <a:latin typeface="Consolas" panose="020B0609020204030204" pitchFamily="49" charset="0"/>
                <a:ea typeface="FangSong" panose="02010609060101010101" pitchFamily="49" charset="-122"/>
                <a:cs typeface="Consolas" panose="020B0609020204030204" pitchFamily="49" charset="0"/>
              </a:rPr>
              <a:t>STAT</a:t>
            </a:r>
            <a:r>
              <a:rPr lang="zh-CN" altLang="en-US" sz="1800" dirty="0">
                <a:latin typeface="Consolas" panose="020B0609020204030204" pitchFamily="49" charset="0"/>
                <a:ea typeface="FangSong" panose="02010609060101010101" pitchFamily="49" charset="-122"/>
                <a:cs typeface="Consolas" panose="020B0609020204030204" pitchFamily="49" charset="0"/>
              </a:rPr>
              <a:t>（进程状态）图例：</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r>
              <a:rPr lang="zh-CN" altLang="en-US" sz="1800" i="1" dirty="0">
                <a:solidFill>
                  <a:srgbClr val="C00000"/>
                </a:solidFill>
                <a:latin typeface="Consolas" panose="020B0609020204030204" pitchFamily="49" charset="0"/>
                <a:ea typeface="FangSong" panose="02010609060101010101" pitchFamily="49" charset="-122"/>
                <a:cs typeface="Consolas" panose="020B0609020204030204" pitchFamily="49" charset="0"/>
              </a:rPr>
              <a:t>第一个字母：</a:t>
            </a:r>
            <a:endParaRPr lang="en-US" sz="1800" i="1" dirty="0">
              <a:solidFill>
                <a:srgbClr val="C00000"/>
              </a:solidFill>
              <a:latin typeface="Consolas" panose="020B0609020204030204" pitchFamily="49" charset="0"/>
              <a:ea typeface="FangSong" panose="02010609060101010101" pitchFamily="49" charset="-122"/>
              <a:cs typeface="Consolas" panose="020B0609020204030204" pitchFamily="49" charset="0"/>
            </a:endParaRPr>
          </a:p>
          <a:p>
            <a:pPr algn="l"/>
            <a:r>
              <a:rPr lang="en-US" sz="1800" dirty="0">
                <a:latin typeface="Consolas" panose="020B0609020204030204" pitchFamily="49" charset="0"/>
                <a:ea typeface="FangSong" panose="02010609060101010101" pitchFamily="49" charset="-122"/>
                <a:cs typeface="Consolas" panose="020B0609020204030204" pitchFamily="49" charset="0"/>
              </a:rPr>
              <a:t>S: </a:t>
            </a:r>
            <a:r>
              <a:rPr lang="en-US" sz="1800" dirty="0">
                <a:solidFill>
                  <a:srgbClr val="FF0000"/>
                </a:solidFill>
                <a:latin typeface="Consolas" panose="020B0609020204030204" pitchFamily="49" charset="0"/>
                <a:ea typeface="FangSong" panose="02010609060101010101" pitchFamily="49" charset="-122"/>
                <a:cs typeface="Consolas" panose="020B0609020204030204" pitchFamily="49" charset="0"/>
              </a:rPr>
              <a:t>s</a:t>
            </a:r>
            <a:r>
              <a:rPr lang="en-US" sz="1800" dirty="0">
                <a:latin typeface="Consolas" panose="020B0609020204030204" pitchFamily="49" charset="0"/>
                <a:ea typeface="FangSong" panose="02010609060101010101" pitchFamily="49" charset="-122"/>
                <a:cs typeface="Consolas" panose="020B0609020204030204" pitchFamily="49" charset="0"/>
              </a:rPr>
              <a:t>leeping </a:t>
            </a:r>
            <a:r>
              <a:rPr lang="zh-CN" altLang="en-US" sz="1800" dirty="0">
                <a:latin typeface="Consolas" panose="020B0609020204030204" pitchFamily="49" charset="0"/>
                <a:ea typeface="FangSong" panose="02010609060101010101" pitchFamily="49" charset="-122"/>
                <a:cs typeface="Consolas" panose="020B0609020204030204" pitchFamily="49" charset="0"/>
              </a:rPr>
              <a:t>睡眠</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algn="l"/>
            <a:r>
              <a:rPr lang="en-US" sz="1800" dirty="0">
                <a:latin typeface="Consolas" panose="020B0609020204030204" pitchFamily="49" charset="0"/>
                <a:ea typeface="FangSong" panose="02010609060101010101" pitchFamily="49" charset="-122"/>
                <a:cs typeface="Consolas" panose="020B0609020204030204" pitchFamily="49" charset="0"/>
              </a:rPr>
              <a:t>T: s</a:t>
            </a:r>
            <a:r>
              <a:rPr lang="en-US" sz="1800" dirty="0">
                <a:solidFill>
                  <a:srgbClr val="FF0000"/>
                </a:solidFill>
                <a:latin typeface="Consolas" panose="020B0609020204030204" pitchFamily="49" charset="0"/>
                <a:ea typeface="FangSong" panose="02010609060101010101" pitchFamily="49" charset="-122"/>
                <a:cs typeface="Consolas" panose="020B0609020204030204" pitchFamily="49" charset="0"/>
              </a:rPr>
              <a:t>t</a:t>
            </a:r>
            <a:r>
              <a:rPr lang="en-US" sz="1800" dirty="0">
                <a:latin typeface="Consolas" panose="020B0609020204030204" pitchFamily="49" charset="0"/>
                <a:ea typeface="FangSong" panose="02010609060101010101" pitchFamily="49" charset="-122"/>
                <a:cs typeface="Consolas" panose="020B0609020204030204" pitchFamily="49" charset="0"/>
              </a:rPr>
              <a:t>opped </a:t>
            </a:r>
            <a:r>
              <a:rPr lang="zh-CN" altLang="en-US" sz="1800" dirty="0">
                <a:latin typeface="Consolas" panose="020B0609020204030204" pitchFamily="49" charset="0"/>
                <a:ea typeface="FangSong" panose="02010609060101010101" pitchFamily="49" charset="-122"/>
                <a:cs typeface="Consolas" panose="020B0609020204030204" pitchFamily="49" charset="0"/>
              </a:rPr>
              <a:t>暂停</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algn="l"/>
            <a:r>
              <a:rPr lang="en-US" sz="1800" dirty="0">
                <a:latin typeface="Consolas" panose="020B0609020204030204" pitchFamily="49" charset="0"/>
                <a:ea typeface="FangSong" panose="02010609060101010101" pitchFamily="49" charset="-122"/>
                <a:cs typeface="Consolas" panose="020B0609020204030204" pitchFamily="49" charset="0"/>
              </a:rPr>
              <a:t>R: </a:t>
            </a:r>
            <a:r>
              <a:rPr lang="en-US" sz="1800" dirty="0">
                <a:solidFill>
                  <a:srgbClr val="FF0000"/>
                </a:solidFill>
                <a:latin typeface="Consolas" panose="020B0609020204030204" pitchFamily="49" charset="0"/>
                <a:ea typeface="FangSong" panose="02010609060101010101" pitchFamily="49" charset="-122"/>
                <a:cs typeface="Consolas" panose="020B0609020204030204" pitchFamily="49" charset="0"/>
              </a:rPr>
              <a:t>r</a:t>
            </a:r>
            <a:r>
              <a:rPr lang="en-US" sz="1800" dirty="0">
                <a:latin typeface="Consolas" panose="020B0609020204030204" pitchFamily="49" charset="0"/>
                <a:ea typeface="FangSong" panose="02010609060101010101" pitchFamily="49" charset="-122"/>
                <a:cs typeface="Consolas" panose="020B0609020204030204" pitchFamily="49" charset="0"/>
              </a:rPr>
              <a:t>unning </a:t>
            </a:r>
            <a:r>
              <a:rPr lang="zh-CN" altLang="en-US" sz="1800" dirty="0">
                <a:latin typeface="Consolas" panose="020B0609020204030204" pitchFamily="49" charset="0"/>
                <a:ea typeface="FangSong" panose="02010609060101010101" pitchFamily="49" charset="-122"/>
                <a:cs typeface="Consolas" panose="020B0609020204030204" pitchFamily="49" charset="0"/>
              </a:rPr>
              <a:t>运行中</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endParaRPr lang="en-US" sz="1800" dirty="0">
              <a:latin typeface="Consolas" panose="020B0609020204030204" pitchFamily="49" charset="0"/>
              <a:ea typeface="FangSong" panose="02010609060101010101" pitchFamily="49" charset="-122"/>
              <a:cs typeface="Consolas" panose="020B0609020204030204" pitchFamily="49" charset="0"/>
            </a:endParaRPr>
          </a:p>
          <a:p>
            <a:r>
              <a:rPr lang="zh-CN" altLang="en-US" sz="1800" i="1" dirty="0">
                <a:solidFill>
                  <a:srgbClr val="C00000"/>
                </a:solidFill>
                <a:latin typeface="Consolas" panose="020B0609020204030204" pitchFamily="49" charset="0"/>
                <a:ea typeface="FangSong" panose="02010609060101010101" pitchFamily="49" charset="-122"/>
                <a:cs typeface="Consolas" panose="020B0609020204030204" pitchFamily="49" charset="0"/>
              </a:rPr>
              <a:t>第二个字母：</a:t>
            </a:r>
            <a:endParaRPr lang="en-US" sz="1800" i="1" dirty="0">
              <a:solidFill>
                <a:srgbClr val="C00000"/>
              </a:solidFill>
              <a:latin typeface="Consolas" panose="020B0609020204030204" pitchFamily="49" charset="0"/>
              <a:ea typeface="FangSong" panose="02010609060101010101" pitchFamily="49" charset="-122"/>
              <a:cs typeface="Consolas" panose="020B0609020204030204" pitchFamily="49" charset="0"/>
            </a:endParaRPr>
          </a:p>
          <a:p>
            <a:pPr algn="l"/>
            <a:r>
              <a:rPr lang="en-US" sz="1800" dirty="0">
                <a:latin typeface="Consolas" panose="020B0609020204030204" pitchFamily="49" charset="0"/>
                <a:ea typeface="FangSong" panose="02010609060101010101" pitchFamily="49" charset="-122"/>
                <a:cs typeface="Consolas" panose="020B0609020204030204" pitchFamily="49" charset="0"/>
              </a:rPr>
              <a:t>s: session leader </a:t>
            </a:r>
            <a:r>
              <a:rPr lang="zh-CN" altLang="en-US" sz="1800" dirty="0">
                <a:latin typeface="Consolas" panose="020B0609020204030204" pitchFamily="49" charset="0"/>
                <a:ea typeface="FangSong" panose="02010609060101010101" pitchFamily="49" charset="-122"/>
                <a:cs typeface="Consolas" panose="020B0609020204030204" pitchFamily="49" charset="0"/>
              </a:rPr>
              <a:t>会话的领导进程</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algn="l"/>
            <a:r>
              <a:rPr lang="en-US" sz="1800" dirty="0">
                <a:latin typeface="Consolas" panose="020B0609020204030204" pitchFamily="49" charset="0"/>
                <a:ea typeface="FangSong" panose="02010609060101010101" pitchFamily="49" charset="-122"/>
                <a:cs typeface="Consolas" panose="020B0609020204030204" pitchFamily="49" charset="0"/>
              </a:rPr>
              <a:t>+: </a:t>
            </a:r>
            <a:r>
              <a:rPr lang="zh-CN" altLang="en-US" sz="1800" dirty="0">
                <a:latin typeface="Consolas" panose="020B0609020204030204" pitchFamily="49" charset="0"/>
                <a:ea typeface="FangSong" panose="02010609060101010101" pitchFamily="49" charset="-122"/>
                <a:cs typeface="Consolas" panose="020B0609020204030204" pitchFamily="49" charset="0"/>
              </a:rPr>
              <a:t>前台进程组</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r>
              <a:rPr lang="zh-CN" altLang="en-US" sz="1800" dirty="0">
                <a:latin typeface="Consolas" panose="020B0609020204030204" pitchFamily="49" charset="0"/>
                <a:ea typeface="FangSong" panose="02010609060101010101" pitchFamily="49" charset="-122"/>
                <a:cs typeface="Consolas" panose="020B0609020204030204" pitchFamily="49" charset="0"/>
              </a:rPr>
              <a:t>更多详细信息请参阅</a:t>
            </a:r>
            <a:r>
              <a:rPr lang="en-US" altLang="zh-CN" sz="1800" dirty="0">
                <a:latin typeface="Consolas" panose="020B0609020204030204" pitchFamily="49" charset="0"/>
                <a:ea typeface="FangSong" panose="02010609060101010101" pitchFamily="49" charset="-122"/>
                <a:cs typeface="Consolas" panose="020B0609020204030204" pitchFamily="49" charset="0"/>
              </a:rPr>
              <a:t> </a:t>
            </a:r>
            <a:r>
              <a:rPr lang="en-US" sz="1800" dirty="0">
                <a:latin typeface="Consolas" panose="020B0609020204030204" pitchFamily="49" charset="0"/>
                <a:ea typeface="FangSong" panose="02010609060101010101" pitchFamily="49" charset="-122"/>
                <a:cs typeface="Consolas" panose="020B0609020204030204" pitchFamily="49" charset="0"/>
              </a:rPr>
              <a:t>“man </a:t>
            </a:r>
            <a:r>
              <a:rPr lang="en-US" sz="1800" dirty="0" err="1">
                <a:latin typeface="Consolas" panose="020B0609020204030204" pitchFamily="49" charset="0"/>
                <a:ea typeface="FangSong" panose="02010609060101010101" pitchFamily="49" charset="-122"/>
                <a:cs typeface="Consolas" panose="020B0609020204030204" pitchFamily="49" charset="0"/>
              </a:rPr>
              <a:t>ps</a:t>
            </a:r>
            <a:r>
              <a:rPr lang="en-US" sz="1800" dirty="0">
                <a:latin typeface="Consolas" panose="020B0609020204030204" pitchFamily="49" charset="0"/>
                <a:ea typeface="FangSong" panose="02010609060101010101" pitchFamily="49" charset="-122"/>
                <a:cs typeface="Consolas" panose="020B0609020204030204" pitchFamily="49" charset="0"/>
              </a:rPr>
              <a:t>” </a:t>
            </a:r>
            <a:endParaRPr lang="en-US"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553995" name="Rectangle 11"/>
          <p:cNvSpPr>
            <a:spLocks noChangeArrowheads="1"/>
          </p:cNvSpPr>
          <p:nvPr/>
        </p:nvSpPr>
        <p:spPr bwMode="auto">
          <a:xfrm>
            <a:off x="1752600" y="3276600"/>
            <a:ext cx="4520565" cy="504825"/>
          </a:xfrm>
          <a:prstGeom prst="rect">
            <a:avLst/>
          </a:prstGeom>
          <a:noFill/>
          <a:ln w="28575">
            <a:solidFill>
              <a:srgbClr val="C00000"/>
            </a:solidFill>
            <a:miter lim="800000"/>
          </a:ln>
          <a:effectLst/>
        </p:spPr>
        <p:txBody>
          <a:bodyPr wrap="none" lIns="45720" rIns="45720" anchor="ctr"/>
          <a:lstStyle/>
          <a:p>
            <a:endParaRPr lang="en-US" dirty="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9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95"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summary：</a:t>
            </a:r>
            <a:r>
              <a:rPr lang="zh-CN" altLang="en-US"/>
              <a:t>发送信号的</a:t>
            </a:r>
            <a:r>
              <a:rPr lang="en-US" altLang="zh-CN"/>
              <a:t>3</a:t>
            </a:r>
            <a:r>
              <a:rPr lang="zh-CN" altLang="en-US"/>
              <a:t>种方式</a:t>
            </a:r>
            <a:endParaRPr lang="zh-CN" altLang="en-US"/>
          </a:p>
        </p:txBody>
      </p:sp>
      <p:sp>
        <p:nvSpPr>
          <p:cNvPr id="3" name="内容占位符 2"/>
          <p:cNvSpPr>
            <a:spLocks noGrp="1"/>
          </p:cNvSpPr>
          <p:nvPr>
            <p:ph idx="1"/>
          </p:nvPr>
        </p:nvSpPr>
        <p:spPr/>
        <p:txBody>
          <a:bodyPr/>
          <a:p>
            <a:r>
              <a:rPr lang="zh-CN" altLang="en-US"/>
              <a:t>内核检测到事件</a:t>
            </a:r>
            <a:r>
              <a:rPr lang="en-US" altLang="zh-CN"/>
              <a:t>，</a:t>
            </a:r>
            <a:r>
              <a:rPr lang="zh-CN" altLang="en-US"/>
              <a:t>直接发送</a:t>
            </a:r>
            <a:endParaRPr lang="zh-CN" altLang="en-US"/>
          </a:p>
          <a:p>
            <a:r>
              <a:rPr lang="zh-CN" altLang="en-US"/>
              <a:t>用户进程请求内核发送</a:t>
            </a:r>
            <a:endParaRPr lang="zh-CN" altLang="en-US"/>
          </a:p>
          <a:p>
            <a:pPr lvl="1"/>
            <a:r>
              <a:rPr lang="en-US" altLang="zh-CN"/>
              <a:t>用kill</a:t>
            </a:r>
            <a:r>
              <a:rPr lang="zh-CN" altLang="en-US"/>
              <a:t>函数</a:t>
            </a:r>
            <a:endParaRPr lang="zh-CN" altLang="en-US"/>
          </a:p>
          <a:p>
            <a:pPr lvl="1"/>
            <a:r>
              <a:rPr lang="zh-CN" altLang="en-US"/>
              <a:t>用</a:t>
            </a:r>
            <a:r>
              <a:rPr lang="en-US" altLang="zh-CN"/>
              <a:t>/bin/kill</a:t>
            </a:r>
            <a:r>
              <a:rPr lang="zh-CN" altLang="en-US"/>
              <a:t>工具</a:t>
            </a:r>
            <a:endParaRPr lang="zh-CN" altLang="en-US"/>
          </a:p>
          <a:p>
            <a:pPr lvl="1"/>
            <a:r>
              <a:rPr lang="zh-CN" altLang="en-US"/>
              <a:t>用键盘</a:t>
            </a:r>
            <a:endParaRPr lang="zh-CN" altLang="en-US"/>
          </a:p>
          <a:p>
            <a:pPr lvl="2"/>
            <a:r>
              <a:rPr lang="en-US" altLang="zh-CN"/>
              <a:t>ctrl+z, ctrl+c</a:t>
            </a:r>
            <a:endParaRPr lang="en-US" altLang="zh-CN"/>
          </a:p>
          <a:p>
            <a:pPr lvl="1"/>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主要内容</a:t>
            </a:r>
            <a:endParaRPr lang="zh-CN" altLang="en-US" dirty="0"/>
          </a:p>
        </p:txBody>
      </p:sp>
      <p:sp>
        <p:nvSpPr>
          <p:cNvPr id="3" name="Content Placeholder 2"/>
          <p:cNvSpPr>
            <a:spLocks noGrp="1"/>
          </p:cNvSpPr>
          <p:nvPr>
            <p:ph idx="1"/>
          </p:nvPr>
        </p:nvSpPr>
        <p:spPr/>
        <p:txBody>
          <a:bodyPr/>
          <a:lstStyle/>
          <a:p>
            <a:r>
              <a:rPr lang="zh-CN" altLang="en-US" dirty="0">
                <a:solidFill>
                  <a:schemeClr val="tx1"/>
                </a:solidFill>
                <a:latin typeface="Consolas" panose="020B0609020204030204" pitchFamily="49" charset="0"/>
                <a:cs typeface="Consolas" panose="020B0609020204030204" pitchFamily="49" charset="0"/>
              </a:rPr>
              <a:t>Shell</a:t>
            </a:r>
            <a:endParaRPr lang="zh-CN" altLang="en-US" dirty="0">
              <a:solidFill>
                <a:schemeClr val="tx1"/>
              </a:solidFill>
              <a:latin typeface="Consolas" panose="020B0609020204030204" pitchFamily="49" charset="0"/>
              <a:cs typeface="Consolas" panose="020B0609020204030204" pitchFamily="49" charset="0"/>
            </a:endParaRPr>
          </a:p>
          <a:p>
            <a:pPr algn="l"/>
            <a:r>
              <a:rPr lang="en-US" dirty="0">
                <a:solidFill>
                  <a:schemeClr val="tx1"/>
                </a:solidFill>
                <a:latin typeface="仿宋" panose="02010609060101010101" pitchFamily="49" charset="-122"/>
                <a:cs typeface="Consolas" panose="020B0609020204030204" pitchFamily="49" charset="0"/>
              </a:rPr>
              <a:t>信号</a:t>
            </a:r>
            <a:endParaRPr lang="en-US" dirty="0">
              <a:solidFill>
                <a:schemeClr val="tx1"/>
              </a:solidFill>
              <a:latin typeface="仿宋" panose="02010609060101010101" pitchFamily="49" charset="-122"/>
              <a:cs typeface="Consolas" panose="020B0609020204030204" pitchFamily="49" charset="0"/>
            </a:endParaRPr>
          </a:p>
          <a:p>
            <a:pPr lvl="1" algn="l"/>
            <a:r>
              <a:rPr lang="zh-CN" altLang="en-US" sz="2000" dirty="0">
                <a:solidFill>
                  <a:schemeClr val="tx1"/>
                </a:solidFill>
                <a:latin typeface="仿宋" panose="02010609060101010101" pitchFamily="49" charset="-122"/>
                <a:cs typeface="Consolas" panose="020B0609020204030204" pitchFamily="49" charset="0"/>
              </a:rPr>
              <a:t>信号的发送</a:t>
            </a:r>
            <a:endParaRPr lang="zh-CN" altLang="en-US" sz="2000" dirty="0">
              <a:solidFill>
                <a:schemeClr val="tx1"/>
              </a:solidFill>
              <a:latin typeface="仿宋" panose="02010609060101010101" pitchFamily="49" charset="-122"/>
              <a:cs typeface="Consolas" panose="020B0609020204030204" pitchFamily="49" charset="0"/>
            </a:endParaRPr>
          </a:p>
          <a:p>
            <a:pPr lvl="1" algn="l"/>
            <a:r>
              <a:rPr lang="zh-CN" altLang="en-US" sz="2000" dirty="0">
                <a:solidFill>
                  <a:schemeClr val="tx1"/>
                </a:solidFill>
                <a:latin typeface="仿宋" panose="02010609060101010101" pitchFamily="49" charset="-122"/>
                <a:cs typeface="Consolas" panose="020B0609020204030204" pitchFamily="49" charset="0"/>
              </a:rPr>
              <a:t>信号的接收</a:t>
            </a:r>
            <a:endParaRPr lang="zh-CN" altLang="en-US" sz="2000" dirty="0">
              <a:solidFill>
                <a:schemeClr val="tx1"/>
              </a:solidFill>
              <a:latin typeface="仿宋" panose="02010609060101010101" pitchFamily="49" charset="-122"/>
              <a:cs typeface="Consolas" panose="020B0609020204030204" pitchFamily="49" charset="0"/>
            </a:endParaRPr>
          </a:p>
          <a:p>
            <a:pPr lvl="1" algn="l"/>
            <a:r>
              <a:rPr lang="zh-CN" altLang="en-US" dirty="0">
                <a:solidFill>
                  <a:schemeClr val="bg1">
                    <a:lumMod val="65000"/>
                  </a:schemeClr>
                </a:solidFill>
                <a:latin typeface="仿宋" panose="02010609060101010101" pitchFamily="49" charset="-122"/>
                <a:cs typeface="Consolas" panose="020B0609020204030204" pitchFamily="49" charset="0"/>
              </a:rPr>
              <a:t>安全的信号处理函数</a:t>
            </a:r>
            <a:endParaRPr lang="zh-CN" altLang="en-US" dirty="0">
              <a:solidFill>
                <a:schemeClr val="bg1">
                  <a:lumMod val="65000"/>
                </a:schemeClr>
              </a:solidFill>
              <a:latin typeface="仿宋" panose="02010609060101010101" pitchFamily="49" charset="-122"/>
              <a:cs typeface="Consolas" panose="020B0609020204030204" pitchFamily="49" charset="0"/>
            </a:endParaRPr>
          </a:p>
          <a:p>
            <a:pPr lvl="1" algn="l"/>
            <a:r>
              <a:rPr lang="zh-CN" altLang="en-US" dirty="0">
                <a:solidFill>
                  <a:schemeClr val="bg1">
                    <a:lumMod val="65000"/>
                  </a:schemeClr>
                </a:solidFill>
                <a:latin typeface="仿宋" panose="02010609060101010101" pitchFamily="49" charset="-122"/>
                <a:cs typeface="Consolas" panose="020B0609020204030204" pitchFamily="49" charset="0"/>
              </a:rPr>
              <a:t>几个典型的例子</a:t>
            </a:r>
            <a:endParaRPr lang="en-US" dirty="0">
              <a:solidFill>
                <a:schemeClr val="bg1">
                  <a:lumMod val="65000"/>
                </a:schemeClr>
              </a:solidFill>
              <a:latin typeface="仿宋" panose="02010609060101010101" pitchFamily="49" charset="-122"/>
              <a:cs typeface="Consolas" panose="020B0609020204030204" pitchFamily="49" charset="0"/>
            </a:endParaRPr>
          </a:p>
          <a:p>
            <a:r>
              <a:rPr lang="zh-CN" altLang="en-US" dirty="0">
                <a:solidFill>
                  <a:schemeClr val="bg1">
                    <a:lumMod val="65000"/>
                  </a:schemeClr>
                </a:solidFill>
                <a:latin typeface="仿宋" panose="02010609060101010101" pitchFamily="49" charset="-122"/>
              </a:rPr>
              <a:t>非本地跳转</a:t>
            </a:r>
            <a:endParaRPr lang="zh-CN" altLang="en-US" dirty="0">
              <a:solidFill>
                <a:schemeClr val="bg1">
                  <a:lumMod val="65000"/>
                </a:schemeClr>
              </a:solidFill>
              <a:latin typeface="仿宋"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r>
              <a:rPr lang="zh-CN" altLang="en-US" dirty="0"/>
              <a:t>信号术语：接收信号</a:t>
            </a:r>
            <a:endParaRPr lang="zh-CN" altLang="en-US" dirty="0"/>
          </a:p>
        </p:txBody>
      </p:sp>
      <p:sp>
        <p:nvSpPr>
          <p:cNvPr id="548867" name="Rectangle 3"/>
          <p:cNvSpPr>
            <a:spLocks noGrp="1" noChangeArrowheads="1"/>
          </p:cNvSpPr>
          <p:nvPr>
            <p:ph idx="1"/>
          </p:nvPr>
        </p:nvSpPr>
        <p:spPr/>
        <p:txBody>
          <a:bodyPr/>
          <a:lstStyle/>
          <a:p>
            <a:r>
              <a:rPr lang="zh-CN" altLang="en-US" dirty="0"/>
              <a:t>当目的进程被内核强迫以某种方式对信号的发送做出反应时，它就</a:t>
            </a:r>
            <a:r>
              <a:rPr lang="en-US" i="1" dirty="0">
                <a:solidFill>
                  <a:srgbClr val="C00000"/>
                </a:solidFill>
                <a:latin typeface="仿宋" panose="02010609060101010101" pitchFamily="49" charset="-122"/>
              </a:rPr>
              <a:t>接收</a:t>
            </a:r>
            <a:r>
              <a:rPr lang="zh-CN" altLang="en-US" dirty="0"/>
              <a:t>了信号</a:t>
            </a:r>
            <a:endParaRPr lang="en-US" dirty="0"/>
          </a:p>
          <a:p>
            <a:r>
              <a:rPr lang="zh-CN" altLang="en-US" dirty="0"/>
              <a:t>可能的反应方式：</a:t>
            </a:r>
            <a:endParaRPr lang="en-US" dirty="0"/>
          </a:p>
          <a:p>
            <a:pPr lvl="1"/>
            <a:r>
              <a:rPr lang="zh-CN" altLang="en-US" b="1" i="1" dirty="0">
                <a:solidFill>
                  <a:srgbClr val="C00000"/>
                </a:solidFill>
                <a:latin typeface="仿宋" panose="02010609060101010101" pitchFamily="49" charset="-122"/>
              </a:rPr>
              <a:t>忽略</a:t>
            </a:r>
            <a:r>
              <a:rPr lang="zh-CN" altLang="en-US" dirty="0">
                <a:latin typeface="仿宋" panose="02010609060101010101" pitchFamily="49" charset="-122"/>
              </a:rPr>
              <a:t>信号（什么也不做）</a:t>
            </a:r>
            <a:endParaRPr lang="en-US" dirty="0">
              <a:latin typeface="仿宋" panose="02010609060101010101" pitchFamily="49" charset="-122"/>
            </a:endParaRPr>
          </a:p>
          <a:p>
            <a:pPr lvl="1"/>
            <a:r>
              <a:rPr lang="zh-CN" altLang="en-US" b="1" i="1" dirty="0">
                <a:solidFill>
                  <a:srgbClr val="C00000"/>
                </a:solidFill>
                <a:latin typeface="仿宋" panose="02010609060101010101" pitchFamily="49" charset="-122"/>
              </a:rPr>
              <a:t>终止</a:t>
            </a:r>
            <a:r>
              <a:rPr lang="zh-CN" altLang="en-US" dirty="0">
                <a:latin typeface="仿宋" panose="02010609060101010101" pitchFamily="49" charset="-122"/>
              </a:rPr>
              <a:t>进程（可能会 </a:t>
            </a:r>
            <a:r>
              <a:rPr lang="en-US" altLang="zh-CN" dirty="0">
                <a:latin typeface="Consolas" panose="020B0609020204030204" pitchFamily="49" charset="0"/>
                <a:cs typeface="Consolas" panose="020B0609020204030204" pitchFamily="49" charset="0"/>
              </a:rPr>
              <a:t>core</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dump</a:t>
            </a:r>
            <a:r>
              <a:rPr lang="zh-CN" altLang="en-US" dirty="0">
                <a:latin typeface="仿宋" panose="02010609060101010101" pitchFamily="49" charset="-122"/>
              </a:rPr>
              <a:t>）</a:t>
            </a:r>
            <a:endParaRPr lang="zh-CN" altLang="en-US" dirty="0">
              <a:latin typeface="仿宋" panose="02010609060101010101" pitchFamily="49" charset="-122"/>
            </a:endParaRPr>
          </a:p>
          <a:p>
            <a:pPr lvl="1"/>
            <a:r>
              <a:rPr lang="zh-CN" altLang="en-US" b="1" i="1" dirty="0">
                <a:solidFill>
                  <a:srgbClr val="C00000"/>
                </a:solidFill>
                <a:latin typeface="仿宋" panose="02010609060101010101" pitchFamily="49" charset="-122"/>
              </a:rPr>
              <a:t>捕获</a:t>
            </a:r>
            <a:r>
              <a:rPr lang="zh-CN" altLang="en-US" dirty="0">
                <a:latin typeface="仿宋" panose="02010609060101010101" pitchFamily="49" charset="-122"/>
              </a:rPr>
              <a:t>信号，通过执行一个称为</a:t>
            </a:r>
            <a:r>
              <a:rPr lang="zh-CN" altLang="en-US" b="1" i="1" dirty="0">
                <a:solidFill>
                  <a:srgbClr val="C00000"/>
                </a:solidFill>
                <a:latin typeface="仿宋" panose="02010609060101010101" pitchFamily="49" charset="-122"/>
              </a:rPr>
              <a:t>信号处理程序</a:t>
            </a:r>
            <a:r>
              <a:rPr lang="zh-CN" altLang="en-US" dirty="0">
                <a:latin typeface="仿宋" panose="02010609060101010101" pitchFamily="49" charset="-122"/>
                <a:cs typeface="+mn-ea"/>
              </a:rPr>
              <a:t>的</a:t>
            </a:r>
            <a:r>
              <a:rPr lang="zh-CN" altLang="en-US" dirty="0">
                <a:latin typeface="仿宋" panose="02010609060101010101" pitchFamily="49" charset="-122"/>
                <a:sym typeface="+mn-ea"/>
              </a:rPr>
              <a:t>用户级函数</a:t>
            </a:r>
            <a:endParaRPr lang="en-US" b="1" i="1" dirty="0">
              <a:solidFill>
                <a:srgbClr val="C00000"/>
              </a:solidFill>
              <a:latin typeface="仿宋" panose="02010609060101010101" pitchFamily="49" charset="-122"/>
            </a:endParaRPr>
          </a:p>
          <a:p>
            <a:pPr lvl="2"/>
            <a:r>
              <a:rPr lang="zh-CN" altLang="en-US" dirty="0"/>
              <a:t>类似于硬件</a:t>
            </a:r>
            <a:r>
              <a:rPr lang="zh-CN" altLang="en-US" dirty="0"/>
              <a:t>中断处理程序响应异步中断</a:t>
            </a:r>
            <a:endParaRPr lang="zh-CN" altLang="en-US" dirty="0"/>
          </a:p>
          <a:p>
            <a:pPr marL="914400" lvl="2" indent="0">
              <a:buNone/>
            </a:pPr>
            <a:endParaRPr lang="en-US" dirty="0"/>
          </a:p>
        </p:txBody>
      </p:sp>
      <p:sp>
        <p:nvSpPr>
          <p:cNvPr id="4" name="Line 93"/>
          <p:cNvSpPr>
            <a:spLocks noChangeShapeType="1"/>
          </p:cNvSpPr>
          <p:nvPr>
            <p:custDataLst>
              <p:tags r:id="rId1"/>
            </p:custDataLst>
          </p:nvPr>
        </p:nvSpPr>
        <p:spPr bwMode="auto">
          <a:xfrm>
            <a:off x="4948238" y="4365618"/>
            <a:ext cx="0" cy="598488"/>
          </a:xfrm>
          <a:prstGeom prst="line">
            <a:avLst/>
          </a:prstGeom>
          <a:noFill/>
          <a:ln w="12700">
            <a:solidFill>
              <a:schemeClr val="tx1"/>
            </a:solidFill>
            <a:round/>
            <a:tailEnd type="triangle" w="med" len="med"/>
          </a:ln>
          <a:effectLst/>
        </p:spPr>
        <p:txBody>
          <a:bodyPr wrap="none" anchor="ctr"/>
          <a:lstStyle/>
          <a:p>
            <a:endParaRPr lang="en-US" sz="1600"/>
          </a:p>
        </p:txBody>
      </p:sp>
      <p:sp>
        <p:nvSpPr>
          <p:cNvPr id="5" name="Line 94"/>
          <p:cNvSpPr>
            <a:spLocks noChangeShapeType="1"/>
          </p:cNvSpPr>
          <p:nvPr>
            <p:custDataLst>
              <p:tags r:id="rId2"/>
            </p:custDataLst>
          </p:nvPr>
        </p:nvSpPr>
        <p:spPr bwMode="auto">
          <a:xfrm>
            <a:off x="4954588" y="4970456"/>
            <a:ext cx="2400300" cy="0"/>
          </a:xfrm>
          <a:prstGeom prst="line">
            <a:avLst/>
          </a:prstGeom>
          <a:noFill/>
          <a:ln w="12700">
            <a:solidFill>
              <a:schemeClr val="tx1"/>
            </a:solidFill>
            <a:round/>
            <a:tailEnd type="triangle" w="med" len="med"/>
          </a:ln>
          <a:effectLst/>
        </p:spPr>
        <p:txBody>
          <a:bodyPr wrap="none" anchor="ctr"/>
          <a:lstStyle/>
          <a:p>
            <a:endParaRPr lang="en-US" sz="1600"/>
          </a:p>
        </p:txBody>
      </p:sp>
      <p:sp>
        <p:nvSpPr>
          <p:cNvPr id="6" name="Line 95"/>
          <p:cNvSpPr>
            <a:spLocks noChangeShapeType="1"/>
          </p:cNvSpPr>
          <p:nvPr>
            <p:custDataLst>
              <p:tags r:id="rId3"/>
            </p:custDataLst>
          </p:nvPr>
        </p:nvSpPr>
        <p:spPr bwMode="auto">
          <a:xfrm flipH="1">
            <a:off x="7353300" y="4976806"/>
            <a:ext cx="0" cy="533400"/>
          </a:xfrm>
          <a:prstGeom prst="line">
            <a:avLst/>
          </a:prstGeom>
          <a:noFill/>
          <a:ln w="12700">
            <a:solidFill>
              <a:schemeClr val="tx1"/>
            </a:solidFill>
            <a:round/>
            <a:tailEnd type="triangle" w="med" len="med"/>
          </a:ln>
          <a:effectLst/>
        </p:spPr>
        <p:txBody>
          <a:bodyPr wrap="none" anchor="ctr"/>
          <a:lstStyle/>
          <a:p>
            <a:endParaRPr lang="en-US" sz="1600"/>
          </a:p>
        </p:txBody>
      </p:sp>
      <p:sp>
        <p:nvSpPr>
          <p:cNvPr id="7" name="Line 96"/>
          <p:cNvSpPr>
            <a:spLocks noChangeShapeType="1"/>
          </p:cNvSpPr>
          <p:nvPr>
            <p:custDataLst>
              <p:tags r:id="rId4"/>
            </p:custDataLst>
          </p:nvPr>
        </p:nvSpPr>
        <p:spPr bwMode="auto">
          <a:xfrm flipH="1" flipV="1">
            <a:off x="4951414" y="5097456"/>
            <a:ext cx="2352675" cy="387350"/>
          </a:xfrm>
          <a:prstGeom prst="line">
            <a:avLst/>
          </a:prstGeom>
          <a:noFill/>
          <a:ln w="12700">
            <a:solidFill>
              <a:schemeClr val="tx1"/>
            </a:solidFill>
            <a:round/>
            <a:tailEnd type="triangle" w="med" len="med"/>
          </a:ln>
          <a:effectLst/>
        </p:spPr>
        <p:txBody>
          <a:bodyPr wrap="none" anchor="ctr"/>
          <a:lstStyle/>
          <a:p>
            <a:endParaRPr lang="en-US" sz="1600"/>
          </a:p>
        </p:txBody>
      </p:sp>
      <p:sp>
        <p:nvSpPr>
          <p:cNvPr id="8" name="Line 97"/>
          <p:cNvSpPr>
            <a:spLocks noChangeShapeType="1"/>
          </p:cNvSpPr>
          <p:nvPr/>
        </p:nvSpPr>
        <p:spPr bwMode="auto">
          <a:xfrm>
            <a:off x="4949826" y="5105393"/>
            <a:ext cx="3175" cy="876300"/>
          </a:xfrm>
          <a:prstGeom prst="line">
            <a:avLst/>
          </a:prstGeom>
          <a:noFill/>
          <a:ln w="12700">
            <a:solidFill>
              <a:schemeClr val="tx1"/>
            </a:solidFill>
            <a:round/>
            <a:tailEnd type="triangle" w="med" len="med"/>
          </a:ln>
          <a:effectLst/>
        </p:spPr>
        <p:txBody>
          <a:bodyPr wrap="none" anchor="ctr"/>
          <a:lstStyle/>
          <a:p>
            <a:endParaRPr lang="en-US" sz="1600"/>
          </a:p>
        </p:txBody>
      </p:sp>
      <p:sp>
        <p:nvSpPr>
          <p:cNvPr id="9" name="Rectangle 98"/>
          <p:cNvSpPr>
            <a:spLocks noChangeArrowheads="1"/>
          </p:cNvSpPr>
          <p:nvPr>
            <p:custDataLst>
              <p:tags r:id="rId5"/>
            </p:custDataLst>
          </p:nvPr>
        </p:nvSpPr>
        <p:spPr bwMode="auto">
          <a:xfrm>
            <a:off x="5137150" y="4368794"/>
            <a:ext cx="2734945" cy="333375"/>
          </a:xfrm>
          <a:prstGeom prst="rect">
            <a:avLst/>
          </a:prstGeom>
          <a:noFill/>
          <a:ln>
            <a:noFill/>
          </a:ln>
          <a:effectLst/>
        </p:spPr>
        <p:txBody>
          <a:bodyPr wrap="none" lIns="90479" tIns="44446" rIns="90479" bIns="44446">
            <a:spAutoFit/>
          </a:bodyPr>
          <a:lstStyle/>
          <a:p>
            <a:r>
              <a:rPr lang="en-US" sz="1600" i="1">
                <a:latin typeface="SimHei" panose="02010600030101010101" charset="-122"/>
                <a:ea typeface="SimHei" panose="02010600030101010101" charset="-122"/>
                <a:cs typeface="SimHei" panose="02010600030101010101" charset="-122"/>
              </a:rPr>
              <a:t>(2) </a:t>
            </a:r>
            <a:r>
              <a:rPr lang="zh-CN" altLang="en-US" sz="1600" i="1">
                <a:latin typeface="SimHei" panose="02010600030101010101" charset="-122"/>
                <a:ea typeface="SimHei" panose="02010600030101010101" charset="-122"/>
                <a:cs typeface="SimHei" panose="02010600030101010101" charset="-122"/>
              </a:rPr>
              <a:t>控制传递到信号处理程序</a:t>
            </a:r>
            <a:endParaRPr lang="zh-CN" altLang="en-US" sz="1600" i="1">
              <a:latin typeface="SimHei" panose="02010600030101010101" charset="-122"/>
              <a:ea typeface="SimHei" panose="02010600030101010101" charset="-122"/>
              <a:cs typeface="SimHei" panose="02010600030101010101" charset="-122"/>
            </a:endParaRPr>
          </a:p>
        </p:txBody>
      </p:sp>
      <p:sp>
        <p:nvSpPr>
          <p:cNvPr id="10" name="Rectangle 99"/>
          <p:cNvSpPr>
            <a:spLocks noChangeArrowheads="1"/>
          </p:cNvSpPr>
          <p:nvPr/>
        </p:nvSpPr>
        <p:spPr bwMode="auto">
          <a:xfrm>
            <a:off x="7423149" y="5041900"/>
            <a:ext cx="2279645" cy="335981"/>
          </a:xfrm>
          <a:prstGeom prst="rect">
            <a:avLst/>
          </a:prstGeom>
          <a:noFill/>
          <a:ln>
            <a:noFill/>
          </a:ln>
          <a:effectLst/>
        </p:spPr>
        <p:txBody>
          <a:bodyPr wrap="square" lIns="90479" tIns="44446" rIns="90479" bIns="44446">
            <a:spAutoFit/>
          </a:bodyPr>
          <a:lstStyle/>
          <a:p>
            <a:pPr algn="l"/>
            <a:r>
              <a:rPr lang="en-US" sz="1600" i="1" dirty="0">
                <a:latin typeface="SimHei" panose="02010600030101010101" charset="-122"/>
                <a:ea typeface="SimHei" panose="02010600030101010101" charset="-122"/>
                <a:cs typeface="SimHei" panose="02010600030101010101" charset="-122"/>
              </a:rPr>
              <a:t>(3) </a:t>
            </a:r>
            <a:r>
              <a:rPr lang="zh-CN" altLang="en-US" sz="1600" i="1" dirty="0">
                <a:latin typeface="SimHei" panose="02010600030101010101" charset="-122"/>
                <a:ea typeface="SimHei" panose="02010600030101010101" charset="-122"/>
                <a:cs typeface="SimHei" panose="02010600030101010101" charset="-122"/>
              </a:rPr>
              <a:t>信号处理程序运行</a:t>
            </a:r>
            <a:endParaRPr lang="zh-CN" altLang="en-US" sz="1600" i="1" dirty="0">
              <a:latin typeface="SimHei" panose="02010600030101010101" charset="-122"/>
              <a:ea typeface="SimHei" panose="02010600030101010101" charset="-122"/>
              <a:cs typeface="SimHei" panose="02010600030101010101" charset="-122"/>
            </a:endParaRPr>
          </a:p>
        </p:txBody>
      </p:sp>
      <p:sp>
        <p:nvSpPr>
          <p:cNvPr id="11" name="Rectangle 100"/>
          <p:cNvSpPr>
            <a:spLocks noChangeArrowheads="1"/>
          </p:cNvSpPr>
          <p:nvPr/>
        </p:nvSpPr>
        <p:spPr bwMode="auto">
          <a:xfrm>
            <a:off x="5196205" y="5416550"/>
            <a:ext cx="1934210" cy="579755"/>
          </a:xfrm>
          <a:prstGeom prst="rect">
            <a:avLst/>
          </a:prstGeom>
          <a:noFill/>
          <a:ln>
            <a:noFill/>
          </a:ln>
          <a:effectLst/>
        </p:spPr>
        <p:txBody>
          <a:bodyPr wrap="square" lIns="90479" tIns="44446" rIns="90479" bIns="44446">
            <a:spAutoFit/>
          </a:bodyPr>
          <a:lstStyle/>
          <a:p>
            <a:r>
              <a:rPr lang="en-US" sz="1600" i="1">
                <a:latin typeface="SimHei" panose="02010600030101010101" charset="-122"/>
                <a:ea typeface="SimHei" panose="02010600030101010101" charset="-122"/>
                <a:cs typeface="SimHei" panose="02010600030101010101" charset="-122"/>
              </a:rPr>
              <a:t>(4) </a:t>
            </a:r>
            <a:r>
              <a:rPr lang="zh-CN" altLang="en-US" sz="1600" i="1">
                <a:latin typeface="SimHei" panose="02010600030101010101" charset="-122"/>
                <a:ea typeface="SimHei" panose="02010600030101010101" charset="-122"/>
                <a:cs typeface="SimHei" panose="02010600030101010101" charset="-122"/>
              </a:rPr>
              <a:t>信号处理程序返回到下一条指令</a:t>
            </a:r>
            <a:endParaRPr lang="zh-CN" altLang="en-US" sz="1600" i="1">
              <a:latin typeface="SimHei" panose="02010600030101010101" charset="-122"/>
              <a:ea typeface="SimHei" panose="02010600030101010101" charset="-122"/>
              <a:cs typeface="SimHei" panose="02010600030101010101" charset="-122"/>
            </a:endParaRPr>
          </a:p>
        </p:txBody>
      </p:sp>
      <p:sp>
        <p:nvSpPr>
          <p:cNvPr id="12" name="Text Box 101"/>
          <p:cNvSpPr txBox="1">
            <a:spLocks noChangeArrowheads="1"/>
          </p:cNvSpPr>
          <p:nvPr>
            <p:custDataLst>
              <p:tags r:id="rId6"/>
            </p:custDataLst>
          </p:nvPr>
        </p:nvSpPr>
        <p:spPr bwMode="auto">
          <a:xfrm>
            <a:off x="4292600" y="4687881"/>
            <a:ext cx="584200" cy="337185"/>
          </a:xfrm>
          <a:prstGeom prst="rect">
            <a:avLst/>
          </a:prstGeom>
          <a:noFill/>
          <a:ln>
            <a:noFill/>
          </a:ln>
          <a:effectLst/>
        </p:spPr>
        <p:txBody>
          <a:bodyPr wrap="none">
            <a:spAutoFit/>
          </a:bodyPr>
          <a:lstStyle/>
          <a:p>
            <a:pPr algn="l"/>
            <a:r>
              <a:rPr lang="en-US" sz="1600" i="1">
                <a:latin typeface="Consolas" panose="020B0609020204030204" pitchFamily="49" charset="0"/>
                <a:cs typeface="Consolas" panose="020B0609020204030204" pitchFamily="49" charset="0"/>
              </a:rPr>
              <a:t>I</a:t>
            </a:r>
            <a:r>
              <a:rPr lang="en-US" sz="1600" i="1" baseline="-25000">
                <a:latin typeface="Consolas" panose="020B0609020204030204" pitchFamily="49" charset="0"/>
                <a:cs typeface="Consolas" panose="020B0609020204030204" pitchFamily="49" charset="0"/>
              </a:rPr>
              <a:t>curr</a:t>
            </a:r>
            <a:endParaRPr lang="en-US" sz="1600" i="1">
              <a:latin typeface="Consolas" panose="020B0609020204030204" pitchFamily="49" charset="0"/>
              <a:cs typeface="Consolas" panose="020B0609020204030204" pitchFamily="49" charset="0"/>
            </a:endParaRPr>
          </a:p>
        </p:txBody>
      </p:sp>
      <p:sp>
        <p:nvSpPr>
          <p:cNvPr id="13" name="Text Box 102"/>
          <p:cNvSpPr txBox="1">
            <a:spLocks noChangeArrowheads="1"/>
          </p:cNvSpPr>
          <p:nvPr>
            <p:custDataLst>
              <p:tags r:id="rId7"/>
            </p:custDataLst>
          </p:nvPr>
        </p:nvSpPr>
        <p:spPr bwMode="auto">
          <a:xfrm>
            <a:off x="4292601" y="4884731"/>
            <a:ext cx="511175" cy="337185"/>
          </a:xfrm>
          <a:prstGeom prst="rect">
            <a:avLst/>
          </a:prstGeom>
          <a:noFill/>
          <a:ln>
            <a:noFill/>
          </a:ln>
          <a:effectLst/>
        </p:spPr>
        <p:txBody>
          <a:bodyPr wrap="none">
            <a:spAutoFit/>
          </a:bodyPr>
          <a:lstStyle/>
          <a:p>
            <a:pPr algn="l"/>
            <a:r>
              <a:rPr lang="en-US" sz="1600" i="1">
                <a:latin typeface="Consolas" panose="020B0609020204030204" pitchFamily="49" charset="0"/>
                <a:cs typeface="Consolas" panose="020B0609020204030204" pitchFamily="49" charset="0"/>
              </a:rPr>
              <a:t>I</a:t>
            </a:r>
            <a:r>
              <a:rPr lang="en-US" sz="1600" i="1" baseline="-25000">
                <a:latin typeface="Consolas" panose="020B0609020204030204" pitchFamily="49" charset="0"/>
                <a:cs typeface="Consolas" panose="020B0609020204030204" pitchFamily="49" charset="0"/>
              </a:rPr>
              <a:t>next</a:t>
            </a:r>
            <a:endParaRPr lang="en-US" sz="1600" i="1">
              <a:latin typeface="Consolas" panose="020B0609020204030204" pitchFamily="49" charset="0"/>
              <a:cs typeface="Consolas" panose="020B0609020204030204" pitchFamily="49" charset="0"/>
            </a:endParaRPr>
          </a:p>
        </p:txBody>
      </p:sp>
      <p:sp>
        <p:nvSpPr>
          <p:cNvPr id="14" name="Rectangle 105"/>
          <p:cNvSpPr>
            <a:spLocks noChangeArrowheads="1"/>
          </p:cNvSpPr>
          <p:nvPr>
            <p:custDataLst>
              <p:tags r:id="rId8"/>
            </p:custDataLst>
          </p:nvPr>
        </p:nvSpPr>
        <p:spPr bwMode="auto">
          <a:xfrm>
            <a:off x="2244725" y="4343400"/>
            <a:ext cx="2224405" cy="333375"/>
          </a:xfrm>
          <a:prstGeom prst="rect">
            <a:avLst/>
          </a:prstGeom>
          <a:noFill/>
          <a:ln>
            <a:noFill/>
          </a:ln>
          <a:effectLst/>
        </p:spPr>
        <p:txBody>
          <a:bodyPr wrap="square" lIns="90479" tIns="44446" rIns="90479" bIns="44446">
            <a:spAutoFit/>
          </a:bodyPr>
          <a:lstStyle/>
          <a:p>
            <a:pPr algn="r"/>
            <a:r>
              <a:rPr lang="en-US" sz="1600" i="1" dirty="0">
                <a:latin typeface="SimHei" panose="02010600030101010101" charset="-122"/>
                <a:ea typeface="SimHei" panose="02010600030101010101" charset="-122"/>
                <a:cs typeface="SimHei" panose="02010600030101010101" charset="-122"/>
              </a:rPr>
              <a:t>(1) </a:t>
            </a:r>
            <a:r>
              <a:rPr lang="zh-CN" altLang="en-US" sz="1600" i="1" dirty="0">
                <a:latin typeface="SimHei" panose="02010600030101010101" charset="-122"/>
                <a:ea typeface="SimHei" panose="02010600030101010101" charset="-122"/>
                <a:cs typeface="SimHei" panose="02010600030101010101" charset="-122"/>
              </a:rPr>
              <a:t>进程接收到信号</a:t>
            </a:r>
            <a:r>
              <a:rPr lang="en-US" sz="1600" i="1" dirty="0">
                <a:latin typeface="SimHei" panose="02010600030101010101" charset="-122"/>
                <a:ea typeface="SimHei" panose="02010600030101010101" charset="-122"/>
                <a:cs typeface="SimHei" panose="02010600030101010101" charset="-122"/>
              </a:rPr>
              <a:t> </a:t>
            </a:r>
            <a:endParaRPr lang="en-US" sz="1600" i="1" dirty="0">
              <a:latin typeface="SimHei" panose="02010600030101010101" charset="-122"/>
              <a:ea typeface="SimHei" panose="02010600030101010101" charset="-122"/>
              <a:cs typeface="SimHei" panose="02010600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488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886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886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886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r>
              <a:rPr lang="zh-CN" altLang="en-US" dirty="0"/>
              <a:t>信号术语：待处理和阻塞信号</a:t>
            </a:r>
            <a:endParaRPr lang="zh-CN" altLang="en-US" dirty="0"/>
          </a:p>
        </p:txBody>
      </p:sp>
      <p:sp>
        <p:nvSpPr>
          <p:cNvPr id="549891" name="Rectangle 3"/>
          <p:cNvSpPr>
            <a:spLocks noGrp="1" noChangeArrowheads="1"/>
          </p:cNvSpPr>
          <p:nvPr>
            <p:ph idx="1"/>
          </p:nvPr>
        </p:nvSpPr>
        <p:spPr/>
        <p:txBody>
          <a:bodyPr/>
          <a:lstStyle/>
          <a:p>
            <a:r>
              <a:rPr lang="zh-CN" altLang="en-US" dirty="0"/>
              <a:t>一个</a:t>
            </a:r>
            <a:r>
              <a:rPr lang="zh-CN" altLang="en-US" dirty="0">
                <a:solidFill>
                  <a:srgbClr val="FF0000"/>
                </a:solidFill>
              </a:rPr>
              <a:t>发出</a:t>
            </a:r>
            <a:r>
              <a:rPr lang="zh-CN" altLang="en-US" dirty="0"/>
              <a:t>而没有</a:t>
            </a:r>
            <a:r>
              <a:rPr lang="zh-CN" altLang="en-US" dirty="0">
                <a:solidFill>
                  <a:srgbClr val="FF0000"/>
                </a:solidFill>
              </a:rPr>
              <a:t>接收</a:t>
            </a:r>
            <a:r>
              <a:rPr lang="zh-CN" altLang="en-US" dirty="0"/>
              <a:t>的信号叫做</a:t>
            </a:r>
            <a:r>
              <a:rPr lang="zh-CN" altLang="en-US" i="1" dirty="0">
                <a:solidFill>
                  <a:srgbClr val="C00000"/>
                </a:solidFill>
                <a:sym typeface="+mn-ea"/>
              </a:rPr>
              <a:t>待处理 </a:t>
            </a:r>
            <a:r>
              <a:rPr lang="en-US" altLang="zh-CN" i="1" dirty="0">
                <a:solidFill>
                  <a:srgbClr val="C00000"/>
                </a:solidFill>
                <a:sym typeface="+mn-ea"/>
              </a:rPr>
              <a:t>pending</a:t>
            </a:r>
            <a:r>
              <a:rPr lang="zh-CN" altLang="en-US" dirty="0"/>
              <a:t>信号</a:t>
            </a:r>
            <a:endParaRPr lang="en-US" dirty="0"/>
          </a:p>
          <a:p>
            <a:pPr lvl="1"/>
            <a:r>
              <a:rPr lang="zh-CN" altLang="en-US" dirty="0"/>
              <a:t>一种类型至多只有一种待处理信号</a:t>
            </a:r>
            <a:endParaRPr lang="en-US" dirty="0"/>
          </a:p>
          <a:p>
            <a:pPr lvl="1"/>
            <a:r>
              <a:rPr lang="zh-CN" altLang="en-US" dirty="0"/>
              <a:t>重要提示：</a:t>
            </a:r>
            <a:r>
              <a:rPr lang="zh-CN" altLang="en-US" dirty="0">
                <a:solidFill>
                  <a:srgbClr val="FF0000"/>
                </a:solidFill>
              </a:rPr>
              <a:t>信号不会排队等待</a:t>
            </a:r>
            <a:r>
              <a:rPr lang="en-US" altLang="zh-CN" dirty="0">
                <a:solidFill>
                  <a:srgbClr val="FF0000"/>
                </a:solidFill>
              </a:rPr>
              <a:t>（</a:t>
            </a:r>
            <a:r>
              <a:rPr lang="zh-CN" altLang="en-US" dirty="0">
                <a:solidFill>
                  <a:srgbClr val="FF0000"/>
                </a:solidFill>
              </a:rPr>
              <a:t>队列长度为</a:t>
            </a:r>
            <a:r>
              <a:rPr lang="en-US" altLang="zh-CN" dirty="0">
                <a:solidFill>
                  <a:srgbClr val="FF0000"/>
                </a:solidFill>
              </a:rPr>
              <a:t>1）</a:t>
            </a:r>
            <a:endParaRPr lang="en-US" dirty="0">
              <a:solidFill>
                <a:srgbClr val="FF0000"/>
              </a:solidFill>
            </a:endParaRPr>
          </a:p>
          <a:p>
            <a:pPr lvl="2"/>
            <a:r>
              <a:rPr lang="zh-CN" altLang="en-US" dirty="0"/>
              <a:t>如果一个进程有一个类型为</a:t>
            </a:r>
            <a:r>
              <a:rPr lang="en-US" altLang="zh-CN" dirty="0">
                <a:latin typeface="Consolas" panose="020B0609020204030204" pitchFamily="49" charset="0"/>
                <a:cs typeface="Consolas" panose="020B0609020204030204" pitchFamily="49" charset="0"/>
              </a:rPr>
              <a:t> k </a:t>
            </a:r>
            <a:r>
              <a:rPr lang="zh-CN" altLang="en-US" dirty="0"/>
              <a:t>的待处理信号，那么任何接下来发送到这个进程的类型为</a:t>
            </a:r>
            <a:r>
              <a:rPr lang="en-US" altLang="zh-CN" dirty="0">
                <a:latin typeface="Consolas" panose="020B0609020204030204" pitchFamily="49" charset="0"/>
                <a:cs typeface="Consolas" panose="020B0609020204030204" pitchFamily="49" charset="0"/>
              </a:rPr>
              <a:t> k </a:t>
            </a:r>
            <a:r>
              <a:rPr lang="zh-CN" altLang="en-US" dirty="0"/>
              <a:t>的信号都会被丢弃</a:t>
            </a:r>
            <a:endParaRPr lang="zh-CN" altLang="en-US" dirty="0"/>
          </a:p>
          <a:p>
            <a:pPr lvl="1"/>
            <a:r>
              <a:rPr lang="zh-CN" altLang="en-US" dirty="0"/>
              <a:t>原因</a:t>
            </a:r>
            <a:r>
              <a:rPr lang="en-US" altLang="zh-CN" dirty="0"/>
              <a:t>：pending是</a:t>
            </a:r>
            <a:r>
              <a:rPr lang="zh-CN" altLang="en-US" dirty="0"/>
              <a:t>用位向量来实现的</a:t>
            </a:r>
            <a:r>
              <a:rPr lang="en-US" altLang="zh-CN" dirty="0"/>
              <a:t>，</a:t>
            </a:r>
            <a:r>
              <a:rPr lang="zh-CN" altLang="en-US" dirty="0"/>
              <a:t>每位的</a:t>
            </a:r>
            <a:r>
              <a:rPr lang="en-US" altLang="zh-CN" dirty="0"/>
              <a:t>1/0</a:t>
            </a:r>
            <a:r>
              <a:rPr lang="zh-CN" altLang="en-US" dirty="0"/>
              <a:t>表示有</a:t>
            </a:r>
            <a:r>
              <a:rPr lang="en-US" altLang="zh-CN" dirty="0"/>
              <a:t>/</a:t>
            </a:r>
            <a:r>
              <a:rPr lang="zh-CN" altLang="en-US" dirty="0"/>
              <a:t>无待处理</a:t>
            </a:r>
            <a:r>
              <a:rPr lang="zh-CN" altLang="en-US" dirty="0"/>
              <a:t>的对应</a:t>
            </a:r>
            <a:r>
              <a:rPr lang="zh-CN" altLang="en-US" dirty="0"/>
              <a:t>信号</a:t>
            </a:r>
            <a:endParaRPr lang="zh-CN" altLang="en-US" dirty="0"/>
          </a:p>
          <a:p>
            <a:endParaRPr lang="en-US" dirty="0"/>
          </a:p>
          <a:p>
            <a:r>
              <a:rPr lang="zh-CN" altLang="en-US" dirty="0"/>
              <a:t>一个进程可以</a:t>
            </a:r>
            <a:r>
              <a:rPr lang="zh-CN" altLang="en-US" i="1" dirty="0">
                <a:solidFill>
                  <a:srgbClr val="C00000"/>
                </a:solidFill>
              </a:rPr>
              <a:t>阻塞</a:t>
            </a:r>
            <a:r>
              <a:rPr lang="en-US" dirty="0"/>
              <a:t> </a:t>
            </a:r>
            <a:r>
              <a:rPr lang="zh-CN" altLang="en-US" dirty="0"/>
              <a:t>接收某种信号</a:t>
            </a:r>
            <a:endParaRPr lang="en-US" dirty="0"/>
          </a:p>
          <a:p>
            <a:pPr lvl="1"/>
            <a:r>
              <a:rPr lang="zh-CN" altLang="en-US" dirty="0"/>
              <a:t>信号仍可以被发送，但是产生的待处理信号不会被</a:t>
            </a:r>
            <a:r>
              <a:rPr lang="zh-CN" altLang="en-US" b="1" dirty="0"/>
              <a:t>接收</a:t>
            </a:r>
            <a:r>
              <a:rPr lang="zh-CN" altLang="en-US" dirty="0"/>
              <a:t>，直到取消对这种信号的阻塞</a:t>
            </a:r>
            <a:endParaRPr lang="zh-CN" altLang="en-US" dirty="0"/>
          </a:p>
          <a:p>
            <a:pPr lvl="1"/>
            <a:r>
              <a:rPr lang="zh-CN" altLang="en-US" dirty="0"/>
              <a:t>原因</a:t>
            </a:r>
            <a:r>
              <a:rPr lang="en-US" altLang="zh-CN" dirty="0"/>
              <a:t>：</a:t>
            </a:r>
            <a:r>
              <a:rPr lang="zh-CN" altLang="en-US" dirty="0"/>
              <a:t>在接收</a:t>
            </a:r>
            <a:r>
              <a:rPr lang="en-US" altLang="zh-CN" dirty="0"/>
              <a:t>/</a:t>
            </a:r>
            <a:r>
              <a:rPr lang="zh-CN" altLang="en-US" dirty="0"/>
              <a:t>处理信号前</a:t>
            </a:r>
            <a:r>
              <a:rPr lang="en-US" altLang="zh-CN" dirty="0"/>
              <a:t>，</a:t>
            </a:r>
            <a:r>
              <a:rPr lang="zh-CN" altLang="en-US" dirty="0"/>
              <a:t>用一个</a:t>
            </a:r>
            <a:r>
              <a:rPr lang="en-US" altLang="zh-CN" dirty="0"/>
              <a:t>blocked</a:t>
            </a:r>
            <a:r>
              <a:rPr lang="zh-CN" altLang="en-US" dirty="0"/>
              <a:t>位向量</a:t>
            </a:r>
            <a:r>
              <a:rPr lang="en-US" altLang="zh-CN" dirty="0"/>
              <a:t>，</a:t>
            </a:r>
            <a:r>
              <a:rPr lang="zh-CN" altLang="en-US" dirty="0"/>
              <a:t>做掩码来屏蔽</a:t>
            </a:r>
            <a:r>
              <a:rPr lang="en-US" altLang="zh-CN" dirty="0"/>
              <a:t>pending</a:t>
            </a:r>
            <a:r>
              <a:rPr lang="zh-CN" altLang="en-US" dirty="0"/>
              <a:t>向量</a:t>
            </a:r>
            <a:endParaRPr lang="zh-CN" altLang="en-US" dirty="0"/>
          </a:p>
          <a:p>
            <a:pPr lvl="1"/>
            <a:endParaRPr lang="en-US" dirty="0"/>
          </a:p>
          <a:p>
            <a:r>
              <a:rPr lang="zh-CN" altLang="en-US" dirty="0"/>
              <a:t>一个待处理信号最多只能被接收一次</a:t>
            </a:r>
            <a:endParaRPr lang="zh-CN" altLang="en-US" dirty="0"/>
          </a:p>
          <a:p>
            <a:pPr lvl="1"/>
            <a:r>
              <a:rPr lang="zh-CN" altLang="en-US" dirty="0"/>
              <a:t>原因</a:t>
            </a:r>
            <a:r>
              <a:rPr lang="en-US" altLang="zh-CN" dirty="0"/>
              <a:t>：</a:t>
            </a:r>
            <a:r>
              <a:rPr lang="zh-CN" altLang="en-US" dirty="0"/>
              <a:t>每次处理时</a:t>
            </a:r>
            <a:r>
              <a:rPr lang="en-US" altLang="zh-CN" dirty="0"/>
              <a:t>，</a:t>
            </a:r>
            <a:r>
              <a:rPr lang="zh-CN" altLang="en-US" dirty="0"/>
              <a:t>会将对应</a:t>
            </a:r>
            <a:r>
              <a:rPr lang="en-US" altLang="zh-CN" dirty="0"/>
              <a:t>bit</a:t>
            </a:r>
            <a:r>
              <a:rPr lang="zh-CN" altLang="en-US" dirty="0"/>
              <a:t>清零</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9891">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9891">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9891">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9891">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989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p:txBody>
          <a:bodyPr/>
          <a:lstStyle/>
          <a:p>
            <a:r>
              <a:rPr lang="zh-CN" altLang="en-US" dirty="0">
                <a:sym typeface="+mn-ea"/>
              </a:rPr>
              <a:t>信号术语：</a:t>
            </a:r>
            <a:r>
              <a:rPr lang="en-US" altLang="zh-CN" dirty="0">
                <a:latin typeface="Consolas" panose="020B0609020204030204" pitchFamily="49" charset="0"/>
                <a:cs typeface="Consolas" panose="020B0609020204030204" pitchFamily="49" charset="0"/>
              </a:rPr>
              <a:t>Pending/Blocked </a:t>
            </a:r>
            <a:r>
              <a:rPr lang="zh-CN" altLang="en-US" dirty="0">
                <a:sym typeface="+mn-ea"/>
              </a:rPr>
              <a:t>位</a:t>
            </a:r>
            <a:endParaRPr lang="en-US" dirty="0"/>
          </a:p>
        </p:txBody>
      </p:sp>
      <p:sp>
        <p:nvSpPr>
          <p:cNvPr id="550915" name="Rectangle 3"/>
          <p:cNvSpPr>
            <a:spLocks noGrp="1" noChangeArrowheads="1"/>
          </p:cNvSpPr>
          <p:nvPr>
            <p:ph idx="1"/>
          </p:nvPr>
        </p:nvSpPr>
        <p:spPr/>
        <p:txBody>
          <a:bodyPr/>
          <a:lstStyle/>
          <a:p>
            <a:r>
              <a:rPr lang="zh-CN" altLang="en-US" dirty="0"/>
              <a:t>内核维护每个进程的上下文中的</a:t>
            </a:r>
            <a:r>
              <a:rPr lang="en-US" dirty="0">
                <a:latin typeface="Courier New" panose="02070609020205020404" charset="0"/>
                <a:cs typeface="Courier New" panose="02070609020205020404" charset="0"/>
              </a:rPr>
              <a:t> pending </a:t>
            </a:r>
            <a:r>
              <a:rPr lang="zh-CN" altLang="en-US" dirty="0"/>
              <a:t>和</a:t>
            </a:r>
            <a:r>
              <a:rPr lang="en-US" dirty="0">
                <a:latin typeface="Courier New" panose="02070609020205020404" charset="0"/>
                <a:cs typeface="Courier New" panose="02070609020205020404" charset="0"/>
              </a:rPr>
              <a:t> blocked </a:t>
            </a:r>
            <a:r>
              <a:rPr lang="zh-CN" altLang="en-US" dirty="0">
                <a:sym typeface="+mn-ea"/>
              </a:rPr>
              <a:t>位向量</a:t>
            </a:r>
            <a:endParaRPr lang="en-US" dirty="0"/>
          </a:p>
          <a:p>
            <a:pPr lvl="1"/>
            <a:r>
              <a:rPr lang="en-US" b="1" dirty="0">
                <a:latin typeface="Courier New" panose="02070609020205020404" charset="0"/>
              </a:rPr>
              <a:t>pending</a:t>
            </a:r>
            <a:r>
              <a:rPr lang="zh-CN" altLang="en-US" dirty="0"/>
              <a:t>：待处理信号的集合</a:t>
            </a:r>
            <a:endParaRPr lang="zh-CN" altLang="en-US" dirty="0"/>
          </a:p>
          <a:p>
            <a:pPr lvl="2"/>
            <a:r>
              <a:rPr lang="zh-CN" altLang="en-US" dirty="0"/>
              <a:t>只要传递了一个类型为</a:t>
            </a:r>
            <a:r>
              <a:rPr lang="en-US" altLang="zh-CN" dirty="0">
                <a:latin typeface="Consolas" panose="020B0609020204030204" pitchFamily="49" charset="0"/>
                <a:cs typeface="Consolas" panose="020B0609020204030204" pitchFamily="49" charset="0"/>
              </a:rPr>
              <a:t> k </a:t>
            </a:r>
            <a:r>
              <a:rPr lang="zh-CN" altLang="en-US" dirty="0"/>
              <a:t>的信号，内核就会设置</a:t>
            </a:r>
            <a:r>
              <a:rPr lang="en-US" altLang="zh-CN" b="1" dirty="0">
                <a:latin typeface="Courier New" panose="02070609020205020404" charset="0"/>
                <a:cs typeface="Courier New" panose="02070609020205020404" charset="0"/>
              </a:rPr>
              <a:t> pending </a:t>
            </a:r>
            <a:r>
              <a:rPr lang="zh-CN" altLang="en-US" dirty="0"/>
              <a:t>中的第</a:t>
            </a:r>
            <a:r>
              <a:rPr lang="en-US" altLang="zh-CN" dirty="0">
                <a:latin typeface="Consolas" panose="020B0609020204030204" pitchFamily="49" charset="0"/>
                <a:cs typeface="Consolas" panose="020B0609020204030204" pitchFamily="49" charset="0"/>
              </a:rPr>
              <a:t> k </a:t>
            </a:r>
            <a:r>
              <a:rPr lang="zh-CN" altLang="en-US" dirty="0"/>
              <a:t>位</a:t>
            </a:r>
            <a:endParaRPr lang="zh-CN" altLang="en-US" dirty="0"/>
          </a:p>
          <a:p>
            <a:pPr lvl="2"/>
            <a:r>
              <a:rPr lang="zh-CN" altLang="en-US" dirty="0"/>
              <a:t>只要接收了一个类型为</a:t>
            </a:r>
            <a:r>
              <a:rPr lang="en-US" altLang="zh-CN" dirty="0">
                <a:latin typeface="Consolas" panose="020B0609020204030204" pitchFamily="49" charset="0"/>
                <a:cs typeface="Consolas" panose="020B0609020204030204" pitchFamily="49" charset="0"/>
              </a:rPr>
              <a:t> k </a:t>
            </a:r>
            <a:r>
              <a:rPr lang="zh-CN" altLang="en-US" dirty="0"/>
              <a:t>的信号，内核就会清除</a:t>
            </a:r>
            <a:r>
              <a:rPr lang="en-US" altLang="zh-CN" b="1" dirty="0">
                <a:latin typeface="Courier New" panose="02070609020205020404" charset="0"/>
                <a:cs typeface="Courier New" panose="02070609020205020404" charset="0"/>
              </a:rPr>
              <a:t> pending </a:t>
            </a:r>
            <a:r>
              <a:rPr lang="zh-CN" altLang="en-US" dirty="0"/>
              <a:t>中的第</a:t>
            </a:r>
            <a:r>
              <a:rPr lang="en-US" altLang="zh-CN" dirty="0">
                <a:latin typeface="Consolas" panose="020B0609020204030204" pitchFamily="49" charset="0"/>
                <a:cs typeface="Consolas" panose="020B0609020204030204" pitchFamily="49" charset="0"/>
              </a:rPr>
              <a:t> k </a:t>
            </a:r>
            <a:r>
              <a:rPr lang="zh-CN" altLang="en-US" dirty="0"/>
              <a:t>位</a:t>
            </a:r>
            <a:endParaRPr lang="en-US" b="1" dirty="0">
              <a:latin typeface="Courier New" panose="02070609020205020404" charset="0"/>
            </a:endParaRPr>
          </a:p>
          <a:p>
            <a:pPr lvl="1"/>
            <a:r>
              <a:rPr lang="en-US" b="1" dirty="0">
                <a:latin typeface="Courier New" panose="02070609020205020404" charset="0"/>
              </a:rPr>
              <a:t>blocked</a:t>
            </a:r>
            <a:r>
              <a:rPr lang="zh-CN" altLang="en-US" b="1" dirty="0">
                <a:latin typeface="Courier New" panose="02070609020205020404" charset="0"/>
              </a:rPr>
              <a:t>：</a:t>
            </a:r>
            <a:r>
              <a:rPr lang="zh-CN" altLang="en-US" dirty="0"/>
              <a:t>阻塞信号的集合</a:t>
            </a:r>
            <a:endParaRPr lang="en-US" dirty="0"/>
          </a:p>
          <a:p>
            <a:pPr lvl="2"/>
            <a:r>
              <a:rPr lang="zh-CN" altLang="en-US" dirty="0"/>
              <a:t>可以通过</a:t>
            </a:r>
            <a:r>
              <a:rPr lang="en-US" dirty="0">
                <a:latin typeface="Courier New" panose="02070609020205020404" charset="0"/>
                <a:cs typeface="Courier New" panose="02070609020205020404" charset="0"/>
              </a:rPr>
              <a:t> </a:t>
            </a:r>
            <a:r>
              <a:rPr lang="en-US" b="1" dirty="0" err="1">
                <a:latin typeface="Courier New" panose="02070609020205020404" charset="0"/>
                <a:cs typeface="Courier New" panose="02070609020205020404" charset="0"/>
              </a:rPr>
              <a:t>sigprocmask</a:t>
            </a:r>
            <a:r>
              <a:rPr lang="en-US" dirty="0">
                <a:latin typeface="Courier New" panose="02070609020205020404" charset="0"/>
                <a:cs typeface="Courier New" panose="02070609020205020404" charset="0"/>
              </a:rPr>
              <a:t> </a:t>
            </a:r>
            <a:r>
              <a:rPr lang="zh-CN" altLang="en-US" dirty="0"/>
              <a:t>函数设置或清除这些位</a:t>
            </a:r>
            <a:endParaRPr lang="zh-CN" altLang="en-US" dirty="0"/>
          </a:p>
          <a:p>
            <a:pPr lvl="2"/>
            <a:r>
              <a:rPr lang="zh-CN" altLang="en-US" dirty="0"/>
              <a:t>也称为</a:t>
            </a:r>
            <a:r>
              <a:rPr lang="zh-CN" altLang="en-US" i="1" dirty="0"/>
              <a:t>信号掩码（</a:t>
            </a:r>
            <a:r>
              <a:rPr lang="en-US" i="1" dirty="0"/>
              <a:t> </a:t>
            </a:r>
            <a:r>
              <a:rPr lang="en-US" i="1" dirty="0">
                <a:latin typeface="Consolas" panose="020B0609020204030204" pitchFamily="49" charset="0"/>
                <a:cs typeface="Consolas" panose="020B0609020204030204" pitchFamily="49" charset="0"/>
              </a:rPr>
              <a:t>signal mask</a:t>
            </a:r>
            <a:r>
              <a:rPr lang="zh-CN" altLang="en-US" i="1" dirty="0"/>
              <a:t>）</a:t>
            </a:r>
            <a:endParaRPr lang="zh-CN" altLang="en-US" i="1"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r>
              <a:rPr lang="zh-CN" altLang="en-US" dirty="0"/>
              <a:t>接收信号</a:t>
            </a:r>
            <a:endParaRPr lang="zh-CN" altLang="en-US" dirty="0"/>
          </a:p>
        </p:txBody>
      </p:sp>
      <p:sp>
        <p:nvSpPr>
          <p:cNvPr id="558083" name="Rectangle 3"/>
          <p:cNvSpPr>
            <a:spLocks noGrp="1" noChangeArrowheads="1"/>
          </p:cNvSpPr>
          <p:nvPr>
            <p:ph idx="1"/>
          </p:nvPr>
        </p:nvSpPr>
        <p:spPr/>
        <p:txBody>
          <a:bodyPr/>
          <a:lstStyle/>
          <a:p>
            <a:r>
              <a:rPr lang="zh-CN" altLang="en-US"/>
              <a:t>时机</a:t>
            </a:r>
            <a:endParaRPr lang="zh-CN" altLang="en-US"/>
          </a:p>
          <a:p>
            <a:pPr lvl="1"/>
            <a:r>
              <a:rPr lang="zh-CN" altLang="en-US"/>
              <a:t>内核从异常处理程序返回，并准备将控制权交给进程</a:t>
            </a:r>
            <a:r>
              <a:rPr lang="en-US" dirty="0">
                <a:latin typeface="Consolas" panose="020B0609020204030204" pitchFamily="49" charset="0"/>
                <a:cs typeface="Consolas" panose="020B0609020204030204" pitchFamily="49" charset="0"/>
              </a:rPr>
              <a:t> </a:t>
            </a:r>
            <a:r>
              <a:rPr lang="en-US" i="1" dirty="0" err="1">
                <a:latin typeface="Consolas" panose="020B0609020204030204" pitchFamily="49" charset="0"/>
                <a:cs typeface="Consolas" panose="020B0609020204030204" pitchFamily="49" charset="0"/>
              </a:rPr>
              <a:t>p</a:t>
            </a:r>
            <a:r>
              <a:rPr lang="zh-CN" altLang="en-US" dirty="0" err="1">
                <a:latin typeface="Consolas" panose="020B0609020204030204" pitchFamily="49" charset="0"/>
                <a:cs typeface="Consolas" panose="020B0609020204030204" pitchFamily="49" charset="0"/>
              </a:rPr>
              <a:t>的用户代码时</a:t>
            </a:r>
            <a:endParaRPr lang="en-US" dirty="0"/>
          </a:p>
          <a:p>
            <a:endParaRPr lang="en-US" dirty="0"/>
          </a:p>
        </p:txBody>
      </p:sp>
      <p:sp>
        <p:nvSpPr>
          <p:cNvPr id="4" name="Rectangle 3"/>
          <p:cNvSpPr/>
          <p:nvPr/>
        </p:nvSpPr>
        <p:spPr bwMode="auto">
          <a:xfrm>
            <a:off x="2425244" y="4494660"/>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algn="ctr"/>
            <a:endParaRPr lang="en-US" dirty="0">
              <a:latin typeface="Calibri" panose="020F0502020204030204" pitchFamily="34" charset="0"/>
            </a:endParaRPr>
          </a:p>
        </p:txBody>
      </p:sp>
      <p:sp>
        <p:nvSpPr>
          <p:cNvPr id="5" name="Rectangle 4"/>
          <p:cNvSpPr/>
          <p:nvPr/>
        </p:nvSpPr>
        <p:spPr bwMode="auto">
          <a:xfrm>
            <a:off x="2425244" y="40692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algn="ctr"/>
            <a:endParaRPr lang="en-US" dirty="0">
              <a:latin typeface="Calibri" panose="020F0502020204030204" pitchFamily="34" charset="0"/>
            </a:endParaRPr>
          </a:p>
        </p:txBody>
      </p:sp>
      <p:sp>
        <p:nvSpPr>
          <p:cNvPr id="6" name="Rectangle 5"/>
          <p:cNvSpPr/>
          <p:nvPr/>
        </p:nvSpPr>
        <p:spPr bwMode="auto">
          <a:xfrm>
            <a:off x="2425244" y="49201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algn="ctr"/>
            <a:endParaRPr lang="en-US" dirty="0">
              <a:latin typeface="Calibri" panose="020F0502020204030204" pitchFamily="34" charset="0"/>
            </a:endParaRPr>
          </a:p>
        </p:txBody>
      </p:sp>
      <p:sp>
        <p:nvSpPr>
          <p:cNvPr id="7" name="Rectangle 6"/>
          <p:cNvSpPr/>
          <p:nvPr/>
        </p:nvSpPr>
        <p:spPr bwMode="auto">
          <a:xfrm>
            <a:off x="2425244" y="3637866"/>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algn="ctr"/>
            <a:endParaRPr lang="en-US" dirty="0">
              <a:latin typeface="Calibri" panose="020F0502020204030204" pitchFamily="34" charset="0"/>
            </a:endParaRPr>
          </a:p>
        </p:txBody>
      </p:sp>
      <p:sp>
        <p:nvSpPr>
          <p:cNvPr id="8" name="Rectangle 7"/>
          <p:cNvSpPr/>
          <p:nvPr/>
        </p:nvSpPr>
        <p:spPr bwMode="auto">
          <a:xfrm>
            <a:off x="2425244" y="3212416"/>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algn="ctr"/>
            <a:endParaRPr lang="en-US" dirty="0">
              <a:latin typeface="Calibri" panose="020F0502020204030204" pitchFamily="34" charset="0"/>
            </a:endParaRPr>
          </a:p>
        </p:txBody>
      </p:sp>
      <p:sp>
        <p:nvSpPr>
          <p:cNvPr id="9" name="Text Box 4"/>
          <p:cNvSpPr txBox="1">
            <a:spLocks noChangeArrowheads="1"/>
          </p:cNvSpPr>
          <p:nvPr/>
        </p:nvSpPr>
        <p:spPr bwMode="auto">
          <a:xfrm>
            <a:off x="2647266" y="2590800"/>
            <a:ext cx="1314450" cy="368300"/>
          </a:xfrm>
          <a:prstGeom prst="rect">
            <a:avLst/>
          </a:prstGeom>
          <a:noFill/>
          <a:ln w="25400">
            <a:noFill/>
            <a:miter lim="800000"/>
          </a:ln>
          <a:effectLst/>
        </p:spPr>
        <p:txBody>
          <a:bodyPr wrap="none">
            <a:spAutoFit/>
          </a:bodyPr>
          <a:lstStyle/>
          <a:p>
            <a:pPr>
              <a:lnSpc>
                <a:spcPct val="100000"/>
              </a:lnSpc>
            </a:pPr>
            <a:r>
              <a:rPr lang="en-US" sz="1800" i="1" dirty="0">
                <a:solidFill>
                  <a:srgbClr val="C00000"/>
                </a:solidFill>
                <a:latin typeface="Consolas" panose="020B0609020204030204" pitchFamily="49" charset="0"/>
                <a:cs typeface="Consolas" panose="020B0609020204030204" pitchFamily="49" charset="0"/>
              </a:rPr>
              <a:t>Process A</a:t>
            </a:r>
            <a:endParaRPr lang="en-US" sz="1800" i="1" dirty="0">
              <a:solidFill>
                <a:srgbClr val="C00000"/>
              </a:solidFill>
              <a:latin typeface="Consolas" panose="020B0609020204030204" pitchFamily="49" charset="0"/>
              <a:cs typeface="Consolas" panose="020B0609020204030204" pitchFamily="49" charset="0"/>
            </a:endParaRPr>
          </a:p>
        </p:txBody>
      </p:sp>
      <p:sp>
        <p:nvSpPr>
          <p:cNvPr id="10" name="Text Box 5"/>
          <p:cNvSpPr txBox="1">
            <a:spLocks noChangeArrowheads="1"/>
          </p:cNvSpPr>
          <p:nvPr/>
        </p:nvSpPr>
        <p:spPr bwMode="auto">
          <a:xfrm>
            <a:off x="4170258" y="2590800"/>
            <a:ext cx="1245870" cy="368300"/>
          </a:xfrm>
          <a:prstGeom prst="rect">
            <a:avLst/>
          </a:prstGeom>
          <a:noFill/>
          <a:ln w="25400">
            <a:noFill/>
            <a:miter lim="800000"/>
          </a:ln>
          <a:effectLst/>
        </p:spPr>
        <p:txBody>
          <a:bodyPr wrap="none">
            <a:spAutoFit/>
          </a:bodyPr>
          <a:lstStyle/>
          <a:p>
            <a:pPr>
              <a:lnSpc>
                <a:spcPct val="100000"/>
              </a:lnSpc>
            </a:pPr>
            <a:r>
              <a:rPr lang="en-US" sz="1800" i="1" dirty="0">
                <a:solidFill>
                  <a:srgbClr val="C00000"/>
                </a:solidFill>
                <a:latin typeface="Consolas" panose="020B0609020204030204" pitchFamily="49" charset="0"/>
                <a:cs typeface="Consolas" panose="020B0609020204030204" pitchFamily="49" charset="0"/>
              </a:rPr>
              <a:t>Process </a:t>
            </a:r>
            <a:r>
              <a:rPr lang="en-US" sz="1800" i="1" dirty="0">
                <a:solidFill>
                  <a:srgbClr val="C00000"/>
                </a:solidFill>
                <a:latin typeface="Consolas" panose="020B0609020204030204" pitchFamily="49" charset="0"/>
                <a:cs typeface="Consolas" panose="020B0609020204030204" pitchFamily="49" charset="0"/>
              </a:rPr>
              <a:t>p</a:t>
            </a:r>
            <a:endParaRPr lang="en-US" sz="1800" i="1" dirty="0">
              <a:solidFill>
                <a:srgbClr val="C00000"/>
              </a:solidFill>
              <a:latin typeface="Consolas" panose="020B0609020204030204" pitchFamily="49" charset="0"/>
              <a:cs typeface="Consolas" panose="020B0609020204030204" pitchFamily="49" charset="0"/>
            </a:endParaRPr>
          </a:p>
        </p:txBody>
      </p:sp>
      <p:sp>
        <p:nvSpPr>
          <p:cNvPr id="11" name="Line 6"/>
          <p:cNvSpPr>
            <a:spLocks noChangeShapeType="1"/>
          </p:cNvSpPr>
          <p:nvPr/>
        </p:nvSpPr>
        <p:spPr bwMode="auto">
          <a:xfrm flipH="1">
            <a:off x="3200400" y="3215600"/>
            <a:ext cx="6350" cy="420624"/>
          </a:xfrm>
          <a:prstGeom prst="line">
            <a:avLst/>
          </a:prstGeom>
          <a:noFill/>
          <a:ln w="25400">
            <a:solidFill>
              <a:schemeClr val="tx1"/>
            </a:solidFill>
            <a:round/>
            <a:tailEnd type="triangle" w="med" len="med"/>
          </a:ln>
          <a:effectLst/>
        </p:spPr>
        <p:txBody>
          <a:bodyPr wrap="none" anchor="ctr"/>
          <a:lstStyle/>
          <a:p>
            <a:endParaRPr lang="en-US" dirty="0">
              <a:latin typeface="Calibri" panose="020F0502020204030204" pitchFamily="34" charset="0"/>
            </a:endParaRPr>
          </a:p>
        </p:txBody>
      </p:sp>
      <p:sp>
        <p:nvSpPr>
          <p:cNvPr id="12" name="Line 11"/>
          <p:cNvSpPr>
            <a:spLocks noChangeShapeType="1"/>
          </p:cNvSpPr>
          <p:nvPr/>
        </p:nvSpPr>
        <p:spPr bwMode="auto">
          <a:xfrm flipH="1">
            <a:off x="4025900" y="2590800"/>
            <a:ext cx="12700" cy="3124200"/>
          </a:xfrm>
          <a:prstGeom prst="line">
            <a:avLst/>
          </a:prstGeom>
          <a:noFill/>
          <a:ln w="25400">
            <a:solidFill>
              <a:schemeClr val="tx1"/>
            </a:solidFill>
            <a:prstDash val="dash"/>
            <a:round/>
          </a:ln>
          <a:effectLst/>
        </p:spPr>
        <p:txBody>
          <a:bodyPr wrap="none" anchor="ctr"/>
          <a:lstStyle/>
          <a:p>
            <a:endParaRPr lang="en-US" dirty="0">
              <a:latin typeface="Calibri" panose="020F0502020204030204" pitchFamily="34" charset="0"/>
            </a:endParaRPr>
          </a:p>
        </p:txBody>
      </p:sp>
      <p:sp>
        <p:nvSpPr>
          <p:cNvPr id="13" name="Text Box 12"/>
          <p:cNvSpPr txBox="1">
            <a:spLocks noChangeArrowheads="1"/>
          </p:cNvSpPr>
          <p:nvPr/>
        </p:nvSpPr>
        <p:spPr bwMode="auto">
          <a:xfrm>
            <a:off x="5727701" y="3276600"/>
            <a:ext cx="1024639" cy="338554"/>
          </a:xfrm>
          <a:prstGeom prst="rect">
            <a:avLst/>
          </a:prstGeom>
          <a:noFill/>
          <a:ln w="25400">
            <a:noFill/>
            <a:miter lim="800000"/>
          </a:ln>
          <a:effectLst/>
        </p:spPr>
        <p:txBody>
          <a:bodyPr wrap="none">
            <a:spAutoFit/>
          </a:bodyPr>
          <a:lstStyle/>
          <a:p>
            <a:pPr algn="l">
              <a:lnSpc>
                <a:spcPct val="100000"/>
              </a:lnSpc>
            </a:pPr>
            <a:r>
              <a:rPr lang="zh-CN" altLang="en-US" sz="1600" dirty="0">
                <a:latin typeface="FangSong" panose="02010609060101010101" pitchFamily="49" charset="-122"/>
                <a:ea typeface="FangSong" panose="02010609060101010101" pitchFamily="49" charset="-122"/>
              </a:rPr>
              <a:t>用户代码</a:t>
            </a:r>
            <a:endParaRPr lang="zh-CN" altLang="en-US" sz="1600" dirty="0">
              <a:latin typeface="FangSong" panose="02010609060101010101" pitchFamily="49" charset="-122"/>
              <a:ea typeface="FangSong" panose="02010609060101010101" pitchFamily="49" charset="-122"/>
            </a:endParaRPr>
          </a:p>
        </p:txBody>
      </p:sp>
      <p:sp>
        <p:nvSpPr>
          <p:cNvPr id="14" name="Text Box 13"/>
          <p:cNvSpPr txBox="1">
            <a:spLocks noChangeArrowheads="1"/>
          </p:cNvSpPr>
          <p:nvPr/>
        </p:nvSpPr>
        <p:spPr bwMode="auto">
          <a:xfrm>
            <a:off x="5727701" y="3690938"/>
            <a:ext cx="1024639" cy="338554"/>
          </a:xfrm>
          <a:prstGeom prst="rect">
            <a:avLst/>
          </a:prstGeom>
          <a:noFill/>
          <a:ln w="25400">
            <a:noFill/>
            <a:miter lim="800000"/>
          </a:ln>
          <a:effectLst/>
        </p:spPr>
        <p:txBody>
          <a:bodyPr wrap="none">
            <a:spAutoFit/>
          </a:bodyPr>
          <a:lstStyle/>
          <a:p>
            <a:pPr algn="l">
              <a:lnSpc>
                <a:spcPct val="100000"/>
              </a:lnSpc>
            </a:pPr>
            <a:r>
              <a:rPr lang="zh-CN" altLang="en-US" sz="1600" dirty="0">
                <a:latin typeface="FangSong" panose="02010609060101010101" pitchFamily="49" charset="-122"/>
                <a:ea typeface="FangSong" panose="02010609060101010101" pitchFamily="49" charset="-122"/>
              </a:rPr>
              <a:t>内核代码</a:t>
            </a:r>
            <a:endParaRPr lang="zh-CN" altLang="en-US" sz="1600" dirty="0">
              <a:latin typeface="FangSong" panose="02010609060101010101" pitchFamily="49" charset="-122"/>
              <a:ea typeface="FangSong" panose="02010609060101010101" pitchFamily="49" charset="-122"/>
            </a:endParaRPr>
          </a:p>
        </p:txBody>
      </p:sp>
      <p:sp>
        <p:nvSpPr>
          <p:cNvPr id="15" name="Text Box 14"/>
          <p:cNvSpPr txBox="1">
            <a:spLocks noChangeArrowheads="1"/>
          </p:cNvSpPr>
          <p:nvPr/>
        </p:nvSpPr>
        <p:spPr bwMode="auto">
          <a:xfrm>
            <a:off x="5727701" y="4103688"/>
            <a:ext cx="1024639" cy="338554"/>
          </a:xfrm>
          <a:prstGeom prst="rect">
            <a:avLst/>
          </a:prstGeom>
          <a:noFill/>
          <a:ln w="25400">
            <a:noFill/>
            <a:miter lim="800000"/>
          </a:ln>
          <a:effectLst/>
        </p:spPr>
        <p:txBody>
          <a:bodyPr wrap="none">
            <a:spAutoFit/>
          </a:bodyPr>
          <a:lstStyle/>
          <a:p>
            <a:pPr algn="l">
              <a:lnSpc>
                <a:spcPct val="100000"/>
              </a:lnSpc>
            </a:pPr>
            <a:r>
              <a:rPr lang="zh-CN" altLang="en-US" sz="1600" dirty="0">
                <a:latin typeface="FangSong" panose="02010609060101010101" pitchFamily="49" charset="-122"/>
                <a:ea typeface="FangSong" panose="02010609060101010101" pitchFamily="49" charset="-122"/>
                <a:sym typeface="+mn-ea"/>
              </a:rPr>
              <a:t>用户代码</a:t>
            </a:r>
            <a:endParaRPr lang="zh-CN" altLang="en-US" sz="1600" dirty="0">
              <a:latin typeface="FangSong" panose="02010609060101010101" pitchFamily="49" charset="-122"/>
              <a:ea typeface="FangSong" panose="02010609060101010101" pitchFamily="49" charset="-122"/>
              <a:sym typeface="+mn-ea"/>
            </a:endParaRPr>
          </a:p>
        </p:txBody>
      </p:sp>
      <p:sp>
        <p:nvSpPr>
          <p:cNvPr id="16" name="Text Box 15"/>
          <p:cNvSpPr txBox="1">
            <a:spLocks noChangeArrowheads="1"/>
          </p:cNvSpPr>
          <p:nvPr/>
        </p:nvSpPr>
        <p:spPr bwMode="auto">
          <a:xfrm>
            <a:off x="5710239" y="4540250"/>
            <a:ext cx="1024639" cy="338554"/>
          </a:xfrm>
          <a:prstGeom prst="rect">
            <a:avLst/>
          </a:prstGeom>
          <a:noFill/>
          <a:ln w="25400">
            <a:noFill/>
            <a:miter lim="800000"/>
          </a:ln>
          <a:effectLst/>
        </p:spPr>
        <p:txBody>
          <a:bodyPr wrap="none">
            <a:spAutoFit/>
          </a:bodyPr>
          <a:lstStyle/>
          <a:p>
            <a:pPr algn="l">
              <a:lnSpc>
                <a:spcPct val="100000"/>
              </a:lnSpc>
            </a:pPr>
            <a:r>
              <a:rPr lang="zh-CN" altLang="en-US" sz="1600" dirty="0">
                <a:latin typeface="FangSong" panose="02010609060101010101" pitchFamily="49" charset="-122"/>
                <a:ea typeface="FangSong" panose="02010609060101010101" pitchFamily="49" charset="-122"/>
                <a:sym typeface="+mn-ea"/>
              </a:rPr>
              <a:t>内核代码</a:t>
            </a:r>
            <a:endParaRPr lang="zh-CN" altLang="en-US" sz="1600" dirty="0">
              <a:latin typeface="FangSong" panose="02010609060101010101" pitchFamily="49" charset="-122"/>
              <a:ea typeface="FangSong" panose="02010609060101010101" pitchFamily="49" charset="-122"/>
              <a:sym typeface="+mn-ea"/>
            </a:endParaRPr>
          </a:p>
        </p:txBody>
      </p:sp>
      <p:sp>
        <p:nvSpPr>
          <p:cNvPr id="17" name="Text Box 16"/>
          <p:cNvSpPr txBox="1">
            <a:spLocks noChangeArrowheads="1"/>
          </p:cNvSpPr>
          <p:nvPr/>
        </p:nvSpPr>
        <p:spPr bwMode="auto">
          <a:xfrm>
            <a:off x="5727701" y="4997450"/>
            <a:ext cx="1024639" cy="338554"/>
          </a:xfrm>
          <a:prstGeom prst="rect">
            <a:avLst/>
          </a:prstGeom>
          <a:noFill/>
          <a:ln w="25400">
            <a:noFill/>
            <a:miter lim="800000"/>
          </a:ln>
          <a:effectLst/>
        </p:spPr>
        <p:txBody>
          <a:bodyPr wrap="none">
            <a:spAutoFit/>
          </a:bodyPr>
          <a:lstStyle/>
          <a:p>
            <a:pPr algn="l">
              <a:lnSpc>
                <a:spcPct val="100000"/>
              </a:lnSpc>
            </a:pPr>
            <a:r>
              <a:rPr lang="zh-CN" altLang="en-US" sz="1600" dirty="0">
                <a:latin typeface="FangSong" panose="02010609060101010101" pitchFamily="49" charset="-122"/>
                <a:ea typeface="FangSong" panose="02010609060101010101" pitchFamily="49" charset="-122"/>
                <a:sym typeface="+mn-ea"/>
              </a:rPr>
              <a:t>用户代码</a:t>
            </a:r>
            <a:endParaRPr lang="zh-CN" altLang="en-US" sz="1600" dirty="0">
              <a:latin typeface="FangSong" panose="02010609060101010101" pitchFamily="49" charset="-122"/>
              <a:ea typeface="FangSong" panose="02010609060101010101" pitchFamily="49" charset="-122"/>
              <a:sym typeface="+mn-ea"/>
            </a:endParaRPr>
          </a:p>
        </p:txBody>
      </p:sp>
      <p:sp>
        <p:nvSpPr>
          <p:cNvPr id="18" name="AutoShape 27"/>
          <p:cNvSpPr/>
          <p:nvPr/>
        </p:nvSpPr>
        <p:spPr bwMode="auto">
          <a:xfrm>
            <a:off x="7162800" y="3636743"/>
            <a:ext cx="76200" cy="381000"/>
          </a:xfrm>
          <a:prstGeom prst="rightBrace">
            <a:avLst>
              <a:gd name="adj1" fmla="val 41667"/>
              <a:gd name="adj2" fmla="val 50000"/>
            </a:avLst>
          </a:prstGeom>
          <a:noFill/>
          <a:ln w="25400">
            <a:solidFill>
              <a:schemeClr val="tx1"/>
            </a:solidFill>
            <a:round/>
          </a:ln>
          <a:effectLst/>
        </p:spPr>
        <p:txBody>
          <a:bodyPr wrap="none" anchor="ctr"/>
          <a:lstStyle/>
          <a:p>
            <a:pPr>
              <a:lnSpc>
                <a:spcPct val="100000"/>
              </a:lnSpc>
            </a:pPr>
            <a:endParaRPr lang="en-US" sz="1600" dirty="0">
              <a:latin typeface="FangSong" panose="02010609060101010101" pitchFamily="49" charset="-122"/>
              <a:ea typeface="FangSong" panose="02010609060101010101" pitchFamily="49" charset="-122"/>
            </a:endParaRPr>
          </a:p>
        </p:txBody>
      </p:sp>
      <p:sp>
        <p:nvSpPr>
          <p:cNvPr id="19" name="Text Box 28"/>
          <p:cNvSpPr txBox="1">
            <a:spLocks noChangeArrowheads="1"/>
          </p:cNvSpPr>
          <p:nvPr/>
        </p:nvSpPr>
        <p:spPr bwMode="auto">
          <a:xfrm>
            <a:off x="7242175" y="3657966"/>
            <a:ext cx="1234633" cy="338554"/>
          </a:xfrm>
          <a:prstGeom prst="rect">
            <a:avLst/>
          </a:prstGeom>
          <a:noFill/>
          <a:ln w="25400">
            <a:noFill/>
            <a:miter lim="800000"/>
          </a:ln>
          <a:effectLst/>
        </p:spPr>
        <p:txBody>
          <a:bodyPr wrap="none">
            <a:spAutoFit/>
          </a:bodyPr>
          <a:lstStyle/>
          <a:p>
            <a:pPr algn="l">
              <a:lnSpc>
                <a:spcPct val="100000"/>
              </a:lnSpc>
            </a:pPr>
            <a:r>
              <a:rPr lang="zh-CN" altLang="en-US" sz="1600" i="1" dirty="0">
                <a:latin typeface="FangSong" panose="02010609060101010101" pitchFamily="49" charset="-122"/>
                <a:ea typeface="FangSong" panose="02010609060101010101" pitchFamily="49" charset="-122"/>
              </a:rPr>
              <a:t>上下文切换</a:t>
            </a:r>
            <a:endParaRPr lang="zh-CN" altLang="en-US" sz="1600" i="1" dirty="0">
              <a:latin typeface="FangSong" panose="02010609060101010101" pitchFamily="49" charset="-122"/>
              <a:ea typeface="FangSong" panose="02010609060101010101" pitchFamily="49" charset="-122"/>
            </a:endParaRPr>
          </a:p>
        </p:txBody>
      </p:sp>
      <p:sp>
        <p:nvSpPr>
          <p:cNvPr id="20" name="AutoShape 29"/>
          <p:cNvSpPr/>
          <p:nvPr/>
        </p:nvSpPr>
        <p:spPr bwMode="auto">
          <a:xfrm>
            <a:off x="7162800" y="4506237"/>
            <a:ext cx="76200" cy="381000"/>
          </a:xfrm>
          <a:prstGeom prst="rightBrace">
            <a:avLst>
              <a:gd name="adj1" fmla="val 41667"/>
              <a:gd name="adj2" fmla="val 50000"/>
            </a:avLst>
          </a:prstGeom>
          <a:noFill/>
          <a:ln w="25400">
            <a:solidFill>
              <a:schemeClr val="tx1"/>
            </a:solidFill>
            <a:round/>
          </a:ln>
          <a:effectLst/>
        </p:spPr>
        <p:txBody>
          <a:bodyPr wrap="none" anchor="ctr"/>
          <a:lstStyle/>
          <a:p>
            <a:pPr>
              <a:lnSpc>
                <a:spcPct val="100000"/>
              </a:lnSpc>
            </a:pPr>
            <a:endParaRPr lang="en-US" sz="1600" dirty="0">
              <a:latin typeface="FangSong" panose="02010609060101010101" pitchFamily="49" charset="-122"/>
              <a:ea typeface="FangSong" panose="02010609060101010101" pitchFamily="49" charset="-122"/>
            </a:endParaRPr>
          </a:p>
        </p:txBody>
      </p:sp>
      <p:sp>
        <p:nvSpPr>
          <p:cNvPr id="21" name="Text Box 30"/>
          <p:cNvSpPr txBox="1">
            <a:spLocks noChangeArrowheads="1"/>
          </p:cNvSpPr>
          <p:nvPr/>
        </p:nvSpPr>
        <p:spPr bwMode="auto">
          <a:xfrm>
            <a:off x="7242175" y="4527460"/>
            <a:ext cx="1234633" cy="338554"/>
          </a:xfrm>
          <a:prstGeom prst="rect">
            <a:avLst/>
          </a:prstGeom>
          <a:noFill/>
          <a:ln w="25400">
            <a:noFill/>
            <a:miter lim="800000"/>
          </a:ln>
          <a:effectLst/>
        </p:spPr>
        <p:txBody>
          <a:bodyPr wrap="none">
            <a:spAutoFit/>
          </a:bodyPr>
          <a:lstStyle/>
          <a:p>
            <a:pPr algn="l">
              <a:lnSpc>
                <a:spcPct val="100000"/>
              </a:lnSpc>
            </a:pPr>
            <a:r>
              <a:rPr lang="zh-CN" altLang="en-US" sz="1600" i="1" dirty="0">
                <a:latin typeface="FangSong" panose="02010609060101010101" pitchFamily="49" charset="-122"/>
                <a:ea typeface="FangSong" panose="02010609060101010101" pitchFamily="49" charset="-122"/>
                <a:sym typeface="+mn-ea"/>
              </a:rPr>
              <a:t>上下文切换</a:t>
            </a:r>
            <a:endParaRPr lang="zh-CN" altLang="en-US" sz="1600" i="1" dirty="0">
              <a:latin typeface="FangSong" panose="02010609060101010101" pitchFamily="49" charset="-122"/>
              <a:ea typeface="FangSong" panose="02010609060101010101" pitchFamily="49" charset="-122"/>
              <a:sym typeface="+mn-ea"/>
            </a:endParaRPr>
          </a:p>
        </p:txBody>
      </p:sp>
      <p:sp>
        <p:nvSpPr>
          <p:cNvPr id="22" name="Text Box 5"/>
          <p:cNvSpPr txBox="1">
            <a:spLocks noChangeArrowheads="1"/>
          </p:cNvSpPr>
          <p:nvPr/>
        </p:nvSpPr>
        <p:spPr bwMode="auto">
          <a:xfrm>
            <a:off x="838201" y="3962401"/>
            <a:ext cx="853440" cy="460375"/>
          </a:xfrm>
          <a:prstGeom prst="rect">
            <a:avLst/>
          </a:prstGeom>
          <a:noFill/>
          <a:ln w="25400">
            <a:noFill/>
            <a:miter lim="800000"/>
          </a:ln>
          <a:effectLst/>
        </p:spPr>
        <p:txBody>
          <a:bodyPr wrap="none">
            <a:spAutoFit/>
          </a:bodyPr>
          <a:lstStyle/>
          <a:p>
            <a:pPr algn="l">
              <a:lnSpc>
                <a:spcPct val="100000"/>
              </a:lnSpc>
            </a:pPr>
            <a:r>
              <a:rPr lang="en-US" dirty="0">
                <a:latin typeface="Consolas" panose="020B0609020204030204" pitchFamily="49" charset="0"/>
                <a:cs typeface="Consolas" panose="020B0609020204030204" pitchFamily="49" charset="0"/>
              </a:rPr>
              <a:t>Time</a:t>
            </a:r>
            <a:endParaRPr lang="en-US" dirty="0">
              <a:latin typeface="Consolas" panose="020B0609020204030204" pitchFamily="49" charset="0"/>
              <a:cs typeface="Consolas" panose="020B0609020204030204" pitchFamily="49" charset="0"/>
            </a:endParaRPr>
          </a:p>
        </p:txBody>
      </p:sp>
      <p:sp>
        <p:nvSpPr>
          <p:cNvPr id="23" name="Down Arrow 22"/>
          <p:cNvSpPr/>
          <p:nvPr/>
        </p:nvSpPr>
        <p:spPr bwMode="auto">
          <a:xfrm>
            <a:off x="1600200" y="3162300"/>
            <a:ext cx="457200" cy="24003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algn="ctr"/>
            <a:endParaRPr lang="en-US" dirty="0">
              <a:latin typeface="Calibri" panose="020F0502020204030204" pitchFamily="34" charset="0"/>
            </a:endParaRPr>
          </a:p>
        </p:txBody>
      </p:sp>
      <p:sp>
        <p:nvSpPr>
          <p:cNvPr id="24" name="Line 6"/>
          <p:cNvSpPr>
            <a:spLocks noChangeShapeType="1"/>
          </p:cNvSpPr>
          <p:nvPr/>
        </p:nvSpPr>
        <p:spPr bwMode="auto">
          <a:xfrm flipH="1">
            <a:off x="3194050" y="4913376"/>
            <a:ext cx="6350" cy="420624"/>
          </a:xfrm>
          <a:prstGeom prst="line">
            <a:avLst/>
          </a:prstGeom>
          <a:noFill/>
          <a:ln w="25400">
            <a:solidFill>
              <a:schemeClr val="tx1"/>
            </a:solidFill>
            <a:round/>
            <a:tailEnd type="triangle" w="med" len="med"/>
          </a:ln>
          <a:effectLst/>
        </p:spPr>
        <p:txBody>
          <a:bodyPr wrap="none" anchor="ctr"/>
          <a:lstStyle/>
          <a:p>
            <a:endParaRPr lang="en-US" dirty="0">
              <a:latin typeface="Calibri" panose="020F0502020204030204" pitchFamily="34" charset="0"/>
            </a:endParaRPr>
          </a:p>
        </p:txBody>
      </p:sp>
      <p:sp>
        <p:nvSpPr>
          <p:cNvPr id="25" name="Line 6"/>
          <p:cNvSpPr>
            <a:spLocks noChangeShapeType="1"/>
          </p:cNvSpPr>
          <p:nvPr/>
        </p:nvSpPr>
        <p:spPr bwMode="auto">
          <a:xfrm flipH="1">
            <a:off x="4794250" y="4075176"/>
            <a:ext cx="6350" cy="420624"/>
          </a:xfrm>
          <a:prstGeom prst="line">
            <a:avLst/>
          </a:prstGeom>
          <a:noFill/>
          <a:ln w="25400">
            <a:solidFill>
              <a:schemeClr val="tx1"/>
            </a:solidFill>
            <a:round/>
            <a:tailEnd type="triangle" w="med" len="med"/>
          </a:ln>
          <a:effectLst/>
        </p:spPr>
        <p:txBody>
          <a:bodyPr wrap="none" anchor="ctr"/>
          <a:lstStyle/>
          <a:p>
            <a:endParaRPr lang="en-US" dirty="0">
              <a:latin typeface="Calibri" panose="020F0502020204030204" pitchFamily="34" charset="0"/>
            </a:endParaRPr>
          </a:p>
        </p:txBody>
      </p:sp>
      <p:cxnSp>
        <p:nvCxnSpPr>
          <p:cNvPr id="26" name="Straight Arrow Connector 25"/>
          <p:cNvCxnSpPr>
            <a:stCxn id="11" idx="1"/>
            <a:endCxn id="25" idx="0"/>
          </p:cNvCxnSpPr>
          <p:nvPr/>
        </p:nvCxnSpPr>
        <p:spPr bwMode="auto">
          <a:xfrm rot="16200000" flipH="1">
            <a:off x="3781024" y="3055600"/>
            <a:ext cx="438952" cy="1600200"/>
          </a:xfrm>
          <a:prstGeom prst="straightConnector1">
            <a:avLst/>
          </a:prstGeom>
          <a:noFill/>
          <a:ln w="25400">
            <a:solidFill>
              <a:schemeClr val="tx1"/>
            </a:solidFill>
            <a:round/>
            <a:tailEnd type="triangle" w="med" len="med"/>
          </a:ln>
          <a:effectLst/>
        </p:spPr>
      </p:cxnSp>
      <p:cxnSp>
        <p:nvCxnSpPr>
          <p:cNvPr id="27" name="Straight Arrow Connector 26"/>
          <p:cNvCxnSpPr>
            <a:stCxn id="25" idx="1"/>
            <a:endCxn id="24" idx="0"/>
          </p:cNvCxnSpPr>
          <p:nvPr/>
        </p:nvCxnSpPr>
        <p:spPr bwMode="auto">
          <a:xfrm rot="16200000" flipH="1" flipV="1">
            <a:off x="3788537" y="3907663"/>
            <a:ext cx="417576" cy="1593850"/>
          </a:xfrm>
          <a:prstGeom prst="straightConnector1">
            <a:avLst/>
          </a:prstGeom>
          <a:noFill/>
          <a:ln w="25400">
            <a:solidFill>
              <a:schemeClr val="tx1"/>
            </a:solidFill>
            <a:round/>
            <a:tailEnd type="triangle" w="med" len="med"/>
          </a:ln>
          <a:effectLst/>
        </p:spPr>
      </p:cxnSp>
      <p:sp>
        <p:nvSpPr>
          <p:cNvPr id="30" name="Down Arrow 29"/>
          <p:cNvSpPr/>
          <p:nvPr/>
        </p:nvSpPr>
        <p:spPr bwMode="auto">
          <a:xfrm>
            <a:off x="4724400" y="2959100"/>
            <a:ext cx="765810" cy="1182370"/>
          </a:xfrm>
          <a:prstGeom prst="downArrow">
            <a:avLst>
              <a:gd name="adj1" fmla="val 51947"/>
              <a:gd name="adj2" fmla="val 50000"/>
            </a:avLst>
          </a:prstGeom>
          <a:solidFill>
            <a:schemeClr val="bg1"/>
          </a:solidFill>
          <a:ln w="25400" cap="flat" cmpd="sng" algn="ctr">
            <a:solidFill>
              <a:schemeClr val="tx1"/>
            </a:solidFill>
            <a:prstDash val="solid"/>
            <a:round/>
            <a:headEnd type="none" w="med" len="med"/>
            <a:tailEnd type="arrow" w="med" len="med"/>
          </a:ln>
          <a:effectLst/>
          <a:scene3d>
            <a:camera prst="orthographicFront">
              <a:rot lat="0" lon="0" rev="19799999"/>
            </a:camera>
            <a:lightRig rig="threePt" dir="t"/>
          </a:scene3d>
        </p:spPr>
        <p:txBody>
          <a:bodyPr rtlCol="0" anchor="ctr"/>
          <a:lstStyle/>
          <a:p>
            <a:pPr algn="ctr"/>
            <a:endParaRPr lang="en-US"/>
          </a:p>
        </p:txBody>
      </p:sp>
      <p:pic>
        <p:nvPicPr>
          <p:cNvPr id="2" name="Picture 1" descr="deepseek_mermaid_20260510_6f4fb1"/>
          <p:cNvPicPr>
            <a:picLocks noChangeAspect="1"/>
          </p:cNvPicPr>
          <p:nvPr/>
        </p:nvPicPr>
        <p:blipFill>
          <a:blip r:embed="rId1"/>
          <a:stretch>
            <a:fillRect/>
          </a:stretch>
        </p:blipFill>
        <p:spPr>
          <a:xfrm>
            <a:off x="9051290" y="116840"/>
            <a:ext cx="3098165" cy="6508115"/>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r>
              <a:rPr lang="zh-CN" altLang="en-US" dirty="0"/>
              <a:t>接收信号</a:t>
            </a:r>
            <a:endParaRPr lang="zh-CN" altLang="en-US" dirty="0"/>
          </a:p>
        </p:txBody>
      </p:sp>
      <p:sp>
        <p:nvSpPr>
          <p:cNvPr id="558083" name="Rectangle 3"/>
          <p:cNvSpPr>
            <a:spLocks noGrp="1" noChangeArrowheads="1"/>
          </p:cNvSpPr>
          <p:nvPr>
            <p:ph idx="1"/>
          </p:nvPr>
        </p:nvSpPr>
        <p:spPr/>
        <p:txBody>
          <a:bodyPr/>
          <a:lstStyle/>
          <a:p>
            <a:r>
              <a:rPr lang="zh-CN" altLang="en-US" dirty="0">
                <a:sym typeface="+mn-ea"/>
              </a:rPr>
              <a:t>假设内核从异常处理程序返回，并准备将控制权交给进程</a:t>
            </a:r>
            <a:r>
              <a:rPr lang="en-US" dirty="0">
                <a:latin typeface="Consolas" panose="020B0609020204030204" pitchFamily="49" charset="0"/>
                <a:cs typeface="Consolas" panose="020B0609020204030204" pitchFamily="49" charset="0"/>
                <a:sym typeface="+mn-ea"/>
              </a:rPr>
              <a:t> </a:t>
            </a:r>
            <a:r>
              <a:rPr lang="en-US" i="1" dirty="0" err="1">
                <a:latin typeface="Consolas" panose="020B0609020204030204" pitchFamily="49" charset="0"/>
                <a:cs typeface="Consolas" panose="020B0609020204030204" pitchFamily="49" charset="0"/>
                <a:sym typeface="+mn-ea"/>
              </a:rPr>
              <a:t>p</a:t>
            </a:r>
            <a:endParaRPr lang="en-US" dirty="0"/>
          </a:p>
          <a:p>
            <a:r>
              <a:rPr lang="zh-CN" altLang="en-US" dirty="0"/>
              <a:t>内核计算</a:t>
            </a:r>
            <a:r>
              <a:rPr lang="en-US" dirty="0">
                <a:latin typeface="Courier New" panose="02070609020205020404" charset="0"/>
              </a:rPr>
              <a:t> </a:t>
            </a:r>
            <a:r>
              <a:rPr lang="en-US" dirty="0" err="1">
                <a:latin typeface="Courier New" panose="02070609020205020404" charset="0"/>
              </a:rPr>
              <a:t>pnb</a:t>
            </a:r>
            <a:r>
              <a:rPr lang="en-US" dirty="0">
                <a:latin typeface="Courier New" panose="02070609020205020404" charset="0"/>
              </a:rPr>
              <a:t> = pending &amp; ~blocked</a:t>
            </a:r>
            <a:endParaRPr lang="en-US" dirty="0">
              <a:latin typeface="Courier New" panose="02070609020205020404" charset="0"/>
            </a:endParaRPr>
          </a:p>
          <a:p>
            <a:pPr lvl="1"/>
            <a:r>
              <a:rPr lang="zh-CN" altLang="en-US" dirty="0"/>
              <a:t>进程</a:t>
            </a:r>
            <a:r>
              <a:rPr lang="en-US" altLang="zh-CN" dirty="0">
                <a:latin typeface="Consolas" panose="020B0609020204030204" pitchFamily="49" charset="0"/>
                <a:cs typeface="Consolas" panose="020B0609020204030204" pitchFamily="49" charset="0"/>
              </a:rPr>
              <a:t> </a:t>
            </a:r>
            <a:r>
              <a:rPr lang="en-US" i="1" dirty="0">
                <a:latin typeface="Consolas" panose="020B0609020204030204" pitchFamily="49" charset="0"/>
                <a:cs typeface="Consolas" panose="020B0609020204030204" pitchFamily="49" charset="0"/>
              </a:rPr>
              <a:t>p</a:t>
            </a:r>
            <a:r>
              <a:rPr lang="en-US" dirty="0">
                <a:latin typeface="Consolas" panose="020B0609020204030204" pitchFamily="49" charset="0"/>
                <a:cs typeface="Consolas" panose="020B0609020204030204" pitchFamily="49" charset="0"/>
              </a:rPr>
              <a:t> </a:t>
            </a:r>
            <a:r>
              <a:rPr lang="zh-CN" altLang="en-US" dirty="0">
                <a:cs typeface="+mn-ea"/>
              </a:rPr>
              <a:t>的</a:t>
            </a:r>
            <a:r>
              <a:rPr lang="zh-CN" altLang="en-US" b="1" dirty="0">
                <a:solidFill>
                  <a:srgbClr val="FF0000"/>
                </a:solidFill>
                <a:cs typeface="+mn-ea"/>
                <a:sym typeface="+mn-ea"/>
              </a:rPr>
              <a:t>未被阻塞</a:t>
            </a:r>
            <a:r>
              <a:rPr lang="zh-CN" altLang="en-US" dirty="0">
                <a:cs typeface="+mn-ea"/>
                <a:sym typeface="+mn-ea"/>
              </a:rPr>
              <a:t>的</a:t>
            </a:r>
            <a:r>
              <a:rPr lang="en-US" altLang="zh-CN" dirty="0">
                <a:cs typeface="+mn-ea"/>
                <a:sym typeface="+mn-ea"/>
              </a:rPr>
              <a:t>、</a:t>
            </a:r>
            <a:r>
              <a:rPr lang="zh-CN" altLang="en-US" b="1" dirty="0">
                <a:solidFill>
                  <a:srgbClr val="FF0000"/>
                </a:solidFill>
                <a:cs typeface="+mn-ea"/>
              </a:rPr>
              <a:t>待处理信号</a:t>
            </a:r>
            <a:r>
              <a:rPr lang="zh-CN" altLang="en-US" dirty="0">
                <a:cs typeface="+mn-ea"/>
              </a:rPr>
              <a:t>集合</a:t>
            </a:r>
            <a:endParaRPr lang="zh-CN" altLang="en-US" sz="1800" dirty="0"/>
          </a:p>
          <a:p>
            <a:r>
              <a:rPr lang="en-US" dirty="0">
                <a:latin typeface="Consolas" panose="020B0609020204030204" pitchFamily="49" charset="0"/>
                <a:cs typeface="Consolas" panose="020B0609020204030204" pitchFamily="49" charset="0"/>
              </a:rPr>
              <a:t>If (</a:t>
            </a:r>
            <a:r>
              <a:rPr lang="en-US" dirty="0" err="1">
                <a:latin typeface="Courier New" panose="02070609020205020404" charset="0"/>
              </a:rPr>
              <a:t>pnb</a:t>
            </a:r>
            <a:r>
              <a:rPr lang="en-US" dirty="0">
                <a:latin typeface="Courier New" panose="02070609020205020404" charset="0"/>
              </a:rPr>
              <a:t> == 0</a:t>
            </a:r>
            <a:r>
              <a:rPr lang="en-US" dirty="0">
                <a:latin typeface="Consolas" panose="020B0609020204030204" pitchFamily="49" charset="0"/>
                <a:cs typeface="Consolas" panose="020B0609020204030204" pitchFamily="49" charset="0"/>
              </a:rPr>
              <a:t>) </a:t>
            </a:r>
            <a:endParaRPr lang="en-US" dirty="0"/>
          </a:p>
          <a:p>
            <a:pPr lvl="1"/>
            <a:r>
              <a:rPr lang="zh-CN" altLang="en-US" dirty="0"/>
              <a:t>将控制权传递给</a:t>
            </a:r>
            <a:r>
              <a:rPr lang="en-US" dirty="0">
                <a:latin typeface="Consolas" panose="020B0609020204030204" pitchFamily="49" charset="0"/>
                <a:cs typeface="Consolas" panose="020B0609020204030204" pitchFamily="49" charset="0"/>
              </a:rPr>
              <a:t> </a:t>
            </a:r>
            <a:r>
              <a:rPr lang="en-US" i="1" dirty="0">
                <a:latin typeface="Consolas" panose="020B0609020204030204" pitchFamily="49" charset="0"/>
                <a:cs typeface="Consolas" panose="020B0609020204030204" pitchFamily="49" charset="0"/>
              </a:rPr>
              <a:t>p </a:t>
            </a:r>
            <a:r>
              <a:rPr lang="zh-CN" altLang="en-US" dirty="0"/>
              <a:t>的逻辑控制流的下一条指令</a:t>
            </a:r>
            <a:r>
              <a:rPr lang="en-US" altLang="zh-CN" dirty="0"/>
              <a:t> （</a:t>
            </a:r>
            <a:r>
              <a:rPr lang="zh-CN" altLang="en-US" dirty="0"/>
              <a:t>返回点</a:t>
            </a:r>
            <a:r>
              <a:rPr lang="en-US" altLang="zh-CN" dirty="0"/>
              <a:t>）</a:t>
            </a:r>
            <a:endParaRPr lang="en-US" dirty="0"/>
          </a:p>
          <a:p>
            <a:r>
              <a:rPr lang="en-US" dirty="0">
                <a:latin typeface="Consolas" panose="020B0609020204030204" pitchFamily="49" charset="0"/>
                <a:cs typeface="Consolas" panose="020B0609020204030204" pitchFamily="49" charset="0"/>
              </a:rPr>
              <a:t>Else</a:t>
            </a:r>
            <a:endParaRPr lang="en-US" dirty="0">
              <a:latin typeface="Consolas" panose="020B0609020204030204" pitchFamily="49" charset="0"/>
              <a:cs typeface="Consolas" panose="020B0609020204030204" pitchFamily="49" charset="0"/>
            </a:endParaRPr>
          </a:p>
          <a:p>
            <a:pPr lvl="1"/>
            <a:r>
              <a:rPr lang="zh-CN" altLang="en-US" dirty="0">
                <a:sym typeface="+mn-ea"/>
              </a:rPr>
              <a:t>在</a:t>
            </a:r>
            <a:r>
              <a:rPr lang="en-US" dirty="0">
                <a:latin typeface="Courier New" panose="02070609020205020404" charset="0"/>
                <a:cs typeface="Courier New" panose="02070609020205020404" charset="0"/>
              </a:rPr>
              <a:t> </a:t>
            </a:r>
            <a:r>
              <a:rPr lang="en-US" b="1" dirty="0" err="1">
                <a:latin typeface="Courier New" panose="02070609020205020404" charset="0"/>
                <a:cs typeface="Courier New" panose="02070609020205020404" charset="0"/>
              </a:rPr>
              <a:t>pnb</a:t>
            </a:r>
            <a:r>
              <a:rPr lang="en-US" dirty="0">
                <a:latin typeface="Courier New" panose="02070609020205020404" charset="0"/>
                <a:cs typeface="Courier New" panose="02070609020205020404" charset="0"/>
              </a:rPr>
              <a:t> </a:t>
            </a:r>
            <a:r>
              <a:rPr lang="zh-CN" altLang="en-US" dirty="0">
                <a:sym typeface="+mn-ea"/>
              </a:rPr>
              <a:t>中选择</a:t>
            </a:r>
            <a:r>
              <a:rPr lang="zh-CN" altLang="en-US" b="1" dirty="0">
                <a:solidFill>
                  <a:srgbClr val="FF0000"/>
                </a:solidFill>
                <a:sym typeface="+mn-ea"/>
              </a:rPr>
              <a:t>最小的</a:t>
            </a:r>
            <a:r>
              <a:rPr lang="en-US" altLang="zh-CN" b="1" dirty="0">
                <a:solidFill>
                  <a:srgbClr val="FF0000"/>
                </a:solidFill>
                <a:sym typeface="+mn-ea"/>
              </a:rPr>
              <a:t>、</a:t>
            </a:r>
            <a:r>
              <a:rPr lang="zh-CN" altLang="en-US" b="1" dirty="0">
                <a:solidFill>
                  <a:srgbClr val="FF0000"/>
                </a:solidFill>
                <a:sym typeface="+mn-ea"/>
              </a:rPr>
              <a:t>非零位</a:t>
            </a:r>
            <a:r>
              <a:rPr lang="en-US" i="1" dirty="0">
                <a:latin typeface="Consolas" panose="020B0609020204030204" pitchFamily="49" charset="0"/>
                <a:cs typeface="Consolas" panose="020B0609020204030204" pitchFamily="49" charset="0"/>
                <a:sym typeface="+mn-ea"/>
              </a:rPr>
              <a:t> k </a:t>
            </a:r>
            <a:r>
              <a:rPr lang="zh-CN" altLang="en-US" dirty="0">
                <a:sym typeface="+mn-ea"/>
              </a:rPr>
              <a:t>并强制进程</a:t>
            </a:r>
            <a:r>
              <a:rPr lang="en-US" altLang="zh-CN" i="1" dirty="0">
                <a:latin typeface="Consolas" panose="020B0609020204030204" pitchFamily="49" charset="0"/>
                <a:cs typeface="Consolas" panose="020B0609020204030204" pitchFamily="49" charset="0"/>
                <a:sym typeface="+mn-ea"/>
              </a:rPr>
              <a:t> p </a:t>
            </a:r>
            <a:r>
              <a:rPr lang="en-US" b="1" i="1" dirty="0">
                <a:solidFill>
                  <a:srgbClr val="C00000"/>
                </a:solidFill>
                <a:latin typeface="仿宋" panose="02010609060101010101" pitchFamily="49" charset="-122"/>
                <a:cs typeface="+mn-ea"/>
                <a:sym typeface="+mn-ea"/>
              </a:rPr>
              <a:t>接收</a:t>
            </a:r>
            <a:r>
              <a:rPr lang="zh-CN" altLang="en-US" dirty="0">
                <a:sym typeface="+mn-ea"/>
              </a:rPr>
              <a:t>信号</a:t>
            </a:r>
            <a:r>
              <a:rPr lang="en-US" altLang="zh-CN" i="1" dirty="0">
                <a:latin typeface="Consolas" panose="020B0609020204030204" pitchFamily="49" charset="0"/>
                <a:cs typeface="Consolas" panose="020B0609020204030204" pitchFamily="49" charset="0"/>
                <a:sym typeface="+mn-ea"/>
              </a:rPr>
              <a:t> k</a:t>
            </a:r>
            <a:endParaRPr lang="en-US" altLang="zh-CN" i="1" dirty="0">
              <a:latin typeface="Consolas" panose="020B0609020204030204" pitchFamily="49" charset="0"/>
              <a:cs typeface="Consolas" panose="020B0609020204030204" pitchFamily="49" charset="0"/>
            </a:endParaRPr>
          </a:p>
          <a:p>
            <a:pPr lvl="1"/>
            <a:r>
              <a:rPr lang="zh-CN" altLang="en-US" dirty="0"/>
              <a:t>接收信号会触发进程</a:t>
            </a:r>
            <a:r>
              <a:rPr lang="en-US" altLang="zh-CN" i="1" dirty="0">
                <a:latin typeface="Consolas" panose="020B0609020204030204" pitchFamily="49" charset="0"/>
                <a:cs typeface="Consolas" panose="020B0609020204030204" pitchFamily="49" charset="0"/>
              </a:rPr>
              <a:t> p </a:t>
            </a:r>
            <a:r>
              <a:rPr lang="zh-CN" altLang="en-US" dirty="0"/>
              <a:t>的某些</a:t>
            </a:r>
            <a:r>
              <a:rPr lang="en-US" b="1" i="1" dirty="0">
                <a:solidFill>
                  <a:srgbClr val="C00000"/>
                </a:solidFill>
                <a:latin typeface="仿宋" panose="02010609060101010101" pitchFamily="49" charset="-122"/>
                <a:cs typeface="+mn-ea"/>
              </a:rPr>
              <a:t>行为 </a:t>
            </a:r>
            <a:r>
              <a:rPr lang="en-US" b="1" dirty="0">
                <a:solidFill>
                  <a:srgbClr val="C00000"/>
                </a:solidFill>
                <a:latin typeface="仿宋" panose="02010609060101010101" pitchFamily="49" charset="-122"/>
                <a:cs typeface="+mn-ea"/>
              </a:rPr>
              <a:t>（</a:t>
            </a:r>
            <a:r>
              <a:rPr lang="zh-CN" altLang="en-US" b="1" dirty="0">
                <a:solidFill>
                  <a:srgbClr val="C00000"/>
                </a:solidFill>
                <a:latin typeface="仿宋" panose="02010609060101010101" pitchFamily="49" charset="-122"/>
                <a:cs typeface="+mn-ea"/>
              </a:rPr>
              <a:t>忽略</a:t>
            </a:r>
            <a:r>
              <a:rPr lang="en-US" altLang="zh-CN" b="1" dirty="0">
                <a:solidFill>
                  <a:srgbClr val="C00000"/>
                </a:solidFill>
                <a:latin typeface="仿宋" panose="02010609060101010101" pitchFamily="49" charset="-122"/>
                <a:cs typeface="+mn-ea"/>
              </a:rPr>
              <a:t>、</a:t>
            </a:r>
            <a:r>
              <a:rPr lang="zh-CN" altLang="en-US" b="1" dirty="0">
                <a:solidFill>
                  <a:srgbClr val="C00000"/>
                </a:solidFill>
                <a:latin typeface="仿宋" panose="02010609060101010101" pitchFamily="49" charset="-122"/>
                <a:cs typeface="+mn-ea"/>
              </a:rPr>
              <a:t>终止</a:t>
            </a:r>
            <a:r>
              <a:rPr lang="en-US" altLang="zh-CN" b="1" dirty="0">
                <a:solidFill>
                  <a:srgbClr val="C00000"/>
                </a:solidFill>
                <a:latin typeface="仿宋" panose="02010609060101010101" pitchFamily="49" charset="-122"/>
                <a:cs typeface="+mn-ea"/>
              </a:rPr>
              <a:t>、</a:t>
            </a:r>
            <a:r>
              <a:rPr lang="zh-CN" altLang="en-US" b="1" dirty="0">
                <a:solidFill>
                  <a:srgbClr val="C00000"/>
                </a:solidFill>
                <a:latin typeface="仿宋" panose="02010609060101010101" pitchFamily="49" charset="-122"/>
                <a:cs typeface="+mn-ea"/>
              </a:rPr>
              <a:t>捕获</a:t>
            </a:r>
            <a:r>
              <a:rPr lang="en-US" altLang="zh-CN" b="1" dirty="0">
                <a:solidFill>
                  <a:srgbClr val="C00000"/>
                </a:solidFill>
                <a:latin typeface="仿宋" panose="02010609060101010101" pitchFamily="49" charset="-122"/>
                <a:cs typeface="+mn-ea"/>
              </a:rPr>
              <a:t>）</a:t>
            </a:r>
            <a:endParaRPr lang="en-US" b="1" i="1" dirty="0">
              <a:solidFill>
                <a:srgbClr val="C00000"/>
              </a:solidFill>
              <a:latin typeface="仿宋" panose="02010609060101010101" pitchFamily="49" charset="-122"/>
              <a:cs typeface="+mn-ea"/>
            </a:endParaRPr>
          </a:p>
          <a:p>
            <a:pPr lvl="1"/>
            <a:r>
              <a:rPr lang="zh-CN" altLang="en-US" dirty="0">
                <a:cs typeface="+mn-ea"/>
              </a:rPr>
              <a:t>对所有</a:t>
            </a:r>
            <a:r>
              <a:rPr lang="zh-CN" altLang="en-US" b="1" dirty="0">
                <a:latin typeface="Courier New" panose="02070609020205020404" charset="0"/>
                <a:cs typeface="Courier New" panose="02070609020205020404" charset="0"/>
                <a:sym typeface="+mn-ea"/>
              </a:rPr>
              <a:t> pnb </a:t>
            </a:r>
            <a:r>
              <a:rPr lang="zh-CN" altLang="en-US" dirty="0">
                <a:cs typeface="+mn-ea"/>
                <a:sym typeface="+mn-ea"/>
              </a:rPr>
              <a:t>中的</a:t>
            </a:r>
            <a:r>
              <a:rPr lang="zh-CN" altLang="en-US" dirty="0">
                <a:cs typeface="+mn-ea"/>
              </a:rPr>
              <a:t>非零位</a:t>
            </a:r>
            <a:r>
              <a:rPr lang="zh-CN" altLang="en-US" i="1" dirty="0">
                <a:latin typeface="Consolas" panose="020B0609020204030204" pitchFamily="49" charset="0"/>
                <a:cs typeface="Consolas" panose="020B0609020204030204" pitchFamily="49" charset="0"/>
              </a:rPr>
              <a:t> k </a:t>
            </a:r>
            <a:r>
              <a:rPr lang="zh-CN" altLang="en-US" dirty="0">
                <a:cs typeface="+mn-ea"/>
              </a:rPr>
              <a:t>重复上述过程</a:t>
            </a:r>
            <a:endParaRPr lang="zh-CN" altLang="en-US" dirty="0">
              <a:cs typeface="+mn-ea"/>
            </a:endParaRPr>
          </a:p>
          <a:p>
            <a:pPr lvl="1"/>
            <a:r>
              <a:rPr lang="zh-CN" altLang="en-US" dirty="0">
                <a:sym typeface="+mn-ea"/>
              </a:rPr>
              <a:t>将控制权传递给</a:t>
            </a:r>
            <a:r>
              <a:rPr lang="en-US" dirty="0">
                <a:latin typeface="Consolas" panose="020B0609020204030204" pitchFamily="49" charset="0"/>
                <a:cs typeface="Consolas" panose="020B0609020204030204" pitchFamily="49" charset="0"/>
                <a:sym typeface="+mn-ea"/>
              </a:rPr>
              <a:t> </a:t>
            </a:r>
            <a:r>
              <a:rPr lang="en-US" i="1" dirty="0">
                <a:latin typeface="Consolas" panose="020B0609020204030204" pitchFamily="49" charset="0"/>
                <a:cs typeface="Consolas" panose="020B0609020204030204" pitchFamily="49" charset="0"/>
                <a:sym typeface="+mn-ea"/>
              </a:rPr>
              <a:t>p </a:t>
            </a:r>
            <a:r>
              <a:rPr lang="zh-CN" altLang="en-US" dirty="0">
                <a:sym typeface="+mn-ea"/>
              </a:rPr>
              <a:t>的逻辑控制流的下一条指令</a:t>
            </a:r>
            <a:endParaRPr lang="en-US" dirty="0">
              <a:latin typeface="Courier New" panose="0207060902020502040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808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808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5808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808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5808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808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80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r>
              <a:rPr lang="zh-CN" altLang="en-US"/>
              <a:t>默认行为</a:t>
            </a:r>
            <a:endParaRPr lang="zh-CN" altLang="en-US"/>
          </a:p>
        </p:txBody>
      </p:sp>
      <p:sp>
        <p:nvSpPr>
          <p:cNvPr id="559107" name="Rectangle 3"/>
          <p:cNvSpPr>
            <a:spLocks noGrp="1" noChangeArrowheads="1"/>
          </p:cNvSpPr>
          <p:nvPr>
            <p:ph idx="1"/>
          </p:nvPr>
        </p:nvSpPr>
        <p:spPr/>
        <p:txBody>
          <a:bodyPr/>
          <a:lstStyle/>
          <a:p>
            <a:r>
              <a:rPr lang="zh-CN" altLang="en-US" sz="2800" dirty="0"/>
              <a:t>每个信号类型都有一个预定义的</a:t>
            </a:r>
            <a:r>
              <a:rPr lang="en-US" sz="2800" i="1" dirty="0">
                <a:solidFill>
                  <a:srgbClr val="C00000"/>
                </a:solidFill>
              </a:rPr>
              <a:t>默认行为</a:t>
            </a:r>
            <a:r>
              <a:rPr lang="zh-CN" altLang="en-US" sz="2800" dirty="0"/>
              <a:t>，是下面中的一种：</a:t>
            </a:r>
            <a:endParaRPr lang="en-US" altLang="zh-CN" sz="2000" dirty="0"/>
          </a:p>
          <a:p>
            <a:pPr lvl="1"/>
            <a:r>
              <a:rPr lang="zh-CN" altLang="en-US" sz="2400" dirty="0">
                <a:cs typeface="+mn-ea"/>
                <a:sym typeface="+mn-ea"/>
              </a:rPr>
              <a:t>进程忽略该信号</a:t>
            </a:r>
            <a:endParaRPr lang="zh-CN" altLang="en-US" sz="2400" dirty="0">
              <a:cs typeface="+mn-ea"/>
              <a:sym typeface="+mn-ea"/>
            </a:endParaRPr>
          </a:p>
          <a:p>
            <a:pPr lvl="1"/>
            <a:r>
              <a:rPr lang="zh-CN" altLang="en-US" sz="2400" dirty="0">
                <a:sym typeface="+mn-ea"/>
              </a:rPr>
              <a:t>进程终止</a:t>
            </a:r>
            <a:endParaRPr lang="zh-CN" altLang="en-US" sz="2400" dirty="0">
              <a:sym typeface="+mn-ea"/>
            </a:endParaRPr>
          </a:p>
          <a:p>
            <a:pPr lvl="2"/>
            <a:r>
              <a:rPr lang="zh-CN" altLang="en-US" sz="2400" dirty="0">
                <a:sym typeface="+mn-ea"/>
              </a:rPr>
              <a:t>比如</a:t>
            </a:r>
            <a:r>
              <a:rPr lang="en-US" altLang="zh-CN" sz="2400" dirty="0">
                <a:sym typeface="+mn-ea"/>
              </a:rPr>
              <a:t>，</a:t>
            </a:r>
            <a:r>
              <a:rPr lang="en-US" sz="2400" dirty="0">
                <a:latin typeface="Consolas" panose="020B0609020204030204" pitchFamily="49" charset="0"/>
                <a:cs typeface="Consolas" panose="020B0609020204030204" pitchFamily="49" charset="0"/>
                <a:sym typeface="+mn-ea"/>
              </a:rPr>
              <a:t>SIGTINT（ctrl+c)</a:t>
            </a:r>
            <a:r>
              <a:rPr lang="zh-CN" altLang="en-US" sz="2400" dirty="0">
                <a:latin typeface="Consolas" panose="020B0609020204030204" pitchFamily="49" charset="0"/>
                <a:cs typeface="Consolas" panose="020B0609020204030204" pitchFamily="49" charset="0"/>
                <a:sym typeface="+mn-ea"/>
              </a:rPr>
              <a:t>的默认行为</a:t>
            </a:r>
            <a:endParaRPr lang="en-US" sz="2400" dirty="0"/>
          </a:p>
          <a:p>
            <a:pPr lvl="1"/>
            <a:r>
              <a:rPr lang="zh-CN" altLang="en-US" sz="2400" dirty="0">
                <a:cs typeface="+mn-ea"/>
                <a:sym typeface="+mn-ea"/>
              </a:rPr>
              <a:t>进程</a:t>
            </a:r>
            <a:r>
              <a:rPr lang="zh-CN" altLang="en-US" sz="2400" dirty="0">
                <a:cs typeface="+mn-ea"/>
                <a:sym typeface="+mn-ea"/>
              </a:rPr>
              <a:t>暂停（挂起）直到被</a:t>
            </a:r>
            <a:r>
              <a:rPr lang="zh-CN" altLang="en-US" sz="2400" dirty="0">
                <a:latin typeface="Consolas" panose="020B0609020204030204" pitchFamily="49" charset="0"/>
                <a:cs typeface="Consolas" panose="020B0609020204030204" pitchFamily="49" charset="0"/>
                <a:sym typeface="+mn-ea"/>
              </a:rPr>
              <a:t> SIGCONT </a:t>
            </a:r>
            <a:r>
              <a:rPr lang="zh-CN" altLang="en-US" sz="2400" dirty="0">
                <a:cs typeface="+mn-ea"/>
                <a:sym typeface="+mn-ea"/>
              </a:rPr>
              <a:t>信号重启</a:t>
            </a:r>
            <a:endParaRPr lang="zh-CN" altLang="en-US" sz="2400" dirty="0">
              <a:cs typeface="+mn-ea"/>
              <a:sym typeface="+mn-ea"/>
            </a:endParaRPr>
          </a:p>
          <a:p>
            <a:pPr lvl="2"/>
            <a:r>
              <a:rPr lang="zh-CN" altLang="en-US" sz="2400" dirty="0">
                <a:cs typeface="+mn-ea"/>
                <a:sym typeface="+mn-ea"/>
              </a:rPr>
              <a:t>比如</a:t>
            </a:r>
            <a:r>
              <a:rPr lang="en-US" altLang="zh-CN" sz="2400" dirty="0">
                <a:cs typeface="+mn-ea"/>
                <a:sym typeface="+mn-ea"/>
              </a:rPr>
              <a:t>，</a:t>
            </a:r>
            <a:r>
              <a:rPr lang="en-US" sz="2400" dirty="0">
                <a:latin typeface="Consolas" panose="020B0609020204030204" pitchFamily="49" charset="0"/>
                <a:cs typeface="Consolas" panose="020B0609020204030204" pitchFamily="49" charset="0"/>
                <a:sym typeface="+mn-ea"/>
              </a:rPr>
              <a:t>SIGTSTP (ctrl+z)</a:t>
            </a:r>
            <a:r>
              <a:rPr lang="zh-CN" altLang="en-US" sz="2400" dirty="0">
                <a:latin typeface="Consolas" panose="020B0609020204030204" pitchFamily="49" charset="0"/>
                <a:cs typeface="Consolas" panose="020B0609020204030204" pitchFamily="49" charset="0"/>
                <a:sym typeface="+mn-ea"/>
              </a:rPr>
              <a:t>的默认行为是挂起</a:t>
            </a:r>
            <a:r>
              <a:rPr lang="en-US" altLang="zh-CN" sz="2400" dirty="0">
                <a:latin typeface="Consolas" panose="020B0609020204030204" pitchFamily="49" charset="0"/>
                <a:cs typeface="Consolas" panose="020B0609020204030204" pitchFamily="49" charset="0"/>
                <a:sym typeface="+mn-ea"/>
              </a:rPr>
              <a:t>，</a:t>
            </a:r>
            <a:r>
              <a:rPr lang="zh-CN" altLang="en-US" sz="2400" dirty="0">
                <a:latin typeface="Consolas" panose="020B0609020204030204" pitchFamily="49" charset="0"/>
                <a:cs typeface="Consolas" panose="020B0609020204030204" pitchFamily="49" charset="0"/>
                <a:sym typeface="+mn-ea"/>
              </a:rPr>
              <a:t>可以用</a:t>
            </a:r>
            <a:r>
              <a:rPr lang="en-US" altLang="zh-CN"/>
              <a:t>kill -SIGCONT &lt;PID&gt; </a:t>
            </a:r>
            <a:r>
              <a:rPr lang="zh-CN" altLang="en-US"/>
              <a:t>恢复运行</a:t>
            </a:r>
            <a:endParaRPr lang="en-US" altLang="zh-CN"/>
          </a:p>
          <a:p>
            <a:pPr lvl="1"/>
            <a:endParaRPr lang="zh-CN" altLang="en-US" sz="2400"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1026"/>
          <p:cNvSpPr>
            <a:spLocks noGrp="1" noChangeArrowheads="1"/>
          </p:cNvSpPr>
          <p:nvPr>
            <p:ph type="title"/>
          </p:nvPr>
        </p:nvSpPr>
        <p:spPr>
          <a:xfrm>
            <a:off x="476025" y="283278"/>
            <a:ext cx="10122791" cy="762000"/>
          </a:xfrm>
        </p:spPr>
        <p:txBody>
          <a:bodyPr/>
          <a:lstStyle/>
          <a:p>
            <a:r>
              <a:rPr lang="zh-CN" altLang="en-US"/>
              <a:t>设置信号处理程序</a:t>
            </a:r>
            <a:endParaRPr lang="zh-CN" altLang="en-US"/>
          </a:p>
        </p:txBody>
      </p:sp>
      <p:sp>
        <p:nvSpPr>
          <p:cNvPr id="560131" name="Rectangle 1027"/>
          <p:cNvSpPr>
            <a:spLocks noGrp="1" noChangeArrowheads="1"/>
          </p:cNvSpPr>
          <p:nvPr>
            <p:ph idx="1"/>
          </p:nvPr>
        </p:nvSpPr>
        <p:spPr>
          <a:xfrm>
            <a:off x="529167" y="1133475"/>
            <a:ext cx="10528300" cy="4972050"/>
          </a:xfrm>
        </p:spPr>
        <p:txBody>
          <a:bodyPr/>
          <a:lstStyle/>
          <a:p>
            <a:r>
              <a:rPr lang="en-US" dirty="0">
                <a:latin typeface="Courier New" panose="02070609020205020404" charset="0"/>
                <a:cs typeface="Courier New" panose="02070609020205020404" charset="0"/>
              </a:rPr>
              <a:t> signal </a:t>
            </a:r>
            <a:r>
              <a:rPr lang="zh-CN" altLang="en-US" sz="2000" dirty="0"/>
              <a:t>函数用于修改与接收信号</a:t>
            </a:r>
            <a:r>
              <a:rPr lang="en-US" altLang="zh-CN" sz="2000" dirty="0">
                <a:latin typeface="Courier New" panose="02070609020205020404" charset="0"/>
                <a:cs typeface="Courier New" panose="02070609020205020404" charset="0"/>
              </a:rPr>
              <a:t> </a:t>
            </a:r>
            <a:r>
              <a:rPr lang="en-US" dirty="0">
                <a:latin typeface="Courier New" panose="02070609020205020404" charset="0"/>
                <a:cs typeface="Courier New" panose="02070609020205020404" charset="0"/>
              </a:rPr>
              <a:t>signum </a:t>
            </a:r>
            <a:r>
              <a:rPr lang="zh-CN" altLang="en-US" sz="2000" dirty="0"/>
              <a:t>相关联的默认行为</a:t>
            </a:r>
            <a:endParaRPr lang="zh-CN" altLang="en-US" sz="2000" dirty="0"/>
          </a:p>
          <a:p>
            <a:pPr lvl="1"/>
            <a:r>
              <a:rPr lang="en-US" b="1" dirty="0" err="1">
                <a:latin typeface="Courier New" panose="02070609020205020404" charset="0"/>
              </a:rPr>
              <a:t>handler_t</a:t>
            </a:r>
            <a:r>
              <a:rPr lang="en-US" b="1" dirty="0">
                <a:latin typeface="Courier New" panose="02070609020205020404" charset="0"/>
              </a:rPr>
              <a:t> *signal(int signum, </a:t>
            </a:r>
            <a:r>
              <a:rPr lang="en-US" b="1" dirty="0" err="1">
                <a:latin typeface="Courier New" panose="02070609020205020404" charset="0"/>
              </a:rPr>
              <a:t>handler_t</a:t>
            </a:r>
            <a:r>
              <a:rPr lang="en-US" b="1" dirty="0">
                <a:latin typeface="Courier New" panose="02070609020205020404" charset="0"/>
              </a:rPr>
              <a:t> *handler)</a:t>
            </a:r>
            <a:endParaRPr lang="en-US" dirty="0"/>
          </a:p>
          <a:p>
            <a:pPr marL="0" indent="0">
              <a:buNone/>
            </a:pPr>
            <a:r>
              <a:rPr lang="en-US" dirty="0">
                <a:latin typeface="Courier New" panose="02070609020205020404" charset="0"/>
              </a:rPr>
              <a:t> </a:t>
            </a:r>
            <a:endParaRPr lang="en-US" dirty="0">
              <a:latin typeface="Courier New" panose="02070609020205020404" charset="0"/>
            </a:endParaRPr>
          </a:p>
          <a:p>
            <a:r>
              <a:rPr lang="en-US" dirty="0">
                <a:latin typeface="Courier New" panose="02070609020205020404" charset="0"/>
              </a:rPr>
              <a:t>handler </a:t>
            </a:r>
            <a:r>
              <a:rPr lang="zh-CN" altLang="en-US" sz="2000" dirty="0"/>
              <a:t>的不同取值</a:t>
            </a:r>
            <a:endParaRPr lang="zh-CN" altLang="en-US" sz="2000" dirty="0"/>
          </a:p>
          <a:p>
            <a:pPr lvl="1"/>
            <a:r>
              <a:rPr lang="en-US" dirty="0">
                <a:latin typeface="Consolas" panose="020B0609020204030204" pitchFamily="49" charset="0"/>
                <a:cs typeface="Consolas" panose="020B0609020204030204" pitchFamily="49" charset="0"/>
              </a:rPr>
              <a:t>SIG_IGN</a:t>
            </a:r>
            <a:r>
              <a:rPr lang="zh-CN" altLang="en-US" dirty="0"/>
              <a:t>：忽略类型为</a:t>
            </a:r>
            <a:r>
              <a:rPr lang="en-US" altLang="zh-CN" dirty="0">
                <a:latin typeface="Courier New" panose="02070609020205020404" charset="0"/>
                <a:cs typeface="Courier New" panose="02070609020205020404" charset="0"/>
              </a:rPr>
              <a:t> </a:t>
            </a:r>
            <a:r>
              <a:rPr lang="en-US" b="1" dirty="0" err="1">
                <a:latin typeface="Courier New" panose="02070609020205020404" charset="0"/>
                <a:cs typeface="Courier New" panose="02070609020205020404" charset="0"/>
              </a:rPr>
              <a:t>signum </a:t>
            </a:r>
            <a:r>
              <a:rPr lang="zh-CN" altLang="en-US" dirty="0" err="1">
                <a:latin typeface="Courier New" panose="02070609020205020404" charset="0"/>
              </a:rPr>
              <a:t>的信号</a:t>
            </a:r>
            <a:endParaRPr lang="en-US" b="1" dirty="0">
              <a:latin typeface="Courier New" panose="02070609020205020404" charset="0"/>
            </a:endParaRPr>
          </a:p>
          <a:p>
            <a:pPr lvl="1" algn="just"/>
            <a:r>
              <a:rPr lang="en-US" dirty="0">
                <a:latin typeface="Consolas" panose="020B0609020204030204" pitchFamily="49" charset="0"/>
                <a:cs typeface="Consolas" panose="020B0609020204030204" pitchFamily="49" charset="0"/>
              </a:rPr>
              <a:t>SIG_DFL</a:t>
            </a:r>
            <a:r>
              <a:rPr lang="zh-CN" altLang="en-US" dirty="0"/>
              <a:t>：类型为</a:t>
            </a:r>
            <a:r>
              <a:rPr lang="en-US" dirty="0">
                <a:latin typeface="Courier New" panose="02070609020205020404" charset="0"/>
                <a:cs typeface="Courier New" panose="02070609020205020404" charset="0"/>
              </a:rPr>
              <a:t> </a:t>
            </a:r>
            <a:r>
              <a:rPr lang="en-US" b="1" dirty="0" err="1">
                <a:latin typeface="Courier New" panose="02070609020205020404" charset="0"/>
                <a:cs typeface="Courier New" panose="02070609020205020404" charset="0"/>
              </a:rPr>
              <a:t>signum </a:t>
            </a:r>
            <a:r>
              <a:rPr lang="zh-CN" altLang="en-US" dirty="0">
                <a:latin typeface="Courier New" panose="02070609020205020404" charset="0"/>
              </a:rPr>
              <a:t>的信号</a:t>
            </a:r>
            <a:r>
              <a:rPr lang="en-US" altLang="zh-CN" dirty="0">
                <a:latin typeface="Courier New" panose="02070609020205020404" charset="0"/>
              </a:rPr>
              <a:t>,</a:t>
            </a:r>
            <a:r>
              <a:rPr lang="zh-CN" altLang="en-US" dirty="0">
                <a:sym typeface="+mn-ea"/>
              </a:rPr>
              <a:t>恢复为</a:t>
            </a:r>
            <a:r>
              <a:rPr lang="zh-CN" altLang="en-US" dirty="0">
                <a:latin typeface="Courier New" panose="02070609020205020404" charset="0"/>
              </a:rPr>
              <a:t>默认行为</a:t>
            </a:r>
            <a:endParaRPr lang="en-US" b="1" dirty="0"/>
          </a:p>
          <a:p>
            <a:pPr lvl="1"/>
            <a:r>
              <a:rPr lang="zh-CN" altLang="en-US" dirty="0">
                <a:latin typeface="仿宋" panose="02010609060101010101" pitchFamily="49" charset="-122"/>
                <a:cs typeface="仿宋" panose="02010609060101010101" pitchFamily="49" charset="-122"/>
              </a:rPr>
              <a:t>否则，</a:t>
            </a:r>
            <a:r>
              <a:rPr lang="en-US" b="1" dirty="0">
                <a:latin typeface="Courier New" panose="02070609020205020404" charset="0"/>
                <a:cs typeface="Courier New" panose="02070609020205020404" charset="0"/>
              </a:rPr>
              <a:t>handler</a:t>
            </a:r>
            <a:r>
              <a:rPr lang="en-US" dirty="0">
                <a:latin typeface="Courier New" panose="02070609020205020404" charset="0"/>
                <a:cs typeface="Courier New" panose="02070609020205020404" charset="0"/>
              </a:rPr>
              <a:t> </a:t>
            </a:r>
            <a:r>
              <a:rPr lang="zh-CN" altLang="en-US" dirty="0"/>
              <a:t>为</a:t>
            </a:r>
            <a:r>
              <a:rPr lang="zh-CN" altLang="en-US" dirty="0">
                <a:latin typeface="仿宋" panose="02010609060101010101" pitchFamily="49" charset="-122"/>
              </a:rPr>
              <a:t>用户定义的</a:t>
            </a:r>
            <a:r>
              <a:rPr lang="en-US" b="1" i="1" dirty="0">
                <a:solidFill>
                  <a:srgbClr val="C00000"/>
                </a:solidFill>
                <a:latin typeface="仿宋" panose="02010609060101010101" pitchFamily="49" charset="-122"/>
                <a:cs typeface="+mn-ea"/>
                <a:sym typeface="+mn-ea"/>
              </a:rPr>
              <a:t>信号处理程序</a:t>
            </a:r>
            <a:r>
              <a:rPr lang="zh-CN" altLang="en-US" dirty="0">
                <a:latin typeface="仿宋" panose="02010609060101010101" pitchFamily="49" charset="-122"/>
              </a:rPr>
              <a:t>的地址</a:t>
            </a:r>
            <a:endParaRPr lang="en-US" b="1" i="1" dirty="0">
              <a:solidFill>
                <a:srgbClr val="C00000"/>
              </a:solidFill>
            </a:endParaRPr>
          </a:p>
          <a:p>
            <a:pPr lvl="2"/>
            <a:r>
              <a:rPr lang="zh-CN" altLang="en-US" dirty="0">
                <a:sym typeface="+mn-ea"/>
              </a:rPr>
              <a:t>称为</a:t>
            </a:r>
            <a:r>
              <a:rPr lang="en-US" b="1" i="1" dirty="0">
                <a:solidFill>
                  <a:srgbClr val="C00000"/>
                </a:solidFill>
                <a:latin typeface="仿宋" panose="02010609060101010101" pitchFamily="49" charset="-122"/>
                <a:cs typeface="+mn-ea"/>
                <a:sym typeface="+mn-ea"/>
              </a:rPr>
              <a:t>“</a:t>
            </a:r>
            <a:r>
              <a:rPr lang="en-US" b="1" i="1" dirty="0">
                <a:solidFill>
                  <a:srgbClr val="00B050"/>
                </a:solidFill>
                <a:latin typeface="仿宋" panose="02010609060101010101" pitchFamily="49" charset="-122"/>
                <a:cs typeface="+mn-ea"/>
                <a:sym typeface="+mn-ea"/>
              </a:rPr>
              <a:t>设置</a:t>
            </a:r>
            <a:r>
              <a:rPr lang="en-US" b="1" i="1" dirty="0">
                <a:solidFill>
                  <a:srgbClr val="C00000"/>
                </a:solidFill>
                <a:latin typeface="仿宋" panose="02010609060101010101" pitchFamily="49" charset="-122"/>
                <a:cs typeface="+mn-ea"/>
                <a:sym typeface="+mn-ea"/>
              </a:rPr>
              <a:t>”</a:t>
            </a:r>
            <a:r>
              <a:rPr lang="zh-CN" altLang="en-US" dirty="0">
                <a:sym typeface="+mn-ea"/>
              </a:rPr>
              <a:t>信号处理程序</a:t>
            </a:r>
            <a:endParaRPr lang="zh-CN" altLang="en-US" dirty="0">
              <a:sym typeface="+mn-ea"/>
            </a:endParaRPr>
          </a:p>
          <a:p>
            <a:pPr lvl="2"/>
            <a:r>
              <a:rPr lang="zh-CN" altLang="en-US" dirty="0">
                <a:sym typeface="+mn-ea"/>
              </a:rPr>
              <a:t>进程接收到一个类型为</a:t>
            </a:r>
            <a:r>
              <a:rPr lang="en-US" altLang="zh-CN" dirty="0">
                <a:latin typeface="Courier New" panose="02070609020205020404" charset="0"/>
                <a:cs typeface="Courier New" panose="02070609020205020404" charset="0"/>
                <a:sym typeface="+mn-ea"/>
              </a:rPr>
              <a:t> </a:t>
            </a:r>
            <a:r>
              <a:rPr lang="en-US" b="1" dirty="0">
                <a:solidFill>
                  <a:schemeClr val="tx1"/>
                </a:solidFill>
                <a:latin typeface="Courier New" panose="02070609020205020404" charset="0"/>
                <a:cs typeface="Courier New" panose="02070609020205020404" charset="0"/>
              </a:rPr>
              <a:t>signum</a:t>
            </a:r>
            <a:r>
              <a:rPr lang="en-US" altLang="zh-CN" dirty="0">
                <a:latin typeface="Courier New" panose="02070609020205020404" charset="0"/>
                <a:cs typeface="Courier New" panose="02070609020205020404" charset="0"/>
              </a:rPr>
              <a:t> </a:t>
            </a:r>
            <a:r>
              <a:rPr lang="zh-CN" altLang="en-US" dirty="0"/>
              <a:t>的信号时，调用这个程序</a:t>
            </a:r>
            <a:r>
              <a:rPr lang="en-US" altLang="zh-CN" dirty="0"/>
              <a:t>，</a:t>
            </a:r>
            <a:r>
              <a:rPr lang="zh-CN" altLang="en-US" sz="1800" dirty="0">
                <a:latin typeface="仿宋" panose="02010609060101010101" pitchFamily="49" charset="-122"/>
                <a:cs typeface="仿宋" panose="02010609060101010101" pitchFamily="49" charset="-122"/>
                <a:sym typeface="+mn-ea"/>
              </a:rPr>
              <a:t>称为</a:t>
            </a:r>
            <a:r>
              <a:rPr lang="en-US" sz="1800" b="1" i="1" dirty="0">
                <a:solidFill>
                  <a:srgbClr val="C00000"/>
                </a:solidFill>
                <a:latin typeface="仿宋" panose="02010609060101010101" pitchFamily="49" charset="-122"/>
                <a:cs typeface="+mn-ea"/>
                <a:sym typeface="+mn-ea"/>
              </a:rPr>
              <a:t>“</a:t>
            </a:r>
            <a:r>
              <a:rPr lang="en-US" sz="1800" b="1" i="1" dirty="0">
                <a:solidFill>
                  <a:srgbClr val="00B050"/>
                </a:solidFill>
                <a:latin typeface="仿宋" panose="02010609060101010101" pitchFamily="49" charset="-122"/>
                <a:cs typeface="+mn-ea"/>
                <a:sym typeface="+mn-ea"/>
              </a:rPr>
              <a:t>捕获</a:t>
            </a:r>
            <a:r>
              <a:rPr lang="en-US" sz="1800" b="1" i="1" dirty="0">
                <a:solidFill>
                  <a:srgbClr val="C00000"/>
                </a:solidFill>
                <a:latin typeface="仿宋" panose="02010609060101010101" pitchFamily="49" charset="-122"/>
                <a:cs typeface="+mn-ea"/>
                <a:sym typeface="+mn-ea"/>
              </a:rPr>
              <a:t>”</a:t>
            </a:r>
            <a:r>
              <a:rPr lang="zh-CN" altLang="en-US" sz="1800" dirty="0">
                <a:latin typeface="仿宋" panose="02010609060101010101" pitchFamily="49" charset="-122"/>
                <a:cs typeface="仿宋" panose="02010609060101010101" pitchFamily="49" charset="-122"/>
                <a:sym typeface="+mn-ea"/>
              </a:rPr>
              <a:t>信号</a:t>
            </a:r>
            <a:endParaRPr lang="zh-CN" altLang="en-US" sz="1800" dirty="0"/>
          </a:p>
          <a:p>
            <a:pPr lvl="2"/>
            <a:r>
              <a:rPr lang="zh-CN" altLang="en-US" dirty="0">
                <a:latin typeface="仿宋" panose="02010609060101010101" pitchFamily="49" charset="-122"/>
                <a:cs typeface="仿宋" panose="02010609060101010101" pitchFamily="49" charset="-122"/>
              </a:rPr>
              <a:t>执行信号处理程序被称为</a:t>
            </a:r>
            <a:r>
              <a:rPr lang="en-US" b="1" i="1" dirty="0">
                <a:solidFill>
                  <a:srgbClr val="C00000"/>
                </a:solidFill>
                <a:latin typeface="仿宋" panose="02010609060101010101" pitchFamily="49" charset="-122"/>
                <a:cs typeface="+mn-ea"/>
              </a:rPr>
              <a:t>“</a:t>
            </a:r>
            <a:r>
              <a:rPr lang="en-US" b="1" i="1" dirty="0">
                <a:solidFill>
                  <a:srgbClr val="00B050"/>
                </a:solidFill>
                <a:latin typeface="仿宋" panose="02010609060101010101" pitchFamily="49" charset="-122"/>
                <a:cs typeface="+mn-ea"/>
              </a:rPr>
              <a:t>处理</a:t>
            </a:r>
            <a:r>
              <a:rPr lang="en-US" b="1" i="1" dirty="0">
                <a:solidFill>
                  <a:srgbClr val="C00000"/>
                </a:solidFill>
                <a:latin typeface="仿宋" panose="02010609060101010101" pitchFamily="49" charset="-122"/>
                <a:cs typeface="+mn-ea"/>
              </a:rPr>
              <a:t>”</a:t>
            </a:r>
            <a:r>
              <a:rPr lang="zh-CN" altLang="en-US" dirty="0">
                <a:latin typeface="仿宋" panose="02010609060101010101" pitchFamily="49" charset="-122"/>
                <a:cs typeface="仿宋" panose="02010609060101010101" pitchFamily="49" charset="-122"/>
              </a:rPr>
              <a:t>信号</a:t>
            </a:r>
            <a:endParaRPr lang="zh-CN" altLang="en-US" dirty="0">
              <a:latin typeface="仿宋" panose="02010609060101010101" pitchFamily="49" charset="-122"/>
              <a:cs typeface="仿宋" panose="02010609060101010101" pitchFamily="49" charset="-122"/>
            </a:endParaRPr>
          </a:p>
          <a:p>
            <a:pPr lvl="2"/>
            <a:r>
              <a:rPr lang="zh-CN" altLang="en-US" dirty="0">
                <a:latin typeface="仿宋" panose="02010609060101010101" pitchFamily="49" charset="-122"/>
                <a:cs typeface="仿宋" panose="02010609060101010101" pitchFamily="49" charset="-122"/>
              </a:rPr>
              <a:t>当处理程序执行它的</a:t>
            </a:r>
            <a:r>
              <a:rPr lang="en-US" altLang="zh-CN" b="1" dirty="0">
                <a:latin typeface="Courier New" panose="02070609020205020404" charset="0"/>
                <a:cs typeface="Courier New" panose="02070609020205020404" charset="0"/>
              </a:rPr>
              <a:t> return </a:t>
            </a:r>
            <a:r>
              <a:rPr lang="zh-CN" altLang="en-US" dirty="0">
                <a:latin typeface="仿宋" panose="02010609060101010101" pitchFamily="49" charset="-122"/>
                <a:cs typeface="仿宋" panose="02010609060101010101" pitchFamily="49" charset="-122"/>
              </a:rPr>
              <a:t>语句时，控制流回到进程被</a:t>
            </a:r>
            <a:r>
              <a:rPr lang="zh-CN" altLang="en-US" b="1" dirty="0">
                <a:latin typeface="仿宋" panose="02010609060101010101" pitchFamily="49" charset="-122"/>
                <a:cs typeface="仿宋" panose="02010609060101010101" pitchFamily="49" charset="-122"/>
              </a:rPr>
              <a:t>信号接收</a:t>
            </a:r>
            <a:r>
              <a:rPr lang="zh-CN" altLang="en-US" dirty="0">
                <a:latin typeface="仿宋" panose="02010609060101010101" pitchFamily="49" charset="-122"/>
                <a:cs typeface="仿宋" panose="02010609060101010101" pitchFamily="49" charset="-122"/>
              </a:rPr>
              <a:t>中断处的指令</a:t>
            </a:r>
            <a:endParaRPr lang="zh-CN" altLang="en-US" dirty="0">
              <a:solidFill>
                <a:schemeClr val="tx1"/>
              </a:solidFill>
              <a:latin typeface="仿宋" panose="02010609060101010101" pitchFamily="49" charset="-122"/>
              <a:cs typeface="仿宋"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013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013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013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013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013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013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6013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0131">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013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p:txBody>
          <a:bodyPr/>
          <a:lstStyle/>
          <a:p>
            <a:r>
              <a:rPr lang="zh-CN" altLang="en-US">
                <a:sym typeface="+mn-ea"/>
              </a:rPr>
              <a:t>信号处理程序示例</a:t>
            </a:r>
            <a:endParaRPr lang="en-US" dirty="0"/>
          </a:p>
        </p:txBody>
      </p:sp>
      <p:sp>
        <p:nvSpPr>
          <p:cNvPr id="524292" name="Text Box 4"/>
          <p:cNvSpPr txBox="1">
            <a:spLocks noChangeArrowheads="1"/>
          </p:cNvSpPr>
          <p:nvPr/>
        </p:nvSpPr>
        <p:spPr bwMode="auto">
          <a:xfrm>
            <a:off x="990600" y="981075"/>
            <a:ext cx="9372600" cy="5507990"/>
          </a:xfrm>
          <a:prstGeom prst="rect">
            <a:avLst/>
          </a:prstGeom>
          <a:solidFill>
            <a:srgbClr val="F6F5BD"/>
          </a:solidFill>
          <a:ln w="3175">
            <a:solidFill>
              <a:schemeClr val="tx1"/>
            </a:solidFill>
            <a:miter lim="800000"/>
          </a:ln>
          <a:effectLst/>
        </p:spPr>
        <p:txBody>
          <a:bodyPr wrap="square">
            <a:spAutoFit/>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err="1">
                <a:solidFill>
                  <a:srgbClr val="4A00FF"/>
                </a:solidFill>
                <a:latin typeface="Menlo-Regular" panose="020B0609030804020204"/>
              </a:rPr>
              <a:t>sigint_handler</a:t>
            </a:r>
            <a:r>
              <a:rPr lang="en-US" sz="1600" dirty="0">
                <a:solidFill>
                  <a:srgbClr val="000000"/>
                </a:solidFill>
                <a:latin typeface="Menlo-Regular" panose="020B0609030804020204"/>
              </a:rPr>
              <a:t>(</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a:solidFill>
                  <a:srgbClr val="BA8C1C"/>
                </a:solidFill>
                <a:latin typeface="Menlo-Regular" panose="020B0609030804020204"/>
              </a:rPr>
              <a:t>sig</a:t>
            </a:r>
            <a:r>
              <a:rPr lang="en-US" sz="1600" dirty="0">
                <a:solidFill>
                  <a:srgbClr val="000000"/>
                </a:solidFill>
                <a:latin typeface="Menlo-Regular" panose="020B0609030804020204"/>
              </a:rPr>
              <a:t>) </a:t>
            </a:r>
            <a:r>
              <a:rPr lang="en-US" sz="1600" dirty="0">
                <a:solidFill>
                  <a:srgbClr val="CB2418"/>
                </a:solidFill>
                <a:latin typeface="Menlo-Regular" panose="020B0609030804020204"/>
              </a:rPr>
              <a:t>/* SIGINT handler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B7898A"/>
                </a:solidFill>
                <a:latin typeface="Menlo-Regular" panose="020B0609030804020204"/>
              </a:rPr>
              <a:t>"So you think you can stop the bomb with ctrl-c, do you?\n"</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nl-NL" sz="1600" dirty="0">
                <a:solidFill>
                  <a:srgbClr val="000000"/>
                </a:solidFill>
                <a:latin typeface="Menlo-Regular" panose="020B0609030804020204"/>
              </a:rPr>
              <a:t>    sleep(2);</a:t>
            </a:r>
            <a:endParaRPr lang="nl-NL"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B7898A"/>
                </a:solidFill>
                <a:latin typeface="Menlo-Regular" panose="020B0609030804020204"/>
              </a:rPr>
              <a:t>"Well..."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fflush</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stdout</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nl-NL" sz="1600" dirty="0">
                <a:solidFill>
                  <a:srgbClr val="000000"/>
                </a:solidFill>
                <a:latin typeface="Menlo-Regular" panose="020B0609030804020204"/>
              </a:rPr>
              <a:t>    sleep(1);</a:t>
            </a:r>
            <a:endParaRPr lang="nl-NL" sz="1600" dirty="0">
              <a:solidFill>
                <a:srgbClr val="000000"/>
              </a:solidFill>
              <a:latin typeface="Menlo-Regular" panose="020B0609030804020204"/>
            </a:endParaRPr>
          </a:p>
          <a:p>
            <a:r>
              <a:rPr lang="ro-RO" sz="1600" dirty="0">
                <a:solidFill>
                  <a:srgbClr val="000000"/>
                </a:solidFill>
                <a:latin typeface="Menlo-Regular" panose="020B0609030804020204"/>
              </a:rPr>
              <a:t>    printf(</a:t>
            </a:r>
            <a:r>
              <a:rPr lang="ro-RO" sz="1600" dirty="0">
                <a:solidFill>
                  <a:srgbClr val="B7898A"/>
                </a:solidFill>
                <a:latin typeface="Menlo-Regular" panose="020B0609030804020204"/>
              </a:rPr>
              <a:t>"OK. :-)\n"</a:t>
            </a:r>
            <a:r>
              <a:rPr lang="ro-RO" sz="1600" dirty="0">
                <a:solidFill>
                  <a:srgbClr val="000000"/>
                </a:solidFill>
                <a:latin typeface="Menlo-Regular" panose="020B0609030804020204"/>
              </a:rPr>
              <a:t>);</a:t>
            </a:r>
            <a:endParaRPr lang="ro-RO" sz="1600" dirty="0">
              <a:solidFill>
                <a:srgbClr val="000000"/>
              </a:solidFill>
              <a:latin typeface="Menlo-Regular" panose="020B0609030804020204"/>
            </a:endParaRPr>
          </a:p>
          <a:p>
            <a:r>
              <a:rPr lang="ro-RO" sz="1600" dirty="0">
                <a:solidFill>
                  <a:srgbClr val="000000"/>
                </a:solidFill>
                <a:latin typeface="Menlo-Regular" panose="020B0609030804020204"/>
              </a:rPr>
              <a:t>    exit(0);</a:t>
            </a:r>
            <a:endParaRPr lang="ro-RO" sz="1600" dirty="0">
              <a:solidFill>
                <a:srgbClr val="000000"/>
              </a:solidFill>
              <a:latin typeface="Menlo-Regular" panose="020B0609030804020204"/>
            </a:endParaRPr>
          </a:p>
          <a:p>
            <a:r>
              <a:rPr lang="ro-RO" sz="1600" dirty="0">
                <a:solidFill>
                  <a:srgbClr val="000000"/>
                </a:solidFill>
                <a:latin typeface="Menlo-Regular" panose="020B0609030804020204"/>
              </a:rPr>
              <a:t>}</a:t>
            </a:r>
            <a:endParaRPr lang="ro-RO" sz="1600" dirty="0">
              <a:solidFill>
                <a:srgbClr val="000000"/>
              </a:solidFill>
              <a:latin typeface="Menlo-Regular" panose="020B0609030804020204"/>
            </a:endParaRPr>
          </a:p>
          <a:p>
            <a:endParaRPr lang="ro-RO" sz="1600" dirty="0">
              <a:solidFill>
                <a:srgbClr val="000000"/>
              </a:solidFill>
              <a:latin typeface="Menlo-Regular" panose="020B0609030804020204"/>
            </a:endParaRPr>
          </a:p>
          <a:p>
            <a:r>
              <a:rPr lang="ro-RO" sz="1600" dirty="0">
                <a:solidFill>
                  <a:srgbClr val="2D961E"/>
                </a:solidFill>
                <a:latin typeface="Menlo-Regular" panose="020B0609030804020204"/>
              </a:rPr>
              <a:t>int</a:t>
            </a:r>
            <a:r>
              <a:rPr lang="ro-RO" sz="1600" dirty="0">
                <a:solidFill>
                  <a:srgbClr val="000000"/>
                </a:solidFill>
                <a:latin typeface="Menlo-Regular" panose="020B0609030804020204"/>
              </a:rPr>
              <a:t> </a:t>
            </a:r>
            <a:r>
              <a:rPr lang="ro-RO" sz="1600" dirty="0">
                <a:solidFill>
                  <a:srgbClr val="4A00FF"/>
                </a:solidFill>
                <a:latin typeface="Menlo-Regular" panose="020B0609030804020204"/>
              </a:rPr>
              <a:t>main</a:t>
            </a:r>
            <a:r>
              <a:rPr lang="ro-RO" sz="1600" dirty="0">
                <a:solidFill>
                  <a:srgbClr val="000000"/>
                </a:solidFill>
                <a:latin typeface="Menlo-Regular" panose="020B0609030804020204"/>
              </a:rPr>
              <a:t>()</a:t>
            </a:r>
            <a:endParaRPr lang="ro-RO" sz="1600" dirty="0">
              <a:solidFill>
                <a:srgbClr val="000000"/>
              </a:solidFill>
              <a:latin typeface="Menlo-Regular" panose="020B0609030804020204"/>
            </a:endParaRPr>
          </a:p>
          <a:p>
            <a:r>
              <a:rPr lang="ro-RO" sz="1600" dirty="0">
                <a:solidFill>
                  <a:srgbClr val="000000"/>
                </a:solidFill>
                <a:latin typeface="Menlo-Regular" panose="020B0609030804020204"/>
              </a:rPr>
              <a:t>{</a:t>
            </a:r>
            <a:endParaRPr lang="ro-RO" sz="1600" dirty="0">
              <a:solidFill>
                <a:srgbClr val="000000"/>
              </a:solidFill>
              <a:latin typeface="Menlo-Regular" panose="020B0609030804020204"/>
            </a:endParaRPr>
          </a:p>
          <a:p>
            <a:r>
              <a:rPr lang="ro-RO" sz="1600" dirty="0">
                <a:solidFill>
                  <a:srgbClr val="000000"/>
                </a:solidFill>
                <a:latin typeface="Menlo-Regular" panose="020B0609030804020204"/>
              </a:rPr>
              <a:t>    </a:t>
            </a:r>
            <a:r>
              <a:rPr lang="ro-RO" sz="1600" dirty="0">
                <a:solidFill>
                  <a:srgbClr val="CB2418"/>
                </a:solidFill>
                <a:latin typeface="Menlo-Regular" panose="020B0609030804020204"/>
              </a:rPr>
              <a:t>/* Install the SIGINT handler */</a:t>
            </a:r>
            <a:endParaRPr lang="ro-RO" sz="1600" dirty="0">
              <a:solidFill>
                <a:srgbClr val="000000"/>
              </a:solidFill>
              <a:latin typeface="Menlo-Regular" panose="020B0609030804020204"/>
            </a:endParaRPr>
          </a:p>
          <a:p>
            <a:r>
              <a:rPr lang="ro-RO" sz="1600" dirty="0">
                <a:solidFill>
                  <a:srgbClr val="000000"/>
                </a:solidFill>
                <a:latin typeface="Menlo-Regular" panose="020B0609030804020204"/>
              </a:rPr>
              <a:t>    </a:t>
            </a:r>
            <a:r>
              <a:rPr lang="ro-RO" sz="1600" dirty="0">
                <a:solidFill>
                  <a:srgbClr val="C200FF"/>
                </a:solidFill>
                <a:latin typeface="Menlo-Regular" panose="020B0609030804020204"/>
              </a:rPr>
              <a:t>if</a:t>
            </a:r>
            <a:r>
              <a:rPr lang="ro-RO" sz="1600" dirty="0">
                <a:solidFill>
                  <a:srgbClr val="000000"/>
                </a:solidFill>
                <a:latin typeface="Menlo-Regular" panose="020B0609030804020204"/>
              </a:rPr>
              <a:t> (signal(SIGINT, sigint_handler) == SIG_ERR)</a:t>
            </a:r>
            <a:endParaRPr lang="ro-RO" sz="1600" dirty="0">
              <a:solidFill>
                <a:srgbClr val="000000"/>
              </a:solidFill>
              <a:latin typeface="Menlo-Regular" panose="020B0609030804020204"/>
            </a:endParaRPr>
          </a:p>
          <a:p>
            <a:r>
              <a:rPr lang="ro-RO" sz="1600" dirty="0">
                <a:solidFill>
                  <a:srgbClr val="000000"/>
                </a:solidFill>
                <a:latin typeface="Menlo-Regular" panose="020B0609030804020204"/>
              </a:rPr>
              <a:t>        unix_error(</a:t>
            </a:r>
            <a:r>
              <a:rPr lang="ro-RO" sz="1600" dirty="0">
                <a:solidFill>
                  <a:srgbClr val="B7898A"/>
                </a:solidFill>
                <a:latin typeface="Menlo-Regular" panose="020B0609030804020204"/>
              </a:rPr>
              <a:t>"signal error"</a:t>
            </a:r>
            <a:r>
              <a:rPr lang="ro-RO" sz="1600" dirty="0">
                <a:solidFill>
                  <a:srgbClr val="000000"/>
                </a:solidFill>
                <a:latin typeface="Menlo-Regular" panose="020B0609030804020204"/>
              </a:rPr>
              <a:t>);</a:t>
            </a:r>
            <a:endParaRPr lang="ro-RO" sz="1600" dirty="0">
              <a:solidFill>
                <a:srgbClr val="000000"/>
              </a:solidFill>
              <a:latin typeface="Menlo-Regular" panose="020B0609030804020204"/>
            </a:endParaRPr>
          </a:p>
          <a:p>
            <a:endParaRPr lang="ro-RO" sz="1600" dirty="0">
              <a:solidFill>
                <a:srgbClr val="000000"/>
              </a:solidFill>
              <a:latin typeface="Menlo-Regular" panose="020B0609030804020204"/>
            </a:endParaRPr>
          </a:p>
          <a:p>
            <a:r>
              <a:rPr lang="ro-RO" sz="1600" dirty="0">
                <a:solidFill>
                  <a:srgbClr val="000000"/>
                </a:solidFill>
                <a:latin typeface="Menlo-Regular" panose="020B0609030804020204"/>
              </a:rPr>
              <a:t>    </a:t>
            </a:r>
            <a:r>
              <a:rPr lang="ro-RO" sz="1600" dirty="0">
                <a:solidFill>
                  <a:srgbClr val="CB2418"/>
                </a:solidFill>
                <a:latin typeface="Menlo-Regular" panose="020B0609030804020204"/>
              </a:rPr>
              <a:t>/* Wait for the receipt of a signal */</a:t>
            </a:r>
            <a:endParaRPr lang="ro-RO" sz="1600" dirty="0">
              <a:solidFill>
                <a:srgbClr val="000000"/>
              </a:solidFill>
              <a:latin typeface="Menlo-Regular" panose="020B0609030804020204"/>
            </a:endParaRPr>
          </a:p>
          <a:p>
            <a:r>
              <a:rPr lang="ro-RO" sz="1600" dirty="0">
                <a:solidFill>
                  <a:srgbClr val="000000"/>
                </a:solidFill>
                <a:latin typeface="Menlo-Regular" panose="020B0609030804020204"/>
              </a:rPr>
              <a:t>    pause();</a:t>
            </a:r>
            <a:endParaRPr lang="ro-RO" sz="1600" dirty="0">
              <a:solidFill>
                <a:srgbClr val="000000"/>
              </a:solidFill>
              <a:latin typeface="Menlo-Regular" panose="020B0609030804020204"/>
            </a:endParaRPr>
          </a:p>
          <a:p>
            <a:endParaRPr lang="ro-RO" sz="1600" dirty="0">
              <a:solidFill>
                <a:srgbClr val="000000"/>
              </a:solidFill>
              <a:latin typeface="Menlo-Regular" panose="020B0609030804020204"/>
            </a:endParaRPr>
          </a:p>
          <a:p>
            <a:r>
              <a:rPr lang="is-IS" sz="1600" dirty="0">
                <a:solidFill>
                  <a:srgbClr val="000000"/>
                </a:solidFill>
                <a:latin typeface="Menlo-Regular" panose="020B0609030804020204"/>
              </a:rPr>
              <a:t>    </a:t>
            </a:r>
            <a:r>
              <a:rPr lang="is-IS" sz="1600" dirty="0">
                <a:solidFill>
                  <a:srgbClr val="C200FF"/>
                </a:solidFill>
                <a:latin typeface="Menlo-Regular" panose="020B0609030804020204"/>
              </a:rPr>
              <a:t>return</a:t>
            </a:r>
            <a:r>
              <a:rPr lang="is-IS" sz="1600" dirty="0">
                <a:solidFill>
                  <a:srgbClr val="000000"/>
                </a:solidFill>
                <a:latin typeface="Menlo-Regular" panose="020B0609030804020204"/>
              </a:rPr>
              <a:t> 0;</a:t>
            </a:r>
            <a:endParaRPr lang="is-IS" sz="1600" dirty="0">
              <a:solidFill>
                <a:srgbClr val="000000"/>
              </a:solidFill>
              <a:latin typeface="Menlo-Regular" panose="020B0609030804020204"/>
            </a:endParaRPr>
          </a:p>
          <a:p>
            <a:r>
              <a:rPr lang="is-IS" sz="1600" dirty="0">
                <a:solidFill>
                  <a:srgbClr val="000000"/>
                </a:solidFill>
                <a:latin typeface="Menlo-Regular" panose="020B0609030804020204"/>
              </a:rPr>
              <a:t>}</a:t>
            </a:r>
            <a:endParaRPr lang="is-IS" sz="1600" dirty="0">
              <a:solidFill>
                <a:srgbClr val="000000"/>
              </a:solidFill>
              <a:latin typeface="Menlo-Regular" panose="020B0609030804020204"/>
            </a:endParaRPr>
          </a:p>
        </p:txBody>
      </p:sp>
      <p:sp>
        <p:nvSpPr>
          <p:cNvPr id="4" name="TextBox 3"/>
          <p:cNvSpPr txBox="1"/>
          <p:nvPr/>
        </p:nvSpPr>
        <p:spPr>
          <a:xfrm>
            <a:off x="9540240" y="6108700"/>
            <a:ext cx="1280160" cy="368300"/>
          </a:xfrm>
          <a:prstGeom prst="rect">
            <a:avLst/>
          </a:prstGeom>
          <a:noFill/>
        </p:spPr>
        <p:txBody>
          <a:bodyPr wrap="none" rtlCol="0">
            <a:spAutoFit/>
          </a:bodyPr>
          <a:lstStyle/>
          <a:p>
            <a:r>
              <a:rPr lang="en-US" sz="1800" i="1" dirty="0" err="1">
                <a:solidFill>
                  <a:srgbClr val="7F7F7F"/>
                </a:solidFill>
                <a:latin typeface="Courier New" panose="02070609020205020404" charset="0"/>
                <a:cs typeface="Courier New" panose="02070609020205020404" charset="0"/>
              </a:rPr>
              <a:t>sigint.c</a:t>
            </a:r>
            <a:endParaRPr lang="en-US" sz="1800" i="1" dirty="0">
              <a:solidFill>
                <a:srgbClr val="7F7F7F"/>
              </a:solidFill>
              <a:latin typeface="Courier New" panose="02070609020205020404" charset="0"/>
              <a:cs typeface="Courier New" panose="02070609020205020404" charset="0"/>
            </a:endParaRPr>
          </a:p>
        </p:txBody>
      </p:sp>
      <p:pic>
        <p:nvPicPr>
          <p:cNvPr id="2" name="图片 1"/>
          <p:cNvPicPr>
            <a:picLocks noChangeAspect="1"/>
          </p:cNvPicPr>
          <p:nvPr/>
        </p:nvPicPr>
        <p:blipFill>
          <a:blip r:embed="rId1"/>
          <a:stretch>
            <a:fillRect/>
          </a:stretch>
        </p:blipFill>
        <p:spPr>
          <a:xfrm>
            <a:off x="5029200" y="2209800"/>
            <a:ext cx="5168900" cy="80708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信号的屏蔽和屏蔽的</a:t>
            </a:r>
            <a:r>
              <a:rPr lang="zh-CN" altLang="en-US" dirty="0"/>
              <a:t>解除</a:t>
            </a:r>
            <a:endParaRPr lang="zh-CN" altLang="en-US" dirty="0"/>
          </a:p>
        </p:txBody>
      </p:sp>
      <p:sp>
        <p:nvSpPr>
          <p:cNvPr id="3" name="Content Placeholder 2"/>
          <p:cNvSpPr>
            <a:spLocks noGrp="1"/>
          </p:cNvSpPr>
          <p:nvPr>
            <p:ph idx="1"/>
          </p:nvPr>
        </p:nvSpPr>
        <p:spPr/>
        <p:txBody>
          <a:bodyPr/>
          <a:lstStyle/>
          <a:p>
            <a:r>
              <a:rPr lang="zh-CN" altLang="en-US" dirty="0"/>
              <a:t>隐式阻塞</a:t>
            </a:r>
            <a:r>
              <a:rPr lang="en-US" altLang="zh-CN" dirty="0"/>
              <a:t>/</a:t>
            </a:r>
            <a:r>
              <a:rPr lang="zh-CN" altLang="en-US" dirty="0"/>
              <a:t>屏蔽机制</a:t>
            </a:r>
            <a:r>
              <a:rPr lang="en-US" dirty="0"/>
              <a:t>	</a:t>
            </a:r>
            <a:endParaRPr lang="en-US" dirty="0"/>
          </a:p>
          <a:p>
            <a:pPr lvl="1"/>
            <a:r>
              <a:rPr lang="zh-CN" altLang="en-US"/>
              <a:t>内核默认阻塞任何当前处理程序</a:t>
            </a:r>
            <a:r>
              <a:rPr lang="zh-CN" altLang="en-US" b="1"/>
              <a:t>正在处理的信号类型</a:t>
            </a:r>
            <a:r>
              <a:rPr lang="zh-CN" altLang="en-US"/>
              <a:t>的待处理信号</a:t>
            </a:r>
            <a:endParaRPr lang="zh-CN" altLang="en-US"/>
          </a:p>
          <a:p>
            <a:pPr lvl="1"/>
            <a:r>
              <a:rPr lang="zh-CN" altLang="en-US" dirty="0"/>
              <a:t>例如，一个</a:t>
            </a:r>
            <a:r>
              <a:rPr lang="en-US" dirty="0">
                <a:latin typeface="Consolas" panose="020B0609020204030204" pitchFamily="49" charset="0"/>
                <a:cs typeface="Consolas" panose="020B0609020204030204" pitchFamily="49" charset="0"/>
              </a:rPr>
              <a:t> SIGINT </a:t>
            </a:r>
            <a:r>
              <a:rPr lang="zh-CN" altLang="en-US" dirty="0">
                <a:latin typeface="Consolas" panose="020B0609020204030204" pitchFamily="49" charset="0"/>
                <a:cs typeface="Consolas" panose="020B0609020204030204" pitchFamily="49" charset="0"/>
              </a:rPr>
              <a:t>处理</a:t>
            </a:r>
            <a:r>
              <a:rPr lang="zh-CN" altLang="en-US" dirty="0"/>
              <a:t>程序不会被另一个</a:t>
            </a:r>
            <a:r>
              <a:rPr lang="en-US" dirty="0">
                <a:latin typeface="Consolas" panose="020B0609020204030204" pitchFamily="49" charset="0"/>
                <a:cs typeface="Consolas" panose="020B0609020204030204" pitchFamily="49" charset="0"/>
              </a:rPr>
              <a:t> SIGINT </a:t>
            </a:r>
            <a:r>
              <a:rPr lang="zh-CN" altLang="en-US" dirty="0"/>
              <a:t>信号中断</a:t>
            </a:r>
            <a:endParaRPr lang="en-US" dirty="0"/>
          </a:p>
          <a:p>
            <a:pPr marL="0" indent="0">
              <a:buNone/>
            </a:pPr>
            <a:endParaRPr lang="en-US" dirty="0"/>
          </a:p>
          <a:p>
            <a:r>
              <a:rPr lang="zh-CN" altLang="en-US" dirty="0"/>
              <a:t>显式阻塞</a:t>
            </a:r>
            <a:r>
              <a:rPr lang="en-US" altLang="zh-CN" dirty="0"/>
              <a:t>/</a:t>
            </a:r>
            <a:r>
              <a:rPr lang="zh-CN" altLang="en-US" dirty="0"/>
              <a:t>屏蔽机制</a:t>
            </a:r>
            <a:endParaRPr lang="en-US" dirty="0"/>
          </a:p>
          <a:p>
            <a:pPr lvl="1"/>
            <a:r>
              <a:rPr lang="en-US" dirty="0" err="1">
                <a:latin typeface="Courier New" panose="02070609020205020404"/>
                <a:cs typeface="Courier New" panose="02070609020205020404"/>
              </a:rPr>
              <a:t>sigprocmask</a:t>
            </a:r>
            <a:r>
              <a:rPr lang="en-US" dirty="0">
                <a:latin typeface="Courier New" panose="02070609020205020404"/>
                <a:cs typeface="Courier New" panose="02070609020205020404"/>
              </a:rPr>
              <a:t> </a:t>
            </a:r>
            <a:r>
              <a:rPr lang="zh-CN" altLang="en-US" dirty="0"/>
              <a:t>函数</a:t>
            </a:r>
            <a:endParaRPr lang="en-US" dirty="0"/>
          </a:p>
          <a:p>
            <a:pPr lvl="1"/>
            <a:endParaRPr lang="en-US" dirty="0"/>
          </a:p>
          <a:p>
            <a:r>
              <a:rPr lang="zh-CN" altLang="en-US" dirty="0"/>
              <a:t>辅助函数</a:t>
            </a:r>
            <a:endParaRPr lang="en-US" dirty="0"/>
          </a:p>
          <a:p>
            <a:pPr lvl="1"/>
            <a:r>
              <a:rPr lang="en-US" dirty="0" err="1">
                <a:latin typeface="Courier New" panose="02070609020205020404"/>
                <a:cs typeface="Courier New" panose="02070609020205020404"/>
              </a:rPr>
              <a:t>sigemptyset</a:t>
            </a:r>
            <a:r>
              <a:rPr lang="en-US" dirty="0"/>
              <a:t> </a:t>
            </a:r>
            <a:r>
              <a:rPr lang="en-US" dirty="0">
                <a:latin typeface="仿宋" panose="02010609060101010101" pitchFamily="49" charset="-122"/>
                <a:cs typeface="仿宋" panose="02010609060101010101" pitchFamily="49" charset="-122"/>
              </a:rPr>
              <a:t>– </a:t>
            </a:r>
            <a:r>
              <a:rPr lang="zh-CN" altLang="en-US" dirty="0">
                <a:latin typeface="仿宋" panose="02010609060101010101" pitchFamily="49" charset="-122"/>
                <a:cs typeface="仿宋" panose="02010609060101010101" pitchFamily="49" charset="-122"/>
              </a:rPr>
              <a:t>初始化为空集合</a:t>
            </a:r>
            <a:endParaRPr lang="en-US" dirty="0">
              <a:latin typeface="仿宋" panose="02010609060101010101" pitchFamily="49" charset="-122"/>
              <a:cs typeface="仿宋" panose="02010609060101010101" pitchFamily="49" charset="-122"/>
            </a:endParaRPr>
          </a:p>
          <a:p>
            <a:pPr lvl="1"/>
            <a:r>
              <a:rPr lang="en-US" dirty="0" err="1">
                <a:latin typeface="Courier New" panose="02070609020205020404"/>
                <a:cs typeface="Courier New" panose="02070609020205020404"/>
              </a:rPr>
              <a:t>sigfillset</a:t>
            </a:r>
            <a:r>
              <a:rPr lang="en-US" dirty="0">
                <a:latin typeface="Courier New" panose="02070609020205020404"/>
                <a:cs typeface="Courier New" panose="02070609020205020404"/>
              </a:rPr>
              <a:t> </a:t>
            </a:r>
            <a:r>
              <a:rPr lang="en-US" dirty="0">
                <a:latin typeface="仿宋" panose="02010609060101010101" pitchFamily="49" charset="-122"/>
                <a:cs typeface="仿宋" panose="02010609060101010101" pitchFamily="49" charset="-122"/>
              </a:rPr>
              <a:t>– </a:t>
            </a:r>
            <a:r>
              <a:rPr lang="zh-CN" altLang="en-US">
                <a:latin typeface="仿宋" panose="02010609060101010101" pitchFamily="49" charset="-122"/>
                <a:cs typeface="仿宋" panose="02010609060101010101" pitchFamily="49" charset="-122"/>
              </a:rPr>
              <a:t>将所有信号编号添加到集合中</a:t>
            </a:r>
            <a:endParaRPr lang="zh-CN" altLang="en-US"/>
          </a:p>
          <a:p>
            <a:pPr lvl="1"/>
            <a:r>
              <a:rPr lang="en-US" dirty="0" err="1">
                <a:latin typeface="Courier New" panose="02070609020205020404"/>
                <a:cs typeface="Courier New" panose="02070609020205020404"/>
              </a:rPr>
              <a:t>sigaddset</a:t>
            </a:r>
            <a:r>
              <a:rPr lang="en-US" dirty="0"/>
              <a:t> </a:t>
            </a:r>
            <a:r>
              <a:rPr lang="en-US" dirty="0">
                <a:latin typeface="仿宋" panose="02010609060101010101" pitchFamily="49" charset="-122"/>
                <a:cs typeface="仿宋" panose="02010609060101010101" pitchFamily="49" charset="-122"/>
              </a:rPr>
              <a:t>– </a:t>
            </a:r>
            <a:r>
              <a:rPr lang="zh-CN" altLang="en-US">
                <a:latin typeface="仿宋" panose="02010609060101010101" pitchFamily="49" charset="-122"/>
                <a:cs typeface="仿宋" panose="02010609060101010101" pitchFamily="49" charset="-122"/>
              </a:rPr>
              <a:t>将特定信号编号添加到集合中</a:t>
            </a:r>
            <a:endParaRPr lang="zh-CN" altLang="en-US"/>
          </a:p>
          <a:p>
            <a:pPr lvl="1"/>
            <a:r>
              <a:rPr lang="en-US" dirty="0" err="1">
                <a:latin typeface="Courier New" panose="02070609020205020404"/>
                <a:cs typeface="Courier New" panose="02070609020205020404"/>
              </a:rPr>
              <a:t>sigdelset</a:t>
            </a:r>
            <a:r>
              <a:rPr lang="en-US" dirty="0"/>
              <a:t> </a:t>
            </a:r>
            <a:r>
              <a:rPr lang="en-US" dirty="0">
                <a:latin typeface="仿宋" panose="02010609060101010101" pitchFamily="49" charset="-122"/>
                <a:cs typeface="仿宋" panose="02010609060101010101" pitchFamily="49" charset="-122"/>
              </a:rPr>
              <a:t>– </a:t>
            </a:r>
            <a:r>
              <a:rPr lang="zh-CN" altLang="en-US">
                <a:latin typeface="仿宋" panose="02010609060101010101" pitchFamily="49" charset="-122"/>
                <a:cs typeface="仿宋" panose="02010609060101010101" pitchFamily="49" charset="-122"/>
              </a:rPr>
              <a:t>从集合中删除特定信号编号</a:t>
            </a:r>
            <a:endParaRPr lang="zh-CN" altLang="en-US"/>
          </a:p>
          <a:p>
            <a:pPr lvl="1"/>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488" y="435678"/>
            <a:ext cx="10122408" cy="762000"/>
          </a:xfrm>
        </p:spPr>
        <p:txBody>
          <a:bodyPr/>
          <a:lstStyle/>
          <a:p>
            <a:r>
              <a:rPr lang="zh-CN" altLang="en-US" dirty="0"/>
              <a:t>临时</a:t>
            </a:r>
            <a:r>
              <a:rPr lang="zh-CN" altLang="en-US" dirty="0"/>
              <a:t>屏蔽信号</a:t>
            </a:r>
            <a:endParaRPr lang="zh-CN" altLang="en-US" dirty="0"/>
          </a:p>
        </p:txBody>
      </p:sp>
      <p:sp>
        <p:nvSpPr>
          <p:cNvPr id="4" name="Text Box 4"/>
          <p:cNvSpPr txBox="1">
            <a:spLocks noChangeArrowheads="1"/>
          </p:cNvSpPr>
          <p:nvPr/>
        </p:nvSpPr>
        <p:spPr bwMode="auto">
          <a:xfrm>
            <a:off x="1752600" y="1828800"/>
            <a:ext cx="9570085" cy="3538220"/>
          </a:xfrm>
          <a:prstGeom prst="rect">
            <a:avLst/>
          </a:prstGeom>
          <a:solidFill>
            <a:srgbClr val="F6F5BD"/>
          </a:solidFill>
          <a:ln w="3175">
            <a:solidFill>
              <a:schemeClr val="tx1"/>
            </a:solidFill>
            <a:miter lim="800000"/>
          </a:ln>
          <a:effectLst/>
        </p:spPr>
        <p:txBody>
          <a:bodyPr wrap="square">
            <a:spAutoFit/>
          </a:bodyPr>
          <a:lstStyle/>
          <a:p>
            <a:r>
              <a:rPr lang="en-US" sz="1400" dirty="0">
                <a:solidFill>
                  <a:srgbClr val="000000"/>
                </a:solidFill>
                <a:latin typeface="Menlo-Regular" panose="020B0609030804020204"/>
              </a:rPr>
              <a:t> </a:t>
            </a:r>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sigset_t</a:t>
            </a:r>
            <a:r>
              <a:rPr lang="en-US" sz="1600" dirty="0">
                <a:solidFill>
                  <a:srgbClr val="000000"/>
                </a:solidFill>
                <a:latin typeface="Menlo-Regular" panose="020B0609030804020204"/>
              </a:rPr>
              <a:t> </a:t>
            </a:r>
            <a:r>
              <a:rPr lang="en-US" sz="1600" dirty="0">
                <a:solidFill>
                  <a:srgbClr val="C1651C"/>
                </a:solidFill>
                <a:latin typeface="Menlo-Regular" panose="020B0609030804020204"/>
              </a:rPr>
              <a:t>mask</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prev_mask</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Sigemptyset</a:t>
            </a:r>
            <a:r>
              <a:rPr lang="en-US" sz="1600" dirty="0">
                <a:solidFill>
                  <a:srgbClr val="000000"/>
                </a:solidFill>
                <a:latin typeface="Menlo-Regular" panose="020B0609030804020204"/>
              </a:rPr>
              <a:t>(&amp;mask);</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Sigaddset</a:t>
            </a:r>
            <a:r>
              <a:rPr lang="en-US" sz="1600" dirty="0">
                <a:solidFill>
                  <a:srgbClr val="000000"/>
                </a:solidFill>
                <a:latin typeface="Menlo-Regular" panose="020B0609030804020204"/>
              </a:rPr>
              <a:t>(&amp;mask, SIGINT);		// </a:t>
            </a:r>
            <a:r>
              <a:rPr lang="zh-CN" altLang="en-US" sz="1600" dirty="0">
                <a:solidFill>
                  <a:srgbClr val="000000"/>
                </a:solidFill>
                <a:latin typeface="Menlo-Regular" panose="020B0609030804020204"/>
              </a:rPr>
              <a:t>准备阻塞</a:t>
            </a:r>
            <a:r>
              <a:rPr lang="en-US" altLang="zh-CN" sz="1600" dirty="0">
                <a:solidFill>
                  <a:srgbClr val="000000"/>
                </a:solidFill>
                <a:latin typeface="Menlo-Regular" panose="020B0609030804020204"/>
              </a:rPr>
              <a:t>SIGINT</a:t>
            </a:r>
            <a:r>
              <a:rPr lang="zh-CN" altLang="en-US" sz="1600" dirty="0">
                <a:solidFill>
                  <a:srgbClr val="000000"/>
                </a:solidFill>
                <a:latin typeface="Menlo-Regular" panose="020B0609030804020204"/>
              </a:rPr>
              <a:t>信号</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Additionally</a:t>
            </a:r>
            <a:r>
              <a:rPr lang="zh-CN" altLang="en-US" sz="1600" dirty="0">
                <a:solidFill>
                  <a:srgbClr val="CB2418"/>
                </a:solidFill>
                <a:latin typeface="Menlo-Regular" panose="020B0609030804020204"/>
              </a:rPr>
              <a:t> </a:t>
            </a:r>
            <a:r>
              <a:rPr lang="en-US" altLang="zh-CN" sz="1600" dirty="0">
                <a:solidFill>
                  <a:srgbClr val="CB2418"/>
                </a:solidFill>
                <a:latin typeface="Menlo-Regular" panose="020B0609030804020204"/>
              </a:rPr>
              <a:t>b</a:t>
            </a:r>
            <a:r>
              <a:rPr lang="en-US" sz="1600" dirty="0">
                <a:solidFill>
                  <a:srgbClr val="CB2418"/>
                </a:solidFill>
                <a:latin typeface="Menlo-Regular" panose="020B0609030804020204"/>
              </a:rPr>
              <a:t>lock SIGINT and save previous blocked set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Sigprocmask</a:t>
            </a:r>
            <a:r>
              <a:rPr lang="en-US" sz="1600" dirty="0">
                <a:solidFill>
                  <a:srgbClr val="000000"/>
                </a:solidFill>
                <a:latin typeface="Menlo-Regular" panose="020B0609030804020204"/>
              </a:rPr>
              <a:t>(SIG_BLOCK, &amp;mask, &amp;</a:t>
            </a:r>
            <a:r>
              <a:rPr lang="en-US" sz="1600" dirty="0" err="1">
                <a:solidFill>
                  <a:srgbClr val="000000"/>
                </a:solidFill>
                <a:latin typeface="Menlo-Regular" panose="020B0609030804020204"/>
              </a:rPr>
              <a:t>prev_mask</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chemeClr val="accent6">
                    <a:lumMod val="60000"/>
                    <a:lumOff val="40000"/>
                  </a:schemeClr>
                </a:solidFill>
                <a:latin typeface="Menlo-Regular" panose="020B0609030804020204"/>
              </a:rPr>
              <a:t>/* Code region that will not be interrupted by SIGINT */</a:t>
            </a:r>
            <a:endParaRPr lang="en-US" sz="1600" dirty="0">
              <a:solidFill>
                <a:schemeClr val="accent6">
                  <a:lumMod val="60000"/>
                  <a:lumOff val="40000"/>
                </a:schemeClr>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B2418"/>
                </a:solidFill>
                <a:latin typeface="Menlo-Regular" panose="020B0609030804020204"/>
              </a:rPr>
              <a:t>/* Restore previous blocked set, unblocking SIGINT */ </a:t>
            </a:r>
            <a:endParaRPr lang="en-US" sz="1600" dirty="0">
              <a:solidFill>
                <a:srgbClr val="CB2418"/>
              </a:solidFill>
              <a:latin typeface="Menlo-Regular" panose="020B0609030804020204"/>
            </a:endParaRPr>
          </a:p>
          <a:p>
            <a:pPr indent="457200"/>
            <a:r>
              <a:rPr lang="en-US" sz="1600" dirty="0">
                <a:solidFill>
                  <a:schemeClr val="tx1"/>
                </a:solidFill>
                <a:latin typeface="Menlo-Regular" panose="020B0609030804020204"/>
              </a:rPr>
              <a:t>// </a:t>
            </a:r>
            <a:r>
              <a:rPr lang="zh-CN" altLang="en-US" sz="1600" dirty="0">
                <a:solidFill>
                  <a:schemeClr val="tx1"/>
                </a:solidFill>
                <a:latin typeface="Menlo-Regular" panose="020B0609030804020204"/>
              </a:rPr>
              <a:t>允许后续处理</a:t>
            </a:r>
            <a:r>
              <a:rPr lang="en-US" altLang="zh-CN" sz="1600" dirty="0">
                <a:solidFill>
                  <a:schemeClr val="tx1"/>
                </a:solidFill>
                <a:latin typeface="Menlo-Regular" panose="020B0609030804020204"/>
              </a:rPr>
              <a:t>SIGINT</a:t>
            </a:r>
            <a:r>
              <a:rPr lang="zh-CN" altLang="en-US" sz="1600" dirty="0">
                <a:solidFill>
                  <a:schemeClr val="tx1"/>
                </a:solidFill>
                <a:latin typeface="Menlo-Regular" panose="020B0609030804020204"/>
              </a:rPr>
              <a:t>信号</a:t>
            </a:r>
            <a:endParaRPr lang="en-US" sz="1600" dirty="0">
              <a:solidFill>
                <a:schemeClr val="tx1"/>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Sigprocmask</a:t>
            </a:r>
            <a:r>
              <a:rPr lang="en-US" sz="1600" dirty="0">
                <a:solidFill>
                  <a:srgbClr val="000000"/>
                </a:solidFill>
                <a:latin typeface="Menlo-Regular" panose="020B0609030804020204"/>
              </a:rPr>
              <a:t>(SIG_SETMASK, &amp;</a:t>
            </a:r>
            <a:r>
              <a:rPr lang="en-US" sz="1600" dirty="0" err="1">
                <a:solidFill>
                  <a:srgbClr val="000000"/>
                </a:solidFill>
                <a:latin typeface="Menlo-Regular" panose="020B0609030804020204"/>
              </a:rPr>
              <a:t>prev_mask</a:t>
            </a:r>
            <a:r>
              <a:rPr lang="en-US" sz="1600" dirty="0">
                <a:solidFill>
                  <a:srgbClr val="000000"/>
                </a:solidFill>
                <a:latin typeface="Menlo-Regular" panose="020B0609030804020204"/>
              </a:rPr>
              <a:t>, </a:t>
            </a:r>
            <a:r>
              <a:rPr lang="en-US" sz="1600" dirty="0">
                <a:solidFill>
                  <a:srgbClr val="2C9290"/>
                </a:solidFill>
                <a:latin typeface="Menlo-Regular" panose="020B0609030804020204"/>
              </a:rPr>
              <a:t>NULL</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endParaRPr lang="en-US" sz="1600" dirty="0">
              <a:solidFill>
                <a:srgbClr val="000000"/>
              </a:solidFill>
              <a:latin typeface="Courier New" panose="02070609020205020404"/>
              <a:cs typeface="Courier New" panose="02070609020205020404"/>
            </a:endParaRPr>
          </a:p>
        </p:txBody>
      </p:sp>
      <p:sp>
        <p:nvSpPr>
          <p:cNvPr id="3" name="TextBox 2"/>
          <p:cNvSpPr txBox="1"/>
          <p:nvPr/>
        </p:nvSpPr>
        <p:spPr>
          <a:xfrm rot="16200000">
            <a:off x="2037666" y="3448736"/>
            <a:ext cx="838200" cy="646331"/>
          </a:xfrm>
          <a:prstGeom prst="rect">
            <a:avLst/>
          </a:prstGeom>
          <a:noFill/>
        </p:spPr>
        <p:txBody>
          <a:bodyPr wrap="square" rtlCol="0">
            <a:spAutoFit/>
          </a:bodyPr>
          <a:lstStyle/>
          <a:p>
            <a:r>
              <a:rPr lang="en-US" sz="3600" dirty="0">
                <a:latin typeface="Calibri" panose="020F0502020204030204" pitchFamily="34" charset="0"/>
              </a:rPr>
              <a:t>…</a:t>
            </a:r>
            <a:endParaRPr lang="en-US" sz="3600" dirty="0">
              <a:latin typeface="Calibri" panose="020F0502020204030204" pitchFamily="34" charset="0"/>
            </a:endParaRPr>
          </a:p>
        </p:txBody>
      </p:sp>
    </p:spTree>
  </p:cSld>
  <p:clrMapOvr>
    <a:masterClrMapping/>
  </p:clrMapOvr>
</p:sld>
</file>

<file path=ppt/tags/tag1.xml><?xml version="1.0" encoding="utf-8"?>
<p:tagLst xmlns:p="http://schemas.openxmlformats.org/presentationml/2006/main">
  <p:tag name="TABLE_ENDDRAG_ORIGIN_RECT" val="666*230"/>
  <p:tag name="TABLE_ENDDRAG_RECT" val="132*291*666*230"/>
</p:tagLst>
</file>

<file path=ppt/tags/tag2.xml><?xml version="1.0" encoding="utf-8"?>
<p:tagLst xmlns:p="http://schemas.openxmlformats.org/presentationml/2006/main">
  <p:tag name="KSO_WM_DIAGRAM_VIRTUALLY_FRAME" val="{&quot;height&quot;:109.87496062992122,&quot;left&quot;:176.75,&quot;top&quot;:358.9995275590551,&quot;width&quot;:443.1}"/>
</p:tagLst>
</file>

<file path=ppt/tags/tag3.xml><?xml version="1.0" encoding="utf-8"?>
<p:tagLst xmlns:p="http://schemas.openxmlformats.org/presentationml/2006/main">
  <p:tag name="KSO_WM_DIAGRAM_VIRTUALLY_FRAME" val="{&quot;height&quot;:109.87496062992122,&quot;left&quot;:176.75,&quot;top&quot;:358.9995275590551,&quot;width&quot;:443.1}"/>
</p:tagLst>
</file>

<file path=ppt/tags/tag4.xml><?xml version="1.0" encoding="utf-8"?>
<p:tagLst xmlns:p="http://schemas.openxmlformats.org/presentationml/2006/main">
  <p:tag name="KSO_WM_DIAGRAM_VIRTUALLY_FRAME" val="{&quot;height&quot;:109.87496062992122,&quot;left&quot;:176.75,&quot;top&quot;:358.9995275590551,&quot;width&quot;:443.1}"/>
</p:tagLst>
</file>

<file path=ppt/tags/tag5.xml><?xml version="1.0" encoding="utf-8"?>
<p:tagLst xmlns:p="http://schemas.openxmlformats.org/presentationml/2006/main">
  <p:tag name="KSO_WM_DIAGRAM_VIRTUALLY_FRAME" val="{&quot;height&quot;:109.87496062992122,&quot;left&quot;:176.75,&quot;top&quot;:358.9995275590551,&quot;width&quot;:443.1}"/>
</p:tagLst>
</file>

<file path=ppt/tags/tag6.xml><?xml version="1.0" encoding="utf-8"?>
<p:tagLst xmlns:p="http://schemas.openxmlformats.org/presentationml/2006/main">
  <p:tag name="KSO_WM_DIAGRAM_VIRTUALLY_FRAME" val="{&quot;height&quot;:109.87496062992122,&quot;left&quot;:176.75,&quot;top&quot;:358.9995275590551,&quot;width&quot;:443.1}"/>
</p:tagLst>
</file>

<file path=ppt/tags/tag7.xml><?xml version="1.0" encoding="utf-8"?>
<p:tagLst xmlns:p="http://schemas.openxmlformats.org/presentationml/2006/main">
  <p:tag name="KSO_WM_DIAGRAM_VIRTUALLY_FRAME" val="{&quot;height&quot;:109.87496062992122,&quot;left&quot;:176.75,&quot;top&quot;:358.9995275590551,&quot;width&quot;:443.1}"/>
</p:tagLst>
</file>

<file path=ppt/tags/tag8.xml><?xml version="1.0" encoding="utf-8"?>
<p:tagLst xmlns:p="http://schemas.openxmlformats.org/presentationml/2006/main">
  <p:tag name="KSO_WM_DIAGRAM_VIRTUALLY_FRAME" val="{&quot;height&quot;:109.87496062992122,&quot;left&quot;:176.75,&quot;top&quot;:358.9995275590551,&quot;width&quot;:443.1}"/>
</p:tagLst>
</file>

<file path=ppt/tags/tag9.xml><?xml version="1.0" encoding="utf-8"?>
<p:tagLst xmlns:p="http://schemas.openxmlformats.org/presentationml/2006/main">
  <p:tag name="KSO_WM_DIAGRAM_VIRTUALLY_FRAME" val="{&quot;height&quot;:109.87496062992122,&quot;left&quot;:176.75,&quot;top&quot;:358.9995275590551,&quot;width&quot;:443.1}"/>
</p:tagLst>
</file>

<file path=ppt/tags/tag10.xml><?xml version="1.0" encoding="utf-8"?>
<p:tagLst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lgn="ctr">
          <a:solidFill>
            <a:schemeClr val="tx1"/>
          </a:solidFill>
          <a:prstDash val="solid"/>
          <a:round/>
          <a:headEnd type="none" w="med" len="med"/>
          <a:tailEnd type="arrow" w="med" len="med"/>
        </a:ln>
      </a:spPr>
      <a:bodyPr rtlCol="0" anchor="ctr"/>
      <a:lstStyle>
        <a:defPPr algn="ctr">
          <a:defRPr/>
        </a:defPPr>
      </a:lstStyle>
    </a:spDef>
    <a:lnDef>
      <a:spPr bwMode="auto">
        <a:noFill/>
        <a:ln w="25400" cap="flat" cmpd="sng" algn="ctr">
          <a:solidFill>
            <a:schemeClr val="tx1"/>
          </a:solidFill>
          <a:prstDash val="solid"/>
          <a:round/>
          <a:headEnd type="none" w="med" len="med"/>
          <a:tailEnd type="none" w="med" len="med"/>
        </a:ln>
      </a:spPr>
      <a:bodyPr/>
      <a:lstStyle/>
    </a:lnDef>
    <a:txDef>
      <a:spPr>
        <a:noFill/>
      </a:spPr>
      <a:bodyPr wrap="none" rtlCol="0">
        <a:spAutoFit/>
      </a:bodyPr>
      <a:lstStyle>
        <a:defPPr>
          <a:defRPr sz="1800" dirty="0" smtClean="0">
            <a:latin typeface="Calibri" panose="020F0502020204030204"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template2007</Template>
  <TotalTime>0</TotalTime>
  <Words>19209</Words>
  <Application>WPS Sheets</Application>
  <PresentationFormat>Widescreen</PresentationFormat>
  <Paragraphs>1146</Paragraphs>
  <Slides>47</Slides>
  <Notes>53</Notes>
  <HiddenSlides>9</HiddenSlides>
  <MMClips>0</MMClips>
  <ScaleCrop>false</ScaleCrop>
  <HeadingPairs>
    <vt:vector size="6" baseType="variant">
      <vt:variant>
        <vt:lpstr>已用的字体</vt:lpstr>
      </vt:variant>
      <vt:variant>
        <vt:i4>49</vt:i4>
      </vt:variant>
      <vt:variant>
        <vt:lpstr>主题</vt:lpstr>
      </vt:variant>
      <vt:variant>
        <vt:i4>1</vt:i4>
      </vt:variant>
      <vt:variant>
        <vt:lpstr>幻灯片标题</vt:lpstr>
      </vt:variant>
      <vt:variant>
        <vt:i4>47</vt:i4>
      </vt:variant>
    </vt:vector>
  </HeadingPairs>
  <TitlesOfParts>
    <vt:vector size="97" baseType="lpstr">
      <vt:lpstr>Arial</vt:lpstr>
      <vt:lpstr>SimSun</vt:lpstr>
      <vt:lpstr>Wingdings</vt:lpstr>
      <vt:lpstr>Arial Narrow</vt:lpstr>
      <vt:lpstr>Calibri</vt:lpstr>
      <vt:lpstr>Helvetica Neue</vt:lpstr>
      <vt:lpstr>仿宋</vt:lpstr>
      <vt:lpstr>方正仿宋_GBK</vt:lpstr>
      <vt:lpstr>MS PGothic</vt:lpstr>
      <vt:lpstr>Wingdings 2</vt:lpstr>
      <vt:lpstr>Times New Roman</vt:lpstr>
      <vt:lpstr>Consolas</vt:lpstr>
      <vt:lpstr>苹方-简</vt:lpstr>
      <vt:lpstr>SimHei</vt:lpstr>
      <vt:lpstr>FangSong</vt:lpstr>
      <vt:lpstr>Courier New</vt:lpstr>
      <vt:lpstr>Times New Roman Regular</vt:lpstr>
      <vt:lpstr>Microsoft YaHei</vt:lpstr>
      <vt:lpstr>汉仪旗黑</vt:lpstr>
      <vt:lpstr>Arial Narrow Bold</vt:lpstr>
      <vt:lpstr>Microsoft YaHei</vt:lpstr>
      <vt:lpstr>Arial Unicode MS</vt:lpstr>
      <vt:lpstr>Courier New</vt:lpstr>
      <vt:lpstr>Menlo-Regular</vt:lpstr>
      <vt:lpstr>msgothic</vt:lpstr>
      <vt:lpstr>quote-cjk-patch</vt:lpstr>
      <vt:lpstr>Arial</vt:lpstr>
      <vt:lpstr>-apple-system</vt:lpstr>
      <vt:lpstr>Thonburi</vt:lpstr>
      <vt:lpstr>Arial Bold</vt:lpstr>
      <vt:lpstr>Calibri</vt:lpstr>
      <vt:lpstr>Courier New Bold</vt:lpstr>
      <vt:lpstr>Menlo-Bold</vt:lpstr>
      <vt:lpstr>Menlo Bold</vt:lpstr>
      <vt:lpstr>menlo</vt:lpstr>
      <vt:lpstr>汉仪书宋二KW</vt:lpstr>
      <vt:lpstr>Hiragino Sans</vt:lpstr>
      <vt:lpstr>汉仪中黑KW</vt:lpstr>
      <vt:lpstr>SimSun</vt:lpstr>
      <vt:lpstr>-apple-system</vt:lpstr>
      <vt:lpstr>FangSong</vt:lpstr>
      <vt:lpstr>Menlo-Bold</vt:lpstr>
      <vt:lpstr>Menlo-Regular</vt:lpstr>
      <vt:lpstr>SimHei</vt:lpstr>
      <vt:lpstr>Wingdings</vt:lpstr>
      <vt:lpstr>menlo</vt:lpstr>
      <vt:lpstr>quote-cjk-patch</vt:lpstr>
      <vt:lpstr>仿宋</vt:lpstr>
      <vt:lpstr>SimSun</vt:lpstr>
      <vt:lpstr>template2007</vt:lpstr>
      <vt:lpstr>异常控制流：信号与非本地跳转  计算机系统基础 </vt:lpstr>
      <vt:lpstr>异常控制流发生在计算机系统的各个层次</vt:lpstr>
      <vt:lpstr>主要内容</vt:lpstr>
      <vt:lpstr>Linux 进程层次结构</vt:lpstr>
      <vt:lpstr>PowerPoint 演示文稿</vt:lpstr>
      <vt:lpstr>Shell 程序</vt:lpstr>
      <vt:lpstr>Shell 程序</vt:lpstr>
      <vt:lpstr>前台进程与后台进程</vt:lpstr>
      <vt:lpstr>前台进程与后台进程</vt:lpstr>
      <vt:lpstr>前后台的切换</vt:lpstr>
      <vt:lpstr>前后台进程的切换例子</vt:lpstr>
      <vt:lpstr>前台进程与后台进程</vt:lpstr>
      <vt:lpstr>简单的 Shell 实现</vt:lpstr>
      <vt:lpstr>简单的 Shell eval 函数</vt:lpstr>
      <vt:lpstr>简单的 Shell eval 函数</vt:lpstr>
      <vt:lpstr>简单的 Shell eval 函数</vt:lpstr>
      <vt:lpstr>简单的 Shell eval 函数</vt:lpstr>
      <vt:lpstr>简单的 Shell eval 函数</vt:lpstr>
      <vt:lpstr>简单的 Shell eval 函数</vt:lpstr>
      <vt:lpstr>简单的 Shell eval 函数</vt:lpstr>
      <vt:lpstr>简单的 Shell eval 函数</vt:lpstr>
      <vt:lpstr>简单的 Shell eval 函数</vt:lpstr>
      <vt:lpstr>简单的 Shell eval 函数</vt:lpstr>
      <vt:lpstr>回顾：回收子进程</vt:lpstr>
      <vt:lpstr>示例 Shell 的缺陷</vt:lpstr>
      <vt:lpstr>异常控制流 ECF 来拯救！</vt:lpstr>
      <vt:lpstr>主要内容</vt:lpstr>
      <vt:lpstr>信号</vt:lpstr>
      <vt:lpstr>信号术语：发送信号</vt:lpstr>
      <vt:lpstr>发送信号：进程组</vt:lpstr>
      <vt:lpstr>用 kill 函数发送信号</vt:lpstr>
      <vt:lpstr>用kill函数发送信号</vt:lpstr>
      <vt:lpstr>用 /bin/kill 命令发送信号</vt:lpstr>
      <vt:lpstr>从键盘发送信号</vt:lpstr>
      <vt:lpstr>ctrl-c 和 ctrl-z 的例子</vt:lpstr>
      <vt:lpstr>summary：发送信号的3种方式</vt:lpstr>
      <vt:lpstr>主要内容</vt:lpstr>
      <vt:lpstr>信号术语：接收信号</vt:lpstr>
      <vt:lpstr>信号术语：待处理和阻塞信号</vt:lpstr>
      <vt:lpstr>信号术语：Pending/Blocked 位</vt:lpstr>
      <vt:lpstr>接收信号</vt:lpstr>
      <vt:lpstr>接收信号</vt:lpstr>
      <vt:lpstr>默认行为</vt:lpstr>
      <vt:lpstr>设置信号处理程序</vt:lpstr>
      <vt:lpstr>信号处理程序示例</vt:lpstr>
      <vt:lpstr>信号的屏蔽和屏蔽的解除</vt:lpstr>
      <vt:lpstr>临时屏蔽信号</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qali</cp:lastModifiedBy>
  <cp:revision>1191</cp:revision>
  <cp:lastPrinted>2026-05-12T10:04:40Z</cp:lastPrinted>
  <dcterms:created xsi:type="dcterms:W3CDTF">2026-05-12T10:04:40Z</dcterms:created>
  <dcterms:modified xsi:type="dcterms:W3CDTF">2026-05-12T10:04:40Z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530A7C5F09A84EAA9B2330E98A739F38_12</vt:lpwstr>
  </property>
  <property fmtid="{D5CDD505-2E9C-101B-9397-08002B2CF9AE}" pid="3" name="KSOProductBuildVer">
    <vt:lpwstr>1033-12.1.24031.24031</vt:lpwstr>
  </property>
</Properties>
</file>