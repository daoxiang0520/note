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63"/>
  </p:handoutMasterIdLst>
  <p:sldIdLst>
    <p:sldId id="542" r:id="rId3"/>
    <p:sldId id="1519" r:id="rId5"/>
    <p:sldId id="1181" r:id="rId6"/>
    <p:sldId id="1799" r:id="rId7"/>
    <p:sldId id="1802" r:id="rId8"/>
    <p:sldId id="1803" r:id="rId9"/>
    <p:sldId id="1182" r:id="rId10"/>
    <p:sldId id="1183" r:id="rId11"/>
    <p:sldId id="1184" r:id="rId12"/>
    <p:sldId id="1236" r:id="rId13"/>
    <p:sldId id="1185" r:id="rId14"/>
    <p:sldId id="1186" r:id="rId15"/>
    <p:sldId id="1804" r:id="rId16"/>
    <p:sldId id="1811" r:id="rId17"/>
    <p:sldId id="1812" r:id="rId18"/>
    <p:sldId id="1810" r:id="rId19"/>
    <p:sldId id="1387" r:id="rId20"/>
    <p:sldId id="1251" r:id="rId21"/>
    <p:sldId id="1797" r:id="rId22"/>
    <p:sldId id="1798" r:id="rId23"/>
    <p:sldId id="1806" r:id="rId24"/>
    <p:sldId id="1807" r:id="rId25"/>
    <p:sldId id="1808" r:id="rId26"/>
    <p:sldId id="1208" r:id="rId27"/>
    <p:sldId id="1209" r:id="rId28"/>
    <p:sldId id="1813" r:id="rId29"/>
    <p:sldId id="1210" r:id="rId30"/>
    <p:sldId id="1211" r:id="rId31"/>
    <p:sldId id="1212" r:id="rId32"/>
    <p:sldId id="1793" r:id="rId33"/>
    <p:sldId id="1814" r:id="rId34"/>
    <p:sldId id="1389" r:id="rId35"/>
    <p:sldId id="1390" r:id="rId36"/>
    <p:sldId id="1391" r:id="rId37"/>
    <p:sldId id="1392" r:id="rId38"/>
    <p:sldId id="1393" r:id="rId39"/>
    <p:sldId id="1815" r:id="rId40"/>
    <p:sldId id="1394" r:id="rId41"/>
    <p:sldId id="1395" r:id="rId42"/>
    <p:sldId id="1816" r:id="rId43"/>
    <p:sldId id="1396" r:id="rId44"/>
    <p:sldId id="1397" r:id="rId45"/>
    <p:sldId id="1796" r:id="rId46"/>
    <p:sldId id="1794" r:id="rId47"/>
    <p:sldId id="1231" r:id="rId48"/>
    <p:sldId id="1809" r:id="rId49"/>
    <p:sldId id="1523" r:id="rId50"/>
    <p:sldId id="1524" r:id="rId51"/>
    <p:sldId id="1525" r:id="rId52"/>
    <p:sldId id="1526" r:id="rId53"/>
    <p:sldId id="1527" r:id="rId54"/>
    <p:sldId id="1528" r:id="rId55"/>
    <p:sldId id="1529" r:id="rId56"/>
    <p:sldId id="1530" r:id="rId57"/>
    <p:sldId id="1531" r:id="rId58"/>
    <p:sldId id="1532" r:id="rId59"/>
    <p:sldId id="1533" r:id="rId60"/>
    <p:sldId id="1534" r:id="rId61"/>
    <p:sldId id="1240" r:id="rId62"/>
  </p:sldIdLst>
  <p:sldSz cx="12192000" cy="6858000"/>
  <p:notesSz cx="7302500" cy="95865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39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ali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E6E6E6"/>
    <a:srgbClr val="F7F5CD"/>
    <a:srgbClr val="DEDFF5"/>
    <a:srgbClr val="DBF2DA"/>
    <a:srgbClr val="990000"/>
    <a:srgbClr val="F6F5BD"/>
    <a:srgbClr val="D5F1CF"/>
    <a:srgbClr val="F1C7C7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487" autoAdjust="0"/>
  </p:normalViewPr>
  <p:slideViewPr>
    <p:cSldViewPr snapToObjects="1" showGuides="1">
      <p:cViewPr varScale="1">
        <p:scale>
          <a:sx n="65" d="100"/>
          <a:sy n="65" d="100"/>
        </p:scale>
        <p:origin x="1982" y="53"/>
      </p:cViewPr>
      <p:guideLst>
        <p:guide orient="horz" pos="2116"/>
        <p:guide pos="39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2598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commentAuthors" Target="commentAuthors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978ACB-9951-498D-BD0C-1F03E536B1FF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1DCD3814-D7CD-4A53-B9FE-871B3970E45F}" type="pres">
      <dgm:prSet presAssocID="{8F978ACB-9951-498D-BD0C-1F03E536B1FF}" presName="Name0" presStyleCnt="0">
        <dgm:presLayoutVars>
          <dgm:dir/>
          <dgm:resizeHandles val="exact"/>
        </dgm:presLayoutVars>
      </dgm:prSet>
      <dgm:spPr/>
    </dgm:pt>
  </dgm:ptLst>
  <dgm:cxnLst>
    <dgm:cxn modelId="{8222A66D-76E0-4933-8139-0D7624678D48}" type="presOf" srcId="{8F978ACB-9951-498D-BD0C-1F03E536B1FF}" destId="{1DCD3814-D7CD-4A53-B9FE-871B3970E45F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919423" cy="316171"/>
        <a:chOff x="0" y="0"/>
        <a:chExt cx="6919423" cy="316171"/>
      </a:xfrm>
    </dsp:grpSpPr>
    <dsp:sp modelId="{F84B6C07-FC15-4A34-8AC7-9AF90288E288}">
      <dsp:nvSpPr>
        <dsp:cNvPr id="3" name="五边形 2"/>
        <dsp:cNvSpPr/>
      </dsp:nvSpPr>
      <dsp:spPr bwMode="white">
        <a:xfrm>
          <a:off x="0" y="0"/>
          <a:ext cx="6919423" cy="316171"/>
        </a:xfrm>
        <a:prstGeom prst="homePlate">
          <a:avLst/>
        </a:prstGeom>
        <a:solidFill>
          <a:srgbClr val="0053A3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4676" tIns="37338" rIns="18669" bIns="3733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rPr>
            <a:t>第</a:t>
          </a:r>
          <a:r>
            <a:rPr lang="en-US" altLang="zh-CN" sz="1400" dirty="0">
              <a:latin typeface="华文楷体" panose="02010600040101010101" pitchFamily="2" charset="-122"/>
              <a:ea typeface="华文楷体" panose="02010600040101010101" pitchFamily="2" charset="-122"/>
            </a:rPr>
            <a:t>4</a:t>
          </a:r>
          <a:r>
            <a: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rPr>
            <a:t>章    程序的链接</a:t>
          </a:r>
        </a:p>
      </dsp:txBody>
      <dsp:txXfrm>
        <a:off x="0" y="0"/>
        <a:ext cx="6919423" cy="316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type="homePlate" r:blip="" rot="180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type="chevron" r:blip="" rot="180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type="homePlate" r:blip="" rot="180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type="chevron" r:blip="" rot="180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defTabSz="965200">
              <a:defRPr sz="12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858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altLang="zh-CN" dirty="0" smtClean="0"/>
              <a:t>Programmers explicitly link appropriate binaries into their programs</a:t>
            </a:r>
            <a:endParaRPr lang="en-GB" altLang="zh-CN" dirty="0" smtClean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altLang="zh-CN" dirty="0" smtClean="0"/>
              <a:t>More efficient, but burdensome on the programmer</a:t>
            </a:r>
            <a:endParaRPr lang="en-GB" altLang="zh-CN" dirty="0" smtClean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pPr marL="228600" indent="-228600">
              <a:buAutoNum type="arabicPeriod"/>
            </a:pPr>
            <a:r>
              <a:rPr lang="en-US" dirty="0" smtClean="0"/>
              <a:t>linker:</a:t>
            </a:r>
            <a:r>
              <a:rPr lang="en-US" baseline="0" dirty="0" smtClean="0"/>
              <a:t> partially link--- instead of link code/data of </a:t>
            </a:r>
            <a:r>
              <a:rPr lang="en-US" baseline="0" dirty="0" err="1" smtClean="0"/>
              <a:t>libc</a:t>
            </a:r>
            <a:r>
              <a:rPr lang="en-US" baseline="0" dirty="0" smtClean="0"/>
              <a:t>/</a:t>
            </a:r>
            <a:r>
              <a:rPr lang="en-US" baseline="0" dirty="0" err="1" smtClean="0"/>
              <a:t>libvector</a:t>
            </a:r>
            <a:r>
              <a:rPr lang="en-US" baseline="0" dirty="0" smtClean="0"/>
              <a:t> into prog21, just add some relocation and symbol table info</a:t>
            </a:r>
            <a:endParaRPr lang="en-US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loader(</a:t>
            </a:r>
            <a:r>
              <a:rPr lang="en-US" baseline="0" dirty="0" err="1" smtClean="0"/>
              <a:t>execve</a:t>
            </a:r>
            <a:r>
              <a:rPr lang="en-US" baseline="0" dirty="0" smtClean="0"/>
              <a:t>) finds that prog21 has a special segment .</a:t>
            </a:r>
            <a:r>
              <a:rPr lang="en-US" baseline="0" dirty="0" err="1" smtClean="0"/>
              <a:t>interp</a:t>
            </a:r>
            <a:r>
              <a:rPr lang="en-US" baseline="0" dirty="0" smtClean="0"/>
              <a:t> ( which contains the path name of dynamic linker: ld-linux.so)</a:t>
            </a:r>
            <a:endParaRPr lang="en-US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loader loads and runs dynamic linker, which</a:t>
            </a:r>
            <a:endParaRPr lang="en-US" baseline="0" dirty="0" smtClean="0"/>
          </a:p>
          <a:p>
            <a:pPr marL="685800" lvl="1" indent="-228600">
              <a:buAutoNum type="arabicPeriod"/>
            </a:pPr>
            <a:r>
              <a:rPr lang="en-US" baseline="0" dirty="0" smtClean="0"/>
              <a:t>relocating text/data of libc.so/libvector.so</a:t>
            </a:r>
            <a:endParaRPr lang="en-US" baseline="0" dirty="0" smtClean="0"/>
          </a:p>
          <a:p>
            <a:pPr marL="685800" lvl="1" indent="-228600">
              <a:buAutoNum type="arabicPeriod"/>
            </a:pPr>
            <a:r>
              <a:rPr lang="en-US" baseline="0" dirty="0" smtClean="0"/>
              <a:t>relocating references in prog21 to symbols in libc.so/libvector.so</a:t>
            </a:r>
            <a:endParaRPr lang="en-US" baseline="0" dirty="0" smtClean="0"/>
          </a:p>
          <a:p>
            <a:pPr marL="685800" lvl="1" indent="-228600">
              <a:buAutoNum type="arabicPeriod"/>
            </a:pPr>
            <a:r>
              <a:rPr lang="en-US" baseline="0" dirty="0" smtClean="0"/>
              <a:t>pass control to prog21</a:t>
            </a:r>
            <a:endParaRPr lang="en-US" baseline="0" dirty="0" smtClean="0"/>
          </a:p>
          <a:p>
            <a:pPr marL="228600" indent="-228600">
              <a:buAutoNum type="arabicPeriod"/>
            </a:pP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704020202020204" pitchFamily="34" charset="0"/>
            </a:endParaRPr>
          </a:p>
        </p:txBody>
      </p:sp>
      <p:sp>
        <p:nvSpPr>
          <p:cNvPr id="1280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fld id="{21C56FC7-5C03-48BF-B248-A4BA91E1313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704020202020204" pitchFamily="34" charset="0"/>
            </a:endParaRPr>
          </a:p>
        </p:txBody>
      </p:sp>
      <p:sp>
        <p:nvSpPr>
          <p:cNvPr id="13107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fld id="{F214ACB7-C33C-445D-B864-CEAED303BCD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SPDY (pronounced "speedy") is an obsolete open-specification communication protocol developed for transporting web content.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dir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Add the directory 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to the list of directories to be searched for header files. Directories named by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are searched before the standard system include directories.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ld’s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option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--wrap=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symbol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Use a wrapper function for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  Any undefined reference to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will be resolved to "__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wrap_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symbol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  Any undefined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reference to "__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real_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symbol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will be resolved to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-</a:t>
            </a:r>
            <a:r>
              <a:rPr lang="en-US" dirty="0" err="1"/>
              <a:t>Wl,</a:t>
            </a:r>
            <a:r>
              <a:rPr lang="en-US" i="1" dirty="0" err="1"/>
              <a:t>option</a:t>
            </a:r>
            <a:endParaRPr lang="en-US" i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Pass </a:t>
            </a:r>
            <a:r>
              <a:rPr lang="en-US" i="1" dirty="0"/>
              <a:t>option</a:t>
            </a:r>
            <a:r>
              <a:rPr lang="en-US" dirty="0"/>
              <a:t> as an option to the linker. If </a:t>
            </a:r>
            <a:r>
              <a:rPr lang="en-US" i="1" dirty="0"/>
              <a:t>option</a:t>
            </a:r>
            <a:r>
              <a:rPr lang="en-US" dirty="0"/>
              <a:t> contains commas, it is split into multiple options at the commas. You can use this syntax to pass an argument to the option. For example, -</a:t>
            </a:r>
            <a:r>
              <a:rPr lang="en-US" dirty="0" err="1"/>
              <a:t>Wl</a:t>
            </a:r>
            <a:r>
              <a:rPr lang="en-US" dirty="0"/>
              <a:t>,-</a:t>
            </a:r>
            <a:r>
              <a:rPr lang="en-US" dirty="0" err="1"/>
              <a:t>Map,output.map</a:t>
            </a:r>
            <a:r>
              <a:rPr lang="en-US" dirty="0"/>
              <a:t> passes -Map </a:t>
            </a:r>
            <a:r>
              <a:rPr lang="en-US" dirty="0" err="1"/>
              <a:t>output.map</a:t>
            </a:r>
            <a:r>
              <a:rPr lang="en-US" dirty="0"/>
              <a:t> to the linker. When using the GNU linker, you can also get the same effect with -</a:t>
            </a:r>
            <a:r>
              <a:rPr lang="en-US" dirty="0" err="1"/>
              <a:t>Wl</a:t>
            </a:r>
            <a:r>
              <a:rPr lang="en-US" dirty="0"/>
              <a:t>,-Map=</a:t>
            </a:r>
            <a:r>
              <a:rPr lang="en-US" dirty="0" err="1"/>
              <a:t>output.map</a:t>
            </a:r>
            <a:r>
              <a:rPr lang="en-US" dirty="0"/>
              <a:t>.</a:t>
            </a:r>
            <a:endParaRPr lang="en-US" dirty="0"/>
          </a:p>
          <a:p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-z </a:t>
            </a:r>
            <a:r>
              <a:rPr lang="en-US" i="1" dirty="0"/>
              <a:t>keyword</a:t>
            </a:r>
            <a:endParaRPr lang="en-US" i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-z is passed directly on to the linker along with the keyword </a:t>
            </a:r>
            <a:r>
              <a:rPr lang="en-US" i="1" dirty="0"/>
              <a:t>keyword</a:t>
            </a:r>
            <a:r>
              <a:rPr lang="en-US" dirty="0"/>
              <a:t>. See the section in the documentation of your linker for permitted values and their meanings.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RTLD_DEFAULT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Find the first occurrence of the desired symbol using the default shared object search order.   The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search  will  include  global symbols in the executable and its dependencies, as well as symbols in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shared objects that were dynamically loaded with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RTLD_GLOBAL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flag.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RTLD_NEXT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Find the next occurrence of the desired symbol in the search order after the current object.   This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allows  one  to provide a wrapper around a function in another shared object, so that, for example,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the definition of a function in a preloaded shared object (see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LD_PRELOAD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in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ld.so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(8)) can find and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invoke  the "real" function provided in another shared object (or for that matter, the "next" defi‐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           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nition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of the function in cases where there are multiple layers of preloading).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-shared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Produce a shared object which can then be linked with other objects to form an executable.  Not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all systems support this option.  For predictable results, you must also specify the same set of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options used for compilation (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fpic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fPIC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 or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suboptions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 when you specify this linker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option.[1]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fpic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Generate position-independent code (PIC) suitable for use in a shared library, if supported for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the target machine.  Such code accesses all constant addresses through a global offset table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(GOT).  The dynamic loader resolves the GOT entries when the program starts (the dynamic loader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is not part of GCC; it is part of the operating system).  If the GOT size for the linked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executable exceeds a machine-specific maximum size, you get an error message from the linker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indicating that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fpic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does not work; in that case, recompile with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fPIC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instead.  (These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maximums are 8k on the SPARC and 32k on the m68k and RS/6000.  The x86 has no such limit.)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Position-independent code requires special support, and therefore works only on certain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machines.  For the x86, GCC supports PIC for System V but not for the Sun 386i.  Code generated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          for the IBM RS/6000 is always position-independent.</a:t>
            </a:r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2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4" y="435678"/>
            <a:ext cx="10122791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6" y="445070"/>
            <a:ext cx="10121900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228600"/>
            <a:ext cx="2914649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0"/>
            <a:ext cx="8544984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5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0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完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38200" y="711280"/>
            <a:ext cx="10515600" cy="979413"/>
          </a:xfrm>
        </p:spPr>
        <p:txBody>
          <a:bodyPr>
            <a:normAutofit/>
          </a:bodyPr>
          <a:lstStyle>
            <a:lvl1pPr algn="ctr">
              <a:defRPr sz="4400" b="1">
                <a:latin typeface="Microsoft YaHei" charset="-122"/>
                <a:ea typeface="Microsoft YaHei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838200" y="6356350"/>
            <a:ext cx="10515600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图示 10"/>
          <p:cNvGraphicFramePr/>
          <p:nvPr userDrawn="1"/>
        </p:nvGraphicFramePr>
        <p:xfrm>
          <a:off x="2127905" y="188069"/>
          <a:ext cx="9225897" cy="316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4"/>
            <a:ext cx="10515600" cy="4519783"/>
          </a:xfrm>
        </p:spPr>
        <p:txBody>
          <a:bodyPr/>
          <a:lstStyle>
            <a:lvl1pPr>
              <a:defRPr sz="3600" b="1">
                <a:latin typeface="Microsoft YaHei" charset="-122"/>
                <a:ea typeface="Microsoft YaHei" charset="-122"/>
              </a:defRPr>
            </a:lvl1pPr>
            <a:lvl2pPr marL="685800" indent="-288290">
              <a:buFont typeface="Wingdings" panose="05000000000000000000" pitchFamily="2" charset="2"/>
              <a:buChar char="Ø"/>
              <a:defRPr sz="2800" b="1">
                <a:latin typeface="Microsoft YaHei" charset="-122"/>
                <a:ea typeface="Microsoft YaHei" charset="-122"/>
              </a:defRPr>
            </a:lvl2pPr>
            <a:lvl3pPr>
              <a:defRPr sz="2400" b="1"/>
            </a:lvl3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Microsoft YaHei" charset="-122"/>
                <a:ea typeface="Microsoft YaHei" charset="-122"/>
              </a:defRPr>
            </a:lvl1pPr>
            <a:lvl2pPr marL="685800" indent="-228600">
              <a:buFont typeface="Wingdings" panose="05000000000000000000" pitchFamily="2" charset="2"/>
              <a:buChar char="Ø"/>
              <a:defRPr>
                <a:latin typeface="Microsoft YaHei" charset="-122"/>
                <a:ea typeface="Microsoft YaHei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38200" y="711280"/>
            <a:ext cx="10515600" cy="979413"/>
          </a:xfrm>
        </p:spPr>
        <p:txBody>
          <a:bodyPr>
            <a:normAutofit/>
          </a:bodyPr>
          <a:lstStyle>
            <a:lvl1pPr algn="ctr">
              <a:defRPr sz="3600">
                <a:latin typeface="Microsoft YaHei" charset="-122"/>
                <a:ea typeface="Microsoft YaHei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838200" y="6356350"/>
            <a:ext cx="10515600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6557433" y="170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800" dirty="0" smtClean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 smtClean="0"/>
          </a:p>
        </p:txBody>
      </p:sp>
      <p:sp>
        <p:nvSpPr>
          <p:cNvPr id="6" name="Rectangle 5"/>
          <p:cNvSpPr/>
          <p:nvPr userDrawn="1"/>
        </p:nvSpPr>
        <p:spPr>
          <a:xfrm>
            <a:off x="11774457" y="6611779"/>
            <a:ext cx="24638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</a:fld>
            <a:endParaRPr kumimoji="0" lang="en-US" sz="1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iming>
    <p:tnLst>
      <p:par>
        <p:cTn id="1" dur="indefinite" restart="never" nodeType="tmRoot"/>
      </p:par>
    </p:tnLst>
  </p:timing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09800" y="1708150"/>
            <a:ext cx="7772400" cy="1720850"/>
          </a:xfrm>
        </p:spPr>
        <p:txBody>
          <a:bodyPr/>
          <a:lstStyle/>
          <a:p>
            <a:pPr marL="0" indent="0"/>
            <a:r>
              <a:rPr lang="en-US" dirty="0" smtClean="0"/>
              <a:t>Linking</a:t>
            </a:r>
            <a:r>
              <a:rPr lang="zh-CN" altLang="en-US" dirty="0" smtClean="0"/>
              <a:t>链接</a:t>
            </a:r>
            <a:br>
              <a:rPr lang="en-US" dirty="0" smtClean="0"/>
            </a:br>
            <a:br>
              <a:rPr lang="en-US" dirty="0" smtClean="0"/>
            </a:br>
            <a:r>
              <a:rPr lang="zh-CN" altLang="en-US" sz="2000" b="0" dirty="0" smtClean="0"/>
              <a:t>本课件基于</a:t>
            </a:r>
            <a:r>
              <a:rPr lang="en-US" altLang="zh-CN" sz="2000" b="0" dirty="0" smtClean="0"/>
              <a:t>csapp.cs.cmu.edu</a:t>
            </a:r>
            <a:r>
              <a:rPr lang="zh-CN" altLang="en-US" sz="2000" b="0" dirty="0" smtClean="0"/>
              <a:t>上资源进行</a:t>
            </a:r>
            <a:r>
              <a:rPr lang="zh-CN" altLang="en-US" sz="2000" b="0" dirty="0" smtClean="0"/>
              <a:t>修改</a:t>
            </a:r>
            <a:endParaRPr lang="zh-CN" altLang="en-US" sz="2000" b="0" dirty="0" smtClean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solidFill>
                  <a:schemeClr val="tx1"/>
                </a:solidFill>
              </a:rPr>
              <a:t>静态库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lvl="0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动态库</a:t>
            </a:r>
            <a:endParaRPr lang="zh-CN" alt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pPr lvl="0"/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Case study: 库的插桩</a:t>
            </a:r>
            <a:endParaRPr lang="en-US" dirty="0" smtClean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9070" y="304800"/>
            <a:ext cx="8831262" cy="1054100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/>
              <a:t>打包常</a:t>
            </a:r>
            <a:r>
              <a:rPr lang="zh-CN" altLang="en-GB"/>
              <a:t>见函数</a:t>
            </a:r>
            <a:endParaRPr lang="zh-CN" altLang="en-GB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86161" y="1333500"/>
            <a:ext cx="8307387" cy="5295900"/>
          </a:xfrm>
        </p:spPr>
        <p:txBody>
          <a:bodyPr/>
          <a:lstStyle/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如何打包常</a:t>
            </a:r>
            <a:r>
              <a:rPr lang="zh-CN" altLang="en-GB" dirty="0"/>
              <a:t>见函数，比如</a:t>
            </a:r>
            <a:r>
              <a:rPr lang="en-GB" dirty="0"/>
              <a:t>?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数学计算</a:t>
            </a:r>
            <a:r>
              <a:rPr lang="en-GB" dirty="0"/>
              <a:t>, </a:t>
            </a:r>
            <a:r>
              <a:rPr lang="zh-CN" altLang="en-GB" dirty="0"/>
              <a:t>输入输出</a:t>
            </a:r>
            <a:r>
              <a:rPr lang="en-GB" dirty="0"/>
              <a:t>, </a:t>
            </a:r>
            <a:r>
              <a:rPr lang="zh-CN" altLang="en-GB" dirty="0"/>
              <a:t>内存管理</a:t>
            </a:r>
            <a:r>
              <a:rPr lang="en-GB" dirty="0"/>
              <a:t>, </a:t>
            </a:r>
            <a:r>
              <a:rPr lang="zh-CN" altLang="en-GB" dirty="0"/>
              <a:t>字符串操作</a:t>
            </a:r>
            <a:r>
              <a:rPr lang="en-GB" dirty="0"/>
              <a:t>, etc.</a:t>
            </a:r>
            <a:endParaRPr lang="en-GB" dirty="0"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 smtClean="0"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 smtClean="0"/>
              <a:t>打包方法</a:t>
            </a:r>
            <a:r>
              <a:rPr lang="en-GB" dirty="0"/>
              <a:t>: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b="1" dirty="0">
                <a:solidFill>
                  <a:srgbClr val="990000"/>
                </a:solidFill>
              </a:rPr>
              <a:t>选择</a:t>
            </a:r>
            <a:r>
              <a:rPr lang="en-US" altLang="zh-CN" b="1" dirty="0">
                <a:solidFill>
                  <a:srgbClr val="990000"/>
                </a:solidFill>
              </a:rPr>
              <a:t> </a:t>
            </a:r>
            <a:r>
              <a:rPr lang="en-GB" b="1" dirty="0">
                <a:solidFill>
                  <a:srgbClr val="990000"/>
                </a:solidFill>
              </a:rPr>
              <a:t>1:</a:t>
            </a:r>
            <a:r>
              <a:rPr lang="en-GB" dirty="0"/>
              <a:t> </a:t>
            </a:r>
            <a:r>
              <a:rPr lang="zh-CN" altLang="en-GB" dirty="0"/>
              <a:t>将所有常见函数放到同一个</a:t>
            </a:r>
            <a:r>
              <a:rPr lang="zh-CN" altLang="en-GB" dirty="0"/>
              <a:t>大文件</a:t>
            </a:r>
            <a:endParaRPr lang="en-GB" dirty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程序员将这个大文件</a:t>
            </a:r>
            <a:r>
              <a:rPr lang="zh-CN" altLang="en-GB" dirty="0"/>
              <a:t>链接到可执行文件</a:t>
            </a:r>
            <a:endParaRPr lang="en-GB" dirty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>
                <a:solidFill>
                  <a:srgbClr val="FF0000"/>
                </a:solidFill>
              </a:rPr>
              <a:t>空间和时间效率低</a:t>
            </a:r>
            <a:endParaRPr lang="en-GB" dirty="0">
              <a:solidFill>
                <a:srgbClr val="FF0000"/>
              </a:solidFill>
            </a:endParaRPr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b="1" dirty="0">
                <a:solidFill>
                  <a:srgbClr val="990000"/>
                </a:solidFill>
              </a:rPr>
              <a:t>选择</a:t>
            </a:r>
            <a:r>
              <a:rPr lang="en-US" altLang="zh-CN" b="1" dirty="0">
                <a:solidFill>
                  <a:srgbClr val="990000"/>
                </a:solidFill>
              </a:rPr>
              <a:t> </a:t>
            </a:r>
            <a:r>
              <a:rPr lang="en-GB" b="1" dirty="0">
                <a:solidFill>
                  <a:srgbClr val="990000"/>
                </a:solidFill>
              </a:rPr>
              <a:t>2:</a:t>
            </a:r>
            <a:r>
              <a:rPr lang="en-GB" dirty="0"/>
              <a:t> </a:t>
            </a:r>
            <a:r>
              <a:rPr lang="zh-CN" altLang="en-GB" dirty="0"/>
              <a:t>将每个常见函数放到单独的文件中</a:t>
            </a:r>
            <a:endParaRPr lang="zh-CN" altLang="en-GB" dirty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程序员只用将需要的那部分文件</a:t>
            </a:r>
            <a:r>
              <a:rPr lang="zh-CN" altLang="en-GB" dirty="0">
                <a:sym typeface="+mn-ea"/>
              </a:rPr>
              <a:t>链接</a:t>
            </a:r>
            <a:r>
              <a:rPr lang="zh-CN" altLang="en-GB" dirty="0"/>
              <a:t>到可执行文件</a:t>
            </a:r>
            <a:endParaRPr lang="en-GB" dirty="0" smtClean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>
                <a:solidFill>
                  <a:srgbClr val="FF0000"/>
                </a:solidFill>
                <a:sym typeface="+mn-ea"/>
              </a:rPr>
              <a:t>空间和时间效率</a:t>
            </a:r>
            <a:r>
              <a:rPr lang="zh-CN" altLang="en-GB" dirty="0">
                <a:solidFill>
                  <a:srgbClr val="FF0000"/>
                </a:solidFill>
                <a:sym typeface="+mn-ea"/>
              </a:rPr>
              <a:t>高</a:t>
            </a:r>
            <a:endParaRPr lang="zh-CN" altLang="en-GB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常见的库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macOS</a:t>
            </a:r>
            <a:endParaRPr lang="en-US"/>
          </a:p>
          <a:p>
            <a:pPr lvl="1"/>
            <a:r>
              <a:rPr lang="zh-CN" altLang="en-US"/>
              <a:t>系统库</a:t>
            </a:r>
            <a:r>
              <a:rPr lang="en-US" altLang="zh-CN"/>
              <a:t>：/usr/</a:t>
            </a:r>
            <a:r>
              <a:rPr lang="en-US" altLang="zh-CN"/>
              <a:t>lib</a:t>
            </a:r>
            <a:endParaRPr lang="en-US" altLang="zh-CN"/>
          </a:p>
          <a:p>
            <a:pPr lvl="2"/>
            <a:r>
              <a:rPr lang="en-US" altLang="zh-CN"/>
              <a:t>&gt; find /usr/lib -name “*.dylib”</a:t>
            </a:r>
            <a:endParaRPr lang="en-US" altLang="zh-CN"/>
          </a:p>
          <a:p>
            <a:pPr lvl="1"/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685800"/>
            <a:ext cx="4458970" cy="29965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常见的库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macOS</a:t>
            </a:r>
            <a:endParaRPr lang="en-US"/>
          </a:p>
          <a:p>
            <a:pPr lvl="1"/>
            <a:r>
              <a:rPr lang="zh-CN" altLang="en-US"/>
              <a:t>系统库</a:t>
            </a:r>
            <a:r>
              <a:rPr lang="en-US" altLang="zh-CN"/>
              <a:t>：/usr/</a:t>
            </a:r>
            <a:r>
              <a:rPr lang="en-US" altLang="zh-CN"/>
              <a:t>lib</a:t>
            </a:r>
            <a:endParaRPr lang="en-US" altLang="zh-CN"/>
          </a:p>
          <a:p>
            <a:pPr lvl="2"/>
            <a:r>
              <a:rPr lang="en-US" altLang="zh-CN"/>
              <a:t>&gt; find /usr/lib -name “*.dylib”</a:t>
            </a:r>
            <a:endParaRPr lang="en-US" altLang="zh-CN"/>
          </a:p>
          <a:p>
            <a:pPr lvl="1"/>
            <a:r>
              <a:rPr lang="zh-CN" altLang="en-US"/>
              <a:t>第三方库</a:t>
            </a:r>
            <a:r>
              <a:rPr lang="en-US" altLang="zh-CN"/>
              <a:t>：/usr/local/lib</a:t>
            </a:r>
            <a:endParaRPr lang="en-US" altLang="zh-CN"/>
          </a:p>
          <a:p>
            <a:pPr lvl="2"/>
            <a:r>
              <a:rPr lang="en-US" altLang="zh-CN"/>
              <a:t>&gt; </a:t>
            </a:r>
            <a:r>
              <a:rPr lang="en-US" altLang="zh-CN">
                <a:sym typeface="+mn-ea"/>
              </a:rPr>
              <a:t>find /usr/local/lib -name “*.dylib”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&gt; </a:t>
            </a:r>
            <a:r>
              <a:rPr lang="en-US" altLang="en-US"/>
              <a:t>find /usr/local/lib -name "*.a"</a:t>
            </a:r>
            <a:endParaRPr lang="en-US" altLang="en-US"/>
          </a:p>
          <a:p>
            <a:pPr lvl="2"/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685800"/>
            <a:ext cx="4458970" cy="29965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95" y="4191000"/>
            <a:ext cx="4536440" cy="2346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库</a:t>
            </a:r>
            <a:r>
              <a:rPr lang="zh-CN" altLang="en-US"/>
              <a:t>文件的</a:t>
            </a:r>
            <a:r>
              <a:rPr lang="zh-CN" altLang="en-US"/>
              <a:t>内容</a:t>
            </a:r>
            <a:endParaRPr lang="zh-C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5000" y="2895600"/>
            <a:ext cx="2800985" cy="129921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/>
        </p:nvSpPr>
        <p:spPr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0">
                <a:solidFill>
                  <a:schemeClr val="tx1"/>
                </a:solidFill>
                <a:latin typeface="Calibri" pitchFamily="34" charset="0"/>
                <a:ea typeface="Kaiti SC Regular" panose="02010600040101010101" charset="-122"/>
                <a:cs typeface="Times New Roman Regular" panose="0202060305040502030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  <a:latin typeface="Calibri" pitchFamily="34" charset="0"/>
                <a:ea typeface="Kaiti SC Regular" panose="02010600040101010101" charset="-122"/>
                <a:cs typeface="Times New Roman Regular" panose="0202060305040502030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  <a:latin typeface="Calibri" pitchFamily="34" charset="0"/>
                <a:ea typeface="Kaiti SC Regular" panose="02010600040101010101" charset="-122"/>
                <a:cs typeface="Times New Roman Regular" panose="020206030504050203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latin typeface="Calibri" pitchFamily="34" charset="0"/>
                <a:ea typeface="Kaiti SC Regular" panose="02010600040101010101" charset="-122"/>
                <a:cs typeface="Times New Roman Regular" panose="020206030504050203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chemeClr val="tx1"/>
                </a:solidFill>
                <a:latin typeface="Calibri" pitchFamily="34" charset="0"/>
                <a:ea typeface="Kaiti SC Regular" panose="02010600040101010101" charset="-122"/>
                <a:cs typeface="Times New Roman Regular" panose="020206030504050203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zh-CN" altLang="en-US"/>
              <a:t>库文件只是将多个</a:t>
            </a:r>
            <a:r>
              <a:rPr lang="en-US" altLang="zh-CN"/>
              <a:t>.o</a:t>
            </a:r>
            <a:r>
              <a:rPr lang="zh-CN" altLang="en-US"/>
              <a:t>文件</a:t>
            </a:r>
            <a:r>
              <a:rPr lang="en-US" altLang="zh-CN"/>
              <a:t>（</a:t>
            </a:r>
            <a:r>
              <a:rPr lang="zh-CN" altLang="en-US"/>
              <a:t>可重定位文件</a:t>
            </a:r>
            <a:r>
              <a:rPr lang="en-US" altLang="zh-CN"/>
              <a:t>）</a:t>
            </a:r>
            <a:r>
              <a:rPr lang="zh-CN" altLang="en-US"/>
              <a:t>打包的</a:t>
            </a:r>
            <a:r>
              <a:rPr lang="zh-CN" altLang="en-US"/>
              <a:t>集合</a:t>
            </a:r>
            <a:endParaRPr lang="zh-CN" altLang="en-US"/>
          </a:p>
          <a:p>
            <a:r>
              <a:rPr lang="en-US"/>
              <a:t>macOS</a:t>
            </a:r>
            <a:endParaRPr lang="en-US"/>
          </a:p>
          <a:p>
            <a:pPr lvl="1"/>
            <a:r>
              <a:rPr lang="en-US" altLang="zh-CN"/>
              <a:t>&gt; ar -t </a:t>
            </a:r>
            <a:r>
              <a:rPr lang="en-US" altLang="en-US"/>
              <a:t>/usr/local/lib/python3.8/site-packages/numpy/core/lib/libnpymath.a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03412" y="436562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dirty="0" smtClean="0"/>
              <a:t>一种</a:t>
            </a:r>
            <a:r>
              <a:rPr lang="zh-CN" altLang="en-GB" dirty="0" smtClean="0"/>
              <a:t>传统的方案</a:t>
            </a:r>
            <a:r>
              <a:rPr lang="en-GB" dirty="0" smtClean="0"/>
              <a:t>: </a:t>
            </a:r>
            <a:r>
              <a:rPr lang="zh-CN" altLang="en-GB" dirty="0" smtClean="0"/>
              <a:t>静态</a:t>
            </a:r>
            <a:r>
              <a:rPr lang="zh-CN" altLang="en-GB" dirty="0" smtClean="0"/>
              <a:t>库</a:t>
            </a:r>
            <a:endParaRPr lang="zh-CN" altLang="en-GB" dirty="0" smtClean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03413" y="1447800"/>
            <a:ext cx="8459787" cy="4767262"/>
          </a:xfrm>
        </p:spPr>
        <p:txBody>
          <a:bodyPr/>
          <a:lstStyle/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 smtClean="0">
                <a:solidFill>
                  <a:srgbClr val="990000"/>
                </a:solidFill>
              </a:rPr>
              <a:t>静态库</a:t>
            </a:r>
            <a:r>
              <a:rPr lang="en-GB" dirty="0">
                <a:solidFill>
                  <a:srgbClr val="990000"/>
                </a:solidFill>
              </a:rPr>
              <a:t> </a:t>
            </a:r>
            <a:r>
              <a:rPr lang="en-GB" dirty="0"/>
              <a:t>(.</a:t>
            </a:r>
            <a:r>
              <a:rPr lang="en-GB" dirty="0">
                <a:latin typeface="Courier New" panose="02070609020205020404" pitchFamily="49" charset="0"/>
              </a:rPr>
              <a:t>a</a:t>
            </a:r>
            <a:r>
              <a:rPr lang="en-GB" dirty="0"/>
              <a:t> </a:t>
            </a:r>
            <a:r>
              <a:rPr lang="zh-CN" altLang="en-GB" dirty="0"/>
              <a:t>为后缀的</a:t>
            </a:r>
            <a:r>
              <a:rPr lang="en-US" altLang="zh-CN" dirty="0"/>
              <a:t>archive</a:t>
            </a:r>
            <a:r>
              <a:rPr lang="zh-CN" altLang="en-GB" dirty="0"/>
              <a:t>包文件</a:t>
            </a:r>
            <a:r>
              <a:rPr lang="en-GB" dirty="0"/>
              <a:t>)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/>
              <a:t>Concatenate related relocatable object files into a single file with an index (called an </a:t>
            </a:r>
            <a:r>
              <a:rPr lang="en-GB" i="1" dirty="0"/>
              <a:t>archive</a:t>
            </a:r>
            <a:r>
              <a:rPr lang="en-GB" dirty="0" smtClean="0"/>
              <a:t>). </a:t>
            </a:r>
            <a:r>
              <a:rPr lang="zh-CN" altLang="en-GB" dirty="0" smtClean="0"/>
              <a:t>将多个相关的可重定位目标文件串接成一个带索引的单一文件（称为</a:t>
            </a:r>
            <a:r>
              <a:rPr lang="en-US" altLang="zh-CN" dirty="0" smtClean="0"/>
              <a:t>archive</a:t>
            </a:r>
            <a:r>
              <a:rPr lang="zh-CN" altLang="en-US" dirty="0" smtClean="0"/>
              <a:t>包）</a:t>
            </a:r>
            <a:endParaRPr lang="zh-CN" altLang="en-US" dirty="0" smtClean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 smtClean="0"/>
              <a:t>For ex: </a:t>
            </a:r>
            <a:r>
              <a:rPr lang="en-GB" dirty="0" err="1" smtClean="0">
                <a:solidFill>
                  <a:srgbClr val="00B050"/>
                </a:solidFill>
              </a:rPr>
              <a:t>libm</a:t>
            </a:r>
            <a:r>
              <a:rPr lang="en-GB" dirty="0" smtClean="0">
                <a:solidFill>
                  <a:srgbClr val="00B050"/>
                </a:solidFill>
              </a:rPr>
              <a:t>, </a:t>
            </a:r>
            <a:r>
              <a:rPr lang="en-GB" dirty="0" err="1" smtClean="0">
                <a:solidFill>
                  <a:srgbClr val="00B050"/>
                </a:solidFill>
              </a:rPr>
              <a:t>liba</a:t>
            </a:r>
            <a:endParaRPr lang="en-GB" dirty="0" err="1" smtClean="0">
              <a:solidFill>
                <a:srgbClr val="00B050"/>
              </a:solidFill>
            </a:endParaRPr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链接器通过在一个</a:t>
            </a:r>
            <a:r>
              <a:rPr lang="zh-CN" altLang="en-US" dirty="0"/>
              <a:t>或多个包中寻找符号的定义，</a:t>
            </a:r>
            <a:r>
              <a:rPr lang="zh-CN" altLang="en-US" dirty="0"/>
              <a:t>来解析未定义的外</a:t>
            </a:r>
            <a:r>
              <a:rPr lang="zh-CN" altLang="en-US" dirty="0"/>
              <a:t>部符号</a:t>
            </a:r>
            <a:endParaRPr lang="zh-CN" altLang="en-US" dirty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如果包中有一个</a:t>
            </a:r>
            <a:r>
              <a:rPr lang="zh-CN" altLang="en-GB" b="1" dirty="0">
                <a:latin typeface="Kaiti SC Bold" panose="02010600040101010101" charset="-122"/>
                <a:ea typeface="Kaiti SC Bold" panose="02010600040101010101" charset="-122"/>
              </a:rPr>
              <a:t>成员文件</a:t>
            </a:r>
            <a:r>
              <a:rPr lang="zh-CN" altLang="en-GB" dirty="0"/>
              <a:t>包含了对应符号定义，则将该文件链接到可执行文件</a:t>
            </a:r>
            <a:endParaRPr lang="en-GB" alt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为什么需要手动指定库文件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? 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什么时候可以自动搜索？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  </a:t>
            </a:r>
            <a:endParaRPr lang="en-US" altLang="zh-CN" dirty="0" smtClean="0">
              <a:solidFill>
                <a:srgbClr val="00B050"/>
              </a:solidFill>
              <a:sym typeface="+mn-ea"/>
            </a:endParaRPr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gcc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中的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-lm</a:t>
            </a:r>
            <a:endParaRPr lang="en-US" altLang="zh-CN" dirty="0" smtClean="0">
              <a:solidFill>
                <a:srgbClr val="00B050"/>
              </a:solidFill>
              <a:sym typeface="+mn-ea"/>
            </a:endParaRPr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Java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中的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import package</a:t>
            </a:r>
            <a:endParaRPr lang="en-US" altLang="zh-CN" dirty="0">
              <a:solidFill>
                <a:srgbClr val="00B050"/>
              </a:solidFill>
              <a:latin typeface="Calibri" pitchFamily="34" charset="0"/>
            </a:endParaRPr>
          </a:p>
          <a:p>
            <a:pPr marL="457200" lvl="1" indent="0"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2514600" y="5334000"/>
            <a:ext cx="7696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800" dirty="0" smtClean="0">
              <a:solidFill>
                <a:srgbClr val="00B05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027238" y="436562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/>
              <a:t>创建静态</a:t>
            </a:r>
            <a:r>
              <a:rPr lang="zh-CN" altLang="en-GB"/>
              <a:t>库</a:t>
            </a:r>
            <a:endParaRPr lang="zh-CN" altLang="en-GB"/>
          </a:p>
        </p:txBody>
      </p:sp>
      <p:sp>
        <p:nvSpPr>
          <p:cNvPr id="29698" name="Line 2"/>
          <p:cNvSpPr>
            <a:spLocks noChangeShapeType="1"/>
          </p:cNvSpPr>
          <p:nvPr/>
        </p:nvSpPr>
        <p:spPr bwMode="auto">
          <a:xfrm>
            <a:off x="2819400" y="1919981"/>
            <a:ext cx="1588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2133600" y="2289869"/>
            <a:ext cx="1371600" cy="358775"/>
          </a:xfrm>
          <a:prstGeom prst="rect">
            <a:avLst/>
          </a:prstGeom>
          <a:solidFill>
            <a:srgbClr val="DEDFF5"/>
          </a:solidFill>
          <a:ln w="284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Translator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295525" y="1615181"/>
            <a:ext cx="100203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atoi.c</a:t>
            </a:r>
            <a:endParaRPr lang="en-GB" sz="18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2479675" y="2986781"/>
            <a:ext cx="100203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atoi.o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3810000" y="2289869"/>
            <a:ext cx="1371600" cy="358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4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Translator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3821113" y="1615181"/>
            <a:ext cx="127635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printf.c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3840163" y="2986781"/>
            <a:ext cx="127635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printf.o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4495800" y="1919981"/>
            <a:ext cx="1588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2819400" y="2681981"/>
            <a:ext cx="1588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4495800" y="2681981"/>
            <a:ext cx="1588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>
            <a:off x="4495800" y="3364606"/>
            <a:ext cx="1588" cy="471488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4035425" y="4674294"/>
            <a:ext cx="100203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libc.a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 flipH="1">
            <a:off x="5408613" y="3302694"/>
            <a:ext cx="1298575" cy="4572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3352800" y="3836094"/>
            <a:ext cx="2971800" cy="358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4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err="1">
                <a:latin typeface="Calibri" pitchFamily="34" charset="0"/>
                <a:ea typeface="msgothic" charset="0"/>
                <a:cs typeface="msgothic" charset="0"/>
              </a:rPr>
              <a:t>Archiver</a:t>
            </a: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 (</a:t>
            </a:r>
            <a:r>
              <a:rPr lang="en-GB" sz="1800" b="1" dirty="0" err="1">
                <a:latin typeface="Calibri" pitchFamily="34" charset="0"/>
                <a:ea typeface="msgothic" charset="0"/>
                <a:cs typeface="msgothic" charset="0"/>
              </a:rPr>
              <a:t>ar</a:t>
            </a: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5410200" y="2159694"/>
            <a:ext cx="432435" cy="4540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alibri" pitchFamily="34" charset="0"/>
                <a:ea typeface="msgothic" charset="0"/>
                <a:cs typeface="msgothic" charset="0"/>
              </a:rPr>
              <a:t>...</a:t>
            </a:r>
            <a:endParaRPr lang="en-GB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6096000" y="2300981"/>
            <a:ext cx="1371600" cy="358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4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Translator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6107113" y="1626294"/>
            <a:ext cx="127635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random.c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6126163" y="2997894"/>
            <a:ext cx="127635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random.o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16" name="Line 20"/>
          <p:cNvSpPr>
            <a:spLocks noChangeShapeType="1"/>
          </p:cNvSpPr>
          <p:nvPr/>
        </p:nvSpPr>
        <p:spPr bwMode="auto">
          <a:xfrm>
            <a:off x="6781800" y="1931094"/>
            <a:ext cx="1588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6781800" y="2693094"/>
            <a:ext cx="1588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8" name="Line 22"/>
          <p:cNvSpPr>
            <a:spLocks noChangeShapeType="1"/>
          </p:cNvSpPr>
          <p:nvPr/>
        </p:nvSpPr>
        <p:spPr bwMode="auto">
          <a:xfrm>
            <a:off x="2819400" y="3302694"/>
            <a:ext cx="1219200" cy="4572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6619875" y="3759894"/>
            <a:ext cx="3592830" cy="5543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unix</a:t>
            </a:r>
            <a:r>
              <a:rPr lang="en-GB" sz="1600" b="1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&gt; </a:t>
            </a:r>
            <a:r>
              <a:rPr lang="en-GB" sz="1600" b="1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ar</a:t>
            </a:r>
            <a:r>
              <a:rPr lang="en-GB" sz="1600" b="1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rs</a:t>
            </a:r>
            <a:r>
              <a:rPr lang="en-GB" sz="1600" b="1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libc.a</a:t>
            </a:r>
            <a:r>
              <a:rPr lang="en-GB" sz="1600" b="1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\</a:t>
            </a:r>
            <a:endParaRPr lang="en-GB" sz="1600" b="1" dirty="0">
              <a:solidFill>
                <a:srgbClr val="C0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 </a:t>
            </a:r>
            <a:r>
              <a:rPr lang="en-GB" sz="1600" b="1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atoi.o</a:t>
            </a:r>
            <a:r>
              <a:rPr lang="en-GB" sz="1600" b="1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printf.o</a:t>
            </a:r>
            <a:r>
              <a:rPr lang="en-GB" sz="1600" b="1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… </a:t>
            </a:r>
            <a:r>
              <a:rPr lang="en-GB" sz="1600" b="1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random.o</a:t>
            </a:r>
            <a:endParaRPr lang="en-GB" sz="1600" b="1" dirty="0">
              <a:solidFill>
                <a:srgbClr val="C0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4495800" y="4279006"/>
            <a:ext cx="1588" cy="4572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5410200" y="4654714"/>
            <a:ext cx="2971800" cy="3638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C standard library</a:t>
            </a:r>
            <a:endParaRPr lang="en-GB" sz="1800" b="1" i="1" dirty="0">
              <a:solidFill>
                <a:srgbClr val="C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1981200" y="5562600"/>
            <a:ext cx="8307387" cy="1066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sz="2000" kern="0" dirty="0" err="1" smtClean="0">
                <a:latin typeface="Calibri" pitchFamily="34" charset="0"/>
              </a:rPr>
              <a:t>包</a:t>
            </a:r>
            <a:r>
              <a:rPr lang="zh-CN" altLang="en-GB" sz="2000" kern="0" dirty="0" err="1" smtClean="0">
                <a:latin typeface="Calibri" pitchFamily="34" charset="0"/>
              </a:rPr>
              <a:t>支持增量更新</a:t>
            </a:r>
            <a:endParaRPr lang="zh-CN" altLang="en-GB" sz="2000" kern="0" dirty="0" err="1" smtClean="0">
              <a:latin typeface="Calibri" pitchFamily="34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kern="0" dirty="0" smtClean="0">
                <a:latin typeface="Calibri" pitchFamily="34" charset="0"/>
              </a:rPr>
              <a:t>可以单独更新和替换包中的单个</a:t>
            </a:r>
            <a:r>
              <a:rPr lang="en-US" altLang="zh-CN" sz="2000" kern="0" dirty="0" smtClean="0">
                <a:latin typeface="Calibri" pitchFamily="34" charset="0"/>
              </a:rPr>
              <a:t>.o</a:t>
            </a:r>
            <a:r>
              <a:rPr lang="zh-CN" altLang="en-US" sz="2000" kern="0" dirty="0" smtClean="0">
                <a:latin typeface="Calibri" pitchFamily="34" charset="0"/>
              </a:rPr>
              <a:t>文件</a:t>
            </a:r>
            <a:endParaRPr lang="en-US" sz="2000" kern="0" dirty="0" smtClean="0">
              <a:latin typeface="Calibri" pitchFamily="34" charset="0"/>
            </a:endParaRPr>
          </a:p>
          <a:p>
            <a:pPr marL="342900" lvl="0" indent="-34290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kern="0" dirty="0" smtClean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304800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dirty="0"/>
              <a:t>常用</a:t>
            </a:r>
            <a:r>
              <a:rPr lang="zh-CN" altLang="en-GB" dirty="0"/>
              <a:t>库</a:t>
            </a:r>
            <a:endParaRPr lang="zh-CN" altLang="en-GB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78012" y="1220788"/>
            <a:ext cx="8307387" cy="3152775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1250"/>
              </a:spcBef>
              <a:buFont typeface="Wingdings" panose="05000000000000000000" pitchFamily="2" charset="2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2000" dirty="0" err="1">
                <a:latin typeface="Courier New" panose="02070609020205020404" pitchFamily="49" charset="0"/>
              </a:rPr>
              <a:t>libc.a</a:t>
            </a:r>
            <a:r>
              <a:rPr lang="en-GB" sz="2000" dirty="0"/>
              <a:t> (</a:t>
            </a:r>
            <a:r>
              <a:rPr lang="en-US" altLang="en-GB" sz="2000" dirty="0"/>
              <a:t>C</a:t>
            </a:r>
            <a:r>
              <a:rPr lang="zh-CN" altLang="en-US" sz="2000" dirty="0"/>
              <a:t>标准库</a:t>
            </a:r>
            <a:r>
              <a:rPr lang="en-GB" sz="2000" dirty="0"/>
              <a:t>)</a:t>
            </a:r>
            <a:endParaRPr lang="en-GB" sz="20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1800" dirty="0" smtClean="0"/>
              <a:t>4.6 MB archive </a:t>
            </a:r>
            <a:r>
              <a:rPr lang="en-GB" sz="1800" dirty="0"/>
              <a:t>of </a:t>
            </a:r>
            <a:r>
              <a:rPr lang="en-GB" sz="1800" dirty="0" smtClean="0"/>
              <a:t>1496 object </a:t>
            </a:r>
            <a:r>
              <a:rPr lang="en-GB" sz="1800" dirty="0"/>
              <a:t>files.</a:t>
            </a: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1800" dirty="0"/>
              <a:t>I/O, </a:t>
            </a:r>
            <a:r>
              <a:rPr lang="zh-CN" altLang="en-GB" sz="1800" dirty="0"/>
              <a:t>内存分配</a:t>
            </a:r>
            <a:r>
              <a:rPr lang="en-GB" sz="1800" dirty="0"/>
              <a:t>, </a:t>
            </a:r>
            <a:r>
              <a:rPr lang="zh-CN" altLang="en-GB" sz="1800" dirty="0"/>
              <a:t>信号处理，字符串处理，日期和时间，随机数，</a:t>
            </a:r>
            <a:r>
              <a:rPr lang="zh-CN" altLang="en-GB" sz="1800" dirty="0"/>
              <a:t>整数数学</a:t>
            </a:r>
            <a:endParaRPr lang="en-GB" sz="1800" dirty="0"/>
          </a:p>
          <a:p>
            <a:pPr>
              <a:lnSpc>
                <a:spcPct val="80000"/>
              </a:lnSpc>
              <a:spcBef>
                <a:spcPts val="1250"/>
              </a:spcBef>
              <a:buFont typeface="Wingdings" panose="05000000000000000000" pitchFamily="2" charset="2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2000" dirty="0" err="1">
                <a:latin typeface="Courier New" panose="02070609020205020404" pitchFamily="49" charset="0"/>
              </a:rPr>
              <a:t>libm.a</a:t>
            </a:r>
            <a:r>
              <a:rPr lang="en-GB" sz="2000" dirty="0"/>
              <a:t> (</a:t>
            </a:r>
            <a:r>
              <a:rPr lang="en-US" altLang="en-GB" sz="2000" dirty="0"/>
              <a:t>C</a:t>
            </a:r>
            <a:r>
              <a:rPr lang="zh-CN" altLang="en-US" sz="2000" dirty="0"/>
              <a:t>数学库</a:t>
            </a:r>
            <a:r>
              <a:rPr lang="en-GB" sz="2000" dirty="0"/>
              <a:t>)</a:t>
            </a:r>
            <a:endParaRPr lang="en-GB" sz="20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1800" dirty="0" smtClean="0"/>
              <a:t>2 </a:t>
            </a:r>
            <a:r>
              <a:rPr lang="en-GB" sz="1800" dirty="0"/>
              <a:t>MB archive of </a:t>
            </a:r>
            <a:r>
              <a:rPr lang="en-GB" sz="1800" dirty="0" smtClean="0"/>
              <a:t>444 </a:t>
            </a:r>
            <a:r>
              <a:rPr lang="en-GB" sz="1800" dirty="0"/>
              <a:t>object files. </a:t>
            </a: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sz="1800" dirty="0"/>
              <a:t>浮点数学</a:t>
            </a:r>
            <a:r>
              <a:rPr lang="en-GB" sz="1800" dirty="0"/>
              <a:t> math (sin, </a:t>
            </a:r>
            <a:r>
              <a:rPr lang="en-GB" sz="1800" dirty="0" err="1"/>
              <a:t>cos</a:t>
            </a:r>
            <a:r>
              <a:rPr lang="en-GB" sz="1800" dirty="0"/>
              <a:t>, tan, log, exp, </a:t>
            </a:r>
            <a:r>
              <a:rPr lang="en-GB" sz="1800" dirty="0" err="1"/>
              <a:t>sqrt</a:t>
            </a:r>
            <a:r>
              <a:rPr lang="en-GB" sz="1800" dirty="0"/>
              <a:t>, …) 	</a:t>
            </a:r>
            <a:endParaRPr lang="en-GB" sz="1800" dirty="0"/>
          </a:p>
          <a:p>
            <a:pPr>
              <a:lnSpc>
                <a:spcPct val="83000"/>
              </a:lnSpc>
              <a:spcBef>
                <a:spcPts val="1250"/>
              </a:spcBef>
              <a:buFont typeface="Wingdings" panose="05000000000000000000" pitchFamily="2" charset="2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buFont typeface="Wingdings" panose="05000000000000000000" pitchFamily="2" charset="2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438400" y="3677347"/>
            <a:ext cx="2861310" cy="286258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% </a:t>
            </a: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ar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–t </a:t>
            </a:r>
            <a:r>
              <a:rPr lang="en-GB" sz="1600" b="1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libc.a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| sort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…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fork.o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…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fprintf.o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fpu_control.o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fputc.o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freopen.o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fscanf.o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fseek.o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fstab.o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…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6278874" y="3677347"/>
            <a:ext cx="2861310" cy="286258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% </a:t>
            </a: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ar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–t </a:t>
            </a:r>
            <a:r>
              <a:rPr lang="en-GB" sz="1600" b="1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libm.a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| sort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…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e_acos.o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e_acosf.o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e_acosh.o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e_acoshf.o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e_acoshl.o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e_acosl.o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e_asin.o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e_asinf.o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e_asinl.o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…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535" y="381000"/>
            <a:ext cx="5868035" cy="1240790"/>
          </a:xfrm>
        </p:spPr>
        <p:txBody>
          <a:bodyPr/>
          <a:lstStyle/>
          <a:p>
            <a:r>
              <a:rPr lang="zh-CN" altLang="en-US" sz="3200" dirty="0" smtClean="0"/>
              <a:t>链接静态</a:t>
            </a:r>
            <a:r>
              <a:rPr lang="zh-CN" altLang="en-US" sz="3200" dirty="0" smtClean="0"/>
              <a:t>库</a:t>
            </a:r>
            <a:endParaRPr lang="zh-CN" altLang="en-US" sz="3200" dirty="0" smtClean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62159" y="2020989"/>
            <a:ext cx="3488055" cy="3539490"/>
          </a:xfrm>
          <a:prstGeom prst="rect">
            <a:avLst/>
          </a:prstGeom>
          <a:solidFill>
            <a:srgbClr val="F7F5CD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600" dirty="0" smtClean="0">
                <a:solidFill>
                  <a:srgbClr val="926492"/>
                </a:solidFill>
                <a:latin typeface="Menlo-Regular" panose="020B0609030804020204"/>
              </a:rPr>
              <a:t>#</a:t>
            </a:r>
            <a:r>
              <a:rPr lang="en-US" sz="1600" dirty="0">
                <a:solidFill>
                  <a:srgbClr val="926492"/>
                </a:solidFill>
                <a:latin typeface="Menlo-Regular" panose="020B0609030804020204"/>
              </a:rPr>
              <a:t>include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Menlo-Regular" panose="020B0609030804020204"/>
              </a:rPr>
              <a:t>stdio.h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Menlo-Regular" panose="020B0609030804020204"/>
              </a:rPr>
              <a:t>vector.h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[2] = {1, 2};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y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[2] = {3, 4};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nl-NL" sz="1600" dirty="0" err="1">
                <a:solidFill>
                  <a:srgbClr val="C1651C"/>
                </a:solidFill>
                <a:latin typeface="Menlo-Regular" panose="020B0609030804020204"/>
              </a:rPr>
              <a:t>z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[2];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nl-NL" sz="1600" dirty="0" err="1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()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addvec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(x, y, z, 2);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600" dirty="0">
                <a:solidFill>
                  <a:srgbClr val="000000"/>
                </a:solidFill>
                <a:latin typeface="Menlo-Regular" panose="020B0609030804020204"/>
              </a:rPr>
              <a:t>    printf(</a:t>
            </a:r>
            <a:r>
              <a:rPr lang="ro-RO" sz="1600" dirty="0">
                <a:solidFill>
                  <a:srgbClr val="9D206F"/>
                </a:solidFill>
                <a:latin typeface="Menlo-Regular" panose="020B0609030804020204"/>
              </a:rPr>
              <a:t>"z = [%d %d]\</a:t>
            </a:r>
            <a:r>
              <a:rPr lang="ro-RO" sz="1600" dirty="0" smtClean="0">
                <a:solidFill>
                  <a:srgbClr val="9D206F"/>
                </a:solidFill>
                <a:latin typeface="Menlo-Regular" panose="020B0609030804020204"/>
              </a:rPr>
              <a:t>n”</a:t>
            </a:r>
            <a:r>
              <a:rPr lang="ro-RO" sz="1600" dirty="0" smtClean="0">
                <a:solidFill>
                  <a:srgbClr val="000000"/>
                </a:solidFill>
                <a:latin typeface="Menlo-Regular" panose="020B0609030804020204"/>
              </a:rPr>
              <a:t>,</a:t>
            </a:r>
            <a:endParaRPr lang="ro-RO" sz="1600" dirty="0" smtClean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ro-RO" sz="1600" dirty="0" smtClean="0">
                <a:solidFill>
                  <a:srgbClr val="000000"/>
                </a:solidFill>
                <a:latin typeface="Menlo-Regular" panose="020B0609030804020204"/>
              </a:rPr>
              <a:t>          </a:t>
            </a:r>
            <a:r>
              <a:rPr lang="ro-RO" sz="1600" dirty="0">
                <a:solidFill>
                  <a:srgbClr val="000000"/>
                </a:solidFill>
                <a:latin typeface="Menlo-Regular" panose="020B0609030804020204"/>
              </a:rPr>
              <a:t>z[0], z[1]);</a:t>
            </a:r>
            <a:endParaRPr lang="ro-RO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is-IS" sz="16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Menlo-Regular" panose="020B0609030804020204"/>
              </a:rPr>
              <a:t> 0;</a:t>
            </a:r>
            <a:endParaRPr lang="is-I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is-IS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124249" y="5181600"/>
            <a:ext cx="1139190" cy="352425"/>
          </a:xfrm>
          <a:prstGeom prst="rect">
            <a:avLst/>
          </a:prstGeom>
          <a:noFill/>
          <a:ln w="3240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main2.c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759938" y="1817132"/>
            <a:ext cx="4441462" cy="1816100"/>
          </a:xfrm>
          <a:prstGeom prst="rect">
            <a:avLst/>
          </a:prstGeom>
          <a:solidFill>
            <a:srgbClr val="F7F5CD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 smtClean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600" dirty="0" smtClean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Menlo-Regular" panose="020B0609030804020204"/>
              </a:rPr>
              <a:t>addvec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Menlo-Regular" panose="020B0609030804020204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Menlo-Regular" panose="020B0609030804020204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           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z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n</a:t>
            </a:r>
            <a:r>
              <a:rPr lang="fr-FR" sz="1600" dirty="0" smtClean="0">
                <a:solidFill>
                  <a:srgbClr val="000000"/>
                </a:solidFill>
                <a:latin typeface="Menlo-Regular" panose="020B0609030804020204"/>
              </a:rPr>
              <a:t>) {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i</a:t>
            </a:r>
            <a:r>
              <a:rPr lang="fr-FR" sz="1600" dirty="0" smtClean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r-FR" sz="1600" dirty="0" smtClean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da-DK" sz="1600" dirty="0" smtClean="0">
                <a:solidFill>
                  <a:srgbClr val="C200FF"/>
                </a:solidFill>
                <a:latin typeface="Menlo-Regular" panose="020B0609030804020204"/>
              </a:rPr>
              <a:t>for</a:t>
            </a:r>
            <a:r>
              <a:rPr lang="da-DK" sz="1600" dirty="0" smtClean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/>
              </a:rPr>
              <a:t>(i = 0; i &lt; n; i++)</a:t>
            </a:r>
            <a:endParaRPr lang="da-DK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s-ES_tradnl" sz="1600" dirty="0">
                <a:solidFill>
                  <a:srgbClr val="000000"/>
                </a:solidFill>
                <a:latin typeface="Menlo-Regular" panose="020B0609030804020204"/>
              </a:rPr>
              <a:t>        z[i] = x[i] + y[i];</a:t>
            </a:r>
            <a:endParaRPr lang="es-ES_trad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s-ES_tradnl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is-IS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759938" y="3774995"/>
            <a:ext cx="4441462" cy="2062480"/>
          </a:xfrm>
          <a:prstGeom prst="rect">
            <a:avLst/>
          </a:prstGeom>
          <a:solidFill>
            <a:srgbClr val="F7F5CD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 smtClean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600" dirty="0" smtClean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Menlo-Regular" panose="020B0609030804020204"/>
              </a:rPr>
              <a:t>multvec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Menlo-Regular" panose="020B0609030804020204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Menlo-Regular" panose="020B0609030804020204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            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z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n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i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600" dirty="0" smtClean="0">
                <a:solidFill>
                  <a:srgbClr val="C200FF"/>
                </a:solidFill>
                <a:latin typeface="Menlo-Regular" panose="020B0609030804020204"/>
              </a:rPr>
              <a:t>    for</a:t>
            </a:r>
            <a:r>
              <a:rPr lang="da-DK" sz="1600" dirty="0" smtClean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/>
              </a:rPr>
              <a:t>(i = 0; i &lt; n; i++)</a:t>
            </a:r>
            <a:endParaRPr lang="da-DK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s-ES_tradnl" sz="1600" dirty="0">
                <a:solidFill>
                  <a:srgbClr val="000000"/>
                </a:solidFill>
                <a:latin typeface="Menlo-Regular" panose="020B0609030804020204"/>
              </a:rPr>
              <a:t>        z[i] = x[i] * y[i];</a:t>
            </a:r>
            <a:endParaRPr lang="es-ES_trad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s-ES_tradnl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is-IS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9794740" y="5527595"/>
            <a:ext cx="1413510" cy="352425"/>
          </a:xfrm>
          <a:prstGeom prst="rect">
            <a:avLst/>
          </a:prstGeom>
          <a:noFill/>
          <a:ln w="3240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multvec.c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933262" y="3341132"/>
            <a:ext cx="1276350" cy="352425"/>
          </a:xfrm>
          <a:prstGeom prst="rect">
            <a:avLst/>
          </a:prstGeom>
          <a:noFill/>
          <a:ln w="3240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addvec.c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0" name="Left Brace 9"/>
          <p:cNvSpPr/>
          <p:nvPr/>
        </p:nvSpPr>
        <p:spPr bwMode="auto">
          <a:xfrm>
            <a:off x="6172200" y="1752362"/>
            <a:ext cx="381000" cy="4267200"/>
          </a:xfrm>
          <a:prstGeom prst="leftBrace">
            <a:avLst>
              <a:gd name="adj1" fmla="val 233773"/>
              <a:gd name="adj2" fmla="val 50261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890770" y="3406775"/>
            <a:ext cx="13265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Calibri" pitchFamily="34" charset="0"/>
              </a:rPr>
              <a:t>libvector.a</a:t>
            </a:r>
            <a:endParaRPr lang="en-US" sz="18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29130" y="360045"/>
            <a:ext cx="6679565" cy="782955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dirty="0"/>
              <a:t>链接静态库</a:t>
            </a:r>
            <a:endParaRPr lang="zh-CN" altLang="en-GB" dirty="0"/>
          </a:p>
        </p:txBody>
      </p:sp>
      <p:sp>
        <p:nvSpPr>
          <p:cNvPr id="31746" name="Line 2"/>
          <p:cNvSpPr>
            <a:spLocks noChangeShapeType="1"/>
          </p:cNvSpPr>
          <p:nvPr/>
        </p:nvSpPr>
        <p:spPr bwMode="auto">
          <a:xfrm>
            <a:off x="2222500" y="2582862"/>
            <a:ext cx="1587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698625" y="2992438"/>
            <a:ext cx="2070100" cy="629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4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Translators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(</a:t>
            </a:r>
            <a:r>
              <a:rPr lang="en-GB" sz="18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cpp</a:t>
            </a: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lang="en-GB" sz="18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cc1</a:t>
            </a: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lang="en-GB" sz="18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as</a:t>
            </a: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680188" y="2286000"/>
            <a:ext cx="113919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main2.c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329601" y="3994150"/>
            <a:ext cx="113919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main2.o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2765425" y="3681413"/>
            <a:ext cx="815975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3868738" y="4291013"/>
            <a:ext cx="762000" cy="3048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6880489" y="3263900"/>
            <a:ext cx="100203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libc.a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5505451" y="3649663"/>
            <a:ext cx="1587" cy="102235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4021138" y="4672013"/>
            <a:ext cx="2971800" cy="358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4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Linker (</a:t>
            </a:r>
            <a:r>
              <a:rPr lang="en-GB" sz="18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ld</a:t>
            </a: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5049023" y="5518150"/>
            <a:ext cx="100203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prog2c</a:t>
            </a:r>
            <a:endParaRPr lang="en-GB" sz="18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5505450" y="5047191"/>
            <a:ext cx="1588" cy="414338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7101022" y="3886200"/>
            <a:ext cx="3441700" cy="62420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printf.o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and any other 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modules called by 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printf.o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4716885" y="3263900"/>
            <a:ext cx="168783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libvector.a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5520700" y="3994150"/>
            <a:ext cx="127635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addvec.o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6505575" y="3590397"/>
            <a:ext cx="841375" cy="10668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8453438" y="3206750"/>
            <a:ext cx="866775" cy="3638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800" b="1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静态</a:t>
            </a:r>
            <a:r>
              <a:rPr lang="zh-CN" altLang="en-GB" sz="1800" b="1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库</a:t>
            </a:r>
            <a:endParaRPr lang="zh-CN" altLang="en-GB" sz="1800" b="1" i="1" dirty="0">
              <a:solidFill>
                <a:srgbClr val="C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1749425" y="3883025"/>
            <a:ext cx="1554480" cy="3638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800" b="1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可重定位</a:t>
            </a:r>
            <a:r>
              <a:rPr lang="zh-CN" altLang="en-GB" sz="1800" b="1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文件</a:t>
            </a:r>
            <a:endParaRPr lang="zh-CN" altLang="en-GB" sz="1800" b="1" i="1" dirty="0">
              <a:solidFill>
                <a:srgbClr val="C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6172251" y="5378450"/>
            <a:ext cx="2471420" cy="3638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800" b="1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完全链接的可执行</a:t>
            </a:r>
            <a:r>
              <a:rPr lang="zh-CN" altLang="en-GB" sz="1800" b="1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文件</a:t>
            </a:r>
            <a:endParaRPr lang="zh-CN" altLang="en-GB" sz="1800" b="1" i="1" dirty="0">
              <a:solidFill>
                <a:srgbClr val="C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2788612" y="2286000"/>
            <a:ext cx="127635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vector.h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>
            <a:off x="3406775" y="2582862"/>
            <a:ext cx="1587" cy="381000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4852988" y="2289175"/>
            <a:ext cx="1304925" cy="629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4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err="1">
                <a:latin typeface="Calibri" pitchFamily="34" charset="0"/>
                <a:ea typeface="msgothic" charset="0"/>
                <a:cs typeface="msgothic" charset="0"/>
              </a:rPr>
              <a:t>Archiver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(</a:t>
            </a:r>
            <a:r>
              <a:rPr lang="en-GB" sz="18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ar</a:t>
            </a: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8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>
            <a:off x="5505451" y="2955925"/>
            <a:ext cx="1587" cy="411163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68" name="Line 24"/>
          <p:cNvSpPr>
            <a:spLocks noChangeShapeType="1"/>
          </p:cNvSpPr>
          <p:nvPr/>
        </p:nvSpPr>
        <p:spPr bwMode="auto">
          <a:xfrm>
            <a:off x="4953000" y="1874837"/>
            <a:ext cx="1588" cy="411163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>
            <a:off x="6096000" y="1874837"/>
            <a:ext cx="1588" cy="411163"/>
          </a:xfrm>
          <a:prstGeom prst="line">
            <a:avLst/>
          </a:prstGeom>
          <a:noFill/>
          <a:ln w="284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>
            <a:off x="4130050" y="1538288"/>
            <a:ext cx="127635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addvec.o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1771" name="Text Box 27"/>
          <p:cNvSpPr txBox="1">
            <a:spLocks noChangeArrowheads="1"/>
          </p:cNvSpPr>
          <p:nvPr/>
        </p:nvSpPr>
        <p:spPr bwMode="auto">
          <a:xfrm>
            <a:off x="5454375" y="1524000"/>
            <a:ext cx="141351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multvec.o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19600" y="6347379"/>
            <a:ext cx="23469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latin typeface="Calibri" pitchFamily="34" charset="0"/>
              </a:rPr>
              <a:t>“c” for “compile-time”</a:t>
            </a:r>
            <a:endParaRPr lang="en-US" sz="1600" i="1" dirty="0" smtClean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360362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/>
              <a:t>使用静态</a:t>
            </a:r>
            <a:r>
              <a:rPr lang="zh-CN" altLang="en-GB"/>
              <a:t>库</a:t>
            </a:r>
            <a:endParaRPr lang="zh-CN" altLang="en-GB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00200" y="1428750"/>
            <a:ext cx="8872220" cy="413385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链接器解析外部符号的算法</a:t>
            </a:r>
            <a:r>
              <a:rPr lang="en-GB" dirty="0"/>
              <a:t>: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按照</a:t>
            </a:r>
            <a:r>
              <a:rPr lang="zh-CN" altLang="en-GB" b="1" dirty="0">
                <a:latin typeface="Kaiti SC Bold" panose="02010600040101010101" charset="-122"/>
                <a:ea typeface="Kaiti SC Bold" panose="02010600040101010101" charset="-122"/>
              </a:rPr>
              <a:t>从左至右</a:t>
            </a:r>
            <a:r>
              <a:rPr lang="zh-CN" altLang="en-GB" dirty="0"/>
              <a:t>的顺序</a:t>
            </a:r>
            <a:r>
              <a:rPr lang="en-US" altLang="zh-CN" dirty="0"/>
              <a:t>、</a:t>
            </a: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</a:rPr>
              <a:t>按需单次扫描</a:t>
            </a:r>
            <a:r>
              <a:rPr lang="zh-CN" altLang="en-GB" dirty="0"/>
              <a:t>处理命令行参数中的文件</a:t>
            </a:r>
            <a:r>
              <a:rPr lang="en-US" altLang="zh-CN" dirty="0"/>
              <a:t>；</a:t>
            </a:r>
            <a:r>
              <a:rPr lang="zh-CN" altLang="en-GB" dirty="0"/>
              <a:t>在扫描过程中，维护</a:t>
            </a:r>
            <a:r>
              <a:rPr lang="en-US" altLang="zh-CN" dirty="0"/>
              <a:t>3</a:t>
            </a:r>
            <a:r>
              <a:rPr lang="zh-CN" altLang="en-US" dirty="0"/>
              <a:t>个列表</a:t>
            </a:r>
            <a:endParaRPr lang="zh-CN" altLang="en-US" dirty="0"/>
          </a:p>
          <a:p>
            <a:pPr lvl="2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已定义</a:t>
            </a:r>
            <a:r>
              <a:rPr lang="zh-CN" altLang="en-US" dirty="0"/>
              <a:t>符号表</a:t>
            </a:r>
            <a:endParaRPr lang="zh-CN" altLang="en-US" dirty="0"/>
          </a:p>
          <a:p>
            <a:pPr lvl="2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未定义符号表</a:t>
            </a:r>
            <a:r>
              <a:rPr lang="en-US" altLang="zh-CN" dirty="0"/>
              <a:t>（</a:t>
            </a:r>
            <a:r>
              <a:rPr lang="zh-CN" altLang="en-US" dirty="0"/>
              <a:t>待解析的符号</a:t>
            </a:r>
            <a:r>
              <a:rPr lang="en-US" altLang="zh-CN" dirty="0"/>
              <a:t>）</a:t>
            </a:r>
            <a:endParaRPr lang="en-US" altLang="zh-CN" dirty="0"/>
          </a:p>
          <a:p>
            <a:pPr lvl="2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未定的弱符号表</a:t>
            </a:r>
            <a:r>
              <a:rPr lang="en-US" altLang="zh-CN" dirty="0"/>
              <a:t>（</a:t>
            </a:r>
            <a:r>
              <a:rPr lang="zh-CN" altLang="en-US" dirty="0"/>
              <a:t>如果没找到强符号</a:t>
            </a:r>
            <a:r>
              <a:rPr lang="en-US" altLang="zh-CN" dirty="0"/>
              <a:t>，</a:t>
            </a:r>
            <a:r>
              <a:rPr lang="zh-CN" altLang="en-US" dirty="0"/>
              <a:t>作为备用定义</a:t>
            </a:r>
            <a:r>
              <a:rPr lang="en-US" altLang="zh-CN" dirty="0"/>
              <a:t>）</a:t>
            </a:r>
            <a:endParaRPr lang="zh-CN" altLang="en-US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遇到</a:t>
            </a:r>
            <a:r>
              <a:rPr lang="en-US" altLang="zh-CN" dirty="0"/>
              <a:t>.a</a:t>
            </a:r>
            <a:r>
              <a:rPr lang="zh-CN" altLang="en-US" dirty="0"/>
              <a:t>文件时</a:t>
            </a:r>
            <a:r>
              <a:rPr lang="en-US" altLang="zh-CN" dirty="0"/>
              <a:t>，</a:t>
            </a:r>
            <a:r>
              <a:rPr lang="zh-CN" altLang="en-US" dirty="0"/>
              <a:t>遍历其中的每个</a:t>
            </a:r>
            <a:r>
              <a:rPr lang="en-US" altLang="zh-CN" dirty="0"/>
              <a:t>.o</a:t>
            </a:r>
            <a:r>
              <a:rPr lang="zh-CN" altLang="en-US" dirty="0"/>
              <a:t>文件</a:t>
            </a:r>
            <a:r>
              <a:rPr lang="en-US" altLang="zh-CN" dirty="0"/>
              <a:t>：</a:t>
            </a:r>
            <a:endParaRPr lang="en-US" altLang="zh-CN" dirty="0"/>
          </a:p>
          <a:p>
            <a:pPr lvl="2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检查该文件能否补全</a:t>
            </a: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  <a:sym typeface="+mn-ea"/>
              </a:rPr>
              <a:t>未定义符号表</a:t>
            </a:r>
            <a:endParaRPr lang="zh-CN" altLang="en-US" b="1" dirty="0">
              <a:latin typeface="Kaiti SC Bold" panose="02010600040101010101" charset="-122"/>
              <a:ea typeface="Kaiti SC Bold" panose="02010600040101010101" charset="-122"/>
              <a:sym typeface="+mn-ea"/>
            </a:endParaRPr>
          </a:p>
          <a:p>
            <a:pPr lvl="2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</a:rPr>
              <a:t>如果可以</a:t>
            </a:r>
            <a:r>
              <a:rPr lang="en-US" altLang="zh-CN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：</a:t>
            </a:r>
            <a:r>
              <a:rPr lang="zh-CN" altLang="en-US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则提取并链接该</a:t>
            </a:r>
            <a:r>
              <a:rPr lang="en-US" altLang="zh-CN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.o</a:t>
            </a:r>
            <a:r>
              <a:rPr lang="zh-CN" altLang="en-US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文件</a:t>
            </a:r>
            <a:r>
              <a:rPr lang="en-US" altLang="zh-CN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，</a:t>
            </a:r>
            <a:r>
              <a:rPr lang="zh-CN" altLang="en-US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并同步更新</a:t>
            </a:r>
            <a:r>
              <a:rPr lang="en-US" altLang="zh-CN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3</a:t>
            </a:r>
            <a:r>
              <a:rPr lang="zh-CN" altLang="en-US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个列表</a:t>
            </a:r>
            <a:endParaRPr lang="zh-CN" altLang="en-US" b="1" dirty="0">
              <a:latin typeface="Kaiti SC Bold" panose="02010600040101010101" charset="-122"/>
              <a:ea typeface="Kaiti SC Bold" panose="02010600040101010101" charset="-122"/>
            </a:endParaRPr>
          </a:p>
          <a:p>
            <a:pPr lvl="2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</a:rPr>
              <a:t>如果不行</a:t>
            </a:r>
            <a:r>
              <a:rPr lang="en-US" altLang="zh-CN" b="1" dirty="0">
                <a:latin typeface="Kaiti SC Bold" panose="02010600040101010101" charset="-122"/>
                <a:ea typeface="Kaiti SC Bold" panose="02010600040101010101" charset="-122"/>
              </a:rPr>
              <a:t>：</a:t>
            </a:r>
            <a:r>
              <a:rPr lang="zh-CN" altLang="en-US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则丢掉该</a:t>
            </a:r>
            <a:r>
              <a:rPr lang="en-US" altLang="zh-CN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.o</a:t>
            </a:r>
            <a:r>
              <a:rPr lang="zh-CN" altLang="en-US" dirty="0"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</a:rPr>
              <a:t>文件</a:t>
            </a:r>
            <a:endParaRPr lang="zh-CN" altLang="en-US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如果扫描结束时，未解析的引用列表为空，则成功；否则失败</a:t>
            </a:r>
            <a:r>
              <a:rPr lang="en-GB" dirty="0"/>
              <a:t> 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 smtClean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360362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/>
              <a:t>使用静态</a:t>
            </a:r>
            <a:r>
              <a:rPr lang="zh-CN" altLang="en-GB"/>
              <a:t>库</a:t>
            </a:r>
            <a:endParaRPr lang="zh-CN" altLang="en-GB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79930" y="1428750"/>
            <a:ext cx="9062085" cy="4133850"/>
          </a:xfrm>
        </p:spPr>
        <p:txBody>
          <a:bodyPr/>
          <a:lstStyle/>
          <a:p>
            <a:pPr lvl="0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sz="2400" dirty="0">
                <a:sym typeface="+mn-ea"/>
              </a:rPr>
              <a:t>问题</a:t>
            </a:r>
            <a:r>
              <a:rPr lang="en-US" altLang="zh-CN" sz="2400" dirty="0">
                <a:sym typeface="+mn-ea"/>
              </a:rPr>
              <a:t>1：</a:t>
            </a:r>
            <a:r>
              <a:rPr lang="zh-CN" altLang="en-US" sz="2400" dirty="0">
                <a:sym typeface="+mn-ea"/>
              </a:rPr>
              <a:t>可执行文件中有无用的库函数</a:t>
            </a:r>
            <a:endParaRPr lang="en-GB" sz="2400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某个被提取的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obj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文件中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可能包括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90%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未被引用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使用的函数定义，但是也会被链接到可执行文件</a:t>
            </a:r>
            <a:endParaRPr lang="zh-CN" altLang="en-US" sz="2400" dirty="0">
              <a:solidFill>
                <a:srgbClr val="00B050"/>
              </a:solidFill>
              <a:sym typeface="+mn-ea"/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LTO（linking-time optimization)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：识别无用函数并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删除</a:t>
            </a:r>
            <a:endParaRPr lang="zh-CN" altLang="en-US" sz="2400" dirty="0">
              <a:solidFill>
                <a:srgbClr val="00B050"/>
              </a:solidFill>
              <a:sym typeface="+mn-ea"/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zh-CN" altLang="en-US" sz="2400" dirty="0" smtClean="0">
              <a:solidFill>
                <a:srgbClr val="00B050"/>
              </a:solidFill>
              <a:sym typeface="+mn-ea"/>
            </a:endParaRPr>
          </a:p>
          <a:p>
            <a:pPr lvl="0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 smtClean="0"/>
              <a:t>问题</a:t>
            </a:r>
            <a:r>
              <a:rPr lang="en-US" altLang="zh-CN" dirty="0" smtClean="0"/>
              <a:t>2：</a:t>
            </a:r>
            <a:r>
              <a:rPr lang="zh-CN" altLang="en-GB" dirty="0"/>
              <a:t>解析结果受参数顺序的影响</a:t>
            </a:r>
            <a:r>
              <a:rPr lang="en-GB" dirty="0"/>
              <a:t>!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/>
              <a:t>最佳实践</a:t>
            </a:r>
            <a:r>
              <a:rPr lang="en-GB" dirty="0"/>
              <a:t>: </a:t>
            </a:r>
            <a:r>
              <a:rPr lang="zh-CN" altLang="en-GB" dirty="0"/>
              <a:t>参数顺序</a:t>
            </a:r>
            <a:r>
              <a:rPr lang="zh-CN" altLang="en-GB" dirty="0"/>
              <a:t>中，将</a:t>
            </a:r>
            <a:r>
              <a:rPr lang="en-US" altLang="zh-CN" dirty="0"/>
              <a:t>.a</a:t>
            </a:r>
            <a:r>
              <a:rPr lang="zh-CN" altLang="en-US" dirty="0"/>
              <a:t>文件放在</a:t>
            </a:r>
            <a:r>
              <a:rPr lang="en-US" altLang="zh-CN" dirty="0"/>
              <a:t>.o</a:t>
            </a:r>
            <a:r>
              <a:rPr lang="zh-CN" altLang="en-US" dirty="0"/>
              <a:t>文件的后面</a:t>
            </a:r>
            <a:r>
              <a:rPr lang="en-GB" dirty="0"/>
              <a:t>. </a:t>
            </a:r>
            <a:endParaRPr lang="en-GB" dirty="0"/>
          </a:p>
          <a:p>
            <a:pPr lvl="0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400" dirty="0"/>
          </a:p>
          <a:p>
            <a:pPr lvl="0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400" dirty="0"/>
          </a:p>
          <a:p>
            <a:pPr lvl="0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zh-CN" altLang="en-US" dirty="0">
              <a:solidFill>
                <a:srgbClr val="00B050"/>
              </a:solidFill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zh-CN" altLang="en-US" dirty="0">
              <a:solidFill>
                <a:srgbClr val="00B050"/>
              </a:solidFill>
            </a:endParaRPr>
          </a:p>
          <a:p>
            <a:pPr lvl="0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>
                <a:solidFill>
                  <a:srgbClr val="00B050"/>
                </a:solidFill>
              </a:rPr>
              <a:t>问题</a:t>
            </a:r>
            <a:r>
              <a:rPr lang="en-US" altLang="zh-CN" dirty="0">
                <a:solidFill>
                  <a:srgbClr val="00B050"/>
                </a:solidFill>
              </a:rPr>
              <a:t>3：</a:t>
            </a:r>
            <a:r>
              <a:rPr lang="zh-CN" altLang="en-US" dirty="0">
                <a:solidFill>
                  <a:srgbClr val="00B050"/>
                </a:solidFill>
              </a:rPr>
              <a:t>循环依赖怎么办</a:t>
            </a:r>
            <a:r>
              <a:rPr lang="en-US" altLang="zh-CN" dirty="0">
                <a:solidFill>
                  <a:srgbClr val="00B050"/>
                </a:solidFill>
              </a:rPr>
              <a:t>？</a:t>
            </a:r>
            <a:endParaRPr lang="en-US" altLang="zh-CN" dirty="0">
              <a:solidFill>
                <a:srgbClr val="00B050"/>
              </a:solidFill>
            </a:endParaRPr>
          </a:p>
          <a:p>
            <a:pPr lvl="0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667000" y="4267391"/>
            <a:ext cx="6640830" cy="1016000"/>
          </a:xfrm>
          <a:prstGeom prst="rect">
            <a:avLst/>
          </a:prstGeom>
          <a:solidFill>
            <a:srgbClr val="E6E6E6"/>
          </a:solidFill>
          <a:ln w="648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unix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&gt; </a:t>
            </a: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gcc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-L. 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main2.o –</a:t>
            </a:r>
            <a:r>
              <a:rPr lang="en-GB" sz="1600" b="1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libvector.a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unix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&gt; </a:t>
            </a: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gcc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-L. 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–</a:t>
            </a:r>
            <a:r>
              <a:rPr lang="en-GB" sz="1600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libvector.a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main2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.o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main2.o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: In function `main':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main2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.o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(.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text+0x18): 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undefined reference to 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`</a:t>
            </a:r>
            <a:r>
              <a:rPr lang="en-GB" sz="1600" b="1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addvec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' 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en-US" altLang="zh-CN"/>
              <a:t>1</a:t>
            </a:r>
            <a:r>
              <a:rPr lang="zh-CN" altLang="en-US"/>
              <a:t>的变种</a:t>
            </a:r>
            <a:r>
              <a:rPr lang="en-US" altLang="zh-CN"/>
              <a:t>：</a:t>
            </a:r>
            <a:r>
              <a:rPr lang="zh-CN" altLang="en-US"/>
              <a:t>库函数冗余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问题</a:t>
            </a:r>
            <a:endParaRPr lang="en-US" altLang="zh-CN"/>
          </a:p>
          <a:p>
            <a:pPr lvl="1"/>
            <a:r>
              <a:rPr lang="en-US" altLang="zh-CN"/>
              <a:t>libc.a</a:t>
            </a:r>
            <a:r>
              <a:rPr lang="zh-CN" altLang="en-US"/>
              <a:t>中</a:t>
            </a:r>
            <a:r>
              <a:rPr lang="en-US" altLang="zh-CN"/>
              <a:t>，</a:t>
            </a:r>
            <a:r>
              <a:rPr lang="zh-CN" altLang="en-US"/>
              <a:t>有</a:t>
            </a:r>
            <a:r>
              <a:rPr lang="en-US" altLang="zh-CN"/>
              <a:t>4057</a:t>
            </a:r>
            <a:r>
              <a:rPr lang="zh-CN" altLang="en-US"/>
              <a:t>个函数</a:t>
            </a:r>
            <a:r>
              <a:rPr lang="en-US" altLang="zh-CN"/>
              <a:t>，</a:t>
            </a:r>
            <a:r>
              <a:rPr lang="zh-CN" altLang="en-US"/>
              <a:t>其中</a:t>
            </a:r>
            <a:r>
              <a:rPr lang="en-US" altLang="zh-CN"/>
              <a:t>2844</a:t>
            </a:r>
            <a:r>
              <a:rPr lang="zh-CN" altLang="en-US"/>
              <a:t>个外部可访问的库函数</a:t>
            </a:r>
            <a:endParaRPr lang="zh-CN" altLang="en-US"/>
          </a:p>
          <a:p>
            <a:pPr lvl="1"/>
            <a:r>
              <a:rPr lang="zh-CN" altLang="en-US"/>
              <a:t>什么应用场景会用到</a:t>
            </a:r>
            <a:r>
              <a:rPr lang="en-US"/>
              <a:t>1000+</a:t>
            </a:r>
            <a:r>
              <a:rPr lang="zh-CN" altLang="en-US"/>
              <a:t>个库函数吗？</a:t>
            </a:r>
            <a:endParaRPr lang="zh-CN" altLang="en-US"/>
          </a:p>
          <a:p>
            <a:pPr lvl="0"/>
            <a:r>
              <a:rPr lang="zh-CN" altLang="en-US"/>
              <a:t>背景</a:t>
            </a:r>
            <a:endParaRPr lang="en-US" altLang="zh-CN"/>
          </a:p>
          <a:p>
            <a:pPr lvl="1"/>
            <a:r>
              <a:rPr lang="zh-CN" altLang="en-US"/>
              <a:t>封闭场景下</a:t>
            </a:r>
            <a:r>
              <a:rPr lang="en-US" altLang="zh-CN"/>
              <a:t>，</a:t>
            </a:r>
            <a:r>
              <a:rPr lang="zh-CN" altLang="en-US"/>
              <a:t>应用程序不会发生更新和增加</a:t>
            </a:r>
            <a:endParaRPr lang="zh-CN" altLang="en-US"/>
          </a:p>
          <a:p>
            <a:pPr lvl="1"/>
            <a:r>
              <a:rPr lang="zh-CN" altLang="en-US"/>
              <a:t>应用程序引用的库函数是相当有限的</a:t>
            </a:r>
            <a:r>
              <a:rPr lang="en-US" altLang="zh-CN"/>
              <a:t>，</a:t>
            </a:r>
            <a:r>
              <a:rPr lang="zh-CN" altLang="en-US"/>
              <a:t>库文件中大量的库函数是冗余的</a:t>
            </a:r>
            <a:endParaRPr lang="zh-CN" altLang="en-US"/>
          </a:p>
          <a:p>
            <a:pPr lvl="0"/>
            <a:r>
              <a:rPr lang="zh-CN" altLang="en-US"/>
              <a:t>思路</a:t>
            </a:r>
            <a:endParaRPr lang="zh-CN" altLang="en-US"/>
          </a:p>
          <a:p>
            <a:pPr lvl="1"/>
            <a:r>
              <a:rPr lang="zh-CN" altLang="en-US"/>
              <a:t>从应用程序集出发</a:t>
            </a:r>
            <a:r>
              <a:rPr lang="en-US" altLang="zh-CN"/>
              <a:t>，</a:t>
            </a:r>
            <a:r>
              <a:rPr lang="zh-CN" altLang="en-US"/>
              <a:t>识别出所有可达的库函数</a:t>
            </a:r>
            <a:r>
              <a:rPr lang="en-US" altLang="zh-CN"/>
              <a:t>，</a:t>
            </a:r>
            <a:r>
              <a:rPr lang="zh-CN" altLang="en-US"/>
              <a:t>并删除不可达的库函数</a:t>
            </a:r>
            <a:endParaRPr lang="zh-CN" altLang="en-US"/>
          </a:p>
          <a:p>
            <a:pPr lvl="0"/>
            <a:endParaRPr lang="zh-CN" altLang="en-US"/>
          </a:p>
          <a:p>
            <a:pPr lvl="1"/>
            <a:endParaRPr lang="zh-CN" altLang="en-US"/>
          </a:p>
          <a:p>
            <a:endParaRPr lang="zh-CN" altLang="en-US"/>
          </a:p>
        </p:txBody>
      </p:sp>
      <p:sp>
        <p:nvSpPr>
          <p:cNvPr id="5" name="Cloud Callout 4"/>
          <p:cNvSpPr/>
          <p:nvPr/>
        </p:nvSpPr>
        <p:spPr>
          <a:xfrm>
            <a:off x="10408920" y="47752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问题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的变种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库函数冗余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3205"/>
            <a:ext cx="10515600" cy="2468245"/>
          </a:xfrm>
        </p:spPr>
        <p:txBody>
          <a:bodyPr>
            <a:normAutofit lnSpcReduction="10000"/>
          </a:bodyPr>
          <a:lstStyle/>
          <a:p>
            <a:pPr lvl="0"/>
            <a:r>
              <a:rPr lang="zh-CN" altLang="en-US"/>
              <a:t>挑战</a:t>
            </a:r>
            <a:endParaRPr lang="zh-CN" altLang="en-US"/>
          </a:p>
          <a:p>
            <a:pPr lvl="1"/>
            <a:r>
              <a:rPr lang="zh-CN" altLang="en-US"/>
              <a:t>函数可达图需要指针</a:t>
            </a:r>
            <a:r>
              <a:rPr lang="zh-CN" altLang="en-US"/>
              <a:t>分析</a:t>
            </a:r>
            <a:endParaRPr lang="zh-CN" altLang="en-US"/>
          </a:p>
          <a:p>
            <a:pPr lvl="1"/>
            <a:r>
              <a:rPr lang="zh-CN" altLang="en-US"/>
              <a:t>或者</a:t>
            </a:r>
            <a:r>
              <a:rPr lang="en-US" altLang="zh-CN"/>
              <a:t>，</a:t>
            </a:r>
            <a:r>
              <a:rPr lang="zh-CN" altLang="en-US"/>
              <a:t>利用重定位</a:t>
            </a:r>
            <a:r>
              <a:rPr lang="zh-CN" altLang="en-US"/>
              <a:t>表</a:t>
            </a:r>
            <a:endParaRPr lang="zh-CN" altLang="en-US"/>
          </a:p>
          <a:p>
            <a:pPr lvl="0"/>
            <a:r>
              <a:rPr lang="zh-CN" altLang="en-US"/>
              <a:t>实验</a:t>
            </a:r>
            <a:r>
              <a:rPr lang="zh-CN" altLang="en-US"/>
              <a:t>结果</a:t>
            </a:r>
            <a:endParaRPr lang="zh-CN" altLang="en-US"/>
          </a:p>
          <a:p>
            <a:pPr lvl="1"/>
            <a:r>
              <a:rPr lang="zh-CN" altLang="en-US" sz="2400"/>
              <a:t>假设</a:t>
            </a:r>
            <a:r>
              <a:rPr lang="en-US" altLang="zh-CN" sz="2400"/>
              <a:t>26</a:t>
            </a:r>
            <a:r>
              <a:rPr lang="zh-CN" altLang="en-US" sz="2400"/>
              <a:t>个</a:t>
            </a:r>
            <a:r>
              <a:rPr lang="en-US" altLang="zh-CN" sz="2400"/>
              <a:t>app</a:t>
            </a:r>
            <a:r>
              <a:rPr lang="en-US" altLang="zh-CN"/>
              <a:t>		</a:t>
            </a:r>
            <a:endParaRPr lang="zh-CN" altLang="en-US" sz="2400"/>
          </a:p>
          <a:p>
            <a:pPr lvl="1"/>
            <a:r>
              <a:rPr lang="zh-CN" altLang="en-US" sz="2400"/>
              <a:t>优化</a:t>
            </a:r>
            <a:r>
              <a:rPr lang="zh-CN" altLang="en-US" sz="2400"/>
              <a:t>效果</a:t>
            </a:r>
            <a:endParaRPr lang="zh-CN" altLang="en-US" sz="2400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50985" y="6371591"/>
            <a:ext cx="2743200" cy="365125"/>
          </a:xfrm>
        </p:spPr>
        <p:txBody>
          <a:bodyPr/>
          <a:lstStyle/>
          <a:p>
            <a:r>
              <a:rPr lang="en-US"/>
              <a:t>*</a:t>
            </a:r>
            <a:endParaRPr lang="en-US"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5880" y="3176905"/>
            <a:ext cx="7214870" cy="5041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153410" y="4323715"/>
          <a:ext cx="6948805" cy="1706245"/>
        </p:xfrm>
        <a:graphic>
          <a:graphicData uri="http://schemas.openxmlformats.org/drawingml/2006/table">
            <a:tbl>
              <a:tblPr/>
              <a:tblGrid>
                <a:gridCol w="2284730"/>
                <a:gridCol w="1520825"/>
                <a:gridCol w="1570990"/>
                <a:gridCol w="1572260"/>
              </a:tblGrid>
              <a:tr h="48514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800">
                        <a:solidFill>
                          <a:srgbClr val="000000"/>
                        </a:solidFill>
                        <a:latin typeface="Arial" panose="020B0704020202020204"/>
                        <a:ea typeface="SimSun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SimSun"/>
                        </a:rPr>
                        <a:t>初始大小</a:t>
                      </a:r>
                      <a:endParaRPr lang="zh-CN" sz="1800">
                        <a:solidFill>
                          <a:srgbClr val="000000"/>
                        </a:solidFill>
                        <a:latin typeface="Arial" panose="020B0704020202020204"/>
                        <a:ea typeface="SimSun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Arial" panose="020B0704020202020204"/>
                          <a:ea typeface="Arial" panose="020B0704020202020204"/>
                        </a:rPr>
                        <a:t>裁剪后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Arial" panose="020B0704020202020204"/>
                          <a:ea typeface="Arial" panose="020B0704020202020204"/>
                        </a:rPr>
                        <a:t>比例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00355"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libc.so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16.6M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1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Arial" panose="020B0704020202020204"/>
                        </a:rPr>
                        <a:t>0.9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M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-34.3%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libc.so(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Arial" panose="020B0704020202020204"/>
                        </a:rPr>
                        <a:t>strip debug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2.1M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1.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Arial" panose="020B0704020202020204"/>
                        </a:rPr>
                        <a:t>5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M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-28.6%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libc.so(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Arial" panose="020B0704020202020204"/>
                        </a:rPr>
                        <a:t>strip unneed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1.8M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1.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Arial" panose="020B0704020202020204"/>
                        </a:rPr>
                        <a:t>3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M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Arial" panose="020B0704020202020204"/>
                          <a:ea typeface="Times New Roman" panose="02020603050405020304"/>
                        </a:rPr>
                        <a:t>-28.8%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Arial" panose="020B07040202020202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loud Callout 4"/>
          <p:cNvSpPr/>
          <p:nvPr/>
        </p:nvSpPr>
        <p:spPr>
          <a:xfrm>
            <a:off x="10408920" y="47752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问题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的变种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库函数冗余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ASPLOS</a:t>
            </a:r>
            <a:r>
              <a:rPr lang="zh-CN" altLang="en-US"/>
              <a:t>’</a:t>
            </a:r>
            <a:r>
              <a:rPr lang="en-US" altLang="zh-CN"/>
              <a:t>22</a:t>
            </a:r>
            <a:endParaRPr lang="zh-CN" altLang="en-US"/>
          </a:p>
          <a:p>
            <a:r>
              <a:rPr lang="zh-CN" altLang="en-US"/>
              <a:t>删除无用的库函数</a:t>
            </a:r>
            <a:endParaRPr lang="zh-CN" altLang="en-US"/>
          </a:p>
          <a:p>
            <a:pPr lvl="1"/>
            <a:r>
              <a:rPr lang="zh-CN" altLang="en-US"/>
              <a:t>可以更好地应对</a:t>
            </a:r>
            <a:r>
              <a:rPr lang="en-US" altLang="zh-CN"/>
              <a:t>ROP</a:t>
            </a:r>
            <a:r>
              <a:rPr lang="zh-CN" altLang="en-US"/>
              <a:t>攻击</a:t>
            </a:r>
            <a:endParaRPr lang="zh-CN" altLang="en-US"/>
          </a:p>
          <a:p>
            <a:pPr lvl="1"/>
            <a:r>
              <a:rPr lang="zh-CN" altLang="en-US"/>
              <a:t>可以减少内存</a:t>
            </a:r>
            <a:r>
              <a:rPr lang="en-US" altLang="zh-CN"/>
              <a:t>、</a:t>
            </a:r>
            <a:r>
              <a:rPr lang="zh-CN" altLang="en-US"/>
              <a:t>磁盘</a:t>
            </a:r>
            <a:r>
              <a:rPr lang="zh-CN" altLang="en-US"/>
              <a:t>开销</a:t>
            </a:r>
            <a:endParaRPr lang="zh-CN" altLang="en-US"/>
          </a:p>
          <a:p>
            <a:pPr marL="0" lvl="0" indent="0">
              <a:buNone/>
            </a:pP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00" y="1066800"/>
            <a:ext cx="473964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loud Callout 4"/>
          <p:cNvSpPr/>
          <p:nvPr/>
        </p:nvSpPr>
        <p:spPr>
          <a:xfrm>
            <a:off x="10408920" y="47752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链接顺序问题</a:t>
            </a:r>
            <a:endParaRPr lang="zh-CN" altLang="en-US"/>
          </a:p>
        </p:txBody>
      </p:sp>
      <p:sp>
        <p:nvSpPr>
          <p:cNvPr id="72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假设调用关系如下：</a:t>
            </a:r>
            <a:endParaRPr lang="zh-CN" altLang="en-US"/>
          </a:p>
          <a:p>
            <a:pPr lvl="1"/>
            <a:r>
              <a:rPr lang="en-US" altLang="zh-CN"/>
              <a:t>func.o → libx.a </a:t>
            </a:r>
            <a:r>
              <a:rPr lang="zh-CN" altLang="en-US"/>
              <a:t>和 </a:t>
            </a:r>
            <a:r>
              <a:rPr lang="en-US" altLang="zh-CN"/>
              <a:t>liby.a </a:t>
            </a:r>
            <a:r>
              <a:rPr lang="zh-CN" altLang="en-US"/>
              <a:t>中的函数</a:t>
            </a:r>
            <a:endParaRPr lang="zh-CN" altLang="en-US"/>
          </a:p>
          <a:p>
            <a:pPr lvl="1"/>
            <a:r>
              <a:rPr lang="en-US" altLang="zh-CN"/>
              <a:t>libx.a → libz.a </a:t>
            </a:r>
            <a:r>
              <a:rPr lang="zh-CN" altLang="en-US"/>
              <a:t>中的函数</a:t>
            </a:r>
            <a:endParaRPr lang="zh-CN" altLang="en-US"/>
          </a:p>
          <a:p>
            <a:pPr lvl="1"/>
            <a:r>
              <a:rPr lang="en-US" altLang="zh-CN"/>
              <a:t>libx.a </a:t>
            </a:r>
            <a:r>
              <a:rPr lang="zh-CN" altLang="en-US"/>
              <a:t>和 </a:t>
            </a:r>
            <a:r>
              <a:rPr lang="en-US" altLang="zh-CN"/>
              <a:t>liby.a </a:t>
            </a:r>
            <a:r>
              <a:rPr lang="zh-CN" altLang="en-US"/>
              <a:t>之间、</a:t>
            </a:r>
            <a:r>
              <a:rPr lang="en-US" altLang="zh-CN"/>
              <a:t>liby.a </a:t>
            </a:r>
            <a:r>
              <a:rPr lang="zh-CN" altLang="en-US"/>
              <a:t>和 </a:t>
            </a:r>
            <a:r>
              <a:rPr lang="en-US" altLang="zh-CN"/>
              <a:t>libz.a </a:t>
            </a:r>
            <a:r>
              <a:rPr lang="zh-CN" altLang="en-US"/>
              <a:t>相互独立</a:t>
            </a:r>
            <a:endParaRPr lang="zh-CN" altLang="en-US"/>
          </a:p>
          <a:p>
            <a:pPr lvl="0"/>
            <a:r>
              <a:rPr lang="zh-CN" altLang="en-US"/>
              <a:t>则以下几个命令行都是可行的：</a:t>
            </a:r>
            <a:endParaRPr lang="zh-CN" altLang="en-US"/>
          </a:p>
          <a:p>
            <a:pPr lvl="1"/>
            <a:r>
              <a:rPr lang="en-US" altLang="zh-CN"/>
              <a:t>gcc -static –o myfunc func.o </a:t>
            </a:r>
            <a:r>
              <a:rPr lang="en-US" altLang="zh-CN" b="1"/>
              <a:t>libx.a liby.a libz.a</a:t>
            </a:r>
            <a:endParaRPr lang="en-US" altLang="zh-CN" b="1"/>
          </a:p>
          <a:p>
            <a:pPr lvl="1"/>
            <a:r>
              <a:rPr lang="en-US" altLang="zh-CN"/>
              <a:t>gcc -static –o myfunc func.o </a:t>
            </a:r>
            <a:r>
              <a:rPr lang="en-US" altLang="zh-CN" b="1"/>
              <a:t>liby.a libx.a libz.a</a:t>
            </a:r>
            <a:endParaRPr lang="en-US" altLang="zh-CN"/>
          </a:p>
          <a:p>
            <a:pPr lvl="1"/>
            <a:r>
              <a:rPr lang="en-US" altLang="zh-CN"/>
              <a:t>gcc -static –o myfunc func.o </a:t>
            </a:r>
            <a:r>
              <a:rPr lang="en-US" altLang="zh-CN" b="1"/>
              <a:t>libx.a libz.a liby.a</a:t>
            </a:r>
            <a:endParaRPr lang="en-US" altLang="zh-CN" b="1"/>
          </a:p>
          <a:p>
            <a:pPr lvl="2"/>
            <a:endParaRPr lang="en-US" altLang="zh-CN"/>
          </a:p>
          <a:p>
            <a:r>
              <a:rPr lang="zh-CN" altLang="en-US"/>
              <a:t>假设调用关系如下：</a:t>
            </a:r>
            <a:endParaRPr lang="zh-CN" altLang="en-US"/>
          </a:p>
          <a:p>
            <a:pPr lvl="1"/>
            <a:r>
              <a:rPr lang="en-US" altLang="zh-CN"/>
              <a:t>func.o → libx.a </a:t>
            </a:r>
            <a:r>
              <a:rPr lang="zh-CN" altLang="en-US"/>
              <a:t>和 </a:t>
            </a:r>
            <a:r>
              <a:rPr lang="en-US" altLang="zh-CN"/>
              <a:t>liby.a </a:t>
            </a:r>
            <a:r>
              <a:rPr lang="zh-CN" altLang="en-US"/>
              <a:t>中的函数</a:t>
            </a:r>
            <a:endParaRPr lang="zh-CN" altLang="en-US"/>
          </a:p>
          <a:p>
            <a:pPr lvl="1"/>
            <a:r>
              <a:rPr lang="en-US" altLang="zh-CN"/>
              <a:t>libx.a → liby.a </a:t>
            </a:r>
            <a:r>
              <a:rPr lang="zh-CN" altLang="en-US"/>
              <a:t>同时 </a:t>
            </a:r>
            <a:r>
              <a:rPr lang="en-US" altLang="zh-CN"/>
              <a:t>liby.a → libx.a  </a:t>
            </a:r>
            <a:endParaRPr lang="en-US" altLang="zh-CN"/>
          </a:p>
          <a:p>
            <a:pPr lvl="0"/>
            <a:r>
              <a:rPr lang="zh-CN" altLang="en-US"/>
              <a:t>则以下命令行可行：</a:t>
            </a:r>
            <a:endParaRPr lang="zh-CN" altLang="en-US"/>
          </a:p>
          <a:p>
            <a:pPr lvl="1"/>
            <a:r>
              <a:rPr lang="en-US" altLang="zh-CN"/>
              <a:t>gcc -static –o myfunc func.o </a:t>
            </a:r>
            <a:r>
              <a:rPr lang="en-US" altLang="zh-CN" b="1"/>
              <a:t>libx.a liby.a libx.a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2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2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2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39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  <a:r>
              <a:rPr lang="en-US" altLang="zh-CN"/>
              <a:t>7.3</a:t>
            </a:r>
            <a:endParaRPr lang="en-US" altLang="zh-CN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答案</a:t>
            </a:r>
            <a:endParaRPr lang="zh-CN" altLang="en-US"/>
          </a:p>
          <a:p>
            <a:pPr lvl="1"/>
            <a:r>
              <a:rPr lang="en-US" altLang="zh-CN" sz="2000"/>
              <a:t>A：</a:t>
            </a:r>
            <a:endParaRPr lang="en-US" altLang="zh-CN" sz="2000"/>
          </a:p>
          <a:p>
            <a:pPr lvl="1"/>
            <a:r>
              <a:rPr lang="en-US" altLang="zh-CN" sz="2000"/>
              <a:t>B：</a:t>
            </a:r>
            <a:endParaRPr lang="en-US" altLang="zh-CN" sz="2000"/>
          </a:p>
          <a:p>
            <a:pPr lvl="1"/>
            <a:r>
              <a:rPr lang="en-US" altLang="zh-CN" sz="2000"/>
              <a:t>C：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371600"/>
            <a:ext cx="10157460" cy="3217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练习</a:t>
            </a:r>
            <a:r>
              <a:rPr lang="en-US" altLang="zh-CN"/>
              <a:t>7.3</a:t>
            </a:r>
            <a:endParaRPr lang="en-US" altLang="zh-CN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答案</a:t>
            </a:r>
            <a:endParaRPr lang="zh-CN" altLang="en-US"/>
          </a:p>
          <a:p>
            <a:pPr lvl="1"/>
            <a:r>
              <a:rPr lang="en-US" altLang="zh-CN" sz="2000"/>
              <a:t>A：gcc -static -o a.out p.o </a:t>
            </a:r>
            <a:r>
              <a:rPr lang="en-US" altLang="zh-CN" sz="2000" b="1" u="sng"/>
              <a:t>libx.a</a:t>
            </a:r>
            <a:endParaRPr lang="en-US" altLang="zh-CN" sz="2000" b="1"/>
          </a:p>
          <a:p>
            <a:pPr lvl="1"/>
            <a:r>
              <a:rPr lang="en-US" altLang="zh-CN" sz="2000"/>
              <a:t>B：gcc -static -o a.out po.o </a:t>
            </a:r>
            <a:r>
              <a:rPr lang="en-US" altLang="zh-CN" sz="2000" b="1" u="sng"/>
              <a:t>liby.a libx.a</a:t>
            </a:r>
            <a:endParaRPr lang="en-US" altLang="zh-CN" sz="2000"/>
          </a:p>
          <a:p>
            <a:pPr lvl="1"/>
            <a:r>
              <a:rPr lang="en-US" altLang="zh-CN" sz="2000"/>
              <a:t>C：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371600"/>
            <a:ext cx="10157460" cy="3217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练习</a:t>
            </a:r>
            <a:r>
              <a:rPr lang="en-US" altLang="zh-CN"/>
              <a:t>7.3</a:t>
            </a:r>
            <a:endParaRPr lang="en-US" altLang="zh-CN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答案</a:t>
            </a:r>
            <a:endParaRPr lang="zh-CN" altLang="en-US"/>
          </a:p>
          <a:p>
            <a:pPr lvl="1"/>
            <a:r>
              <a:rPr lang="en-US" altLang="zh-CN" sz="2000"/>
              <a:t>A：gcc -static -o a.out p.o </a:t>
            </a:r>
            <a:r>
              <a:rPr lang="en-US" altLang="zh-CN" sz="2000" b="1" u="sng"/>
              <a:t>libx.a</a:t>
            </a:r>
            <a:endParaRPr lang="en-US" altLang="zh-CN" sz="2000" b="1"/>
          </a:p>
          <a:p>
            <a:pPr lvl="1"/>
            <a:r>
              <a:rPr lang="en-US" altLang="zh-CN" sz="2000"/>
              <a:t>B：gcc -static -o a.out p.o </a:t>
            </a:r>
            <a:r>
              <a:rPr lang="en-US" altLang="zh-CN" sz="2000" b="1" u="sng"/>
              <a:t>libx.a liby.a</a:t>
            </a:r>
            <a:endParaRPr lang="en-US" altLang="zh-CN" sz="2000" b="1" u="sng"/>
          </a:p>
          <a:p>
            <a:pPr lvl="1"/>
            <a:r>
              <a:rPr lang="en-US" altLang="zh-CN">
                <a:sym typeface="+mn-ea"/>
              </a:rPr>
              <a:t>C：gcc -static -o a.out p.o </a:t>
            </a:r>
            <a:r>
              <a:rPr lang="en-US" altLang="zh-CN" b="1" u="sng">
                <a:sym typeface="+mn-ea"/>
              </a:rPr>
              <a:t>libx.a liby.a libx.a</a:t>
            </a:r>
            <a:endParaRPr lang="en-US" altLang="zh-CN"/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371600"/>
            <a:ext cx="10157460" cy="3217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</a:t>
            </a:r>
            <a:r>
              <a:rPr lang="en-US" altLang="zh-CN"/>
              <a:t>：</a:t>
            </a:r>
            <a:r>
              <a:rPr lang="zh-CN" altLang="en-US"/>
              <a:t>同名符号定义的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在同一个</a:t>
            </a:r>
            <a:r>
              <a:rPr lang="en-US" altLang="zh-CN"/>
              <a:t>.o</a:t>
            </a:r>
            <a:r>
              <a:rPr lang="zh-CN" altLang="en-US"/>
              <a:t>文件</a:t>
            </a:r>
            <a:r>
              <a:rPr lang="zh-CN" altLang="en-US"/>
              <a:t>内部</a:t>
            </a:r>
            <a:endParaRPr lang="zh-CN" altLang="en-US"/>
          </a:p>
          <a:p>
            <a:pPr lvl="1"/>
            <a:r>
              <a:rPr lang="zh-CN" altLang="en-US"/>
              <a:t>多个强符号</a:t>
            </a:r>
            <a:r>
              <a:rPr lang="zh-CN" altLang="en-US" b="1">
                <a:latin typeface="Kaiti SC Bold" panose="02010600040101010101" charset="-122"/>
                <a:ea typeface="Kaiti SC Bold" panose="02010600040101010101" charset="-122"/>
              </a:rPr>
              <a:t>报错</a:t>
            </a:r>
            <a:endParaRPr lang="zh-CN" altLang="en-US"/>
          </a:p>
          <a:p>
            <a:pPr lvl="0"/>
            <a:r>
              <a:rPr lang="zh-CN" altLang="en-US"/>
              <a:t>在多个</a:t>
            </a:r>
            <a:r>
              <a:rPr lang="en-US" altLang="zh-CN"/>
              <a:t>.o</a:t>
            </a:r>
            <a:r>
              <a:rPr lang="zh-CN" altLang="en-US"/>
              <a:t>文件</a:t>
            </a:r>
            <a:r>
              <a:rPr lang="zh-CN" altLang="en-US"/>
              <a:t>间</a:t>
            </a:r>
            <a:endParaRPr lang="zh-CN" altLang="en-US"/>
          </a:p>
          <a:p>
            <a:pPr lvl="1"/>
            <a:r>
              <a:rPr lang="zh-CN" altLang="en-US"/>
              <a:t>如果这多个</a:t>
            </a:r>
            <a:r>
              <a:rPr lang="en-US" altLang="zh-CN"/>
              <a:t>.o</a:t>
            </a:r>
            <a:r>
              <a:rPr lang="zh-CN" altLang="en-US"/>
              <a:t>文件都需要提取和链接</a:t>
            </a:r>
            <a:r>
              <a:rPr lang="en-US" altLang="zh-CN"/>
              <a:t>，</a:t>
            </a:r>
            <a:r>
              <a:rPr lang="zh-CN" altLang="en-US"/>
              <a:t>则</a:t>
            </a:r>
            <a:r>
              <a:rPr lang="zh-CN" altLang="en-US">
                <a:sym typeface="+mn-ea"/>
              </a:rPr>
              <a:t>多个强符号</a:t>
            </a:r>
            <a:r>
              <a:rPr lang="zh-CN" altLang="en-US" b="1">
                <a:latin typeface="Kaiti SC Bold" panose="02010600040101010101" charset="-122"/>
                <a:ea typeface="Kaiti SC Bold" panose="02010600040101010101" charset="-122"/>
                <a:sym typeface="+mn-ea"/>
              </a:rPr>
              <a:t>报错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/>
              <a:t>如果</a:t>
            </a:r>
            <a:r>
              <a:rPr lang="en-US" altLang="zh-CN"/>
              <a:t>a1.o</a:t>
            </a:r>
            <a:r>
              <a:rPr lang="zh-CN" altLang="en-US"/>
              <a:t>和</a:t>
            </a:r>
            <a:r>
              <a:rPr lang="en-US" altLang="zh-CN"/>
              <a:t>a2.o</a:t>
            </a:r>
            <a:r>
              <a:rPr lang="zh-CN" altLang="en-US"/>
              <a:t>都定义了同名强符号</a:t>
            </a:r>
            <a:r>
              <a:rPr lang="en-US" altLang="zh-CN"/>
              <a:t>x，</a:t>
            </a:r>
            <a:r>
              <a:rPr lang="zh-CN" altLang="en-US"/>
              <a:t>且</a:t>
            </a:r>
            <a:r>
              <a:rPr lang="en-US" altLang="zh-CN"/>
              <a:t>a1.o</a:t>
            </a:r>
            <a:r>
              <a:rPr lang="zh-CN" altLang="en-US"/>
              <a:t>根据需要优先提取</a:t>
            </a:r>
            <a:r>
              <a:rPr lang="en-US" altLang="zh-CN"/>
              <a:t>；</a:t>
            </a:r>
            <a:r>
              <a:rPr lang="zh-CN" altLang="en-US"/>
              <a:t>但是</a:t>
            </a:r>
            <a:r>
              <a:rPr lang="en-US" altLang="zh-CN"/>
              <a:t>a2.o</a:t>
            </a:r>
            <a:r>
              <a:rPr lang="zh-CN" altLang="en-US"/>
              <a:t>中定义的所有其他符号都不</a:t>
            </a:r>
            <a:r>
              <a:rPr lang="zh-CN" altLang="en-US">
                <a:sym typeface="+mn-ea"/>
              </a:rPr>
              <a:t>被</a:t>
            </a:r>
            <a:r>
              <a:rPr lang="zh-CN" altLang="en-US"/>
              <a:t>需要</a:t>
            </a:r>
            <a:r>
              <a:rPr lang="en-US" altLang="zh-CN"/>
              <a:t>（</a:t>
            </a:r>
            <a:r>
              <a:rPr lang="zh-CN" altLang="en-US"/>
              <a:t>由于</a:t>
            </a:r>
            <a:r>
              <a:rPr lang="en-US" altLang="zh-CN"/>
              <a:t>a1.o</a:t>
            </a:r>
            <a:r>
              <a:rPr lang="zh-CN" altLang="en-US"/>
              <a:t>在前面提取并解析</a:t>
            </a:r>
            <a:r>
              <a:rPr lang="en-US" altLang="zh-CN"/>
              <a:t>，a2.o</a:t>
            </a:r>
            <a:r>
              <a:rPr lang="zh-CN" altLang="en-US"/>
              <a:t>中的</a:t>
            </a:r>
            <a:r>
              <a:rPr lang="en-US" altLang="zh-CN"/>
              <a:t>x</a:t>
            </a:r>
            <a:r>
              <a:rPr lang="zh-CN" altLang="en-US"/>
              <a:t>定义也不被需要</a:t>
            </a:r>
            <a:r>
              <a:rPr lang="en-US" altLang="zh-CN"/>
              <a:t>），</a:t>
            </a:r>
            <a:r>
              <a:rPr lang="zh-CN" altLang="en-US"/>
              <a:t>则</a:t>
            </a:r>
            <a:r>
              <a:rPr lang="en-US" altLang="zh-CN"/>
              <a:t>a2.o</a:t>
            </a:r>
            <a:r>
              <a:rPr lang="zh-CN" altLang="en-US"/>
              <a:t>不会被提取</a:t>
            </a:r>
            <a:r>
              <a:rPr lang="en-US" altLang="zh-CN"/>
              <a:t>，</a:t>
            </a:r>
            <a:r>
              <a:rPr lang="zh-CN" altLang="en-US"/>
              <a:t>也就</a:t>
            </a:r>
            <a:r>
              <a:rPr lang="zh-CN" altLang="en-US" b="1">
                <a:latin typeface="Kaiti SC Bold" panose="02010600040101010101" charset="-122"/>
                <a:ea typeface="Kaiti SC Bold" panose="02010600040101010101" charset="-122"/>
              </a:rPr>
              <a:t>不会报错</a:t>
            </a:r>
            <a:endParaRPr lang="zh-CN" altLang="en-US"/>
          </a:p>
          <a:p>
            <a:pPr lvl="2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静态库的缺点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GB"/>
              <a:t>静态库有</a:t>
            </a:r>
            <a:r>
              <a:rPr lang="en-US" altLang="zh-CN"/>
              <a:t>3</a:t>
            </a:r>
            <a:r>
              <a:rPr lang="zh-CN" altLang="en-US"/>
              <a:t>个缺点</a:t>
            </a:r>
            <a:r>
              <a:rPr lang="en-GB"/>
              <a:t>:</a:t>
            </a:r>
            <a:endParaRPr lang="en-GB"/>
          </a:p>
          <a:p>
            <a:pPr lvl="1"/>
            <a:r>
              <a:rPr lang="zh-CN" altLang="en-GB"/>
              <a:t>二进制文件中，存在大量重复的库函数（每个程序都要使用</a:t>
            </a:r>
            <a:r>
              <a:rPr lang="en-US" altLang="zh-CN"/>
              <a:t>libc</a:t>
            </a:r>
            <a:r>
              <a:rPr lang="zh-CN" altLang="en-US"/>
              <a:t>）</a:t>
            </a:r>
            <a:endParaRPr lang="en-GB"/>
          </a:p>
          <a:p>
            <a:pPr lvl="1"/>
            <a:r>
              <a:rPr lang="zh-CN" altLang="en-GB"/>
              <a:t>运行时的二进制镜像中，存在大量重复的库函数</a:t>
            </a:r>
            <a:endParaRPr lang="en-GB"/>
          </a:p>
          <a:p>
            <a:pPr lvl="1"/>
            <a:r>
              <a:rPr lang="zh-CN" altLang="en-GB"/>
              <a:t>为了修复系统库中一个小的</a:t>
            </a:r>
            <a:r>
              <a:rPr lang="en-US" altLang="zh-CN"/>
              <a:t>bug</a:t>
            </a:r>
            <a:r>
              <a:rPr lang="zh-CN" altLang="en-US"/>
              <a:t>，需要每个应用程序都重新链接</a:t>
            </a:r>
            <a:endParaRPr lang="en-GB"/>
          </a:p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solidFill>
                  <a:schemeClr val="tx1"/>
                </a:solidFill>
              </a:rPr>
              <a:t>静态库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lvl="0"/>
            <a:r>
              <a:rPr lang="zh-CN" altLang="en-US" dirty="0" smtClean="0">
                <a:solidFill>
                  <a:schemeClr val="tx1"/>
                </a:solidFill>
              </a:rPr>
              <a:t>动态库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lvl="0"/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Case study: 库的插桩</a:t>
            </a:r>
            <a:endParaRPr lang="en-US" dirty="0" smtClean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381000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dirty="0" smtClean="0"/>
              <a:t>现代的方案</a:t>
            </a:r>
            <a:r>
              <a:rPr lang="en-GB" dirty="0" smtClean="0"/>
              <a:t>: </a:t>
            </a:r>
            <a:r>
              <a:rPr lang="zh-CN" altLang="en-GB" dirty="0" smtClean="0"/>
              <a:t>共享库</a:t>
            </a:r>
            <a:endParaRPr lang="zh-CN" altLang="en-GB" dirty="0" smtClean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GB"/>
              <a:t>现代的方案</a:t>
            </a:r>
            <a:r>
              <a:rPr lang="en-GB"/>
              <a:t>:</a:t>
            </a:r>
            <a:r>
              <a:rPr lang="en-US" altLang="en-GB"/>
              <a:t> </a:t>
            </a:r>
            <a:r>
              <a:rPr lang="zh-CN" altLang="en-US"/>
              <a:t>共享库</a:t>
            </a:r>
            <a:r>
              <a:rPr lang="en-GB"/>
              <a:t> </a:t>
            </a:r>
            <a:endParaRPr lang="en-GB"/>
          </a:p>
          <a:p>
            <a:pPr lvl="1"/>
            <a:r>
              <a:rPr lang="zh-CN" altLang="en-GB"/>
              <a:t>将这些常用函数做成一种二进制文件，其中的代码和数据可以在加载时或者运行时动态地链接到应用程序</a:t>
            </a:r>
            <a:endParaRPr lang="zh-CN" altLang="en-GB"/>
          </a:p>
          <a:p>
            <a:pPr lvl="1"/>
            <a:r>
              <a:rPr lang="zh-CN" altLang="en-GB"/>
              <a:t>也称为：动态链接库（</a:t>
            </a:r>
            <a:r>
              <a:rPr lang="en-GB"/>
              <a:t>dynamic link libraries, DLLs</a:t>
            </a:r>
            <a:r>
              <a:rPr lang="zh-CN" altLang="en-GB"/>
              <a:t>）</a:t>
            </a:r>
            <a:endParaRPr lang="zh-CN" altLang="en-GB"/>
          </a:p>
          <a:p>
            <a:pPr lvl="2"/>
            <a:r>
              <a:rPr lang="en-US" altLang="en-GB"/>
              <a:t>Linux</a:t>
            </a:r>
            <a:r>
              <a:rPr lang="zh-CN" altLang="en-US"/>
              <a:t>中的</a:t>
            </a:r>
            <a:r>
              <a:rPr lang="en-GB"/>
              <a:t>.so </a:t>
            </a:r>
            <a:r>
              <a:rPr lang="zh-CN" altLang="en-GB"/>
              <a:t>文件</a:t>
            </a:r>
            <a:endParaRPr lang="zh-CN" altLang="en-GB"/>
          </a:p>
          <a:p>
            <a:pPr lvl="2"/>
            <a:r>
              <a:rPr lang="en-US" altLang="zh-CN"/>
              <a:t>Windows</a:t>
            </a:r>
            <a:r>
              <a:rPr lang="zh-CN" altLang="en-US"/>
              <a:t>中的</a:t>
            </a:r>
            <a:r>
              <a:rPr lang="en-US" altLang="zh-CN"/>
              <a:t>.dll</a:t>
            </a:r>
            <a:r>
              <a:rPr lang="zh-CN" altLang="en-US"/>
              <a:t>文件</a:t>
            </a:r>
            <a:endParaRPr lang="en-GB" altLang="en-US"/>
          </a:p>
          <a:p>
            <a:pPr lvl="2"/>
            <a:r>
              <a:rPr lang="en-US" altLang="en-GB"/>
              <a:t>MacOS</a:t>
            </a:r>
            <a:r>
              <a:rPr lang="zh-CN" altLang="en-US"/>
              <a:t>中的</a:t>
            </a:r>
            <a:r>
              <a:rPr lang="en-US" altLang="zh-CN"/>
              <a:t>.dylib</a:t>
            </a:r>
            <a:r>
              <a:rPr lang="zh-CN" altLang="en-US"/>
              <a:t>文件</a:t>
            </a:r>
            <a:endParaRPr lang="en-GB"/>
          </a:p>
          <a:p>
            <a:pPr>
              <a:buFont typeface="Wingdings" panose="05000000000000000000" pitchFamily="2" charset="2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28813" y="381317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dirty="0"/>
              <a:t>共享库</a:t>
            </a:r>
            <a:r>
              <a:rPr lang="en-GB" dirty="0"/>
              <a:t> (</a:t>
            </a:r>
            <a:r>
              <a:rPr lang="en-GB" dirty="0" smtClean="0"/>
              <a:t>cont.)</a:t>
            </a:r>
            <a:endParaRPr lang="en-GB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GB" b="1">
                <a:latin typeface="Kaiti SC Bold" panose="02010600040101010101" charset="-122"/>
                <a:ea typeface="Kaiti SC Bold" panose="02010600040101010101" charset="-122"/>
              </a:rPr>
              <a:t>加载时链接</a:t>
            </a:r>
            <a:r>
              <a:rPr lang="zh-CN" altLang="en-GB"/>
              <a:t>：在可执行文件第一次被加载时完成动态链接</a:t>
            </a:r>
            <a:r>
              <a:rPr lang="en-GB"/>
              <a:t>.</a:t>
            </a:r>
            <a:endParaRPr lang="en-GB"/>
          </a:p>
          <a:p>
            <a:pPr lvl="1"/>
            <a:r>
              <a:rPr lang="zh-CN" altLang="en-US"/>
              <a:t>这是</a:t>
            </a:r>
            <a:r>
              <a:rPr lang="en-US" altLang="en-GB"/>
              <a:t>Linux</a:t>
            </a:r>
            <a:r>
              <a:rPr lang="zh-CN" altLang="en-US"/>
              <a:t>的通常作法，由动态链接器</a:t>
            </a:r>
            <a:r>
              <a:rPr lang="en-US" altLang="zh-CN"/>
              <a:t>(</a:t>
            </a:r>
            <a:r>
              <a:rPr lang="en-GB" b="1"/>
              <a:t>ld-linux.so</a:t>
            </a:r>
            <a:r>
              <a:rPr lang="en-US" altLang="en-GB"/>
              <a:t>)</a:t>
            </a:r>
            <a:r>
              <a:rPr lang="zh-CN" altLang="en-GB"/>
              <a:t>自动完成</a:t>
            </a:r>
            <a:endParaRPr lang="zh-CN" altLang="en-GB"/>
          </a:p>
          <a:p>
            <a:pPr lvl="2"/>
            <a:r>
              <a:rPr lang="en-US" altLang="en-GB"/>
              <a:t>Windows</a:t>
            </a:r>
            <a:r>
              <a:rPr lang="zh-CN" altLang="en-US"/>
              <a:t>中的</a:t>
            </a:r>
            <a:r>
              <a:rPr lang="en-US" altLang="en-US" b="1"/>
              <a:t>svchost.exe</a:t>
            </a:r>
            <a:r>
              <a:rPr lang="en-US" altLang="zh-CN"/>
              <a:t>? </a:t>
            </a:r>
            <a:r>
              <a:rPr lang="zh-CN" altLang="en-US"/>
              <a:t>注意</a:t>
            </a:r>
            <a:r>
              <a:rPr lang="en-US" altLang="zh-CN"/>
              <a:t>：</a:t>
            </a:r>
            <a:r>
              <a:rPr lang="zh-CN" altLang="en-US"/>
              <a:t>不是</a:t>
            </a:r>
            <a:r>
              <a:rPr lang="en-US" altLang="zh-CN"/>
              <a:t>svhost.dll</a:t>
            </a:r>
            <a:endParaRPr lang="en-GB"/>
          </a:p>
          <a:p>
            <a:pPr lvl="1"/>
            <a:r>
              <a:rPr lang="zh-CN" altLang="en-GB"/>
              <a:t>标准</a:t>
            </a:r>
            <a:r>
              <a:rPr lang="en-US" altLang="zh-CN"/>
              <a:t>C</a:t>
            </a:r>
            <a:r>
              <a:rPr lang="zh-CN" altLang="en-US"/>
              <a:t>库</a:t>
            </a:r>
            <a:r>
              <a:rPr lang="en-GB"/>
              <a:t> (libc.so) </a:t>
            </a:r>
            <a:r>
              <a:rPr lang="zh-CN" altLang="en-GB"/>
              <a:t>通常就是被动态链接的</a:t>
            </a:r>
            <a:endParaRPr lang="en-GB"/>
          </a:p>
          <a:p>
            <a:r>
              <a:rPr lang="zh-CN" altLang="en-GB" b="1">
                <a:latin typeface="Kaiti SC Bold" panose="02010600040101010101" charset="-122"/>
                <a:ea typeface="Kaiti SC Bold" panose="02010600040101010101" charset="-122"/>
              </a:rPr>
              <a:t>运行时链接</a:t>
            </a:r>
            <a:r>
              <a:rPr lang="zh-CN" altLang="en-GB"/>
              <a:t>：在程序已经开始运行之后完成动态链接</a:t>
            </a:r>
            <a:endParaRPr lang="en-GB"/>
          </a:p>
          <a:p>
            <a:pPr lvl="1"/>
            <a:r>
              <a:rPr lang="en-US" altLang="en-GB"/>
              <a:t>Linux</a:t>
            </a:r>
            <a:r>
              <a:rPr lang="zh-CN" altLang="en-US"/>
              <a:t>中通过调用</a:t>
            </a:r>
            <a:r>
              <a:rPr lang="en-US" altLang="zh-CN"/>
              <a:t>dlopen()</a:t>
            </a:r>
            <a:r>
              <a:rPr lang="zh-CN" altLang="en-US"/>
              <a:t>接口来完成，可用于：</a:t>
            </a:r>
            <a:endParaRPr lang="en-GB"/>
          </a:p>
          <a:p>
            <a:pPr lvl="2"/>
            <a:r>
              <a:rPr lang="zh-CN" altLang="en-US"/>
              <a:t>软件分发（比如插件）</a:t>
            </a:r>
            <a:endParaRPr lang="en-GB"/>
          </a:p>
          <a:p>
            <a:pPr lvl="2"/>
            <a:r>
              <a:rPr lang="zh-CN" altLang="en-GB"/>
              <a:t>运行时库插桩（后面有例子）</a:t>
            </a:r>
            <a:r>
              <a:rPr lang="en-GB"/>
              <a:t>.</a:t>
            </a:r>
            <a:endParaRPr lang="en-GB"/>
          </a:p>
          <a:p>
            <a:r>
              <a:rPr lang="zh-CN" altLang="en-GB"/>
              <a:t>共享库可以被多个进程共享</a:t>
            </a:r>
            <a:r>
              <a:rPr lang="en-GB"/>
              <a:t>.</a:t>
            </a:r>
            <a:endParaRPr lang="en-GB"/>
          </a:p>
          <a:p>
            <a:pPr lvl="1"/>
            <a:r>
              <a:rPr lang="zh-CN" altLang="en-GB"/>
              <a:t>在虚拟内存可以学到更多（本书第</a:t>
            </a:r>
            <a:r>
              <a:rPr lang="en-US" altLang="zh-CN"/>
              <a:t>9</a:t>
            </a:r>
            <a:r>
              <a:rPr lang="zh-CN" altLang="en-US"/>
              <a:t>章，或操作系统</a:t>
            </a:r>
            <a:r>
              <a:rPr lang="zh-CN" altLang="en-US"/>
              <a:t>课程）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svchost.exe vs svhost.dll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981200"/>
            <a:ext cx="7285990" cy="3649980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10408920" y="47752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285750"/>
            <a:ext cx="8716962" cy="781050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/>
              <a:t>加载时的动态</a:t>
            </a:r>
            <a:r>
              <a:rPr lang="zh-CN" altLang="en-GB"/>
              <a:t>链接</a:t>
            </a:r>
            <a:endParaRPr lang="zh-CN" altLang="en-GB"/>
          </a:p>
        </p:txBody>
      </p:sp>
      <p:sp>
        <p:nvSpPr>
          <p:cNvPr id="36866" name="Line 2"/>
          <p:cNvSpPr>
            <a:spLocks noChangeShapeType="1"/>
          </p:cNvSpPr>
          <p:nvPr/>
        </p:nvSpPr>
        <p:spPr bwMode="auto">
          <a:xfrm>
            <a:off x="4144963" y="1247500"/>
            <a:ext cx="1587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978275" y="1657075"/>
            <a:ext cx="1676400" cy="5695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Translators </a:t>
            </a:r>
            <a:endParaRPr lang="en-GB" sz="1600" b="1" dirty="0" smtClean="0">
              <a:latin typeface="Calibri" pitchFamily="34" charset="0"/>
              <a:ea typeface="msgothic" charset="0"/>
              <a:cs typeface="msgothic" charset="0"/>
            </a:endParaRP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latin typeface="Calibri" pitchFamily="34" charset="0"/>
                <a:ea typeface="msgothic" charset="0"/>
                <a:cs typeface="msgothic" charset="0"/>
              </a:rPr>
              <a:t>(</a:t>
            </a: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cpp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cc1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as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3611847" y="1010963"/>
            <a:ext cx="1032510" cy="32321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main2.c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4288122" y="2568300"/>
            <a:ext cx="1032510" cy="32321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main2.o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4816475" y="2238100"/>
            <a:ext cx="1588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5893687" y="1949175"/>
            <a:ext cx="1642110" cy="5543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libc.so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libvector.so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3978275" y="3225525"/>
            <a:ext cx="3028950" cy="328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Linker (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ld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4324667" y="3974825"/>
            <a:ext cx="910590" cy="32321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prog2l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4816475" y="3609700"/>
            <a:ext cx="1588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4816475" y="4295500"/>
            <a:ext cx="1588" cy="4572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3978275" y="6124300"/>
            <a:ext cx="3200400" cy="328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Dynamic linker (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ld-linux.so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4816475" y="5133700"/>
            <a:ext cx="1588" cy="9906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>
            <a:off x="4816475" y="2847700"/>
            <a:ext cx="1588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6778625" y="2542900"/>
            <a:ext cx="2609850" cy="57467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提供重定位信息和符号表</a:t>
            </a:r>
            <a:r>
              <a:rPr lang="zh-CN" altLang="en-GB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信息</a:t>
            </a:r>
            <a:endParaRPr lang="zh-CN" altLang="en-GB" sz="1600" b="1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6704013" y="2542900"/>
            <a:ext cx="1587" cy="6858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5887337" y="4844775"/>
            <a:ext cx="1642110" cy="5543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libc.so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libvector.so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6778625" y="5559150"/>
            <a:ext cx="1771650" cy="33337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提供代码和</a:t>
            </a:r>
            <a:r>
              <a:rPr lang="zh-CN" altLang="en-GB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数据</a:t>
            </a:r>
            <a:endParaRPr lang="zh-CN" altLang="en-GB" sz="1600" b="1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6697663" y="5438500"/>
            <a:ext cx="1587" cy="6858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4" name="Text Box 20"/>
          <p:cNvSpPr txBox="1">
            <a:spLocks noChangeArrowheads="1"/>
          </p:cNvSpPr>
          <p:nvPr/>
        </p:nvSpPr>
        <p:spPr bwMode="auto">
          <a:xfrm>
            <a:off x="1295400" y="3873224"/>
            <a:ext cx="2514600" cy="57467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600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部分链接的</a:t>
            </a:r>
            <a:r>
              <a:rPr 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 </a:t>
            </a:r>
            <a:endParaRPr lang="en-GB" sz="1600" b="1" i="1" dirty="0" smtClean="0">
              <a:solidFill>
                <a:srgbClr val="99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600" b="1" i="1" dirty="0" smtClean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可执行</a:t>
            </a:r>
            <a:r>
              <a:rPr lang="zh-CN" altLang="en-GB" sz="1600" b="1" i="1" dirty="0" smtClean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文件</a:t>
            </a:r>
            <a:endParaRPr lang="zh-CN" altLang="en-GB" sz="1600" b="1" i="1" dirty="0" smtClean="0">
              <a:solidFill>
                <a:srgbClr val="99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85" name="Text Box 21"/>
          <p:cNvSpPr txBox="1">
            <a:spLocks noChangeArrowheads="1"/>
          </p:cNvSpPr>
          <p:nvPr/>
        </p:nvSpPr>
        <p:spPr bwMode="auto">
          <a:xfrm>
            <a:off x="2235200" y="2451100"/>
            <a:ext cx="1574800" cy="33337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600" b="1" i="1" dirty="0" err="1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可重定位</a:t>
            </a:r>
            <a:r>
              <a:rPr lang="zh-CN" altLang="en-GB" sz="1600" b="1" i="1" dirty="0" err="1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文件</a:t>
            </a:r>
            <a:endParaRPr lang="zh-CN" altLang="en-GB" sz="1600" b="1" i="1" dirty="0" err="1">
              <a:solidFill>
                <a:srgbClr val="99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2057400" y="5887233"/>
            <a:ext cx="1752600" cy="81597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完全链接的</a:t>
            </a:r>
            <a:endParaRPr lang="zh-CN" altLang="en-GB" sz="1600" b="1" i="1" dirty="0">
              <a:solidFill>
                <a:srgbClr val="99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可执行文件</a:t>
            </a:r>
            <a:br>
              <a:rPr lang="zh-CN" alt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</a:br>
            <a:r>
              <a:rPr lang="zh-CN" alt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（在内存</a:t>
            </a:r>
            <a:r>
              <a:rPr lang="zh-CN" alt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中）</a:t>
            </a:r>
            <a:endParaRPr lang="zh-CN" altLang="en-GB" sz="1600" b="1" i="1" dirty="0">
              <a:solidFill>
                <a:srgbClr val="99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>
            <a:off x="5307013" y="1247500"/>
            <a:ext cx="1587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8" name="Text Box 24"/>
          <p:cNvSpPr txBox="1">
            <a:spLocks noChangeArrowheads="1"/>
          </p:cNvSpPr>
          <p:nvPr/>
        </p:nvSpPr>
        <p:spPr bwMode="auto">
          <a:xfrm>
            <a:off x="4715914" y="1010963"/>
            <a:ext cx="1154430" cy="32321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vector.h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3978275" y="4749525"/>
            <a:ext cx="1657350" cy="5695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Loader (</a:t>
            </a: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execve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890" name="Text Box 26"/>
          <p:cNvSpPr txBox="1">
            <a:spLocks noChangeArrowheads="1"/>
          </p:cNvSpPr>
          <p:nvPr/>
        </p:nvSpPr>
        <p:spPr bwMode="auto">
          <a:xfrm>
            <a:off x="6213475" y="1047475"/>
            <a:ext cx="4446270" cy="55435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unix&gt; gcc -shared -o libvector.so \</a:t>
            </a:r>
            <a:endParaRPr lang="en-GB" sz="1600" b="1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    addvec.c multvec.c</a:t>
            </a:r>
            <a:endParaRPr lang="en-GB" sz="1600" b="1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 flipH="1">
            <a:off x="7239000" y="1574799"/>
            <a:ext cx="460375" cy="6096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0" y="4724400"/>
            <a:ext cx="3372485" cy="13106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67765" y="1099820"/>
            <a:ext cx="10553065" cy="337883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>
            <a:noAutofit/>
          </a:bodyPr>
          <a:p>
            <a:endParaRPr lang="zh-CN" altLang="en-US" sz="1800" dirty="0" smtClean="0">
              <a:latin typeface="Calibri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7130" y="4594225"/>
            <a:ext cx="10575925" cy="2213610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</p:spPr>
        <p:txBody>
          <a:bodyPr wrap="none" rtlCol="0">
            <a:noAutofit/>
          </a:bodyPr>
          <a:p>
            <a:endParaRPr lang="zh-CN" altLang="en-US" sz="1800" dirty="0" smtClean="0">
              <a:latin typeface="Calibri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744200" y="3858895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dirty="0" smtClean="0">
                <a:solidFill>
                  <a:srgbClr val="FF0000"/>
                </a:solidFill>
                <a:latin typeface="Arial Bold" panose="020B0704020202020204" charset="0"/>
              </a:rPr>
              <a:t>开发侧</a:t>
            </a:r>
            <a:endParaRPr lang="zh-CN" altLang="en-US" sz="1800" dirty="0" smtClean="0">
              <a:solidFill>
                <a:srgbClr val="FF0000"/>
              </a:solidFill>
              <a:latin typeface="Arial Bold" panose="020B070402020202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820400" y="6280785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dirty="0" smtClean="0">
                <a:solidFill>
                  <a:srgbClr val="FF0000"/>
                </a:solidFill>
                <a:latin typeface="Arial Bold" panose="020B0704020202020204" charset="0"/>
              </a:rPr>
              <a:t>运行侧</a:t>
            </a:r>
            <a:endParaRPr lang="zh-CN" altLang="en-US" sz="1800" dirty="0" smtClean="0">
              <a:solidFill>
                <a:srgbClr val="FF0000"/>
              </a:solidFill>
              <a:latin typeface="Arial Bold" panose="020B070402020202020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51038" y="360362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dirty="0"/>
              <a:t>运行时的</a:t>
            </a:r>
            <a:r>
              <a:rPr lang="zh-CN" altLang="en-GB" dirty="0"/>
              <a:t>动态链接</a:t>
            </a:r>
            <a:endParaRPr lang="zh-CN" altLang="en-GB" dirty="0"/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828800" y="1323975"/>
            <a:ext cx="6184265" cy="5017135"/>
          </a:xfrm>
          <a:prstGeom prst="rect">
            <a:avLst/>
          </a:prstGeom>
          <a:solidFill>
            <a:srgbClr val="F6F5BD"/>
          </a:solidFill>
          <a:ln w="1260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Menlo-Regular" panose="020B0609030804020204"/>
              </a:rPr>
              <a:t>stdio.h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Menlo-Regular" panose="020B0609030804020204"/>
              </a:rPr>
              <a:t>stdlib.h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Menlo-Regular" panose="020B0609030804020204"/>
              </a:rPr>
              <a:t>dlfcn.h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[2] = {1, 2};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y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[2] = {3, 4};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nl-NL" sz="1600" dirty="0" err="1">
                <a:solidFill>
                  <a:srgbClr val="C1651C"/>
                </a:solidFill>
                <a:latin typeface="Menlo-Regular" panose="020B0609030804020204"/>
              </a:rPr>
              <a:t>z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[2];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nl-NL" sz="1600" dirty="0" err="1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()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6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nl-NL" sz="1600" dirty="0">
                <a:solidFill>
                  <a:srgbClr val="C1651C"/>
                </a:solidFill>
                <a:latin typeface="Menlo-Regular" panose="020B0609030804020204"/>
              </a:rPr>
              <a:t>handle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(*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addvec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)(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*,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*,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*,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error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zh-CN" altLang="fi-FI" sz="1600" dirty="0">
                <a:solidFill>
                  <a:srgbClr val="CB2418"/>
                </a:solidFill>
                <a:latin typeface="Menlo-Regular" panose="020B0609030804020204"/>
              </a:rPr>
              <a:t>在运行时，</a:t>
            </a:r>
            <a:r>
              <a:rPr lang="zh-CN" altLang="fi-FI" sz="1600" dirty="0" err="1">
                <a:solidFill>
                  <a:srgbClr val="CB2418"/>
                </a:solidFill>
                <a:latin typeface="Menlo-Regular" panose="020B0609030804020204"/>
              </a:rPr>
              <a:t>动态加载</a:t>
            </a:r>
            <a:r>
              <a:rPr lang="fi-FI" sz="1600" dirty="0" err="1">
                <a:solidFill>
                  <a:srgbClr val="CB2418"/>
                </a:solidFill>
                <a:latin typeface="Menlo-Regular" panose="020B0609030804020204"/>
              </a:rPr>
              <a:t>addvec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()</a:t>
            </a:r>
            <a:r>
              <a:rPr lang="zh-CN" altLang="fi-FI" sz="1600" dirty="0">
                <a:solidFill>
                  <a:srgbClr val="CB2418"/>
                </a:solidFill>
                <a:latin typeface="Menlo-Regular" panose="020B0609030804020204"/>
              </a:rPr>
              <a:t>所在的共享库文件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handle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fi-FI" sz="1600" dirty="0" err="1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dlopen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i-FI" sz="1600" dirty="0" err="1">
                <a:solidFill>
                  <a:srgbClr val="9D206F"/>
                </a:solidFill>
                <a:latin typeface="Menlo-Regular" panose="020B0609030804020204"/>
              </a:rPr>
              <a:t>"./libvector.so</a:t>
            </a:r>
            <a:r>
              <a:rPr lang="fi-FI" sz="16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, RTLD_LAZY);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(!handle) 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fprintf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stderr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pl-PL" sz="1600" dirty="0">
                <a:solidFill>
                  <a:srgbClr val="9D206F"/>
                </a:solidFill>
                <a:latin typeface="Menlo-Regular" panose="020B0609030804020204"/>
              </a:rPr>
              <a:t>"%s\n"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dlerror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());</a:t>
            </a:r>
            <a:endParaRPr lang="pl-P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exit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(1);</a:t>
            </a:r>
            <a:endParaRPr lang="pl-P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pl-PL" sz="1600" dirty="0" smtClean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pl-PL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434428" y="6019800"/>
            <a:ext cx="864870" cy="352425"/>
          </a:xfrm>
          <a:prstGeom prst="rect">
            <a:avLst/>
          </a:prstGeom>
          <a:noFill/>
          <a:ln w="3240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dll.c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28813" y="381000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dirty="0"/>
              <a:t>运行时的</a:t>
            </a:r>
            <a:r>
              <a:rPr lang="zh-CN" altLang="en-GB" dirty="0"/>
              <a:t>动态链接</a:t>
            </a:r>
            <a:endParaRPr lang="zh-CN" altLang="en-GB" dirty="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034981" y="1371600"/>
            <a:ext cx="5448935" cy="5001895"/>
          </a:xfrm>
          <a:prstGeom prst="rect">
            <a:avLst/>
          </a:prstGeom>
          <a:solidFill>
            <a:srgbClr val="F6F5BD"/>
          </a:solidFill>
          <a:ln w="126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   ...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endParaRPr lang="en-US" sz="1600" dirty="0" smtClean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 smtClean="0">
                <a:solidFill>
                  <a:srgbClr val="CB2418"/>
                </a:solidFill>
                <a:latin typeface="Menlo-Regular" panose="020B0609030804020204"/>
              </a:rPr>
              <a:t>/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* </a:t>
            </a:r>
            <a:r>
              <a:rPr lang="zh-CN" altLang="en-US" sz="1600" dirty="0">
                <a:solidFill>
                  <a:srgbClr val="CB2418"/>
                </a:solidFill>
                <a:latin typeface="Menlo-Regular" panose="020B0609030804020204"/>
              </a:rPr>
              <a:t>获取</a:t>
            </a:r>
            <a:r>
              <a:rPr lang="en-US" sz="1600" dirty="0" err="1">
                <a:solidFill>
                  <a:srgbClr val="CB2418"/>
                </a:solidFill>
                <a:latin typeface="Menlo-Regular" panose="020B0609030804020204"/>
              </a:rPr>
              <a:t>addvec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() </a:t>
            </a:r>
            <a:r>
              <a:rPr lang="zh-CN" altLang="en-US" sz="1600" dirty="0">
                <a:solidFill>
                  <a:srgbClr val="CB2418"/>
                </a:solidFill>
                <a:latin typeface="Menlo-Regular" panose="020B0609030804020204"/>
              </a:rPr>
              <a:t>函数的地址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addvec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600" dirty="0" err="1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dlsym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(handle, 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Menlo-Regular" panose="020B0609030804020204"/>
              </a:rPr>
              <a:t>addvec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((error =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dlerror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()) != </a:t>
            </a:r>
            <a:r>
              <a:rPr lang="en-US" sz="16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 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fprintf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stderr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"%s\n"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error);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exit(1);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zh-CN" altLang="en-US" sz="1600" dirty="0">
                <a:solidFill>
                  <a:srgbClr val="CB2418"/>
                </a:solidFill>
                <a:latin typeface="Menlo-Regular" panose="020B0609030804020204"/>
              </a:rPr>
              <a:t>利用函数地址，调用</a:t>
            </a:r>
            <a:r>
              <a:rPr lang="en-US" altLang="zh-CN" sz="1600" dirty="0">
                <a:solidFill>
                  <a:srgbClr val="CB2418"/>
                </a:solidFill>
                <a:latin typeface="Menlo-Regular" panose="020B0609030804020204"/>
              </a:rPr>
              <a:t>addvec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 err="1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addvec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(x, y, z, 2);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600" dirty="0">
                <a:solidFill>
                  <a:srgbClr val="000000"/>
                </a:solidFill>
                <a:latin typeface="Menlo-Regular" panose="020B0609030804020204"/>
              </a:rPr>
              <a:t>    printf(</a:t>
            </a:r>
            <a:r>
              <a:rPr lang="ro-RO" sz="1600" dirty="0">
                <a:solidFill>
                  <a:srgbClr val="9D206F"/>
                </a:solidFill>
                <a:latin typeface="Menlo-Regular" panose="020B0609030804020204"/>
              </a:rPr>
              <a:t>"z = [%d %d]\n"</a:t>
            </a:r>
            <a:r>
              <a:rPr lang="ro-RO" sz="1600" dirty="0">
                <a:solidFill>
                  <a:srgbClr val="000000"/>
                </a:solidFill>
                <a:latin typeface="Menlo-Regular" panose="020B0609030804020204"/>
              </a:rPr>
              <a:t>, z[0], z[1]);</a:t>
            </a:r>
            <a:endParaRPr lang="ro-RO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ro-RO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ro-RO" sz="1600" dirty="0">
                <a:solidFill>
                  <a:srgbClr val="CB2418"/>
                </a:solidFill>
                <a:latin typeface="Menlo-Regular" panose="020B0609030804020204"/>
              </a:rPr>
              <a:t>/* Unload the shared library */</a:t>
            </a:r>
            <a:endParaRPr lang="ro-RO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600" dirty="0" err="1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dlclose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(handle) &lt; 0) 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fprintf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stderr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pl-PL" sz="1600" dirty="0">
                <a:solidFill>
                  <a:srgbClr val="9D206F"/>
                </a:solidFill>
                <a:latin typeface="Menlo-Regular" panose="020B0609030804020204"/>
              </a:rPr>
              <a:t>"%s\n"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dlerror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());</a:t>
            </a:r>
            <a:endParaRPr lang="pl-P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Menlo-Regular" panose="020B0609030804020204"/>
              </a:rPr>
              <a:t>exit</a:t>
            </a:r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(1);</a:t>
            </a:r>
            <a:endParaRPr lang="pl-P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pl-PL" sz="16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pl-P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is-IS" sz="16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Menlo-Regular" panose="020B0609030804020204"/>
              </a:rPr>
              <a:t> 0;</a:t>
            </a:r>
            <a:endParaRPr lang="is-I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600" dirty="0" smtClean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129628" y="6019800"/>
            <a:ext cx="864870" cy="352425"/>
          </a:xfrm>
          <a:prstGeom prst="rect">
            <a:avLst/>
          </a:prstGeom>
          <a:noFill/>
          <a:ln w="3240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dll.c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Java</a:t>
            </a:r>
            <a:r>
              <a:rPr lang="zh-CN" altLang="en-US"/>
              <a:t>语言中的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编译时指定库路径</a:t>
            </a:r>
            <a:r>
              <a:rPr lang="en-US" altLang="zh-CN"/>
              <a:t>（</a:t>
            </a:r>
            <a:r>
              <a:rPr lang="zh-CN" altLang="en-US"/>
              <a:t>不链接</a:t>
            </a:r>
            <a:r>
              <a:rPr lang="en-US" altLang="zh-CN"/>
              <a:t>）</a:t>
            </a:r>
            <a:endParaRPr lang="zh-CN" altLang="en-US"/>
          </a:p>
          <a:p>
            <a:pPr lvl="1"/>
            <a:r>
              <a:rPr lang="en-US" altLang="zh-CN"/>
              <a:t>javac -cp .:lib/some-library.jar MyClass.java</a:t>
            </a:r>
            <a:endParaRPr lang="en-US" altLang="zh-CN"/>
          </a:p>
          <a:p>
            <a:r>
              <a:rPr lang="zh-CN" altLang="en-US"/>
              <a:t>运行时指定库路径</a:t>
            </a:r>
            <a:r>
              <a:rPr lang="en-US" altLang="zh-CN"/>
              <a:t>（</a:t>
            </a:r>
            <a:r>
              <a:rPr lang="zh-CN" altLang="en-US"/>
              <a:t>运行时链接</a:t>
            </a:r>
            <a:r>
              <a:rPr lang="en-US" altLang="zh-CN"/>
              <a:t>/</a:t>
            </a:r>
            <a:r>
              <a:rPr lang="zh-CN" altLang="en-US"/>
              <a:t>加载</a:t>
            </a:r>
            <a:r>
              <a:rPr lang="en-US" altLang="zh-CN"/>
              <a:t>）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java -cp .:lib/some-library.jar MyClass</a:t>
            </a:r>
            <a:endParaRPr lang="en-US" altLang="zh-CN">
              <a:sym typeface="+mn-ea"/>
            </a:endParaRPr>
          </a:p>
          <a:p>
            <a:pPr lvl="1"/>
            <a:endParaRPr lang="en-US" altLang="zh-CN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C</a:t>
            </a:r>
            <a:r>
              <a:rPr lang="zh-CN" altLang="en-US" sz="2400">
                <a:sym typeface="+mn-ea"/>
              </a:rPr>
              <a:t>语言运行时指定路径</a:t>
            </a:r>
            <a:endParaRPr lang="zh-CN" altLang="en-US" sz="2400">
              <a:sym typeface="+mn-ea"/>
            </a:endParaRPr>
          </a:p>
          <a:p>
            <a:pPr lvl="1"/>
            <a:r>
              <a:rPr lang="en-US" altLang="zh-CN"/>
              <a:t>export LD_LIBRARY_PATH=/home/user/lib:$LD_LIBRARY_PATH</a:t>
            </a:r>
            <a:endParaRPr lang="en-US" altLang="zh-CN"/>
          </a:p>
          <a:p>
            <a:pPr lvl="1"/>
            <a:r>
              <a:rPr lang="en-US" altLang="zh-CN"/>
              <a:t>./my_program</a:t>
            </a:r>
            <a:endParaRPr lang="en-US" altLang="zh-CN"/>
          </a:p>
          <a:p>
            <a:pPr lvl="1"/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429500" cy="1524000"/>
          </a:xfrm>
          <a:prstGeom prst="rect">
            <a:avLst/>
          </a:prstGeom>
        </p:spPr>
      </p:pic>
      <p:sp>
        <p:nvSpPr>
          <p:cNvPr id="4" name="Cloud Callout 3"/>
          <p:cNvSpPr/>
          <p:nvPr/>
        </p:nvSpPr>
        <p:spPr>
          <a:xfrm>
            <a:off x="10408920" y="47752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共享库的实现原理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位置无关代码</a:t>
            </a:r>
            <a:endParaRPr lang="zh-CN" altLang="en-US"/>
          </a:p>
          <a:p>
            <a:pPr lvl="1"/>
            <a:r>
              <a:rPr lang="zh-CN" altLang="en-US"/>
              <a:t>位置无关代码（</a:t>
            </a:r>
            <a:r>
              <a:rPr lang="en-US" altLang="zh-CN"/>
              <a:t>Position-Independent Code</a:t>
            </a:r>
            <a:r>
              <a:rPr lang="zh-CN" altLang="en-US"/>
              <a:t>，</a:t>
            </a:r>
            <a:r>
              <a:rPr lang="en-US" altLang="zh-CN"/>
              <a:t>PIC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en-US" altLang="zh-CN"/>
              <a:t>GCC</a:t>
            </a:r>
            <a:r>
              <a:rPr lang="zh-CN" altLang="en-US"/>
              <a:t>选项</a:t>
            </a:r>
            <a:r>
              <a:rPr lang="en-US" altLang="zh-CN"/>
              <a:t>-fPIC</a:t>
            </a:r>
            <a:r>
              <a:rPr lang="zh-CN" altLang="en-US"/>
              <a:t>指示生成</a:t>
            </a:r>
            <a:r>
              <a:rPr lang="en-US" altLang="zh-CN"/>
              <a:t>PIC</a:t>
            </a:r>
            <a:r>
              <a:rPr lang="zh-CN" altLang="en-US"/>
              <a:t>代码</a:t>
            </a:r>
            <a:endParaRPr lang="zh-CN" altLang="en-US"/>
          </a:p>
          <a:p>
            <a:pPr lvl="0"/>
            <a:r>
              <a:rPr lang="zh-CN" altLang="en-US"/>
              <a:t>共享库代码必须是位置无关的</a:t>
            </a:r>
            <a:endParaRPr lang="zh-CN" altLang="en-US"/>
          </a:p>
          <a:p>
            <a:pPr lvl="1"/>
            <a:r>
              <a:rPr lang="zh-CN" altLang="en-US"/>
              <a:t>共享库是动态加载</a:t>
            </a:r>
            <a:r>
              <a:rPr lang="en-US" altLang="zh-CN"/>
              <a:t>，</a:t>
            </a:r>
            <a:r>
              <a:rPr lang="zh-CN" altLang="en-US"/>
              <a:t>因此地址是动态分配的</a:t>
            </a:r>
            <a:endParaRPr lang="zh-CN" altLang="en-US"/>
          </a:p>
          <a:p>
            <a:pPr lvl="2"/>
            <a:r>
              <a:rPr lang="zh-CN" altLang="en-US"/>
              <a:t>静态分配</a:t>
            </a:r>
            <a:r>
              <a:rPr lang="en-US" altLang="zh-CN"/>
              <a:t>：</a:t>
            </a:r>
            <a:r>
              <a:rPr lang="zh-CN" altLang="en-US"/>
              <a:t>静态链接时分配</a:t>
            </a:r>
            <a:r>
              <a:rPr lang="en-US" altLang="zh-CN"/>
              <a:t>（</a:t>
            </a:r>
            <a:r>
              <a:rPr lang="zh-CN" altLang="en-US"/>
              <a:t>合并可重定位文件时</a:t>
            </a:r>
            <a:r>
              <a:rPr lang="en-US" altLang="zh-CN"/>
              <a:t>）</a:t>
            </a:r>
            <a:endParaRPr lang="en-US" altLang="zh-CN"/>
          </a:p>
          <a:p>
            <a:pPr lvl="2"/>
            <a:r>
              <a:rPr lang="zh-CN" altLang="en-US"/>
              <a:t>动态分配</a:t>
            </a:r>
            <a:r>
              <a:rPr lang="en-US" altLang="zh-CN"/>
              <a:t>：</a:t>
            </a:r>
            <a:r>
              <a:rPr lang="zh-CN" altLang="en-US"/>
              <a:t>动态链接时</a:t>
            </a:r>
            <a:r>
              <a:rPr lang="en-US" altLang="zh-CN"/>
              <a:t>（a.out</a:t>
            </a:r>
            <a:r>
              <a:rPr lang="zh-CN" altLang="en-US"/>
              <a:t>加载或运行时</a:t>
            </a:r>
            <a:r>
              <a:rPr lang="en-US" altLang="zh-CN"/>
              <a:t>）</a:t>
            </a:r>
            <a:r>
              <a:rPr lang="zh-CN" altLang="en-US"/>
              <a:t>分配</a:t>
            </a:r>
            <a:r>
              <a:rPr lang="en-US" altLang="zh-CN"/>
              <a:t>，</a:t>
            </a:r>
            <a:r>
              <a:rPr lang="zh-CN" altLang="en-US"/>
              <a:t>分配的地址受具体环境影响</a:t>
            </a:r>
            <a:endParaRPr lang="zh-CN" altLang="en-US"/>
          </a:p>
          <a:p>
            <a:pPr lvl="1"/>
            <a:r>
              <a:rPr lang="zh-CN" altLang="en-US"/>
              <a:t>共享库被多个进程共享</a:t>
            </a:r>
            <a:r>
              <a:rPr lang="en-US" altLang="zh-CN"/>
              <a:t>，</a:t>
            </a:r>
            <a:r>
              <a:rPr lang="zh-CN" altLang="en-US"/>
              <a:t>因此被不同的进程动态链接时</a:t>
            </a:r>
            <a:r>
              <a:rPr lang="en-US" altLang="zh-CN"/>
              <a:t>，</a:t>
            </a:r>
            <a:r>
              <a:rPr lang="zh-CN" altLang="en-US"/>
              <a:t>分配的地址受具体进程影响</a:t>
            </a:r>
            <a:endParaRPr lang="zh-CN" altLang="en-US"/>
          </a:p>
          <a:p>
            <a:pPr lvl="0"/>
            <a:r>
              <a:rPr lang="zh-CN" altLang="en-US" sz="2400">
                <a:sym typeface="+mn-ea"/>
              </a:rPr>
              <a:t>共享库代码是一种</a:t>
            </a:r>
            <a:r>
              <a:rPr lang="en-US" altLang="zh-CN" sz="2400">
                <a:sym typeface="+mn-ea"/>
              </a:rPr>
              <a:t>PIC</a:t>
            </a:r>
            <a:endParaRPr lang="zh-CN" altLang="en-US" sz="2400"/>
          </a:p>
          <a:p>
            <a:pPr lvl="1"/>
            <a:r>
              <a:rPr lang="zh-CN" altLang="en-US" sz="2400">
                <a:sym typeface="+mn-ea"/>
              </a:rPr>
              <a:t>共享库代码的位置可以是</a:t>
            </a:r>
            <a:r>
              <a:rPr lang="zh-CN" altLang="en-US" sz="2400" b="1">
                <a:solidFill>
                  <a:srgbClr val="FF0000"/>
                </a:solidFill>
                <a:latin typeface="Kaiti SC Bold" panose="02010600040101010101" charset="-122"/>
                <a:ea typeface="Kaiti SC Bold" panose="02010600040101010101" charset="-122"/>
                <a:sym typeface="+mn-ea"/>
              </a:rPr>
              <a:t>不确定</a:t>
            </a:r>
            <a:r>
              <a:rPr lang="zh-CN" altLang="en-US" sz="2400">
                <a:sym typeface="+mn-ea"/>
              </a:rPr>
              <a:t>的</a:t>
            </a:r>
            <a:endParaRPr lang="zh-CN" altLang="en-US" sz="2400"/>
          </a:p>
          <a:p>
            <a:pPr lvl="1"/>
            <a:r>
              <a:rPr lang="zh-CN" altLang="en-US" sz="2400">
                <a:solidFill>
                  <a:srgbClr val="FF0000"/>
                </a:solidFill>
                <a:sym typeface="+mn-ea"/>
              </a:rPr>
              <a:t>链接器无需修改代码即可将共享库加载到任意地址运行</a:t>
            </a:r>
            <a:endParaRPr lang="zh-CN" altLang="en-US" sz="2400">
              <a:solidFill>
                <a:srgbClr val="FF0000"/>
              </a:solidFill>
            </a:endParaRPr>
          </a:p>
          <a:p>
            <a:pPr lvl="0"/>
            <a:endParaRPr lang="zh-CN" altLang="en-US"/>
          </a:p>
        </p:txBody>
      </p:sp>
      <p:sp>
        <p:nvSpPr>
          <p:cNvPr id="819204" name="Text Box 4"/>
          <p:cNvSpPr txBox="1">
            <a:spLocks noChangeArrowheads="1"/>
          </p:cNvSpPr>
          <p:nvPr/>
        </p:nvSpPr>
        <p:spPr bwMode="auto">
          <a:xfrm>
            <a:off x="7685088" y="2528094"/>
            <a:ext cx="2497137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2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要实现动态链接，必须生成</a:t>
            </a:r>
            <a:r>
              <a:rPr lang="en-US" altLang="zh-CN" sz="22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PIC</a:t>
            </a:r>
            <a:r>
              <a:rPr lang="zh-CN" altLang="en-US" sz="22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代码</a:t>
            </a:r>
            <a:endParaRPr lang="zh-CN" altLang="en-US" sz="2200" dirty="0">
              <a:solidFill>
                <a:srgbClr val="0A6A0A"/>
              </a:solidFill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4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位置无关代码（</a:t>
            </a:r>
            <a:r>
              <a:rPr lang="en-US" altLang="zh-CN"/>
              <a:t>PIC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1920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/>
              <a:t>所有引用情况</a:t>
            </a:r>
            <a:endParaRPr lang="zh-CN" altLang="en-US"/>
          </a:p>
          <a:p>
            <a:pPr lvl="1"/>
            <a:r>
              <a:rPr lang="en-US" altLang="zh-CN"/>
              <a:t>(1) </a:t>
            </a:r>
            <a:r>
              <a:rPr lang="zh-CN" altLang="en-US"/>
              <a:t>模块内的</a:t>
            </a:r>
            <a:r>
              <a:rPr lang="zh-CN" altLang="en-US">
                <a:solidFill>
                  <a:srgbClr val="FF0000"/>
                </a:solidFill>
              </a:rPr>
              <a:t>代码引用</a:t>
            </a:r>
            <a:r>
              <a:rPr lang="en-US" altLang="zh-CN"/>
              <a:t>（</a:t>
            </a:r>
            <a:r>
              <a:rPr lang="zh-CN" altLang="en-US">
                <a:solidFill>
                  <a:srgbClr val="FF0000"/>
                </a:solidFill>
                <a:latin typeface="Kaiti SC" panose="02010600040101010101" charset="-122"/>
                <a:ea typeface="Kaiti SC" panose="02010600040101010101" charset="-122"/>
              </a:rPr>
              <a:t>过程调用、跳转</a:t>
            </a:r>
            <a:r>
              <a:rPr lang="en-US" altLang="zh-CN">
                <a:solidFill>
                  <a:srgbClr val="FF0000"/>
                </a:solidFill>
                <a:latin typeface="Kaiti SC" panose="02010600040101010101" charset="-122"/>
                <a:ea typeface="Kaiti SC" panose="02010600040101010101" charset="-122"/>
              </a:rPr>
              <a:t>）</a:t>
            </a:r>
            <a:r>
              <a:rPr lang="zh-CN" altLang="en-US"/>
              <a:t>，采用</a:t>
            </a:r>
            <a:r>
              <a:rPr lang="en-US" altLang="zh-CN"/>
              <a:t>PC</a:t>
            </a:r>
            <a:r>
              <a:rPr lang="zh-CN" altLang="en-US"/>
              <a:t>相对偏移寻址</a:t>
            </a:r>
            <a:endParaRPr lang="en-US" altLang="zh-CN"/>
          </a:p>
          <a:p>
            <a:pPr lvl="1"/>
            <a:r>
              <a:rPr lang="en-US" altLang="zh-CN"/>
              <a:t>(2) </a:t>
            </a:r>
            <a:r>
              <a:rPr lang="zh-CN" altLang="en-US"/>
              <a:t>模块内的</a:t>
            </a:r>
            <a:r>
              <a:rPr lang="zh-CN" altLang="en-US">
                <a:solidFill>
                  <a:srgbClr val="FF0000"/>
                </a:solidFill>
              </a:rPr>
              <a:t>数据引用</a:t>
            </a:r>
            <a:r>
              <a:rPr lang="zh-CN" altLang="en-US"/>
              <a:t>，如模块内的全局变量，运行时根据</a:t>
            </a:r>
            <a:r>
              <a:rPr lang="en-US" altLang="zh-CN"/>
              <a:t>PC</a:t>
            </a:r>
            <a:r>
              <a:rPr lang="zh-CN" altLang="en-US"/>
              <a:t>计算地址</a:t>
            </a:r>
            <a:endParaRPr lang="zh-CN" altLang="en-US"/>
          </a:p>
          <a:p>
            <a:pPr lvl="1"/>
            <a:r>
              <a:rPr lang="en-US" altLang="zh-CN"/>
              <a:t>(3) </a:t>
            </a:r>
            <a:r>
              <a:rPr lang="zh-CN" altLang="en-US"/>
              <a:t>模块间的</a:t>
            </a:r>
            <a:r>
              <a:rPr lang="zh-CN" altLang="en-US">
                <a:solidFill>
                  <a:srgbClr val="FF0000"/>
                </a:solidFill>
                <a:latin typeface="Kaiti SC" panose="02010600040101010101" charset="-122"/>
                <a:ea typeface="Kaiti SC" panose="02010600040101010101" charset="-122"/>
              </a:rPr>
              <a:t>代码引用</a:t>
            </a:r>
            <a:r>
              <a:rPr lang="en-US" altLang="zh-CN"/>
              <a:t>（</a:t>
            </a:r>
            <a:r>
              <a:rPr lang="zh-CN" altLang="en-US">
                <a:solidFill>
                  <a:srgbClr val="FF0000"/>
                </a:solidFill>
              </a:rPr>
              <a:t>过程调用、跳转</a:t>
            </a:r>
            <a:r>
              <a:rPr lang="en-US" altLang="zh-CN">
                <a:solidFill>
                  <a:srgbClr val="FF0000"/>
                </a:solidFill>
              </a:rPr>
              <a:t>）</a:t>
            </a:r>
            <a:endParaRPr lang="zh-CN" altLang="en-US"/>
          </a:p>
          <a:p>
            <a:pPr lvl="1"/>
            <a:r>
              <a:rPr lang="en-US" altLang="zh-CN"/>
              <a:t>(4) </a:t>
            </a:r>
            <a:r>
              <a:rPr lang="zh-CN" altLang="en-US"/>
              <a:t>模块</a:t>
            </a:r>
            <a:r>
              <a:rPr lang="zh-CN" altLang="en-US"/>
              <a:t>间的</a:t>
            </a:r>
            <a:r>
              <a:rPr lang="zh-CN" altLang="en-US">
                <a:solidFill>
                  <a:srgbClr val="FF0000"/>
                </a:solidFill>
              </a:rPr>
              <a:t>数据引用</a:t>
            </a:r>
            <a:r>
              <a:rPr lang="zh-CN" altLang="en-US"/>
              <a:t>，如外部变量的引用</a:t>
            </a:r>
            <a:endParaRPr lang="zh-CN" altLang="en-US"/>
          </a:p>
        </p:txBody>
      </p:sp>
      <p:grpSp>
        <p:nvGrpSpPr>
          <p:cNvPr id="819205" name="Group 5"/>
          <p:cNvGrpSpPr/>
          <p:nvPr/>
        </p:nvGrpSpPr>
        <p:grpSpPr bwMode="auto">
          <a:xfrm>
            <a:off x="6934200" y="2998470"/>
            <a:ext cx="2828925" cy="860425"/>
            <a:chOff x="2506" y="3392"/>
            <a:chExt cx="2011" cy="542"/>
          </a:xfrm>
        </p:grpSpPr>
        <p:sp>
          <p:nvSpPr>
            <p:cNvPr id="124934" name="Text Box 6"/>
            <p:cNvSpPr txBox="1">
              <a:spLocks noChangeArrowheads="1"/>
            </p:cNvSpPr>
            <p:nvPr/>
          </p:nvSpPr>
          <p:spPr bwMode="auto">
            <a:xfrm>
              <a:off x="2697" y="3392"/>
              <a:ext cx="1820" cy="5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Microsoft YaHei" charset="-122"/>
                  <a:ea typeface="Microsoft YaHei" charset="-122"/>
                </a:rPr>
                <a:t>要生成</a:t>
              </a:r>
              <a:r>
                <a:rPr lang="en-US" altLang="zh-CN" sz="2000">
                  <a:solidFill>
                    <a:srgbClr val="FF0000"/>
                  </a:solidFill>
                  <a:latin typeface="Microsoft YaHei" charset="-122"/>
                  <a:ea typeface="Microsoft YaHei" charset="-122"/>
                </a:rPr>
                <a:t>PIC</a:t>
              </a:r>
              <a:r>
                <a:rPr lang="zh-CN" altLang="en-US" sz="2000">
                  <a:solidFill>
                    <a:srgbClr val="FF0000"/>
                  </a:solidFill>
                  <a:latin typeface="Microsoft YaHei" charset="-122"/>
                  <a:ea typeface="Microsoft YaHei" charset="-122"/>
                </a:rPr>
                <a:t>代码，</a:t>
              </a:r>
              <a:endParaRPr lang="zh-CN" altLang="en-US" sz="2000">
                <a:solidFill>
                  <a:srgbClr val="FF0000"/>
                </a:solidFill>
                <a:latin typeface="Microsoft YaHei" charset="-122"/>
                <a:ea typeface="Microsoft YaHei" charset="-122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Microsoft YaHei" charset="-122"/>
                  <a:ea typeface="Microsoft YaHei" charset="-122"/>
                </a:rPr>
                <a:t>主要解决这两个问题</a:t>
              </a:r>
              <a:endParaRPr lang="zh-CN" altLang="en-US" sz="2000">
                <a:solidFill>
                  <a:srgbClr val="FF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124935" name="AutoShape 7"/>
            <p:cNvSpPr/>
            <p:nvPr/>
          </p:nvSpPr>
          <p:spPr bwMode="auto">
            <a:xfrm>
              <a:off x="2506" y="3409"/>
              <a:ext cx="183" cy="467"/>
            </a:xfrm>
            <a:prstGeom prst="rightBrace">
              <a:avLst>
                <a:gd name="adj1" fmla="val 21266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dirty="0"/>
              <a:t>(1) </a:t>
            </a:r>
            <a:r>
              <a:rPr lang="zh-CN" altLang="en-US" sz="3600" dirty="0"/>
              <a:t>模块内的代码引用</a:t>
            </a:r>
            <a:endParaRPr lang="zh-CN" altLang="en-US" sz="3600" dirty="0"/>
          </a:p>
        </p:txBody>
      </p:sp>
      <p:sp>
        <p:nvSpPr>
          <p:cNvPr id="3" name="内容占位符 2"/>
          <p:cNvSpPr/>
          <p:nvPr/>
        </p:nvSpPr>
        <p:spPr bwMode="auto">
          <a:xfrm>
            <a:off x="557530" y="1361440"/>
            <a:ext cx="7286625" cy="126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跳转目标在同一个模块，相对位置固定，用</a:t>
            </a:r>
            <a:r>
              <a:rPr lang="en-US" altLang="zh-CN" sz="20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PC</a:t>
            </a:r>
            <a:r>
              <a:rPr lang="zh-CN" altLang="en-US" sz="20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相对偏移寻址</a:t>
            </a:r>
            <a:endParaRPr lang="zh-CN" altLang="en-US" sz="20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比如</a:t>
            </a:r>
            <a:r>
              <a:rPr lang="en-US" altLang="zh-CN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，foo</a:t>
            </a:r>
            <a:r>
              <a:rPr lang="zh-CN" altLang="en-US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调用</a:t>
            </a:r>
            <a:r>
              <a:rPr lang="en-US" altLang="zh-CN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bar</a:t>
            </a:r>
            <a:endParaRPr lang="zh-CN" altLang="en-US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buFontTx/>
              <a:buNone/>
            </a:pPr>
            <a:endParaRPr lang="en-US" altLang="zh-CN" sz="2000" dirty="0">
              <a:solidFill>
                <a:srgbClr val="3333CC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820228" name="Text Box 4"/>
          <p:cNvSpPr txBox="1">
            <a:spLocks noChangeArrowheads="1"/>
          </p:cNvSpPr>
          <p:nvPr/>
        </p:nvSpPr>
        <p:spPr bwMode="auto">
          <a:xfrm>
            <a:off x="8121650" y="254000"/>
            <a:ext cx="2249488" cy="418909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static int a;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static int b;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extern  void ext();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0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void bar() </a:t>
            </a:r>
            <a:endParaRPr lang="en-US" altLang="zh-CN" sz="18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{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     a=1;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     b=2;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}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0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void foo() 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{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     </a:t>
            </a:r>
            <a:r>
              <a:rPr lang="en-US" altLang="zh-CN" sz="18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bar();</a:t>
            </a:r>
            <a:endParaRPr lang="en-US" altLang="zh-CN" sz="18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     ext();</a:t>
            </a:r>
            <a:endParaRPr lang="en-US" altLang="zh-CN" sz="18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}</a:t>
            </a:r>
            <a:endParaRPr lang="en-US" altLang="zh-CN" sz="1800">
              <a:latin typeface="Microsoft YaHei" charset="-122"/>
              <a:ea typeface="Microsoft YaHei" charset="-122"/>
            </a:endParaRP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6965950" y="6024563"/>
            <a:ext cx="29321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en-US" sz="1800" b="0"/>
          </a:p>
        </p:txBody>
      </p:sp>
      <p:sp>
        <p:nvSpPr>
          <p:cNvPr id="820230" name="Text Box 6"/>
          <p:cNvSpPr txBox="1">
            <a:spLocks noChangeArrowheads="1"/>
          </p:cNvSpPr>
          <p:nvPr/>
        </p:nvSpPr>
        <p:spPr bwMode="auto">
          <a:xfrm>
            <a:off x="1808163" y="2624852"/>
            <a:ext cx="5807075" cy="369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0000344 &lt;bar&gt;: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0000344:    55	    	      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pushl</a:t>
            </a:r>
            <a:r>
              <a:rPr lang="en-US" altLang="zh-CN" sz="1800" dirty="0">
                <a:latin typeface="Microsoft YaHei" charset="-122"/>
                <a:ea typeface="Microsoft YaHei" charset="-122"/>
              </a:rPr>
              <a:t>  %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ebp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0000345:    89 e5              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movl</a:t>
            </a:r>
            <a:r>
              <a:rPr lang="en-US" altLang="zh-CN" sz="1800" dirty="0">
                <a:latin typeface="Microsoft YaHei" charset="-122"/>
                <a:ea typeface="Microsoft YaHei" charset="-122"/>
              </a:rPr>
              <a:t>  %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esp</a:t>
            </a:r>
            <a:r>
              <a:rPr lang="en-US" altLang="zh-CN" sz="1800" dirty="0">
                <a:latin typeface="Microsoft YaHei" charset="-122"/>
                <a:ea typeface="Microsoft YaHei" charset="-122"/>
              </a:rPr>
              <a:t>, %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ebp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……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0000362:    c3		      ret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0000363:    90		      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nop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0000364  &lt;foo&gt;: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0000364:    55		       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pushl</a:t>
            </a:r>
            <a:r>
              <a:rPr lang="en-US" altLang="zh-CN" sz="1800" dirty="0">
                <a:latin typeface="Microsoft YaHei" charset="-122"/>
                <a:ea typeface="Microsoft YaHei" charset="-122"/>
              </a:rPr>
              <a:t> %</a:t>
            </a:r>
            <a:r>
              <a:rPr lang="en-US" altLang="zh-CN" sz="1800" dirty="0" err="1">
                <a:latin typeface="Microsoft YaHei" charset="-122"/>
                <a:ea typeface="Microsoft YaHei" charset="-122"/>
              </a:rPr>
              <a:t>ebp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……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0000374:    e8 </a:t>
            </a:r>
            <a:r>
              <a:rPr lang="en-US" altLang="zh-CN" sz="18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cb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ff </a:t>
            </a:r>
            <a:r>
              <a:rPr lang="en-US" altLang="zh-CN" sz="18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ff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ff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   call 0000344 &lt;bar&gt;</a:t>
            </a:r>
            <a:endParaRPr lang="en-US" altLang="zh-CN" sz="18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0000379: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Microsoft YaHei" charset="-122"/>
                <a:ea typeface="Microsoft YaHei" charset="-122"/>
              </a:rPr>
              <a:t>  ……</a:t>
            </a:r>
            <a:endParaRPr lang="en-US" altLang="zh-CN" sz="1800" dirty="0">
              <a:latin typeface="Microsoft YaHei" charset="-122"/>
              <a:ea typeface="Microsoft YaHei" charset="-122"/>
            </a:endParaRPr>
          </a:p>
        </p:txBody>
      </p:sp>
      <p:sp>
        <p:nvSpPr>
          <p:cNvPr id="820231" name="Text Box 7"/>
          <p:cNvSpPr txBox="1">
            <a:spLocks noChangeArrowheads="1"/>
          </p:cNvSpPr>
          <p:nvPr/>
        </p:nvSpPr>
        <p:spPr bwMode="auto">
          <a:xfrm>
            <a:off x="7770812" y="4415234"/>
            <a:ext cx="2613025" cy="1282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call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的目标地址为：</a:t>
            </a:r>
            <a:endParaRPr lang="zh-CN" altLang="en-US" sz="1800" dirty="0">
              <a:solidFill>
                <a:srgbClr val="0A6A0A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0x0000379+</a:t>
            </a:r>
            <a:endParaRPr lang="en-US" altLang="zh-CN" sz="18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0xffffffcb(-0x35)=</a:t>
            </a:r>
            <a:endParaRPr lang="en-US" altLang="zh-CN" sz="18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0x0000344</a:t>
            </a:r>
            <a:endParaRPr lang="en-US" altLang="zh-CN" sz="18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820232" name="Text Box 8"/>
          <p:cNvSpPr txBox="1">
            <a:spLocks noChangeArrowheads="1"/>
          </p:cNvSpPr>
          <p:nvPr/>
        </p:nvSpPr>
        <p:spPr bwMode="auto">
          <a:xfrm>
            <a:off x="7811135" y="5720715"/>
            <a:ext cx="313880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Microsoft YaHei" charset="-122"/>
                <a:ea typeface="Microsoft YaHei" charset="-122"/>
              </a:rPr>
              <a:t>jmp</a:t>
            </a:r>
            <a:r>
              <a:rPr lang="zh-CN" altLang="en-US" sz="2000" dirty="0">
                <a:latin typeface="Microsoft YaHei" charset="-122"/>
                <a:ea typeface="Microsoft YaHei" charset="-122"/>
              </a:rPr>
              <a:t>指令也可用相对寻址方式解决</a:t>
            </a:r>
            <a:endParaRPr lang="zh-CN" altLang="en-US" sz="2000" dirty="0"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28" grpId="0" bldLvl="0" animBg="1"/>
      <p:bldP spid="820230" grpId="0" bldLvl="0" animBg="1"/>
      <p:bldP spid="820231" grpId="0" bldLvl="0" animBg="1"/>
      <p:bldP spid="820232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(2) </a:t>
            </a:r>
            <a:r>
              <a:rPr lang="zh-CN" altLang="en-US"/>
              <a:t>模块内的数据引用</a:t>
            </a:r>
            <a:endParaRPr lang="zh-CN" altLang="en-US"/>
          </a:p>
        </p:txBody>
      </p:sp>
      <p:sp>
        <p:nvSpPr>
          <p:cNvPr id="3" name="内容占位符 2"/>
          <p:cNvSpPr/>
          <p:nvPr/>
        </p:nvSpPr>
        <p:spPr bwMode="auto">
          <a:xfrm>
            <a:off x="457200" y="1216025"/>
            <a:ext cx="7849870" cy="1531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.data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节与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.text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节之间的相对位置确定，用“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PC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相对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寻址”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先计算当前</a:t>
            </a:r>
            <a:r>
              <a:rPr lang="en-US" altLang="zh-CN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PC，</a:t>
            </a:r>
            <a:r>
              <a:rPr lang="zh-CN" altLang="en-US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在加上常量</a:t>
            </a:r>
            <a:r>
              <a:rPr lang="zh-CN" altLang="en-US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偏移</a:t>
            </a:r>
            <a:endParaRPr lang="zh-CN" altLang="en-US" sz="15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marL="0" lvl="1">
              <a:lnSpc>
                <a:spcPct val="12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比如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，bar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中引用静态变量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a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0x118c</a:t>
            </a:r>
            <a:r>
              <a:rPr lang="zh-CN" altLang="en-US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是引用指令跟</a:t>
            </a:r>
            <a:r>
              <a:rPr lang="en-US" altLang="zh-CN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.text</a:t>
            </a:r>
            <a:r>
              <a:rPr lang="zh-CN" altLang="en-US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之间的距离</a:t>
            </a:r>
            <a:r>
              <a:rPr lang="en-US" altLang="zh-CN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，0x28</a:t>
            </a:r>
            <a:r>
              <a:rPr lang="zh-CN" altLang="en-US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是变量离</a:t>
            </a:r>
            <a:r>
              <a:rPr lang="en-US" altLang="zh-CN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.text</a:t>
            </a:r>
            <a:r>
              <a:rPr lang="zh-CN" altLang="en-US" sz="15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的距离</a:t>
            </a:r>
            <a:endParaRPr lang="en-US" altLang="zh-CN" sz="1800" dirty="0">
              <a:solidFill>
                <a:srgbClr val="3333CC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8306594" y="544936"/>
            <a:ext cx="2249488" cy="22567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static   int a;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extern int b;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extern  void ext();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9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void bar() 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{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/>
              <a:t>     </a:t>
            </a:r>
            <a:r>
              <a:rPr lang="en-US" altLang="zh-CN" sz="1600">
                <a:solidFill>
                  <a:srgbClr val="FF0000"/>
                </a:solidFill>
              </a:rPr>
              <a:t>a=1;</a:t>
            </a:r>
            <a:endParaRPr lang="en-US" altLang="zh-CN" sz="16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/>
              <a:t>     b=2;</a:t>
            </a:r>
            <a:endParaRPr lang="en-US" altLang="zh-CN" sz="16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}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…….</a:t>
            </a:r>
            <a:endParaRPr lang="en-US" altLang="zh-CN" sz="1600">
              <a:latin typeface="Microsoft YaHei" charset="-122"/>
              <a:ea typeface="Microsoft YaHei" charset="-122"/>
            </a:endParaRP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6965950" y="6024563"/>
            <a:ext cx="2932113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en-US" sz="1600" b="0"/>
          </a:p>
        </p:txBody>
      </p:sp>
      <p:sp>
        <p:nvSpPr>
          <p:cNvPr id="821254" name="Text Box 6"/>
          <p:cNvSpPr txBox="1">
            <a:spLocks noChangeArrowheads="1"/>
          </p:cNvSpPr>
          <p:nvPr/>
        </p:nvSpPr>
        <p:spPr bwMode="auto">
          <a:xfrm>
            <a:off x="1546225" y="2881217"/>
            <a:ext cx="6503988" cy="3046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0000344 &lt;bar&gt;: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0000344:    55	    	        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pushl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  %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ebp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0000345:    89 e5                    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movl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   %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esp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, %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ebp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0000347:    e8 </a:t>
            </a:r>
            <a:r>
              <a:rPr lang="en-US" altLang="zh-CN" sz="16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50 00 00 00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  call    39c &lt;__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get_pc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&gt;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       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000034c:    81 c1 8c 11 00 00 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addl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$0x118c, %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ecx</a:t>
            </a:r>
            <a:endParaRPr lang="zh-CN" altLang="en-US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0000352:   c7 81 28 00 00 00 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movl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$0x1, 0x28(%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ecx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)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……</a:t>
            </a:r>
            <a:endParaRPr lang="zh-CN" altLang="en-US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0000362:    c3		       ret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  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000039c &lt;__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get_pc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&gt;: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000039c:     8b 0c 24 	        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movl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(%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esp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), %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ecx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000039f:     c3                         ret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821255" name="Text Box 7"/>
          <p:cNvSpPr txBox="1">
            <a:spLocks noChangeArrowheads="1"/>
          </p:cNvSpPr>
          <p:nvPr/>
        </p:nvSpPr>
        <p:spPr bwMode="auto">
          <a:xfrm>
            <a:off x="758190" y="6059805"/>
            <a:ext cx="1092073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变量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a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与引用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a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的指令之间的距离为常数，调用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__</a:t>
            </a:r>
            <a:r>
              <a:rPr lang="en-US" altLang="zh-CN" sz="1800" dirty="0" err="1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get_pc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后，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call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指令的返回地址被置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ECX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。若模块被加载到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0x10000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，则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a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的访问地址为：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0x10000+0x34c+0x118c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指令与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.data</a:t>
            </a: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间距离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)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+0x28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(a</a:t>
            </a: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在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.data</a:t>
            </a: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节中偏移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)</a:t>
            </a:r>
            <a:endParaRPr lang="en-US" altLang="zh-CN" sz="18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821268" name="Line 20"/>
          <p:cNvSpPr>
            <a:spLocks noChangeShapeType="1"/>
          </p:cNvSpPr>
          <p:nvPr/>
        </p:nvSpPr>
        <p:spPr bwMode="auto">
          <a:xfrm flipV="1">
            <a:off x="7105651" y="1991826"/>
            <a:ext cx="1550988" cy="110102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1269" name="Text Box 21"/>
          <p:cNvSpPr txBox="1">
            <a:spLocks noChangeArrowheads="1"/>
          </p:cNvSpPr>
          <p:nvPr/>
        </p:nvSpPr>
        <p:spPr bwMode="auto">
          <a:xfrm>
            <a:off x="8306594" y="2866475"/>
            <a:ext cx="19145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多用了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4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条指令</a:t>
            </a:r>
            <a:endParaRPr lang="zh-CN" altLang="en-US" sz="1800" dirty="0">
              <a:solidFill>
                <a:srgbClr val="0A6A0A"/>
              </a:solidFill>
              <a:latin typeface="Microsoft YaHei" charset="-122"/>
              <a:ea typeface="Microsoft YaHei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6169" y="3300394"/>
            <a:ext cx="2064025" cy="1935162"/>
            <a:chOff x="6852169" y="3300394"/>
            <a:chExt cx="2064025" cy="1935162"/>
          </a:xfrm>
        </p:grpSpPr>
        <p:sp>
          <p:nvSpPr>
            <p:cNvPr id="126993" name="Rectangle 10"/>
            <p:cNvSpPr>
              <a:spLocks noChangeArrowheads="1"/>
            </p:cNvSpPr>
            <p:nvPr/>
          </p:nvSpPr>
          <p:spPr bwMode="auto">
            <a:xfrm>
              <a:off x="7711282" y="3300394"/>
              <a:ext cx="1204912" cy="99743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600" b="0"/>
            </a:p>
          </p:txBody>
        </p:sp>
        <p:sp>
          <p:nvSpPr>
            <p:cNvPr id="126995" name="Rectangle 12"/>
            <p:cNvSpPr>
              <a:spLocks noChangeArrowheads="1"/>
            </p:cNvSpPr>
            <p:nvPr/>
          </p:nvSpPr>
          <p:spPr bwMode="auto">
            <a:xfrm>
              <a:off x="7711282" y="4290545"/>
              <a:ext cx="1192212" cy="9450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600" b="0"/>
            </a:p>
          </p:txBody>
        </p:sp>
        <p:sp>
          <p:nvSpPr>
            <p:cNvPr id="126996" name="Text Box 13"/>
            <p:cNvSpPr txBox="1">
              <a:spLocks noChangeArrowheads="1"/>
            </p:cNvSpPr>
            <p:nvPr/>
          </p:nvSpPr>
          <p:spPr bwMode="auto">
            <a:xfrm>
              <a:off x="8021784" y="3670391"/>
              <a:ext cx="830262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 dirty="0">
                  <a:latin typeface="Microsoft YaHei" charset="-122"/>
                  <a:ea typeface="Microsoft YaHei" charset="-122"/>
                </a:rPr>
                <a:t>.data</a:t>
              </a:r>
              <a:endParaRPr lang="en-US" altLang="zh-CN" sz="1800" dirty="0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126997" name="Text Box 14"/>
            <p:cNvSpPr txBox="1">
              <a:spLocks noChangeArrowheads="1"/>
            </p:cNvSpPr>
            <p:nvPr/>
          </p:nvSpPr>
          <p:spPr bwMode="auto">
            <a:xfrm>
              <a:off x="7695553" y="3641196"/>
              <a:ext cx="541337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Microsoft YaHei" charset="-122"/>
                  <a:ea typeface="Microsoft YaHei" charset="-122"/>
                </a:rPr>
                <a:t>a</a:t>
              </a:r>
              <a:endParaRPr lang="en-US" altLang="zh-CN" sz="1800">
                <a:solidFill>
                  <a:srgbClr val="FF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126988" name="Line 15"/>
            <p:cNvSpPr>
              <a:spLocks noChangeShapeType="1"/>
            </p:cNvSpPr>
            <p:nvPr/>
          </p:nvSpPr>
          <p:spPr bwMode="auto">
            <a:xfrm>
              <a:off x="7058819" y="3660052"/>
              <a:ext cx="741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6989" name="Line 16"/>
            <p:cNvSpPr>
              <a:spLocks noChangeShapeType="1"/>
            </p:cNvSpPr>
            <p:nvPr/>
          </p:nvSpPr>
          <p:spPr bwMode="auto">
            <a:xfrm>
              <a:off x="6984353" y="4825829"/>
              <a:ext cx="71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6990" name="Line 17"/>
            <p:cNvSpPr>
              <a:spLocks noChangeShapeType="1"/>
            </p:cNvSpPr>
            <p:nvPr/>
          </p:nvSpPr>
          <p:spPr bwMode="auto">
            <a:xfrm flipV="1">
              <a:off x="7233444" y="3660052"/>
              <a:ext cx="0" cy="279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6991" name="Line 18"/>
            <p:cNvSpPr>
              <a:spLocks noChangeShapeType="1"/>
            </p:cNvSpPr>
            <p:nvPr/>
          </p:nvSpPr>
          <p:spPr bwMode="auto">
            <a:xfrm>
              <a:off x="7233444" y="4508546"/>
              <a:ext cx="0" cy="307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6992" name="Text Box 19"/>
            <p:cNvSpPr txBox="1">
              <a:spLocks noChangeArrowheads="1"/>
            </p:cNvSpPr>
            <p:nvPr/>
          </p:nvSpPr>
          <p:spPr bwMode="auto">
            <a:xfrm>
              <a:off x="6852169" y="3863526"/>
              <a:ext cx="1103312" cy="8299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dirty="0">
                  <a:solidFill>
                    <a:srgbClr val="3333CC"/>
                  </a:solidFill>
                  <a:latin typeface="Microsoft YaHei" charset="-122"/>
                  <a:ea typeface="Microsoft YaHei" charset="-122"/>
                </a:rPr>
                <a:t>0x28</a:t>
              </a:r>
              <a:endParaRPr lang="en-US" altLang="zh-CN" sz="1600" dirty="0">
                <a:solidFill>
                  <a:srgbClr val="3333CC"/>
                </a:solidFill>
                <a:latin typeface="Microsoft YaHei" charset="-122"/>
                <a:ea typeface="Microsoft YaHei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dirty="0">
                  <a:solidFill>
                    <a:srgbClr val="3333CC"/>
                  </a:solidFill>
                  <a:latin typeface="Microsoft YaHei" charset="-122"/>
                  <a:ea typeface="Microsoft YaHei" charset="-122"/>
                </a:rPr>
                <a:t>+</a:t>
              </a:r>
              <a:endParaRPr lang="en-US" altLang="zh-CN" sz="1600" dirty="0">
                <a:solidFill>
                  <a:srgbClr val="3333CC"/>
                </a:solidFill>
                <a:latin typeface="Microsoft YaHei" charset="-122"/>
                <a:ea typeface="Microsoft YaHei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dirty="0">
                  <a:solidFill>
                    <a:srgbClr val="3333CC"/>
                  </a:solidFill>
                  <a:latin typeface="Microsoft YaHei" charset="-122"/>
                  <a:ea typeface="Microsoft YaHei" charset="-122"/>
                </a:rPr>
                <a:t>0x118c</a:t>
              </a:r>
              <a:endParaRPr lang="en-US" altLang="zh-CN" sz="1600" dirty="0">
                <a:solidFill>
                  <a:srgbClr val="3333CC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126994" name="Text Box 11"/>
            <p:cNvSpPr txBox="1">
              <a:spLocks noChangeArrowheads="1"/>
            </p:cNvSpPr>
            <p:nvPr/>
          </p:nvSpPr>
          <p:spPr bwMode="auto">
            <a:xfrm>
              <a:off x="8006099" y="4640904"/>
              <a:ext cx="830262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 dirty="0">
                  <a:latin typeface="Microsoft YaHei" charset="-122"/>
                  <a:ea typeface="Microsoft YaHei" charset="-122"/>
                </a:rPr>
                <a:t>.text</a:t>
              </a:r>
              <a:endParaRPr lang="en-US" altLang="zh-CN" sz="1800" dirty="0">
                <a:latin typeface="Microsoft YaHei" charset="-122"/>
                <a:ea typeface="Microsoft YaHei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2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2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2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2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bldLvl="0" animBg="1"/>
      <p:bldP spid="821254" grpId="0" bldLvl="0" animBg="1"/>
      <p:bldP spid="821255" grpId="0" bldLvl="0" animBg="1"/>
      <p:bldP spid="821269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200"/>
              <a:t>模块内</a:t>
            </a:r>
            <a:r>
              <a:rPr lang="en-US" altLang="zh-CN" sz="3200"/>
              <a:t> vs </a:t>
            </a:r>
            <a:r>
              <a:rPr lang="zh-CN" altLang="en-US" sz="3200"/>
              <a:t>模块外的引用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0"/>
              <a:t>模块内的引用</a:t>
            </a:r>
            <a:r>
              <a:rPr lang="en-US" altLang="zh-CN" sz="2400" b="0"/>
              <a:t>——</a:t>
            </a:r>
            <a:r>
              <a:rPr lang="zh-CN" altLang="en-US" sz="2400" b="0"/>
              <a:t>编译</a:t>
            </a:r>
            <a:r>
              <a:rPr lang="en-US" altLang="zh-CN" sz="2400" b="0"/>
              <a:t>/</a:t>
            </a:r>
            <a:r>
              <a:rPr lang="zh-CN" altLang="en-US" sz="2400" b="0"/>
              <a:t>链接时有确定</a:t>
            </a:r>
            <a:r>
              <a:rPr lang="zh-CN" altLang="en-US" sz="2400" b="0"/>
              <a:t>信息</a:t>
            </a:r>
            <a:endParaRPr lang="zh-CN" altLang="en-US" sz="2400" b="0"/>
          </a:p>
          <a:p>
            <a:pPr lvl="1"/>
            <a:r>
              <a:rPr lang="zh-CN" altLang="en-US" sz="2000" b="0">
                <a:sym typeface="+mn-ea"/>
              </a:rPr>
              <a:t>模块内代码引用</a:t>
            </a:r>
            <a:endParaRPr lang="zh-CN" altLang="en-US" sz="2000" b="0">
              <a:sym typeface="+mn-ea"/>
            </a:endParaRPr>
          </a:p>
          <a:p>
            <a:pPr lvl="2"/>
            <a:r>
              <a:rPr lang="en-US" altLang="zh-CN" sz="1710" b="0">
                <a:sym typeface="+mn-ea"/>
              </a:rPr>
              <a:t>link</a:t>
            </a:r>
            <a:r>
              <a:rPr lang="zh-CN" altLang="en-US" sz="1710" b="0">
                <a:sym typeface="+mn-ea"/>
              </a:rPr>
              <a:t>时不知道地址，但知道</a:t>
            </a:r>
            <a:r>
              <a:rPr lang="en-US" altLang="zh-CN" sz="1710" b="0">
                <a:sym typeface="+mn-ea"/>
              </a:rPr>
              <a:t>PC</a:t>
            </a:r>
            <a:r>
              <a:rPr lang="zh-CN" altLang="en-US" sz="1710" b="0">
                <a:sym typeface="+mn-ea"/>
              </a:rPr>
              <a:t>相对偏移，所以可以利用“</a:t>
            </a:r>
            <a:r>
              <a:rPr lang="en-US" altLang="zh-CN" sz="1710" b="0">
                <a:sym typeface="+mn-ea"/>
              </a:rPr>
              <a:t>PC</a:t>
            </a:r>
            <a:r>
              <a:rPr lang="zh-CN" altLang="en-US" sz="1710" b="0">
                <a:sym typeface="+mn-ea"/>
              </a:rPr>
              <a:t>相对寻址”解决</a:t>
            </a:r>
            <a:endParaRPr lang="zh-CN" altLang="en-US" sz="1710" b="0"/>
          </a:p>
          <a:p>
            <a:pPr lvl="1"/>
            <a:r>
              <a:rPr lang="zh-CN" altLang="en-US" sz="2000" b="0">
                <a:sym typeface="+mn-ea"/>
              </a:rPr>
              <a:t>模块内数据引用</a:t>
            </a:r>
            <a:endParaRPr lang="zh-CN" altLang="en-US" sz="2000" b="0">
              <a:sym typeface="+mn-ea"/>
            </a:endParaRPr>
          </a:p>
          <a:p>
            <a:pPr lvl="2"/>
            <a:r>
              <a:rPr lang="en-US" altLang="zh-CN" sz="1710" b="0">
                <a:sym typeface="+mn-ea"/>
              </a:rPr>
              <a:t>link</a:t>
            </a:r>
            <a:r>
              <a:rPr lang="zh-CN" altLang="en-US" sz="1710" b="0">
                <a:sym typeface="+mn-ea"/>
              </a:rPr>
              <a:t>时不知道地址，但知道相对偏移，所以可以利用“运行时</a:t>
            </a:r>
            <a:r>
              <a:rPr lang="en-US" altLang="zh-CN" sz="1710" b="0">
                <a:sym typeface="+mn-ea"/>
              </a:rPr>
              <a:t>PC</a:t>
            </a:r>
            <a:r>
              <a:rPr lang="zh-CN" altLang="en-US" sz="1710" b="0">
                <a:sym typeface="+mn-ea"/>
              </a:rPr>
              <a:t>值</a:t>
            </a:r>
            <a:r>
              <a:rPr lang="en-US" altLang="zh-CN" sz="1710" b="0">
                <a:sym typeface="+mn-ea"/>
              </a:rPr>
              <a:t>+</a:t>
            </a:r>
            <a:r>
              <a:rPr lang="zh-CN" altLang="en-US" sz="1710" b="0">
                <a:sym typeface="+mn-ea"/>
              </a:rPr>
              <a:t>偏移”解决</a:t>
            </a:r>
            <a:endParaRPr lang="zh-CN" altLang="en-US" sz="1710" b="0"/>
          </a:p>
          <a:p>
            <a:r>
              <a:rPr lang="zh-CN" altLang="en-US" sz="2400" b="0"/>
              <a:t>模块间的引用</a:t>
            </a:r>
            <a:r>
              <a:rPr lang="en-US" altLang="zh-CN" sz="2400" b="0"/>
              <a:t>——</a:t>
            </a:r>
            <a:r>
              <a:rPr lang="zh-CN" altLang="en-US" sz="2400" b="0"/>
              <a:t>运行时才有确定</a:t>
            </a:r>
            <a:r>
              <a:rPr lang="zh-CN" altLang="en-US" sz="2400" b="0"/>
              <a:t>信息</a:t>
            </a:r>
            <a:endParaRPr lang="zh-CN" altLang="en-US" sz="2400" b="0"/>
          </a:p>
          <a:p>
            <a:pPr lvl="1"/>
            <a:r>
              <a:rPr lang="en-US" altLang="zh-CN" sz="1865" b="0"/>
              <a:t>link</a:t>
            </a:r>
            <a:r>
              <a:rPr lang="zh-CN" altLang="en-US" sz="1865" b="0"/>
              <a:t>时完全不知道外部模块地址信息，运行时</a:t>
            </a:r>
            <a:r>
              <a:rPr lang="zh-CN" altLang="en-US" sz="1865" b="0"/>
              <a:t>才知道</a:t>
            </a:r>
            <a:endParaRPr lang="zh-CN" altLang="en-US" sz="1865" b="0"/>
          </a:p>
          <a:p>
            <a:pPr lvl="2"/>
            <a:r>
              <a:rPr lang="zh-CN" altLang="en-US" sz="1595" b="0"/>
              <a:t>能否运行时填入真实地址，类似于</a:t>
            </a:r>
            <a:r>
              <a:rPr lang="en-US" altLang="zh-CN" sz="1595" b="0"/>
              <a:t>link</a:t>
            </a:r>
            <a:r>
              <a:rPr lang="zh-CN" altLang="en-US" sz="1595" b="0"/>
              <a:t>时的</a:t>
            </a:r>
            <a:r>
              <a:rPr lang="zh-CN" altLang="en-US" sz="1595" b="0"/>
              <a:t>重定位？</a:t>
            </a:r>
            <a:endParaRPr lang="zh-CN" altLang="en-US" sz="1595" b="0"/>
          </a:p>
          <a:p>
            <a:pPr lvl="2"/>
            <a:r>
              <a:rPr lang="zh-CN" altLang="en-US" sz="1595" b="0"/>
              <a:t>理论上可行，实际上面临</a:t>
            </a:r>
            <a:r>
              <a:rPr lang="zh-CN" altLang="en-US" sz="1595" b="0"/>
              <a:t>挑战：</a:t>
            </a:r>
            <a:endParaRPr lang="zh-CN" altLang="en-US" sz="1595" b="0"/>
          </a:p>
          <a:p>
            <a:pPr lvl="1"/>
            <a:r>
              <a:rPr lang="zh-CN" altLang="en-US" sz="1860" b="0"/>
              <a:t>安全挑战</a:t>
            </a:r>
            <a:r>
              <a:rPr lang="en-US" altLang="zh-CN" sz="1860" b="0"/>
              <a:t>：</a:t>
            </a:r>
            <a:r>
              <a:rPr lang="zh-CN" altLang="en-US" sz="1860" b="0"/>
              <a:t>需要</a:t>
            </a:r>
            <a:r>
              <a:rPr lang="zh-CN" altLang="en-US" sz="1860">
                <a:sym typeface="+mn-ea"/>
              </a:rPr>
              <a:t>运行时代码自修改</a:t>
            </a:r>
            <a:r>
              <a:rPr lang="en-US" altLang="zh-CN" sz="1860">
                <a:sym typeface="+mn-ea"/>
              </a:rPr>
              <a:t>（</a:t>
            </a:r>
            <a:r>
              <a:rPr lang="zh-CN" altLang="en-US" sz="1860">
                <a:sym typeface="+mn-ea"/>
              </a:rPr>
              <a:t>运行时实现重定位</a:t>
            </a:r>
            <a:r>
              <a:rPr lang="en-US" altLang="zh-CN" sz="1860">
                <a:sym typeface="+mn-ea"/>
              </a:rPr>
              <a:t>）</a:t>
            </a:r>
            <a:endParaRPr lang="en-US" altLang="zh-CN" sz="1860">
              <a:sym typeface="+mn-ea"/>
            </a:endParaRPr>
          </a:p>
          <a:p>
            <a:pPr lvl="2"/>
            <a:r>
              <a:rPr lang="zh-CN" altLang="en-US" sz="1860">
                <a:sym typeface="+mn-ea"/>
              </a:rPr>
              <a:t>思路</a:t>
            </a:r>
            <a:r>
              <a:rPr lang="en-US" altLang="zh-CN" sz="1860">
                <a:sym typeface="+mn-ea"/>
              </a:rPr>
              <a:t>：</a:t>
            </a:r>
            <a:r>
              <a:rPr lang="zh-CN" altLang="en-US" sz="1860">
                <a:sym typeface="+mn-ea"/>
              </a:rPr>
              <a:t>引入</a:t>
            </a:r>
            <a:r>
              <a:rPr lang="en-US" altLang="zh-CN" sz="1860">
                <a:solidFill>
                  <a:srgbClr val="00B050"/>
                </a:solidFill>
                <a:sym typeface="+mn-ea"/>
              </a:rPr>
              <a:t>GOT</a:t>
            </a:r>
            <a:r>
              <a:rPr lang="zh-CN" altLang="en-US" sz="1860">
                <a:ea typeface="SimSun" charset="0"/>
                <a:sym typeface="+mn-ea"/>
              </a:rPr>
              <a:t>，只</a:t>
            </a:r>
            <a:r>
              <a:rPr lang="zh-CN" altLang="en-US" sz="1860">
                <a:ea typeface="SimSun" charset="0"/>
                <a:sym typeface="+mn-ea"/>
              </a:rPr>
              <a:t>用修改数据段（间接跳转、间接引用</a:t>
            </a:r>
            <a:r>
              <a:rPr lang="en-US" altLang="zh-CN" sz="1860">
                <a:ea typeface="SimSun" charset="0"/>
                <a:sym typeface="+mn-ea"/>
              </a:rPr>
              <a:t>）</a:t>
            </a:r>
            <a:endParaRPr lang="zh-CN" altLang="en-US" sz="1860">
              <a:sym typeface="+mn-ea"/>
            </a:endParaRPr>
          </a:p>
          <a:p>
            <a:pPr lvl="1"/>
            <a:r>
              <a:rPr lang="zh-CN" altLang="en-US" sz="1860" b="0"/>
              <a:t>性能挑战</a:t>
            </a:r>
            <a:r>
              <a:rPr lang="en-US" altLang="zh-CN" sz="1860" b="0"/>
              <a:t>：</a:t>
            </a:r>
            <a:r>
              <a:rPr lang="zh-CN" altLang="en-US" sz="1860" b="0"/>
              <a:t>运行时重定位的性能开销</a:t>
            </a:r>
            <a:r>
              <a:rPr lang="zh-CN" altLang="en-US" sz="1860" b="0"/>
              <a:t>大</a:t>
            </a:r>
            <a:endParaRPr lang="zh-CN" altLang="en-US" sz="1860" b="0"/>
          </a:p>
          <a:p>
            <a:pPr lvl="2"/>
            <a:r>
              <a:rPr lang="zh-CN" altLang="en-US" sz="1590" b="0"/>
              <a:t>思路</a:t>
            </a:r>
            <a:r>
              <a:rPr lang="en-US" altLang="zh-CN" sz="1590" b="0"/>
              <a:t>：</a:t>
            </a:r>
            <a:r>
              <a:rPr lang="zh-CN" altLang="en-US" sz="1590" b="0">
                <a:solidFill>
                  <a:srgbClr val="00B050"/>
                </a:solidFill>
              </a:rPr>
              <a:t>延迟绑定</a:t>
            </a:r>
            <a:endParaRPr lang="zh-CN" altLang="en-US" sz="1590" b="0"/>
          </a:p>
          <a:p>
            <a:pPr marL="914400" lvl="2" indent="0">
              <a:buNone/>
            </a:pPr>
            <a:endParaRPr lang="zh-CN" altLang="en-US" sz="1590" b="0"/>
          </a:p>
          <a:p>
            <a:pPr lvl="2"/>
            <a:endParaRPr lang="zh-CN" altLang="en-US" sz="1595" b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0055" y="3733800"/>
            <a:ext cx="73507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66CC"/>
                </a:solidFill>
                <a:ea typeface="Microsoft YaHei" charset="-122"/>
                <a:sym typeface="+mn-ea"/>
              </a:rPr>
              <a:t>引入一个可写的数据结构！</a:t>
            </a:r>
            <a:r>
              <a:rPr lang="en-US" altLang="zh-CN">
                <a:solidFill>
                  <a:srgbClr val="FF0000"/>
                </a:solidFill>
                <a:ea typeface="Microsoft YaHei" charset="-122"/>
                <a:sym typeface="+mn-ea"/>
              </a:rPr>
              <a:t>GOT</a:t>
            </a:r>
            <a:endParaRPr lang="zh-CN" altLang="en-US">
              <a:solidFill>
                <a:srgbClr val="0066CC"/>
              </a:solidFill>
              <a:ea typeface="Microsoft YaHei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66CC"/>
                </a:solidFill>
                <a:ea typeface="Microsoft YaHei" charset="-122"/>
                <a:sym typeface="+mn-ea"/>
              </a:rPr>
              <a:t>加载</a:t>
            </a:r>
            <a:r>
              <a:rPr lang="en-US" altLang="zh-CN">
                <a:solidFill>
                  <a:srgbClr val="0066CC"/>
                </a:solidFill>
                <a:ea typeface="Microsoft YaHei" charset="-122"/>
                <a:sym typeface="+mn-ea"/>
              </a:rPr>
              <a:t>so</a:t>
            </a:r>
            <a:r>
              <a:rPr lang="zh-CN" altLang="en-US">
                <a:solidFill>
                  <a:srgbClr val="0066CC"/>
                </a:solidFill>
                <a:ea typeface="Microsoft YaHei" charset="-122"/>
                <a:sym typeface="+mn-ea"/>
              </a:rPr>
              <a:t>文件时</a:t>
            </a:r>
            <a:r>
              <a:rPr lang="en-US" altLang="zh-CN">
                <a:solidFill>
                  <a:srgbClr val="0066CC"/>
                </a:solidFill>
                <a:ea typeface="Microsoft YaHei" charset="-122"/>
                <a:sym typeface="+mn-ea"/>
              </a:rPr>
              <a:t>，</a:t>
            </a:r>
            <a:r>
              <a:rPr lang="zh-CN" altLang="en-US">
                <a:solidFill>
                  <a:srgbClr val="0066CC"/>
                </a:solidFill>
                <a:ea typeface="Microsoft YaHei" charset="-122"/>
                <a:sym typeface="+mn-ea"/>
              </a:rPr>
              <a:t>将对应符号的地址运行时填入</a:t>
            </a:r>
            <a:r>
              <a:rPr lang="en-US" altLang="zh-CN">
                <a:solidFill>
                  <a:srgbClr val="FF0000"/>
                </a:solidFill>
                <a:ea typeface="Microsoft YaHei" charset="-122"/>
                <a:sym typeface="+mn-ea"/>
              </a:rPr>
              <a:t>GOT</a:t>
            </a:r>
            <a:endParaRPr lang="en-US" altLang="zh-CN">
              <a:solidFill>
                <a:srgbClr val="0066CC"/>
              </a:solidFill>
              <a:ea typeface="Microsoft YaHei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66CC"/>
                </a:solidFill>
                <a:ea typeface="Microsoft YaHei" charset="-122"/>
                <a:sym typeface="+mn-ea"/>
              </a:rPr>
              <a:t>引用指令利用</a:t>
            </a:r>
            <a:r>
              <a:rPr lang="en-US" altLang="zh-CN">
                <a:solidFill>
                  <a:srgbClr val="0066CC"/>
                </a:solidFill>
                <a:ea typeface="Microsoft YaHei" charset="-122"/>
                <a:sym typeface="+mn-ea"/>
              </a:rPr>
              <a:t>GOT</a:t>
            </a:r>
            <a:r>
              <a:rPr lang="zh-CN" altLang="en-US">
                <a:solidFill>
                  <a:srgbClr val="0066CC"/>
                </a:solidFill>
                <a:ea typeface="Microsoft YaHei" charset="-122"/>
                <a:sym typeface="+mn-ea"/>
              </a:rPr>
              <a:t>的相对偏移</a:t>
            </a:r>
            <a:r>
              <a:rPr lang="en-US" altLang="zh-CN">
                <a:solidFill>
                  <a:srgbClr val="0066CC"/>
                </a:solidFill>
                <a:ea typeface="Microsoft YaHei" charset="-122"/>
                <a:sym typeface="+mn-ea"/>
              </a:rPr>
              <a:t>，</a:t>
            </a:r>
            <a:r>
              <a:rPr lang="zh-CN" altLang="en-US">
                <a:solidFill>
                  <a:srgbClr val="0066CC"/>
                </a:solidFill>
                <a:ea typeface="Microsoft YaHei" charset="-122"/>
                <a:sym typeface="+mn-ea"/>
              </a:rPr>
              <a:t>进行</a:t>
            </a:r>
            <a:r>
              <a:rPr lang="zh-CN" altLang="en-US">
                <a:solidFill>
                  <a:srgbClr val="FF0000"/>
                </a:solidFill>
                <a:ea typeface="Microsoft YaHei" charset="-122"/>
                <a:sym typeface="+mn-ea"/>
              </a:rPr>
              <a:t>间接访问</a:t>
            </a:r>
            <a:endParaRPr lang="zh-CN" altLang="en-US">
              <a:solidFill>
                <a:srgbClr val="FF0000"/>
              </a:solidFill>
              <a:ea typeface="Microsoft YaHei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81200" y="1752600"/>
            <a:ext cx="83953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ym typeface="+mn-ea"/>
              </a:rPr>
              <a:t>“Any problem in computer science can be solved with another level of indirection”.  </a:t>
            </a:r>
            <a:endParaRPr lang="en-US" altLang="zh-CN" dirty="0"/>
          </a:p>
          <a:p>
            <a:pPr marL="2743200" lvl="6" indent="0" algn="r">
              <a:buNone/>
            </a:pPr>
            <a:r>
              <a:rPr lang="en-US" altLang="zh-CN" dirty="0">
                <a:sym typeface="+mn-ea"/>
              </a:rPr>
              <a:t>by David Wheeler (</a:t>
            </a:r>
            <a:r>
              <a:rPr lang="zh-CN" altLang="en-US" dirty="0">
                <a:sym typeface="+mn-ea"/>
              </a:rPr>
              <a:t>剑桥大学计算机科学家</a:t>
            </a:r>
            <a:r>
              <a:rPr lang="en-US" altLang="zh-CN" dirty="0">
                <a:sym typeface="+mn-ea"/>
              </a:rPr>
              <a:t>)</a:t>
            </a:r>
            <a:endParaRPr lang="en-US" altLang="zh-CN" sz="1800" dirty="0" smtClean="0">
              <a:latin typeface="Calibri" pitchFamily="34" charset="0"/>
              <a:sym typeface="+mn-ea"/>
            </a:endParaRPr>
          </a:p>
        </p:txBody>
      </p:sp>
      <p:pic>
        <p:nvPicPr>
          <p:cNvPr id="1026" name="Picture 2" descr="https://gss0.baidu.com/9fo3dSag_xI4khGko9WTAnF6hhy/zhidao/wh%3D600%2C800/sign=781c96ca67d0f703e6e79dda38ca7d05/d833c895d143ad4b231c861d87025aafa40f063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3276600"/>
            <a:ext cx="3630295" cy="291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（3）</a:t>
            </a:r>
            <a:r>
              <a:rPr lang="zh-CN" altLang="en-US"/>
              <a:t>模块间的数据引用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思路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例子</a:t>
            </a:r>
            <a:endParaRPr lang="zh-CN" altLang="en-US"/>
          </a:p>
          <a:p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752600" y="5029200"/>
            <a:ext cx="9737090" cy="6553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lea    0x2ef8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%rip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),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%rax        # 将GOT条目的地址加载到rax，0x2ef8是编译时固定偏移</a:t>
            </a:r>
            <a:endParaRPr sz="1600" b="0">
              <a:solidFill>
                <a:srgbClr val="0F1115"/>
              </a:solidFill>
              <a:latin typeface="menlo" panose="020B0609030804020204"/>
              <a:ea typeface="menlo" panose="020B0609030804020204"/>
            </a:endParaRPr>
          </a:p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mov    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%rax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),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%rax         # 从GOT条目中取出变量的实际地址</a:t>
            </a:r>
            <a:endParaRPr sz="1600" b="0">
              <a:solidFill>
                <a:srgbClr val="0F1115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752600" y="1924050"/>
            <a:ext cx="8509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800" b="0" dirty="0" smtClean="0">
                <a:latin typeface="Calibri" pitchFamily="34" charset="0"/>
              </a:rPr>
              <a:t># 1. </a:t>
            </a:r>
            <a:r>
              <a:rPr lang="zh-CN" altLang="en-US" sz="1800" b="0" dirty="0" smtClean="0">
                <a:latin typeface="Calibri" pitchFamily="34" charset="0"/>
              </a:rPr>
              <a:t>通过</a:t>
            </a:r>
            <a:r>
              <a:rPr lang="en-US" altLang="en-US" sz="1800" b="0" dirty="0" smtClean="0">
                <a:latin typeface="Calibri" pitchFamily="34" charset="0"/>
              </a:rPr>
              <a:t>RIP</a:t>
            </a:r>
            <a:r>
              <a:rPr lang="zh-CN" altLang="en-US" sz="1800" b="0" dirty="0" smtClean="0">
                <a:latin typeface="Calibri" pitchFamily="34" charset="0"/>
              </a:rPr>
              <a:t>相对寻址，获取</a:t>
            </a:r>
            <a:r>
              <a:rPr lang="en-US" altLang="en-US" sz="1800" b="0" dirty="0" smtClean="0">
                <a:latin typeface="Calibri" pitchFamily="34" charset="0"/>
              </a:rPr>
              <a:t> my_var </a:t>
            </a:r>
            <a:r>
              <a:rPr lang="zh-CN" altLang="en-US" sz="1800" b="0" dirty="0" smtClean="0">
                <a:latin typeface="Calibri" pitchFamily="34" charset="0"/>
              </a:rPr>
              <a:t>在</a:t>
            </a:r>
            <a:r>
              <a:rPr lang="en-US" altLang="en-US" sz="1800" b="0" dirty="0" smtClean="0">
                <a:latin typeface="Calibri" pitchFamily="34" charset="0"/>
              </a:rPr>
              <a:t>GOT</a:t>
            </a:r>
            <a:r>
              <a:rPr lang="zh-CN" altLang="en-US" sz="1800" b="0" dirty="0" smtClean="0">
                <a:latin typeface="Calibri" pitchFamily="34" charset="0"/>
              </a:rPr>
              <a:t>中的条目地址</a:t>
            </a:r>
            <a:endParaRPr lang="zh-CN" altLang="en-US" sz="1800" b="0" dirty="0" smtClean="0">
              <a:latin typeface="Calibri" pitchFamily="34" charset="0"/>
            </a:endParaRPr>
          </a:p>
          <a:p>
            <a:r>
              <a:rPr lang="en-US" altLang="en-US" sz="1800" b="0" dirty="0" smtClean="0">
                <a:latin typeface="Calibri" pitchFamily="34" charset="0"/>
              </a:rPr>
              <a:t>   </a:t>
            </a:r>
            <a:r>
              <a:rPr lang="en-US" altLang="en-US" sz="1800" dirty="0" smtClean="0">
                <a:latin typeface="Calibri" pitchFamily="34" charset="0"/>
              </a:rPr>
              <a:t> lea my_var@GOTPCREL(%rip), %rax</a:t>
            </a:r>
            <a:r>
              <a:rPr lang="en-US" altLang="en-US" sz="1800" b="0" dirty="0" smtClean="0">
                <a:latin typeface="Calibri" pitchFamily="34" charset="0"/>
              </a:rPr>
              <a:t> </a:t>
            </a:r>
            <a:endParaRPr lang="en-US" altLang="en-US" sz="1800" b="0" dirty="0" smtClean="0">
              <a:latin typeface="Calibri" pitchFamily="34" charset="0"/>
            </a:endParaRPr>
          </a:p>
          <a:p>
            <a:r>
              <a:rPr lang="en-US" altLang="en-US" sz="1800" b="0" dirty="0" smtClean="0">
                <a:latin typeface="Calibri" pitchFamily="34" charset="0"/>
              </a:rPr>
              <a:t>    </a:t>
            </a:r>
            <a:endParaRPr lang="en-US" altLang="en-US" sz="1800" b="0" dirty="0" smtClean="0">
              <a:latin typeface="Calibri" pitchFamily="34" charset="0"/>
            </a:endParaRPr>
          </a:p>
          <a:p>
            <a:r>
              <a:rPr lang="en-US" altLang="en-US" sz="1800" b="0" dirty="0" smtClean="0">
                <a:latin typeface="Calibri" pitchFamily="34" charset="0"/>
              </a:rPr>
              <a:t># 2. </a:t>
            </a:r>
            <a:r>
              <a:rPr lang="zh-CN" altLang="en-US" sz="1800" b="0" dirty="0" smtClean="0">
                <a:latin typeface="Calibri" pitchFamily="34" charset="0"/>
              </a:rPr>
              <a:t>从</a:t>
            </a:r>
            <a:r>
              <a:rPr lang="en-US" altLang="en-US" sz="1800" b="0" dirty="0" smtClean="0">
                <a:latin typeface="Calibri" pitchFamily="34" charset="0"/>
              </a:rPr>
              <a:t>GOT</a:t>
            </a:r>
            <a:r>
              <a:rPr lang="zh-CN" altLang="en-US" sz="1800" b="0" dirty="0" smtClean="0">
                <a:latin typeface="Calibri" pitchFamily="34" charset="0"/>
              </a:rPr>
              <a:t>条目中加载</a:t>
            </a:r>
            <a:r>
              <a:rPr lang="en-US" altLang="en-US" sz="1800" b="0" dirty="0" smtClean="0">
                <a:latin typeface="Calibri" pitchFamily="34" charset="0"/>
              </a:rPr>
              <a:t> my_var </a:t>
            </a:r>
            <a:r>
              <a:rPr lang="zh-CN" altLang="en-US" sz="1800" b="0" dirty="0" smtClean="0">
                <a:latin typeface="Calibri" pitchFamily="34" charset="0"/>
              </a:rPr>
              <a:t>的实际内存地址</a:t>
            </a:r>
            <a:endParaRPr lang="zh-CN" altLang="en-US" sz="1800" b="0" dirty="0" smtClean="0">
              <a:latin typeface="Calibri" pitchFamily="34" charset="0"/>
            </a:endParaRPr>
          </a:p>
          <a:p>
            <a:r>
              <a:rPr lang="en-US" altLang="en-US" sz="1800" b="0" dirty="0" smtClean="0">
                <a:latin typeface="Calibri" pitchFamily="34" charset="0"/>
              </a:rPr>
              <a:t>    </a:t>
            </a:r>
            <a:r>
              <a:rPr lang="en-US" altLang="en-US" sz="1800" dirty="0" smtClean="0">
                <a:latin typeface="Calibri" pitchFamily="34" charset="0"/>
              </a:rPr>
              <a:t>mov (%rax), %rcx </a:t>
            </a:r>
            <a:r>
              <a:rPr lang="en-US" altLang="en-US" sz="1800" b="0" dirty="0" smtClean="0">
                <a:latin typeface="Calibri" pitchFamily="34" charset="0"/>
              </a:rPr>
              <a:t>       </a:t>
            </a:r>
            <a:endParaRPr lang="en-US" altLang="en-US" sz="1800" b="0" dirty="0" smtClean="0">
              <a:latin typeface="Calibri" pitchFamily="34" charset="0"/>
            </a:endParaRPr>
          </a:p>
          <a:p>
            <a:r>
              <a:rPr lang="en-US" altLang="en-US" sz="1800" b="0" dirty="0" smtClean="0">
                <a:latin typeface="Calibri" pitchFamily="34" charset="0"/>
              </a:rPr>
              <a:t>    </a:t>
            </a:r>
            <a:endParaRPr lang="en-US" altLang="en-US" sz="1800" b="0" dirty="0" smtClean="0">
              <a:latin typeface="Calibri" pitchFamily="34" charset="0"/>
            </a:endParaRPr>
          </a:p>
          <a:p>
            <a:r>
              <a:rPr lang="en-US" altLang="en-US" sz="1800" b="0" dirty="0" smtClean="0">
                <a:latin typeface="Calibri" pitchFamily="34" charset="0"/>
              </a:rPr>
              <a:t># 3. </a:t>
            </a:r>
            <a:r>
              <a:rPr lang="zh-CN" altLang="en-US" sz="1800" b="0" dirty="0" smtClean="0">
                <a:latin typeface="Calibri" pitchFamily="34" charset="0"/>
              </a:rPr>
              <a:t>解引用，读取</a:t>
            </a:r>
            <a:r>
              <a:rPr lang="en-US" altLang="en-US" sz="1800" b="0" dirty="0" smtClean="0">
                <a:latin typeface="Calibri" pitchFamily="34" charset="0"/>
              </a:rPr>
              <a:t> my_var </a:t>
            </a:r>
            <a:r>
              <a:rPr lang="zh-CN" altLang="en-US" sz="1800" b="0" dirty="0" smtClean="0">
                <a:latin typeface="Calibri" pitchFamily="34" charset="0"/>
              </a:rPr>
              <a:t>的值到</a:t>
            </a:r>
            <a:r>
              <a:rPr lang="en-US" altLang="en-US" sz="1800" b="0" dirty="0" smtClean="0">
                <a:latin typeface="Calibri" pitchFamily="34" charset="0"/>
              </a:rPr>
              <a:t> rdx</a:t>
            </a:r>
            <a:endParaRPr lang="en-US" altLang="en-US" sz="1800" b="0" dirty="0" smtClean="0">
              <a:latin typeface="Calibri" pitchFamily="34" charset="0"/>
            </a:endParaRPr>
          </a:p>
          <a:p>
            <a:r>
              <a:rPr lang="en-US" altLang="en-US" sz="1800" b="0" dirty="0" smtClean="0">
                <a:latin typeface="Calibri" pitchFamily="34" charset="0"/>
              </a:rPr>
              <a:t> </a:t>
            </a:r>
            <a:r>
              <a:rPr lang="en-US" altLang="en-US" sz="1800" dirty="0" smtClean="0">
                <a:latin typeface="Calibri" pitchFamily="34" charset="0"/>
              </a:rPr>
              <a:t>   mov (%rcx), %rdx</a:t>
            </a:r>
            <a:r>
              <a:rPr lang="en-US" altLang="en-US" sz="1800" dirty="0" smtClean="0">
                <a:latin typeface="Calibri" pitchFamily="34" charset="0"/>
              </a:rPr>
              <a:t>        </a:t>
            </a:r>
            <a:endParaRPr lang="en-US" sz="1800" dirty="0" smtClean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dirty="0"/>
              <a:t>(3) </a:t>
            </a:r>
            <a:r>
              <a:rPr lang="zh-CN" altLang="en-US" sz="3600" dirty="0"/>
              <a:t>模块间</a:t>
            </a:r>
            <a:r>
              <a:rPr lang="zh-CN" altLang="en-US" sz="3600" dirty="0"/>
              <a:t>的数据引用</a:t>
            </a:r>
            <a:endParaRPr lang="zh-CN" altLang="en-US" sz="3600" dirty="0"/>
          </a:p>
        </p:txBody>
      </p:sp>
      <p:sp>
        <p:nvSpPr>
          <p:cNvPr id="3" name="内容占位符 2"/>
          <p:cNvSpPr/>
          <p:nvPr/>
        </p:nvSpPr>
        <p:spPr bwMode="auto">
          <a:xfrm>
            <a:off x="475615" y="1085850"/>
            <a:ext cx="786828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引用其他模块的全局变量，无法确定相对距离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在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.data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节开始处设置一个指针数组（全局偏移表，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），指针可指向一个全局变量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；GOT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与引用数据的指令之间相对距离固定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（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比如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1180）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8424863" y="542243"/>
            <a:ext cx="2249488" cy="220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static   int a;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extern int b;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extern  void ext();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9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void bar() 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{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     a=1;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     </a:t>
            </a: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b=2;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}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……</a:t>
            </a:r>
            <a:endParaRPr lang="en-US" altLang="zh-CN" sz="900">
              <a:latin typeface="Microsoft YaHei" charset="-122"/>
              <a:ea typeface="Microsoft YaHei" charset="-122"/>
            </a:endParaRP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6946900" y="5738813"/>
            <a:ext cx="2932113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en-US" sz="1600" b="0"/>
          </a:p>
        </p:txBody>
      </p:sp>
      <p:sp>
        <p:nvSpPr>
          <p:cNvPr id="822278" name="Text Box 6"/>
          <p:cNvSpPr txBox="1">
            <a:spLocks noChangeArrowheads="1"/>
          </p:cNvSpPr>
          <p:nvPr/>
        </p:nvSpPr>
        <p:spPr bwMode="auto">
          <a:xfrm>
            <a:off x="1175385" y="2430780"/>
            <a:ext cx="6482080" cy="20612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0000344 &lt;bar&gt;: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  0000344:    55	                         pushl  %ebp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  ……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  </a:t>
            </a: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0000357:    e8 00 00 00 00         call &lt;__</a:t>
            </a: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get_pc&gt; </a:t>
            </a:r>
            <a:r>
              <a:rPr lang="en-US" altLang="zh-CN" sz="1600">
                <a:latin typeface="Microsoft YaHei" charset="-122"/>
                <a:ea typeface="Microsoft YaHei" charset="-122"/>
              </a:rPr>
              <a:t>      </a:t>
            </a:r>
            <a:endParaRPr lang="zh-CN" altLang="en-US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000035c:   		           addl  $1180, %ecx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……      </a:t>
            </a:r>
            <a:r>
              <a:rPr lang="zh-CN" altLang="en-US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		           </a:t>
            </a: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movl  (%ecx), %eax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……                                            movl  $2, (%eax) 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/>
              <a:t> </a:t>
            </a:r>
            <a:r>
              <a:rPr lang="en-US" altLang="zh-CN" sz="1600">
                <a:latin typeface="Microsoft YaHei" charset="-122"/>
                <a:ea typeface="Microsoft YaHei" charset="-122"/>
              </a:rPr>
              <a:t> ……                     </a:t>
            </a:r>
            <a:endParaRPr lang="en-US" altLang="zh-CN" sz="1600">
              <a:latin typeface="Microsoft YaHei" charset="-122"/>
              <a:ea typeface="Microsoft YaHei" charset="-122"/>
            </a:endParaRPr>
          </a:p>
        </p:txBody>
      </p:sp>
      <p:sp>
        <p:nvSpPr>
          <p:cNvPr id="822279" name="Line 7"/>
          <p:cNvSpPr>
            <a:spLocks noChangeShapeType="1"/>
          </p:cNvSpPr>
          <p:nvPr/>
        </p:nvSpPr>
        <p:spPr bwMode="auto">
          <a:xfrm flipV="1">
            <a:off x="6410325" y="2129353"/>
            <a:ext cx="2348614" cy="119821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2280" name="Line 8"/>
          <p:cNvSpPr>
            <a:spLocks noChangeShapeType="1"/>
          </p:cNvSpPr>
          <p:nvPr/>
        </p:nvSpPr>
        <p:spPr bwMode="auto">
          <a:xfrm>
            <a:off x="7296155" y="3817067"/>
            <a:ext cx="1437761" cy="7823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2281" name="Line 9"/>
          <p:cNvSpPr>
            <a:spLocks noChangeShapeType="1"/>
          </p:cNvSpPr>
          <p:nvPr/>
        </p:nvSpPr>
        <p:spPr bwMode="auto">
          <a:xfrm>
            <a:off x="6805613" y="4334804"/>
            <a:ext cx="1971675" cy="1402421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2282" name="Text Box 10"/>
          <p:cNvSpPr txBox="1">
            <a:spLocks noChangeArrowheads="1"/>
          </p:cNvSpPr>
          <p:nvPr/>
        </p:nvSpPr>
        <p:spPr bwMode="auto">
          <a:xfrm>
            <a:off x="948055" y="5784850"/>
            <a:ext cx="779589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Microsoft YaHei" charset="-122"/>
                <a:ea typeface="Microsoft YaHei" charset="-122"/>
              </a:rPr>
              <a:t>PIC</a:t>
            </a:r>
            <a:r>
              <a:rPr lang="zh-CN" altLang="en-US" sz="1800">
                <a:latin typeface="Microsoft YaHei" charset="-122"/>
                <a:ea typeface="Microsoft YaHei" charset="-122"/>
              </a:rPr>
              <a:t>访问性能会下降：</a:t>
            </a:r>
            <a:r>
              <a:rPr lang="zh-CN" altLang="en-US" sz="180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多了</a:t>
            </a:r>
            <a:r>
              <a:rPr lang="en-US" altLang="zh-CN" sz="180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GOT</a:t>
            </a:r>
            <a:r>
              <a:rPr lang="zh-CN" altLang="en-US" sz="180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（</a:t>
            </a:r>
            <a:r>
              <a:rPr lang="en-US" altLang="zh-CN" sz="180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Global Offset Table</a:t>
            </a:r>
            <a:r>
              <a:rPr lang="zh-CN" altLang="en-US" sz="180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）内存</a:t>
            </a:r>
            <a:r>
              <a:rPr lang="zh-CN" altLang="en-US" sz="180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访问</a:t>
            </a:r>
            <a:endParaRPr lang="en-US" altLang="zh-CN" sz="1800">
              <a:solidFill>
                <a:srgbClr val="0A6A0A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2" name="内容占位符 2"/>
          <p:cNvSpPr/>
          <p:nvPr/>
        </p:nvSpPr>
        <p:spPr bwMode="auto">
          <a:xfrm>
            <a:off x="741045" y="4670425"/>
            <a:ext cx="7183120" cy="119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编译器为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每一项生成一个</a:t>
            </a: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重定位项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（如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</a:t>
            </a: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rel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节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…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）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加载时，动态链接器对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中各项进行重定位，填入所引用的地址</a:t>
            </a: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（如</a:t>
            </a:r>
            <a:r>
              <a:rPr lang="en-US" altLang="zh-CN" sz="18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&amp;b</a:t>
            </a: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）</a:t>
            </a:r>
            <a:endParaRPr lang="zh-CN" altLang="en-US" sz="2000" dirty="0">
              <a:solidFill>
                <a:srgbClr val="FF00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</p:txBody>
      </p:sp>
      <p:grpSp>
        <p:nvGrpSpPr>
          <p:cNvPr id="822284" name="Group 12"/>
          <p:cNvGrpSpPr/>
          <p:nvPr/>
        </p:nvGrpSpPr>
        <p:grpSpPr bwMode="auto">
          <a:xfrm>
            <a:off x="8328820" y="2863850"/>
            <a:ext cx="2179687" cy="3624879"/>
            <a:chOff x="4252" y="1789"/>
            <a:chExt cx="1481" cy="2450"/>
          </a:xfrm>
        </p:grpSpPr>
        <p:grpSp>
          <p:nvGrpSpPr>
            <p:cNvPr id="129037" name="Group 13"/>
            <p:cNvGrpSpPr/>
            <p:nvPr/>
          </p:nvGrpSpPr>
          <p:grpSpPr bwMode="auto">
            <a:xfrm>
              <a:off x="4252" y="1789"/>
              <a:ext cx="1381" cy="2176"/>
              <a:chOff x="4252" y="1807"/>
              <a:chExt cx="1381" cy="2176"/>
            </a:xfrm>
          </p:grpSpPr>
          <p:sp>
            <p:nvSpPr>
              <p:cNvPr id="129039" name="Line 14"/>
              <p:cNvSpPr>
                <a:spLocks noChangeShapeType="1"/>
              </p:cNvSpPr>
              <p:nvPr/>
            </p:nvSpPr>
            <p:spPr bwMode="auto">
              <a:xfrm>
                <a:off x="4453" y="1950"/>
                <a:ext cx="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29040" name="Line 15"/>
              <p:cNvSpPr>
                <a:spLocks noChangeShapeType="1"/>
              </p:cNvSpPr>
              <p:nvPr/>
            </p:nvSpPr>
            <p:spPr bwMode="auto">
              <a:xfrm>
                <a:off x="4437" y="2498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29041" name="Line 16"/>
              <p:cNvSpPr>
                <a:spLocks noChangeShapeType="1"/>
              </p:cNvSpPr>
              <p:nvPr/>
            </p:nvSpPr>
            <p:spPr bwMode="auto">
              <a:xfrm flipV="1">
                <a:off x="4599" y="1958"/>
                <a:ext cx="1" cy="1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29042" name="Line 17"/>
              <p:cNvSpPr>
                <a:spLocks noChangeShapeType="1"/>
              </p:cNvSpPr>
              <p:nvPr/>
            </p:nvSpPr>
            <p:spPr bwMode="auto">
              <a:xfrm>
                <a:off x="4590" y="2258"/>
                <a:ext cx="0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29043" name="Text Box 18"/>
              <p:cNvSpPr txBox="1">
                <a:spLocks noChangeArrowheads="1"/>
              </p:cNvSpPr>
              <p:nvPr/>
            </p:nvSpPr>
            <p:spPr bwMode="auto">
              <a:xfrm>
                <a:off x="4252" y="2095"/>
                <a:ext cx="695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3333CC"/>
                    </a:solidFill>
                    <a:latin typeface="Microsoft YaHei" charset="-122"/>
                    <a:ea typeface="Microsoft YaHei" charset="-122"/>
                  </a:rPr>
                  <a:t>0x1180</a:t>
                </a:r>
                <a:endParaRPr lang="en-US" altLang="zh-CN" sz="1600">
                  <a:solidFill>
                    <a:srgbClr val="3333CC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grpSp>
            <p:nvGrpSpPr>
              <p:cNvPr id="129044" name="Group 19"/>
              <p:cNvGrpSpPr/>
              <p:nvPr/>
            </p:nvGrpSpPr>
            <p:grpSpPr bwMode="auto">
              <a:xfrm>
                <a:off x="4846" y="1807"/>
                <a:ext cx="787" cy="1155"/>
                <a:chOff x="4846" y="1807"/>
                <a:chExt cx="787" cy="1155"/>
              </a:xfrm>
            </p:grpSpPr>
            <p:sp>
              <p:nvSpPr>
                <p:cNvPr id="129053" name="Rectangle 20"/>
                <p:cNvSpPr>
                  <a:spLocks noChangeArrowheads="1"/>
                </p:cNvSpPr>
                <p:nvPr/>
              </p:nvSpPr>
              <p:spPr bwMode="auto">
                <a:xfrm>
                  <a:off x="4873" y="1807"/>
                  <a:ext cx="759" cy="595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1600" b="0"/>
                </a:p>
              </p:txBody>
            </p:sp>
            <p:sp>
              <p:nvSpPr>
                <p:cNvPr id="12905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067" y="1836"/>
                  <a:ext cx="523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>
                      <a:latin typeface="Microsoft YaHei" charset="-122"/>
                      <a:ea typeface="Microsoft YaHei" charset="-122"/>
                    </a:rPr>
                    <a:t>.text</a:t>
                  </a:r>
                  <a:endParaRPr lang="en-US" altLang="zh-CN" sz="1800">
                    <a:latin typeface="Microsoft YaHei" charset="-122"/>
                    <a:ea typeface="Microsoft YaHei" charset="-122"/>
                  </a:endParaRPr>
                </a:p>
              </p:txBody>
            </p:sp>
            <p:sp>
              <p:nvSpPr>
                <p:cNvPr id="129055" name="Rectangle 22"/>
                <p:cNvSpPr>
                  <a:spLocks noChangeArrowheads="1"/>
                </p:cNvSpPr>
                <p:nvPr/>
              </p:nvSpPr>
              <p:spPr bwMode="auto">
                <a:xfrm>
                  <a:off x="4873" y="2398"/>
                  <a:ext cx="760" cy="56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1600" b="0"/>
                </a:p>
              </p:txBody>
            </p:sp>
            <p:sp>
              <p:nvSpPr>
                <p:cNvPr id="12905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5097" y="2363"/>
                  <a:ext cx="523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>
                      <a:latin typeface="Microsoft YaHei" charset="-122"/>
                      <a:ea typeface="Microsoft YaHei" charset="-122"/>
                    </a:rPr>
                    <a:t>GOT</a:t>
                  </a:r>
                  <a:endParaRPr lang="en-US" altLang="zh-CN" sz="1800">
                    <a:latin typeface="Microsoft YaHei" charset="-122"/>
                    <a:ea typeface="Microsoft YaHei" charset="-122"/>
                  </a:endParaRPr>
                </a:p>
              </p:txBody>
            </p:sp>
            <p:sp>
              <p:nvSpPr>
                <p:cNvPr id="12905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4846" y="2389"/>
                  <a:ext cx="460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Microsoft YaHei" charset="-122"/>
                      <a:ea typeface="Microsoft YaHei" charset="-122"/>
                    </a:rPr>
                    <a:t>&amp;b</a:t>
                  </a:r>
                  <a:endParaRPr lang="en-US" altLang="zh-CN" sz="1800">
                    <a:solidFill>
                      <a:srgbClr val="FF0000"/>
                    </a:solidFill>
                    <a:latin typeface="Microsoft YaHei" charset="-122"/>
                    <a:ea typeface="Microsoft YaHei" charset="-122"/>
                  </a:endParaRPr>
                </a:p>
              </p:txBody>
            </p:sp>
            <p:sp>
              <p:nvSpPr>
                <p:cNvPr id="12905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5046" y="2659"/>
                  <a:ext cx="523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704020202020204" pitchFamily="34" charset="0"/>
                      <a:ea typeface="SimSun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>
                      <a:latin typeface="Microsoft YaHei" charset="-122"/>
                      <a:ea typeface="Microsoft YaHei" charset="-122"/>
                    </a:rPr>
                    <a:t>.data</a:t>
                  </a:r>
                  <a:endParaRPr lang="en-US" altLang="zh-CN" sz="1800">
                    <a:latin typeface="Microsoft YaHei" charset="-122"/>
                    <a:ea typeface="Microsoft YaHei" charset="-122"/>
                  </a:endParaRPr>
                </a:p>
              </p:txBody>
            </p:sp>
          </p:grpSp>
          <p:sp>
            <p:nvSpPr>
              <p:cNvPr id="129045" name="Rectangle 26"/>
              <p:cNvSpPr>
                <a:spLocks noChangeArrowheads="1"/>
              </p:cNvSpPr>
              <p:nvPr/>
            </p:nvSpPr>
            <p:spPr bwMode="auto">
              <a:xfrm>
                <a:off x="4858" y="3140"/>
                <a:ext cx="759" cy="4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600" b="0"/>
              </a:p>
            </p:txBody>
          </p:sp>
          <p:sp>
            <p:nvSpPr>
              <p:cNvPr id="129046" name="Text Box 27"/>
              <p:cNvSpPr txBox="1">
                <a:spLocks noChangeArrowheads="1"/>
              </p:cNvSpPr>
              <p:nvPr/>
            </p:nvSpPr>
            <p:spPr bwMode="auto">
              <a:xfrm>
                <a:off x="5052" y="3247"/>
                <a:ext cx="523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latin typeface="Microsoft YaHei" charset="-122"/>
                    <a:ea typeface="Microsoft YaHei" charset="-122"/>
                  </a:rPr>
                  <a:t>.text</a:t>
                </a:r>
                <a:endParaRPr lang="en-US" altLang="zh-CN" sz="1800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29047" name="Rectangle 28"/>
              <p:cNvSpPr>
                <a:spLocks noChangeArrowheads="1"/>
              </p:cNvSpPr>
              <p:nvPr/>
            </p:nvSpPr>
            <p:spPr bwMode="auto">
              <a:xfrm>
                <a:off x="4858" y="3550"/>
                <a:ext cx="760" cy="4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600" b="0"/>
              </a:p>
            </p:txBody>
          </p:sp>
          <p:sp>
            <p:nvSpPr>
              <p:cNvPr id="129048" name="Text Box 29"/>
              <p:cNvSpPr txBox="1">
                <a:spLocks noChangeArrowheads="1"/>
              </p:cNvSpPr>
              <p:nvPr/>
            </p:nvSpPr>
            <p:spPr bwMode="auto">
              <a:xfrm>
                <a:off x="4886" y="3680"/>
                <a:ext cx="460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Microsoft YaHei" charset="-122"/>
                    <a:ea typeface="Microsoft YaHei" charset="-122"/>
                  </a:rPr>
                  <a:t>b</a:t>
                </a:r>
                <a:endParaRPr lang="en-US" altLang="zh-CN" sz="1800">
                  <a:solidFill>
                    <a:srgbClr val="FF00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29049" name="Text Box 30"/>
              <p:cNvSpPr txBox="1">
                <a:spLocks noChangeArrowheads="1"/>
              </p:cNvSpPr>
              <p:nvPr/>
            </p:nvSpPr>
            <p:spPr bwMode="auto">
              <a:xfrm>
                <a:off x="5058" y="3610"/>
                <a:ext cx="523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latin typeface="Microsoft YaHei" charset="-122"/>
                    <a:ea typeface="Microsoft YaHei" charset="-122"/>
                  </a:rPr>
                  <a:t>.data</a:t>
                </a:r>
                <a:endParaRPr lang="en-US" altLang="zh-CN" sz="1800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29050" name="Line 31"/>
              <p:cNvSpPr>
                <a:spLocks noChangeShapeType="1"/>
              </p:cNvSpPr>
              <p:nvPr/>
            </p:nvSpPr>
            <p:spPr bwMode="auto">
              <a:xfrm flipH="1">
                <a:off x="4581" y="2505"/>
                <a:ext cx="3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29051" name="Line 32"/>
              <p:cNvSpPr>
                <a:spLocks noChangeShapeType="1"/>
              </p:cNvSpPr>
              <p:nvPr/>
            </p:nvSpPr>
            <p:spPr bwMode="auto">
              <a:xfrm>
                <a:off x="4581" y="2514"/>
                <a:ext cx="0" cy="131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29052" name="Line 33"/>
              <p:cNvSpPr>
                <a:spLocks noChangeShapeType="1"/>
              </p:cNvSpPr>
              <p:nvPr/>
            </p:nvSpPr>
            <p:spPr bwMode="auto">
              <a:xfrm>
                <a:off x="4581" y="3813"/>
                <a:ext cx="27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sp>
          <p:nvSpPr>
            <p:cNvPr id="129038" name="Rectangle 34"/>
            <p:cNvSpPr>
              <a:spLocks noChangeArrowheads="1"/>
            </p:cNvSpPr>
            <p:nvPr/>
          </p:nvSpPr>
          <p:spPr bwMode="auto">
            <a:xfrm>
              <a:off x="4830" y="3990"/>
              <a:ext cx="903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3333CC"/>
                  </a:solidFill>
                  <a:ea typeface="Microsoft YaHei" charset="-122"/>
                </a:rPr>
                <a:t>共享库模块</a:t>
              </a:r>
              <a:endParaRPr lang="zh-CN" altLang="en-US" sz="1800">
                <a:solidFill>
                  <a:srgbClr val="3333CC"/>
                </a:solidFill>
                <a:ea typeface="Microsoft YaHei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2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2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8" grpId="0" bldLvl="0" animBg="1"/>
      <p:bldP spid="822282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4000" dirty="0"/>
              <a:t>(4) </a:t>
            </a:r>
            <a:r>
              <a:rPr lang="zh-CN" altLang="en-US" sz="4000" dirty="0"/>
              <a:t>模块间的代码</a:t>
            </a:r>
            <a:r>
              <a:rPr lang="zh-CN" altLang="en-US" sz="4000" dirty="0"/>
              <a:t>引用</a:t>
            </a:r>
            <a:endParaRPr lang="zh-CN" altLang="en-US" sz="4000" dirty="0"/>
          </a:p>
        </p:txBody>
      </p:sp>
      <p:sp>
        <p:nvSpPr>
          <p:cNvPr id="3" name="内容占位符 2"/>
          <p:cNvSpPr/>
          <p:nvPr/>
        </p:nvSpPr>
        <p:spPr bwMode="auto">
          <a:xfrm>
            <a:off x="476250" y="1275715"/>
            <a:ext cx="7253605" cy="1153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方法一：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类似于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(3)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，在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中加一个项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(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指针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)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，用于指向目标函数的首地址（如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&amp;</a:t>
            </a: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ext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）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动态加载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时，填入目标函数的首地址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8311356" y="430667"/>
            <a:ext cx="2249488" cy="220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static   int a;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extern int b;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extern  void ext();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9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void foo() 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{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     bar();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     </a:t>
            </a: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ext();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}</a:t>
            </a:r>
            <a:endParaRPr lang="en-US" altLang="zh-CN" sz="160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Microsoft YaHei" charset="-122"/>
                <a:ea typeface="Microsoft YaHei" charset="-122"/>
              </a:rPr>
              <a:t>……</a:t>
            </a:r>
            <a:endParaRPr lang="en-US" altLang="zh-CN" sz="900">
              <a:latin typeface="Microsoft YaHei" charset="-122"/>
              <a:ea typeface="Microsoft YaHei" charset="-122"/>
            </a:endParaRPr>
          </a:p>
        </p:txBody>
      </p:sp>
      <p:sp>
        <p:nvSpPr>
          <p:cNvPr id="823301" name="Text Box 5"/>
          <p:cNvSpPr txBox="1">
            <a:spLocks noChangeArrowheads="1"/>
          </p:cNvSpPr>
          <p:nvPr/>
        </p:nvSpPr>
        <p:spPr bwMode="auto">
          <a:xfrm>
            <a:off x="1828800" y="2351109"/>
            <a:ext cx="6199188" cy="20707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0000050c &lt;foo&gt;: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0000050c:    55	             		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pushl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  %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ebp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……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00000557:    e8 00 00 00 00     	</a:t>
            </a:r>
            <a:r>
              <a:rPr lang="en-US" altLang="zh-CN" sz="1600">
                <a:solidFill>
                  <a:srgbClr val="FF0000"/>
                </a:solidFill>
                <a:latin typeface="Microsoft YaHei" charset="-122"/>
                <a:ea typeface="Microsoft YaHei" charset="-122"/>
                <a:sym typeface="+mn-ea"/>
              </a:rPr>
              <a:t>call &lt;__get_pc&gt;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      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0000055c:   			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addl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$1204, %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cx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  ……      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			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call   *(%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cx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)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 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 ……       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</p:txBody>
      </p:sp>
      <p:sp>
        <p:nvSpPr>
          <p:cNvPr id="823302" name="Line 6"/>
          <p:cNvSpPr>
            <a:spLocks noChangeShapeType="1"/>
          </p:cNvSpPr>
          <p:nvPr/>
        </p:nvSpPr>
        <p:spPr bwMode="auto">
          <a:xfrm flipV="1">
            <a:off x="6677025" y="2085117"/>
            <a:ext cx="1932781" cy="126390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3303" name="Line 7"/>
          <p:cNvSpPr>
            <a:spLocks noChangeShapeType="1"/>
          </p:cNvSpPr>
          <p:nvPr/>
        </p:nvSpPr>
        <p:spPr bwMode="auto">
          <a:xfrm>
            <a:off x="6701790" y="3957320"/>
            <a:ext cx="1932940" cy="17208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3304" name="Line 8"/>
          <p:cNvSpPr>
            <a:spLocks noChangeShapeType="1"/>
          </p:cNvSpPr>
          <p:nvPr/>
        </p:nvSpPr>
        <p:spPr bwMode="auto">
          <a:xfrm>
            <a:off x="7050088" y="4325938"/>
            <a:ext cx="1584616" cy="546129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3305" name="Text Box 9"/>
          <p:cNvSpPr txBox="1">
            <a:spLocks noChangeArrowheads="1"/>
          </p:cNvSpPr>
          <p:nvPr/>
        </p:nvSpPr>
        <p:spPr bwMode="auto">
          <a:xfrm>
            <a:off x="755015" y="5473700"/>
            <a:ext cx="767270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zh-CN" sz="1800" dirty="0">
              <a:solidFill>
                <a:srgbClr val="CC33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</p:txBody>
      </p:sp>
      <p:sp>
        <p:nvSpPr>
          <p:cNvPr id="823306" name="Rectangle 10"/>
          <p:cNvSpPr>
            <a:spLocks noChangeArrowheads="1"/>
          </p:cNvSpPr>
          <p:nvPr/>
        </p:nvSpPr>
        <p:spPr bwMode="auto">
          <a:xfrm>
            <a:off x="761844" y="5029265"/>
            <a:ext cx="5834062" cy="43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多用三条指令并额外多用一个寄存器（如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EBX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）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</p:txBody>
      </p:sp>
      <p:sp>
        <p:nvSpPr>
          <p:cNvPr id="823307" name="Text Box 11"/>
          <p:cNvSpPr txBox="1">
            <a:spLocks noChangeArrowheads="1"/>
          </p:cNvSpPr>
          <p:nvPr/>
        </p:nvSpPr>
        <p:spPr bwMode="auto">
          <a:xfrm>
            <a:off x="2638425" y="4717664"/>
            <a:ext cx="50069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*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(%</a:t>
            </a:r>
            <a:r>
              <a:rPr lang="en-US" altLang="zh-CN" sz="1800" dirty="0" err="1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ebx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)</a:t>
            </a:r>
            <a:r>
              <a:rPr lang="zh-CN" altLang="en-US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为间接地址：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R[</a:t>
            </a:r>
            <a:r>
              <a:rPr lang="en-US" altLang="zh-CN" sz="1800" dirty="0" err="1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eip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</a:rPr>
              <a:t>]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  <a:cs typeface="Times New Roman" panose="02020603050405020304" pitchFamily="18" charset="0"/>
              </a:rPr>
              <a:t>←M[R[</a:t>
            </a:r>
            <a:r>
              <a:rPr lang="en-US" altLang="zh-CN" sz="1800" dirty="0" err="1">
                <a:solidFill>
                  <a:srgbClr val="0A6A0A"/>
                </a:solidFill>
                <a:latin typeface="Microsoft YaHei" charset="-122"/>
                <a:ea typeface="Microsoft YaHei" charset="-122"/>
                <a:cs typeface="Times New Roman" panose="02020603050405020304" pitchFamily="18" charset="0"/>
              </a:rPr>
              <a:t>ebx</a:t>
            </a:r>
            <a:r>
              <a:rPr lang="en-US" altLang="zh-CN" sz="1800" dirty="0">
                <a:solidFill>
                  <a:srgbClr val="0A6A0A"/>
                </a:solidFill>
                <a:latin typeface="Microsoft YaHei" charset="-122"/>
                <a:ea typeface="Microsoft YaHei" charset="-122"/>
                <a:cs typeface="Times New Roman" panose="02020603050405020304" pitchFamily="18" charset="0"/>
              </a:rPr>
              <a:t>]]</a:t>
            </a:r>
            <a:endParaRPr lang="en-US" altLang="zh-CN" sz="1800" dirty="0">
              <a:solidFill>
                <a:srgbClr val="0A6A0A"/>
              </a:solidFill>
              <a:latin typeface="Microsoft YaHei" charset="-122"/>
              <a:ea typeface="Microsoft YaHei" charset="-122"/>
              <a:cs typeface="Times New Roman" panose="02020603050405020304" pitchFamily="18" charset="0"/>
            </a:endParaRPr>
          </a:p>
        </p:txBody>
      </p:sp>
      <p:grpSp>
        <p:nvGrpSpPr>
          <p:cNvPr id="823308" name="Group 12"/>
          <p:cNvGrpSpPr/>
          <p:nvPr/>
        </p:nvGrpSpPr>
        <p:grpSpPr bwMode="auto">
          <a:xfrm>
            <a:off x="8247062" y="2700141"/>
            <a:ext cx="2116634" cy="3631646"/>
            <a:chOff x="4253" y="1807"/>
            <a:chExt cx="1433" cy="2429"/>
          </a:xfrm>
        </p:grpSpPr>
        <p:grpSp>
          <p:nvGrpSpPr>
            <p:cNvPr id="130061" name="Group 13"/>
            <p:cNvGrpSpPr/>
            <p:nvPr/>
          </p:nvGrpSpPr>
          <p:grpSpPr bwMode="auto">
            <a:xfrm>
              <a:off x="4253" y="1807"/>
              <a:ext cx="1380" cy="2176"/>
              <a:chOff x="4253" y="1807"/>
              <a:chExt cx="1380" cy="2176"/>
            </a:xfrm>
          </p:grpSpPr>
          <p:sp>
            <p:nvSpPr>
              <p:cNvPr id="130063" name="Line 14"/>
              <p:cNvSpPr>
                <a:spLocks noChangeShapeType="1"/>
              </p:cNvSpPr>
              <p:nvPr/>
            </p:nvSpPr>
            <p:spPr bwMode="auto">
              <a:xfrm>
                <a:off x="4453" y="1950"/>
                <a:ext cx="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30064" name="Line 15"/>
              <p:cNvSpPr>
                <a:spLocks noChangeShapeType="1"/>
              </p:cNvSpPr>
              <p:nvPr/>
            </p:nvSpPr>
            <p:spPr bwMode="auto">
              <a:xfrm>
                <a:off x="4383" y="2772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30065" name="Line 16"/>
              <p:cNvSpPr>
                <a:spLocks noChangeShapeType="1"/>
              </p:cNvSpPr>
              <p:nvPr/>
            </p:nvSpPr>
            <p:spPr bwMode="auto">
              <a:xfrm flipV="1">
                <a:off x="4571" y="1958"/>
                <a:ext cx="1" cy="2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30066" name="Line 17"/>
              <p:cNvSpPr>
                <a:spLocks noChangeShapeType="1"/>
              </p:cNvSpPr>
              <p:nvPr/>
            </p:nvSpPr>
            <p:spPr bwMode="auto">
              <a:xfrm>
                <a:off x="4572" y="2486"/>
                <a:ext cx="0" cy="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30067" name="Text Box 18"/>
              <p:cNvSpPr txBox="1">
                <a:spLocks noChangeArrowheads="1"/>
              </p:cNvSpPr>
              <p:nvPr/>
            </p:nvSpPr>
            <p:spPr bwMode="auto">
              <a:xfrm>
                <a:off x="4253" y="2250"/>
                <a:ext cx="695" cy="2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3333CC"/>
                    </a:solidFill>
                    <a:latin typeface="Microsoft YaHei" charset="-122"/>
                    <a:ea typeface="Microsoft YaHei" charset="-122"/>
                  </a:rPr>
                  <a:t>0x1204</a:t>
                </a:r>
                <a:endParaRPr lang="en-US" altLang="zh-CN" sz="1600">
                  <a:solidFill>
                    <a:srgbClr val="3333CC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68" name="Rectangle 19"/>
              <p:cNvSpPr>
                <a:spLocks noChangeArrowheads="1"/>
              </p:cNvSpPr>
              <p:nvPr/>
            </p:nvSpPr>
            <p:spPr bwMode="auto">
              <a:xfrm>
                <a:off x="4873" y="1807"/>
                <a:ext cx="759" cy="6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600" b="0"/>
              </a:p>
            </p:txBody>
          </p:sp>
          <p:sp>
            <p:nvSpPr>
              <p:cNvPr id="130069" name="Text Box 20"/>
              <p:cNvSpPr txBox="1">
                <a:spLocks noChangeArrowheads="1"/>
              </p:cNvSpPr>
              <p:nvPr/>
            </p:nvSpPr>
            <p:spPr bwMode="auto">
              <a:xfrm>
                <a:off x="5067" y="1837"/>
                <a:ext cx="523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latin typeface="Microsoft YaHei" charset="-122"/>
                    <a:ea typeface="Microsoft YaHei" charset="-122"/>
                  </a:rPr>
                  <a:t>.text</a:t>
                </a:r>
                <a:endParaRPr lang="en-US" altLang="zh-CN" sz="1800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70" name="Rectangle 21"/>
              <p:cNvSpPr>
                <a:spLocks noChangeArrowheads="1"/>
              </p:cNvSpPr>
              <p:nvPr/>
            </p:nvSpPr>
            <p:spPr bwMode="auto">
              <a:xfrm>
                <a:off x="4873" y="2421"/>
                <a:ext cx="760" cy="5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600" b="0"/>
              </a:p>
            </p:txBody>
          </p:sp>
          <p:sp>
            <p:nvSpPr>
              <p:cNvPr id="130071" name="Text Box 22"/>
              <p:cNvSpPr txBox="1">
                <a:spLocks noChangeArrowheads="1"/>
              </p:cNvSpPr>
              <p:nvPr/>
            </p:nvSpPr>
            <p:spPr bwMode="auto">
              <a:xfrm>
                <a:off x="5097" y="2385"/>
                <a:ext cx="523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latin typeface="Microsoft YaHei" charset="-122"/>
                    <a:ea typeface="Microsoft YaHei" charset="-122"/>
                  </a:rPr>
                  <a:t>GOT</a:t>
                </a:r>
                <a:endParaRPr lang="en-US" altLang="zh-CN" sz="1800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72" name="Text Box 23"/>
              <p:cNvSpPr txBox="1">
                <a:spLocks noChangeArrowheads="1"/>
              </p:cNvSpPr>
              <p:nvPr/>
            </p:nvSpPr>
            <p:spPr bwMode="auto">
              <a:xfrm>
                <a:off x="4837" y="2503"/>
                <a:ext cx="543" cy="3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Microsoft YaHei" charset="-122"/>
                    <a:ea typeface="Microsoft YaHei" charset="-122"/>
                  </a:rPr>
                  <a:t>&amp;b</a:t>
                </a:r>
                <a:endParaRPr lang="en-US" altLang="zh-CN" sz="1600">
                  <a:solidFill>
                    <a:srgbClr val="FF0000"/>
                  </a:solidFill>
                  <a:latin typeface="Microsoft YaHei" charset="-122"/>
                  <a:ea typeface="Microsoft YaHei" charset="-122"/>
                </a:endParaRPr>
              </a:p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Microsoft YaHei" charset="-122"/>
                    <a:ea typeface="Microsoft YaHei" charset="-122"/>
                  </a:rPr>
                  <a:t>&amp;ext</a:t>
                </a:r>
                <a:endParaRPr lang="en-US" altLang="zh-CN" sz="1600">
                  <a:solidFill>
                    <a:srgbClr val="FF00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73" name="Text Box 24"/>
              <p:cNvSpPr txBox="1">
                <a:spLocks noChangeArrowheads="1"/>
              </p:cNvSpPr>
              <p:nvPr/>
            </p:nvSpPr>
            <p:spPr bwMode="auto">
              <a:xfrm>
                <a:off x="5064" y="2765"/>
                <a:ext cx="523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latin typeface="Microsoft YaHei" charset="-122"/>
                    <a:ea typeface="Microsoft YaHei" charset="-122"/>
                  </a:rPr>
                  <a:t>.data</a:t>
                </a:r>
                <a:endParaRPr lang="en-US" altLang="zh-CN" sz="1800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74" name="Rectangle 25"/>
              <p:cNvSpPr>
                <a:spLocks noChangeArrowheads="1"/>
              </p:cNvSpPr>
              <p:nvPr/>
            </p:nvSpPr>
            <p:spPr bwMode="auto">
              <a:xfrm>
                <a:off x="4858" y="3140"/>
                <a:ext cx="759" cy="4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600" b="0"/>
              </a:p>
            </p:txBody>
          </p:sp>
          <p:sp>
            <p:nvSpPr>
              <p:cNvPr id="130075" name="Text Box 26"/>
              <p:cNvSpPr txBox="1">
                <a:spLocks noChangeArrowheads="1"/>
              </p:cNvSpPr>
              <p:nvPr/>
            </p:nvSpPr>
            <p:spPr bwMode="auto">
              <a:xfrm>
                <a:off x="5088" y="3274"/>
                <a:ext cx="523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latin typeface="Microsoft YaHei" charset="-122"/>
                    <a:ea typeface="Microsoft YaHei" charset="-122"/>
                  </a:rPr>
                  <a:t>.text</a:t>
                </a:r>
                <a:endParaRPr lang="en-US" altLang="zh-CN" sz="1800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76" name="Rectangle 27"/>
              <p:cNvSpPr>
                <a:spLocks noChangeArrowheads="1"/>
              </p:cNvSpPr>
              <p:nvPr/>
            </p:nvSpPr>
            <p:spPr bwMode="auto">
              <a:xfrm>
                <a:off x="4858" y="3550"/>
                <a:ext cx="760" cy="4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600" b="0"/>
              </a:p>
            </p:txBody>
          </p:sp>
          <p:sp>
            <p:nvSpPr>
              <p:cNvPr id="130077" name="Text Box 28"/>
              <p:cNvSpPr txBox="1">
                <a:spLocks noChangeArrowheads="1"/>
              </p:cNvSpPr>
              <p:nvPr/>
            </p:nvSpPr>
            <p:spPr bwMode="auto">
              <a:xfrm>
                <a:off x="4886" y="3680"/>
                <a:ext cx="460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Microsoft YaHei" charset="-122"/>
                    <a:ea typeface="Microsoft YaHei" charset="-122"/>
                  </a:rPr>
                  <a:t>b</a:t>
                </a:r>
                <a:endParaRPr lang="en-US" altLang="zh-CN" sz="1800">
                  <a:solidFill>
                    <a:srgbClr val="FF00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78" name="Text Box 29"/>
              <p:cNvSpPr txBox="1">
                <a:spLocks noChangeArrowheads="1"/>
              </p:cNvSpPr>
              <p:nvPr/>
            </p:nvSpPr>
            <p:spPr bwMode="auto">
              <a:xfrm>
                <a:off x="5058" y="3610"/>
                <a:ext cx="523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latin typeface="Microsoft YaHei" charset="-122"/>
                    <a:ea typeface="Microsoft YaHei" charset="-122"/>
                  </a:rPr>
                  <a:t>.data</a:t>
                </a:r>
                <a:endParaRPr lang="en-US" altLang="zh-CN" sz="1800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0079" name="Line 30"/>
              <p:cNvSpPr>
                <a:spLocks noChangeShapeType="1"/>
              </p:cNvSpPr>
              <p:nvPr/>
            </p:nvSpPr>
            <p:spPr bwMode="auto">
              <a:xfrm flipH="1">
                <a:off x="4563" y="2775"/>
                <a:ext cx="3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30080" name="Line 31"/>
              <p:cNvSpPr>
                <a:spLocks noChangeShapeType="1"/>
              </p:cNvSpPr>
              <p:nvPr/>
            </p:nvSpPr>
            <p:spPr bwMode="auto">
              <a:xfrm>
                <a:off x="4572" y="2771"/>
                <a:ext cx="0" cy="52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30081" name="Line 32"/>
              <p:cNvSpPr>
                <a:spLocks noChangeShapeType="1"/>
              </p:cNvSpPr>
              <p:nvPr/>
            </p:nvSpPr>
            <p:spPr bwMode="auto">
              <a:xfrm>
                <a:off x="4581" y="3282"/>
                <a:ext cx="27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30082" name="Text Box 33"/>
              <p:cNvSpPr txBox="1">
                <a:spLocks noChangeArrowheads="1"/>
              </p:cNvSpPr>
              <p:nvPr/>
            </p:nvSpPr>
            <p:spPr bwMode="auto">
              <a:xfrm>
                <a:off x="4854" y="3145"/>
                <a:ext cx="460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Microsoft YaHei" charset="-122"/>
                    <a:ea typeface="Microsoft YaHei" charset="-122"/>
                  </a:rPr>
                  <a:t>ext</a:t>
                </a:r>
                <a:endParaRPr lang="en-US" altLang="zh-CN" sz="1800">
                  <a:solidFill>
                    <a:srgbClr val="FF00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</p:grpSp>
        <p:sp>
          <p:nvSpPr>
            <p:cNvPr id="130062" name="Text Box 34"/>
            <p:cNvSpPr txBox="1">
              <a:spLocks noChangeArrowheads="1"/>
            </p:cNvSpPr>
            <p:nvPr/>
          </p:nvSpPr>
          <p:spPr bwMode="auto">
            <a:xfrm>
              <a:off x="4835" y="3990"/>
              <a:ext cx="851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 dirty="0">
                  <a:solidFill>
                    <a:srgbClr val="3333CC"/>
                  </a:solidFill>
                  <a:ea typeface="Microsoft YaHei" charset="-122"/>
                </a:rPr>
                <a:t>共享库模块</a:t>
              </a:r>
              <a:endParaRPr lang="zh-CN" altLang="en-US" sz="1800" dirty="0">
                <a:solidFill>
                  <a:srgbClr val="3333CC"/>
                </a:solidFill>
                <a:ea typeface="Microsoft YaHei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2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2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301" grpId="0" bldLvl="0" animBg="1"/>
      <p:bldP spid="823305" grpId="0" bldLvl="0" animBg="1"/>
      <p:bldP spid="823306" grpId="0" bldLvl="0" animBg="1"/>
      <p:bldP spid="823307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动态加载的</a:t>
            </a:r>
            <a:r>
              <a:rPr lang="zh-CN" altLang="en-US"/>
              <a:t>缺点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a.out</a:t>
            </a:r>
            <a:r>
              <a:rPr lang="zh-CN" altLang="en-US"/>
              <a:t>运行过程中</a:t>
            </a:r>
            <a:r>
              <a:rPr lang="en-US" altLang="zh-CN"/>
              <a:t>，</a:t>
            </a:r>
            <a:r>
              <a:rPr lang="zh-CN" altLang="en-US"/>
              <a:t>每次加载一个</a:t>
            </a:r>
            <a:r>
              <a:rPr lang="en-US" altLang="zh-CN"/>
              <a:t>so</a:t>
            </a:r>
            <a:r>
              <a:rPr lang="zh-CN" altLang="en-US"/>
              <a:t>文件时</a:t>
            </a:r>
            <a:r>
              <a:rPr lang="en-US" altLang="zh-CN"/>
              <a:t>，</a:t>
            </a:r>
            <a:r>
              <a:rPr lang="zh-CN" altLang="en-US"/>
              <a:t>需要</a:t>
            </a:r>
            <a:endParaRPr lang="zh-CN" altLang="en-US"/>
          </a:p>
          <a:p>
            <a:pPr lvl="1"/>
            <a:r>
              <a:rPr lang="zh-CN" altLang="en-US"/>
              <a:t>根据</a:t>
            </a:r>
            <a:r>
              <a:rPr lang="en-US" altLang="zh-CN"/>
              <a:t>so</a:t>
            </a:r>
            <a:r>
              <a:rPr lang="zh-CN" altLang="en-US"/>
              <a:t>文件加载后</a:t>
            </a:r>
            <a:r>
              <a:rPr lang="zh-CN" altLang="en-US"/>
              <a:t>的符号地址</a:t>
            </a:r>
            <a:r>
              <a:rPr lang="en-US" altLang="zh-CN"/>
              <a:t>，</a:t>
            </a:r>
            <a:r>
              <a:rPr lang="zh-CN" altLang="en-US"/>
              <a:t>逐个填入到</a:t>
            </a:r>
            <a:r>
              <a:rPr lang="en-US" altLang="zh-CN"/>
              <a:t>GOT</a:t>
            </a:r>
            <a:r>
              <a:rPr lang="zh-CN" altLang="en-US"/>
              <a:t>表</a:t>
            </a:r>
            <a:endParaRPr lang="zh-CN" altLang="en-US"/>
          </a:p>
          <a:p>
            <a:pPr lvl="1"/>
            <a:r>
              <a:rPr lang="zh-CN" altLang="en-US"/>
              <a:t>不管这个符号最好到底用没用上</a:t>
            </a:r>
            <a:r>
              <a:rPr lang="en-US" altLang="zh-CN"/>
              <a:t>，</a:t>
            </a:r>
            <a:r>
              <a:rPr lang="zh-CN" altLang="en-US"/>
              <a:t>都需要填入</a:t>
            </a:r>
            <a:r>
              <a:rPr lang="en-US" altLang="zh-CN"/>
              <a:t>GOT</a:t>
            </a:r>
            <a:r>
              <a:rPr lang="zh-CN" altLang="en-US"/>
              <a:t>表</a:t>
            </a:r>
            <a:endParaRPr lang="zh-CN" altLang="en-US"/>
          </a:p>
          <a:p>
            <a:pPr lvl="1"/>
            <a:r>
              <a:rPr lang="zh-CN" altLang="en-US"/>
              <a:t>导致加载过程</a:t>
            </a:r>
            <a:r>
              <a:rPr lang="zh-CN" altLang="en-US"/>
              <a:t>很慢</a:t>
            </a:r>
            <a:endParaRPr lang="zh-CN" altLang="en-US"/>
          </a:p>
          <a:p>
            <a:pPr lvl="0"/>
            <a:r>
              <a:rPr lang="zh-CN" altLang="en-US"/>
              <a:t>一种改进方法</a:t>
            </a:r>
            <a:r>
              <a:rPr lang="en-US" altLang="zh-CN"/>
              <a:t>——</a:t>
            </a:r>
            <a:r>
              <a:rPr lang="zh-CN" altLang="en-US"/>
              <a:t>延迟</a:t>
            </a:r>
            <a:r>
              <a:rPr lang="zh-CN" altLang="en-US"/>
              <a:t>绑定</a:t>
            </a:r>
            <a:endParaRPr lang="zh-CN" altLang="en-US"/>
          </a:p>
          <a:p>
            <a:pPr lvl="1"/>
            <a:r>
              <a:rPr lang="zh-CN" altLang="en-US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不在加载时重定位，而是延迟到第一次函数调用时。需要用</a:t>
            </a:r>
            <a:r>
              <a:rPr lang="en-US" altLang="zh-CN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</a:t>
            </a:r>
            <a:r>
              <a:rPr lang="zh-CN" altLang="en-US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和</a:t>
            </a:r>
            <a:r>
              <a:rPr lang="en-US" altLang="zh-CN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PLT</a:t>
            </a:r>
            <a:r>
              <a:rPr lang="zh-CN" altLang="en-US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Procedure linkage Table, </a:t>
            </a:r>
            <a:r>
              <a:rPr lang="zh-CN" altLang="en-US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过程链接表）</a:t>
            </a:r>
            <a:endParaRPr lang="zh-CN" altLang="en-US" dirty="0" smtClean="0">
              <a:solidFill>
                <a:srgbClr val="CC33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ChangeArrowheads="1"/>
          </p:cNvSpPr>
          <p:nvPr/>
        </p:nvSpPr>
        <p:spPr bwMode="auto">
          <a:xfrm>
            <a:off x="1557338" y="1172904"/>
            <a:ext cx="6692900" cy="5015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方法二：延迟绑定</a:t>
            </a:r>
            <a:endParaRPr lang="en-US" altLang="zh-CN" sz="1800" dirty="0">
              <a:solidFill>
                <a:srgbClr val="FF00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是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.data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节一部分，开始三项固定，含义如下：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GOT[0]</a:t>
            </a:r>
            <a:r>
              <a:rPr lang="zh-CN" altLang="en-US" sz="1800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为</a:t>
            </a:r>
            <a:r>
              <a:rPr lang="en-US" altLang="zh-CN" sz="1800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.dynamic</a:t>
            </a:r>
            <a:r>
              <a:rPr lang="zh-CN" altLang="en-US" sz="1800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节首址，该节中包含动态链接器所需要</a:t>
            </a:r>
            <a:endParaRPr lang="zh-CN" altLang="en-US" sz="1800" dirty="0">
              <a:solidFill>
                <a:srgbClr val="CC33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的基本信息，如符号表位置、重定位表位置等；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GOT[1]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为动态链接器的标识信息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GOT[2]</a:t>
            </a:r>
            <a:r>
              <a:rPr lang="zh-CN" altLang="en-US" sz="1800" dirty="0">
                <a:solidFill>
                  <a:srgbClr val="CC33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为动态链接器延迟绑定代码的入口地址</a:t>
            </a:r>
            <a:endParaRPr lang="zh-CN" altLang="en-US" sz="1800" dirty="0">
              <a:solidFill>
                <a:srgbClr val="CC33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调用的共享库函数都有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项，如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GOT[3]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对应</a:t>
            </a: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ext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900" dirty="0">
              <a:solidFill>
                <a:srgbClr val="3333CC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PLT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是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.text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节一部分，结构数组，每项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16B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，除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PLT[0]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外，其余项各对应一个共享库函数，如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PLT[1]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对应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ext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900" dirty="0"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PLT[0]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0804833c:  ff 35 88 95 04 08</a:t>
            </a:r>
            <a:r>
              <a:rPr lang="zh-CN" altLang="en-US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 </a:t>
            </a:r>
            <a:r>
              <a:rPr lang="en-US" altLang="zh-CN" sz="1600" dirty="0" err="1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pushl</a:t>
            </a: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0x8049588</a:t>
            </a:r>
            <a:endParaRPr lang="en-US" altLang="zh-CN" sz="1600" dirty="0"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8048342:  ff 25 8c 95 04 08    </a:t>
            </a:r>
            <a:r>
              <a:rPr lang="en-US" altLang="zh-CN" sz="1600" dirty="0" err="1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jmp</a:t>
            </a: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 *0x804958c</a:t>
            </a:r>
            <a:endParaRPr lang="en-US" altLang="zh-CN" sz="1600" dirty="0"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8048348:  00 00 00 00</a:t>
            </a:r>
            <a:endParaRPr lang="en-US" altLang="zh-CN" sz="1600" dirty="0"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PLT[1] &lt;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ext@plt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&gt;           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用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ID=0 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标识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ext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()</a:t>
            </a:r>
            <a:r>
              <a:rPr lang="zh-CN" altLang="en-US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函数</a:t>
            </a:r>
            <a:endParaRPr lang="zh-CN" altLang="en-US" sz="1600" dirty="0">
              <a:solidFill>
                <a:srgbClr val="FF00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0804834c:  ff 25 90 95 04 08</a:t>
            </a:r>
            <a:r>
              <a:rPr lang="zh-CN" altLang="en-US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  </a:t>
            </a:r>
            <a:r>
              <a:rPr lang="en-US" altLang="zh-CN" sz="1600" dirty="0" err="1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jmp</a:t>
            </a:r>
            <a:r>
              <a:rPr lang="zh-CN" altLang="en-US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*</a:t>
            </a: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0x8049590</a:t>
            </a:r>
            <a:endParaRPr lang="en-US" altLang="zh-CN" sz="1600" dirty="0"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8048352:  68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00 00 00 00        </a:t>
            </a:r>
            <a:r>
              <a:rPr lang="en-US" altLang="zh-CN" sz="1600" dirty="0" err="1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pushl</a:t>
            </a: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$0x0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8048357:  e9 e0  ff  </a:t>
            </a:r>
            <a:r>
              <a:rPr lang="en-US" altLang="zh-CN" sz="1600" dirty="0" err="1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ff</a:t>
            </a: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</a:t>
            </a:r>
            <a:r>
              <a:rPr lang="en-US" altLang="zh-CN" sz="1600" dirty="0" err="1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ff</a:t>
            </a: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       </a:t>
            </a:r>
            <a:r>
              <a:rPr lang="en-US" altLang="zh-CN" sz="1600" dirty="0" err="1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jmp</a:t>
            </a:r>
            <a:r>
              <a:rPr lang="en-US" altLang="zh-CN" sz="1600" dirty="0">
                <a:latin typeface="Microsoft YaHei" charset="-122"/>
                <a:ea typeface="Microsoft YaHei" charset="-122"/>
                <a:sym typeface="Wingdings" panose="05000000000000000000" pitchFamily="2" charset="2"/>
              </a:rPr>
              <a:t>    804833c</a:t>
            </a:r>
            <a:endParaRPr lang="en-US" altLang="zh-CN" sz="1600" dirty="0"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600" dirty="0">
              <a:latin typeface="Microsoft YaHei" charset="-122"/>
              <a:ea typeface="Microsoft YaHei" charset="-122"/>
              <a:sym typeface="Wingdings" panose="05000000000000000000" pitchFamily="2" charset="2"/>
            </a:endParaRPr>
          </a:p>
        </p:txBody>
      </p:sp>
      <p:sp>
        <p:nvSpPr>
          <p:cNvPr id="824323" name="Line 3"/>
          <p:cNvSpPr>
            <a:spLocks noChangeShapeType="1"/>
          </p:cNvSpPr>
          <p:nvPr/>
        </p:nvSpPr>
        <p:spPr bwMode="auto">
          <a:xfrm>
            <a:off x="6210300" y="1928813"/>
            <a:ext cx="2468563" cy="2860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132100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b="0" dirty="0"/>
              <a:t>(4) </a:t>
            </a:r>
            <a:r>
              <a:rPr lang="zh-CN" altLang="en-US" sz="3600" b="0" dirty="0"/>
              <a:t>模块间的代码</a:t>
            </a:r>
            <a:r>
              <a:rPr lang="zh-CN" altLang="en-US" sz="3600" b="0" dirty="0"/>
              <a:t>访问</a:t>
            </a:r>
            <a:endParaRPr lang="zh-CN" altLang="en-US" sz="3600" b="0" dirty="0"/>
          </a:p>
        </p:txBody>
      </p:sp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8178800" y="537853"/>
            <a:ext cx="2249488" cy="14185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extern  void 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ext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();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void foo() {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   bar();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     </a:t>
            </a:r>
            <a:r>
              <a:rPr lang="en-US" altLang="zh-CN" sz="1600" dirty="0" err="1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ext</a:t>
            </a:r>
            <a:r>
              <a:rPr lang="en-US" altLang="zh-CN" sz="1600" dirty="0">
                <a:solidFill>
                  <a:srgbClr val="FF0000"/>
                </a:solidFill>
                <a:latin typeface="Microsoft YaHei" charset="-122"/>
                <a:ea typeface="Microsoft YaHei" charset="-122"/>
              </a:rPr>
              <a:t>();</a:t>
            </a:r>
            <a:endParaRPr lang="en-US" altLang="zh-CN" sz="1600" dirty="0">
              <a:solidFill>
                <a:srgbClr val="FF0000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}</a:t>
            </a:r>
            <a:endParaRPr lang="en-US" altLang="zh-CN" sz="1600" dirty="0"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Microsoft YaHei" charset="-122"/>
                <a:ea typeface="Microsoft YaHei" charset="-122"/>
              </a:rPr>
              <a:t>……</a:t>
            </a:r>
            <a:endParaRPr lang="en-US" altLang="zh-CN" sz="900" dirty="0">
              <a:latin typeface="Microsoft YaHei" charset="-122"/>
              <a:ea typeface="Microsoft YaHei" charset="-122"/>
            </a:endParaRPr>
          </a:p>
        </p:txBody>
      </p:sp>
      <p:sp>
        <p:nvSpPr>
          <p:cNvPr id="824326" name="Line 6"/>
          <p:cNvSpPr>
            <a:spLocks noChangeShapeType="1"/>
          </p:cNvSpPr>
          <p:nvPr/>
        </p:nvSpPr>
        <p:spPr bwMode="auto">
          <a:xfrm flipV="1">
            <a:off x="2424113" y="3397249"/>
            <a:ext cx="6211887" cy="644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4327" name="Line 7"/>
          <p:cNvSpPr>
            <a:spLocks noChangeShapeType="1"/>
          </p:cNvSpPr>
          <p:nvPr/>
        </p:nvSpPr>
        <p:spPr bwMode="auto">
          <a:xfrm flipV="1">
            <a:off x="3049589" y="3817937"/>
            <a:ext cx="5645149" cy="117792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4328" name="Text Box 8"/>
          <p:cNvSpPr txBox="1">
            <a:spLocks noChangeArrowheads="1"/>
          </p:cNvSpPr>
          <p:nvPr/>
        </p:nvSpPr>
        <p:spPr bwMode="auto">
          <a:xfrm>
            <a:off x="1666878" y="5791200"/>
            <a:ext cx="6511922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ext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()</a:t>
            </a:r>
            <a:r>
              <a:rPr lang="zh-CN" altLang="en-US" sz="18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的调用指令：</a:t>
            </a:r>
            <a:endParaRPr lang="zh-CN" altLang="en-US" sz="1800" dirty="0">
              <a:solidFill>
                <a:srgbClr val="3333CC"/>
              </a:solidFill>
              <a:latin typeface="Microsoft YaHei" charset="-122"/>
              <a:ea typeface="Microsoft YaHei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804845b:  e8 </a:t>
            </a: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ec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 </a:t>
            </a: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fe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 ff </a:t>
            </a: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ff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   call  804834c &lt;</a:t>
            </a:r>
            <a:r>
              <a:rPr lang="en-US" altLang="zh-CN" sz="1800" dirty="0" err="1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ext@plt</a:t>
            </a:r>
            <a:r>
              <a:rPr lang="en-US" altLang="zh-CN" sz="1800" dirty="0">
                <a:solidFill>
                  <a:srgbClr val="3333CC"/>
                </a:solidFill>
                <a:latin typeface="Microsoft YaHei" charset="-122"/>
                <a:ea typeface="Microsoft YaHei" charset="-122"/>
              </a:rPr>
              <a:t>&gt;</a:t>
            </a:r>
            <a:endParaRPr lang="en-US" altLang="zh-CN" sz="1800" dirty="0">
              <a:solidFill>
                <a:srgbClr val="3333CC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824329" name="Line 9"/>
          <p:cNvSpPr>
            <a:spLocks noChangeShapeType="1"/>
          </p:cNvSpPr>
          <p:nvPr/>
        </p:nvSpPr>
        <p:spPr bwMode="auto">
          <a:xfrm flipV="1">
            <a:off x="4281488" y="4295775"/>
            <a:ext cx="4397375" cy="1946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4330" name="Text Box 10"/>
          <p:cNvSpPr txBox="1">
            <a:spLocks noChangeArrowheads="1"/>
          </p:cNvSpPr>
          <p:nvPr/>
        </p:nvSpPr>
        <p:spPr bwMode="auto">
          <a:xfrm>
            <a:off x="7165974" y="2034630"/>
            <a:ext cx="3468688" cy="1076325"/>
          </a:xfrm>
          <a:prstGeom prst="rect">
            <a:avLst/>
          </a:prstGeom>
          <a:solidFill>
            <a:srgbClr val="99CC00">
              <a:alpha val="1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600" dirty="0">
                <a:latin typeface="Microsoft YaHei" charset="-122"/>
                <a:ea typeface="Microsoft YaHei" charset="-122"/>
              </a:rPr>
              <a:t>延时绑定代码根据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GOT[1]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和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ID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确定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ext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地址填入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GOT[3]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，并转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ext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执行，以后调用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ext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，只要多执行一条</a:t>
            </a:r>
            <a:r>
              <a:rPr lang="en-US" altLang="zh-CN" sz="1600" dirty="0" err="1">
                <a:latin typeface="Microsoft YaHei" charset="-122"/>
                <a:ea typeface="Microsoft YaHei" charset="-122"/>
              </a:rPr>
              <a:t>jmp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指令而不是多</a:t>
            </a:r>
            <a:r>
              <a:rPr lang="en-US" altLang="zh-CN" sz="1600" dirty="0">
                <a:latin typeface="Microsoft YaHei" charset="-122"/>
                <a:ea typeface="Microsoft YaHei" charset="-122"/>
              </a:rPr>
              <a:t>3</a:t>
            </a:r>
            <a:r>
              <a:rPr lang="zh-CN" altLang="en-US" sz="1600" dirty="0">
                <a:latin typeface="Microsoft YaHei" charset="-122"/>
                <a:ea typeface="Microsoft YaHei" charset="-122"/>
              </a:rPr>
              <a:t>条指令。</a:t>
            </a:r>
            <a:endParaRPr lang="zh-CN" altLang="en-US" sz="1600" dirty="0">
              <a:latin typeface="Microsoft YaHei" charset="-122"/>
              <a:ea typeface="Microsoft YaHei" charset="-122"/>
            </a:endParaRPr>
          </a:p>
        </p:txBody>
      </p:sp>
      <p:sp>
        <p:nvSpPr>
          <p:cNvPr id="824331" name="Line 11"/>
          <p:cNvSpPr>
            <a:spLocks noChangeShapeType="1"/>
          </p:cNvSpPr>
          <p:nvPr/>
        </p:nvSpPr>
        <p:spPr bwMode="auto">
          <a:xfrm>
            <a:off x="5026027" y="2438400"/>
            <a:ext cx="3638548" cy="2657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4332" name="Line 12"/>
          <p:cNvSpPr>
            <a:spLocks noChangeShapeType="1"/>
          </p:cNvSpPr>
          <p:nvPr/>
        </p:nvSpPr>
        <p:spPr bwMode="auto">
          <a:xfrm>
            <a:off x="4935539" y="2800349"/>
            <a:ext cx="3729035" cy="2657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24333" name="Line 13"/>
          <p:cNvSpPr>
            <a:spLocks noChangeShapeType="1"/>
          </p:cNvSpPr>
          <p:nvPr/>
        </p:nvSpPr>
        <p:spPr bwMode="auto">
          <a:xfrm>
            <a:off x="6638925" y="3186697"/>
            <a:ext cx="2025650" cy="260450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grpSp>
        <p:nvGrpSpPr>
          <p:cNvPr id="824334" name="Group 14"/>
          <p:cNvGrpSpPr/>
          <p:nvPr/>
        </p:nvGrpSpPr>
        <p:grpSpPr bwMode="auto">
          <a:xfrm>
            <a:off x="7553325" y="3122613"/>
            <a:ext cx="3100388" cy="3706812"/>
            <a:chOff x="3771" y="1824"/>
            <a:chExt cx="1953" cy="2335"/>
          </a:xfrm>
        </p:grpSpPr>
        <p:grpSp>
          <p:nvGrpSpPr>
            <p:cNvPr id="132111" name="Group 15"/>
            <p:cNvGrpSpPr/>
            <p:nvPr/>
          </p:nvGrpSpPr>
          <p:grpSpPr bwMode="auto">
            <a:xfrm>
              <a:off x="3771" y="1824"/>
              <a:ext cx="1953" cy="2335"/>
              <a:chOff x="3771" y="1824"/>
              <a:chExt cx="1953" cy="2335"/>
            </a:xfrm>
          </p:grpSpPr>
          <p:pic>
            <p:nvPicPr>
              <p:cNvPr id="132114" name="Picture 16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88" y="1835"/>
                <a:ext cx="1236" cy="2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2115" name="Text Box 17"/>
              <p:cNvSpPr txBox="1">
                <a:spLocks noChangeArrowheads="1"/>
              </p:cNvSpPr>
              <p:nvPr/>
            </p:nvSpPr>
            <p:spPr bwMode="auto">
              <a:xfrm>
                <a:off x="3784" y="2852"/>
                <a:ext cx="7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CC3300"/>
                    </a:solidFill>
                    <a:latin typeface="Microsoft YaHei" charset="-122"/>
                    <a:ea typeface="Microsoft YaHei" charset="-122"/>
                  </a:rPr>
                  <a:t>8049584</a:t>
                </a:r>
                <a:endParaRPr lang="en-US" altLang="zh-CN" sz="1600">
                  <a:solidFill>
                    <a:srgbClr val="CC33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2116" name="Text Box 18"/>
              <p:cNvSpPr txBox="1">
                <a:spLocks noChangeArrowheads="1"/>
              </p:cNvSpPr>
              <p:nvPr/>
            </p:nvSpPr>
            <p:spPr bwMode="auto">
              <a:xfrm>
                <a:off x="3771" y="3037"/>
                <a:ext cx="7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CC3300"/>
                    </a:solidFill>
                    <a:latin typeface="Microsoft YaHei" charset="-122"/>
                    <a:ea typeface="Microsoft YaHei" charset="-122"/>
                  </a:rPr>
                  <a:t>8049588</a:t>
                </a:r>
                <a:endParaRPr lang="en-US" altLang="zh-CN" sz="1600">
                  <a:solidFill>
                    <a:srgbClr val="CC33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2117" name="Text Box 19"/>
              <p:cNvSpPr txBox="1">
                <a:spLocks noChangeArrowheads="1"/>
              </p:cNvSpPr>
              <p:nvPr/>
            </p:nvSpPr>
            <p:spPr bwMode="auto">
              <a:xfrm>
                <a:off x="3785" y="3249"/>
                <a:ext cx="7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 dirty="0">
                    <a:solidFill>
                      <a:srgbClr val="CC3300"/>
                    </a:solidFill>
                    <a:latin typeface="Microsoft YaHei" charset="-122"/>
                    <a:ea typeface="Microsoft YaHei" charset="-122"/>
                  </a:rPr>
                  <a:t>804958c</a:t>
                </a:r>
                <a:endParaRPr lang="en-US" altLang="zh-CN" sz="1600" dirty="0">
                  <a:solidFill>
                    <a:srgbClr val="CC33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2118" name="Text Box 20"/>
              <p:cNvSpPr txBox="1">
                <a:spLocks noChangeArrowheads="1"/>
              </p:cNvSpPr>
              <p:nvPr/>
            </p:nvSpPr>
            <p:spPr bwMode="auto">
              <a:xfrm>
                <a:off x="3790" y="3452"/>
                <a:ext cx="7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CC3300"/>
                    </a:solidFill>
                    <a:latin typeface="Microsoft YaHei" charset="-122"/>
                    <a:ea typeface="Microsoft YaHei" charset="-122"/>
                  </a:rPr>
                  <a:t>8049590</a:t>
                </a:r>
                <a:endParaRPr lang="en-US" altLang="zh-CN" sz="1600">
                  <a:solidFill>
                    <a:srgbClr val="CC33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2119" name="Text Box 21"/>
              <p:cNvSpPr txBox="1">
                <a:spLocks noChangeArrowheads="1"/>
              </p:cNvSpPr>
              <p:nvPr/>
            </p:nvSpPr>
            <p:spPr bwMode="auto">
              <a:xfrm>
                <a:off x="3787" y="1824"/>
                <a:ext cx="7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CC3300"/>
                    </a:solidFill>
                    <a:latin typeface="Microsoft YaHei" charset="-122"/>
                    <a:ea typeface="Microsoft YaHei" charset="-122"/>
                  </a:rPr>
                  <a:t>804833c</a:t>
                </a:r>
                <a:endParaRPr lang="en-US" altLang="zh-CN" sz="1600">
                  <a:solidFill>
                    <a:srgbClr val="CC33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132120" name="Text Box 22"/>
              <p:cNvSpPr txBox="1">
                <a:spLocks noChangeArrowheads="1"/>
              </p:cNvSpPr>
              <p:nvPr/>
            </p:nvSpPr>
            <p:spPr bwMode="auto">
              <a:xfrm>
                <a:off x="3790" y="2093"/>
                <a:ext cx="7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704020202020204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704020202020204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704020202020204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704020202020204" pitchFamily="34" charset="0"/>
                    <a:ea typeface="SimSun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CC3300"/>
                    </a:solidFill>
                    <a:latin typeface="Microsoft YaHei" charset="-122"/>
                    <a:ea typeface="Microsoft YaHei" charset="-122"/>
                  </a:rPr>
                  <a:t>804834c</a:t>
                </a:r>
                <a:endParaRPr lang="en-US" altLang="zh-CN" sz="1600">
                  <a:solidFill>
                    <a:srgbClr val="CC3300"/>
                  </a:solidFill>
                  <a:latin typeface="Microsoft YaHei" charset="-122"/>
                  <a:ea typeface="Microsoft YaHei" charset="-122"/>
                </a:endParaRPr>
              </a:p>
            </p:txBody>
          </p:sp>
        </p:grpSp>
        <p:sp>
          <p:nvSpPr>
            <p:cNvPr id="132112" name="Rectangle 23"/>
            <p:cNvSpPr>
              <a:spLocks noChangeArrowheads="1"/>
            </p:cNvSpPr>
            <p:nvPr/>
          </p:nvSpPr>
          <p:spPr bwMode="auto">
            <a:xfrm>
              <a:off x="4506" y="1865"/>
              <a:ext cx="715" cy="933"/>
            </a:xfrm>
            <a:prstGeom prst="rect">
              <a:avLst/>
            </a:prstGeom>
            <a:solidFill>
              <a:schemeClr val="accent1">
                <a:alpha val="29019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600" b="0"/>
            </a:p>
          </p:txBody>
        </p:sp>
        <p:sp>
          <p:nvSpPr>
            <p:cNvPr id="132113" name="Rectangle 24"/>
            <p:cNvSpPr>
              <a:spLocks noChangeArrowheads="1"/>
            </p:cNvSpPr>
            <p:nvPr/>
          </p:nvSpPr>
          <p:spPr bwMode="auto">
            <a:xfrm>
              <a:off x="4500" y="2801"/>
              <a:ext cx="715" cy="1107"/>
            </a:xfrm>
            <a:prstGeom prst="rect">
              <a:avLst/>
            </a:prstGeom>
            <a:solidFill>
              <a:srgbClr val="CC99FF">
                <a:alpha val="32941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704020202020204" pitchFamily="34" charset="0"/>
                  <a:ea typeface="SimSun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704020202020204" pitchFamily="34" charset="0"/>
                  <a:ea typeface="SimSun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704020202020204" pitchFamily="34" charset="0"/>
                  <a:ea typeface="SimSun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704020202020204" pitchFamily="34" charset="0"/>
                  <a:ea typeface="SimSun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704020202020204" pitchFamily="34" charset="0"/>
                  <a:ea typeface="SimSun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600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4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4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24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24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24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24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24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24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24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243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4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24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243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243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243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8243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243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243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243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2432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2432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824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82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824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82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8" grpId="0" bldLvl="0" animBg="1"/>
      <p:bldP spid="824330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7400" y="533400"/>
            <a:ext cx="8332470" cy="51974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so</a:t>
            </a:r>
            <a:r>
              <a:rPr lang="zh-CN" altLang="en-US">
                <a:sym typeface="+mn-ea"/>
              </a:rPr>
              <a:t>文件的加载过程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pPr marL="514350" lvl="0" indent="-514350">
              <a:buAutoNum type="arabicPeriod"/>
            </a:pPr>
            <a:r>
              <a:rPr lang="en-US" altLang="zh-CN" sz="2400">
                <a:sym typeface="+mn-ea"/>
              </a:rPr>
              <a:t>L</a:t>
            </a:r>
            <a:r>
              <a:rPr lang="en-US" altLang="zh-CN" sz="2400" baseline="-25000">
                <a:sym typeface="+mn-ea"/>
              </a:rPr>
              <a:t>i</a:t>
            </a:r>
            <a:r>
              <a:rPr lang="zh-CN" altLang="en-US" sz="2400">
                <a:sym typeface="+mn-ea"/>
              </a:rPr>
              <a:t>启动时</a:t>
            </a:r>
            <a:r>
              <a:rPr lang="en-US" altLang="zh-CN" sz="2400">
                <a:sym typeface="+mn-ea"/>
              </a:rPr>
              <a:t>——</a:t>
            </a:r>
            <a:r>
              <a:rPr lang="zh-CN" altLang="en-US" sz="2400">
                <a:sym typeface="+mn-ea"/>
              </a:rPr>
              <a:t>级联搜索和加载</a:t>
            </a:r>
            <a:r>
              <a:rPr lang="en-US" altLang="zh-CN" sz="2400">
                <a:sym typeface="+mn-ea"/>
              </a:rPr>
              <a:t>L</a:t>
            </a:r>
            <a:r>
              <a:rPr lang="en-US" altLang="zh-CN" sz="2400" baseline="-25000">
                <a:sym typeface="+mn-ea"/>
              </a:rPr>
              <a:t>i</a:t>
            </a:r>
            <a:r>
              <a:rPr lang="zh-CN" altLang="en-US" sz="2400">
                <a:sym typeface="+mn-ea"/>
              </a:rPr>
              <a:t>依赖的所有</a:t>
            </a:r>
            <a:r>
              <a:rPr lang="en-US" altLang="zh-CN" sz="2400">
                <a:sym typeface="+mn-ea"/>
              </a:rPr>
              <a:t>so</a:t>
            </a:r>
            <a:r>
              <a:rPr lang="zh-CN" altLang="en-US" sz="2400">
                <a:sym typeface="+mn-ea"/>
              </a:rPr>
              <a:t>文件</a:t>
            </a:r>
            <a:endParaRPr lang="zh-CN" altLang="en-US" sz="2400" b="0"/>
          </a:p>
          <a:p>
            <a:pPr marL="914400" lvl="1" indent="-457200">
              <a:buFont typeface="+mj-lt"/>
              <a:buAutoNum type="alphaLcParenR"/>
            </a:pPr>
            <a:r>
              <a:rPr lang="en-US" altLang="zh-CN" sz="2400">
                <a:sym typeface="+mn-ea"/>
              </a:rPr>
              <a:t>ld-linux.so</a:t>
            </a:r>
            <a:r>
              <a:rPr lang="zh-CN" altLang="en-US" sz="2400">
                <a:sym typeface="+mn-ea"/>
              </a:rPr>
              <a:t>会扫描</a:t>
            </a:r>
            <a:r>
              <a:rPr lang="en-US" altLang="zh-CN" sz="2400">
                <a:sym typeface="+mn-ea"/>
              </a:rPr>
              <a:t>L</a:t>
            </a:r>
            <a:r>
              <a:rPr lang="en-US" altLang="zh-CN" sz="2400" baseline="-25000">
                <a:sym typeface="+mn-ea"/>
              </a:rPr>
              <a:t>i</a:t>
            </a:r>
            <a:r>
              <a:rPr lang="zh-CN" altLang="en-US" sz="2400">
                <a:sym typeface="+mn-ea"/>
              </a:rPr>
              <a:t>中的</a:t>
            </a:r>
            <a:r>
              <a:rPr lang="en-US" altLang="zh-CN" sz="2400">
                <a:sym typeface="+mn-ea"/>
              </a:rPr>
              <a:t>.dynamic</a:t>
            </a:r>
            <a:r>
              <a:rPr lang="zh-CN" altLang="en-US" sz="2400">
                <a:sym typeface="+mn-ea"/>
              </a:rPr>
              <a:t>段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从中识别出</a:t>
            </a:r>
            <a:r>
              <a:rPr lang="en-US" altLang="zh-CN" sz="2400">
                <a:sym typeface="+mn-ea"/>
              </a:rPr>
              <a:t>L</a:t>
            </a:r>
            <a:r>
              <a:rPr lang="en-US" altLang="zh-CN" sz="2400" baseline="-25000">
                <a:sym typeface="+mn-ea"/>
              </a:rPr>
              <a:t>i</a:t>
            </a:r>
            <a:r>
              <a:rPr lang="zh-CN" altLang="en-US" sz="2400">
                <a:sym typeface="+mn-ea"/>
              </a:rPr>
              <a:t>依赖的第一层</a:t>
            </a:r>
            <a:r>
              <a:rPr lang="en-US" altLang="zh-CN" sz="2400">
                <a:sym typeface="+mn-ea"/>
              </a:rPr>
              <a:t>so</a:t>
            </a:r>
            <a:r>
              <a:rPr lang="zh-CN" altLang="en-US" sz="2400">
                <a:sym typeface="+mn-ea"/>
              </a:rPr>
              <a:t>文件的路径</a:t>
            </a:r>
            <a:r>
              <a:rPr lang="en-US" altLang="zh-CN" sz="2400">
                <a:sym typeface="+mn-ea"/>
              </a:rPr>
              <a:t>；</a:t>
            </a:r>
            <a:endParaRPr lang="en-US" altLang="zh-CN" sz="2400" b="0"/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400">
                <a:sym typeface="+mn-ea"/>
              </a:rPr>
              <a:t>搜索文件路径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加入</a:t>
            </a:r>
            <a:r>
              <a:rPr lang="en-US" altLang="zh-CN" sz="2400">
                <a:sym typeface="+mn-ea"/>
              </a:rPr>
              <a:t>ld.so.cache</a:t>
            </a:r>
            <a:endParaRPr lang="en-US" altLang="zh-CN" sz="2400" b="0">
              <a:sym typeface="+mn-ea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400">
                <a:sym typeface="+mn-ea"/>
              </a:rPr>
              <a:t>加载</a:t>
            </a:r>
            <a:r>
              <a:rPr lang="en-US" altLang="zh-CN" sz="2400">
                <a:sym typeface="+mn-ea"/>
              </a:rPr>
              <a:t>L</a:t>
            </a:r>
            <a:r>
              <a:rPr lang="en-US" altLang="zh-CN" sz="2400" baseline="-25000">
                <a:sym typeface="+mn-ea"/>
              </a:rPr>
              <a:t>i+1</a:t>
            </a:r>
            <a:r>
              <a:rPr lang="zh-CN" altLang="en-US" sz="2400">
                <a:sym typeface="+mn-ea"/>
              </a:rPr>
              <a:t>文件到内存</a:t>
            </a:r>
            <a:endParaRPr lang="zh-CN" altLang="en-US" sz="2400" b="0"/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400">
                <a:sym typeface="+mn-ea"/>
              </a:rPr>
              <a:t>绑定所有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库变量</a:t>
            </a:r>
            <a:endParaRPr lang="en-US" altLang="zh-CN" sz="2400" b="0"/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级联搜索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加载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绑定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L</a:t>
            </a:r>
            <a:r>
              <a:rPr lang="en-US" altLang="zh-CN" sz="2400" baseline="-25000">
                <a:solidFill>
                  <a:srgbClr val="FF0000"/>
                </a:solidFill>
                <a:sym typeface="+mn-ea"/>
              </a:rPr>
              <a:t>i+2...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文件</a:t>
            </a:r>
            <a:r>
              <a:rPr lang="en-US" altLang="zh-CN" sz="2400">
                <a:sym typeface="+mn-ea"/>
              </a:rPr>
              <a:t> </a:t>
            </a:r>
            <a:endParaRPr lang="en-US" altLang="zh-CN" sz="2400" b="0"/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400">
                <a:sym typeface="+mn-ea"/>
              </a:rPr>
              <a:t>特点</a:t>
            </a:r>
            <a:r>
              <a:rPr lang="en-US" altLang="zh-CN" sz="2400">
                <a:sym typeface="+mn-ea"/>
              </a:rPr>
              <a:t>：</a:t>
            </a:r>
            <a:r>
              <a:rPr lang="zh-CN" altLang="en-US" sz="2400">
                <a:sym typeface="+mn-ea"/>
              </a:rPr>
              <a:t>导致应用程序启动慢</a:t>
            </a:r>
            <a:r>
              <a:rPr lang="en-US" altLang="zh-CN" sz="2400">
                <a:sym typeface="+mn-ea"/>
              </a:rPr>
              <a:t>、</a:t>
            </a:r>
            <a:r>
              <a:rPr lang="zh-CN" altLang="en-US" sz="2400">
                <a:sym typeface="+mn-ea"/>
              </a:rPr>
              <a:t>内存占用高</a:t>
            </a:r>
            <a:endParaRPr lang="zh-CN" altLang="en-US" sz="2400" b="0"/>
          </a:p>
          <a:p>
            <a:pPr marL="514350" lvl="0" indent="-514350">
              <a:buAutoNum type="arabicPeriod"/>
            </a:pPr>
            <a:r>
              <a:rPr lang="en-US" altLang="zh-CN" sz="2400">
                <a:sym typeface="+mn-ea"/>
              </a:rPr>
              <a:t>L</a:t>
            </a:r>
            <a:r>
              <a:rPr lang="en-US" altLang="zh-CN" sz="2400" baseline="-25000">
                <a:sym typeface="+mn-ea"/>
              </a:rPr>
              <a:t>i</a:t>
            </a:r>
            <a:r>
              <a:rPr lang="zh-CN" altLang="en-US" sz="2400">
                <a:sym typeface="+mn-ea"/>
              </a:rPr>
              <a:t>运行时</a:t>
            </a:r>
            <a:r>
              <a:rPr lang="en-US" altLang="zh-CN" sz="2400">
                <a:sym typeface="+mn-ea"/>
              </a:rPr>
              <a:t>——</a:t>
            </a:r>
            <a:r>
              <a:rPr lang="zh-CN" altLang="en-US" sz="2400" b="1">
                <a:solidFill>
                  <a:srgbClr val="00B050"/>
                </a:solidFill>
                <a:latin typeface="Kaiti SC Bold" panose="02010600040101010101" charset="-122"/>
                <a:ea typeface="Kaiti SC Bold" panose="02010600040101010101" charset="-122"/>
                <a:sym typeface="+mn-ea"/>
              </a:rPr>
              <a:t>延迟绑定</a:t>
            </a:r>
            <a:r>
              <a:rPr lang="zh-CN" altLang="en-US" sz="2400">
                <a:sym typeface="+mn-ea"/>
              </a:rPr>
              <a:t>和</a:t>
            </a:r>
            <a:r>
              <a:rPr lang="zh-CN" altLang="en-US" sz="2400" b="1">
                <a:solidFill>
                  <a:srgbClr val="00B050"/>
                </a:solidFill>
                <a:latin typeface="Kaiti SC Bold" panose="02010600040101010101" charset="-122"/>
                <a:ea typeface="Kaiti SC Bold" panose="02010600040101010101" charset="-122"/>
                <a:sym typeface="+mn-ea"/>
              </a:rPr>
              <a:t>访问</a:t>
            </a:r>
            <a:r>
              <a:rPr lang="en-US" altLang="zh-CN" sz="2400">
                <a:sym typeface="+mn-ea"/>
              </a:rPr>
              <a:t>L</a:t>
            </a:r>
            <a:r>
              <a:rPr lang="en-US" altLang="zh-CN" sz="2400" baseline="-25000">
                <a:sym typeface="+mn-ea"/>
              </a:rPr>
              <a:t>i</a:t>
            </a:r>
            <a:r>
              <a:rPr lang="zh-CN" altLang="en-US" sz="2400">
                <a:sym typeface="+mn-ea"/>
              </a:rPr>
              <a:t>文件中的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库函数</a:t>
            </a:r>
            <a:endParaRPr lang="zh-CN" altLang="en-US" sz="2400" b="0"/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400">
                <a:sym typeface="+mn-ea"/>
              </a:rPr>
              <a:t>访问库函数</a:t>
            </a:r>
            <a:r>
              <a:rPr lang="en-US" altLang="zh-CN" sz="2400">
                <a:sym typeface="+mn-ea"/>
              </a:rPr>
              <a:t>：</a:t>
            </a:r>
            <a:r>
              <a:rPr lang="zh-CN" altLang="en-US" sz="2400">
                <a:sym typeface="+mn-ea"/>
              </a:rPr>
              <a:t>借助</a:t>
            </a:r>
            <a:r>
              <a:rPr lang="en-US" altLang="zh-CN" sz="2400">
                <a:sym typeface="+mn-ea"/>
              </a:rPr>
              <a:t>plt+got</a:t>
            </a:r>
            <a:r>
              <a:rPr lang="zh-CN" altLang="en-US" sz="2400">
                <a:sym typeface="+mn-ea"/>
              </a:rPr>
              <a:t>，调用</a:t>
            </a:r>
            <a:r>
              <a:rPr lang="en-US" altLang="zh-CN" sz="2400">
                <a:sym typeface="+mn-ea"/>
              </a:rPr>
              <a:t>ld-linux.so，</a:t>
            </a:r>
            <a:r>
              <a:rPr lang="zh-CN" altLang="en-US" sz="2400" b="1">
                <a:latin typeface="Kaiti SC Bold" panose="02010600040101010101" charset="-122"/>
                <a:ea typeface="Kaiti SC Bold" panose="02010600040101010101" charset="-122"/>
                <a:sym typeface="+mn-ea"/>
              </a:rPr>
              <a:t>延迟绑定</a:t>
            </a:r>
            <a:r>
              <a:rPr lang="zh-CN" altLang="en-US" sz="2400">
                <a:sym typeface="+mn-ea"/>
              </a:rPr>
              <a:t>具体的库函数</a:t>
            </a:r>
            <a:endParaRPr lang="zh-CN" altLang="en-US" sz="2400" b="0"/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400">
                <a:sym typeface="+mn-ea"/>
              </a:rPr>
              <a:t>特点</a:t>
            </a:r>
            <a:r>
              <a:rPr lang="en-US" altLang="zh-CN" sz="2400">
                <a:sym typeface="+mn-ea"/>
              </a:rPr>
              <a:t>：</a:t>
            </a:r>
            <a:r>
              <a:rPr lang="zh-CN" altLang="en-US" sz="2400">
                <a:sym typeface="+mn-ea"/>
              </a:rPr>
              <a:t>第一次访问较慢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后续很快</a:t>
            </a:r>
            <a:endParaRPr lang="zh-CN" altLang="en-US" sz="2400" b="0"/>
          </a:p>
          <a:p>
            <a:endParaRPr lang="en-US"/>
          </a:p>
        </p:txBody>
      </p:sp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so</a:t>
            </a:r>
            <a:r>
              <a:rPr lang="zh-CN" altLang="en-US"/>
              <a:t>文件加载的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>
                <a:sym typeface="+mn-ea"/>
              </a:rPr>
              <a:t>Linux/</a:t>
            </a:r>
            <a:r>
              <a:rPr lang="zh-CN" altLang="en-US" sz="2400">
                <a:sym typeface="+mn-ea"/>
              </a:rPr>
              <a:t>鸿蒙有两种使用动态库的方式</a:t>
            </a:r>
            <a:endParaRPr lang="zh-CN" altLang="en-US" sz="2400"/>
          </a:p>
          <a:p>
            <a:pPr lvl="1"/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根据</a:t>
            </a:r>
            <a:r>
              <a:rPr lang="en-US" altLang="zh-CN" sz="2400">
                <a:sym typeface="+mn-ea"/>
              </a:rPr>
              <a:t>elf</a:t>
            </a:r>
            <a:r>
              <a:rPr lang="zh-CN" altLang="en-US" sz="2400">
                <a:sym typeface="+mn-ea"/>
              </a:rPr>
              <a:t>文件的</a:t>
            </a:r>
            <a:r>
              <a:rPr lang="en-US" altLang="zh-CN" sz="2400">
                <a:sym typeface="+mn-ea"/>
              </a:rPr>
              <a:t>.dynamic</a:t>
            </a:r>
            <a:r>
              <a:rPr lang="zh-CN" altLang="en-US" sz="2400">
                <a:sym typeface="+mn-ea"/>
              </a:rPr>
              <a:t>段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级联</a:t>
            </a:r>
            <a:r>
              <a:rPr lang="zh-CN" altLang="en-US" sz="2400">
                <a:sym typeface="+mn-ea"/>
              </a:rPr>
              <a:t>搜索和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加载所有</a:t>
            </a:r>
            <a:r>
              <a:rPr lang="zh-CN" altLang="en-US" sz="2400">
                <a:sym typeface="+mn-ea"/>
              </a:rPr>
              <a:t>依赖的</a:t>
            </a:r>
            <a:r>
              <a:rPr lang="en-US" altLang="zh-CN" sz="2400">
                <a:sym typeface="+mn-ea"/>
              </a:rPr>
              <a:t>so</a:t>
            </a:r>
            <a:r>
              <a:rPr lang="zh-CN" altLang="en-US" sz="2400">
                <a:sym typeface="+mn-ea"/>
              </a:rPr>
              <a:t>文件</a:t>
            </a:r>
            <a:endParaRPr lang="zh-CN" altLang="en-US" sz="2400">
              <a:sym typeface="+mn-ea"/>
            </a:endParaRPr>
          </a:p>
          <a:p>
            <a:pPr lvl="2"/>
            <a:r>
              <a:rPr lang="zh-CN" altLang="en-US" sz="2400">
                <a:sym typeface="+mn-ea"/>
              </a:rPr>
              <a:t>虽然延迟绑定和访问库函数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仍然</a:t>
            </a:r>
            <a:endParaRPr lang="en-US" altLang="zh-CN" sz="2400"/>
          </a:p>
          <a:p>
            <a:pPr lvl="2"/>
            <a:r>
              <a:rPr lang="zh-CN" altLang="en-US" sz="2400">
                <a:solidFill>
                  <a:srgbClr val="FF0000"/>
                </a:solidFill>
                <a:sym typeface="+mn-ea"/>
              </a:rPr>
              <a:t>导致加载了大量不需要的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so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，拖慢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启动速度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浪费内存</a:t>
            </a:r>
            <a:endParaRPr lang="zh-CN" altLang="en-US" sz="2400"/>
          </a:p>
          <a:p>
            <a:pPr lvl="1"/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程序员编程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利用</a:t>
            </a:r>
            <a:r>
              <a:rPr lang="en-US" altLang="zh-CN" sz="2400">
                <a:sym typeface="+mn-ea"/>
              </a:rPr>
              <a:t>dlopen/dlsym/dlcose</a:t>
            </a:r>
            <a:r>
              <a:rPr lang="zh-CN" altLang="en-US" sz="2400">
                <a:sym typeface="+mn-ea"/>
              </a:rPr>
              <a:t>等函数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手动管理</a:t>
            </a:r>
            <a:endParaRPr lang="zh-CN" altLang="en-US" sz="2400"/>
          </a:p>
          <a:p>
            <a:pPr lvl="2"/>
            <a:r>
              <a:rPr lang="zh-CN" altLang="en-US" sz="2400">
                <a:solidFill>
                  <a:srgbClr val="FF0000"/>
                </a:solidFill>
                <a:sym typeface="+mn-ea"/>
              </a:rPr>
              <a:t>增加程序员负担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容易出错和泄漏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00B050"/>
                </a:solidFill>
              </a:rPr>
              <a:t>怎么办</a:t>
            </a:r>
            <a:r>
              <a:rPr lang="en-US" altLang="zh-CN">
                <a:solidFill>
                  <a:srgbClr val="00B050"/>
                </a:solidFill>
              </a:rPr>
              <a:t>？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7" name="矩形 40"/>
          <p:cNvSpPr/>
          <p:nvPr/>
        </p:nvSpPr>
        <p:spPr bwMode="auto">
          <a:xfrm flipH="1">
            <a:off x="6487795" y="3712210"/>
            <a:ext cx="3493135" cy="2659380"/>
          </a:xfrm>
          <a:prstGeom prst="rect">
            <a:avLst/>
          </a:prstGeom>
          <a:solidFill>
            <a:srgbClr val="DEEBF7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anchor="t"/>
          <a:p>
            <a:pPr defTabSz="910590"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Linux</a:t>
            </a:r>
            <a:r>
              <a:rPr lang="zh-CN" altLang="en-US" sz="1400" b="1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方案</a:t>
            </a:r>
            <a:endParaRPr lang="en-US" altLang="zh-CN" sz="1400" b="1" kern="0" dirty="0">
              <a:solidFill>
                <a:prstClr val="black"/>
              </a:solidFill>
              <a:latin typeface="Microsoft YaHei" charset="-122"/>
              <a:ea typeface="Microsoft YaHei" charset="-122"/>
            </a:endParaRPr>
          </a:p>
          <a:p>
            <a:pPr defTabSz="910590">
              <a:defRPr/>
            </a:pPr>
            <a:endParaRPr lang="zh-CN" altLang="en-US" sz="1400" kern="0" dirty="0">
              <a:solidFill>
                <a:srgbClr val="C00000"/>
              </a:solidFill>
              <a:latin typeface="Microsoft YaHei" charset="-122"/>
              <a:ea typeface="Microsoft YaHei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 rot="0">
            <a:off x="6783070" y="4200525"/>
            <a:ext cx="2393315" cy="1266190"/>
            <a:chOff x="2927648" y="1310443"/>
            <a:chExt cx="1856273" cy="1242719"/>
          </a:xfrm>
        </p:grpSpPr>
        <p:sp>
          <p:nvSpPr>
            <p:cNvPr id="46" name="矩形 45"/>
            <p:cNvSpPr/>
            <p:nvPr/>
          </p:nvSpPr>
          <p:spPr bwMode="auto">
            <a:xfrm flipH="1">
              <a:off x="2927648" y="1310443"/>
              <a:ext cx="1856273" cy="124271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endParaRPr lang="zh-CN" altLang="en-US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3596673" y="1413553"/>
              <a:ext cx="143882" cy="142300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B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3308641" y="1708637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3546243" y="1708689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3783845" y="1708637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4031747" y="1712186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3057126" y="2012096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3308641" y="2011512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4" name="矩形 53"/>
            <p:cNvSpPr/>
            <p:nvPr/>
          </p:nvSpPr>
          <p:spPr bwMode="auto">
            <a:xfrm>
              <a:off x="3546243" y="2011564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5" name="矩形 54"/>
            <p:cNvSpPr/>
            <p:nvPr/>
          </p:nvSpPr>
          <p:spPr bwMode="auto">
            <a:xfrm>
              <a:off x="3783845" y="2011512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4031747" y="2015061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7" name="矩形 56"/>
            <p:cNvSpPr/>
            <p:nvPr/>
          </p:nvSpPr>
          <p:spPr bwMode="auto">
            <a:xfrm>
              <a:off x="3809671" y="2318555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4047273" y="2318607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4284875" y="2318555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4532777" y="2322104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3040822" y="2318607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62" name="矩形 61"/>
            <p:cNvSpPr/>
            <p:nvPr/>
          </p:nvSpPr>
          <p:spPr bwMode="auto">
            <a:xfrm>
              <a:off x="3278424" y="2318555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63" name="矩形 62"/>
            <p:cNvSpPr/>
            <p:nvPr/>
          </p:nvSpPr>
          <p:spPr bwMode="auto">
            <a:xfrm>
              <a:off x="3526326" y="2322104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64" name="矩形 63"/>
            <p:cNvSpPr/>
            <p:nvPr/>
          </p:nvSpPr>
          <p:spPr bwMode="auto">
            <a:xfrm>
              <a:off x="4313727" y="2015629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65" name="矩形 64"/>
            <p:cNvSpPr/>
            <p:nvPr/>
          </p:nvSpPr>
          <p:spPr bwMode="auto">
            <a:xfrm>
              <a:off x="4551329" y="2015681"/>
              <a:ext cx="143882" cy="143882"/>
            </a:xfrm>
            <a:prstGeom prst="rect">
              <a:avLst/>
            </a:prstGeom>
            <a:solidFill>
              <a:srgbClr val="FFCC99">
                <a:lumMod val="90000"/>
              </a:srgbClr>
            </a:solidFill>
            <a:ln w="63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anchor="ctr"/>
            <a:p>
              <a:pPr algn="ctr" defTabSz="910590"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</a:rPr>
                <a:t>s</a:t>
              </a:r>
              <a:endParaRPr lang="en-US" altLang="zh-CN" sz="1400" kern="0" dirty="0">
                <a:solidFill>
                  <a:srgbClr val="C00000"/>
                </a:solidFill>
                <a:latin typeface="Microsoft YaHei" charset="-122"/>
                <a:ea typeface="Microsoft YaHei" charset="-122"/>
              </a:endParaRPr>
            </a:p>
          </p:txBody>
        </p:sp>
        <p:cxnSp>
          <p:nvCxnSpPr>
            <p:cNvPr id="66" name="直接箭头连接符 65"/>
            <p:cNvCxnSpPr>
              <a:stCxn id="47" idx="2"/>
              <a:endCxn id="48" idx="0"/>
            </p:cNvCxnSpPr>
            <p:nvPr/>
          </p:nvCxnSpPr>
          <p:spPr bwMode="auto">
            <a:xfrm flipH="1">
              <a:off x="3380582" y="1555853"/>
              <a:ext cx="288032" cy="152784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66"/>
            <p:cNvCxnSpPr>
              <a:stCxn id="47" idx="2"/>
              <a:endCxn id="49" idx="0"/>
            </p:cNvCxnSpPr>
            <p:nvPr/>
          </p:nvCxnSpPr>
          <p:spPr bwMode="auto">
            <a:xfrm flipH="1">
              <a:off x="3618184" y="1555853"/>
              <a:ext cx="50430" cy="152836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/>
            <p:cNvCxnSpPr>
              <a:stCxn id="47" idx="2"/>
              <a:endCxn id="50" idx="0"/>
            </p:cNvCxnSpPr>
            <p:nvPr/>
          </p:nvCxnSpPr>
          <p:spPr bwMode="auto">
            <a:xfrm>
              <a:off x="3668614" y="1555853"/>
              <a:ext cx="187172" cy="152784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/>
            <p:cNvCxnSpPr>
              <a:stCxn id="47" idx="2"/>
              <a:endCxn id="51" idx="0"/>
            </p:cNvCxnSpPr>
            <p:nvPr/>
          </p:nvCxnSpPr>
          <p:spPr bwMode="auto">
            <a:xfrm>
              <a:off x="3668614" y="1555853"/>
              <a:ext cx="435074" cy="156333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接箭头连接符 69"/>
            <p:cNvCxnSpPr>
              <a:stCxn id="48" idx="2"/>
              <a:endCxn id="52" idx="0"/>
            </p:cNvCxnSpPr>
            <p:nvPr/>
          </p:nvCxnSpPr>
          <p:spPr bwMode="auto">
            <a:xfrm flipH="1">
              <a:off x="3129067" y="1852519"/>
              <a:ext cx="251515" cy="159577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>
              <a:stCxn id="48" idx="2"/>
              <a:endCxn id="53" idx="0"/>
            </p:cNvCxnSpPr>
            <p:nvPr/>
          </p:nvCxnSpPr>
          <p:spPr bwMode="auto">
            <a:xfrm>
              <a:off x="3380582" y="1852519"/>
              <a:ext cx="0" cy="158993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71"/>
            <p:cNvCxnSpPr>
              <a:stCxn id="47" idx="2"/>
              <a:endCxn id="53" idx="0"/>
            </p:cNvCxnSpPr>
            <p:nvPr/>
          </p:nvCxnSpPr>
          <p:spPr bwMode="auto">
            <a:xfrm flipH="1">
              <a:off x="3380582" y="1555853"/>
              <a:ext cx="288032" cy="455659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>
              <a:stCxn id="49" idx="2"/>
              <a:endCxn id="54" idx="0"/>
            </p:cNvCxnSpPr>
            <p:nvPr/>
          </p:nvCxnSpPr>
          <p:spPr bwMode="auto">
            <a:xfrm>
              <a:off x="3618184" y="1852571"/>
              <a:ext cx="0" cy="158993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/>
            <p:cNvCxnSpPr>
              <a:stCxn id="49" idx="2"/>
              <a:endCxn id="55" idx="0"/>
            </p:cNvCxnSpPr>
            <p:nvPr/>
          </p:nvCxnSpPr>
          <p:spPr bwMode="auto">
            <a:xfrm>
              <a:off x="3618184" y="1852571"/>
              <a:ext cx="237602" cy="158941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直接箭头连接符 74"/>
            <p:cNvCxnSpPr>
              <a:stCxn id="51" idx="2"/>
              <a:endCxn id="65" idx="0"/>
            </p:cNvCxnSpPr>
            <p:nvPr/>
          </p:nvCxnSpPr>
          <p:spPr bwMode="auto">
            <a:xfrm>
              <a:off x="4103688" y="1856068"/>
              <a:ext cx="519582" cy="159613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5"/>
            <p:cNvCxnSpPr>
              <a:stCxn id="50" idx="2"/>
              <a:endCxn id="55" idx="0"/>
            </p:cNvCxnSpPr>
            <p:nvPr/>
          </p:nvCxnSpPr>
          <p:spPr bwMode="auto">
            <a:xfrm>
              <a:off x="3855786" y="1852519"/>
              <a:ext cx="0" cy="158993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/>
            <p:cNvCxnSpPr>
              <a:stCxn id="51" idx="2"/>
              <a:endCxn id="56" idx="0"/>
            </p:cNvCxnSpPr>
            <p:nvPr/>
          </p:nvCxnSpPr>
          <p:spPr bwMode="auto">
            <a:xfrm>
              <a:off x="4103688" y="1856068"/>
              <a:ext cx="0" cy="158993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8" name="直接箭头连接符 77"/>
            <p:cNvCxnSpPr>
              <a:stCxn id="51" idx="2"/>
              <a:endCxn id="64" idx="0"/>
            </p:cNvCxnSpPr>
            <p:nvPr/>
          </p:nvCxnSpPr>
          <p:spPr bwMode="auto">
            <a:xfrm>
              <a:off x="4103688" y="1856068"/>
              <a:ext cx="281980" cy="159561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>
              <a:stCxn id="52" idx="2"/>
              <a:endCxn id="61" idx="0"/>
            </p:cNvCxnSpPr>
            <p:nvPr/>
          </p:nvCxnSpPr>
          <p:spPr bwMode="auto">
            <a:xfrm flipH="1">
              <a:off x="3112763" y="2155978"/>
              <a:ext cx="16304" cy="162629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79"/>
            <p:cNvCxnSpPr>
              <a:stCxn id="52" idx="2"/>
              <a:endCxn id="62" idx="0"/>
            </p:cNvCxnSpPr>
            <p:nvPr/>
          </p:nvCxnSpPr>
          <p:spPr bwMode="auto">
            <a:xfrm>
              <a:off x="3129067" y="2155978"/>
              <a:ext cx="221298" cy="162577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直接箭头连接符 80"/>
            <p:cNvCxnSpPr>
              <a:stCxn id="53" idx="2"/>
              <a:endCxn id="62" idx="0"/>
            </p:cNvCxnSpPr>
            <p:nvPr/>
          </p:nvCxnSpPr>
          <p:spPr bwMode="auto">
            <a:xfrm flipH="1">
              <a:off x="3350365" y="2155394"/>
              <a:ext cx="30217" cy="163161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>
              <a:stCxn id="54" idx="2"/>
              <a:endCxn id="63" idx="0"/>
            </p:cNvCxnSpPr>
            <p:nvPr/>
          </p:nvCxnSpPr>
          <p:spPr bwMode="auto">
            <a:xfrm flipH="1">
              <a:off x="3598267" y="2155446"/>
              <a:ext cx="19917" cy="166658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>
              <a:stCxn id="65" idx="2"/>
              <a:endCxn id="60" idx="0"/>
            </p:cNvCxnSpPr>
            <p:nvPr/>
          </p:nvCxnSpPr>
          <p:spPr bwMode="auto">
            <a:xfrm flipH="1">
              <a:off x="4604718" y="2159563"/>
              <a:ext cx="18552" cy="162541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>
              <a:stCxn id="64" idx="2"/>
              <a:endCxn id="60" idx="0"/>
            </p:cNvCxnSpPr>
            <p:nvPr/>
          </p:nvCxnSpPr>
          <p:spPr bwMode="auto">
            <a:xfrm>
              <a:off x="4385668" y="2159511"/>
              <a:ext cx="219050" cy="162593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>
              <a:stCxn id="64" idx="2"/>
              <a:endCxn id="59" idx="0"/>
            </p:cNvCxnSpPr>
            <p:nvPr/>
          </p:nvCxnSpPr>
          <p:spPr bwMode="auto">
            <a:xfrm flipH="1">
              <a:off x="4356816" y="2159511"/>
              <a:ext cx="28852" cy="159044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85"/>
            <p:cNvCxnSpPr>
              <a:stCxn id="56" idx="2"/>
              <a:endCxn id="58" idx="0"/>
            </p:cNvCxnSpPr>
            <p:nvPr/>
          </p:nvCxnSpPr>
          <p:spPr bwMode="auto">
            <a:xfrm>
              <a:off x="4103688" y="2158943"/>
              <a:ext cx="15526" cy="159664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7" name="直接箭头连接符 86"/>
            <p:cNvCxnSpPr>
              <a:stCxn id="55" idx="2"/>
              <a:endCxn id="57" idx="0"/>
            </p:cNvCxnSpPr>
            <p:nvPr/>
          </p:nvCxnSpPr>
          <p:spPr bwMode="auto">
            <a:xfrm>
              <a:off x="3855786" y="2155394"/>
              <a:ext cx="25826" cy="163161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4" name="矩形 43"/>
          <p:cNvSpPr/>
          <p:nvPr/>
        </p:nvSpPr>
        <p:spPr bwMode="auto">
          <a:xfrm>
            <a:off x="6506210" y="5485130"/>
            <a:ext cx="3201035" cy="953135"/>
          </a:xfrm>
          <a:prstGeom prst="rect">
            <a:avLst/>
          </a:prstGeom>
          <a:noFill/>
          <a:ln w="6350" cap="flat" cmpd="sng" algn="ctr">
            <a:noFill/>
            <a:prstDash val="dash"/>
            <a:miter lim="800000"/>
          </a:ln>
          <a:effectLst/>
        </p:spPr>
        <p:txBody>
          <a:bodyPr wrap="square" anchor="t" anchorCtr="0">
            <a:spAutoFit/>
          </a:bodyPr>
          <a:p>
            <a:pPr defTabSz="910590">
              <a:defRPr/>
            </a:pPr>
            <a:r>
              <a:rPr lang="zh-CN" altLang="en-US" sz="1400" b="1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启动时</a:t>
            </a:r>
            <a:r>
              <a:rPr lang="zh-CN" altLang="en-US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：各级依赖的所有</a:t>
            </a:r>
            <a:r>
              <a:rPr lang="en-US" altLang="zh-CN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so</a:t>
            </a:r>
            <a:r>
              <a:rPr lang="zh-CN" altLang="en-US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都被加载，并调用初始化函数</a:t>
            </a:r>
            <a:endParaRPr lang="en-US" altLang="zh-CN" sz="1400" kern="0" dirty="0">
              <a:solidFill>
                <a:prstClr val="black"/>
              </a:solidFill>
              <a:latin typeface="Microsoft YaHei" charset="-122"/>
              <a:ea typeface="Microsoft YaHei" charset="-122"/>
            </a:endParaRPr>
          </a:p>
          <a:p>
            <a:pPr defTabSz="910590"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1</a:t>
            </a:r>
            <a:r>
              <a:rPr lang="zh-CN" altLang="en-US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、内存多 </a:t>
            </a:r>
            <a:r>
              <a:rPr lang="en-US" altLang="zh-CN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+ </a:t>
            </a:r>
            <a:r>
              <a:rPr lang="zh-CN" altLang="en-US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耗时长</a:t>
            </a:r>
            <a:endParaRPr lang="en-US" altLang="zh-CN" sz="1400" kern="0" dirty="0">
              <a:solidFill>
                <a:prstClr val="black"/>
              </a:solidFill>
              <a:latin typeface="Microsoft YaHei" charset="-122"/>
              <a:ea typeface="Microsoft YaHei" charset="-122"/>
            </a:endParaRPr>
          </a:p>
          <a:p>
            <a:pPr defTabSz="910590"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2</a:t>
            </a:r>
            <a:r>
              <a:rPr lang="zh-CN" altLang="en-US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、加载的</a:t>
            </a:r>
            <a:r>
              <a:rPr lang="en-US" altLang="zh-CN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so</a:t>
            </a:r>
            <a:r>
              <a:rPr lang="zh-CN" altLang="en-US" sz="1400" kern="0" dirty="0">
                <a:solidFill>
                  <a:prstClr val="black"/>
                </a:solidFill>
                <a:latin typeface="Microsoft YaHei" charset="-122"/>
                <a:ea typeface="Microsoft YaHei" charset="-122"/>
              </a:rPr>
              <a:t>无法被卸载</a:t>
            </a:r>
            <a:endParaRPr lang="zh-CN" altLang="en-US" sz="1400" kern="0" dirty="0">
              <a:solidFill>
                <a:prstClr val="black"/>
              </a:solidFill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Linking Summary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Linking is a technique that allows programs to be constructed from multiple object files.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Linking can happen at different times in a program’s lifetime:</a:t>
            </a:r>
            <a:endParaRPr lang="en-US" dirty="0" smtClean="0"/>
          </a:p>
          <a:p>
            <a:pPr lvl="1"/>
            <a:r>
              <a:rPr lang="en-US" dirty="0" smtClean="0"/>
              <a:t>Compile time (when a program is compiled)</a:t>
            </a:r>
            <a:endParaRPr lang="en-US" dirty="0" smtClean="0"/>
          </a:p>
          <a:p>
            <a:pPr lvl="1"/>
            <a:r>
              <a:rPr lang="en-US" dirty="0" smtClean="0"/>
              <a:t>Load time (when a program is loaded into memory)</a:t>
            </a:r>
            <a:endParaRPr lang="en-US" dirty="0" smtClean="0"/>
          </a:p>
          <a:p>
            <a:pPr lvl="1"/>
            <a:r>
              <a:rPr lang="en-US" dirty="0" smtClean="0"/>
              <a:t>Run time (while a program is executing)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Understanding linking can help you avoid nasty errors and make you a </a:t>
            </a:r>
            <a:r>
              <a:rPr lang="en-US" smtClean="0"/>
              <a:t>better programmer.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solidFill>
                  <a:schemeClr val="tx1"/>
                </a:solidFill>
              </a:rPr>
              <a:t>静态库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lvl="0"/>
            <a:r>
              <a:rPr lang="zh-CN" altLang="en-US" dirty="0" smtClean="0">
                <a:solidFill>
                  <a:schemeClr val="tx1"/>
                </a:solidFill>
              </a:rPr>
              <a:t>动态库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lvl="0"/>
            <a:r>
              <a:rPr lang="en-US" dirty="0" smtClean="0">
                <a:solidFill>
                  <a:schemeClr val="tx1"/>
                </a:solidFill>
              </a:rPr>
              <a:t>Case study: 库的插桩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案例研究：库插桩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库插桩</a:t>
            </a:r>
            <a:r>
              <a:rPr lang="zh-CN" altLang="en-US" sz="21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：一种强大的链接技术，使得程序员可以截获对任意函数的调用</a:t>
            </a:r>
            <a:endParaRPr lang="en-GB" sz="21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r>
              <a:rPr lang="en-GB" sz="21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插桩可以发生在</a:t>
            </a:r>
            <a:r>
              <a:rPr lang="zh-CN" altLang="en-US" sz="21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：</a:t>
            </a:r>
            <a:endParaRPr lang="en-GB" sz="21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sz="18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编译时</a:t>
            </a:r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（当编译源码时）</a:t>
            </a:r>
            <a:endParaRPr lang="en-US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sz="18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链接时</a:t>
            </a:r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（当将可重定位目标文件静态链接生成可执行目标文件时）</a:t>
            </a:r>
            <a:endParaRPr lang="en-US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sz="18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加载</a:t>
            </a:r>
            <a:r>
              <a:rPr lang="en-US" altLang="zh-CN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/</a:t>
            </a:r>
            <a:r>
              <a:rPr lang="en-US" sz="18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运行时</a:t>
            </a:r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（当可执行目标文件加载进内存、动态链接和执行时）</a:t>
            </a:r>
            <a:endParaRPr lang="en-US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插桩技术的一些应用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878806"/>
            <a:ext cx="5432425" cy="3188494"/>
          </a:xfrm>
        </p:spPr>
        <p:txBody>
          <a:bodyPr/>
          <a:lstStyle/>
          <a:p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安全Security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限制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（沙盒）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后台加密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调试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2014年两个Facebook (Meta)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的工程师用插桩技术调试发现了一个持续一年的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bug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SPDY网络栈中的代码写入到了错误的位置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是通过拦截对 </a:t>
            </a:r>
            <a:r>
              <a:rPr lang="en-US" altLang="zh-CN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Posix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写函数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(write,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writev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pwrite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的调用解决的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12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Source:  Facebook engineering blog post at https://</a:t>
            </a:r>
            <a:r>
              <a:rPr lang="en-US" sz="12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code.facebook.com</a:t>
            </a:r>
            <a:r>
              <a:rPr lang="en-US" sz="12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/posts/313033472212144/debugging-file-corruption-on-</a:t>
            </a:r>
            <a:r>
              <a:rPr lang="en-US" sz="12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ios</a:t>
            </a:r>
            <a:r>
              <a:rPr lang="en-US" sz="12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/</a:t>
            </a:r>
            <a:endParaRPr lang="en-US" sz="12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450" y="2176097"/>
            <a:ext cx="3152775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插桩技术的一些应用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1020" y="1878806"/>
            <a:ext cx="7243932" cy="3729038"/>
          </a:xfrm>
        </p:spPr>
        <p:txBody>
          <a:bodyPr/>
          <a:lstStyle/>
          <a:p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监控与侧写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p</a:t>
            </a:r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rofiling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）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对函数调用次数计数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描述对函数调用的地点和参数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跟踪</a:t>
            </a:r>
            <a:r>
              <a:rPr lang="en-GB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malloc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2"/>
            <a:r>
              <a:rPr lang="en-GB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发现内存泄漏</a:t>
            </a:r>
            <a:endParaRPr lang="en-GB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2"/>
            <a:r>
              <a:rPr lang="en-GB" b="1" dirty="0" err="1">
                <a:solidFill>
                  <a:srgbClr val="C00000"/>
                </a:solidFill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生成访存地址跟踪序列</a:t>
            </a:r>
            <a:endParaRPr lang="en-GB" b="1" dirty="0">
              <a:solidFill>
                <a:srgbClr val="C00000"/>
              </a:solidFill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FangSong" panose="02010609060101010101" pitchFamily="49" charset="-122"/>
                <a:ea typeface="FangSong" panose="02010609060101010101" pitchFamily="49" charset="-122"/>
              </a:rPr>
              <a:t>程序示例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5900" y="2571750"/>
            <a:ext cx="4800600" cy="1714500"/>
          </a:xfrm>
        </p:spPr>
        <p:txBody>
          <a:bodyPr/>
          <a:lstStyle/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目标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：在不中断程序执行和修改源代码的情况下，跟踪分配和释放块的地址和大小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三种解决方法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：在编译时、链接时和加载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/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运行时对库函数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malloc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和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free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插桩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035753" y="2458686"/>
            <a:ext cx="2971800" cy="1939290"/>
          </a:xfrm>
          <a:prstGeom prst="rect">
            <a:avLst/>
          </a:prstGeom>
          <a:solidFill>
            <a:srgbClr val="F6F5BD"/>
          </a:solidFill>
          <a:ln w="12600">
            <a:solidFill>
              <a:schemeClr val="tx1"/>
            </a:solidFill>
            <a:miter lim="800000"/>
          </a:ln>
          <a:effectLst/>
        </p:spPr>
        <p:txBody>
          <a:bodyPr wrap="square" lIns="67500" tIns="35100" rIns="67500" bIns="35100">
            <a:spAutoFit/>
          </a:bodyPr>
          <a:lstStyle/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350" dirty="0" err="1">
                <a:solidFill>
                  <a:srgbClr val="9D206F"/>
                </a:solidFill>
                <a:latin typeface="Menlo-Regular" panose="020B0609030804020204"/>
              </a:rPr>
              <a:t>stdio.h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350" dirty="0" err="1">
                <a:solidFill>
                  <a:srgbClr val="9D206F"/>
                </a:solidFill>
                <a:latin typeface="Menlo-Regular" panose="020B0609030804020204"/>
              </a:rPr>
              <a:t>malloc.h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()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>
                <a:solidFill>
                  <a:srgbClr val="C1651C"/>
                </a:solidFill>
                <a:latin typeface="Menlo-Regular" panose="020B0609030804020204"/>
              </a:rPr>
              <a:t>p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(32);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free(p);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is-IS" sz="135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is-IS" sz="1350" dirty="0">
                <a:solidFill>
                  <a:srgbClr val="000000"/>
                </a:solidFill>
                <a:latin typeface="Menlo-Regular" panose="020B0609030804020204"/>
              </a:rPr>
              <a:t>(0);</a:t>
            </a:r>
            <a:endParaRPr lang="is-I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35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35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4742" y="4122315"/>
            <a:ext cx="6972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solidFill>
                  <a:srgbClr val="7F7F7F"/>
                </a:solidFill>
                <a:latin typeface="Courier New" panose="02070609020205020404"/>
                <a:cs typeface="Courier New" panose="02070609020205020404"/>
              </a:rPr>
              <a:t>int.c</a:t>
            </a:r>
            <a:endParaRPr lang="en-US" sz="1350" dirty="0">
              <a:solidFill>
                <a:srgbClr val="7F7F7F"/>
              </a:solidFill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085850"/>
            <a:ext cx="5694070" cy="571500"/>
          </a:xfrm>
        </p:spPr>
        <p:txBody>
          <a:bodyPr/>
          <a:lstStyle/>
          <a:p>
            <a:r>
              <a:rPr lang="en-US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编译时插桩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34764" y="1600200"/>
            <a:ext cx="6418787" cy="4246245"/>
          </a:xfrm>
          <a:prstGeom prst="rect">
            <a:avLst/>
          </a:prstGeom>
          <a:solidFill>
            <a:srgbClr val="F7F5C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</a:t>
            </a:r>
            <a:r>
              <a:rPr lang="en-US" sz="1350" dirty="0" err="1">
                <a:solidFill>
                  <a:srgbClr val="926492"/>
                </a:solidFill>
                <a:latin typeface="Menlo-Regular" panose="020B0609030804020204"/>
              </a:rPr>
              <a:t>ifdef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COMPILETIME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350" dirty="0" err="1">
                <a:solidFill>
                  <a:srgbClr val="9D206F"/>
                </a:solidFill>
                <a:latin typeface="Menlo-Regular" panose="020B0609030804020204"/>
              </a:rPr>
              <a:t>stdio.h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350" dirty="0" err="1">
                <a:solidFill>
                  <a:srgbClr val="9D206F"/>
                </a:solidFill>
                <a:latin typeface="Menlo-Regular" panose="020B0609030804020204"/>
              </a:rPr>
              <a:t>malloc.h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en-US" sz="1350" dirty="0" err="1">
                <a:solidFill>
                  <a:srgbClr val="CB2418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 wrapper function */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mymalloc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 err="1">
                <a:solidFill>
                  <a:srgbClr val="2D961E"/>
                </a:solidFill>
                <a:latin typeface="Menlo-Regular" panose="020B0609030804020204"/>
              </a:rPr>
              <a:t>size_t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(size);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350" dirty="0" err="1">
                <a:solidFill>
                  <a:srgbClr val="9D206F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(%d)=%p\n"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,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           (</a:t>
            </a:r>
            <a:r>
              <a:rPr lang="it-IT" sz="135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r>
              <a:rPr lang="it-IT" sz="1350" dirty="0" err="1">
                <a:solidFill>
                  <a:srgbClr val="000000"/>
                </a:solidFill>
                <a:latin typeface="Menlo-Regular" panose="020B0609030804020204"/>
              </a:rPr>
              <a:t>size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it-IT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it-IT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it-IT" sz="1350" dirty="0" err="1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it-IT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it-IT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it-IT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it-IT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t-IT" sz="1350" dirty="0">
                <a:solidFill>
                  <a:srgbClr val="CB2418"/>
                </a:solidFill>
                <a:latin typeface="Menlo-Regular" panose="020B0609030804020204"/>
              </a:rPr>
              <a:t>/* free </a:t>
            </a:r>
            <a:r>
              <a:rPr lang="it-IT" sz="1350" dirty="0" err="1">
                <a:solidFill>
                  <a:srgbClr val="CB2418"/>
                </a:solidFill>
                <a:latin typeface="Menlo-Regular" panose="020B0609030804020204"/>
              </a:rPr>
              <a:t>wrapper</a:t>
            </a:r>
            <a:r>
              <a:rPr lang="it-IT" sz="135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it-IT" sz="1350" dirty="0" err="1">
                <a:solidFill>
                  <a:srgbClr val="CB2418"/>
                </a:solidFill>
                <a:latin typeface="Menlo-Regular" panose="020B0609030804020204"/>
              </a:rPr>
              <a:t>function</a:t>
            </a:r>
            <a:r>
              <a:rPr lang="it-IT" sz="135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it-IT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t-IT" sz="135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it-IT" sz="1350" dirty="0" err="1">
                <a:solidFill>
                  <a:srgbClr val="4A00FF"/>
                </a:solidFill>
                <a:latin typeface="Menlo-Regular" panose="020B0609030804020204"/>
              </a:rPr>
              <a:t>myfree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it-IT" sz="135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it-IT" sz="135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it-IT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t-IT" sz="135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it-IT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free(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"free(%p)\n"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</a:t>
            </a:r>
            <a:r>
              <a:rPr lang="en-US" sz="1350" dirty="0" err="1">
                <a:solidFill>
                  <a:srgbClr val="926492"/>
                </a:solidFill>
                <a:latin typeface="Menlo-Regular" panose="020B0609030804020204"/>
              </a:rPr>
              <a:t>endif</a:t>
            </a:r>
            <a:endParaRPr lang="en-US" sz="1350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76135" y="5666601"/>
            <a:ext cx="12115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solidFill>
                  <a:srgbClr val="7F7F7F"/>
                </a:solidFill>
                <a:latin typeface="Courier New" panose="02070609020205020404"/>
                <a:cs typeface="Courier New" panose="02070609020205020404"/>
              </a:rPr>
              <a:t>mymalloc.c</a:t>
            </a:r>
            <a:endParaRPr lang="en-US" sz="1350" dirty="0">
              <a:solidFill>
                <a:srgbClr val="7F7F7F"/>
              </a:solidFill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编译时插桩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34764" y="1998956"/>
            <a:ext cx="6418787" cy="1337945"/>
          </a:xfrm>
          <a:prstGeom prst="rect">
            <a:avLst/>
          </a:prstGeom>
          <a:solidFill>
            <a:srgbClr val="F7F5C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#define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mymalloc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(size)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#define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4A00FF"/>
                </a:solidFill>
                <a:latin typeface="Menlo-Regular" panose="020B0609030804020204"/>
              </a:rPr>
              <a:t>free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myfree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mymalloc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 err="1">
                <a:solidFill>
                  <a:srgbClr val="2D961E"/>
                </a:solidFill>
                <a:latin typeface="Menlo-Regular" panose="020B0609030804020204"/>
              </a:rPr>
              <a:t>size_t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myfree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350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3918" y="3037701"/>
            <a:ext cx="100584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solidFill>
                  <a:srgbClr val="7F7F7F"/>
                </a:solidFill>
                <a:latin typeface="Courier New" panose="02070609020205020404"/>
                <a:cs typeface="Courier New" panose="02070609020205020404"/>
              </a:rPr>
              <a:t>malloc.h</a:t>
            </a:r>
            <a:endParaRPr lang="en-US" sz="1350" dirty="0">
              <a:solidFill>
                <a:srgbClr val="7F7F7F"/>
              </a:solidFill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34764" y="3600451"/>
            <a:ext cx="5694070" cy="1960880"/>
          </a:xfrm>
          <a:prstGeom prst="rect">
            <a:avLst/>
          </a:prstGeom>
          <a:solidFill>
            <a:srgbClr val="E6E6E6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 make </a:t>
            </a:r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intc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gcc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-Wall -DCOMPILETIME -c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mymalloc.c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gcc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-Wall -I. -o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int.c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mymalloc.o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 make </a:t>
            </a:r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runc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./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intc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malloc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(32)=0x1edc010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free(0x1edc010)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</a:t>
            </a:r>
            <a:endParaRPr lang="en-US" sz="1350" dirty="0">
              <a:latin typeface="Courier New" panose="02070609020205020404"/>
              <a:cs typeface="Courier New" panose="02070609020205020404"/>
            </a:endParaRPr>
          </a:p>
          <a:p>
            <a:endParaRPr lang="en-US" sz="1350" dirty="0"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71550"/>
            <a:ext cx="6647635" cy="571500"/>
          </a:xfrm>
        </p:spPr>
        <p:txBody>
          <a:bodyPr/>
          <a:lstStyle/>
          <a:p>
            <a:r>
              <a:rPr lang="en-US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链接时插桩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34764" y="1485901"/>
            <a:ext cx="6418787" cy="4453890"/>
          </a:xfrm>
          <a:prstGeom prst="rect">
            <a:avLst/>
          </a:prstGeom>
          <a:solidFill>
            <a:srgbClr val="F7F5C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</a:t>
            </a:r>
            <a:r>
              <a:rPr lang="en-US" sz="1350" dirty="0" err="1">
                <a:solidFill>
                  <a:srgbClr val="926492"/>
                </a:solidFill>
                <a:latin typeface="Menlo-Regular" panose="020B0609030804020204"/>
              </a:rPr>
              <a:t>ifdef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LINKTIME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350" dirty="0" err="1">
                <a:solidFill>
                  <a:srgbClr val="9D206F"/>
                </a:solidFill>
                <a:latin typeface="Menlo-Regular" panose="020B0609030804020204"/>
              </a:rPr>
              <a:t>stdio.h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>
                <a:solidFill>
                  <a:srgbClr val="4A00FF"/>
                </a:solidFill>
                <a:latin typeface="Menlo-Regular" panose="020B0609030804020204"/>
              </a:rPr>
              <a:t>__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real_malloc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 err="1">
                <a:solidFill>
                  <a:srgbClr val="2D961E"/>
                </a:solidFill>
                <a:latin typeface="Menlo-Regular" panose="020B0609030804020204"/>
              </a:rPr>
              <a:t>size_t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4A00FF"/>
                </a:solidFill>
                <a:latin typeface="Menlo-Regular" panose="020B0609030804020204"/>
              </a:rPr>
              <a:t>__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real_free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en-US" sz="1350" dirty="0" err="1">
                <a:solidFill>
                  <a:srgbClr val="CB2418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 wrapper function */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>
                <a:solidFill>
                  <a:srgbClr val="4A00FF"/>
                </a:solidFill>
                <a:latin typeface="Menlo-Regular" panose="020B0609030804020204"/>
              </a:rPr>
              <a:t>__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wrap_malloc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 err="1">
                <a:solidFill>
                  <a:srgbClr val="2D961E"/>
                </a:solidFill>
                <a:latin typeface="Menlo-Regular" panose="020B0609030804020204"/>
              </a:rPr>
              <a:t>size_t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= __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real_malloc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(size); </a:t>
            </a:r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/* Call </a:t>
            </a:r>
            <a:r>
              <a:rPr lang="en-US" sz="1350" dirty="0" err="1">
                <a:solidFill>
                  <a:srgbClr val="CB2418"/>
                </a:solidFill>
                <a:latin typeface="Menlo-Regular" panose="020B0609030804020204"/>
              </a:rPr>
              <a:t>libc</a:t>
            </a:r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en-US" sz="1350" dirty="0" err="1">
                <a:solidFill>
                  <a:srgbClr val="CB2418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350" dirty="0" err="1">
                <a:solidFill>
                  <a:srgbClr val="9D206F"/>
                </a:solidFill>
                <a:latin typeface="Menlo-Regular" panose="020B0609030804020204"/>
              </a:rPr>
              <a:t>malloc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(%d) = %p\n"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, (</a:t>
            </a:r>
            <a:r>
              <a:rPr lang="en-US" sz="135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)size,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/* free wrapper function */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350" dirty="0">
                <a:solidFill>
                  <a:srgbClr val="4A00FF"/>
                </a:solidFill>
                <a:latin typeface="Menlo-Regular" panose="020B0609030804020204"/>
              </a:rPr>
              <a:t>__</a:t>
            </a:r>
            <a:r>
              <a:rPr lang="en-US" sz="1350" dirty="0" err="1">
                <a:solidFill>
                  <a:srgbClr val="4A00FF"/>
                </a:solidFill>
                <a:latin typeface="Menlo-Regular" panose="020B0609030804020204"/>
              </a:rPr>
              <a:t>wrap_free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35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__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real_free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/* Call </a:t>
            </a:r>
            <a:r>
              <a:rPr lang="en-US" sz="1350" dirty="0" err="1">
                <a:solidFill>
                  <a:srgbClr val="CB2418"/>
                </a:solidFill>
                <a:latin typeface="Menlo-Regular" panose="020B0609030804020204"/>
              </a:rPr>
              <a:t>libc</a:t>
            </a:r>
            <a:r>
              <a:rPr lang="en-US" sz="1350" dirty="0">
                <a:solidFill>
                  <a:srgbClr val="CB2418"/>
                </a:solidFill>
                <a:latin typeface="Menlo-Regular" panose="020B0609030804020204"/>
              </a:rPr>
              <a:t> free */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350" dirty="0">
                <a:solidFill>
                  <a:srgbClr val="9D206F"/>
                </a:solidFill>
                <a:latin typeface="Menlo-Regular" panose="020B0609030804020204"/>
              </a:rPr>
              <a:t>"free(%p)\n"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35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35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350" dirty="0">
                <a:solidFill>
                  <a:srgbClr val="926492"/>
                </a:solidFill>
                <a:latin typeface="Menlo-Regular" panose="020B0609030804020204"/>
              </a:rPr>
              <a:t>#</a:t>
            </a:r>
            <a:r>
              <a:rPr lang="en-US" sz="1350" dirty="0" err="1">
                <a:solidFill>
                  <a:srgbClr val="926492"/>
                </a:solidFill>
                <a:latin typeface="Menlo-Regular" panose="020B0609030804020204"/>
              </a:rPr>
              <a:t>endif</a:t>
            </a:r>
            <a:endParaRPr lang="en-US" sz="1350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76135" y="5609451"/>
            <a:ext cx="12115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solidFill>
                  <a:srgbClr val="7F7F7F"/>
                </a:solidFill>
                <a:latin typeface="Courier New" panose="02070609020205020404"/>
                <a:cs typeface="Courier New" panose="02070609020205020404"/>
              </a:rPr>
              <a:t>mymalloc.c</a:t>
            </a:r>
            <a:endParaRPr lang="en-US" sz="1350" dirty="0">
              <a:solidFill>
                <a:srgbClr val="7F7F7F"/>
              </a:solidFill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链接时插桩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1302" y="4000500"/>
            <a:ext cx="6229349" cy="1828800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“-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Wl”标志是将后面的参数传递给链接器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，并用空格替换逗号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“--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wrap,malloc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”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参数指示链接器以一种特殊的方式解析引用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对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malloc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的引用应当被解析成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__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wrap_malloc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对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__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real_malloc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的引用应当被解析成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malloc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34764" y="1832909"/>
            <a:ext cx="5922169" cy="2168525"/>
          </a:xfrm>
          <a:prstGeom prst="rect">
            <a:avLst/>
          </a:prstGeom>
          <a:solidFill>
            <a:srgbClr val="E6E6E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 make </a:t>
            </a:r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intl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gcc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-Wall -DLINKTIME -c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mymalloc.c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gcc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-Wall -c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int.c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gcc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-Wall -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Wl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,--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wrap,malloc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Wl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,--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wrap,free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-o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intl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int.o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mymalloc.o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 make </a:t>
            </a:r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runl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./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intl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fi-FI" sz="1350" b="0" dirty="0">
                <a:latin typeface="Courier New" panose="02070609020205020404"/>
                <a:cs typeface="Courier New" panose="02070609020205020404"/>
              </a:rPr>
              <a:t>malloc(32) = 0x1aa0010</a:t>
            </a:r>
            <a:endParaRPr lang="fi-FI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free(0x1aa0010)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 </a:t>
            </a:r>
            <a:endParaRPr lang="en-US" sz="1350" dirty="0"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81300" y="1684183"/>
            <a:ext cx="6686551" cy="4154170"/>
          </a:xfrm>
          <a:prstGeom prst="rect">
            <a:avLst/>
          </a:prstGeom>
          <a:solidFill>
            <a:srgbClr val="F7F5C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26492"/>
                </a:solidFill>
                <a:latin typeface="Menlo-Regular" panose="020B0609030804020204"/>
              </a:rPr>
              <a:t>#</a:t>
            </a:r>
            <a:r>
              <a:rPr lang="en-US" sz="1200" dirty="0" err="1">
                <a:solidFill>
                  <a:srgbClr val="926492"/>
                </a:solidFill>
                <a:latin typeface="Menlo-Regular" panose="020B0609030804020204"/>
              </a:rPr>
              <a:t>ifdef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RUNTIME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926492"/>
                </a:solidFill>
                <a:latin typeface="Menlo-Regular" panose="020B0609030804020204"/>
              </a:rPr>
              <a:t>#define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>
                <a:solidFill>
                  <a:srgbClr val="C1651C"/>
                </a:solidFill>
                <a:latin typeface="Menlo-Regular" panose="020B0609030804020204"/>
              </a:rPr>
              <a:t>_GNU_SOURCE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200" dirty="0" err="1">
                <a:solidFill>
                  <a:srgbClr val="9D206F"/>
                </a:solidFill>
                <a:latin typeface="Menlo-Regular" panose="020B0609030804020204"/>
              </a:rPr>
              <a:t>stdio.h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200" dirty="0" err="1">
                <a:solidFill>
                  <a:srgbClr val="9D206F"/>
                </a:solidFill>
                <a:latin typeface="Menlo-Regular" panose="020B0609030804020204"/>
              </a:rPr>
              <a:t>stdlib.h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&lt;</a:t>
            </a:r>
            <a:r>
              <a:rPr lang="en-US" sz="1200" dirty="0" err="1">
                <a:solidFill>
                  <a:srgbClr val="9D206F"/>
                </a:solidFill>
                <a:latin typeface="Menlo-Regular" panose="020B0609030804020204"/>
              </a:rPr>
              <a:t>dlfcn.h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&gt;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malloc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wrapper function */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200" dirty="0" err="1">
                <a:solidFill>
                  <a:srgbClr val="4A00FF"/>
                </a:solidFill>
                <a:latin typeface="Menlo-Regular" panose="020B0609030804020204"/>
              </a:rPr>
              <a:t>malloc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200" dirty="0" err="1">
                <a:solidFill>
                  <a:srgbClr val="2D961E"/>
                </a:solidFill>
                <a:latin typeface="Menlo-Regular" panose="020B0609030804020204"/>
              </a:rPr>
              <a:t>size_t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*(*</a:t>
            </a:r>
            <a:r>
              <a:rPr lang="en-US" sz="1200" dirty="0" err="1">
                <a:solidFill>
                  <a:srgbClr val="C1651C"/>
                </a:solidFill>
                <a:latin typeface="Menlo-Regular" panose="020B0609030804020204"/>
              </a:rPr>
              <a:t>mallocp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)(</a:t>
            </a:r>
            <a:r>
              <a:rPr lang="en-US" sz="1200" dirty="0" err="1">
                <a:solidFill>
                  <a:srgbClr val="2D961E"/>
                </a:solidFill>
                <a:latin typeface="Menlo-Regular" panose="020B0609030804020204"/>
              </a:rPr>
              <a:t>size_t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200" dirty="0">
                <a:solidFill>
                  <a:srgbClr val="C1651C"/>
                </a:solidFill>
                <a:latin typeface="Menlo-Regular" panose="020B0609030804020204"/>
              </a:rPr>
              <a:t>error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mallocp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dlsym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(RTLD_NEXT, 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200" dirty="0" err="1">
                <a:solidFill>
                  <a:srgbClr val="9D206F"/>
                </a:solidFill>
                <a:latin typeface="Menlo-Regular" panose="020B0609030804020204"/>
              </a:rPr>
              <a:t>malloc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/* Get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addr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of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libc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malloc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((error =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dlerror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()) != </a:t>
            </a:r>
            <a:r>
              <a:rPr lang="en-US" sz="12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 {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fputs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(error,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stderr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    exit(1);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20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mallocp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(size); 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/* Call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libc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malloc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200" dirty="0" err="1">
                <a:solidFill>
                  <a:srgbClr val="9D206F"/>
                </a:solidFill>
                <a:latin typeface="Menlo-Regular" panose="020B0609030804020204"/>
              </a:rPr>
              <a:t>malloc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(%d) = %p\n"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, (</a:t>
            </a:r>
            <a:r>
              <a:rPr lang="en-US" sz="12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)size,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200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90436" y="5673991"/>
            <a:ext cx="12115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solidFill>
                  <a:srgbClr val="7F7F7F"/>
                </a:solidFill>
                <a:latin typeface="Courier New" panose="02070609020205020404"/>
                <a:cs typeface="Courier New" panose="02070609020205020404"/>
              </a:rPr>
              <a:t>mymalloc.c</a:t>
            </a:r>
            <a:endParaRPr lang="en-US" sz="1350" dirty="0">
              <a:solidFill>
                <a:srgbClr val="7F7F7F"/>
              </a:solidFill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81550" y="1205990"/>
            <a:ext cx="5719397" cy="15455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350" dirty="0">
                <a:latin typeface="Times New Roman" panose="02020603050405020304" pitchFamily="18" charset="0"/>
              </a:rPr>
              <a:t>RTLD_NEXT: Find the next occurrence of the desired symbol in the search order after the current object. This</a:t>
            </a:r>
            <a:r>
              <a:rPr lang="zh-CN" altLang="en-US" sz="1350" dirty="0">
                <a:latin typeface="Times New Roman" panose="02020603050405020304" pitchFamily="18" charset="0"/>
              </a:rPr>
              <a:t> </a:t>
            </a:r>
            <a:r>
              <a:rPr lang="en-US" sz="1350" dirty="0">
                <a:latin typeface="Times New Roman" panose="02020603050405020304" pitchFamily="18" charset="0"/>
              </a:rPr>
              <a:t>allows one to provide a wrapper around a function in another shared object, so that, for example, the definition of a function in a preloaded shared object (see LD_PRELOAD in </a:t>
            </a:r>
            <a:r>
              <a:rPr lang="en-US" sz="1350" dirty="0" err="1">
                <a:latin typeface="Times New Roman" panose="02020603050405020304" pitchFamily="18" charset="0"/>
              </a:rPr>
              <a:t>ld.so</a:t>
            </a:r>
            <a:r>
              <a:rPr lang="en-US" sz="1350" dirty="0">
                <a:latin typeface="Times New Roman" panose="02020603050405020304" pitchFamily="18" charset="0"/>
              </a:rPr>
              <a:t>(8)) can find and</a:t>
            </a:r>
            <a:r>
              <a:rPr lang="zh-CN" altLang="en-US" sz="1350" dirty="0">
                <a:latin typeface="Times New Roman" panose="02020603050405020304" pitchFamily="18" charset="0"/>
              </a:rPr>
              <a:t> </a:t>
            </a:r>
            <a:r>
              <a:rPr lang="en-US" sz="1350" dirty="0">
                <a:latin typeface="Times New Roman" panose="02020603050405020304" pitchFamily="18" charset="0"/>
              </a:rPr>
              <a:t>invoke  the "real" function provided in another shared object (or for that matter, the "next" definition of the function in cases where there are multiple layers of preloading).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itle 1"/>
          <p:cNvSpPr txBox="1"/>
          <p:nvPr/>
        </p:nvSpPr>
        <p:spPr bwMode="auto">
          <a:xfrm>
            <a:off x="1881019" y="1184009"/>
            <a:ext cx="7592093" cy="571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ctr" anchorCtr="0" compatLnSpc="1"/>
          <a:lstStyle>
            <a:lvl1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2pPr>
            <a:lvl3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3pPr>
            <a:lvl4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4pPr>
            <a:lvl5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5pPr>
            <a:lvl6pPr marL="5765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6pPr>
            <a:lvl7pPr marL="10337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7pPr>
            <a:lvl8pPr marL="14909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8pPr>
            <a:lvl9pPr marL="19481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9pPr>
          </a:lstStyle>
          <a:p>
            <a:r>
              <a:rPr lang="en-US" sz="2700" kern="0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加载</a:t>
            </a:r>
            <a:r>
              <a:rPr lang="en-US" altLang="zh-CN" sz="2700" kern="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/</a:t>
            </a:r>
            <a:r>
              <a:rPr lang="zh-CN" altLang="en-US" sz="2700" kern="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运行时</a:t>
            </a:r>
            <a:r>
              <a:rPr lang="en-US" sz="2700" kern="0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插桩</a:t>
            </a:r>
            <a:endParaRPr lang="en-US" sz="27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加载</a:t>
            </a:r>
            <a:r>
              <a:rPr lang="en-US" altLang="zh-CN" kern="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/</a:t>
            </a:r>
            <a:r>
              <a:rPr lang="zh-CN" altLang="en-US" kern="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运行时</a:t>
            </a:r>
            <a:r>
              <a:rPr lang="en-US" kern="0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插桩</a:t>
            </a:r>
            <a:endParaRPr lang="en-US" kern="0" dirty="0"/>
          </a:p>
        </p:txBody>
      </p:sp>
      <p:sp>
        <p:nvSpPr>
          <p:cNvPr id="4" name="Rectangle 3"/>
          <p:cNvSpPr/>
          <p:nvPr/>
        </p:nvSpPr>
        <p:spPr>
          <a:xfrm>
            <a:off x="2781300" y="2000250"/>
            <a:ext cx="6572250" cy="3415030"/>
          </a:xfrm>
          <a:prstGeom prst="rect">
            <a:avLst/>
          </a:prstGeom>
          <a:solidFill>
            <a:srgbClr val="F7F5C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/* free wrapper function */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200" dirty="0">
                <a:solidFill>
                  <a:srgbClr val="4A00FF"/>
                </a:solidFill>
                <a:latin typeface="Menlo-Regular" panose="020B0609030804020204"/>
              </a:rPr>
              <a:t>free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2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200" dirty="0" err="1">
                <a:solidFill>
                  <a:srgbClr val="C1651C"/>
                </a:solidFill>
                <a:latin typeface="Menlo-Regular" panose="020B0609030804020204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2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i-FI" sz="1200" dirty="0">
                <a:solidFill>
                  <a:srgbClr val="000000"/>
                </a:solidFill>
                <a:latin typeface="Menlo-Regular" panose="020B0609030804020204"/>
              </a:rPr>
              <a:t> (*</a:t>
            </a:r>
            <a:r>
              <a:rPr lang="fi-FI" sz="1200" dirty="0" err="1">
                <a:solidFill>
                  <a:srgbClr val="C1651C"/>
                </a:solidFill>
                <a:latin typeface="Menlo-Regular" panose="020B0609030804020204"/>
              </a:rPr>
              <a:t>freep</a:t>
            </a:r>
            <a:r>
              <a:rPr lang="fi-FI" sz="1200" dirty="0" err="1">
                <a:solidFill>
                  <a:srgbClr val="000000"/>
                </a:solidFill>
                <a:latin typeface="Menlo-Regular" panose="020B0609030804020204"/>
              </a:rPr>
              <a:t>)(</a:t>
            </a:r>
            <a:r>
              <a:rPr lang="fi-FI" sz="12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i-FI" sz="1200" dirty="0">
                <a:solidFill>
                  <a:srgbClr val="000000"/>
                </a:solidFill>
                <a:latin typeface="Menlo-Regular" panose="020B0609030804020204"/>
              </a:rPr>
              <a:t> *) = </a:t>
            </a:r>
            <a:r>
              <a:rPr lang="fi-FI" sz="12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fi-FI" sz="12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200" dirty="0" err="1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fi-FI" sz="12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fi-FI" sz="1200" dirty="0" err="1">
                <a:solidFill>
                  <a:srgbClr val="C1651C"/>
                </a:solidFill>
                <a:latin typeface="Menlo-Regular" panose="020B0609030804020204"/>
              </a:rPr>
              <a:t>error</a:t>
            </a:r>
            <a:r>
              <a:rPr lang="fi-FI" sz="12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2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i-FI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(!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2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is-IS" sz="12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is-IS" sz="12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is-IS" sz="12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is-I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freep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dlsym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(RTLD_NEXT, 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"free"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/* Get address of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libc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free */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((error =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dlerror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()) != </a:t>
            </a:r>
            <a:r>
              <a:rPr lang="en-US" sz="12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 {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fputs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(error,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stderr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    exit(1);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freep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/* Call </a:t>
            </a:r>
            <a:r>
              <a:rPr lang="en-US" sz="1200" dirty="0" err="1">
                <a:solidFill>
                  <a:srgbClr val="CB2418"/>
                </a:solidFill>
                <a:latin typeface="Menlo-Regular" panose="020B0609030804020204"/>
              </a:rPr>
              <a:t>libc</a:t>
            </a:r>
            <a:r>
              <a:rPr lang="en-US" sz="1200" dirty="0">
                <a:solidFill>
                  <a:srgbClr val="CB2418"/>
                </a:solidFill>
                <a:latin typeface="Menlo-Regular" panose="020B0609030804020204"/>
              </a:rPr>
              <a:t> free */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200" dirty="0">
                <a:solidFill>
                  <a:srgbClr val="9D206F"/>
                </a:solidFill>
                <a:latin typeface="Menlo-Regular" panose="020B0609030804020204"/>
              </a:rPr>
              <a:t>"free(%p)\n"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Menlo-Regular" panose="020B0609030804020204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2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200" dirty="0">
                <a:solidFill>
                  <a:srgbClr val="926492"/>
                </a:solidFill>
                <a:latin typeface="Menlo-Regular" panose="020B0609030804020204"/>
              </a:rPr>
              <a:t>#</a:t>
            </a:r>
            <a:r>
              <a:rPr lang="en-US" sz="1200" dirty="0" err="1">
                <a:solidFill>
                  <a:srgbClr val="926492"/>
                </a:solidFill>
                <a:latin typeface="Menlo-Regular" panose="020B0609030804020204"/>
              </a:rPr>
              <a:t>endif</a:t>
            </a:r>
            <a:endParaRPr lang="en-US" sz="1200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6250" y="5116488"/>
            <a:ext cx="12115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solidFill>
                  <a:srgbClr val="7F7F7F"/>
                </a:solidFill>
                <a:latin typeface="Courier New" panose="02070609020205020404"/>
                <a:cs typeface="Courier New" panose="02070609020205020404"/>
              </a:rPr>
              <a:t>mymalloc.c</a:t>
            </a:r>
            <a:endParaRPr lang="en-US" sz="1350" dirty="0">
              <a:solidFill>
                <a:srgbClr val="7F7F7F"/>
              </a:solidFill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加载</a:t>
            </a:r>
            <a:r>
              <a:rPr lang="en-US" altLang="zh-CN" kern="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/</a:t>
            </a:r>
            <a:r>
              <a:rPr lang="zh-CN" altLang="en-US" kern="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运行时</a:t>
            </a:r>
            <a:r>
              <a:rPr lang="en-US" kern="0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插桩</a:t>
            </a:r>
            <a:endParaRPr lang="en-US" kern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6641" y="3957116"/>
            <a:ext cx="6800849" cy="1085850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LD_PRELOAD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环境变量告诉动态链接器在解析未被解析的引用时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例如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，对 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malloc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的引用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) 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先在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mymalloc.so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中查找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05216" y="1990691"/>
            <a:ext cx="6743699" cy="1960880"/>
          </a:xfrm>
          <a:prstGeom prst="rect">
            <a:avLst/>
          </a:prstGeom>
          <a:solidFill>
            <a:srgbClr val="E6E6E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 make </a:t>
            </a:r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intr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gcc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-Wall -DRUNTIME -shared -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fpic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-o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mymalloc.so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mymalloc.c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ldl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gcc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-Wall -o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intr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int.c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 make </a:t>
            </a:r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runr</a:t>
            </a:r>
            <a:endParaRPr lang="en-US" sz="135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(LD_PRELOAD="./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mymalloc.so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" ./</a:t>
            </a:r>
            <a:r>
              <a:rPr lang="en-US" sz="1350" b="0" dirty="0" err="1">
                <a:latin typeface="Courier New" panose="02070609020205020404"/>
                <a:cs typeface="Courier New" panose="02070609020205020404"/>
              </a:rPr>
              <a:t>intr</a:t>
            </a:r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)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fi-FI" sz="1350" b="0" dirty="0">
                <a:latin typeface="Courier New" panose="02070609020205020404"/>
                <a:cs typeface="Courier New" panose="02070609020205020404"/>
              </a:rPr>
              <a:t>malloc(32) = 0xe60010</a:t>
            </a:r>
            <a:endParaRPr lang="fi-FI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b="0" dirty="0">
                <a:latin typeface="Courier New" panose="02070609020205020404"/>
                <a:cs typeface="Courier New" panose="02070609020205020404"/>
              </a:rPr>
              <a:t>free(0xe60010)</a:t>
            </a:r>
            <a:endParaRPr lang="en-US" sz="1350" b="0" dirty="0">
              <a:latin typeface="Courier New" panose="02070609020205020404"/>
              <a:cs typeface="Courier New" panose="02070609020205020404"/>
            </a:endParaRPr>
          </a:p>
          <a:p>
            <a:r>
              <a:rPr lang="en-US" sz="1350" dirty="0" err="1">
                <a:latin typeface="Courier New" panose="02070609020205020404"/>
                <a:cs typeface="Courier New" panose="02070609020205020404"/>
              </a:rPr>
              <a:t>linux</a:t>
            </a:r>
            <a:r>
              <a:rPr lang="en-US" sz="1350" dirty="0">
                <a:latin typeface="Courier New" panose="02070609020205020404"/>
                <a:cs typeface="Courier New" panose="02070609020205020404"/>
              </a:rPr>
              <a:t>&gt;</a:t>
            </a:r>
            <a:endParaRPr lang="en-US" sz="1350" dirty="0"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插桩小结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编译时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将对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malloc/free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的调用宏扩展为对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mymalloc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myfree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的调用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链接时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使用链接器的技巧做特殊的名字解析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2"/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malloc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 __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wrap_malloc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lvl="2"/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__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real_malloc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malloc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加载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/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运行时</a:t>
            </a:r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采用动态链接的方法以不同的名字加载库函数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malloc/free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，实现自定义的 </a:t>
            </a:r>
            <a:r>
              <a:rPr 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malloc/free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Wingdings" panose="05000000000000000000" pitchFamily="2" charset="2"/>
              </a:rPr>
              <a:t> 版本</a:t>
            </a:r>
            <a:endParaRPr lang="zh-CN" alt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lvl="0"/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插桩有哪些重要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的应用场景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？</a:t>
            </a:r>
            <a:endParaRPr lang="en-US" altLang="zh-CN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内存泄露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工具</a:t>
            </a:r>
            <a:endParaRPr lang="zh-CN" alt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函数调用次数统计</a:t>
            </a:r>
            <a:endParaRPr lang="zh-CN" alt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分支执行频率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统计</a:t>
            </a:r>
            <a:endParaRPr lang="zh-CN" alt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018" y="304800"/>
            <a:ext cx="7592093" cy="762000"/>
          </a:xfrm>
        </p:spPr>
        <p:txBody>
          <a:bodyPr/>
          <a:lstStyle/>
          <a:p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231197"/>
            <a:ext cx="7896225" cy="497205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习题</a:t>
            </a:r>
            <a:r>
              <a:rPr lang="en-US" altLang="zh-CN" dirty="0" smtClean="0">
                <a:solidFill>
                  <a:srgbClr val="00B050"/>
                </a:solidFill>
              </a:rPr>
              <a:t>: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7.10 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库符号的查找及解析过程</a:t>
            </a:r>
            <a:endParaRPr lang="zh-CN" altLang="en-US" dirty="0" smtClean="0">
              <a:solidFill>
                <a:srgbClr val="00B05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7.11 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区分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.data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节与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.bss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节</a:t>
            </a:r>
            <a:endParaRPr lang="zh-CN" altLang="en-US" dirty="0" smtClean="0">
              <a:solidFill>
                <a:srgbClr val="00B05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7.12 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重定位过程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47*134"/>
  <p:tag name="TABLE_ENDDRAG_RECT" val="222*373*547*134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rtlCol="0" anchor="ctr" anchorCtr="1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14785</Words>
  <Application>WPS Presentation</Application>
  <PresentationFormat>On-screen Show (4:3)</PresentationFormat>
  <Paragraphs>1163</Paragraphs>
  <Slides>59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100" baseType="lpstr">
      <vt:lpstr>Arial</vt:lpstr>
      <vt:lpstr>SimSun</vt:lpstr>
      <vt:lpstr>Wingdings</vt:lpstr>
      <vt:lpstr>Arial Narrow</vt:lpstr>
      <vt:lpstr>Calibri</vt:lpstr>
      <vt:lpstr>Helvetica Neue</vt:lpstr>
      <vt:lpstr>Times New Roman Regular</vt:lpstr>
      <vt:lpstr>Kaiti SC Regular</vt:lpstr>
      <vt:lpstr>Wingdings 2</vt:lpstr>
      <vt:lpstr>Microsoft YaHei</vt:lpstr>
      <vt:lpstr>汉仪旗黑</vt:lpstr>
      <vt:lpstr>Times New Roman</vt:lpstr>
      <vt:lpstr>Courier New</vt:lpstr>
      <vt:lpstr>Kaiti SC Bold</vt:lpstr>
      <vt:lpstr>msgothic</vt:lpstr>
      <vt:lpstr>苹方-简</vt:lpstr>
      <vt:lpstr>Menlo-Regular</vt:lpstr>
      <vt:lpstr>Microsoft YaHei</vt:lpstr>
      <vt:lpstr>Arial Unicode MS</vt:lpstr>
      <vt:lpstr>Kaiti SC</vt:lpstr>
      <vt:lpstr>SimSun</vt:lpstr>
      <vt:lpstr>汉仪书宋二KW</vt:lpstr>
      <vt:lpstr>Menlo Bold</vt:lpstr>
      <vt:lpstr>Consolas</vt:lpstr>
      <vt:lpstr>FangSong</vt:lpstr>
      <vt:lpstr>方正仿宋_GBK</vt:lpstr>
      <vt:lpstr>Courier New</vt:lpstr>
      <vt:lpstr>SimSun</vt:lpstr>
      <vt:lpstr>FangSong</vt:lpstr>
      <vt:lpstr>Menlo-Regular</vt:lpstr>
      <vt:lpstr>Microsoft YaHei</vt:lpstr>
      <vt:lpstr>Wingdings</vt:lpstr>
      <vt:lpstr>Wingdings 2</vt:lpstr>
      <vt:lpstr>SimSun</vt:lpstr>
      <vt:lpstr>Arial</vt:lpstr>
      <vt:lpstr>SimSun</vt:lpstr>
      <vt:lpstr>Times New Roman</vt:lpstr>
      <vt:lpstr>Arial Bold</vt:lpstr>
      <vt:lpstr>Apple Color Emoji</vt:lpstr>
      <vt:lpstr>menlo</vt:lpstr>
      <vt:lpstr>template2007</vt:lpstr>
      <vt:lpstr>Linking链接  本课件基于csapp.cs.cmu.edu上资源进行修改</vt:lpstr>
      <vt:lpstr>大纲</vt:lpstr>
      <vt:lpstr>打包常见函数</vt:lpstr>
      <vt:lpstr>常见的库文件</vt:lpstr>
      <vt:lpstr>常见的库文件</vt:lpstr>
      <vt:lpstr>库文件的内容</vt:lpstr>
      <vt:lpstr>一种传统的方案: 静态库</vt:lpstr>
      <vt:lpstr>创建静态库</vt:lpstr>
      <vt:lpstr>常用库</vt:lpstr>
      <vt:lpstr>链接静态库</vt:lpstr>
      <vt:lpstr>链接静态库</vt:lpstr>
      <vt:lpstr>使用静态库</vt:lpstr>
      <vt:lpstr>使用静态库</vt:lpstr>
      <vt:lpstr>PowerPoint 演示文稿</vt:lpstr>
      <vt:lpstr>代码体积优化1—库代码</vt:lpstr>
      <vt:lpstr>PowerPoint 演示文稿</vt:lpstr>
      <vt:lpstr>链接顺序问题</vt:lpstr>
      <vt:lpstr>练习7.3</vt:lpstr>
      <vt:lpstr>练习7.3</vt:lpstr>
      <vt:lpstr>练习7.3</vt:lpstr>
      <vt:lpstr>总结：同名符号定义的处理</vt:lpstr>
      <vt:lpstr>静态库的缺点</vt:lpstr>
      <vt:lpstr>大纲</vt:lpstr>
      <vt:lpstr>现代的方案: 共享库</vt:lpstr>
      <vt:lpstr>共享库 (cont.)</vt:lpstr>
      <vt:lpstr>PowerPoint 演示文稿</vt:lpstr>
      <vt:lpstr>加载时的动态链接</vt:lpstr>
      <vt:lpstr>运行时的动态链接</vt:lpstr>
      <vt:lpstr>运行时的动态链接</vt:lpstr>
      <vt:lpstr>Java语言中的处理</vt:lpstr>
      <vt:lpstr>PowerPoint 演示文稿</vt:lpstr>
      <vt:lpstr>位置无关代码（PIC）</vt:lpstr>
      <vt:lpstr>(1) 模块内部函数调用或跳转</vt:lpstr>
      <vt:lpstr>(2) 模块内部数据引用</vt:lpstr>
      <vt:lpstr>模块内 vs 模块外的符号引用</vt:lpstr>
      <vt:lpstr>PowerPoint 演示文稿</vt:lpstr>
      <vt:lpstr>PowerPoint 演示文稿</vt:lpstr>
      <vt:lpstr>(3) 模块外数据的引用</vt:lpstr>
      <vt:lpstr>(4) 模块间调用、跳转</vt:lpstr>
      <vt:lpstr>PowerPoint 演示文稿</vt:lpstr>
      <vt:lpstr>(4) 模块间调用、跳转</vt:lpstr>
      <vt:lpstr>PowerPoint 演示文稿</vt:lpstr>
      <vt:lpstr>so文件的加载过程</vt:lpstr>
      <vt:lpstr>so文件加载的问题</vt:lpstr>
      <vt:lpstr>Linking Summary	</vt:lpstr>
      <vt:lpstr>大纲</vt:lpstr>
      <vt:lpstr>案例研究：库插桩</vt:lpstr>
      <vt:lpstr>插桩技术的一些应用</vt:lpstr>
      <vt:lpstr>插桩技术的一些应用</vt:lpstr>
      <vt:lpstr>程序示例</vt:lpstr>
      <vt:lpstr>编译时插桩</vt:lpstr>
      <vt:lpstr>编译时插桩</vt:lpstr>
      <vt:lpstr>链接时插桩</vt:lpstr>
      <vt:lpstr>链接时插桩</vt:lpstr>
      <vt:lpstr>PowerPoint 演示文稿</vt:lpstr>
      <vt:lpstr>加载/运行时插桩</vt:lpstr>
      <vt:lpstr>加载/运行时插桩</vt:lpstr>
      <vt:lpstr>插桩小结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00030832</cp:lastModifiedBy>
  <cp:revision>1064</cp:revision>
  <cp:lastPrinted>2026-05-06T04:12:38Z</cp:lastPrinted>
  <dcterms:created xsi:type="dcterms:W3CDTF">2026-05-06T04:12:38Z</dcterms:created>
  <dcterms:modified xsi:type="dcterms:W3CDTF">2026-05-06T04:12:38Z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08F2D29B91EC50CD10CDE9694D3CC8B7_43</vt:lpwstr>
  </property>
</Properties>
</file>