
<file path=[Content_Types].xml><?xml version="1.0" encoding="utf-8"?>
<Types xmlns="http://schemas.openxmlformats.org/package/2006/content-types">
  <Default Extension="vml" ContentType="application/vnd.openxmlformats-officedocument.vmlDrawing"/>
  <Default Extension="xls" ContentType="application/vnd.ms-excel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notesMasterIdLst>
    <p:notesMasterId r:id="rId12"/>
  </p:notesMasterIdLst>
  <p:handoutMasterIdLst>
    <p:handoutMasterId r:id="rId73"/>
  </p:handoutMasterIdLst>
  <p:sldIdLst>
    <p:sldId id="298" r:id="rId7"/>
    <p:sldId id="340" r:id="rId8"/>
    <p:sldId id="258" r:id="rId9"/>
    <p:sldId id="259" r:id="rId10"/>
    <p:sldId id="260" r:id="rId11"/>
    <p:sldId id="261" r:id="rId13"/>
    <p:sldId id="262" r:id="rId14"/>
    <p:sldId id="566" r:id="rId15"/>
    <p:sldId id="470" r:id="rId16"/>
    <p:sldId id="430" r:id="rId17"/>
    <p:sldId id="581" r:id="rId18"/>
    <p:sldId id="263" r:id="rId19"/>
    <p:sldId id="264" r:id="rId20"/>
    <p:sldId id="265" r:id="rId21"/>
    <p:sldId id="266" r:id="rId22"/>
    <p:sldId id="267" r:id="rId23"/>
    <p:sldId id="299" r:id="rId24"/>
    <p:sldId id="397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567" r:id="rId33"/>
    <p:sldId id="341" r:id="rId34"/>
    <p:sldId id="276" r:id="rId35"/>
    <p:sldId id="511" r:id="rId36"/>
    <p:sldId id="578" r:id="rId37"/>
    <p:sldId id="579" r:id="rId38"/>
    <p:sldId id="512" r:id="rId39"/>
    <p:sldId id="568" r:id="rId40"/>
    <p:sldId id="278" r:id="rId41"/>
    <p:sldId id="580" r:id="rId42"/>
    <p:sldId id="279" r:id="rId43"/>
    <p:sldId id="280" r:id="rId44"/>
    <p:sldId id="281" r:id="rId45"/>
    <p:sldId id="282" r:id="rId46"/>
    <p:sldId id="283" r:id="rId47"/>
    <p:sldId id="382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398" r:id="rId56"/>
    <p:sldId id="292" r:id="rId57"/>
    <p:sldId id="293" r:id="rId58"/>
    <p:sldId id="300" r:id="rId59"/>
    <p:sldId id="301" r:id="rId60"/>
    <p:sldId id="302" r:id="rId61"/>
    <p:sldId id="303" r:id="rId62"/>
    <p:sldId id="277" r:id="rId63"/>
    <p:sldId id="562" r:id="rId64"/>
    <p:sldId id="570" r:id="rId65"/>
    <p:sldId id="571" r:id="rId66"/>
    <p:sldId id="573" r:id="rId67"/>
    <p:sldId id="572" r:id="rId68"/>
    <p:sldId id="574" r:id="rId69"/>
    <p:sldId id="575" r:id="rId70"/>
    <p:sldId id="576" r:id="rId71"/>
    <p:sldId id="577" r:id="rId72"/>
  </p:sldIdLst>
  <p:sldSz cx="12192000" cy="6858000"/>
  <p:notesSz cx="6858000" cy="9144000"/>
  <p:embeddedFontLst>
    <p:embeddedFont>
      <p:font typeface="Arial Narrow" panose="020B0706020202030204" pitchFamily="-96" charset="0"/>
      <p:regular r:id="rId77"/>
    </p:embeddedFont>
    <p:embeddedFont>
      <p:font typeface="Arial Narrow Bold" panose="020B0706020202030204" charset="0"/>
      <p:regular r:id="rId78"/>
    </p:embeddedFont>
    <p:embeddedFont>
      <p:font typeface="Arial Narrow Bold Italic" panose="020B0706020202030204" charset="0"/>
      <p:regular r:id="rId79"/>
    </p:embeddedFont>
  </p:embeddedFont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82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818" autoAdjust="0"/>
  </p:normalViewPr>
  <p:slideViewPr>
    <p:cSldViewPr showGuides="1">
      <p:cViewPr varScale="1">
        <p:scale>
          <a:sx n="66" d="100"/>
          <a:sy n="66" d="100"/>
        </p:scale>
        <p:origin x="1930" y="62"/>
      </p:cViewPr>
      <p:guideLst>
        <p:guide orient="horz" pos="3682"/>
        <p:guide pos="37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9" Type="http://schemas.openxmlformats.org/officeDocument/2006/relationships/font" Target="fonts/font3.fntdata"/><Relationship Id="rId78" Type="http://schemas.openxmlformats.org/officeDocument/2006/relationships/font" Target="fonts/font2.fntdata"/><Relationship Id="rId77" Type="http://schemas.openxmlformats.org/officeDocument/2006/relationships/font" Target="fonts/font1.fntdata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C02A0-2CB8-F64C-87A7-A5563D28AA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85E4B-77DA-1E4C-9EDA-713D746B907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3314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panose="020B0502020104020203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panose="020B0502020104020203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panose="020B0502020104020203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panose="020B0502020104020203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panose="020B05020201040202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spcBef>
                <a:spcPts val="425"/>
              </a:spcBef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Latex source for equation: </a:t>
            </a:r>
            <a:r>
              <a:rPr lang="en-US">
                <a:latin typeface="Monaco" charset="0"/>
                <a:ea typeface="Monaco" charset="0"/>
                <a:cs typeface="Monaco" charset="0"/>
                <a:sym typeface="Monaco" charset="0"/>
              </a:rPr>
              <a:t>\sum_{k=-j}^i b_k \times 2^k</a:t>
            </a:r>
            <a:endParaRPr lang="en-US">
              <a:latin typeface="Monaco" charset="0"/>
              <a:ea typeface="Monaco" charset="0"/>
              <a:cs typeface="Monaco" charset="0"/>
              <a:sym typeface="Monaco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zh-CN" altLang="en-US"/>
              <a:t>无理数无法用分数表示，所以。。。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2^32</a:t>
            </a:r>
            <a:r>
              <a:rPr lang="en-US" altLang="zh-CN" baseline="0" dirty="0" smtClean="0"/>
              <a:t> – 2^(24) + 3  &lt; 2^32</a:t>
            </a:r>
            <a:endParaRPr lang="en-US" altLang="zh-CN" baseline="0" dirty="0" smtClean="0"/>
          </a:p>
          <a:p>
            <a:r>
              <a:rPr lang="zh-CN" altLang="en-US" baseline="0" dirty="0" smtClean="0"/>
              <a:t>所有有效位</a:t>
            </a:r>
            <a:r>
              <a:rPr lang="en-US" altLang="zh-CN" baseline="0" dirty="0" smtClean="0"/>
              <a:t>&gt;24</a:t>
            </a:r>
            <a:r>
              <a:rPr lang="zh-CN" altLang="en-US" baseline="0" dirty="0" smtClean="0"/>
              <a:t>位的整数都不能精确表示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zh-CN"/>
              <a:t>exp</a:t>
            </a:r>
            <a:r>
              <a:rPr lang="zh-CN" altLang="en-US"/>
              <a:t>：范围</a:t>
            </a:r>
            <a:endParaRPr lang="zh-CN" altLang="en-US"/>
          </a:p>
          <a:p>
            <a:r>
              <a:rPr lang="en-US" altLang="zh-CN"/>
              <a:t>frac</a:t>
            </a:r>
            <a:r>
              <a:rPr lang="zh-CN" altLang="en-US"/>
              <a:t>：精度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defRPr>
            </a:lvl1pPr>
            <a:lvl2pPr>
              <a:defRPr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defRPr>
            </a:lvl2pPr>
            <a:lvl3pPr>
              <a:defRPr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defRPr>
            </a:lvl3pPr>
            <a:lvl4pPr>
              <a:defRPr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defRPr>
            </a:lvl4pPr>
            <a:lvl5pPr>
              <a:defRPr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98538"/>
            <a:ext cx="2743200" cy="51276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98538"/>
            <a:ext cx="80264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397000"/>
            <a:ext cx="54864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97000"/>
            <a:ext cx="54864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0000" y="254000"/>
            <a:ext cx="2794000" cy="6578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254000"/>
            <a:ext cx="8178800" cy="6578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397000"/>
            <a:ext cx="54864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97000"/>
            <a:ext cx="54864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0000" y="254000"/>
            <a:ext cx="2794000" cy="6578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254000"/>
            <a:ext cx="8178800" cy="6578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0000" y="254000"/>
            <a:ext cx="2794000" cy="5872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254000"/>
            <a:ext cx="81788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2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4" y="435678"/>
            <a:ext cx="10122791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6" y="445070"/>
            <a:ext cx="101219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228600"/>
            <a:ext cx="2914649" cy="6105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0"/>
            <a:ext cx="8544984" cy="6105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5"/>
            <a:ext cx="5162549" cy="2409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0"/>
            <a:ext cx="5162549" cy="2409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4" Type="http://schemas.openxmlformats.org/officeDocument/2006/relationships/theme" Target="../theme/theme5.xml"/><Relationship Id="rId13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98538"/>
            <a:ext cx="10363200" cy="2887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 smtClean="0">
                <a:sym typeface="Calibri Bold" charset="0"/>
              </a:rPr>
              <a:t>Click to edit Master title style</a:t>
            </a:r>
            <a:endParaRPr lang="en-US" smtClean="0">
              <a:sym typeface="Calibri Bold" charset="0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530249" y="6629400"/>
            <a:ext cx="50958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 smtClean="0">
                <a:latin typeface="Calibri" pitchFamily="34" charset="0"/>
              </a:rPr>
              <a:t>Bryant</a:t>
            </a:r>
            <a:r>
              <a:rPr lang="en-US" sz="1000" b="0" i="0" baseline="0" dirty="0" smtClean="0">
                <a:latin typeface="Calibri" pitchFamily="34" charset="0"/>
              </a:rPr>
              <a:t> and </a:t>
            </a:r>
            <a:r>
              <a:rPr lang="en-US" sz="1000" b="0" i="0" baseline="0" dirty="0" err="1" smtClean="0">
                <a:latin typeface="Calibri" pitchFamily="34" charset="0"/>
              </a:rPr>
              <a:t>O’Hallaron</a:t>
            </a:r>
            <a:r>
              <a:rPr lang="en-US" sz="1000" b="0" i="0" baseline="0" dirty="0" smtClean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 smtClean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54000"/>
            <a:ext cx="111760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 dirty="0" smtClean="0">
                <a:sym typeface="Calibri Bold" charset="0"/>
              </a:rPr>
              <a:t>Click to edit Master title style</a:t>
            </a:r>
            <a:endParaRPr lang="en-US" dirty="0" smtClean="0">
              <a:sym typeface="Calibri Bold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397000"/>
            <a:ext cx="11176000" cy="543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 dirty="0" smtClean="0">
                <a:sym typeface="Calibri Bold" charset="0"/>
              </a:rPr>
              <a:t>Click to edit Master text styles</a:t>
            </a:r>
            <a:endParaRPr lang="en-US" dirty="0" smtClean="0">
              <a:sym typeface="Calibri Bold" charset="0"/>
            </a:endParaRPr>
          </a:p>
          <a:p>
            <a:pPr lvl="1"/>
            <a:r>
              <a:rPr lang="en-US" dirty="0" smtClean="0">
                <a:sym typeface="Calibri" pitchFamily="34" charset="0"/>
              </a:rPr>
              <a:t>Second level</a:t>
            </a:r>
            <a:endParaRPr lang="en-US" dirty="0" smtClean="0">
              <a:sym typeface="Calibri" pitchFamily="34" charset="0"/>
            </a:endParaRPr>
          </a:p>
          <a:p>
            <a:pPr lvl="2"/>
            <a:r>
              <a:rPr lang="en-US" dirty="0" smtClean="0">
                <a:sym typeface="Calibri" pitchFamily="34" charset="0"/>
              </a:rPr>
              <a:t>Third level</a:t>
            </a:r>
            <a:endParaRPr lang="en-US" dirty="0" smtClean="0">
              <a:sym typeface="Calibri" pitchFamily="34" charset="0"/>
            </a:endParaRPr>
          </a:p>
          <a:p>
            <a:pPr lvl="3"/>
            <a:r>
              <a:rPr lang="en-US" dirty="0" smtClean="0">
                <a:sym typeface="Calibri" pitchFamily="34" charset="0"/>
              </a:rPr>
              <a:t>Fourth level</a:t>
            </a:r>
            <a:endParaRPr lang="en-US" dirty="0" smtClean="0">
              <a:sym typeface="Calibri" pitchFamily="34" charset="0"/>
            </a:endParaRPr>
          </a:p>
          <a:p>
            <a:pPr lvl="4"/>
            <a:r>
              <a:rPr lang="en-US" dirty="0" smtClean="0">
                <a:sym typeface="Calibri" pitchFamily="34" charset="0"/>
              </a:rPr>
              <a:t>Fifth level</a:t>
            </a:r>
            <a:endParaRPr lang="en-US" dirty="0" smtClean="0">
              <a:sym typeface="Calibri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1860039" y="6611779"/>
            <a:ext cx="24638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603050405020304" charset="0"/>
                <a:ea typeface="楷体" charset="0"/>
                <a:cs typeface="Times New Roman Regular" panose="02020603050405020304" charset="0"/>
              </a:rPr>
            </a:fld>
            <a:endParaRPr kumimoji="0" lang="en-US" sz="100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603050405020304" charset="0"/>
              <a:ea typeface="楷体" charset="0"/>
              <a:cs typeface="Times New Roman Regular" panose="0202060305040502030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741704" y="6629400"/>
            <a:ext cx="467296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0" dirty="0" smtClean="0">
                <a:latin typeface="Times New Roman Regular" panose="02020603050405020304" charset="0"/>
                <a:ea typeface="楷体" charset="0"/>
                <a:cs typeface="Times New Roman Regular" panose="02020603050405020304" charset="0"/>
              </a:rPr>
              <a:t>Bryant</a:t>
            </a:r>
            <a:r>
              <a:rPr lang="en-US" sz="1000" i="0" baseline="0" dirty="0" smtClean="0">
                <a:latin typeface="Times New Roman Regular" panose="02020603050405020304" charset="0"/>
                <a:ea typeface="楷体" charset="0"/>
                <a:cs typeface="Times New Roman Regular" panose="02020603050405020304" charset="0"/>
              </a:rPr>
              <a:t> and </a:t>
            </a:r>
            <a:r>
              <a:rPr lang="en-US" sz="1000" i="0" baseline="0" dirty="0" err="1" smtClean="0">
                <a:latin typeface="Times New Roman Regular" panose="02020603050405020304" charset="0"/>
                <a:ea typeface="楷体" charset="0"/>
                <a:cs typeface="Times New Roman Regular" panose="02020603050405020304" charset="0"/>
              </a:rPr>
              <a:t>O’Hallaron</a:t>
            </a:r>
            <a:r>
              <a:rPr lang="en-US" sz="1000" i="0" baseline="0" dirty="0" smtClean="0">
                <a:latin typeface="Times New Roman Regular" panose="02020603050405020304" charset="0"/>
                <a:ea typeface="楷体" charset="0"/>
                <a:cs typeface="Times New Roman Regular" panose="02020603050405020304" charset="0"/>
              </a:rPr>
              <a:t>, Computer Systems: A Programmer’s Perspective, Third Edition</a:t>
            </a:r>
            <a:endParaRPr lang="en-US" sz="1000" i="0" dirty="0" smtClean="0">
              <a:latin typeface="Times New Roman Regular" panose="02020603050405020304" charset="0"/>
              <a:ea typeface="楷体" charset="0"/>
              <a:cs typeface="Times New Roman Regular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Times New Roman Regular" panose="02020603050405020304" charset="0"/>
          <a:ea typeface="楷体" charset="0"/>
          <a:cs typeface="Times New Roman Regular" panose="02020603050405020304" charset="0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charset="2"/>
        <a:buChar char="¢"/>
        <a:defRPr sz="2400" b="0">
          <a:solidFill>
            <a:schemeClr val="tx1"/>
          </a:solidFill>
          <a:latin typeface="Times New Roman Regular" panose="02020603050405020304" charset="0"/>
          <a:ea typeface="楷体" charset="0"/>
          <a:cs typeface="Times New Roman Regular" panose="02020603050405020304" charset="0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楷体" charset="0"/>
          <a:cs typeface="Times New Roman Regular" panose="02020603050405020304" charset="0"/>
          <a:sym typeface="Calibri" pitchFamily="3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楷体" charset="0"/>
          <a:cs typeface="Times New Roman Regular" panose="02020603050405020304" charset="0"/>
          <a:sym typeface="Calibri" pitchFamily="3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 b="0">
          <a:solidFill>
            <a:schemeClr val="tx1"/>
          </a:solidFill>
          <a:latin typeface="Times New Roman Regular" panose="02020603050405020304" charset="0"/>
          <a:ea typeface="楷体" charset="0"/>
          <a:cs typeface="Times New Roman Regular" panose="02020603050405020304" charset="0"/>
          <a:sym typeface="Calibri" pitchFamily="34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 b="0">
          <a:solidFill>
            <a:schemeClr val="tx1"/>
          </a:solidFill>
          <a:latin typeface="Times New Roman Regular" panose="02020603050405020304" charset="0"/>
          <a:ea typeface="楷体" charset="0"/>
          <a:cs typeface="Times New Roman Regular" panose="02020603050405020304" charset="0"/>
          <a:sym typeface="Calibri" pitchFamily="3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54000"/>
            <a:ext cx="111760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 dirty="0" smtClean="0">
                <a:sym typeface="Calibri Bold" charset="0"/>
              </a:rPr>
              <a:t>Click to edit Master title style</a:t>
            </a:r>
            <a:endParaRPr lang="en-US" dirty="0" smtClean="0">
              <a:sym typeface="Calibri Bold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397000"/>
            <a:ext cx="11176000" cy="543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 smtClean="0">
                <a:sym typeface="Calibri Bold" charset="0"/>
              </a:rPr>
              <a:t>Click to edit Master text styles</a:t>
            </a:r>
            <a:endParaRPr lang="en-US" smtClean="0">
              <a:sym typeface="Calibri Bold" charset="0"/>
            </a:endParaRPr>
          </a:p>
          <a:p>
            <a:pPr lvl="1"/>
            <a:r>
              <a:rPr lang="en-US" smtClean="0">
                <a:sym typeface="Calibri" pitchFamily="34" charset="0"/>
              </a:rPr>
              <a:t>Second level</a:t>
            </a:r>
            <a:endParaRPr lang="en-US" smtClean="0">
              <a:sym typeface="Calibri" pitchFamily="34" charset="0"/>
            </a:endParaRPr>
          </a:p>
          <a:p>
            <a:pPr lvl="2"/>
            <a:r>
              <a:rPr lang="en-US" smtClean="0">
                <a:sym typeface="Calibri" pitchFamily="34" charset="0"/>
              </a:rPr>
              <a:t>Third level</a:t>
            </a:r>
            <a:endParaRPr lang="en-US" smtClean="0">
              <a:sym typeface="Calibri" pitchFamily="34" charset="0"/>
            </a:endParaRPr>
          </a:p>
          <a:p>
            <a:pPr lvl="3"/>
            <a:r>
              <a:rPr lang="en-US" smtClean="0">
                <a:sym typeface="Calibri" pitchFamily="34" charset="0"/>
              </a:rPr>
              <a:t>Fourth level</a:t>
            </a:r>
            <a:endParaRPr lang="en-US" smtClean="0">
              <a:sym typeface="Calibri" pitchFamily="34" charset="0"/>
            </a:endParaRPr>
          </a:p>
          <a:p>
            <a:pPr lvl="4"/>
            <a:r>
              <a:rPr lang="en-US" smtClean="0">
                <a:sym typeface="Calibri" pitchFamily="34" charset="0"/>
              </a:rPr>
              <a:t>Fifth level</a:t>
            </a:r>
            <a:endParaRPr lang="en-US" smtClean="0">
              <a:sym typeface="Calibri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1862896" y="6611779"/>
            <a:ext cx="24066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706020202030204" pitchFamily="-96" charset="0"/>
                <a:ea typeface="MS PGothic" pitchFamily="-96" charset="-128"/>
                <a:cs typeface="MS PGothic" pitchFamily="-96" charset="-128"/>
              </a:rPr>
            </a:fld>
            <a:endParaRPr lang="en-US" sz="100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530249" y="6629400"/>
            <a:ext cx="50958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 smtClean="0">
                <a:latin typeface="Calibri" pitchFamily="34" charset="0"/>
              </a:rPr>
              <a:t>Bryant</a:t>
            </a:r>
            <a:r>
              <a:rPr lang="en-US" sz="1000" b="0" i="0" baseline="0" dirty="0" smtClean="0">
                <a:latin typeface="Calibri" pitchFamily="34" charset="0"/>
              </a:rPr>
              <a:t> and </a:t>
            </a:r>
            <a:r>
              <a:rPr lang="en-US" sz="1000" b="0" i="0" baseline="0" dirty="0" err="1" smtClean="0">
                <a:latin typeface="Calibri" pitchFamily="34" charset="0"/>
              </a:rPr>
              <a:t>O’Hallaron</a:t>
            </a:r>
            <a:r>
              <a:rPr lang="en-US" sz="1000" b="0" i="0" baseline="0" dirty="0" smtClean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 smtClean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/>
          <p:nvPr/>
        </p:nvSpPr>
        <p:spPr bwMode="auto">
          <a:xfrm>
            <a:off x="0" y="0"/>
            <a:ext cx="12208933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54000"/>
            <a:ext cx="111760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 smtClean="0">
                <a:sym typeface="Calibri Bold" charset="0"/>
              </a:rPr>
              <a:t>Click to edit Master title style</a:t>
            </a:r>
            <a:endParaRPr lang="en-US" smtClean="0">
              <a:sym typeface="Calibri Bold" charset="0"/>
            </a:endParaRPr>
          </a:p>
        </p:txBody>
      </p:sp>
      <p:sp>
        <p:nvSpPr>
          <p:cNvPr id="4099" name="Rectangle 3"/>
          <p:cNvSpPr/>
          <p:nvPr/>
        </p:nvSpPr>
        <p:spPr bwMode="auto">
          <a:xfrm>
            <a:off x="10750551" y="22225"/>
            <a:ext cx="1761067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530249" y="6629400"/>
            <a:ext cx="50958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 smtClean="0">
                <a:latin typeface="Calibri" pitchFamily="34" charset="0"/>
              </a:rPr>
              <a:t>Bryant</a:t>
            </a:r>
            <a:r>
              <a:rPr lang="en-US" sz="1000" b="0" i="0" baseline="0" dirty="0" smtClean="0">
                <a:latin typeface="Calibri" pitchFamily="34" charset="0"/>
              </a:rPr>
              <a:t> and </a:t>
            </a:r>
            <a:r>
              <a:rPr lang="en-US" sz="1000" b="0" i="0" baseline="0" dirty="0" err="1" smtClean="0">
                <a:latin typeface="Calibri" pitchFamily="34" charset="0"/>
              </a:rPr>
              <a:t>O’Hallaron</a:t>
            </a:r>
            <a:r>
              <a:rPr lang="en-US" sz="1000" b="0" i="0" baseline="0" dirty="0" smtClean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 smtClean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7" y="-26988"/>
            <a:ext cx="1746249" cy="27559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862896" y="6611779"/>
            <a:ext cx="240665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706020202030204" pitchFamily="-96" charset="0"/>
                <a:ea typeface="MS PGothic" pitchFamily="-96" charset="-128"/>
                <a:cs typeface="MS PGothic" pitchFamily="-96" charset="-128"/>
              </a:rPr>
            </a:fld>
            <a:endParaRPr lang="en-US" sz="1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30249" y="6629400"/>
            <a:ext cx="50958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 smtClean="0">
                <a:latin typeface="Calibri" pitchFamily="34" charset="0"/>
              </a:rPr>
              <a:t>Bryant</a:t>
            </a:r>
            <a:r>
              <a:rPr lang="en-US" sz="1000" b="0" i="0" baseline="0" dirty="0" smtClean="0">
                <a:latin typeface="Calibri" pitchFamily="34" charset="0"/>
              </a:rPr>
              <a:t> and </a:t>
            </a:r>
            <a:r>
              <a:rPr lang="en-US" sz="1000" b="0" i="0" baseline="0" dirty="0" err="1" smtClean="0">
                <a:latin typeface="Calibri" pitchFamily="34" charset="0"/>
              </a:rPr>
              <a:t>O’Hallaron</a:t>
            </a:r>
            <a:r>
              <a:rPr lang="en-US" sz="1000" b="0" i="0" baseline="0" dirty="0" smtClean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 smtClean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iming>
    <p:tnLst>
      <p:par>
        <p:cTn id="1" dur="indefinite" restart="never" nodeType="tmRoot"/>
      </p:par>
    </p:tnLst>
  </p:timing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-9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.xml"/><Relationship Id="rId2" Type="http://schemas.openxmlformats.org/officeDocument/2006/relationships/image" Target="../media/image8.emf"/><Relationship Id="rId1" Type="http://schemas.openxmlformats.org/officeDocument/2006/relationships/oleObject" Target="../embeddings/Workbook1.xls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emf"/><Relationship Id="rId1" Type="http://schemas.openxmlformats.org/officeDocument/2006/relationships/oleObject" Target="../embeddings/Workbook2.xls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/>
          <p:nvPr/>
        </p:nvSpPr>
        <p:spPr bwMode="auto">
          <a:xfrm>
            <a:off x="9421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09800" y="1752600"/>
            <a:ext cx="7772400" cy="1820862"/>
          </a:xfrm>
        </p:spPr>
        <p:txBody>
          <a:bodyPr/>
          <a:lstStyle/>
          <a:p>
            <a:pPr marL="0" indent="0"/>
            <a:r>
              <a:rPr lang="en-US" b="1" dirty="0" smtClean="0">
                <a:latin typeface="+mn-lt"/>
              </a:rPr>
              <a:t>Floating Point </a:t>
            </a:r>
            <a:r>
              <a:rPr lang="zh-CN" altLang="en-US" b="1" dirty="0" smtClean="0">
                <a:latin typeface="+mn-lt"/>
              </a:rPr>
              <a:t>浮点数</a:t>
            </a:r>
            <a:br>
              <a:rPr lang="en-US" dirty="0" smtClean="0"/>
            </a:br>
            <a:br>
              <a:rPr lang="en-US" dirty="0" smtClean="0"/>
            </a:br>
            <a:r>
              <a:rPr lang="en-US" sz="2000" b="0" dirty="0" smtClean="0"/>
              <a:t>15-213: Introduction to Computer Systems</a:t>
            </a:r>
            <a:br>
              <a:rPr lang="en-US" b="0" dirty="0" smtClean="0"/>
            </a:br>
            <a:r>
              <a:rPr lang="en-US" sz="2000" dirty="0" smtClean="0"/>
              <a:t>4</a:t>
            </a:r>
            <a:r>
              <a:rPr lang="en-US" sz="2000" baseline="30000" dirty="0" smtClean="0"/>
              <a:t>th</a:t>
            </a:r>
            <a:r>
              <a:rPr lang="en-US" sz="2000" b="0" dirty="0" smtClean="0"/>
              <a:t> Lecture, Sep. 10, 2015</a:t>
            </a:r>
            <a:endParaRPr lang="en-US" sz="2000" b="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0">
                <a:latin typeface="Microsoft YaHei" charset="0"/>
                <a:ea typeface="Microsoft YaHei" charset="0"/>
              </a:rPr>
              <a:t>讨论：为什么有浮点数？</a:t>
            </a:r>
            <a:endParaRPr lang="zh-CN" altLang="en-US" b="0">
              <a:latin typeface="Microsoft YaHei" charset="0"/>
              <a:ea typeface="Microsoft YaHe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机器不是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0/1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序列吗？</a:t>
            </a:r>
            <a:endParaRPr lang="zh-CN" altLang="en-US"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浮点的表示和计算，与整数的表示和计算有根本区别吗？</a:t>
            </a:r>
            <a:endParaRPr lang="zh-CN" altLang="en-US">
              <a:latin typeface="Microsoft YaHei" charset="0"/>
              <a:ea typeface="Microsoft YaHei" charset="0"/>
              <a:cs typeface="Microsoft YaHei" charset="0"/>
            </a:endParaRPr>
          </a:p>
          <a:p>
            <a:endParaRPr lang="zh-CN" altLang="en-US"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Microsoft YaHei" charset="0"/>
              </a:rPr>
              <a:t>Today: Floating Point</a:t>
            </a:r>
            <a:r>
              <a:rPr lang="zh-CN" altLang="en-US" smtClean="0">
                <a:ea typeface="Microsoft YaHei" charset="0"/>
              </a:rPr>
              <a:t>浮点表示</a:t>
            </a:r>
            <a:endParaRPr lang="zh-CN" altLang="en-US" smtClean="0">
              <a:ea typeface="Microsoft YaHei" charset="0"/>
            </a:endParaRP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ea typeface="Microsoft YaHei" charset="0"/>
              </a:rPr>
              <a:t>Background: Fractional binary numbers </a:t>
            </a:r>
            <a:r>
              <a:rPr lang="zh-CN" altLang="en-US" smtClean="0">
                <a:ea typeface="Microsoft YaHei" charset="0"/>
              </a:rPr>
              <a:t>二进制小数</a:t>
            </a:r>
            <a:endParaRPr lang="en-US" smtClean="0">
              <a:ea typeface="Microsoft YaHei" charset="0"/>
            </a:endParaRPr>
          </a:p>
          <a:p>
            <a:r>
              <a:rPr lang="en-US" smtClean="0">
                <a:ea typeface="Microsoft YaHei" charset="0"/>
              </a:rPr>
              <a:t>IEEE floating point standard: Definition </a:t>
            </a:r>
            <a:r>
              <a:rPr lang="zh-CN" altLang="en-US" smtClean="0">
                <a:ea typeface="Microsoft YaHei" charset="0"/>
              </a:rPr>
              <a:t>浮点数的</a:t>
            </a:r>
            <a:r>
              <a:rPr lang="en-US" altLang="zh-CN" smtClean="0">
                <a:ea typeface="Microsoft YaHei" charset="0"/>
              </a:rPr>
              <a:t>IEEE</a:t>
            </a:r>
            <a:r>
              <a:rPr lang="zh-CN" altLang="en-US" smtClean="0">
                <a:ea typeface="Microsoft YaHei" charset="0"/>
              </a:rPr>
              <a:t>标准</a:t>
            </a:r>
            <a:endParaRPr lang="en-US" smtClean="0">
              <a:ea typeface="Microsoft YaHei" charset="0"/>
            </a:endParaRPr>
          </a:p>
          <a:p>
            <a:r>
              <a:rPr lang="en-US" smtClean="0">
                <a:ea typeface="Microsoft YaHei" charset="0"/>
              </a:rPr>
              <a:t>Example and properties </a:t>
            </a:r>
            <a:r>
              <a:rPr lang="zh-CN" altLang="en-US" smtClean="0">
                <a:ea typeface="Microsoft YaHei" charset="0"/>
              </a:rPr>
              <a:t>例子和属性</a:t>
            </a:r>
            <a:endParaRPr lang="en-US" smtClean="0">
              <a:ea typeface="Microsoft YaHei" charset="0"/>
            </a:endParaRPr>
          </a:p>
          <a:p>
            <a:r>
              <a:rPr lang="en-US" smtClean="0">
                <a:ea typeface="Microsoft YaHei" charset="0"/>
              </a:rPr>
              <a:t>Rounding, addition, multiplication </a:t>
            </a:r>
            <a:r>
              <a:rPr lang="zh-CN" altLang="en-US" smtClean="0">
                <a:ea typeface="Microsoft YaHei" charset="0"/>
              </a:rPr>
              <a:t>舍入</a:t>
            </a:r>
            <a:r>
              <a:rPr lang="zh-CN" altLang="en-US" smtClean="0">
                <a:ea typeface="Microsoft YaHei" charset="0"/>
              </a:rPr>
              <a:t>、加法、乘法</a:t>
            </a:r>
            <a:endParaRPr lang="en-US" smtClean="0">
              <a:ea typeface="Microsoft YaHei" charset="0"/>
            </a:endParaRPr>
          </a:p>
          <a:p>
            <a:r>
              <a:rPr lang="en-US" smtClean="0">
                <a:ea typeface="Microsoft YaHei" charset="0"/>
              </a:rPr>
              <a:t>C</a:t>
            </a:r>
            <a:r>
              <a:rPr lang="zh-CN" altLang="en-US" smtClean="0">
                <a:ea typeface="Microsoft YaHei" charset="0"/>
              </a:rPr>
              <a:t>语言中的浮点数</a:t>
            </a:r>
            <a:endParaRPr lang="en-US" smtClean="0">
              <a:ea typeface="Microsoft YaHei" charset="0"/>
            </a:endParaRPr>
          </a:p>
          <a:p>
            <a:r>
              <a:rPr lang="en-US" smtClean="0">
                <a:ea typeface="Microsoft YaHei" charset="0"/>
              </a:rPr>
              <a:t>Summary</a:t>
            </a:r>
            <a:endParaRPr lang="en-US" dirty="0">
              <a:ea typeface="Microsoft YaHei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>
                <a:ea typeface="Microsoft YaHei" charset="0"/>
              </a:rPr>
              <a:t>Fractional binary numbers </a:t>
            </a:r>
            <a:r>
              <a:rPr lang="zh-CN" altLang="en-US" dirty="0">
                <a:ea typeface="Microsoft YaHei" charset="0"/>
              </a:rPr>
              <a:t>二进制小数</a:t>
            </a:r>
            <a:endParaRPr lang="zh-CN" altLang="en-US" dirty="0">
              <a:ea typeface="Microsoft YaHei" charset="0"/>
            </a:endParaRP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Microsoft YaHei" charset="0"/>
                <a:sym typeface="+mn-ea"/>
              </a:rPr>
              <a:t>考虑</a:t>
            </a:r>
            <a:r>
              <a:rPr lang="en-US" altLang="zh-CN" dirty="0">
                <a:ea typeface="Microsoft YaHei" charset="0"/>
                <a:sym typeface="+mn-ea"/>
              </a:rPr>
              <a:t>2023.927</a:t>
            </a:r>
            <a:r>
              <a:rPr lang="en-US" altLang="zh-CN" baseline="-25000" dirty="0">
                <a:ea typeface="Microsoft YaHei" charset="0"/>
                <a:sym typeface="+mn-ea"/>
              </a:rPr>
              <a:t>10</a:t>
            </a:r>
            <a:r>
              <a:rPr lang="zh-CN" altLang="en-US" dirty="0">
                <a:ea typeface="Microsoft YaHei" charset="0"/>
                <a:sym typeface="+mn-ea"/>
              </a:rPr>
              <a:t>？</a:t>
            </a:r>
            <a:endParaRPr lang="zh-CN" altLang="en-US" dirty="0">
              <a:ea typeface="Microsoft YaHei" charset="0"/>
            </a:endParaRPr>
          </a:p>
          <a:p>
            <a:r>
              <a:rPr lang="en-US" dirty="0">
                <a:ea typeface="Microsoft YaHei" charset="0"/>
              </a:rPr>
              <a:t>So, what is the value of </a:t>
            </a:r>
            <a:r>
              <a:rPr lang="en-US" dirty="0" smtClean="0">
                <a:ea typeface="Microsoft YaHei" charset="0"/>
              </a:rPr>
              <a:t>1011.101</a:t>
            </a:r>
            <a:r>
              <a:rPr lang="en-US" baseline="-25000" dirty="0" smtClean="0">
                <a:ea typeface="Microsoft YaHei" charset="0"/>
              </a:rPr>
              <a:t>2</a:t>
            </a:r>
            <a:r>
              <a:rPr lang="en-US" dirty="0" smtClean="0">
                <a:ea typeface="Microsoft YaHei" charset="0"/>
              </a:rPr>
              <a:t>?</a:t>
            </a:r>
            <a:endParaRPr lang="en-US" dirty="0" smtClean="0">
              <a:ea typeface="Microsoft YaHei" charset="0"/>
            </a:endParaRPr>
          </a:p>
          <a:p>
            <a:endParaRPr lang="zh-CN" altLang="en-US" dirty="0">
              <a:ea typeface="Microsoft YaHei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Group 1"/>
          <p:cNvGraphicFramePr>
            <a:graphicFrameLocks noGrp="1"/>
          </p:cNvGraphicFramePr>
          <p:nvPr/>
        </p:nvGraphicFramePr>
        <p:xfrm>
          <a:off x="5638800" y="1079500"/>
          <a:ext cx="584200" cy="2129790"/>
        </p:xfrm>
        <a:graphic>
          <a:graphicData uri="http://schemas.openxmlformats.org/drawingml/2006/table">
            <a:tbl>
              <a:tblPr/>
              <a:tblGrid>
                <a:gridCol w="584200"/>
              </a:tblGrid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 dirty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  <a:endParaRPr kumimoji="0" lang="en-US" sz="1800" b="0" i="0" u="none" strike="noStrike" cap="none" normalizeH="0" baseline="32000" dirty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  <a:endParaRPr kumimoji="0" lang="en-US" sz="1800" b="0" i="0" u="none" strike="noStrike" cap="none" normalizeH="0" baseline="3200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15" name="Group 27"/>
          <p:cNvGraphicFramePr>
            <a:graphicFrameLocks noGrp="1"/>
          </p:cNvGraphicFramePr>
          <p:nvPr/>
        </p:nvGraphicFramePr>
        <p:xfrm>
          <a:off x="5105400" y="3733800"/>
          <a:ext cx="660400" cy="1727200"/>
        </p:xfrm>
        <a:graphic>
          <a:graphicData uri="http://schemas.openxmlformats.org/drawingml/2006/table">
            <a:tbl>
              <a:tblPr/>
              <a:tblGrid>
                <a:gridCol w="660400"/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1/2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1/4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1/8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pitchFamily="34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alibri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Calibri" pitchFamily="34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32000" smtClean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  <a:endParaRPr kumimoji="0" lang="en-US" sz="2000" b="0" i="0" u="none" strike="noStrike" cap="none" normalizeH="0" baseline="32000" smtClean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37" name="Group 49"/>
          <p:cNvGraphicFramePr>
            <a:graphicFrameLocks noGrp="1"/>
          </p:cNvGraphicFramePr>
          <p:nvPr/>
        </p:nvGraphicFramePr>
        <p:xfrm>
          <a:off x="2425700" y="3187700"/>
          <a:ext cx="6527800" cy="546100"/>
        </p:xfrm>
        <a:graphic>
          <a:graphicData uri="http://schemas.openxmlformats.org/drawingml/2006/table">
            <a:tbl>
              <a:tblPr/>
              <a:tblGrid>
                <a:gridCol w="571500"/>
                <a:gridCol w="584200"/>
                <a:gridCol w="685800"/>
                <a:gridCol w="571500"/>
                <a:gridCol w="571500"/>
                <a:gridCol w="571500"/>
                <a:gridCol w="571500"/>
                <a:gridCol w="571500"/>
                <a:gridCol w="571500"/>
                <a:gridCol w="685800"/>
                <a:gridCol w="5715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  <a:endParaRPr kumimoji="0" lang="en-US" sz="2400" b="0" i="0" u="none" strike="noStrike" cap="none" normalizeH="0" baseline="-6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2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1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0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-1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-2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-3</a:t>
                      </a:r>
                      <a:endParaRPr kumimoji="0" lang="en-US" sz="2400" b="0" i="0" u="none" strike="noStrike" cap="none" normalizeH="0" baseline="-6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-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  <a:endParaRPr kumimoji="0" lang="en-US" sz="2400" b="0" i="0" u="none" strike="noStrike" cap="none" normalizeH="0" baseline="-6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Italic" charset="0"/>
                        <a:ea typeface="Calibri Italic" charset="0"/>
                        <a:cs typeface="Calibri Italic" charset="0"/>
                        <a:sym typeface="Calibri Italic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84" name="Rectangle 96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385" name="Rectangle 97"/>
          <p:cNvSpPr/>
          <p:nvPr/>
        </p:nvSpPr>
        <p:spPr bwMode="auto">
          <a:xfrm rot="10800000">
            <a:off x="7729538" y="4057650"/>
            <a:ext cx="561975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anose="00000500000000020000" pitchFamily="18" charset="0"/>
                <a:ea typeface="Times" panose="00000500000000020000" pitchFamily="18" charset="0"/>
                <a:cs typeface="Times" panose="00000500000000020000" pitchFamily="18" charset="0"/>
                <a:sym typeface="Times" panose="00000500000000020000" pitchFamily="18" charset="0"/>
              </a:rPr>
              <a:t>• • •</a:t>
            </a:r>
            <a:endParaRPr lang="en-US" sz="2400">
              <a:solidFill>
                <a:schemeClr val="tx1"/>
              </a:solidFill>
              <a:latin typeface="Times" panose="00000500000000020000" pitchFamily="18" charset="0"/>
              <a:ea typeface="Times" panose="00000500000000020000" pitchFamily="18" charset="0"/>
              <a:cs typeface="Times" panose="00000500000000020000" pitchFamily="18" charset="0"/>
              <a:sym typeface="Times" panose="00000500000000020000" pitchFamily="18" charset="0"/>
            </a:endParaRPr>
          </a:p>
        </p:txBody>
      </p:sp>
      <p:sp>
        <p:nvSpPr>
          <p:cNvPr id="12386" name="Rectangle 98"/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220075" cy="1558925"/>
          </a:xfrm>
        </p:spPr>
        <p:txBody>
          <a:bodyPr/>
          <a:lstStyle/>
          <a:p>
            <a:pPr marL="81280" indent="-81280"/>
            <a:r>
              <a:rPr lang="en-US" sz="320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Fractional Binary Numbers</a:t>
            </a:r>
            <a:r>
              <a:rPr lang="zh-CN" altLang="en-US" sz="320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二进制小数</a:t>
            </a:r>
            <a:endParaRPr lang="zh-CN" altLang="en-US" sz="3200"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12387" name="Rectangle 99"/>
          <p:cNvSpPr>
            <a:spLocks noGrp="1" noChangeArrowheads="1"/>
          </p:cNvSpPr>
          <p:nvPr>
            <p:ph type="body" idx="1"/>
          </p:nvPr>
        </p:nvSpPr>
        <p:spPr>
          <a:xfrm>
            <a:off x="1966913" y="5313363"/>
            <a:ext cx="8472487" cy="1849437"/>
          </a:xfrm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ea typeface="Calibri" pitchFamily="34" charset="0"/>
                <a:cs typeface="Calibri" pitchFamily="34" charset="0"/>
              </a:rPr>
              <a:t>Representation </a:t>
            </a:r>
            <a:r>
              <a:rPr lang="zh-CN" altLang="en-US">
                <a:ea typeface="SimSun" charset="0"/>
                <a:cs typeface="Calibri" pitchFamily="34" charset="0"/>
              </a:rPr>
              <a:t>（定点表示）</a:t>
            </a:r>
            <a:endParaRPr lang="en-US"/>
          </a:p>
          <a:p>
            <a:pPr lvl="1"/>
            <a:r>
              <a:rPr lang="en-US"/>
              <a:t>Bits to right of “binary point” represent fractional powers of 2</a:t>
            </a:r>
            <a:endParaRPr lang="en-US"/>
          </a:p>
          <a:p>
            <a:pPr lvl="1"/>
            <a:r>
              <a:rPr lang="zh-CN" altLang="en-US"/>
              <a:t>表示有理数</a:t>
            </a:r>
            <a:r>
              <a:rPr lang="en-US"/>
              <a:t>:</a:t>
            </a:r>
            <a:endParaRPr lang="en-US"/>
          </a:p>
        </p:txBody>
      </p:sp>
      <p:sp>
        <p:nvSpPr>
          <p:cNvPr id="12388" name="Freeform 100"/>
          <p:cNvSpPr/>
          <p:nvPr/>
        </p:nvSpPr>
        <p:spPr bwMode="auto">
          <a:xfrm>
            <a:off x="5564188" y="3017838"/>
            <a:ext cx="1651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12389" name="Freeform 101"/>
          <p:cNvSpPr/>
          <p:nvPr/>
        </p:nvSpPr>
        <p:spPr bwMode="auto">
          <a:xfrm>
            <a:off x="5029200" y="2586038"/>
            <a:ext cx="698500" cy="53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0" name="Freeform 102"/>
          <p:cNvSpPr/>
          <p:nvPr/>
        </p:nvSpPr>
        <p:spPr bwMode="auto">
          <a:xfrm>
            <a:off x="4479925" y="2344738"/>
            <a:ext cx="12446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1" name="Freeform 103"/>
          <p:cNvSpPr/>
          <p:nvPr/>
        </p:nvSpPr>
        <p:spPr bwMode="auto">
          <a:xfrm>
            <a:off x="3302000" y="1671638"/>
            <a:ext cx="2425700" cy="14478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2" name="Freeform 104"/>
          <p:cNvSpPr/>
          <p:nvPr/>
        </p:nvSpPr>
        <p:spPr bwMode="auto">
          <a:xfrm>
            <a:off x="2552700" y="1316038"/>
            <a:ext cx="3175000" cy="180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3" name="Rectangle 105"/>
          <p:cNvSpPr/>
          <p:nvPr/>
        </p:nvSpPr>
        <p:spPr bwMode="auto">
          <a:xfrm>
            <a:off x="3635375" y="2420938"/>
            <a:ext cx="560388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anose="00000500000000020000" pitchFamily="18" charset="0"/>
                <a:ea typeface="Times" panose="00000500000000020000" pitchFamily="18" charset="0"/>
                <a:cs typeface="Times" panose="00000500000000020000" pitchFamily="18" charset="0"/>
                <a:sym typeface="Times" panose="00000500000000020000" pitchFamily="18" charset="0"/>
              </a:rPr>
              <a:t>• • •</a:t>
            </a:r>
            <a:endParaRPr lang="en-US" sz="2400">
              <a:solidFill>
                <a:schemeClr val="tx1"/>
              </a:solidFill>
              <a:latin typeface="Times" panose="00000500000000020000" pitchFamily="18" charset="0"/>
              <a:ea typeface="Times" panose="00000500000000020000" pitchFamily="18" charset="0"/>
              <a:cs typeface="Times" panose="00000500000000020000" pitchFamily="18" charset="0"/>
              <a:sym typeface="Times" panose="00000500000000020000" pitchFamily="18" charset="0"/>
            </a:endParaRPr>
          </a:p>
        </p:txBody>
      </p:sp>
      <p:sp>
        <p:nvSpPr>
          <p:cNvPr id="12394" name="Freeform 106"/>
          <p:cNvSpPr/>
          <p:nvPr/>
        </p:nvSpPr>
        <p:spPr bwMode="auto">
          <a:xfrm rot="10800000">
            <a:off x="5822950" y="3778250"/>
            <a:ext cx="3429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12395" name="Freeform 107"/>
          <p:cNvSpPr/>
          <p:nvPr/>
        </p:nvSpPr>
        <p:spPr bwMode="auto">
          <a:xfrm rot="10800000">
            <a:off x="5810250" y="3778250"/>
            <a:ext cx="977900" cy="393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2400"/>
          </a:p>
        </p:txBody>
      </p:sp>
      <p:sp>
        <p:nvSpPr>
          <p:cNvPr id="12396" name="Freeform 108"/>
          <p:cNvSpPr/>
          <p:nvPr/>
        </p:nvSpPr>
        <p:spPr bwMode="auto">
          <a:xfrm rot="10800000">
            <a:off x="5808663" y="3790950"/>
            <a:ext cx="15748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7" name="Freeform 109"/>
          <p:cNvSpPr/>
          <p:nvPr/>
        </p:nvSpPr>
        <p:spPr bwMode="auto">
          <a:xfrm rot="10800000">
            <a:off x="5799138" y="3752850"/>
            <a:ext cx="2717800" cy="137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8" name="Oval 110"/>
          <p:cNvSpPr/>
          <p:nvPr/>
        </p:nvSpPr>
        <p:spPr bwMode="auto">
          <a:xfrm>
            <a:off x="5865751" y="3629726"/>
            <a:ext cx="165100" cy="165100"/>
          </a:xfrm>
          <a:prstGeom prst="ellipse">
            <a:avLst/>
          </a:prstGeom>
          <a:solidFill>
            <a:srgbClr val="0000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2400"/>
          </a:p>
        </p:txBody>
      </p:sp>
      <p:pic>
        <p:nvPicPr>
          <p:cNvPr id="12399" name="Picture 11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64300" y="6038850"/>
            <a:ext cx="1320800" cy="7810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二进制小数的例子</a:t>
            </a:r>
            <a:endParaRPr lang="en-US"/>
          </a:p>
        </p:txBody>
      </p:sp>
      <p:sp>
        <p:nvSpPr>
          <p:cNvPr id="15367" name="Rectangle 7"/>
          <p:cNvSpPr/>
          <p:nvPr/>
        </p:nvSpPr>
        <p:spPr bwMode="auto">
          <a:xfrm>
            <a:off x="1905000" y="1397000"/>
            <a:ext cx="8382000" cy="52324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54000" indent="-254000" algn="l">
              <a:spcBef>
                <a:spcPts val="575"/>
              </a:spcBef>
              <a:buClr>
                <a:srgbClr val="990000"/>
              </a:buClr>
              <a:buSzPct val="60000"/>
              <a:buFont typeface="Wingdings 2" panose="05020102010507070707" charset="2"/>
              <a:buChar char="¢"/>
              <a:tabLst>
                <a:tab pos="2398395" algn="l"/>
              </a:tabLst>
            </a:pPr>
            <a:r>
              <a:rPr lang="zh-CN" alt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值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二进制</a:t>
            </a:r>
            <a:r>
              <a:rPr lang="en-US" altLang="zh-CN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表示</a:t>
            </a:r>
            <a:endParaRPr lang="en-US" sz="24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395" algn="l"/>
              </a:tabLst>
            </a:pPr>
            <a:r>
              <a:rPr lang="en-US" sz="2000" dirty="0" smtClean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5 3/4</a:t>
            </a:r>
            <a:r>
              <a:rPr lang="en-US" sz="2000" dirty="0" smtClean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101.11</a:t>
            </a:r>
            <a:r>
              <a:rPr lang="en-US" sz="2000" b="1" baseline="-6000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 panose="02070609020205020404"/>
              <a:ea typeface="Calibri" pitchFamily="34" charset="0"/>
              <a:cs typeface="Courier New" panose="02070609020205020404"/>
              <a:sym typeface="Calibri" pitchFamily="34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395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2 7/8</a:t>
            </a:r>
            <a:r>
              <a:rPr lang="en-US" sz="2000" dirty="0" smtClean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 smtClean="0">
                <a:solidFill>
                  <a:schemeClr val="bg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</a:t>
            </a:r>
            <a:r>
              <a:rPr lang="en-US" sz="2000" b="1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10.111</a:t>
            </a:r>
            <a:r>
              <a:rPr lang="en-US" sz="2000" b="1" baseline="-6000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sz="2000" b="1" dirty="0" smtClean="0">
              <a:solidFill>
                <a:schemeClr val="tx1"/>
              </a:solidFill>
              <a:latin typeface="Courier New" panose="02070609020205020404"/>
              <a:ea typeface="Calibri" pitchFamily="34" charset="0"/>
              <a:cs typeface="Courier New" panose="02070609020205020404"/>
              <a:sym typeface="Calibri" pitchFamily="34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395" algn="l"/>
              </a:tabLst>
            </a:pPr>
            <a:r>
              <a:rPr lang="en-US" sz="2000" dirty="0" smtClean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1 7/16</a:t>
            </a:r>
            <a:r>
              <a:rPr lang="en-US" sz="2000" dirty="0" smtClean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 smtClean="0">
                <a:solidFill>
                  <a:schemeClr val="bg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</a:t>
            </a:r>
            <a:r>
              <a:rPr lang="en-US" sz="2000" b="1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1.0111</a:t>
            </a:r>
            <a:r>
              <a:rPr lang="en-US" sz="2000" b="1" baseline="-6000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 panose="02070609020205020404"/>
              <a:ea typeface="Calibri" pitchFamily="34" charset="0"/>
              <a:cs typeface="Courier New" panose="02070609020205020404"/>
              <a:sym typeface="Calibri" pitchFamily="34" charset="0"/>
            </a:endParaRPr>
          </a:p>
          <a:p>
            <a:pPr marL="254000" indent="-254000" algn="l">
              <a:spcBef>
                <a:spcPts val="4100"/>
              </a:spcBef>
              <a:buClr>
                <a:srgbClr val="990000"/>
              </a:buClr>
              <a:buSzPct val="60000"/>
              <a:buFont typeface="Wingdings 2" panose="05020102010507070707" charset="2"/>
              <a:buChar char="¢"/>
              <a:tabLst>
                <a:tab pos="2398395" algn="l"/>
              </a:tabLst>
            </a:pPr>
            <a:r>
              <a:rPr lang="zh-CN" alt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观察到的现象</a:t>
            </a:r>
            <a:endParaRPr lang="en-US" sz="24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2398395" algn="l"/>
              </a:tabLst>
            </a:pP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右移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位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，</a:t>
            </a: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表示除以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2 </a:t>
            </a:r>
            <a:r>
              <a:rPr lang="en-US" sz="20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(unsigned)</a:t>
            </a:r>
            <a:endParaRPr lang="en-US" sz="2000" dirty="0" smtClean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2398395" algn="l"/>
              </a:tabLst>
            </a:pP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左移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位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，</a:t>
            </a: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表示乘以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2</a:t>
            </a:r>
            <a:endParaRPr lang="en-US" sz="2000" dirty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tabLst>
                <a:tab pos="2398395" algn="l"/>
              </a:tabLst>
            </a:pP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形如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0.111111…</a:t>
            </a:r>
            <a:r>
              <a:rPr lang="en-US" sz="2000" baseline="-6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的数是刚好小于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1.0</a:t>
            </a:r>
            <a:endParaRPr lang="en-US" sz="2000" dirty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tabLst>
                <a:tab pos="2398395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1/2 + 1/4 + 1/8 + … + 1/2</a:t>
            </a:r>
            <a:r>
              <a:rPr lang="en-US" sz="2000" baseline="320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Zapf Dingbats" panose="05020102010704020609" charset="0"/>
                <a:cs typeface="Zapf Dingbats" panose="05020102010704020609" charset="0"/>
                <a:sym typeface="Calibri" pitchFamily="34" charset="0"/>
              </a:rPr>
              <a:t> + … ➙ 1.0</a:t>
            </a:r>
            <a:endParaRPr lang="en-US" sz="2000" dirty="0">
              <a:solidFill>
                <a:schemeClr val="tx1"/>
              </a:solidFill>
              <a:latin typeface="Calibri" pitchFamily="34" charset="0"/>
              <a:ea typeface="Zapf Dingbats" panose="05020102010704020609" charset="0"/>
              <a:cs typeface="Zapf Dingbats" panose="05020102010704020609" charset="0"/>
              <a:sym typeface="Calibri" pitchFamily="34" charset="0"/>
            </a:endParaRP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tabLst>
                <a:tab pos="2398395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Zapf Dingbats" panose="05020102010704020609" charset="0"/>
                <a:cs typeface="Zapf Dingbats" panose="05020102010704020609" charset="0"/>
                <a:sym typeface="Calibri" pitchFamily="34" charset="0"/>
              </a:rPr>
              <a:t>Use </a:t>
            </a:r>
            <a:r>
              <a:rPr lang="zh-CN" altLang="en-US" sz="2000" dirty="0">
                <a:solidFill>
                  <a:schemeClr val="tx1"/>
                </a:solidFill>
                <a:latin typeface="Calibri" pitchFamily="34" charset="0"/>
                <a:ea typeface="Zapf Dingbats" panose="05020102010704020609" charset="0"/>
                <a:cs typeface="Zapf Dingbats" panose="05020102010704020609" charset="0"/>
                <a:sym typeface="Calibri" pitchFamily="34" charset="0"/>
              </a:rPr>
              <a:t>标记</a:t>
            </a:r>
            <a:r>
              <a:rPr lang="en-US" altLang="zh-CN" sz="2000" dirty="0">
                <a:solidFill>
                  <a:schemeClr val="tx1"/>
                </a:solidFill>
                <a:latin typeface="Calibri" pitchFamily="34" charset="0"/>
                <a:ea typeface="Zapf Dingbats" panose="05020102010704020609" charset="0"/>
                <a:cs typeface="Zapf Dingbats" panose="05020102010704020609" charset="0"/>
                <a:sym typeface="Calibri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Zapf Dingbats" panose="05020102010704020609" charset="0"/>
                <a:cs typeface="Zapf Dingbats" panose="05020102010704020609" charset="0"/>
                <a:sym typeface="Calibri" pitchFamily="34" charset="0"/>
              </a:rPr>
              <a:t>1.0 – ε</a:t>
            </a:r>
            <a:endParaRPr lang="en-US" sz="2000" dirty="0">
              <a:solidFill>
                <a:schemeClr val="tx1"/>
              </a:solidFill>
              <a:latin typeface="Calibri" pitchFamily="34" charset="0"/>
              <a:ea typeface="Zapf Dingbats" panose="05020102010704020609" charset="0"/>
              <a:cs typeface="Zapf Dingbats" panose="05020102010704020609" charset="0"/>
              <a:sym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Representable Numbers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表示范围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70305" y="1397000"/>
            <a:ext cx="9429115" cy="5435600"/>
          </a:xfrm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zh-CN" altLang="en-US" dirty="0" smtClean="0"/>
              <a:t>限制</a:t>
            </a:r>
            <a:r>
              <a:rPr lang="en-US" dirty="0" smtClean="0"/>
              <a:t>#1</a:t>
            </a:r>
            <a:r>
              <a:rPr lang="zh-CN" altLang="en-US" dirty="0" smtClean="0">
                <a:ea typeface="SimSun" charset="0"/>
              </a:rPr>
              <a:t>——表示精度有限</a:t>
            </a:r>
            <a:endParaRPr lang="en-US" dirty="0" smtClean="0"/>
          </a:p>
          <a:p>
            <a:pPr marL="552450" lvl="1">
              <a:tabLst>
                <a:tab pos="1828800" algn="l"/>
              </a:tabLst>
            </a:pPr>
            <a:r>
              <a:rPr lang="zh-CN" altLang="en-US" dirty="0"/>
              <a:t>只能精确表示这种形式的</a:t>
            </a:r>
            <a:r>
              <a:rPr lang="zh-CN" altLang="en-US" dirty="0"/>
              <a:t>有理数：</a:t>
            </a:r>
            <a:r>
              <a:rPr lang="en-US" dirty="0" smtClean="0"/>
              <a:t>x/2</a:t>
            </a:r>
            <a:r>
              <a:rPr lang="en-US" baseline="32000" dirty="0" smtClean="0"/>
              <a:t>k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进</a:t>
            </a:r>
            <a:r>
              <a:rPr lang="zh-CN" altLang="en-US" dirty="0" smtClean="0">
                <a:solidFill>
                  <a:srgbClr val="00B050"/>
                </a:solidFill>
              </a:rPr>
              <a:t>制、</a:t>
            </a:r>
            <a:r>
              <a:rPr lang="en-US" altLang="zh-CN" dirty="0" smtClean="0">
                <a:solidFill>
                  <a:srgbClr val="00B050"/>
                </a:solidFill>
              </a:rPr>
              <a:t>10</a:t>
            </a:r>
            <a:r>
              <a:rPr lang="zh-CN" altLang="en-US" dirty="0" smtClean="0">
                <a:solidFill>
                  <a:srgbClr val="00B050"/>
                </a:solidFill>
              </a:rPr>
              <a:t>进制？</a:t>
            </a:r>
            <a:r>
              <a:rPr lang="en-US" dirty="0" smtClean="0"/>
              <a:t>)</a:t>
            </a:r>
            <a:endParaRPr lang="en-US" dirty="0"/>
          </a:p>
          <a:p>
            <a:pPr marL="838200" lvl="2">
              <a:tabLst>
                <a:tab pos="1828800" algn="l"/>
              </a:tabLst>
            </a:pPr>
            <a:r>
              <a:rPr lang="zh-CN" altLang="en-US" dirty="0"/>
              <a:t>其余有理数必须用无限循环的二进制表</a:t>
            </a:r>
            <a:endParaRPr lang="en-US" dirty="0" smtClean="0"/>
          </a:p>
          <a:p>
            <a:pPr lvl="4">
              <a:tabLst>
                <a:tab pos="1828800" algn="l"/>
              </a:tabLst>
            </a:pPr>
            <a:endParaRPr lang="en-US" sz="200" dirty="0" smtClean="0"/>
          </a:p>
          <a:p>
            <a:pPr lvl="1">
              <a:tabLst>
                <a:tab pos="1828800" algn="l"/>
              </a:tabLst>
            </a:pPr>
            <a:r>
              <a:rPr lang="zh-CN" altLang="en-US" dirty="0" smtClean="0"/>
              <a:t>有理数</a:t>
            </a:r>
            <a:r>
              <a:rPr lang="en-US" dirty="0" smtClean="0"/>
              <a:t>	</a:t>
            </a:r>
            <a:r>
              <a:rPr lang="zh-CN" altLang="en-US" dirty="0" smtClean="0"/>
              <a:t>二进制表示</a:t>
            </a:r>
            <a:endParaRPr lang="en-US" dirty="0" smtClean="0"/>
          </a:p>
          <a:p>
            <a:pPr marL="838200" lvl="2">
              <a:tabLst>
                <a:tab pos="1828800" algn="l"/>
              </a:tabLst>
            </a:pPr>
            <a:r>
              <a:rPr lang="en-US" dirty="0" smtClean="0"/>
              <a:t>1/3	</a:t>
            </a:r>
            <a:r>
              <a:rPr lang="en-US" b="1" dirty="0" smtClean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0.0101010101[01]…</a:t>
            </a:r>
            <a:r>
              <a:rPr lang="en-US" b="1" baseline="-6000" dirty="0" smtClean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b="1" dirty="0" smtClean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 smtClean="0"/>
              <a:t>1/5	</a:t>
            </a:r>
            <a:r>
              <a:rPr lang="en-US" b="1" dirty="0" smtClean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0.001100110011[0011]…</a:t>
            </a:r>
            <a:r>
              <a:rPr lang="en-US" b="1" baseline="-6000" dirty="0" smtClean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b="1" dirty="0" smtClean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 smtClean="0"/>
              <a:t>1/10	</a:t>
            </a:r>
            <a:r>
              <a:rPr lang="en-US" b="1" dirty="0" smtClean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0.0001100110011[0011]…</a:t>
            </a:r>
            <a:r>
              <a:rPr lang="en-US" b="1" baseline="-6000" dirty="0" smtClean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b="1" baseline="-6000" dirty="0" smtClean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lvl="1">
              <a:tabLst>
                <a:tab pos="1828800" algn="l"/>
              </a:tabLst>
            </a:pPr>
            <a:r>
              <a:rPr lang="zh-CN" altLang="en-US" dirty="0" smtClean="0">
                <a:solidFill>
                  <a:srgbClr val="00B050"/>
                </a:solidFill>
              </a:rPr>
              <a:t>反过来，思考一下</a:t>
            </a:r>
            <a:r>
              <a:rPr lang="en-US" altLang="zh-CN" dirty="0" smtClean="0">
                <a:solidFill>
                  <a:srgbClr val="00B050"/>
                </a:solidFill>
              </a:rPr>
              <a:t>10</a:t>
            </a:r>
            <a:r>
              <a:rPr lang="zh-CN" altLang="en-US" dirty="0" smtClean="0">
                <a:solidFill>
                  <a:srgbClr val="00B050"/>
                </a:solidFill>
              </a:rPr>
              <a:t>进制中的无限循环小数？无限不循环呢？</a:t>
            </a:r>
            <a:endParaRPr lang="zh-CN" altLang="en-US" dirty="0" smtClean="0">
              <a:solidFill>
                <a:srgbClr val="00B050"/>
              </a:solidFill>
            </a:endParaRPr>
          </a:p>
          <a:p>
            <a:pPr lvl="2">
              <a:tabLst>
                <a:tab pos="1828800" algn="l"/>
              </a:tabLst>
            </a:pPr>
            <a:r>
              <a:rPr lang="en-US" altLang="zh-CN" dirty="0" smtClean="0">
                <a:solidFill>
                  <a:srgbClr val="00B050"/>
                </a:solidFill>
              </a:rPr>
              <a:t>k</a:t>
            </a:r>
            <a:r>
              <a:rPr lang="zh-CN" altLang="en-US" dirty="0" smtClean="0">
                <a:solidFill>
                  <a:srgbClr val="00B050"/>
                </a:solidFill>
              </a:rPr>
              <a:t>进制的有限</a:t>
            </a:r>
            <a:r>
              <a:rPr lang="zh-CN" altLang="en-US" dirty="0" smtClean="0">
                <a:solidFill>
                  <a:srgbClr val="00B050"/>
                </a:solidFill>
              </a:rPr>
              <a:t>表示只是对有理数的一</a:t>
            </a:r>
            <a:r>
              <a:rPr lang="zh-CN" altLang="en-US" dirty="0" smtClean="0">
                <a:solidFill>
                  <a:srgbClr val="00B050"/>
                </a:solidFill>
              </a:rPr>
              <a:t>种采样</a:t>
            </a:r>
            <a:endParaRPr lang="en-US" dirty="0" smtClean="0"/>
          </a:p>
          <a:p>
            <a:pPr>
              <a:tabLst>
                <a:tab pos="1828800" algn="l"/>
              </a:tabLst>
            </a:pPr>
            <a:r>
              <a:rPr lang="zh-CN" altLang="en-US" dirty="0" smtClean="0"/>
              <a:t>限制</a:t>
            </a:r>
            <a:r>
              <a:rPr lang="en-US" dirty="0" smtClean="0"/>
              <a:t>#2</a:t>
            </a:r>
            <a:r>
              <a:rPr lang="zh-CN" altLang="en-US" dirty="0" smtClean="0">
                <a:ea typeface="SimSun" charset="0"/>
              </a:rPr>
              <a:t>——表示范围有限</a:t>
            </a:r>
            <a:endParaRPr lang="en-US" dirty="0" smtClean="0"/>
          </a:p>
          <a:p>
            <a:pPr marL="552450" lvl="1">
              <a:tabLst>
                <a:tab pos="1828800" algn="l"/>
              </a:tabLst>
            </a:pPr>
            <a:r>
              <a:rPr lang="zh-CN" altLang="en-US" dirty="0" smtClean="0"/>
              <a:t>在</a:t>
            </a:r>
            <a:r>
              <a:rPr lang="en-US" dirty="0" smtClean="0"/>
              <a:t> </a:t>
            </a:r>
            <a:r>
              <a:rPr lang="en-US" i="1" dirty="0" smtClean="0"/>
              <a:t>w </a:t>
            </a:r>
            <a:r>
              <a:rPr lang="zh-CN" altLang="en-US" dirty="0" smtClean="0">
                <a:latin typeface="Hiragino Kaku Gothic ProN W3" panose="020B0300000000000000" charset="-128"/>
                <a:ea typeface="Hiragino Kaku Gothic ProN W3" panose="020B0300000000000000" charset="-128"/>
              </a:rPr>
              <a:t>位二进制序列中，有一个小数点位</a:t>
            </a:r>
            <a:r>
              <a:rPr lang="en-US" altLang="zh-CN" dirty="0" smtClean="0">
                <a:latin typeface="Hiragino Kaku Gothic ProN W3" panose="020B0300000000000000" charset="-128"/>
                <a:ea typeface="Hiragino Kaku Gothic ProN W3" panose="020B0300000000000000" charset="-128"/>
              </a:rPr>
              <a:t>k（k</a:t>
            </a:r>
            <a:r>
              <a:rPr lang="zh-CN" altLang="en-US" dirty="0" smtClean="0">
                <a:latin typeface="Hiragino Kaku Gothic ProN W3" panose="020B0300000000000000" charset="-128"/>
                <a:ea typeface="Hiragino Kaku Gothic ProN W3" panose="020B0300000000000000" charset="-128"/>
              </a:rPr>
              <a:t>位整数部分</a:t>
            </a:r>
            <a:r>
              <a:rPr lang="en-US" altLang="zh-CN" dirty="0" smtClean="0">
                <a:latin typeface="Hiragino Kaku Gothic ProN W3" panose="020B0300000000000000" charset="-128"/>
                <a:ea typeface="Hiragino Kaku Gothic ProN W3" panose="020B0300000000000000" charset="-128"/>
              </a:rPr>
              <a:t>，w-k</a:t>
            </a:r>
            <a:r>
              <a:rPr lang="zh-CN" altLang="en-US" dirty="0" smtClean="0">
                <a:latin typeface="Hiragino Kaku Gothic ProN W3" panose="020B0300000000000000" charset="-128"/>
                <a:ea typeface="Hiragino Kaku Gothic ProN W3" panose="020B0300000000000000" charset="-128"/>
              </a:rPr>
              <a:t>位小数部分</a:t>
            </a:r>
            <a:r>
              <a:rPr lang="en-US" altLang="zh-CN" dirty="0" smtClean="0">
                <a:latin typeface="Hiragino Kaku Gothic ProN W3" panose="020B0300000000000000" charset="-128"/>
                <a:ea typeface="Hiragino Kaku Gothic ProN W3" panose="020B0300000000000000" charset="-128"/>
              </a:rPr>
              <a:t>）</a:t>
            </a:r>
            <a:endParaRPr lang="en-US" dirty="0" smtClean="0">
              <a:latin typeface="Monaco" charset="0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zh-CN" altLang="en-US" dirty="0" smtClean="0"/>
              <a:t>表示的范围有限</a:t>
            </a:r>
            <a:r>
              <a:rPr lang="en-US" dirty="0" smtClean="0"/>
              <a:t> (very small values?  very large?)</a:t>
            </a:r>
            <a:endParaRPr lang="en-US" dirty="0" smtClean="0"/>
          </a:p>
          <a:p>
            <a:pPr marL="838200" lvl="2">
              <a:tabLst>
                <a:tab pos="1828800" algn="l"/>
              </a:tabLst>
            </a:pPr>
            <a:r>
              <a:rPr lang="zh-CN" altLang="en-US" dirty="0" smtClean="0">
                <a:solidFill>
                  <a:srgbClr val="00B050"/>
                </a:solidFill>
                <a:latin typeface="Monaco" charset="0"/>
                <a:sym typeface="Monaco" charset="0"/>
              </a:rPr>
              <a:t>具体的表示范围</a:t>
            </a:r>
            <a:r>
              <a:rPr lang="zh-CN" altLang="en-US" dirty="0" smtClean="0">
                <a:solidFill>
                  <a:srgbClr val="00B050"/>
                </a:solidFill>
                <a:latin typeface="Monaco" charset="0"/>
                <a:sym typeface="Monaco" charset="0"/>
              </a:rPr>
              <a:t>限制？</a:t>
            </a:r>
            <a:endParaRPr lang="en-US" dirty="0" smtClean="0">
              <a:solidFill>
                <a:srgbClr val="00B050"/>
              </a:solidFill>
              <a:latin typeface="Monaco" charset="0"/>
              <a:sym typeface="Monac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？</a:t>
            </a: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4800600"/>
            <a:ext cx="9467850" cy="148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09800"/>
            <a:ext cx="9467850" cy="1714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Kaiti SC W6" charset="0"/>
                <a:ea typeface="Kaiti SC W6" charset="0"/>
              </a:rPr>
              <a:t>为什么？</a:t>
            </a:r>
            <a:endParaRPr lang="zh-CN" altLang="en-US">
              <a:latin typeface="Kaiti SC W6" charset="0"/>
              <a:ea typeface="Kaiti SC W6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2600" y="1905000"/>
            <a:ext cx="75730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#include &lt;stdio.h&gt;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int main() 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{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	float f1=0.1, f2=0.2, f3=0.3;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	double d1=0.1, d2=0.2, d3=0.3;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	printf("float equal? f1+f2=%.10f, </a:t>
            </a:r>
            <a:r>
              <a:rPr lang="en-US" altLang="zh-CN" sz="1800">
                <a:latin typeface="Arial Regular" panose="020B0704020202020204" charset="0"/>
                <a:cs typeface="Arial Regular" panose="020B0704020202020204" charset="0"/>
              </a:rPr>
              <a:t> 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f3=%f\n", </a:t>
            </a:r>
            <a:r>
              <a:rPr lang="en-US" altLang="zh-CN" sz="1800">
                <a:latin typeface="Arial Regular" panose="020B0704020202020204" charset="0"/>
                <a:cs typeface="Arial Regular" panose="020B0704020202020204" charset="0"/>
              </a:rPr>
              <a:t> </a:t>
            </a:r>
            <a:r>
              <a:rPr lang="zh-CN" altLang="en-US" sz="1800" b="1">
                <a:latin typeface="Arial Bold" panose="020B0704020202020204" charset="0"/>
                <a:cs typeface="Arial Bold" panose="020B0704020202020204" charset="0"/>
              </a:rPr>
              <a:t>f1+f2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, </a:t>
            </a:r>
            <a:r>
              <a:rPr lang="zh-CN" altLang="en-US" sz="1800" b="1">
                <a:latin typeface="Arial Bold" panose="020B0704020202020204" charset="0"/>
                <a:cs typeface="Arial Bold" panose="020B0704020202020204" charset="0"/>
              </a:rPr>
              <a:t>f3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);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	printf("double equal? d1+d2=%.</a:t>
            </a:r>
            <a:r>
              <a:rPr lang="en-US" altLang="zh-CN" sz="1800">
                <a:latin typeface="Arial Regular" panose="020B0704020202020204" charset="0"/>
                <a:cs typeface="Arial Regular" panose="020B0704020202020204" charset="0"/>
              </a:rPr>
              <a:t> 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10f, d3=%f\n", </a:t>
            </a:r>
            <a:r>
              <a:rPr lang="zh-CN" altLang="en-US" sz="1800" b="1">
                <a:latin typeface="Arial Bold" panose="020B0704020202020204" charset="0"/>
                <a:cs typeface="Arial Bold" panose="020B0704020202020204" charset="0"/>
              </a:rPr>
              <a:t>d1+d2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, </a:t>
            </a:r>
            <a:r>
              <a:rPr lang="zh-CN" altLang="en-US" sz="1800" b="1">
                <a:latin typeface="Arial Bold" panose="020B0704020202020204" charset="0"/>
                <a:cs typeface="Arial Bold" panose="020B0704020202020204" charset="0"/>
              </a:rPr>
              <a:t>d3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);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	return 0;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}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33600" y="5410200"/>
            <a:ext cx="6805930" cy="8712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Kaiti SC W6" charset="0"/>
                <a:ea typeface="Kaiti SC W6" charset="0"/>
              </a:rPr>
              <a:t>为什么？</a:t>
            </a:r>
            <a:endParaRPr lang="zh-CN" altLang="en-US">
              <a:latin typeface="Kaiti SC W6" charset="0"/>
              <a:ea typeface="Kaiti SC W6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2600" y="1905000"/>
            <a:ext cx="5307965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void show_double(double x) {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show_bytes((</a:t>
            </a:r>
            <a:r>
              <a:rPr lang="en-US" altLang="zh-CN" sz="1800">
                <a:latin typeface="Arial Regular" panose="020B0704020202020204" charset="0"/>
                <a:cs typeface="Arial Regular" panose="020B0704020202020204" charset="0"/>
              </a:rPr>
              <a:t>char *</a:t>
            </a:r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) &amp;x, sizeof(double));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}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int main()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{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float f = 0.1f;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double d = 0.1;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show_float( f);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show_double( d);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printf("f=%f\n", f);</a:t>
            </a:r>
            <a:r>
              <a:rPr lang="en-US" altLang="zh-CN" sz="1800">
                <a:latin typeface="Arial Regular" panose="020B0704020202020204" charset="0"/>
                <a:cs typeface="Arial Regular" panose="020B0704020202020204" charset="0"/>
              </a:rPr>
              <a:t> 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printf("d=%lf\n", d);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        printf("f==d? %d\n", f==d);</a:t>
            </a:r>
            <a:r>
              <a:rPr lang="en-US" altLang="zh-CN" sz="1800">
                <a:latin typeface="Arial Regular" panose="020B0704020202020204" charset="0"/>
                <a:cs typeface="Arial Regular" panose="020B0704020202020204" charset="0"/>
              </a:rPr>
              <a:t> </a:t>
            </a:r>
            <a:r>
              <a:rPr lang="en-US" altLang="zh-CN" sz="1800">
                <a:solidFill>
                  <a:schemeClr val="accent1">
                    <a:lumMod val="60000"/>
                    <a:lumOff val="40000"/>
                  </a:schemeClr>
                </a:solidFill>
                <a:latin typeface="Arial Regular" panose="020B0704020202020204" charset="0"/>
                <a:cs typeface="Arial Regular" panose="020B0704020202020204" charset="0"/>
              </a:rPr>
              <a:t>//</a:t>
            </a:r>
            <a:r>
              <a:rPr lang="zh-CN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Arial Regular" panose="020B0704020202020204" charset="0"/>
                <a:ea typeface="SimSun" charset="0"/>
                <a:cs typeface="Arial Regular" panose="020B0704020202020204" charset="0"/>
              </a:rPr>
              <a:t>？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  <a:p>
            <a:pPr algn="l"/>
            <a:r>
              <a:rPr lang="zh-CN" altLang="en-US" sz="1800">
                <a:latin typeface="Arial Regular" panose="020B0704020202020204" charset="0"/>
                <a:cs typeface="Arial Regular" panose="020B0704020202020204" charset="0"/>
              </a:rPr>
              <a:t>}</a:t>
            </a:r>
            <a:endParaRPr lang="zh-CN" altLang="en-US" sz="1800"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48200" y="2895600"/>
            <a:ext cx="5844540" cy="15995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美国</a:t>
            </a:r>
            <a:r>
              <a:rPr lang="en-US" altLang="en-US">
                <a:sym typeface="+mn-ea"/>
              </a:rPr>
              <a:t>“</a:t>
            </a:r>
            <a:r>
              <a:rPr lang="zh-CN" altLang="en-US">
                <a:sym typeface="+mn-ea"/>
              </a:rPr>
              <a:t>爱国者</a:t>
            </a:r>
            <a:r>
              <a:rPr lang="en-US" altLang="en-US">
                <a:sym typeface="+mn-ea"/>
              </a:rPr>
              <a:t>”</a:t>
            </a:r>
            <a:r>
              <a:rPr lang="zh-CN" altLang="en-US">
                <a:sym typeface="+mn-ea"/>
              </a:rPr>
              <a:t>导弹系统的</a:t>
            </a:r>
            <a:r>
              <a:rPr lang="zh-CN" altLang="en-US">
                <a:sym typeface="+mn-ea"/>
              </a:rPr>
              <a:t>失误</a:t>
            </a:r>
            <a:endParaRPr lang="zh-CN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397000"/>
            <a:ext cx="6943725" cy="5435600"/>
          </a:xfrm>
        </p:spPr>
        <p:txBody>
          <a:bodyPr/>
          <a:p>
            <a:r>
              <a:rPr lang="zh-CN" altLang="en-US"/>
              <a:t>故事</a:t>
            </a:r>
            <a:endParaRPr lang="zh-CN" altLang="en-US"/>
          </a:p>
          <a:p>
            <a:pPr lvl="1"/>
            <a:r>
              <a:rPr lang="en-US" altLang="en-US"/>
              <a:t>1991 </a:t>
            </a:r>
            <a:r>
              <a:rPr lang="zh-CN" altLang="en-US"/>
              <a:t>年海湾战争中美国</a:t>
            </a:r>
            <a:r>
              <a:rPr lang="en-US" altLang="en-US"/>
              <a:t>“</a:t>
            </a:r>
            <a:r>
              <a:rPr lang="zh-CN" altLang="en-US"/>
              <a:t>爱国者</a:t>
            </a:r>
            <a:r>
              <a:rPr lang="en-US" altLang="en-US"/>
              <a:t>”</a:t>
            </a:r>
            <a:r>
              <a:rPr lang="zh-CN" altLang="en-US"/>
              <a:t>导弹</a:t>
            </a:r>
            <a:r>
              <a:rPr lang="zh-CN" altLang="en-US"/>
              <a:t>防御系统（</a:t>
            </a:r>
            <a:r>
              <a:rPr lang="en-US" altLang="en-US"/>
              <a:t>Patriot missile</a:t>
            </a:r>
            <a:r>
              <a:rPr lang="zh-CN" altLang="en-US"/>
              <a:t>）在拦截伊拉克飞毛腿导弹时，因为浮点</a:t>
            </a:r>
            <a:r>
              <a:rPr lang="en-US" altLang="en-US"/>
              <a:t>/</a:t>
            </a:r>
            <a:r>
              <a:rPr lang="zh-CN" altLang="en-US"/>
              <a:t>定点近似误差积累，导致目标位置计算偏差，最终拦截失败。</a:t>
            </a:r>
            <a:endParaRPr lang="zh-CN" altLang="en-US"/>
          </a:p>
          <a:p>
            <a:r>
              <a:rPr lang="zh-CN" altLang="en-US"/>
              <a:t>过程</a:t>
            </a:r>
            <a:endParaRPr lang="zh-CN" altLang="en-US"/>
          </a:p>
          <a:p>
            <a:pPr lvl="1"/>
            <a:r>
              <a:rPr lang="zh-CN" altLang="en-US"/>
              <a:t>防御系统内部要用</a:t>
            </a:r>
            <a:r>
              <a:rPr lang="en-US" altLang="en-US"/>
              <a:t>“</a:t>
            </a:r>
            <a:r>
              <a:rPr lang="zh-CN" altLang="en-US"/>
              <a:t>系统从启动以来已经运行的时间</a:t>
            </a:r>
            <a:r>
              <a:rPr lang="en-US" altLang="en-US"/>
              <a:t>”</a:t>
            </a:r>
            <a:r>
              <a:rPr lang="zh-CN" altLang="en-US"/>
              <a:t>来记录</a:t>
            </a:r>
            <a:r>
              <a:rPr lang="zh-CN" altLang="en-US"/>
              <a:t>时间</a:t>
            </a:r>
            <a:endParaRPr lang="zh-CN" altLang="en-US"/>
          </a:p>
          <a:p>
            <a:pPr lvl="1"/>
            <a:r>
              <a:rPr lang="zh-CN" altLang="en-US"/>
              <a:t>时间是以</a:t>
            </a:r>
            <a:r>
              <a:rPr lang="en-US" altLang="zh-CN"/>
              <a:t>0.1</a:t>
            </a:r>
            <a:r>
              <a:rPr lang="zh-CN" altLang="en-US"/>
              <a:t>秒为单位累计的</a:t>
            </a:r>
            <a:r>
              <a:rPr lang="en-US" altLang="zh-CN"/>
              <a:t>，</a:t>
            </a:r>
            <a:r>
              <a:rPr lang="zh-CN" altLang="en-US">
                <a:sym typeface="+mn-ea"/>
              </a:rPr>
              <a:t>但计算机里</a:t>
            </a:r>
            <a:r>
              <a:rPr lang="en-US" altLang="en-US">
                <a:sym typeface="+mn-ea"/>
              </a:rPr>
              <a:t> 0.1 </a:t>
            </a:r>
            <a:r>
              <a:rPr lang="zh-CN" altLang="en-US">
                <a:sym typeface="+mn-ea"/>
              </a:rPr>
              <a:t>不能被二进制精确表示，只能存成近似值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误差约为</a:t>
            </a:r>
            <a:r>
              <a:rPr lang="en-US" altLang="zh-CN">
                <a:sym typeface="+mn-ea"/>
              </a:rPr>
              <a:t>9.5*10e-8</a:t>
            </a:r>
            <a:r>
              <a:rPr lang="zh-CN" altLang="en-US">
                <a:sym typeface="+mn-ea"/>
              </a:rPr>
              <a:t>秒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系统运行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小时后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误差累积为</a:t>
            </a:r>
            <a:r>
              <a:rPr lang="en-US" altLang="zh-CN">
                <a:sym typeface="+mn-ea"/>
              </a:rPr>
              <a:t>：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100*3600*</a:t>
            </a:r>
            <a:r>
              <a:rPr lang="en-US" altLang="zh-CN">
                <a:sym typeface="+mn-ea"/>
              </a:rPr>
              <a:t>9.5*10e-8 = 0.34s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这个时间误差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导致防御系统计算导弹位置偏差超过</a:t>
            </a:r>
            <a:r>
              <a:rPr lang="en-US" altLang="zh-CN">
                <a:sym typeface="+mn-ea"/>
              </a:rPr>
              <a:t>500</a:t>
            </a:r>
            <a:r>
              <a:rPr lang="zh-CN" altLang="en-US">
                <a:sym typeface="+mn-ea"/>
              </a:rPr>
              <a:t>米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进而拦截</a:t>
            </a:r>
            <a:r>
              <a:rPr lang="zh-CN" altLang="en-US">
                <a:sym typeface="+mn-ea"/>
              </a:rPr>
              <a:t>失败</a:t>
            </a:r>
            <a:endParaRPr lang="zh-CN" altLang="en-US">
              <a:sym typeface="+mn-ea"/>
            </a:endParaRPr>
          </a:p>
          <a:p>
            <a:pPr marL="279400" lvl="1" indent="0">
              <a:buNone/>
            </a:pP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1828800"/>
            <a:ext cx="4347845" cy="3530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Today: Floating Point</a:t>
            </a: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  <a:endParaRPr lang="en-US">
              <a:solidFill>
                <a:srgbClr val="B3B3B3"/>
              </a:solidFill>
            </a:endParaRPr>
          </a:p>
          <a:p>
            <a:r>
              <a:rPr lang="en-US"/>
              <a:t>IEEE floating point standard: Definition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IEEE</a:t>
            </a:r>
            <a:r>
              <a:rPr lang="zh-CN" altLang="en-US">
                <a:ea typeface="SimSun" charset="0"/>
              </a:rPr>
              <a:t>标准</a:t>
            </a:r>
            <a:r>
              <a:rPr lang="zh-CN" altLang="en-US">
                <a:ea typeface="SimSun" charset="0"/>
                <a:sym typeface="+mn-ea"/>
              </a:rPr>
              <a:t>浮点数</a:t>
            </a:r>
            <a:r>
              <a:rPr lang="zh-CN" altLang="en-US">
                <a:ea typeface="SimSun" charset="0"/>
              </a:rPr>
              <a:t>）</a:t>
            </a:r>
            <a:endParaRPr lang="en-US"/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Summary</a:t>
            </a:r>
            <a:endParaRPr lang="en-US">
              <a:solidFill>
                <a:srgbClr val="B3B3B3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IEEE</a:t>
            </a:r>
            <a:r>
              <a:rPr lang="zh-CN" altLang="en-US"/>
              <a:t>标准浮点数</a:t>
            </a:r>
            <a:endParaRPr lang="zh-CN" alt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IEEE Standard 754</a:t>
            </a:r>
            <a:endParaRPr lang="en-US"/>
          </a:p>
          <a:p>
            <a:pPr lvl="1"/>
            <a:r>
              <a:rPr lang="en-US"/>
              <a:t>1985</a:t>
            </a:r>
            <a:r>
              <a:rPr lang="zh-CN" altLang="en-US"/>
              <a:t>建立的，用于浮点算术的通用标准</a:t>
            </a:r>
            <a:endParaRPr lang="en-US"/>
          </a:p>
          <a:p>
            <a:pPr lvl="2"/>
            <a:r>
              <a:rPr lang="zh-CN" altLang="en-US"/>
              <a:t>在此之前，各芯片厂商使用自己的独特标准</a:t>
            </a:r>
            <a:endParaRPr lang="en-US"/>
          </a:p>
          <a:p>
            <a:pPr lvl="1"/>
            <a:r>
              <a:rPr lang="zh-CN" altLang="en-US"/>
              <a:t>所有主流的</a:t>
            </a:r>
            <a:r>
              <a:rPr lang="en-US" altLang="zh-CN"/>
              <a:t>CPU</a:t>
            </a:r>
            <a:r>
              <a:rPr lang="zh-CN" altLang="en-US"/>
              <a:t>都支持该标准</a:t>
            </a:r>
            <a:endParaRPr lang="en-US"/>
          </a:p>
          <a:p>
            <a:r>
              <a:rPr lang="zh-CN" altLang="en-US"/>
              <a:t>标准的建立，首先考虑数值计算的应用</a:t>
            </a:r>
            <a:endParaRPr lang="en-US"/>
          </a:p>
          <a:p>
            <a:pPr lvl="1"/>
            <a:r>
              <a:rPr lang="zh-CN" altLang="en-US"/>
              <a:t>适合用来处理舍入、上溢出、下溢出</a:t>
            </a:r>
            <a:endParaRPr lang="en-US"/>
          </a:p>
          <a:p>
            <a:pPr lvl="1"/>
            <a:r>
              <a:rPr lang="zh-CN" altLang="en-US"/>
              <a:t>很难在硬件上加速</a:t>
            </a:r>
            <a:endParaRPr lang="en-US"/>
          </a:p>
          <a:p>
            <a:pPr lvl="2"/>
            <a:r>
              <a:rPr lang="en-US"/>
              <a:t>Numerical analysts predominated over hardware designers in defining standard</a:t>
            </a:r>
            <a:endParaRPr lang="en-US"/>
          </a:p>
          <a:p>
            <a:pPr lvl="2"/>
            <a:r>
              <a:rPr lang="zh-CN" altLang="en-US"/>
              <a:t>在定义浮点标准时</a:t>
            </a:r>
            <a:r>
              <a:rPr lang="en-US" altLang="zh-CN"/>
              <a:t>，</a:t>
            </a:r>
            <a:r>
              <a:rPr lang="zh-CN" altLang="en-US"/>
              <a:t>由数值分析工程师主导</a:t>
            </a:r>
            <a:r>
              <a:rPr lang="en-US" altLang="zh-CN"/>
              <a:t>（</a:t>
            </a:r>
            <a:r>
              <a:rPr lang="zh-CN" altLang="en-US"/>
              <a:t>而不是硬件工程师</a:t>
            </a:r>
            <a:r>
              <a:rPr lang="en-US" altLang="zh-CN"/>
              <a:t>）</a:t>
            </a:r>
            <a:endParaRPr lang="en-US"/>
          </a:p>
          <a:p>
            <a:pPr lvl="2"/>
            <a:r>
              <a:rPr lang="zh-CN" altLang="en-US"/>
              <a:t>浮点指令、浮点协处理器</a:t>
            </a:r>
            <a:endParaRPr lang="zh-CN" altLang="en-US"/>
          </a:p>
          <a:p>
            <a:pPr lvl="2"/>
            <a:r>
              <a:rPr lang="en-US" altLang="zh-CN"/>
              <a:t>Spec CPU</a:t>
            </a:r>
            <a:r>
              <a:rPr lang="zh-CN" altLang="en-US"/>
              <a:t>测试集中区分整数测试集和浮点测试集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表示格式</a:t>
            </a:r>
            <a:r>
              <a:rPr lang="en-US"/>
              <a:t>: </a:t>
            </a:r>
            <a:br>
              <a:rPr lang="en-US"/>
            </a:br>
            <a:r>
              <a:rPr lang="en-US"/>
              <a:t>			(–1)s M  2E</a:t>
            </a:r>
            <a:endParaRPr lang="en-US"/>
          </a:p>
          <a:p>
            <a:pPr lvl="1"/>
            <a:r>
              <a:rPr lang="zh-CN" altLang="en-US"/>
              <a:t>符号位</a:t>
            </a:r>
            <a:r>
              <a:rPr lang="en-US"/>
              <a:t> s </a:t>
            </a:r>
            <a:r>
              <a:rPr lang="zh-CN" altLang="en-US"/>
              <a:t>：决定了该数是正数还是负数</a:t>
            </a:r>
            <a:endParaRPr lang="en-US"/>
          </a:p>
          <a:p>
            <a:pPr lvl="1"/>
            <a:r>
              <a:rPr lang="zh-CN" altLang="en-US"/>
              <a:t>尾数</a:t>
            </a:r>
            <a:r>
              <a:rPr lang="en-US"/>
              <a:t> M</a:t>
            </a:r>
            <a:r>
              <a:rPr lang="zh-CN" altLang="en-US"/>
              <a:t>：通常表示一个小数，</a:t>
            </a:r>
            <a:r>
              <a:rPr lang="zh-CN" altLang="en-US"/>
              <a:t>其范围为</a:t>
            </a:r>
            <a:r>
              <a:rPr lang="en-US"/>
              <a:t> [1.0,2.0).</a:t>
            </a:r>
            <a:endParaRPr lang="en-US"/>
          </a:p>
          <a:p>
            <a:pPr lvl="1"/>
            <a:r>
              <a:rPr lang="zh-CN" altLang="en-US"/>
              <a:t>指数</a:t>
            </a:r>
            <a:r>
              <a:rPr lang="en-US"/>
              <a:t> E</a:t>
            </a:r>
            <a:r>
              <a:rPr lang="zh-CN" altLang="en-US"/>
              <a:t>：表示该小数的指数部分</a:t>
            </a:r>
            <a:endParaRPr lang="zh-CN" altLang="en-US"/>
          </a:p>
          <a:p>
            <a:pPr lvl="1"/>
            <a:endParaRPr lang="en-US"/>
          </a:p>
          <a:p>
            <a:r>
              <a:rPr lang="zh-CN" altLang="en-US"/>
              <a:t>编码</a:t>
            </a:r>
            <a:endParaRPr lang="en-US"/>
          </a:p>
          <a:p>
            <a:pPr lvl="1"/>
            <a:r>
              <a:rPr lang="zh-CN" altLang="en-US"/>
              <a:t>最高位是符号位</a:t>
            </a:r>
            <a:r>
              <a:rPr lang="en-US"/>
              <a:t> s</a:t>
            </a:r>
            <a:endParaRPr lang="en-US"/>
          </a:p>
          <a:p>
            <a:pPr lvl="1"/>
            <a:r>
              <a:rPr lang="en-US"/>
              <a:t>exp </a:t>
            </a:r>
            <a:r>
              <a:rPr lang="zh-CN" altLang="en-US"/>
              <a:t>字段编码</a:t>
            </a:r>
            <a:r>
              <a:rPr lang="en-US"/>
              <a:t> E (</a:t>
            </a:r>
            <a:r>
              <a:rPr lang="zh-CN" altLang="en-US"/>
              <a:t>但是并不等于</a:t>
            </a:r>
            <a:r>
              <a:rPr lang="en-US"/>
              <a:t>E)</a:t>
            </a:r>
            <a:endParaRPr lang="en-US"/>
          </a:p>
          <a:p>
            <a:pPr lvl="1"/>
            <a:r>
              <a:rPr lang="en-US"/>
              <a:t>frac </a:t>
            </a:r>
            <a:r>
              <a:rPr lang="zh-CN" altLang="en-US"/>
              <a:t>字段编码</a:t>
            </a:r>
            <a:r>
              <a:rPr lang="en-US"/>
              <a:t> M (</a:t>
            </a:r>
            <a:r>
              <a:rPr lang="zh-CN" altLang="en-US"/>
              <a:t>但是并不等于</a:t>
            </a:r>
            <a:r>
              <a:rPr lang="en-US"/>
              <a:t>M)</a:t>
            </a:r>
            <a:endParaRPr 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浮</a:t>
            </a:r>
            <a:r>
              <a:rPr lang="zh-CN" altLang="en-US"/>
              <a:t>点数表示</a:t>
            </a:r>
            <a:endParaRPr lang="zh-CN" altLang="en-US"/>
          </a:p>
        </p:txBody>
      </p:sp>
      <p:graphicFrame>
        <p:nvGraphicFramePr>
          <p:cNvPr id="19461" name="Group 5"/>
          <p:cNvGraphicFramePr>
            <a:graphicFrameLocks noGrp="1"/>
          </p:cNvGraphicFramePr>
          <p:nvPr/>
        </p:nvGraphicFramePr>
        <p:xfrm>
          <a:off x="2235200" y="5689600"/>
          <a:ext cx="7366000" cy="508000"/>
        </p:xfrm>
        <a:graphic>
          <a:graphicData uri="http://schemas.openxmlformats.org/drawingml/2006/table">
            <a:tbl>
              <a:tblPr/>
              <a:tblGrid>
                <a:gridCol w="381000"/>
                <a:gridCol w="1841500"/>
                <a:gridCol w="51435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 smtClean="0">
                <a:ea typeface="SimSun" charset="0"/>
              </a:rPr>
              <a:t>多种精度</a:t>
            </a:r>
            <a:r>
              <a:rPr lang="zh-CN" altLang="en-US" dirty="0" smtClean="0">
                <a:ea typeface="SimSun" charset="0"/>
              </a:rPr>
              <a:t>选择</a:t>
            </a:r>
            <a:endParaRPr lang="zh-CN" altLang="en-US" dirty="0" smtClean="0">
              <a:ea typeface="SimSun" charset="0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1397000"/>
            <a:ext cx="8382000" cy="3198495"/>
          </a:xfrm>
        </p:spPr>
        <p:txBody>
          <a:bodyPr/>
          <a:lstStyle/>
          <a:p>
            <a:r>
              <a:rPr lang="zh-CN" altLang="en-US" dirty="0"/>
              <a:t>单精度</a:t>
            </a:r>
            <a:r>
              <a:rPr lang="en-US" dirty="0"/>
              <a:t>: 32 bits -&gt; </a:t>
            </a:r>
            <a:r>
              <a:rPr lang="en-US" dirty="0">
                <a:solidFill>
                  <a:srgbClr val="00B050"/>
                </a:solidFill>
              </a:rPr>
              <a:t>float in C</a:t>
            </a:r>
            <a:r>
              <a:rPr lang="en-US" dirty="0"/>
              <a:t>?</a:t>
            </a:r>
            <a:endParaRPr lang="en-US" dirty="0"/>
          </a:p>
          <a:p>
            <a:pPr>
              <a:spcBef>
                <a:spcPts val="10000"/>
              </a:spcBef>
            </a:pPr>
            <a:r>
              <a:rPr lang="zh-CN" altLang="en-US" dirty="0"/>
              <a:t>双精度</a:t>
            </a:r>
            <a:r>
              <a:rPr lang="en-US" dirty="0"/>
              <a:t>: 64 bits -&gt; </a:t>
            </a:r>
            <a:r>
              <a:rPr lang="en-US" dirty="0">
                <a:solidFill>
                  <a:srgbClr val="00B050"/>
                </a:solidFill>
              </a:rPr>
              <a:t>double in </a:t>
            </a:r>
            <a:r>
              <a:rPr lang="en-US" dirty="0">
                <a:solidFill>
                  <a:srgbClr val="00B050"/>
                </a:solidFill>
              </a:rPr>
              <a:t>C?</a:t>
            </a:r>
            <a:endParaRPr lang="en-US" dirty="0"/>
          </a:p>
          <a:p>
            <a:pPr>
              <a:spcBef>
                <a:spcPts val="10000"/>
              </a:spcBef>
            </a:pPr>
            <a:r>
              <a:rPr lang="zh-CN" altLang="en-US" dirty="0"/>
              <a:t>扩展精度</a:t>
            </a:r>
            <a:r>
              <a:rPr lang="en-US" dirty="0"/>
              <a:t>: 80 bits (Intel only)</a:t>
            </a:r>
            <a:endParaRPr lang="en-US" dirty="0"/>
          </a:p>
        </p:txBody>
      </p:sp>
      <p:graphicFrame>
        <p:nvGraphicFramePr>
          <p:cNvPr id="20485" name="Group 5"/>
          <p:cNvGraphicFramePr>
            <a:graphicFrameLocks noGrp="1"/>
          </p:cNvGraphicFramePr>
          <p:nvPr/>
        </p:nvGraphicFramePr>
        <p:xfrm>
          <a:off x="2400300" y="19939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841500"/>
                <a:gridCol w="51435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09" name="Group 29"/>
          <p:cNvGraphicFramePr>
            <a:graphicFrameLocks noGrp="1"/>
          </p:cNvGraphicFramePr>
          <p:nvPr/>
        </p:nvGraphicFramePr>
        <p:xfrm>
          <a:off x="2400300" y="35179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841500"/>
                <a:gridCol w="51435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33" name="Group 53"/>
          <p:cNvGraphicFramePr>
            <a:graphicFrameLocks noGrp="1"/>
          </p:cNvGraphicFramePr>
          <p:nvPr/>
        </p:nvGraphicFramePr>
        <p:xfrm>
          <a:off x="2400300" y="54991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841500"/>
                <a:gridCol w="51435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15-bits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63 or 64-bits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sz="3200" b="0" dirty="0">
                <a:ea typeface="Microsoft YaHei" charset="0"/>
                <a:cs typeface="Times New Roman Regular" panose="02020603050405020304" charset="0"/>
              </a:rPr>
              <a:t>规格化</a:t>
            </a:r>
            <a:r>
              <a:rPr lang="en-US" altLang="zh-CN" sz="3200" b="0" dirty="0">
                <a:ea typeface="Microsoft YaHei" charset="0"/>
                <a:cs typeface="Times New Roman Regular" panose="02020603050405020304" charset="0"/>
              </a:rPr>
              <a:t>（Normalized）</a:t>
            </a:r>
            <a:r>
              <a:rPr lang="zh-CN" altLang="en-US" sz="3200" b="0" dirty="0">
                <a:ea typeface="Microsoft YaHei" charset="0"/>
                <a:cs typeface="Times New Roman Regular" panose="02020603050405020304" charset="0"/>
              </a:rPr>
              <a:t>表示的值</a:t>
            </a:r>
            <a:endParaRPr lang="zh-CN" altLang="en-US" sz="3200" b="0" dirty="0"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4510" y="1397000"/>
            <a:ext cx="8578850" cy="5435600"/>
          </a:xfrm>
        </p:spPr>
        <p:txBody>
          <a:bodyPr/>
          <a:lstStyle/>
          <a:p>
            <a:r>
              <a:rPr lang="en-US" dirty="0" smtClean="0">
                <a:ea typeface="Microsoft YaHei" charset="0"/>
              </a:rPr>
              <a:t>When: </a:t>
            </a:r>
            <a:r>
              <a:rPr lang="en-US" dirty="0">
                <a:ea typeface="Microsoft YaHei" charset="0"/>
              </a:rPr>
              <a:t>exp ≠ 000…0 and exp ≠ 111…1</a:t>
            </a:r>
            <a:endParaRPr lang="en-US" dirty="0">
              <a:ea typeface="Microsoft YaHei" charset="0"/>
            </a:endParaRPr>
          </a:p>
          <a:p>
            <a:endParaRPr lang="en-US" dirty="0">
              <a:ea typeface="Microsoft YaHei" charset="0"/>
            </a:endParaRPr>
          </a:p>
          <a:p>
            <a:r>
              <a:rPr lang="zh-CN" altLang="en-US" dirty="0">
                <a:ea typeface="Microsoft YaHei" charset="0"/>
              </a:rPr>
              <a:t>指数字段编码了偏差值</a:t>
            </a:r>
            <a:r>
              <a:rPr lang="en-US" altLang="zh-CN" dirty="0">
                <a:ea typeface="Microsoft YaHei" charset="0"/>
              </a:rPr>
              <a:t>（</a:t>
            </a:r>
            <a:r>
              <a:rPr lang="en-US" dirty="0" smtClean="0">
                <a:solidFill>
                  <a:srgbClr val="00B050"/>
                </a:solidFill>
                <a:ea typeface="Microsoft YaHei" charset="0"/>
                <a:sym typeface="Calibri Bold Italic" charset="0"/>
              </a:rPr>
              <a:t>biased</a:t>
            </a:r>
            <a:r>
              <a:rPr lang="en-US" dirty="0" smtClean="0">
                <a:solidFill>
                  <a:srgbClr val="00B050"/>
                </a:solidFill>
                <a:ea typeface="Microsoft YaHei" charset="0"/>
              </a:rPr>
              <a:t> </a:t>
            </a:r>
            <a:r>
              <a:rPr lang="en-US" dirty="0">
                <a:solidFill>
                  <a:srgbClr val="00B050"/>
                </a:solidFill>
                <a:ea typeface="Microsoft YaHei" charset="0"/>
              </a:rPr>
              <a:t>value）</a:t>
            </a:r>
            <a:r>
              <a:rPr lang="en-US" dirty="0">
                <a:ea typeface="Microsoft YaHei" charset="0"/>
              </a:rPr>
              <a:t>: </a:t>
            </a:r>
            <a:r>
              <a:rPr lang="en-US" dirty="0">
                <a:ea typeface="Microsoft YaHei" charset="0"/>
                <a:sym typeface="Calibri Bold Italic" charset="0"/>
              </a:rPr>
              <a:t>E</a:t>
            </a:r>
            <a:r>
              <a:rPr lang="en-US" dirty="0">
                <a:ea typeface="Microsoft YaHei" charset="0"/>
              </a:rPr>
              <a:t>  =  </a:t>
            </a:r>
            <a:r>
              <a:rPr lang="en-US" dirty="0">
                <a:ea typeface="Microsoft YaHei" charset="0"/>
                <a:sym typeface="Calibri Bold Italic" charset="0"/>
              </a:rPr>
              <a:t>exp</a:t>
            </a:r>
            <a:r>
              <a:rPr lang="en-US" dirty="0">
                <a:ea typeface="Microsoft YaHei" charset="0"/>
              </a:rPr>
              <a:t> – </a:t>
            </a:r>
            <a:r>
              <a:rPr lang="en-US" dirty="0">
                <a:ea typeface="Microsoft YaHei" charset="0"/>
                <a:sym typeface="Calibri Bold Italic" charset="0"/>
              </a:rPr>
              <a:t>Bias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en-US" dirty="0">
                <a:ea typeface="Microsoft YaHei" charset="0"/>
                <a:sym typeface="Calibri Italic" charset="0"/>
              </a:rPr>
              <a:t>exp</a:t>
            </a:r>
            <a:r>
              <a:rPr lang="en-US" dirty="0">
                <a:ea typeface="Microsoft YaHei" charset="0"/>
              </a:rPr>
              <a:t>: </a:t>
            </a:r>
            <a:r>
              <a:rPr lang="zh-CN" altLang="en-US" dirty="0">
                <a:ea typeface="Microsoft YaHei" charset="0"/>
              </a:rPr>
              <a:t>指数字段的无符号编码值</a:t>
            </a:r>
            <a:r>
              <a:rPr lang="en-US" dirty="0" smtClean="0">
                <a:ea typeface="Microsoft YaHei" charset="0"/>
              </a:rPr>
              <a:t> 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  <a:sym typeface="Calibri Italic" charset="0"/>
              </a:rPr>
              <a:t>偏差</a:t>
            </a:r>
            <a:r>
              <a:rPr lang="en-US" altLang="zh-CN" dirty="0">
                <a:ea typeface="Microsoft YaHei" charset="0"/>
                <a:sym typeface="Calibri Italic" charset="0"/>
              </a:rPr>
              <a:t> </a:t>
            </a:r>
            <a:r>
              <a:rPr lang="en-US" dirty="0">
                <a:ea typeface="Microsoft YaHei" charset="0"/>
              </a:rPr>
              <a:t>= 2</a:t>
            </a:r>
            <a:r>
              <a:rPr lang="en-US" baseline="32000" dirty="0">
                <a:ea typeface="Microsoft YaHei" charset="0"/>
              </a:rPr>
              <a:t>k-1</a:t>
            </a:r>
            <a:r>
              <a:rPr lang="en-US" dirty="0">
                <a:ea typeface="Microsoft YaHei" charset="0"/>
              </a:rPr>
              <a:t> - 1, </a:t>
            </a:r>
            <a:r>
              <a:rPr lang="zh-CN" altLang="en-US" dirty="0">
                <a:ea typeface="Microsoft YaHei" charset="0"/>
              </a:rPr>
              <a:t>其中</a:t>
            </a:r>
            <a:r>
              <a:rPr lang="en-US" dirty="0">
                <a:ea typeface="Microsoft YaHei" charset="0"/>
                <a:sym typeface="Calibri Italic" charset="0"/>
              </a:rPr>
              <a:t>k</a:t>
            </a:r>
            <a:r>
              <a:rPr lang="zh-CN" altLang="en-US" dirty="0">
                <a:ea typeface="Microsoft YaHei" charset="0"/>
                <a:sym typeface="Calibri Italic" charset="0"/>
              </a:rPr>
              <a:t>是指数位的个数</a:t>
            </a:r>
            <a:endParaRPr lang="en-US" dirty="0">
              <a:ea typeface="Microsoft YaHei" charset="0"/>
            </a:endParaRPr>
          </a:p>
          <a:p>
            <a:pPr marL="838200" lvl="2"/>
            <a:r>
              <a:rPr lang="zh-CN" altLang="en-US" dirty="0">
                <a:ea typeface="Microsoft YaHei" charset="0"/>
              </a:rPr>
              <a:t>单精度</a:t>
            </a:r>
            <a:r>
              <a:rPr lang="en-US" dirty="0">
                <a:ea typeface="Microsoft YaHei" charset="0"/>
              </a:rPr>
              <a:t>: 127 (Exp: 1…254, E: -126…127)</a:t>
            </a:r>
            <a:endParaRPr lang="en-US" dirty="0">
              <a:ea typeface="Microsoft YaHei" charset="0"/>
            </a:endParaRPr>
          </a:p>
          <a:p>
            <a:pPr marL="838200" lvl="2"/>
            <a:r>
              <a:rPr lang="zh-CN" altLang="en-US" dirty="0">
                <a:ea typeface="Microsoft YaHei" charset="0"/>
              </a:rPr>
              <a:t>双精度</a:t>
            </a:r>
            <a:r>
              <a:rPr lang="en-US" dirty="0">
                <a:ea typeface="Microsoft YaHei" charset="0"/>
              </a:rPr>
              <a:t>: 1023 (Exp: 1…2046, E: -1022…1023)</a:t>
            </a:r>
            <a:endParaRPr lang="en-US" dirty="0">
              <a:ea typeface="Microsoft YaHei" charset="0"/>
            </a:endParaRPr>
          </a:p>
          <a:p>
            <a:endParaRPr lang="en-US" dirty="0">
              <a:ea typeface="Microsoft YaHei" charset="0"/>
            </a:endParaRPr>
          </a:p>
          <a:p>
            <a:r>
              <a:rPr lang="zh-CN" altLang="en-US" dirty="0" err="1">
                <a:ea typeface="Microsoft YaHei" charset="0"/>
              </a:rPr>
              <a:t>小数字段编码了</a:t>
            </a:r>
            <a:r>
              <a:rPr lang="en-US" dirty="0">
                <a:ea typeface="Microsoft YaHei" charset="0"/>
              </a:rPr>
              <a:t> </a:t>
            </a:r>
            <a:r>
              <a:rPr lang="zh-CN" altLang="en-US" dirty="0">
                <a:ea typeface="Microsoft YaHei" charset="0"/>
              </a:rPr>
              <a:t>隐含的</a:t>
            </a:r>
            <a:r>
              <a:rPr lang="en-US" altLang="zh-CN" dirty="0">
                <a:ea typeface="Microsoft YaHei" charset="0"/>
              </a:rPr>
              <a:t>1（</a:t>
            </a:r>
            <a:r>
              <a:rPr lang="en-US" dirty="0">
                <a:solidFill>
                  <a:srgbClr val="00B050"/>
                </a:solidFill>
                <a:ea typeface="Microsoft YaHei" charset="0"/>
              </a:rPr>
              <a:t>implied leading 1）</a:t>
            </a:r>
            <a:r>
              <a:rPr lang="en-US" dirty="0">
                <a:ea typeface="Microsoft YaHei" charset="0"/>
              </a:rPr>
              <a:t>: </a:t>
            </a:r>
            <a:r>
              <a:rPr lang="en-US" dirty="0">
                <a:ea typeface="Microsoft YaHei" charset="0"/>
                <a:sym typeface="Calibri Bold Italic" charset="0"/>
              </a:rPr>
              <a:t>M</a:t>
            </a:r>
            <a:r>
              <a:rPr lang="en-US" dirty="0">
                <a:ea typeface="Microsoft YaHei" charset="0"/>
              </a:rPr>
              <a:t>  =  </a:t>
            </a:r>
            <a:r>
              <a:rPr lang="en-US" dirty="0">
                <a:ea typeface="Microsoft YaHei" charset="0"/>
                <a:sym typeface="Monaco" charset="0"/>
              </a:rPr>
              <a:t>1.xxx…x</a:t>
            </a:r>
            <a:r>
              <a:rPr lang="en-US" baseline="-6000" dirty="0">
                <a:ea typeface="Microsoft YaHei" charset="0"/>
                <a:sym typeface="Monaco" charset="0"/>
              </a:rPr>
              <a:t>2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en-US" dirty="0">
                <a:ea typeface="Microsoft YaHei" charset="0"/>
              </a:rPr>
              <a:t> </a:t>
            </a:r>
            <a:r>
              <a:rPr lang="en-US" dirty="0">
                <a:ea typeface="Microsoft YaHei" charset="0"/>
                <a:sym typeface="Monaco" charset="0"/>
              </a:rPr>
              <a:t>xxx…x</a:t>
            </a:r>
            <a:r>
              <a:rPr lang="en-US" dirty="0">
                <a:ea typeface="Microsoft YaHei" charset="0"/>
              </a:rPr>
              <a:t>: </a:t>
            </a:r>
            <a:r>
              <a:rPr lang="zh-CN" altLang="en-US" dirty="0">
                <a:ea typeface="Microsoft YaHei" charset="0"/>
              </a:rPr>
              <a:t>小数字段的序列值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</a:rPr>
              <a:t>当</a:t>
            </a:r>
            <a:r>
              <a:rPr lang="en-US" dirty="0" err="1" smtClean="0">
                <a:ea typeface="Microsoft YaHei" charset="0"/>
                <a:sym typeface="Monaco" charset="0"/>
              </a:rPr>
              <a:t>frac</a:t>
            </a:r>
            <a:r>
              <a:rPr lang="en-US" dirty="0" smtClean="0">
                <a:ea typeface="Microsoft YaHei" charset="0"/>
                <a:sym typeface="Monaco" charset="0"/>
              </a:rPr>
              <a:t>=000</a:t>
            </a:r>
            <a:r>
              <a:rPr lang="en-US" dirty="0">
                <a:ea typeface="Microsoft YaHei" charset="0"/>
                <a:sym typeface="Monaco" charset="0"/>
              </a:rPr>
              <a:t>…0</a:t>
            </a:r>
            <a:r>
              <a:rPr lang="en-US" dirty="0">
                <a:ea typeface="Microsoft YaHei" charset="0"/>
              </a:rPr>
              <a:t> (</a:t>
            </a:r>
            <a:r>
              <a:rPr lang="en-US" dirty="0">
                <a:ea typeface="Microsoft YaHei" charset="0"/>
                <a:sym typeface="Calibri Italic" charset="0"/>
              </a:rPr>
              <a:t>M</a:t>
            </a:r>
            <a:r>
              <a:rPr lang="en-US" dirty="0">
                <a:ea typeface="Microsoft YaHei" charset="0"/>
              </a:rPr>
              <a:t> = 1.0)</a:t>
            </a:r>
            <a:r>
              <a:rPr lang="zh-CN" altLang="en-US" dirty="0">
                <a:ea typeface="Microsoft YaHei" charset="0"/>
              </a:rPr>
              <a:t>时</a:t>
            </a:r>
            <a:r>
              <a:rPr lang="en-US" altLang="zh-CN" dirty="0">
                <a:ea typeface="Microsoft YaHei" charset="0"/>
              </a:rPr>
              <a:t>，</a:t>
            </a:r>
            <a:r>
              <a:rPr lang="zh-CN" altLang="en-US" dirty="0">
                <a:ea typeface="Microsoft YaHei" charset="0"/>
              </a:rPr>
              <a:t>编码最小值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</a:rPr>
              <a:t>当</a:t>
            </a:r>
            <a:r>
              <a:rPr lang="en-US" altLang="zh-CN" dirty="0">
                <a:ea typeface="Microsoft YaHei" charset="0"/>
              </a:rPr>
              <a:t>f</a:t>
            </a:r>
            <a:r>
              <a:rPr lang="en-US" dirty="0" err="1" smtClean="0">
                <a:ea typeface="Microsoft YaHei" charset="0"/>
                <a:sym typeface="Monaco" charset="0"/>
              </a:rPr>
              <a:t>rac</a:t>
            </a:r>
            <a:r>
              <a:rPr lang="en-US" dirty="0" smtClean="0">
                <a:ea typeface="Microsoft YaHei" charset="0"/>
                <a:sym typeface="Monaco" charset="0"/>
              </a:rPr>
              <a:t>=111</a:t>
            </a:r>
            <a:r>
              <a:rPr lang="en-US" dirty="0">
                <a:ea typeface="Microsoft YaHei" charset="0"/>
                <a:sym typeface="Monaco" charset="0"/>
              </a:rPr>
              <a:t>…1</a:t>
            </a:r>
            <a:r>
              <a:rPr lang="en-US" dirty="0">
                <a:ea typeface="Microsoft YaHei" charset="0"/>
              </a:rPr>
              <a:t> (</a:t>
            </a:r>
            <a:r>
              <a:rPr lang="en-US" dirty="0">
                <a:ea typeface="Microsoft YaHei" charset="0"/>
                <a:sym typeface="Calibri Italic" charset="0"/>
              </a:rPr>
              <a:t>M</a:t>
            </a:r>
            <a:r>
              <a:rPr lang="en-US" dirty="0">
                <a:ea typeface="Microsoft YaHei" charset="0"/>
              </a:rPr>
              <a:t> = 2.0 – ε)</a:t>
            </a:r>
            <a:r>
              <a:rPr lang="zh-CN" altLang="en-US" dirty="0">
                <a:ea typeface="Microsoft YaHei" charset="0"/>
              </a:rPr>
              <a:t>时</a:t>
            </a:r>
            <a:r>
              <a:rPr lang="en-US" altLang="zh-CN" dirty="0">
                <a:ea typeface="Microsoft YaHei" charset="0"/>
              </a:rPr>
              <a:t>，</a:t>
            </a:r>
            <a:r>
              <a:rPr lang="zh-CN" altLang="en-US" dirty="0">
                <a:ea typeface="Microsoft YaHei" charset="0"/>
              </a:rPr>
              <a:t>编码最大值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</a:rPr>
              <a:t>节省了一个硬件</a:t>
            </a:r>
            <a:r>
              <a:rPr lang="en-US" altLang="zh-CN" dirty="0">
                <a:ea typeface="Microsoft YaHei" charset="0"/>
              </a:rPr>
              <a:t>bit</a:t>
            </a:r>
            <a:r>
              <a:rPr lang="zh-CN" altLang="en-US" dirty="0">
                <a:ea typeface="Microsoft YaHei" charset="0"/>
              </a:rPr>
              <a:t>位</a:t>
            </a:r>
            <a:endParaRPr lang="zh-CN" altLang="en-US" dirty="0">
              <a:ea typeface="Microsoft YaHei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3166" y="533400"/>
            <a:ext cx="1941830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v = (</a:t>
            </a:r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–1)</a:t>
            </a:r>
            <a:r>
              <a:rPr lang="en-US" sz="2400" baseline="32000" dirty="0" smtClean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s</a:t>
            </a:r>
            <a:r>
              <a:rPr lang="en-US" sz="2400" dirty="0" smtClean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 </a:t>
            </a:r>
            <a:r>
              <a:rPr lang="en-US" sz="2400" dirty="0" smtClean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alibri Bold Italic" charset="0"/>
              </a:rPr>
              <a:t>M</a:t>
            </a:r>
            <a:r>
              <a:rPr lang="en-US" sz="2400" dirty="0" smtClean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 2</a:t>
            </a:r>
            <a:r>
              <a:rPr lang="en-US" sz="2400" baseline="32000" dirty="0" smtClean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alibri Bold Italic" charset="0"/>
              </a:rPr>
              <a:t>E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86000" y="4191000"/>
            <a:ext cx="70815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zh-CN" altLang="en-US" sz="2000">
                <a:solidFill>
                  <a:srgbClr val="FF000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Symbol" pitchFamily="18" charset="2"/>
              </a:rPr>
              <a:t>表示的最小</a:t>
            </a:r>
            <a:r>
              <a:rPr lang="zh-CN" altLang="en-US" sz="2000">
                <a:solidFill>
                  <a:srgbClr val="FF000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Symbol" pitchFamily="18" charset="2"/>
              </a:rPr>
              <a:t>绝对值：</a:t>
            </a:r>
            <a:r>
              <a:rPr lang="en-US" altLang="en-US" sz="2000">
                <a:solidFill>
                  <a:srgbClr val="FF000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Symbol" pitchFamily="18" charset="2"/>
              </a:rPr>
              <a:t>1.0 × 2</a:t>
            </a:r>
            <a:r>
              <a:rPr lang="en-US" altLang="en-US" sz="2000" baseline="30000">
                <a:solidFill>
                  <a:srgbClr val="FF000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Symbol" pitchFamily="18" charset="2"/>
              </a:rPr>
              <a:t>–126</a:t>
            </a:r>
            <a:r>
              <a:rPr lang="en-US" altLang="en-US" sz="2000">
                <a:solidFill>
                  <a:srgbClr val="FF000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Symbol" pitchFamily="18" charset="2"/>
              </a:rPr>
              <a:t> ≈ +1.2 × 10</a:t>
            </a:r>
            <a:r>
              <a:rPr lang="en-US" altLang="en-US" sz="2000" baseline="30000">
                <a:solidFill>
                  <a:srgbClr val="FF000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Symbol" pitchFamily="18" charset="2"/>
              </a:rPr>
              <a:t>–38</a:t>
            </a:r>
            <a:endParaRPr lang="en-US" altLang="en-US" sz="2000" baseline="30000" dirty="0" smtClean="0">
              <a:solidFill>
                <a:srgbClr val="FF0000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Symbol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17270" y="5816600"/>
            <a:ext cx="355600" cy="355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675965" y="5816600"/>
            <a:ext cx="1779495" cy="355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572000" y="5816600"/>
            <a:ext cx="5066555" cy="355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72733" y="552978"/>
            <a:ext cx="7366000" cy="573088"/>
          </a:xfrm>
        </p:spPr>
        <p:txBody>
          <a:bodyPr/>
          <a:lstStyle/>
          <a:p>
            <a:r>
              <a:rPr lang="zh-CN" altLang="en-US" sz="3200" dirty="0"/>
              <a:t>规格化表示的</a:t>
            </a:r>
            <a:r>
              <a:rPr lang="zh-CN" altLang="en-US" sz="3200" dirty="0"/>
              <a:t>例子</a:t>
            </a:r>
            <a:endParaRPr lang="zh-CN" altLang="en-US" sz="3200" dirty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255000" cy="5029200"/>
          </a:xfrm>
        </p:spPr>
        <p:txBody>
          <a:bodyPr/>
          <a:lstStyle/>
          <a:p>
            <a:pPr marL="224155" indent="-224155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 smtClean="0"/>
              <a:t>Value: </a:t>
            </a:r>
            <a:r>
              <a:rPr lang="en-US" sz="1800" dirty="0">
                <a:latin typeface="Courier New" panose="02070609020205020404"/>
                <a:cs typeface="Courier New" panose="02070609020205020404"/>
              </a:rPr>
              <a:t>f</a:t>
            </a:r>
            <a:r>
              <a:rPr lang="en-US" sz="1800" dirty="0" smtClean="0">
                <a:latin typeface="Courier New" panose="02070609020205020404"/>
                <a:cs typeface="Courier New" panose="02070609020205020404"/>
              </a:rPr>
              <a:t>loat </a:t>
            </a:r>
            <a:r>
              <a:rPr lang="en-US" sz="1800" dirty="0">
                <a:latin typeface="Courier New" panose="02070609020205020404"/>
                <a:cs typeface="Courier New" panose="02070609020205020404"/>
              </a:rPr>
              <a:t>F = 15213.0;</a:t>
            </a:r>
            <a:endParaRPr lang="en-US" sz="1800" dirty="0">
              <a:latin typeface="Courier New" panose="02070609020205020404"/>
              <a:cs typeface="Courier New" panose="02070609020205020404"/>
            </a:endParaRPr>
          </a:p>
          <a:p>
            <a:pPr marL="560705" lvl="1" indent="-222250" defTabSz="895350">
              <a:lnSpc>
                <a:spcPct val="90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dirty="0"/>
              <a:t>15213</a:t>
            </a:r>
            <a:r>
              <a:rPr lang="en-US" sz="1800" b="0" baseline="-25000" dirty="0"/>
              <a:t>10</a:t>
            </a:r>
            <a:r>
              <a:rPr lang="en-US" sz="1800" b="0" dirty="0"/>
              <a:t>  = 11101101101101</a:t>
            </a:r>
            <a:r>
              <a:rPr lang="en-US" sz="1800" b="0" baseline="-25000" dirty="0"/>
              <a:t>2  </a:t>
            </a:r>
            <a:r>
              <a:rPr lang="en-US" sz="1800" b="0" dirty="0"/>
              <a:t> </a:t>
            </a:r>
            <a:endParaRPr lang="en-US" sz="1800" b="0" dirty="0" smtClean="0"/>
          </a:p>
          <a:p>
            <a:pPr marL="560705" lvl="1" indent="-222250" defTabSz="895350">
              <a:lnSpc>
                <a:spcPct val="90000"/>
              </a:lnSpc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dirty="0" smtClean="0"/>
              <a:t>                     </a:t>
            </a:r>
            <a:r>
              <a:rPr lang="en-US" sz="1800" b="0" dirty="0" smtClean="0"/>
              <a:t>= </a:t>
            </a:r>
            <a:r>
              <a:rPr lang="en-US" sz="1800" b="0" dirty="0"/>
              <a:t>1.1101101101101</a:t>
            </a:r>
            <a:r>
              <a:rPr lang="en-US" sz="1800" b="0" baseline="-25000" dirty="0"/>
              <a:t>2</a:t>
            </a:r>
            <a:r>
              <a:rPr lang="en-US" sz="1800" b="0" dirty="0"/>
              <a:t> </a:t>
            </a:r>
            <a:r>
              <a:rPr lang="en-US" sz="1800" b="0" dirty="0" smtClean="0"/>
              <a:t>x </a:t>
            </a:r>
            <a:r>
              <a:rPr lang="en-US" sz="1800" b="0" dirty="0"/>
              <a:t>2</a:t>
            </a:r>
            <a:r>
              <a:rPr lang="en-US" sz="1800" b="0" baseline="30000" dirty="0"/>
              <a:t>13</a:t>
            </a:r>
            <a:endParaRPr lang="en-US" sz="1800" b="0" dirty="0"/>
          </a:p>
          <a:p>
            <a:pPr marL="224155" indent="-224155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 smtClean="0"/>
          </a:p>
          <a:p>
            <a:pPr marL="224155" indent="-224155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zh-CN" altLang="en-US" sz="2000" dirty="0" err="1" smtClean="0"/>
              <a:t>小数编码</a:t>
            </a:r>
            <a:endParaRPr lang="en-US" sz="2000" dirty="0"/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M</a:t>
            </a:r>
            <a:r>
              <a:rPr lang="en-US" sz="1800" dirty="0"/>
              <a:t> 	= 	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</a:rPr>
              <a:t>1.</a:t>
            </a:r>
            <a:r>
              <a:rPr lang="en-US" sz="1800" b="1" u="sng" dirty="0">
                <a:latin typeface="Courier New" panose="02070609020205020404" pitchFamily="49" charset="0"/>
                <a:cs typeface="Courier New" panose="02070609020205020404" pitchFamily="49" charset="0"/>
              </a:rPr>
              <a:t>1101101101101</a:t>
            </a:r>
            <a:r>
              <a:rPr lang="en-US" sz="1800" b="1" baseline="-25000" dirty="0">
                <a:latin typeface="Courier New" panose="02070609020205020404" pitchFamily="49" charset="0"/>
                <a:cs typeface="Courier New" panose="02070609020205020404" pitchFamily="49" charset="0"/>
              </a:rPr>
              <a:t>2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1" dirty="0" err="1">
                <a:latin typeface="Courier New" panose="02070609020205020404" pitchFamily="49" charset="0"/>
              </a:rPr>
              <a:t>frac</a:t>
            </a:r>
            <a:r>
              <a:rPr lang="en-US" sz="1800" b="1" dirty="0">
                <a:latin typeface="Courier New" panose="02070609020205020404" pitchFamily="49" charset="0"/>
              </a:rPr>
              <a:t>	= 	 </a:t>
            </a:r>
            <a:r>
              <a:rPr lang="en-US" sz="1800" b="1" dirty="0" smtClean="0">
                <a:latin typeface="Courier New" panose="02070609020205020404" pitchFamily="49" charset="0"/>
              </a:rPr>
              <a:t> </a:t>
            </a:r>
            <a:r>
              <a:rPr lang="en-US" sz="1800" b="1" u="sng" dirty="0" smtClean="0">
                <a:latin typeface="Courier New" panose="02070609020205020404" pitchFamily="49" charset="0"/>
              </a:rPr>
              <a:t>1101101101101</a:t>
            </a:r>
            <a:r>
              <a:rPr lang="en-US" sz="1800" b="1" dirty="0" smtClean="0">
                <a:latin typeface="Courier New" panose="02070609020205020404" pitchFamily="49" charset="0"/>
              </a:rPr>
              <a:t>0000000000</a:t>
            </a:r>
            <a:r>
              <a:rPr lang="en-US" sz="1800" b="1" baseline="-25000" dirty="0" smtClean="0">
                <a:latin typeface="Courier New" panose="02070609020205020404" pitchFamily="49" charset="0"/>
              </a:rPr>
              <a:t>2</a:t>
            </a:r>
            <a:endParaRPr lang="en-US" sz="1800" b="1" dirty="0"/>
          </a:p>
          <a:p>
            <a:pPr marL="224155" indent="-224155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 smtClean="0"/>
          </a:p>
          <a:p>
            <a:pPr marL="224155" indent="-224155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zh-CN" altLang="en-US" sz="2000" dirty="0" smtClean="0"/>
              <a:t>指数编码</a:t>
            </a:r>
            <a:endParaRPr lang="en-US" sz="2000" dirty="0"/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 smtClean="0"/>
              <a:t>E	</a:t>
            </a:r>
            <a:r>
              <a:rPr lang="en-US" sz="1800" dirty="0" smtClean="0"/>
              <a:t> 	= 	13</a:t>
            </a:r>
            <a:endParaRPr lang="en-US" sz="1800" dirty="0" smtClean="0"/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 smtClean="0"/>
              <a:t>Bias</a:t>
            </a:r>
            <a:r>
              <a:rPr lang="en-US" sz="1800" dirty="0" smtClean="0"/>
              <a:t> 	= 	127</a:t>
            </a:r>
            <a:endParaRPr lang="en-US" sz="1800" dirty="0" smtClean="0"/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 smtClean="0"/>
              <a:t>Exp</a:t>
            </a:r>
            <a:r>
              <a:rPr lang="en-US" sz="1800" dirty="0" smtClean="0"/>
              <a:t> 	= 	140 	=	</a:t>
            </a:r>
            <a:r>
              <a:rPr lang="en-US" sz="1800" b="1" dirty="0" smtClean="0">
                <a:latin typeface="Courier New" panose="02070609020205020404" pitchFamily="49" charset="0"/>
              </a:rPr>
              <a:t>10001100</a:t>
            </a:r>
            <a:r>
              <a:rPr lang="en-US" sz="1800" b="1" baseline="-25000" dirty="0" smtClean="0">
                <a:latin typeface="Courier New" panose="02070609020205020404" pitchFamily="49" charset="0"/>
              </a:rPr>
              <a:t>2</a:t>
            </a:r>
            <a:endParaRPr lang="en-US" sz="1800" b="1" baseline="-25000" dirty="0" smtClean="0">
              <a:latin typeface="Courier New" panose="02070609020205020404" pitchFamily="49" charset="0"/>
            </a:endParaRPr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b="1" baseline="-25000" dirty="0" smtClean="0">
              <a:latin typeface="Courier New" panose="02070609020205020404" pitchFamily="49" charset="0"/>
            </a:endParaRPr>
          </a:p>
          <a:p>
            <a:pPr marL="224155" indent="-224155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 smtClean="0"/>
              <a:t>Result:</a:t>
            </a:r>
            <a:br>
              <a:rPr lang="en-US" sz="2000" dirty="0" smtClean="0"/>
            </a:br>
            <a:br>
              <a:rPr lang="en-US" sz="2000" dirty="0" smtClean="0"/>
            </a:br>
            <a:r>
              <a:rPr lang="en-US" sz="2800" dirty="0" smtClean="0">
                <a:latin typeface="Courier New" panose="02070609020205020404" pitchFamily="49" charset="0"/>
              </a:rPr>
              <a:t>0 10001100 11011011011010000000000 </a:t>
            </a:r>
            <a:endParaRPr lang="en-US" sz="2800" dirty="0" smtClean="0">
              <a:latin typeface="Courier New" panose="02070609020205020404" pitchFamily="49" charset="0"/>
            </a:endParaRPr>
          </a:p>
          <a:p>
            <a:pPr marL="560705" lvl="1" indent="-222250" defTabSz="895350">
              <a:lnSpc>
                <a:spcPct val="90000"/>
              </a:lnSpc>
              <a:buFont typeface="Wingdings" panose="05000000000000000000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211426" y="6172200"/>
            <a:ext cx="3657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ourier New" panose="02070609020205020404" pitchFamily="49" charset="0"/>
                <a:cs typeface="Courier New" panose="02070609020205020404" pitchFamily="49" charset="0"/>
              </a:rPr>
              <a:t>s</a:t>
            </a:r>
            <a:endParaRPr lang="en-US" sz="2400" b="1" dirty="0" smtClean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51588" y="6172200"/>
            <a:ext cx="7315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ourier New" panose="02070609020205020404" pitchFamily="49" charset="0"/>
                <a:cs typeface="Courier New" panose="02070609020205020404" pitchFamily="49" charset="0"/>
              </a:rPr>
              <a:t>exp</a:t>
            </a:r>
            <a:endParaRPr lang="en-US" sz="2400" b="1" dirty="0" smtClean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96977" y="6172200"/>
            <a:ext cx="9144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latin typeface="Courier New" panose="02070609020205020404" pitchFamily="49" charset="0"/>
                <a:cs typeface="Courier New" panose="02070609020205020404" pitchFamily="49" charset="0"/>
              </a:rPr>
              <a:t>frac</a:t>
            </a:r>
            <a:endParaRPr lang="en-US" sz="2400" b="1" dirty="0" smtClean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73315" y="540603"/>
            <a:ext cx="2350135" cy="8299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 smtClean="0"/>
              <a:t>v = (</a:t>
            </a:r>
            <a:r>
              <a:rPr lang="en-US" sz="2400" dirty="0"/>
              <a:t>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</a:t>
            </a:r>
            <a:r>
              <a:rPr lang="en-US" sz="2400" dirty="0" smtClean="0"/>
              <a:t>2</a:t>
            </a:r>
            <a:r>
              <a:rPr lang="en-US" sz="2400" baseline="320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baseline="32000" dirty="0" smtClean="0"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Example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dirty="0">
                <a:solidFill>
                  <a:srgbClr val="00B050"/>
                </a:solidFill>
                <a:sym typeface="+mn-ea"/>
              </a:rPr>
              <a:t>机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器表示的区别：</a:t>
            </a:r>
            <a:endParaRPr lang="zh-CN" altLang="en-US" dirty="0" smtClean="0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15213 vs 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15213.0  </a:t>
            </a:r>
            <a:endParaRPr lang="en-US" altLang="zh-CN" dirty="0">
              <a:solidFill>
                <a:srgbClr val="00B050"/>
              </a:solidFill>
              <a:latin typeface="Calibri" pitchFamily="34" charset="0"/>
            </a:endParaRPr>
          </a:p>
          <a:p>
            <a:pPr lvl="1"/>
            <a:r>
              <a:rPr lang="en-US" altLang="zh-CN" dirty="0" err="1" smtClean="0">
                <a:solidFill>
                  <a:srgbClr val="00B050"/>
                </a:solidFill>
                <a:sym typeface="+mn-ea"/>
              </a:rPr>
              <a:t>gdb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: x/4tb</a:t>
            </a:r>
            <a:endParaRPr lang="en-US" altLang="zh-CN" dirty="0" smtClean="0">
              <a:solidFill>
                <a:srgbClr val="00B050"/>
              </a:solidFill>
              <a:latin typeface="Calibri" pitchFamily="34" charset="0"/>
            </a:endParaRPr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019800" y="269875"/>
          <a:ext cx="4458970" cy="546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8970"/>
              </a:tblGrid>
              <a:tr h="54616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void show_bytes(byte_pointer start, size_t len) {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int i = len-1;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for (; i &gt;= 0; i--)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    printf(" %.2x", start[i]);   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printf("\n");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void show_int(int x) {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show_bytes((byte_pointer) &amp;x, sizeof(int)); 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void show_float(float x) {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show_bytes((byte_pointer) &amp;x, sizeof(float)); 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void test_show_bytes(int val) {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int ival = val;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  float fval = (float) ival;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zh-CN" altLang="en-US" sz="1600" b="0">
                          <a:solidFill>
                            <a:srgbClr val="00B050"/>
                          </a:solidFill>
                        </a:rPr>
                        <a:t>  show_int(ival);</a:t>
                      </a:r>
                      <a:endParaRPr lang="zh-CN" altLang="en-US" sz="1600" b="0">
                        <a:solidFill>
                          <a:srgbClr val="00B05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rgbClr val="00B050"/>
                          </a:solidFill>
                        </a:rPr>
                        <a:t>    show_float(fval);</a:t>
                      </a:r>
                      <a:endParaRPr lang="zh-CN" altLang="en-US" sz="1600" b="0">
                        <a:solidFill>
                          <a:srgbClr val="00B05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343400"/>
            <a:ext cx="5033010" cy="7404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非规格化</a:t>
            </a:r>
            <a:r>
              <a:rPr lang="en-US" altLang="zh-CN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（</a:t>
            </a:r>
            <a:r>
              <a:rPr lang="en-US" altLang="zh-CN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Denormalized）</a:t>
            </a:r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表示的</a:t>
            </a:r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值</a:t>
            </a:r>
            <a:endParaRPr lang="zh-CN" altLang="en-US" sz="3200" b="0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exp = 000…0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zh-CN" altLang="en-US" dirty="0"/>
              <a:t>表示接近</a:t>
            </a:r>
            <a:r>
              <a:rPr lang="en-US" altLang="zh-CN" dirty="0"/>
              <a:t>0</a:t>
            </a:r>
            <a:r>
              <a:rPr lang="zh-CN" altLang="en-US" dirty="0"/>
              <a:t>的小数</a:t>
            </a:r>
            <a:endParaRPr lang="en-US" dirty="0"/>
          </a:p>
          <a:p>
            <a:r>
              <a:rPr lang="zh-CN" altLang="en-US" dirty="0"/>
              <a:t>指数值</a:t>
            </a:r>
            <a:r>
              <a:rPr lang="en-US" dirty="0"/>
              <a:t>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</a:t>
            </a:r>
            <a:r>
              <a:rPr lang="en-US" dirty="0" smtClean="0"/>
              <a:t>1 – Bias (=-126, </a:t>
            </a:r>
            <a:r>
              <a:rPr lang="en-US" dirty="0">
                <a:solidFill>
                  <a:srgbClr val="00B050"/>
                </a:solidFill>
              </a:rPr>
              <a:t>instead of </a:t>
            </a:r>
            <a:r>
              <a:rPr lang="en-US" dirty="0">
                <a:solidFill>
                  <a:srgbClr val="00B05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>
                <a:solidFill>
                  <a:srgbClr val="00B050"/>
                </a:solidFill>
              </a:rPr>
              <a:t> = 0 – </a:t>
            </a:r>
            <a:r>
              <a:rPr lang="en-US" dirty="0">
                <a:solidFill>
                  <a:srgbClr val="00B05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r>
              <a:rPr lang="en-US" dirty="0"/>
              <a:t>)</a:t>
            </a:r>
            <a:endParaRPr lang="en-US" dirty="0"/>
          </a:p>
          <a:p>
            <a:r>
              <a:rPr lang="zh-CN" altLang="en-US" dirty="0" err="1"/>
              <a:t>小数字段编码了隐含的</a:t>
            </a:r>
            <a:r>
              <a:rPr lang="en-US" altLang="zh-CN" dirty="0" err="1"/>
              <a:t>0（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implied leading 0）</a:t>
            </a:r>
            <a:r>
              <a:rPr lang="en-US" dirty="0"/>
              <a:t>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= 0.xxx…x</a:t>
            </a:r>
            <a:r>
              <a:rPr lang="en-US" baseline="-6000" dirty="0"/>
              <a:t>2</a:t>
            </a:r>
            <a:endParaRPr lang="en-US" dirty="0"/>
          </a:p>
          <a:p>
            <a:pPr marL="552450" lvl="1"/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xxx…</a:t>
            </a:r>
            <a:r>
              <a:rPr lang="en-US" sz="1800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x</a:t>
            </a:r>
            <a:r>
              <a:rPr lang="en-US" dirty="0"/>
              <a:t>: bits of </a:t>
            </a:r>
            <a:r>
              <a:rPr lang="en-US" sz="1800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endParaRPr lang="en-US" dirty="0"/>
          </a:p>
          <a:p>
            <a:r>
              <a:rPr lang="en-US" dirty="0"/>
              <a:t>Cases</a:t>
            </a:r>
            <a:endParaRPr lang="en-US" dirty="0"/>
          </a:p>
          <a:p>
            <a:pPr marL="552450" lvl="1"/>
            <a:r>
              <a:rPr lang="en-US" dirty="0"/>
              <a:t>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r>
              <a:rPr lang="en-US" dirty="0"/>
              <a:t> = 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000…0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 marL="838200" lvl="2"/>
            <a:r>
              <a:rPr lang="en-US" dirty="0"/>
              <a:t>Represents zero value</a:t>
            </a:r>
            <a:endParaRPr lang="en-US" dirty="0"/>
          </a:p>
          <a:p>
            <a:pPr marL="838200" lvl="2"/>
            <a:r>
              <a:rPr lang="en-US" dirty="0"/>
              <a:t>Note distinct values: +0 and –0 (why?)</a:t>
            </a:r>
            <a:endParaRPr lang="en-US" dirty="0"/>
          </a:p>
          <a:p>
            <a:pPr marL="552450" lvl="1"/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r>
              <a:rPr lang="en-US" dirty="0"/>
              <a:t> ≠ 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000…0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 marL="838200" lvl="2"/>
            <a:r>
              <a:rPr lang="zh-CN" altLang="en-US" dirty="0"/>
              <a:t>用来表示接近</a:t>
            </a:r>
            <a:r>
              <a:rPr lang="en-US" dirty="0"/>
              <a:t> 0.0</a:t>
            </a:r>
            <a:r>
              <a:rPr lang="zh-CN" altLang="en-US" dirty="0"/>
              <a:t>的小数</a:t>
            </a:r>
            <a:endParaRPr lang="en-US" dirty="0" smtClean="0"/>
          </a:p>
          <a:p>
            <a:pPr marL="838200" lvl="2"/>
            <a:r>
              <a:rPr lang="zh-CN" altLang="en-US" dirty="0" err="1" smtClean="0">
                <a:solidFill>
                  <a:srgbClr val="00B050"/>
                </a:solidFill>
              </a:rPr>
              <a:t>均匀分布</a:t>
            </a:r>
            <a:endParaRPr lang="zh-CN" altLang="en-US" dirty="0" err="1" smtClean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9847" y="540603"/>
            <a:ext cx="1957070" cy="8299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 smtClean="0"/>
              <a:t>v = (</a:t>
            </a:r>
            <a:r>
              <a:rPr lang="en-US" sz="2400" dirty="0"/>
              <a:t>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</a:t>
            </a:r>
            <a:r>
              <a:rPr lang="en-US" sz="2400" dirty="0" smtClean="0"/>
              <a:t>2</a:t>
            </a:r>
            <a:r>
              <a:rPr lang="en-US" sz="2400" baseline="320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baseline="32000" dirty="0" smtClean="0"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 smtClean="0"/>
              <a:t> </a:t>
            </a:r>
            <a:r>
              <a:rPr lang="en-US" sz="2400" dirty="0"/>
              <a:t>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4191000" y="3581400"/>
            <a:ext cx="6367145" cy="841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eaLnBrk="1" hangingPunct="1"/>
            <a:r>
              <a:rPr lang="zh-CN" altLang="en-US" sz="2000">
                <a:solidFill>
                  <a:srgbClr val="FF0000"/>
                </a:solidFill>
                <a:sym typeface="Symbol" pitchFamily="18" charset="2"/>
              </a:rPr>
              <a:t>表示的最大绝对值：</a:t>
            </a:r>
            <a:r>
              <a:rPr lang="en-US" altLang="en-US" sz="2000">
                <a:solidFill>
                  <a:srgbClr val="FF0000"/>
                </a:solidFill>
                <a:sym typeface="Symbol" pitchFamily="18" charset="2"/>
              </a:rPr>
              <a:t> (1.0-2</a:t>
            </a:r>
            <a:r>
              <a:rPr lang="en-US" altLang="en-US" sz="2000" baseline="30000">
                <a:solidFill>
                  <a:srgbClr val="FF0000"/>
                </a:solidFill>
                <a:sym typeface="Symbol" pitchFamily="18" charset="2"/>
              </a:rPr>
              <a:t>-23</a:t>
            </a:r>
            <a:r>
              <a:rPr lang="en-US" altLang="en-US" sz="2000">
                <a:solidFill>
                  <a:srgbClr val="FF0000"/>
                </a:solidFill>
                <a:sym typeface="Symbol" pitchFamily="18" charset="2"/>
              </a:rPr>
              <a:t>) × 2</a:t>
            </a:r>
            <a:r>
              <a:rPr lang="en-US" altLang="en-US" sz="2000" baseline="30000">
                <a:solidFill>
                  <a:srgbClr val="FF0000"/>
                </a:solidFill>
                <a:sym typeface="Symbol" pitchFamily="18" charset="2"/>
              </a:rPr>
              <a:t>–126</a:t>
            </a:r>
            <a:r>
              <a:rPr lang="en-US" altLang="en-US" sz="2000">
                <a:solidFill>
                  <a:srgbClr val="FF0000"/>
                </a:solidFill>
                <a:sym typeface="Symbol" pitchFamily="18" charset="2"/>
              </a:rPr>
              <a:t>  = 2</a:t>
            </a:r>
            <a:r>
              <a:rPr lang="en-US" altLang="en-US" sz="2000" baseline="30000">
                <a:solidFill>
                  <a:srgbClr val="FF0000"/>
                </a:solidFill>
                <a:sym typeface="Symbol" pitchFamily="18" charset="2"/>
              </a:rPr>
              <a:t>–126</a:t>
            </a:r>
            <a:r>
              <a:rPr lang="en-US" altLang="en-US" sz="2000">
                <a:solidFill>
                  <a:srgbClr val="FF0000"/>
                </a:solidFill>
                <a:sym typeface="Symbol" pitchFamily="18" charset="2"/>
              </a:rPr>
              <a:t>-2</a:t>
            </a:r>
            <a:r>
              <a:rPr lang="en-US" altLang="en-US" sz="2000" baseline="30000">
                <a:solidFill>
                  <a:srgbClr val="FF0000"/>
                </a:solidFill>
                <a:sym typeface="Symbol" pitchFamily="18" charset="2"/>
              </a:rPr>
              <a:t>-149</a:t>
            </a:r>
            <a:br>
              <a:rPr lang="en-US" altLang="en-US" sz="2000" baseline="-25000">
                <a:solidFill>
                  <a:srgbClr val="FF0000"/>
                </a:solidFill>
                <a:sym typeface="Symbol" pitchFamily="18" charset="2"/>
              </a:rPr>
            </a:br>
            <a:r>
              <a:rPr lang="zh-CN" altLang="en-US" sz="2000">
                <a:solidFill>
                  <a:srgbClr val="FF0000"/>
                </a:solidFill>
                <a:sym typeface="Symbol" pitchFamily="18" charset="2"/>
              </a:rPr>
              <a:t>比</a:t>
            </a:r>
            <a:r>
              <a:rPr lang="en-US" altLang="zh-CN" sz="2000">
                <a:solidFill>
                  <a:srgbClr val="FF0000"/>
                </a:solidFill>
                <a:sym typeface="Symbol" pitchFamily="18" charset="2"/>
              </a:rPr>
              <a:t>Normalized</a:t>
            </a:r>
            <a:r>
              <a:rPr lang="zh-CN" altLang="en-US" sz="2000">
                <a:solidFill>
                  <a:srgbClr val="FF0000"/>
                </a:solidFill>
                <a:sym typeface="Symbol" pitchFamily="18" charset="2"/>
              </a:rPr>
              <a:t>表示的最小绝对值</a:t>
            </a:r>
            <a:r>
              <a:rPr lang="en-US" altLang="zh-CN" sz="2000">
                <a:solidFill>
                  <a:srgbClr val="FF0000"/>
                </a:solidFill>
                <a:sym typeface="Symbol" pitchFamily="18" charset="2"/>
              </a:rPr>
              <a:t>，</a:t>
            </a:r>
            <a:r>
              <a:rPr lang="zh-CN" altLang="en-US" sz="2000">
                <a:solidFill>
                  <a:srgbClr val="FF0000"/>
                </a:solidFill>
                <a:sym typeface="Symbol" pitchFamily="18" charset="2"/>
              </a:rPr>
              <a:t>还小</a:t>
            </a:r>
            <a:r>
              <a:rPr lang="en-US" altLang="en-US" sz="200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en-US" altLang="en-US" sz="2000" baseline="30000">
                <a:solidFill>
                  <a:srgbClr val="FF0000"/>
                </a:solidFill>
                <a:sym typeface="Symbol" pitchFamily="18" charset="2"/>
              </a:rPr>
              <a:t>-149</a:t>
            </a:r>
            <a:br>
              <a:rPr lang="en-US" altLang="en-US" sz="2000" baseline="-25000">
                <a:solidFill>
                  <a:srgbClr val="FF0000"/>
                </a:solidFill>
                <a:sym typeface="Symbol" pitchFamily="18" charset="2"/>
              </a:rPr>
            </a:br>
            <a:endParaRPr lang="zh-CN" altLang="en-US" sz="2000">
              <a:solidFill>
                <a:srgbClr val="FF0000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>
                <a:latin typeface="Times New Roman Regular" panose="02020603050405020304" charset="0"/>
                <a:cs typeface="Times New Roman Regular" panose="02020603050405020304" charset="0"/>
              </a:rPr>
              <a:t>特殊表示的</a:t>
            </a:r>
            <a:r>
              <a:rPr lang="zh-CN" altLang="en-US" dirty="0">
                <a:latin typeface="Times New Roman Regular" panose="02020603050405020304" charset="0"/>
                <a:cs typeface="Times New Roman Regular" panose="02020603050405020304" charset="0"/>
              </a:rPr>
              <a:t>值</a:t>
            </a:r>
            <a:endParaRPr lang="zh-C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111…1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r>
              <a:rPr lang="en-US" dirty="0"/>
              <a:t> = 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000…0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 marL="552450" lvl="1"/>
            <a:r>
              <a:rPr lang="zh-CN" altLang="en-US" dirty="0"/>
              <a:t>表示</a:t>
            </a:r>
            <a:r>
              <a:rPr lang="en-US" dirty="0"/>
              <a:t> </a:t>
            </a:r>
            <a:r>
              <a:rPr lang="en-US" sz="2400" dirty="0" smtClean="0">
                <a:sym typeface="Symbol"/>
              </a:rPr>
              <a:t></a:t>
            </a:r>
            <a:r>
              <a:rPr lang="en-US" dirty="0" smtClean="0"/>
              <a:t> </a:t>
            </a:r>
            <a:r>
              <a:rPr lang="en-US" dirty="0"/>
              <a:t>(infinity) </a:t>
            </a:r>
            <a:r>
              <a:rPr lang="zh-CN" altLang="en-US" dirty="0"/>
              <a:t>无穷数</a:t>
            </a:r>
            <a:endParaRPr lang="en-US" dirty="0"/>
          </a:p>
          <a:p>
            <a:pPr marL="552450" lvl="1"/>
            <a:r>
              <a:rPr lang="zh-CN" altLang="en-US" dirty="0"/>
              <a:t>也可以表示溢出的值</a:t>
            </a:r>
            <a:endParaRPr lang="en-US" dirty="0"/>
          </a:p>
          <a:p>
            <a:pPr marL="552450" lvl="1"/>
            <a:r>
              <a:rPr lang="zh-CN" altLang="en-US" dirty="0"/>
              <a:t>同时有正无穷</a:t>
            </a:r>
            <a:r>
              <a:rPr lang="en-US" altLang="zh-CN" dirty="0"/>
              <a:t>、</a:t>
            </a:r>
            <a:r>
              <a:rPr lang="zh-CN" altLang="en-US" dirty="0"/>
              <a:t>负无穷</a:t>
            </a:r>
            <a:r>
              <a:rPr lang="en-US" altLang="zh-CN" dirty="0"/>
              <a:t>：</a:t>
            </a:r>
            <a:r>
              <a:rPr lang="en-US" dirty="0"/>
              <a:t>1.0/0.0 = −1.0/−0.0 = </a:t>
            </a:r>
            <a:r>
              <a:rPr lang="en-US" dirty="0" smtClean="0"/>
              <a:t>+</a:t>
            </a:r>
            <a:r>
              <a:rPr lang="en-US" dirty="0" smtClean="0">
                <a:sym typeface="Symbol"/>
              </a:rPr>
              <a:t></a:t>
            </a:r>
            <a:r>
              <a:rPr lang="en-US" dirty="0" smtClean="0"/>
              <a:t>,  </a:t>
            </a:r>
            <a:r>
              <a:rPr lang="en-US" dirty="0"/>
              <a:t>1.0/−0.0 = </a:t>
            </a:r>
            <a:r>
              <a:rPr lang="en-US" dirty="0" smtClean="0"/>
              <a:t>−</a:t>
            </a:r>
            <a:r>
              <a:rPr lang="en-US" dirty="0" smtClean="0">
                <a:sym typeface="Symbol"/>
              </a:rPr>
              <a:t></a:t>
            </a:r>
            <a:endParaRPr lang="en-US" dirty="0"/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r>
              <a:rPr lang="en-US" dirty="0"/>
              <a:t> ≠ 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000…0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 marL="552450" lvl="1"/>
            <a:r>
              <a:rPr lang="en-US" dirty="0"/>
              <a:t>Not-a-Number (</a:t>
            </a:r>
            <a:r>
              <a:rPr lang="en-US" dirty="0" err="1"/>
              <a:t>NaN</a:t>
            </a:r>
            <a:r>
              <a:rPr lang="en-US" dirty="0"/>
              <a:t>) </a:t>
            </a:r>
            <a:r>
              <a:rPr lang="zh-CN" altLang="en-US" dirty="0"/>
              <a:t>非法数</a:t>
            </a:r>
            <a:endParaRPr lang="en-US" dirty="0"/>
          </a:p>
          <a:p>
            <a:pPr marL="552450" lvl="1"/>
            <a:r>
              <a:rPr lang="zh-CN" altLang="en-US" dirty="0"/>
              <a:t>表示无法确定数值的情形</a:t>
            </a:r>
            <a:r>
              <a:rPr lang="en-US" altLang="zh-CN" dirty="0"/>
              <a:t>：</a:t>
            </a:r>
            <a:r>
              <a:rPr lang="en-US" dirty="0">
                <a:ea typeface="Apple Symbols" panose="02000000000000000000" charset="0"/>
                <a:cs typeface="Apple Symbols" panose="02000000000000000000" charset="0"/>
              </a:rPr>
              <a:t>E.g., </a:t>
            </a:r>
            <a:r>
              <a:rPr lang="en-US" dirty="0" err="1">
                <a:ea typeface="Apple Symbols" panose="02000000000000000000" charset="0"/>
                <a:cs typeface="Apple Symbols" panose="02000000000000000000" charset="0"/>
              </a:rPr>
              <a:t>sqrt</a:t>
            </a:r>
            <a:r>
              <a:rPr lang="en-US" dirty="0">
                <a:ea typeface="Apple Symbols" panose="02000000000000000000" charset="0"/>
                <a:cs typeface="Apple Symbols" panose="02000000000000000000" charset="0"/>
              </a:rPr>
              <a:t>(–1), </a:t>
            </a:r>
            <a:r>
              <a:rPr lang="en-US" dirty="0" smtClean="0">
                <a:sym typeface="Symbol"/>
              </a:rPr>
              <a:t></a:t>
            </a:r>
            <a:r>
              <a:rPr lang="en-US" dirty="0" smtClean="0">
                <a:ea typeface="Apple Symbols" panose="02000000000000000000" charset="0"/>
                <a:cs typeface="Apple Symbols" panose="02000000000000000000" charset="0"/>
              </a:rPr>
              <a:t> </a:t>
            </a:r>
            <a:r>
              <a:rPr lang="en-US" dirty="0">
                <a:ea typeface="Apple Symbols" panose="02000000000000000000" charset="0"/>
                <a:cs typeface="Apple Symbols" panose="02000000000000000000" charset="0"/>
              </a:rPr>
              <a:t>− </a:t>
            </a:r>
            <a:r>
              <a:rPr lang="en-US" dirty="0" smtClean="0">
                <a:sym typeface="Symbol"/>
              </a:rPr>
              <a:t></a:t>
            </a:r>
            <a:r>
              <a:rPr lang="en-US" dirty="0" smtClean="0">
                <a:ea typeface="Apple Symbols" panose="02000000000000000000" charset="0"/>
                <a:cs typeface="Apple Symbols" panose="02000000000000000000" charset="0"/>
              </a:rPr>
              <a:t>, </a:t>
            </a:r>
            <a:r>
              <a:rPr lang="en-US" dirty="0" smtClean="0">
                <a:sym typeface="Symbol"/>
              </a:rPr>
              <a:t></a:t>
            </a:r>
            <a:r>
              <a:rPr lang="en-US" dirty="0" smtClean="0">
                <a:ea typeface="Apple Symbols" panose="02000000000000000000" charset="0"/>
                <a:cs typeface="Apple Symbols" panose="02000000000000000000" charset="0"/>
              </a:rPr>
              <a:t> </a:t>
            </a:r>
            <a:r>
              <a:rPr lang="en-US" dirty="0" smtClean="0">
                <a:ea typeface="Apple Symbols" panose="02000000000000000000" charset="0"/>
                <a:cs typeface="Apple Symbols" panose="02000000000000000000" charset="0"/>
                <a:sym typeface="Symbol"/>
              </a:rPr>
              <a:t></a:t>
            </a:r>
            <a:r>
              <a:rPr lang="en-US" dirty="0" smtClean="0">
                <a:ea typeface="Apple Symbols" panose="02000000000000000000" charset="0"/>
                <a:cs typeface="Apple Symbols" panose="02000000000000000000" charset="0"/>
              </a:rPr>
              <a:t> </a:t>
            </a:r>
            <a:r>
              <a:rPr lang="en-US" dirty="0">
                <a:ea typeface="Apple Symbols" panose="02000000000000000000" charset="0"/>
                <a:cs typeface="Apple Symbols" panose="02000000000000000000" charset="0"/>
              </a:rPr>
              <a:t>0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006725" y="6751955"/>
            <a:ext cx="304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083550" cy="1095375"/>
          </a:xfrm>
        </p:spPr>
        <p:txBody>
          <a:bodyPr/>
          <a:lstStyle/>
          <a:p>
            <a:pPr marL="81280" indent="-81280"/>
            <a:r>
              <a:rPr lang="zh-CN" altLang="en-US" sz="320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可视化</a:t>
            </a:r>
            <a:r>
              <a:rPr lang="en-US" sz="320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: Floating Point </a:t>
            </a:r>
            <a:r>
              <a:rPr lang="zh-CN" altLang="en-US" sz="320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编码</a:t>
            </a:r>
            <a:endParaRPr lang="zh-CN" altLang="en-US" sz="3200"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2362200" y="2960688"/>
            <a:ext cx="7315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2362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96774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9677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5791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9677400" y="3570288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102108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18288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1828800" y="3636963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23622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4" name="Rectangle 14"/>
          <p:cNvSpPr/>
          <p:nvPr/>
        </p:nvSpPr>
        <p:spPr bwMode="auto">
          <a:xfrm>
            <a:off x="9296400" y="2451100"/>
            <a:ext cx="377825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 smtClean="0">
                <a:latin typeface="+mn-lt"/>
              </a:rPr>
              <a:t>+</a:t>
            </a:r>
            <a:r>
              <a:rPr lang="en-US" sz="1800" dirty="0" smtClean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5" name="Rectangle 15"/>
          <p:cNvSpPr/>
          <p:nvPr/>
        </p:nvSpPr>
        <p:spPr bwMode="auto">
          <a:xfrm>
            <a:off x="2239963" y="2427288"/>
            <a:ext cx="42799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 smtClean="0">
                <a:latin typeface="+mn-lt"/>
              </a:rPr>
              <a:t>−</a:t>
            </a:r>
            <a:r>
              <a:rPr lang="en-US" sz="1800" dirty="0" smtClean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6" name="Rectangle 16"/>
          <p:cNvSpPr/>
          <p:nvPr/>
        </p:nvSpPr>
        <p:spPr bwMode="auto">
          <a:xfrm>
            <a:off x="5410200" y="3405188"/>
            <a:ext cx="33909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 smtClean="0">
                <a:solidFill>
                  <a:schemeClr val="tx1"/>
                </a:solidFill>
                <a:latin typeface="+mn-lt"/>
                <a:ea typeface="Symbol" pitchFamily="18" charset="2"/>
                <a:cs typeface="Symbol" pitchFamily="18" charset="2"/>
                <a:sym typeface="Symbol"/>
              </a:rPr>
              <a:t>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0</a:t>
            </a:r>
            <a:endParaRPr lang="en-US" sz="1800" dirty="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7391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8" name="Rectangle 18"/>
          <p:cNvSpPr/>
          <p:nvPr/>
        </p:nvSpPr>
        <p:spPr bwMode="auto">
          <a:xfrm>
            <a:off x="6261100" y="2579688"/>
            <a:ext cx="1043305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+Denorm</a:t>
            </a:r>
            <a:endParaRPr lang="en-US" sz="180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19" name="Rectangle 19"/>
          <p:cNvSpPr/>
          <p:nvPr/>
        </p:nvSpPr>
        <p:spPr bwMode="auto">
          <a:xfrm>
            <a:off x="7620000" y="2579688"/>
            <a:ext cx="1403985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+Normalized</a:t>
            </a:r>
            <a:endParaRPr lang="en-US" sz="180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20" name="Rectangle 20"/>
          <p:cNvSpPr/>
          <p:nvPr/>
        </p:nvSpPr>
        <p:spPr bwMode="auto">
          <a:xfrm>
            <a:off x="4572000" y="2593975"/>
            <a:ext cx="109347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 smtClean="0">
                <a:latin typeface="+mn-lt"/>
              </a:rPr>
              <a:t>−</a:t>
            </a:r>
            <a:r>
              <a:rPr lang="en-US" sz="1800" dirty="0" err="1" smtClean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Denorm</a:t>
            </a:r>
            <a:endParaRPr lang="en-US" sz="1800" dirty="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>
            <a:off x="4572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2" name="Rectangle 22"/>
          <p:cNvSpPr/>
          <p:nvPr/>
        </p:nvSpPr>
        <p:spPr bwMode="auto">
          <a:xfrm>
            <a:off x="2927350" y="2579688"/>
            <a:ext cx="145415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 smtClean="0">
                <a:latin typeface="+mn-lt"/>
              </a:rPr>
              <a:t>−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Normalized</a:t>
            </a:r>
            <a:endParaRPr lang="en-US" sz="1800" dirty="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6248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6019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9448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2667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rot="10800000" flipH="1">
            <a:off x="5715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rot="10800000">
            <a:off x="6096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9" name="Rectangle 29"/>
          <p:cNvSpPr/>
          <p:nvPr/>
        </p:nvSpPr>
        <p:spPr bwMode="auto">
          <a:xfrm>
            <a:off x="6096000" y="3408363"/>
            <a:ext cx="35179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+0</a:t>
            </a:r>
            <a:endParaRPr lang="en-US" sz="180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30" name="Rectangle 30"/>
          <p:cNvSpPr/>
          <p:nvPr/>
        </p:nvSpPr>
        <p:spPr bwMode="auto">
          <a:xfrm>
            <a:off x="1844675" y="3255963"/>
            <a:ext cx="532765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NaN</a:t>
            </a:r>
            <a:endParaRPr lang="en-US" sz="180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5631" name="Rectangle 31"/>
          <p:cNvSpPr/>
          <p:nvPr/>
        </p:nvSpPr>
        <p:spPr bwMode="auto">
          <a:xfrm>
            <a:off x="9685338" y="3179763"/>
            <a:ext cx="532765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  <a:sym typeface="Calibri" pitchFamily="34" charset="0"/>
              </a:rPr>
              <a:t>NaN</a:t>
            </a:r>
            <a:endParaRPr lang="en-US" sz="1800">
              <a:solidFill>
                <a:schemeClr val="tx1"/>
              </a:solidFill>
              <a:latin typeface="+mn-lt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1280" indent="-81280"/>
            <a:r>
              <a:rPr lang="en-US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Today: Floating Point</a:t>
            </a:r>
            <a:endParaRPr lang="en-US">
              <a:latin typeface="Calibri" pitchFamily="34" charset="0"/>
              <a:ea typeface="ヒラギノ角ゴ ProN W3" panose="020B0300000000000000" charset="-128"/>
              <a:cs typeface="ヒラギノ角ゴ ProN W3" panose="020B0300000000000000" charset="-128"/>
              <a:sym typeface="Calibri" pitchFamily="34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solidFill>
                  <a:srgbClr val="A5A5A5"/>
                </a:solidFill>
                <a:ea typeface="Calibri" pitchFamily="34" charset="0"/>
                <a:cs typeface="Calibri" pitchFamily="34" charset="0"/>
              </a:rPr>
              <a:t>Background: Fractional binary numbers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pitchFamily="34" charset="0"/>
                <a:cs typeface="Calibri" pitchFamily="34" charset="0"/>
              </a:rPr>
              <a:t>IEEE floating point standard: Definition</a:t>
            </a:r>
            <a:endParaRPr lang="en-US"/>
          </a:p>
          <a:p>
            <a:pPr marL="215900" indent="-215900"/>
            <a:r>
              <a:rPr lang="en-US">
                <a:ea typeface="Calibri" pitchFamily="34" charset="0"/>
                <a:cs typeface="Calibri" pitchFamily="34" charset="0"/>
              </a:rPr>
              <a:t>Example and properties (</a:t>
            </a:r>
            <a:r>
              <a:rPr lang="zh-CN" altLang="en-US">
                <a:ea typeface="Calibri" pitchFamily="34" charset="0"/>
                <a:cs typeface="Calibri" pitchFamily="34" charset="0"/>
              </a:rPr>
              <a:t>浮点数的例子与特性）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pitchFamily="34" charset="0"/>
                <a:cs typeface="Calibri" pitchFamily="34" charset="0"/>
              </a:rPr>
              <a:t>Rounding, addition, multiplication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pitchFamily="34" charset="0"/>
                <a:cs typeface="Calibri" pitchFamily="34" charset="0"/>
              </a:rPr>
              <a:t>Floating point in C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pitchFamily="34" charset="0"/>
                <a:cs typeface="Calibri" pitchFamily="34" charset="0"/>
              </a:rPr>
              <a:t>Sum</a:t>
            </a:r>
            <a:r>
              <a:rPr lang="en-US">
                <a:solidFill>
                  <a:srgbClr val="B3B3B3"/>
                </a:solidFill>
                <a:ea typeface="Calibri" pitchFamily="34" charset="0"/>
                <a:cs typeface="Calibri" pitchFamily="34" charset="0"/>
              </a:rPr>
              <a:t>m</a:t>
            </a:r>
            <a:r>
              <a:rPr lang="en-US">
                <a:solidFill>
                  <a:srgbClr val="A5A5A5"/>
                </a:solidFill>
                <a:ea typeface="Calibri" pitchFamily="34" charset="0"/>
                <a:cs typeface="Calibri" pitchFamily="34" charset="0"/>
              </a:rPr>
              <a:t>ary</a:t>
            </a:r>
            <a:endParaRPr lang="en-US">
              <a:solidFill>
                <a:srgbClr val="A5A5A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小型</a:t>
            </a:r>
            <a:r>
              <a:rPr lang="en-US"/>
              <a:t>Floating Point</a:t>
            </a:r>
            <a:r>
              <a:rPr lang="zh-CN" altLang="en-US"/>
              <a:t>的例子</a:t>
            </a:r>
            <a:endParaRPr lang="en-US" altLang="zh-CN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2755900"/>
            <a:ext cx="8382000" cy="4076700"/>
          </a:xfrm>
        </p:spPr>
        <p:txBody>
          <a:bodyPr/>
          <a:lstStyle/>
          <a:p>
            <a:r>
              <a:rPr lang="en-US"/>
              <a:t>8-bit Floating Point Representation (FP8)</a:t>
            </a:r>
            <a:endParaRPr lang="en-US"/>
          </a:p>
          <a:p>
            <a:pPr marL="552450" lvl="1"/>
            <a:r>
              <a:rPr lang="en-US"/>
              <a:t>the sign bit is in the most significant bit</a:t>
            </a:r>
            <a:endParaRPr lang="en-US"/>
          </a:p>
          <a:p>
            <a:pPr marL="552450" lvl="1"/>
            <a:r>
              <a:rPr lang="en-US"/>
              <a:t>the next four bits are the exponent, with a bias of 7</a:t>
            </a:r>
            <a:endParaRPr lang="en-US"/>
          </a:p>
          <a:p>
            <a:pPr marL="552450" lvl="1"/>
            <a:r>
              <a:rPr lang="en-US"/>
              <a:t>the last three bits are the </a:t>
            </a:r>
            <a:r>
              <a:rPr lang="en-US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endParaRPr lang="en-US"/>
          </a:p>
          <a:p>
            <a:endParaRPr lang="en-US"/>
          </a:p>
          <a:p>
            <a:r>
              <a:rPr lang="en-US"/>
              <a:t>Same general form as IEEE Format</a:t>
            </a:r>
            <a:endParaRPr lang="en-US"/>
          </a:p>
          <a:p>
            <a:pPr marL="552450" lvl="1"/>
            <a:r>
              <a:rPr lang="en-US"/>
              <a:t>normalized, denormalized</a:t>
            </a:r>
            <a:endParaRPr lang="en-US"/>
          </a:p>
          <a:p>
            <a:pPr marL="552450" lvl="1"/>
            <a:r>
              <a:rPr lang="en-US"/>
              <a:t>representation of 0, NaN, infinity</a:t>
            </a:r>
            <a:endParaRPr lang="en-US"/>
          </a:p>
        </p:txBody>
      </p:sp>
      <p:graphicFrame>
        <p:nvGraphicFramePr>
          <p:cNvPr id="27653" name="Group 5"/>
          <p:cNvGraphicFramePr>
            <a:graphicFrameLocks noGrp="1"/>
          </p:cNvGraphicFramePr>
          <p:nvPr/>
        </p:nvGraphicFramePr>
        <p:xfrm>
          <a:off x="3479800" y="15748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867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8675" name="Rectangle 3"/>
          <p:cNvSpPr/>
          <p:nvPr/>
        </p:nvSpPr>
        <p:spPr bwMode="auto">
          <a:xfrm>
            <a:off x="1524000" y="6019800"/>
            <a:ext cx="8928100" cy="47625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8676" name="Rectangle 4"/>
          <p:cNvSpPr/>
          <p:nvPr/>
        </p:nvSpPr>
        <p:spPr bwMode="auto">
          <a:xfrm>
            <a:off x="1600200" y="3048000"/>
            <a:ext cx="8928100" cy="2895600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8677" name="Rectangle 5"/>
          <p:cNvSpPr/>
          <p:nvPr/>
        </p:nvSpPr>
        <p:spPr bwMode="auto">
          <a:xfrm>
            <a:off x="3048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err="1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</a:t>
            </a: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exp  </a:t>
            </a:r>
            <a:r>
              <a:rPr lang="en-US" sz="1600" b="1" dirty="0" err="1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frac</a:t>
            </a: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	</a:t>
            </a: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ea typeface="Calibri Bold Italic" charset="0"/>
                <a:cs typeface="Courier New" panose="02070609020205020404" pitchFamily="49" charset="0"/>
                <a:sym typeface="Calibri Bold Italic" charset="0"/>
              </a:rPr>
              <a:t>E</a:t>
            </a: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Courier New Bold" panose="02070609020205020404" charset="0"/>
              </a:rPr>
              <a:t>	</a:t>
            </a: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ea typeface="Calibri Bold" charset="0"/>
                <a:cs typeface="Courier New" panose="02070609020205020404" pitchFamily="49" charset="0"/>
                <a:sym typeface="Calibri Bold" charset="0"/>
              </a:rPr>
              <a:t>Value</a:t>
            </a: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Courier New Bold" panose="02070609020205020404" charset="0"/>
              </a:rPr>
              <a:t>	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0000 000	-6	0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0000 001	-6	1/8*1/64 = 1/512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0000 010	-6	2/8*1/64 = 2/512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…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0000 110	-6	6/8*1/64 = 6/512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0000 111	-6	7/8*1/64 = 7/512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0001 000	-6	8/8*1/64 = 8/512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0001 001  	-6	9/8*1/64 = 9/512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…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0110 110	-1	14/8*1/2 = 14/16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0110 111	-1	15/8*1/2 = 15/16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0111 000	0	8/8*1    = 1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0111 001	0	9/8*1    = 9/8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0111 010	0	10/8*1   = 10/8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…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1110 110	7	14/8*128 = 224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1110 111	7	15/8*128 = 240</a:t>
            </a:r>
            <a:endParaRPr lang="en-US" sz="1600" b="1" dirty="0" smtClean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 1111 000	n/a	</a:t>
            </a:r>
            <a:r>
              <a:rPr lang="en-US" sz="1600" b="1" dirty="0" err="1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inf</a:t>
            </a:r>
            <a:endParaRPr lang="en-US" sz="1600" b="1" dirty="0" err="1" smtClean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r>
              <a:rPr lang="en-US" sz="1600" b="1" dirty="0" err="1" smtClean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NaN</a:t>
            </a:r>
            <a:endParaRPr lang="en-US" sz="1600" b="1" dirty="0" err="1" smtClean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  <a:tab pos="1762125" algn="l"/>
                <a:tab pos="2493645" algn="l"/>
              </a:tabLst>
            </a:pPr>
            <a:endParaRPr lang="en-US" sz="16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0" y="254000"/>
            <a:ext cx="8382000" cy="927100"/>
          </a:xfrm>
        </p:spPr>
        <p:txBody>
          <a:bodyPr/>
          <a:lstStyle/>
          <a:p>
            <a:pPr marL="119380" indent="-119380"/>
            <a:r>
              <a:rPr lang="en-US"/>
              <a:t>Dynamic Range (Positive Only)</a:t>
            </a:r>
            <a:endParaRPr lang="en-US"/>
          </a:p>
        </p:txBody>
      </p:sp>
      <p:sp>
        <p:nvSpPr>
          <p:cNvPr id="28680" name="Rectangle 8"/>
          <p:cNvSpPr/>
          <p:nvPr/>
        </p:nvSpPr>
        <p:spPr bwMode="auto">
          <a:xfrm>
            <a:off x="8382000" y="1743075"/>
            <a:ext cx="1488440" cy="32194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closest to zero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1" name="Rectangle 9"/>
          <p:cNvSpPr/>
          <p:nvPr/>
        </p:nvSpPr>
        <p:spPr bwMode="auto">
          <a:xfrm>
            <a:off x="8382000" y="2819400"/>
            <a:ext cx="1510665" cy="32194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largest denorm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2" name="Rectangle 10"/>
          <p:cNvSpPr/>
          <p:nvPr/>
        </p:nvSpPr>
        <p:spPr bwMode="auto">
          <a:xfrm>
            <a:off x="8382000" y="3124200"/>
            <a:ext cx="1407795" cy="32194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smallest norm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3" name="Rectangle 11"/>
          <p:cNvSpPr/>
          <p:nvPr/>
        </p:nvSpPr>
        <p:spPr bwMode="auto">
          <a:xfrm>
            <a:off x="8382000" y="4114800"/>
            <a:ext cx="1786890" cy="32194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closest to 1 below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4" name="Rectangle 12"/>
          <p:cNvSpPr/>
          <p:nvPr/>
        </p:nvSpPr>
        <p:spPr bwMode="auto">
          <a:xfrm>
            <a:off x="8382000" y="4706035"/>
            <a:ext cx="1797050" cy="32194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closest to 1 above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5" name="Rectangle 13"/>
          <p:cNvSpPr/>
          <p:nvPr/>
        </p:nvSpPr>
        <p:spPr bwMode="auto">
          <a:xfrm>
            <a:off x="8382000" y="5715000"/>
            <a:ext cx="1276985" cy="32194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largest norm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6" name="Rectangle 14"/>
          <p:cNvSpPr/>
          <p:nvPr/>
        </p:nvSpPr>
        <p:spPr bwMode="auto">
          <a:xfrm>
            <a:off x="1584325" y="1981200"/>
            <a:ext cx="1366520" cy="56832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numbers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28687" name="Rectangle 15"/>
          <p:cNvSpPr/>
          <p:nvPr/>
        </p:nvSpPr>
        <p:spPr bwMode="auto">
          <a:xfrm>
            <a:off x="1597025" y="4343400"/>
            <a:ext cx="1141095" cy="56832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tx1"/>
              </a:solidFill>
              <a:latin typeface="+mn-lt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numbers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72680" y="867410"/>
            <a:ext cx="3055620" cy="9220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smtClean="0"/>
              <a:t>v = (</a:t>
            </a:r>
            <a:r>
              <a:rPr lang="en-US" sz="1800" dirty="0"/>
              <a:t>–1)</a:t>
            </a:r>
            <a:r>
              <a:rPr lang="en-US" sz="1800" baseline="32000" dirty="0"/>
              <a:t>s</a:t>
            </a:r>
            <a:r>
              <a:rPr lang="en-US" sz="1800" dirty="0"/>
              <a:t> </a:t>
            </a:r>
            <a:r>
              <a:rPr lang="en-US" sz="18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1800" dirty="0"/>
              <a:t> </a:t>
            </a:r>
            <a:r>
              <a:rPr lang="en-US" sz="1800" dirty="0" smtClean="0"/>
              <a:t>2</a:t>
            </a:r>
            <a:r>
              <a:rPr lang="en-US" sz="1800" baseline="320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1800" baseline="32000" dirty="0" smtClean="0"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  <a:p>
            <a:r>
              <a:rPr lang="en-US" sz="18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normal: E = </a:t>
            </a:r>
            <a:r>
              <a:rPr lang="en-US" sz="1800" dirty="0" err="1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18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  <a:endParaRPr lang="en-US" sz="1800" dirty="0" smtClean="0"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  <a:p>
            <a:r>
              <a:rPr lang="en-US" sz="18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denormal: E</a:t>
            </a:r>
            <a:r>
              <a:rPr lang="en-US" sz="1800" dirty="0" smtClean="0"/>
              <a:t> = </a:t>
            </a:r>
            <a:r>
              <a:rPr lang="en-US" sz="18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1800" dirty="0" smtClean="0"/>
              <a:t> </a:t>
            </a:r>
            <a:r>
              <a:rPr lang="en-US" sz="1800" dirty="0"/>
              <a:t>– </a:t>
            </a:r>
            <a:r>
              <a:rPr lang="en-US" sz="1800" dirty="0" smtClean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1800" dirty="0"/>
          </a:p>
        </p:txBody>
      </p:sp>
      <p:sp>
        <p:nvSpPr>
          <p:cNvPr id="2" name="Rectangle 15"/>
          <p:cNvSpPr/>
          <p:nvPr/>
        </p:nvSpPr>
        <p:spPr bwMode="auto">
          <a:xfrm>
            <a:off x="1663065" y="6019800"/>
            <a:ext cx="891540" cy="56832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Special 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anose="02070609020205020404" pitchFamily="49" charset="0"/>
                <a:sym typeface="Calibri Bold" charset="0"/>
              </a:rPr>
              <a:t>numbers</a:t>
            </a:r>
            <a:endParaRPr lang="en-US" sz="1600" b="1">
              <a:solidFill>
                <a:schemeClr val="tx1"/>
              </a:solidFill>
              <a:latin typeface="+mn-lt"/>
              <a:ea typeface="Calibri Bold" charset="0"/>
              <a:cs typeface="Courier New" panose="02070609020205020404" pitchFamily="49" charset="0"/>
              <a:sym typeface="Calibri Bold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51750" y="2033905"/>
            <a:ext cx="1600200" cy="3987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间隔：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1/512</a:t>
            </a:r>
            <a:endParaRPr lang="en-US" altLang="zh-CN" sz="2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651750" y="3810000"/>
            <a:ext cx="1600200" cy="3987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间隔：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1/16</a:t>
            </a:r>
            <a:endParaRPr lang="en-US" altLang="zh-CN" sz="2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620000" y="4381500"/>
            <a:ext cx="1600200" cy="3987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间隔：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1/8</a:t>
            </a:r>
            <a:endParaRPr lang="en-US" altLang="zh-CN" sz="2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682865" y="5368290"/>
            <a:ext cx="1600200" cy="3733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间隔：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16</a:t>
            </a:r>
            <a:endParaRPr lang="en-US" altLang="zh-CN" sz="2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0" name="Object 1024"/>
          <p:cNvGraphicFramePr>
            <a:graphicFrameLocks noChangeAspect="1"/>
          </p:cNvGraphicFramePr>
          <p:nvPr/>
        </p:nvGraphicFramePr>
        <p:xfrm>
          <a:off x="1905000" y="4419600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5" name="Worksheet" r:id="rId1" imgW="7844155" imgH="1003935" progId="Excel.Sheet.8">
                  <p:embed/>
                </p:oleObj>
              </mc:Choice>
              <mc:Fallback>
                <p:oleObj name="Worksheet" r:id="rId1" imgW="7844155" imgH="1003935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19600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8" name="Rectangle 2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9699" name="Rectangle 3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Distribution of Values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11350" y="1397000"/>
            <a:ext cx="8382000" cy="5435600"/>
          </a:xfrm>
        </p:spPr>
        <p:txBody>
          <a:bodyPr/>
          <a:lstStyle/>
          <a:p>
            <a:r>
              <a:rPr lang="en-US" dirty="0"/>
              <a:t>6-bit IEEE-like format</a:t>
            </a:r>
            <a:endParaRPr lang="en-US" dirty="0"/>
          </a:p>
          <a:p>
            <a:pPr marL="552450" lvl="1"/>
            <a:r>
              <a:rPr lang="en-US" dirty="0"/>
              <a:t>e = 3 exponent bits</a:t>
            </a:r>
            <a:endParaRPr lang="en-US" dirty="0"/>
          </a:p>
          <a:p>
            <a:pPr marL="552450" lvl="1"/>
            <a:r>
              <a:rPr lang="en-US" dirty="0"/>
              <a:t>f = 2 fraction bits</a:t>
            </a:r>
            <a:endParaRPr lang="en-US" dirty="0"/>
          </a:p>
          <a:p>
            <a:pPr marL="552450" lvl="1"/>
            <a:r>
              <a:rPr lang="en-US" dirty="0"/>
              <a:t>Bias is 2</a:t>
            </a:r>
            <a:r>
              <a:rPr lang="en-US" baseline="30000" dirty="0"/>
              <a:t>3-1</a:t>
            </a:r>
            <a:r>
              <a:rPr lang="en-US" dirty="0"/>
              <a:t>-1 = 3</a:t>
            </a:r>
            <a:endParaRPr lang="en-US" dirty="0"/>
          </a:p>
          <a:p>
            <a:pPr marL="552450" lvl="1"/>
            <a:endParaRPr lang="en-US" dirty="0"/>
          </a:p>
          <a:p>
            <a:r>
              <a:rPr lang="zh-CN" altLang="en-US" dirty="0"/>
              <a:t>注意：靠近</a:t>
            </a:r>
            <a:r>
              <a:rPr lang="en-US" altLang="zh-CN" dirty="0"/>
              <a:t>0</a:t>
            </a:r>
            <a:r>
              <a:rPr lang="zh-CN" altLang="en-US" dirty="0"/>
              <a:t>的位置</a:t>
            </a:r>
            <a:r>
              <a:rPr lang="en-US" altLang="zh-CN" dirty="0"/>
              <a:t>，</a:t>
            </a:r>
            <a:r>
              <a:rPr lang="zh-CN" altLang="en-US" dirty="0"/>
              <a:t>采样点的</a:t>
            </a:r>
            <a:r>
              <a:rPr lang="zh-CN" altLang="en-US" dirty="0"/>
              <a:t>分布更稠密</a:t>
            </a:r>
            <a:r>
              <a:rPr lang="en-US" dirty="0"/>
              <a:t>. </a:t>
            </a:r>
            <a:endParaRPr lang="en-US" dirty="0"/>
          </a:p>
        </p:txBody>
      </p:sp>
      <p:sp>
        <p:nvSpPr>
          <p:cNvPr id="29703" name="Rectangle 7"/>
          <p:cNvSpPr/>
          <p:nvPr/>
        </p:nvSpPr>
        <p:spPr bwMode="auto">
          <a:xfrm>
            <a:off x="6947372" y="3810000"/>
            <a:ext cx="1208405" cy="368935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8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values</a:t>
            </a:r>
            <a:endParaRPr lang="en-US" sz="2400" dirty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/>
        </p:nvGraphicFramePr>
        <p:xfrm>
          <a:off x="5715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6" name="Straight Arrow Connector 35"/>
          <p:cNvCxnSpPr>
            <a:stCxn id="29703" idx="1"/>
          </p:cNvCxnSpPr>
          <p:nvPr/>
        </p:nvCxnSpPr>
        <p:spPr bwMode="auto">
          <a:xfrm rot="10800000" flipV="1">
            <a:off x="7557135" y="3994666"/>
            <a:ext cx="914400" cy="42493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133600" y="5725795"/>
            <a:ext cx="4311650" cy="3987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为什么不采用均匀</a:t>
            </a:r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采样？</a:t>
            </a:r>
            <a:endParaRPr lang="zh-CN" altLang="en-US" sz="2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非规格化</a:t>
            </a:r>
            <a:r>
              <a:rPr lang="zh-CN" altLang="en-US"/>
              <a:t>值：</a:t>
            </a:r>
            <a:endParaRPr lang="zh-CN" altLang="en-US"/>
          </a:p>
          <a:p>
            <a:r>
              <a:rPr lang="zh-CN" altLang="en-US"/>
              <a:t>规格化</a:t>
            </a:r>
            <a:r>
              <a:rPr lang="zh-CN" altLang="en-US"/>
              <a:t>值：</a:t>
            </a:r>
            <a:endParaRPr lang="zh-CN" altLang="en-US"/>
          </a:p>
          <a:p>
            <a:r>
              <a:rPr lang="zh-CN" altLang="en-US"/>
              <a:t>特殊</a:t>
            </a:r>
            <a:r>
              <a:rPr lang="zh-CN" altLang="en-US"/>
              <a:t>值：</a:t>
            </a:r>
            <a:endParaRPr lang="zh-CN" altLang="en-US"/>
          </a:p>
          <a:p>
            <a:pPr lvl="1"/>
            <a:r>
              <a:rPr lang="zh-CN" altLang="en-US"/>
              <a:t>各</a:t>
            </a:r>
            <a:r>
              <a:rPr lang="zh-CN" altLang="en-US"/>
              <a:t>有多少个？</a:t>
            </a:r>
            <a:r>
              <a:rPr lang="en-US" altLang="zh-CN"/>
              <a:t>6</a:t>
            </a:r>
            <a:r>
              <a:rPr lang="zh-CN" altLang="en-US"/>
              <a:t>位浮点表示范围与</a:t>
            </a:r>
            <a:r>
              <a:rPr lang="en-US" altLang="zh-CN"/>
              <a:t>6</a:t>
            </a:r>
            <a:r>
              <a:rPr lang="zh-CN" altLang="en-US"/>
              <a:t>位整数补码表示范围的区别？</a:t>
            </a:r>
            <a:endParaRPr lang="zh-CN" altLang="en-US"/>
          </a:p>
        </p:txBody>
      </p:sp>
      <p:graphicFrame>
        <p:nvGraphicFramePr>
          <p:cNvPr id="4" name="Group 9"/>
          <p:cNvGraphicFramePr>
            <a:graphicFrameLocks noGrp="1"/>
          </p:cNvGraphicFramePr>
          <p:nvPr/>
        </p:nvGraphicFramePr>
        <p:xfrm>
          <a:off x="5638800" y="9906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222500" y="3352800"/>
            <a:ext cx="7546975" cy="2221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800" dirty="0" err="1" smtClean="0">
                <a:sym typeface="+mn-ea"/>
              </a:rPr>
              <a:t>非规格化（</a:t>
            </a:r>
            <a:r>
              <a:rPr lang="en-US" altLang="zh-CN" sz="1800" dirty="0" err="1" smtClean="0">
                <a:sym typeface="+mn-ea"/>
              </a:rPr>
              <a:t>4</a:t>
            </a:r>
            <a:r>
              <a:rPr lang="zh-CN" altLang="en-US" sz="1800" dirty="0" err="1" smtClean="0">
                <a:sym typeface="+mn-ea"/>
              </a:rPr>
              <a:t>个）</a:t>
            </a:r>
            <a:r>
              <a:rPr lang="en-US" altLang="zh-CN" sz="1800" dirty="0" smtClean="0">
                <a:sym typeface="+mn-ea"/>
              </a:rPr>
              <a:t>: 0, 1/16, 2/16, 3/16                </a:t>
            </a:r>
            <a:endParaRPr lang="en-US" altLang="zh-CN" sz="1800" dirty="0" smtClean="0">
              <a:sym typeface="+mn-ea"/>
            </a:endParaRPr>
          </a:p>
          <a:p>
            <a:pPr algn="l"/>
            <a:r>
              <a:rPr lang="zh-CN" altLang="en-US" sz="1800" dirty="0" err="1" smtClean="0">
                <a:sym typeface="+mn-ea"/>
              </a:rPr>
              <a:t>规格化（</a:t>
            </a:r>
            <a:r>
              <a:rPr lang="en-US" altLang="zh-CN" sz="1800" dirty="0" err="1" smtClean="0">
                <a:sym typeface="+mn-ea"/>
              </a:rPr>
              <a:t>24</a:t>
            </a:r>
            <a:r>
              <a:rPr lang="zh-CN" altLang="en-US" sz="1800" dirty="0" err="1" smtClean="0">
                <a:sym typeface="+mn-ea"/>
              </a:rPr>
              <a:t>个）</a:t>
            </a:r>
            <a:r>
              <a:rPr lang="en-US" altLang="zh-CN" sz="1800" dirty="0" smtClean="0">
                <a:sym typeface="+mn-ea"/>
              </a:rPr>
              <a:t>:    4/16, 5/16, 6/16, 7/16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4/8, 5/8, 6/8, 7/8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1, 5/4, 6/4, 7/4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2, 5/2, 6/2, 7/2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4, 5, 6, 7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8, 10, 12, 14</a:t>
            </a:r>
            <a:endParaRPr lang="en-US" altLang="zh-CN" sz="1800" baseline="0" dirty="0" smtClean="0"/>
          </a:p>
          <a:p>
            <a:pPr algn="l"/>
            <a:r>
              <a:rPr lang="zh-CN" altLang="en-US" sz="1800" dirty="0" smtClean="0">
                <a:sym typeface="+mn-ea"/>
              </a:rPr>
              <a:t>特殊值（</a:t>
            </a:r>
            <a:r>
              <a:rPr lang="en-US" altLang="zh-CN" sz="1800" dirty="0" smtClean="0">
                <a:sym typeface="+mn-ea"/>
              </a:rPr>
              <a:t>2</a:t>
            </a:r>
            <a:r>
              <a:rPr lang="zh-CN" altLang="en-US" sz="1800" dirty="0" smtClean="0">
                <a:sym typeface="+mn-ea"/>
              </a:rPr>
              <a:t>个</a:t>
            </a:r>
            <a:r>
              <a:rPr lang="zh-CN" altLang="en-US" sz="1800" dirty="0" smtClean="0">
                <a:ea typeface="SimSun" charset="0"/>
                <a:sym typeface="+mn-ea"/>
              </a:rPr>
              <a:t>）：</a:t>
            </a:r>
            <a:r>
              <a:rPr lang="en-US" altLang="zh-CN" sz="1800" dirty="0" smtClean="0">
                <a:sym typeface="+mn-ea"/>
              </a:rPr>
              <a:t> </a:t>
            </a:r>
            <a:r>
              <a:rPr lang="en-US" altLang="zh-CN" sz="1800" dirty="0" err="1" smtClean="0">
                <a:sym typeface="+mn-ea"/>
              </a:rPr>
              <a:t>inf</a:t>
            </a:r>
            <a:r>
              <a:rPr lang="en-US" altLang="zh-CN" sz="1800" dirty="0" smtClean="0">
                <a:sym typeface="+mn-ea"/>
              </a:rPr>
              <a:t> + </a:t>
            </a:r>
            <a:r>
              <a:rPr lang="en-US" altLang="zh-CN" sz="1800" dirty="0" err="1" smtClean="0">
                <a:sym typeface="+mn-ea"/>
              </a:rPr>
              <a:t>NaN</a:t>
            </a:r>
            <a:endParaRPr lang="en-US" altLang="zh-CN" sz="1800" dirty="0" smtClean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9575" y="5867400"/>
            <a:ext cx="88569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dirty="0" smtClean="0">
                <a:sym typeface="+mn-ea"/>
              </a:rPr>
              <a:t>不可表示的整数范围</a:t>
            </a:r>
            <a:r>
              <a:rPr lang="en-US" altLang="zh-CN" sz="2000" dirty="0" smtClean="0">
                <a:sym typeface="+mn-ea"/>
              </a:rPr>
              <a:t>: [-16</a:t>
            </a:r>
            <a:r>
              <a:rPr lang="zh-CN" altLang="en-US" sz="2000" dirty="0" smtClean="0">
                <a:sym typeface="+mn-ea"/>
              </a:rPr>
              <a:t>，</a:t>
            </a:r>
            <a:r>
              <a:rPr lang="en-US" altLang="zh-CN" sz="2000" dirty="0" smtClean="0">
                <a:sym typeface="+mn-ea"/>
              </a:rPr>
              <a:t>15] : </a:t>
            </a:r>
            <a:endParaRPr lang="en-US" altLang="zh-CN" sz="2000" dirty="0" smtClean="0">
              <a:sym typeface="+mn-ea"/>
            </a:endParaRPr>
          </a:p>
          <a:p>
            <a:pPr algn="l"/>
            <a:r>
              <a:rPr lang="en-US" altLang="zh-CN" sz="2000" dirty="0" smtClean="0">
                <a:sym typeface="+mn-ea"/>
              </a:rPr>
              <a:t>(9, 11, 13, 15) =&gt; 001001, 001011</a:t>
            </a:r>
            <a:r>
              <a:rPr lang="zh-CN" altLang="en-US" sz="2000" dirty="0" smtClean="0">
                <a:sym typeface="+mn-ea"/>
              </a:rPr>
              <a:t>，</a:t>
            </a:r>
            <a:r>
              <a:rPr lang="en-US" altLang="zh-CN" sz="2000" dirty="0" smtClean="0">
                <a:sym typeface="+mn-ea"/>
              </a:rPr>
              <a:t>001101, </a:t>
            </a:r>
            <a:r>
              <a:rPr lang="zh-CN" altLang="en-US" sz="2000" dirty="0" smtClean="0">
                <a:sym typeface="+mn-ea"/>
              </a:rPr>
              <a:t> </a:t>
            </a:r>
            <a:r>
              <a:rPr lang="en-US" altLang="zh-CN" sz="2000" dirty="0" smtClean="0">
                <a:sym typeface="+mn-ea"/>
              </a:rPr>
              <a:t>001111 </a:t>
            </a:r>
            <a:endParaRPr lang="en-US" altLang="zh-CN" sz="2000" dirty="0" smtClean="0">
              <a:sym typeface="+mn-ea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非规格化值：</a:t>
            </a:r>
            <a:r>
              <a:rPr lang="en-US" altLang="zh-CN" dirty="0" smtClean="0">
                <a:sym typeface="+mn-ea"/>
              </a:rPr>
              <a:t> 0, 1/16, 2/16, 3/16 </a:t>
            </a:r>
            <a:endParaRPr lang="zh-CN" altLang="en-US"/>
          </a:p>
          <a:p>
            <a:r>
              <a:rPr lang="zh-CN" altLang="en-US"/>
              <a:t>规格化</a:t>
            </a:r>
            <a:r>
              <a:rPr lang="zh-CN" altLang="en-US"/>
              <a:t>值：</a:t>
            </a:r>
            <a:endParaRPr lang="zh-CN" altLang="en-US"/>
          </a:p>
          <a:p>
            <a:r>
              <a:rPr lang="zh-CN" altLang="en-US"/>
              <a:t>特殊</a:t>
            </a:r>
            <a:r>
              <a:rPr lang="zh-CN" altLang="en-US"/>
              <a:t>值：</a:t>
            </a:r>
            <a:endParaRPr lang="zh-CN" altLang="en-US"/>
          </a:p>
          <a:p>
            <a:pPr lvl="1"/>
            <a:r>
              <a:rPr lang="zh-CN" altLang="en-US"/>
              <a:t>各</a:t>
            </a:r>
            <a:r>
              <a:rPr lang="zh-CN" altLang="en-US"/>
              <a:t>有多少个？</a:t>
            </a:r>
            <a:r>
              <a:rPr lang="en-US" altLang="zh-CN"/>
              <a:t>6</a:t>
            </a:r>
            <a:r>
              <a:rPr lang="zh-CN" altLang="en-US"/>
              <a:t>位浮点表示范围与</a:t>
            </a:r>
            <a:r>
              <a:rPr lang="en-US" altLang="zh-CN"/>
              <a:t>6</a:t>
            </a:r>
            <a:r>
              <a:rPr lang="zh-CN" altLang="en-US"/>
              <a:t>位整数补码表示范围的区别？</a:t>
            </a:r>
            <a:endParaRPr lang="zh-CN" altLang="en-US"/>
          </a:p>
        </p:txBody>
      </p:sp>
      <p:graphicFrame>
        <p:nvGraphicFramePr>
          <p:cNvPr id="4" name="Group 9"/>
          <p:cNvGraphicFramePr>
            <a:graphicFrameLocks noGrp="1"/>
          </p:cNvGraphicFramePr>
          <p:nvPr/>
        </p:nvGraphicFramePr>
        <p:xfrm>
          <a:off x="6858000" y="76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222500" y="3352800"/>
            <a:ext cx="7546975" cy="2221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800" dirty="0" err="1" smtClean="0">
                <a:sym typeface="+mn-ea"/>
              </a:rPr>
              <a:t>非规格化（</a:t>
            </a:r>
            <a:r>
              <a:rPr lang="en-US" altLang="zh-CN" sz="1800" dirty="0" err="1" smtClean="0">
                <a:sym typeface="+mn-ea"/>
              </a:rPr>
              <a:t>4</a:t>
            </a:r>
            <a:r>
              <a:rPr lang="zh-CN" altLang="en-US" sz="1800" dirty="0" err="1" smtClean="0">
                <a:sym typeface="+mn-ea"/>
              </a:rPr>
              <a:t>个）</a:t>
            </a:r>
            <a:r>
              <a:rPr lang="en-US" altLang="zh-CN" sz="1800" dirty="0" smtClean="0">
                <a:sym typeface="+mn-ea"/>
              </a:rPr>
              <a:t>: 0, 1/16, 2/16, 3/16                </a:t>
            </a:r>
            <a:endParaRPr lang="en-US" altLang="zh-CN" sz="1800" dirty="0" smtClean="0">
              <a:sym typeface="+mn-ea"/>
            </a:endParaRPr>
          </a:p>
          <a:p>
            <a:pPr algn="l"/>
            <a:r>
              <a:rPr lang="zh-CN" altLang="en-US" sz="1800" dirty="0" err="1" smtClean="0">
                <a:sym typeface="+mn-ea"/>
              </a:rPr>
              <a:t>规格化（</a:t>
            </a:r>
            <a:r>
              <a:rPr lang="en-US" altLang="zh-CN" sz="1800" dirty="0" err="1" smtClean="0">
                <a:sym typeface="+mn-ea"/>
              </a:rPr>
              <a:t>24</a:t>
            </a:r>
            <a:r>
              <a:rPr lang="zh-CN" altLang="en-US" sz="1800" dirty="0" err="1" smtClean="0">
                <a:sym typeface="+mn-ea"/>
              </a:rPr>
              <a:t>个）</a:t>
            </a:r>
            <a:r>
              <a:rPr lang="en-US" altLang="zh-CN" sz="1800" dirty="0" smtClean="0">
                <a:sym typeface="+mn-ea"/>
              </a:rPr>
              <a:t>:    4/16, 5/16, 6/16, 7/16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4/8, 5/8, 6/8, 7/8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1, 5/4, 6/4, 7/4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2, 5/2, 6/2, 7/2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4, 5, 6, 7</a:t>
            </a:r>
            <a:endParaRPr lang="en-US" altLang="zh-CN" sz="1800" baseline="0" dirty="0" smtClean="0"/>
          </a:p>
          <a:p>
            <a:pPr algn="l"/>
            <a:r>
              <a:rPr lang="en-US" altLang="zh-CN" sz="1800" dirty="0" smtClean="0">
                <a:sym typeface="+mn-ea"/>
              </a:rPr>
              <a:t>	8, 10, 12, 14</a:t>
            </a:r>
            <a:endParaRPr lang="en-US" altLang="zh-CN" sz="1800" baseline="0" dirty="0" smtClean="0"/>
          </a:p>
          <a:p>
            <a:pPr algn="l"/>
            <a:r>
              <a:rPr lang="zh-CN" altLang="en-US" sz="1800" dirty="0" smtClean="0">
                <a:sym typeface="+mn-ea"/>
              </a:rPr>
              <a:t>特殊值（</a:t>
            </a:r>
            <a:r>
              <a:rPr lang="en-US" altLang="zh-CN" sz="1800" dirty="0" smtClean="0">
                <a:sym typeface="+mn-ea"/>
              </a:rPr>
              <a:t>2</a:t>
            </a:r>
            <a:r>
              <a:rPr lang="zh-CN" altLang="en-US" sz="1800" dirty="0" smtClean="0">
                <a:sym typeface="+mn-ea"/>
              </a:rPr>
              <a:t>个</a:t>
            </a:r>
            <a:r>
              <a:rPr lang="zh-CN" altLang="en-US" sz="1800" dirty="0" smtClean="0">
                <a:ea typeface="SimSun" charset="0"/>
                <a:sym typeface="+mn-ea"/>
              </a:rPr>
              <a:t>）：</a:t>
            </a:r>
            <a:r>
              <a:rPr lang="en-US" altLang="zh-CN" sz="1800" dirty="0" smtClean="0">
                <a:sym typeface="+mn-ea"/>
              </a:rPr>
              <a:t> </a:t>
            </a:r>
            <a:r>
              <a:rPr lang="en-US" altLang="zh-CN" sz="1800" dirty="0" err="1" smtClean="0">
                <a:sym typeface="+mn-ea"/>
              </a:rPr>
              <a:t>inf</a:t>
            </a:r>
            <a:r>
              <a:rPr lang="en-US" altLang="zh-CN" sz="1800" dirty="0" smtClean="0">
                <a:sym typeface="+mn-ea"/>
              </a:rPr>
              <a:t> + </a:t>
            </a:r>
            <a:r>
              <a:rPr lang="en-US" altLang="zh-CN" sz="1800" dirty="0" err="1" smtClean="0">
                <a:sym typeface="+mn-ea"/>
              </a:rPr>
              <a:t>NaN</a:t>
            </a:r>
            <a:endParaRPr lang="en-US" altLang="zh-CN" sz="1800" dirty="0" smtClean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9575" y="5867400"/>
            <a:ext cx="88569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dirty="0" smtClean="0">
                <a:sym typeface="+mn-ea"/>
              </a:rPr>
              <a:t>不可表示的整数范围</a:t>
            </a:r>
            <a:r>
              <a:rPr lang="en-US" altLang="zh-CN" sz="2000" dirty="0" smtClean="0">
                <a:sym typeface="+mn-ea"/>
              </a:rPr>
              <a:t>: [-16</a:t>
            </a:r>
            <a:r>
              <a:rPr lang="zh-CN" altLang="en-US" sz="2000" dirty="0" smtClean="0">
                <a:sym typeface="+mn-ea"/>
              </a:rPr>
              <a:t>，</a:t>
            </a:r>
            <a:r>
              <a:rPr lang="en-US" altLang="zh-CN" sz="2000" dirty="0" smtClean="0">
                <a:sym typeface="+mn-ea"/>
              </a:rPr>
              <a:t>15] : </a:t>
            </a:r>
            <a:endParaRPr lang="en-US" altLang="zh-CN" sz="2000" dirty="0" smtClean="0">
              <a:sym typeface="+mn-ea"/>
            </a:endParaRPr>
          </a:p>
          <a:p>
            <a:pPr algn="l"/>
            <a:r>
              <a:rPr lang="en-US" altLang="zh-CN" sz="2000" dirty="0" smtClean="0">
                <a:sym typeface="+mn-ea"/>
              </a:rPr>
              <a:t>(9, 11, 13, 15) =&gt; 001001, 001011</a:t>
            </a:r>
            <a:r>
              <a:rPr lang="zh-CN" altLang="en-US" sz="2000" dirty="0" smtClean="0">
                <a:sym typeface="+mn-ea"/>
              </a:rPr>
              <a:t>，</a:t>
            </a:r>
            <a:r>
              <a:rPr lang="en-US" altLang="zh-CN" sz="2000" dirty="0" smtClean="0">
                <a:sym typeface="+mn-ea"/>
              </a:rPr>
              <a:t>001101, </a:t>
            </a:r>
            <a:r>
              <a:rPr lang="zh-CN" altLang="en-US" sz="2000" dirty="0" smtClean="0">
                <a:sym typeface="+mn-ea"/>
              </a:rPr>
              <a:t> </a:t>
            </a:r>
            <a:r>
              <a:rPr lang="en-US" altLang="zh-CN" sz="2000" dirty="0" smtClean="0">
                <a:sym typeface="+mn-ea"/>
              </a:rPr>
              <a:t>001111 </a:t>
            </a:r>
            <a:endParaRPr lang="en-US" altLang="zh-CN" sz="2000" dirty="0" smtClean="0">
              <a:sym typeface="+mn-ea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072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浮点值的分布</a:t>
            </a:r>
            <a:r>
              <a:rPr lang="en-US"/>
              <a:t> (</a:t>
            </a:r>
            <a:r>
              <a:rPr lang="zh-CN" altLang="en-US"/>
              <a:t>放大的视图</a:t>
            </a:r>
            <a:r>
              <a:rPr lang="en-US"/>
              <a:t>)</a:t>
            </a:r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6-bit IEEE-like format (FP6)</a:t>
            </a:r>
            <a:endParaRPr lang="en-US"/>
          </a:p>
          <a:p>
            <a:pPr marL="552450" lvl="1"/>
            <a:r>
              <a:rPr lang="en-US"/>
              <a:t>e = 3 exponent bits</a:t>
            </a:r>
            <a:endParaRPr lang="en-US"/>
          </a:p>
          <a:p>
            <a:pPr marL="552450" lvl="1"/>
            <a:r>
              <a:rPr lang="en-US"/>
              <a:t>f = 2 fraction bits</a:t>
            </a:r>
            <a:endParaRPr lang="en-US"/>
          </a:p>
          <a:p>
            <a:pPr marL="552450" lvl="1"/>
            <a:r>
              <a:rPr lang="en-US"/>
              <a:t>Bias is 3</a:t>
            </a:r>
            <a:endParaRPr lang="en-US"/>
          </a:p>
        </p:txBody>
      </p:sp>
      <p:graphicFrame>
        <p:nvGraphicFramePr>
          <p:cNvPr id="30726" name="Group 6"/>
          <p:cNvGraphicFramePr>
            <a:graphicFrameLocks noGrp="1"/>
          </p:cNvGraphicFramePr>
          <p:nvPr/>
        </p:nvGraphicFramePr>
        <p:xfrm>
          <a:off x="5715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0751" name="Object 1024"/>
          <p:cNvGraphicFramePr>
            <a:graphicFrameLocks noChangeAspect="1"/>
          </p:cNvGraphicFramePr>
          <p:nvPr/>
        </p:nvGraphicFramePr>
        <p:xfrm>
          <a:off x="1928813" y="3924300"/>
          <a:ext cx="83359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5" name="Worksheet" r:id="rId1" imgW="7844155" imgH="1012825" progId="Excel.Sheet.8">
                  <p:embed/>
                </p:oleObj>
              </mc:Choice>
              <mc:Fallback>
                <p:oleObj name="Worksheet" r:id="rId1" imgW="7844155" imgH="1012825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3924300"/>
                        <a:ext cx="83359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</a:rPr>
              <a:t>拓展：大语言模型的基本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</a:rPr>
              <a:t>结构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大模型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结构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 b="1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多层线性运算</a:t>
            </a:r>
            <a:r>
              <a:rPr lang="en-US" altLang="zh-CN" b="1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+</a:t>
            </a:r>
            <a:r>
              <a:rPr lang="zh-CN" altLang="en-US" b="1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激活运算的组合</a:t>
            </a:r>
            <a:endParaRPr lang="en-US" altLang="en-US" b="1">
              <a:latin typeface="Kaiti SC Bold" panose="02010600040101010101" charset="-122"/>
              <a:ea typeface="Kaiti SC Bold" panose="02010600040101010101" charset="-122"/>
              <a:cs typeface="Kaiti SC Bold" panose="02010600040101010101" charset="-122"/>
            </a:endParaRPr>
          </a:p>
          <a:p>
            <a:pPr lvl="1"/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GPT-3 175B → 96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层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→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约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192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个线性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激活组合</a:t>
            </a:r>
            <a:endParaRPr lang="en-US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LLaMA 2 70B → 70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层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→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约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140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个线性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激活组合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0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每一层线性运算</a:t>
            </a:r>
            <a:r>
              <a:rPr lang="en-US" altLang="zh-CN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激活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运算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每一层的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参数（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W, b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决定了输入被如何映射。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激活（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h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是输入和参数交互的结果。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激活会逐层传递，最终生成模型输出。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核心计算量为</a:t>
            </a:r>
            <a:r>
              <a:rPr lang="en-US" altLang="zh-CN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：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4*L*d</a:t>
            </a:r>
            <a:r>
              <a:rPr lang="en-US" altLang="en-US" baseline="-25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model</a:t>
            </a:r>
            <a:r>
              <a:rPr lang="en-US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*​d</a:t>
            </a:r>
            <a:r>
              <a:rPr lang="en-US" altLang="en-US" baseline="-25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ff​</a:t>
            </a:r>
            <a:endParaRPr lang="en-US" altLang="en-US" baseline="-25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-9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155700"/>
            <a:ext cx="3120390" cy="543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876800"/>
            <a:ext cx="5510530" cy="1746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</a:rPr>
              <a:t>拓展：大语言模型中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</a:rPr>
              <a:t>的量化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量化是</a:t>
            </a:r>
            <a:r>
              <a:rPr lang="en-US" altLang="zh-CN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LLM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中的常见优化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将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float32</a:t>
            </a:r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变成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INT8</a:t>
            </a:r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来计算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（</a:t>
            </a:r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节省计算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、</a:t>
            </a:r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节省内存</a:t>
            </a:r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</a:t>
            </a:r>
            <a:endParaRPr lang="en-US" altLang="zh-CN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1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但是</a:t>
            </a:r>
            <a:r>
              <a:rPr lang="en-US" altLang="zh-CN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zh-CN" altLang="en-US" b="1">
                <a:latin typeface="Kaiti SC Bold" panose="02010600040101010101" charset="-122"/>
                <a:ea typeface="Kaiti SC Bold" panose="02010600040101010101" charset="-122"/>
                <a:cs typeface="Kaiti SC Regular" panose="02010600040101010101" charset="-122"/>
              </a:rPr>
              <a:t>均匀量化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（比如</a:t>
            </a:r>
            <a:r>
              <a:rPr lang="en-US" altLang="zh-CN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INT4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INT8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）显著劣化模型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性能</a:t>
            </a:r>
            <a:endParaRPr lang="zh-CN" altLang="en-US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2"/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由于孤立点的存在</a:t>
            </a:r>
            <a:endParaRPr lang="en-US" altLang="zh-CN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lvl="2"/>
            <a:endParaRPr lang="en-US" altLang="zh-CN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33800" y="2667000"/>
            <a:ext cx="5742305" cy="3295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19600" y="609790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opt1.3B</a:t>
            </a:r>
            <a:r>
              <a:rPr lang="zh-CN" altLang="en-US" sz="20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的激活值的分布</a:t>
            </a:r>
            <a:endParaRPr lang="zh-CN" altLang="en-US" sz="20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-96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>
                <a:ea typeface="Microsoft YaHei" charset="0"/>
                <a:sym typeface="+mn-ea"/>
              </a:rPr>
              <a:t>量化（激活值的量化）</a:t>
            </a:r>
            <a:endParaRPr lang="zh-CN" altLang="en-US" sz="3200">
              <a:ea typeface="Microsoft YaHei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ea typeface="Microsoft YaHei" charset="0"/>
              </a:rPr>
              <a:t>Microsoft 23</a:t>
            </a:r>
            <a:r>
              <a:rPr lang="zh-CN" altLang="en-US">
                <a:ea typeface="Microsoft YaHei" charset="0"/>
              </a:rPr>
              <a:t>年的工作</a:t>
            </a:r>
            <a:endParaRPr lang="zh-CN" altLang="en-US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</a:rPr>
              <a:t>激活</a:t>
            </a:r>
            <a:r>
              <a:rPr lang="en-US" altLang="zh-CN" sz="2400">
                <a:ea typeface="Microsoft YaHei" charset="0"/>
              </a:rPr>
              <a:t>x</a:t>
            </a:r>
            <a:r>
              <a:rPr lang="zh-CN" altLang="en-US" sz="2400">
                <a:ea typeface="Microsoft YaHei" charset="0"/>
              </a:rPr>
              <a:t>——使用</a:t>
            </a:r>
            <a:r>
              <a:rPr lang="en-US" altLang="zh-CN" sz="2400">
                <a:ea typeface="Microsoft YaHei" charset="0"/>
              </a:rPr>
              <a:t>FP8</a:t>
            </a:r>
            <a:r>
              <a:rPr lang="zh-CN" altLang="en-US" sz="2400">
                <a:ea typeface="Microsoft YaHei" charset="0"/>
              </a:rPr>
              <a:t>格式进行量化</a:t>
            </a:r>
            <a:endParaRPr lang="en-US" altLang="zh-CN">
              <a:ea typeface="Microsoft YaHei" charset="0"/>
            </a:endParaRPr>
          </a:p>
          <a:p>
            <a:pPr lvl="2"/>
            <a:r>
              <a:rPr lang="zh-CN" altLang="en-US">
                <a:ea typeface="Microsoft YaHei" charset="0"/>
              </a:rPr>
              <a:t>与值的分布一致</a:t>
            </a:r>
            <a:endParaRPr lang="zh-CN" altLang="en-US">
              <a:ea typeface="Microsoft YaHei" charset="0"/>
            </a:endParaRPr>
          </a:p>
          <a:p>
            <a:pPr lvl="2"/>
            <a:r>
              <a:rPr lang="en-US" altLang="zh-CN">
                <a:ea typeface="Microsoft YaHei" charset="0"/>
              </a:rPr>
              <a:t>H</a:t>
            </a:r>
            <a:r>
              <a:rPr lang="zh-CN" altLang="en-US">
                <a:ea typeface="Microsoft YaHei" charset="0"/>
              </a:rPr>
              <a:t>100 NVIDIA硬件支持</a:t>
            </a:r>
            <a:endParaRPr lang="zh-CN" altLang="en-US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</a:rPr>
              <a:t>参数</a:t>
            </a:r>
            <a:r>
              <a:rPr lang="en-US" altLang="zh-CN" sz="2400">
                <a:ea typeface="Microsoft YaHei" charset="0"/>
              </a:rPr>
              <a:t>w</a:t>
            </a:r>
            <a:r>
              <a:rPr lang="zh-CN" altLang="en-US" sz="2400">
                <a:ea typeface="Microsoft YaHei" charset="0"/>
              </a:rPr>
              <a:t>——使用</a:t>
            </a:r>
            <a:r>
              <a:rPr lang="en-US" altLang="zh-CN" sz="2400">
                <a:ea typeface="Microsoft YaHei" charset="0"/>
              </a:rPr>
              <a:t>FP4</a:t>
            </a:r>
            <a:r>
              <a:rPr lang="zh-CN" altLang="en-US" sz="2400">
                <a:ea typeface="Microsoft YaHei" charset="0"/>
              </a:rPr>
              <a:t>格式进行量化</a:t>
            </a:r>
            <a:endParaRPr lang="zh-CN" altLang="en-US" sz="2400">
              <a:ea typeface="Microsoft YaHei" charset="0"/>
            </a:endParaRPr>
          </a:p>
          <a:p>
            <a:pPr lvl="2"/>
            <a:r>
              <a:rPr lang="zh-CN" altLang="en-US">
                <a:ea typeface="Microsoft YaHei" charset="0"/>
              </a:rPr>
              <a:t>计算</a:t>
            </a:r>
            <a:r>
              <a:rPr lang="en-US" altLang="zh-CN">
                <a:ea typeface="Microsoft YaHei" charset="0"/>
              </a:rPr>
              <a:t>x*w</a:t>
            </a:r>
            <a:r>
              <a:rPr lang="zh-CN" altLang="en-US">
                <a:ea typeface="Microsoft YaHei" charset="0"/>
              </a:rPr>
              <a:t>之前，</a:t>
            </a:r>
            <a:r>
              <a:rPr lang="en-US" altLang="zh-CN">
                <a:ea typeface="Microsoft YaHei" charset="0"/>
              </a:rPr>
              <a:t>FP4</a:t>
            </a:r>
            <a:r>
              <a:rPr lang="zh-CN" altLang="en-US">
                <a:ea typeface="Microsoft YaHei" charset="0"/>
              </a:rPr>
              <a:t>需要转成</a:t>
            </a:r>
            <a:r>
              <a:rPr lang="en-US" altLang="zh-CN">
                <a:ea typeface="Microsoft YaHei" charset="0"/>
              </a:rPr>
              <a:t>FP8</a:t>
            </a:r>
            <a:endParaRPr lang="en-US" altLang="zh-CN">
              <a:ea typeface="Microsoft YaHei" charset="0"/>
            </a:endParaRPr>
          </a:p>
          <a:p>
            <a:pPr lvl="2"/>
            <a:r>
              <a:rPr lang="zh-CN" altLang="en-US">
                <a:ea typeface="Microsoft YaHei" charset="0"/>
              </a:rPr>
              <a:t>优化转换过程的速度</a:t>
            </a:r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zh-CN" altLang="en-US">
              <a:ea typeface="Microsoft YaHei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1200" y="4419600"/>
            <a:ext cx="79057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16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+mn-ea"/>
              </a:rPr>
              <a:t>From Microsoft: </a:t>
            </a:r>
            <a:endParaRPr lang="zh-CN" altLang="en-US" sz="160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16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Xiaoxia Wu, Zhewei Yao, Yuxiong He:</a:t>
            </a:r>
            <a:r>
              <a:rPr lang="en-US" altLang="zh-CN" sz="16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 </a:t>
            </a:r>
            <a:r>
              <a:rPr lang="zh-CN" altLang="en-US" sz="16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ZeroQuant-FP: A Leap Forward in LLMs Post-Training W4A8 Quantization Using Floating-Point Formats. CoRR abs/2307.09782 (2023)</a:t>
            </a:r>
            <a:r>
              <a:rPr lang="en-US" altLang="zh-CN" sz="16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 </a:t>
            </a:r>
            <a:endParaRPr lang="en-US" altLang="zh-CN" sz="160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981200" y="5791200"/>
            <a:ext cx="79057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sz="2400">
                <a:solidFill>
                  <a:srgbClr val="00B05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Can we do better work than Microsoft?</a:t>
            </a:r>
            <a:endParaRPr lang="en-US" sz="2400">
              <a:solidFill>
                <a:srgbClr val="00B050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pPr algn="just"/>
            <a:r>
              <a:rPr lang="en-US" sz="2400">
                <a:solidFill>
                  <a:srgbClr val="00B05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Any ideas?</a:t>
            </a:r>
            <a:endParaRPr lang="en-US" sz="2400">
              <a:solidFill>
                <a:srgbClr val="00B050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-96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Deepseek</a:t>
            </a:r>
            <a:r>
              <a:rPr lang="zh-CN" altLang="en-US"/>
              <a:t>使用的</a:t>
            </a:r>
            <a:r>
              <a:rPr lang="zh-CN" altLang="en-US"/>
              <a:t>格式</a:t>
            </a:r>
            <a:endParaRPr lang="zh-C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28800" y="1295400"/>
            <a:ext cx="5712460" cy="507619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-96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277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>
                <a:latin typeface="楷体_GB2312" charset="0"/>
                <a:ea typeface="楷体_GB2312" charset="0"/>
              </a:rPr>
              <a:t>浮点数的</a:t>
            </a:r>
            <a:r>
              <a:rPr lang="zh-CN" altLang="en-US" dirty="0">
                <a:latin typeface="楷体_GB2312" charset="0"/>
                <a:ea typeface="楷体_GB2312" charset="0"/>
              </a:rPr>
              <a:t>特性</a:t>
            </a:r>
            <a:endParaRPr lang="zh-CN" altLang="en-US" dirty="0">
              <a:latin typeface="楷体_GB2312" charset="0"/>
              <a:ea typeface="楷体_GB2312" charset="0"/>
            </a:endParaRP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浮点数</a:t>
            </a:r>
            <a:r>
              <a:rPr lang="en-US" altLang="zh-CN" dirty="0"/>
              <a:t>0.0</a:t>
            </a:r>
            <a:r>
              <a:rPr lang="zh-CN" altLang="en-US" dirty="0"/>
              <a:t>跟整数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zh-CN" altLang="en-US" dirty="0">
                <a:sym typeface="+mn-ea"/>
              </a:rPr>
              <a:t>二进制表示一样</a:t>
            </a:r>
            <a:endParaRPr lang="en-US" dirty="0"/>
          </a:p>
          <a:p>
            <a:pPr marL="552450" lvl="1"/>
            <a:r>
              <a:rPr lang="en-US" dirty="0"/>
              <a:t>All bits = 0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几乎</a:t>
            </a:r>
            <a:r>
              <a:rPr lang="zh-CN" altLang="en-US" dirty="0"/>
              <a:t>可以</a:t>
            </a:r>
            <a:r>
              <a:rPr lang="zh-CN" altLang="en-US" dirty="0"/>
              <a:t>复用无符号整数比较的逻辑</a:t>
            </a:r>
            <a:endParaRPr lang="en-US" dirty="0"/>
          </a:p>
          <a:p>
            <a:pPr marL="552450" lvl="1"/>
            <a:r>
              <a:rPr lang="zh-CN" altLang="en-US" dirty="0"/>
              <a:t>必须先比较符号位</a:t>
            </a:r>
            <a:endParaRPr lang="en-US" dirty="0"/>
          </a:p>
          <a:p>
            <a:pPr marL="552450" lvl="1"/>
            <a:r>
              <a:rPr lang="zh-CN" altLang="en-US" dirty="0"/>
              <a:t>必须考虑</a:t>
            </a:r>
            <a:r>
              <a:rPr lang="en-US" dirty="0"/>
              <a:t> </a:t>
            </a:r>
            <a:r>
              <a:rPr lang="en-US" dirty="0" smtClean="0"/>
              <a:t>−0 </a:t>
            </a:r>
            <a:r>
              <a:rPr lang="en-US" dirty="0"/>
              <a:t>= 0</a:t>
            </a:r>
            <a:endParaRPr lang="en-US" dirty="0"/>
          </a:p>
          <a:p>
            <a:pPr marL="552450" lvl="1"/>
            <a:r>
              <a:rPr lang="en-US" dirty="0" err="1"/>
              <a:t>NaNs</a:t>
            </a:r>
            <a:r>
              <a:rPr lang="zh-CN" altLang="en-US" dirty="0" err="1"/>
              <a:t>优点棘手</a:t>
            </a:r>
            <a:endParaRPr lang="en-US" dirty="0"/>
          </a:p>
          <a:p>
            <a:pPr marL="838200" lvl="2"/>
            <a:r>
              <a:rPr lang="zh-CN" altLang="en-US" dirty="0"/>
              <a:t>当成无符号比较的话</a:t>
            </a:r>
            <a:r>
              <a:rPr lang="en-US" altLang="zh-CN" dirty="0"/>
              <a:t>，</a:t>
            </a:r>
            <a:r>
              <a:rPr lang="zh-CN" altLang="en-US" dirty="0"/>
              <a:t>会比其他值都大</a:t>
            </a:r>
            <a:endParaRPr lang="en-US" dirty="0"/>
          </a:p>
          <a:p>
            <a:pPr marL="838200" lvl="2"/>
            <a:r>
              <a:rPr lang="en-US" dirty="0"/>
              <a:t>What should comparison yield?</a:t>
            </a:r>
            <a:endParaRPr lang="en-US" dirty="0"/>
          </a:p>
          <a:p>
            <a:pPr marL="552450" lvl="1"/>
            <a:r>
              <a:rPr lang="en-US" dirty="0"/>
              <a:t> </a:t>
            </a:r>
            <a:r>
              <a:rPr lang="zh-CN" altLang="en-US" dirty="0"/>
              <a:t>其余情况可以</a:t>
            </a:r>
            <a:r>
              <a:rPr lang="zh-CN" altLang="en-US" dirty="0"/>
              <a:t>等同无符号整数比较</a:t>
            </a:r>
            <a:endParaRPr lang="en-US" dirty="0"/>
          </a:p>
          <a:p>
            <a:pPr marL="838200" lvl="2"/>
            <a:r>
              <a:rPr lang="zh-CN" altLang="en-US" dirty="0" err="1"/>
              <a:t>非规格化数</a:t>
            </a:r>
            <a:r>
              <a:rPr lang="en-US" altLang="zh-CN" dirty="0" err="1"/>
              <a:t> </a:t>
            </a:r>
            <a:r>
              <a:rPr lang="zh-CN" altLang="en-US" dirty="0" err="1"/>
              <a:t>小于规格化数（规格化数的</a:t>
            </a:r>
            <a:r>
              <a:rPr lang="en-US" altLang="zh-CN" dirty="0" err="1"/>
              <a:t>exp</a:t>
            </a:r>
            <a:r>
              <a:rPr lang="zh-CN" altLang="en-US" dirty="0" err="1"/>
              <a:t>编码更大）</a:t>
            </a:r>
            <a:endParaRPr lang="en-US" dirty="0"/>
          </a:p>
          <a:p>
            <a:pPr marL="838200" lvl="2"/>
            <a:r>
              <a:rPr lang="zh-CN" altLang="en-US" dirty="0"/>
              <a:t>规格化数</a:t>
            </a:r>
            <a:r>
              <a:rPr lang="en-US" dirty="0"/>
              <a:t> </a:t>
            </a:r>
            <a:r>
              <a:rPr lang="zh-CN" altLang="en-US" dirty="0"/>
              <a:t>小于</a:t>
            </a:r>
            <a:r>
              <a:rPr lang="en-US" altLang="zh-CN" dirty="0"/>
              <a:t> </a:t>
            </a:r>
            <a:r>
              <a:rPr lang="zh-CN" altLang="en-US" dirty="0"/>
              <a:t>无穷（无穷的</a:t>
            </a:r>
            <a:r>
              <a:rPr lang="en-US" altLang="zh-CN" dirty="0"/>
              <a:t>exp</a:t>
            </a:r>
            <a:r>
              <a:rPr lang="zh-CN" altLang="en-US" dirty="0"/>
              <a:t>编码更大）</a:t>
            </a:r>
            <a:endParaRPr lang="en-US" dirty="0" smtClean="0"/>
          </a:p>
          <a:p>
            <a:pPr marL="552450" lvl="1"/>
            <a:r>
              <a:rPr lang="zh-CN" altLang="en-US" dirty="0" smtClean="0">
                <a:solidFill>
                  <a:srgbClr val="00B050"/>
                </a:solidFill>
              </a:rPr>
              <a:t>好处</a:t>
            </a:r>
            <a:r>
              <a:rPr lang="en-US" dirty="0" smtClean="0">
                <a:solidFill>
                  <a:srgbClr val="00B050"/>
                </a:solidFill>
              </a:rPr>
              <a:t>?</a:t>
            </a:r>
            <a:endParaRPr lang="en-US" dirty="0" smtClean="0">
              <a:solidFill>
                <a:srgbClr val="00B050"/>
              </a:solidFill>
            </a:endParaRPr>
          </a:p>
          <a:p>
            <a:pPr marL="838200" lvl="2"/>
            <a:r>
              <a:rPr lang="zh-CN" altLang="en-US" dirty="0" smtClean="0">
                <a:solidFill>
                  <a:srgbClr val="00B050"/>
                </a:solidFill>
              </a:rPr>
              <a:t>不需要专门设计复杂的浮点</a:t>
            </a:r>
            <a:r>
              <a:rPr lang="zh-CN" altLang="en-US" dirty="0" smtClean="0">
                <a:solidFill>
                  <a:srgbClr val="00B050"/>
                </a:solidFill>
              </a:rPr>
              <a:t>比较逻辑</a:t>
            </a:r>
            <a:endParaRPr lang="zh-CN" altLang="en-US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Today: Floating Point</a:t>
            </a: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Rounding, addition, multiplication</a:t>
            </a:r>
            <a:r>
              <a:rPr lang="zh-CN" altLang="en-US">
                <a:latin typeface="Kaiti SC Regular" panose="02010600040101010101" charset="-122"/>
                <a:ea typeface="Kaiti SC Regular" panose="02010600040101010101" charset="-122"/>
                <a:cs typeface="Times New Roman Regular" panose="02020603050405020304" charset="0"/>
              </a:rPr>
              <a:t>浮点数的舍入和运算</a:t>
            </a:r>
            <a:endParaRPr lang="en-US">
              <a:latin typeface="Kaiti SC Regular" panose="02010600040101010101" charset="-122"/>
              <a:ea typeface="Kaiti SC Regular" panose="02010600040101010101" charset="-122"/>
            </a:endParaRP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Summary</a:t>
            </a:r>
            <a:endParaRPr lang="en-US">
              <a:solidFill>
                <a:srgbClr val="B3B3B3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浮点运算</a:t>
            </a:r>
            <a:r>
              <a:rPr lang="en-US"/>
              <a:t>: </a:t>
            </a:r>
            <a:r>
              <a:rPr lang="zh-CN" altLang="en-US"/>
              <a:t>基本</a:t>
            </a:r>
            <a:r>
              <a:rPr lang="zh-CN" altLang="en-US"/>
              <a:t>思路</a:t>
            </a:r>
            <a:endParaRPr lang="zh-CN" alt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x +</a:t>
            </a:r>
            <a:r>
              <a:rPr lang="en-US" baseline="-6000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f</a:t>
            </a:r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 y = Round(x + y)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Courier New Bold" panose="02070609020205020404" charset="0"/>
            </a:endParaRPr>
          </a:p>
          <a:p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Courier New Bold" panose="02070609020205020404" charset="0"/>
            </a:endParaRPr>
          </a:p>
          <a:p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x </a:t>
            </a:r>
            <a:r>
              <a:rPr lang="en-US" dirty="0" smtClean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Symbol"/>
              </a:rPr>
              <a:t></a:t>
            </a:r>
            <a:r>
              <a:rPr lang="en-US" baseline="-6000" dirty="0" smtClean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f</a:t>
            </a:r>
            <a:r>
              <a:rPr lang="en-US" dirty="0" smtClean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 </a:t>
            </a:r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y = Round(x </a:t>
            </a:r>
            <a:r>
              <a:rPr lang="en-US" dirty="0" smtClean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Symbol"/>
              </a:rPr>
              <a:t></a:t>
            </a:r>
            <a:r>
              <a:rPr lang="en-US" dirty="0" smtClean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 </a:t>
            </a:r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y)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Courier New Bold" panose="02070609020205020404" charset="0"/>
            </a:endParaRPr>
          </a:p>
          <a:p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基本思路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552450" lvl="1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首先，计算出精确的结果</a:t>
            </a:r>
            <a:endParaRPr lang="en-US" dirty="0">
              <a:solidFill>
                <a:srgbClr val="980002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1009650" lvl="2"/>
            <a:r>
              <a:rPr lang="zh-CN" altLang="en-US" dirty="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ourier New Bold" panose="02070609020205020404" charset="0"/>
              </a:rPr>
              <a:t>如何实现？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552450" lvl="1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然后，根据浮点精度对前述结果进行舍入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838200" lvl="2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指数部分可能溢出</a:t>
            </a:r>
            <a:endParaRPr lang="zh-CN" alt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1295400" lvl="3"/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overflow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：变成全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，表示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∞</a:t>
            </a:r>
            <a:endParaRPr lang="en-US" altLang="zh-CN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1295400" lvl="3"/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underflow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：变成全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0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，表示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0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838200" lvl="2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尾数部分可能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不够</a:t>
            </a:r>
            <a:endParaRPr lang="zh-CN" alt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1295400" lvl="3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需要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  <a:cs typeface="Kaiti SC Regular" panose="02010600040101010101" charset="-122"/>
              </a:rPr>
              <a:t>舍入</a:t>
            </a:r>
            <a:endParaRPr lang="en-US" dirty="0" err="1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Courier New Bold" panose="02070609020205020404" charset="0"/>
            </a:endParaRPr>
          </a:p>
          <a:p>
            <a:pPr marL="0" lvl="0"/>
            <a:endParaRPr lang="zh-CN" altLang="en-US" dirty="0">
              <a:solidFill>
                <a:srgbClr val="00B050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Rounding</a:t>
            </a:r>
            <a:r>
              <a:rPr lang="zh-CN" altLang="en-US"/>
              <a:t>舍入</a:t>
            </a:r>
            <a:endParaRPr lang="zh-CN" alt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r>
              <a:rPr lang="zh-CN" altLang="en-US" dirty="0"/>
              <a:t>舍入模式</a:t>
            </a:r>
            <a:r>
              <a:rPr lang="en-US" dirty="0"/>
              <a:t> (</a:t>
            </a:r>
            <a:r>
              <a:rPr lang="zh-CN" altLang="en-US" dirty="0"/>
              <a:t>以美元</a:t>
            </a:r>
            <a:r>
              <a:rPr lang="en-US" dirty="0"/>
              <a:t> $ </a:t>
            </a:r>
            <a:r>
              <a:rPr lang="zh-CN" altLang="en-US" dirty="0"/>
              <a:t>的舍入为例</a:t>
            </a:r>
            <a:r>
              <a:rPr lang="en-US" dirty="0"/>
              <a:t>)</a:t>
            </a:r>
            <a:endParaRPr lang="en-US" dirty="0"/>
          </a:p>
          <a:p>
            <a:pPr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r>
              <a:rPr lang="en-US" dirty="0"/>
              <a:t>	$1.40	$1.60	$1.50	$2.50	–$1.50</a:t>
            </a:r>
            <a:endParaRPr lang="en-US" dirty="0"/>
          </a:p>
          <a:p>
            <a:pPr marL="552450" lvl="1"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r>
              <a:rPr lang="en-US" dirty="0"/>
              <a:t>Towards zero (</a:t>
            </a:r>
            <a:r>
              <a:rPr lang="en-US" dirty="0">
                <a:solidFill>
                  <a:srgbClr val="00B050"/>
                </a:solidFill>
              </a:rPr>
              <a:t>int div</a:t>
            </a:r>
            <a:r>
              <a:rPr lang="en-US" dirty="0"/>
              <a:t>)	$1	$1	$1	$2	–$1</a:t>
            </a:r>
            <a:endParaRPr lang="en-US" dirty="0"/>
          </a:p>
          <a:p>
            <a:pPr marL="552450" lvl="1"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r>
              <a:rPr lang="en-US" dirty="0"/>
              <a:t>Round down </a:t>
            </a:r>
            <a:r>
              <a:rPr lang="en-US" dirty="0" smtClean="0"/>
              <a:t>(−</a:t>
            </a:r>
            <a:r>
              <a:rPr lang="en-US" dirty="0" smtClean="0">
                <a:sym typeface="Symbol"/>
              </a:rPr>
              <a:t></a:t>
            </a:r>
            <a:r>
              <a:rPr lang="en-US" dirty="0" smtClean="0"/>
              <a:t>)</a:t>
            </a:r>
            <a:r>
              <a:rPr lang="en-US" dirty="0"/>
              <a:t>	$1	$1	$1	$2	–$2</a:t>
            </a:r>
            <a:endParaRPr lang="en-US" dirty="0"/>
          </a:p>
          <a:p>
            <a:pPr marL="552450" lvl="1"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r>
              <a:rPr lang="en-US" dirty="0"/>
              <a:t>Round up </a:t>
            </a:r>
            <a:r>
              <a:rPr lang="en-US" dirty="0" smtClean="0"/>
              <a:t>(+</a:t>
            </a:r>
            <a:r>
              <a:rPr lang="en-US" dirty="0" smtClean="0">
                <a:sym typeface="Symbol"/>
              </a:rPr>
              <a:t></a:t>
            </a:r>
            <a:r>
              <a:rPr lang="en-US" dirty="0" smtClean="0"/>
              <a:t>) </a:t>
            </a:r>
            <a:r>
              <a:rPr lang="en-US" dirty="0"/>
              <a:t>	$2	$2	$2	$3	–$1</a:t>
            </a:r>
            <a:endParaRPr lang="en-US" dirty="0"/>
          </a:p>
          <a:p>
            <a:pPr marL="552450" lvl="1"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r>
              <a:rPr lang="en-US" dirty="0">
                <a:solidFill>
                  <a:srgbClr val="00B050"/>
                </a:solidFill>
              </a:rPr>
              <a:t>Nearest Even</a:t>
            </a:r>
            <a:r>
              <a:rPr lang="en-US" dirty="0"/>
              <a:t> (default)	$1	$2	$2	$2	–$2</a:t>
            </a:r>
            <a:endParaRPr lang="en-US" dirty="0"/>
          </a:p>
          <a:p>
            <a:pPr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endParaRPr lang="en-US" dirty="0" smtClean="0"/>
          </a:p>
          <a:p>
            <a:pPr>
              <a:tabLst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  <a:tab pos="3146425" algn="l"/>
                <a:tab pos="4152900" algn="l"/>
                <a:tab pos="5157470" algn="l"/>
                <a:tab pos="6163945" algn="l"/>
                <a:tab pos="7169150" algn="l"/>
              </a:tabLst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 dirty="0"/>
              <a:t>Closer Look at Round-To-Even</a:t>
            </a:r>
            <a:r>
              <a:rPr lang="zh-CN" altLang="en-US" sz="3200" dirty="0"/>
              <a:t>偶数舍入</a:t>
            </a:r>
            <a:endParaRPr lang="zh-CN" altLang="en-US" sz="3200" dirty="0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1219200"/>
            <a:ext cx="8382000" cy="5435600"/>
          </a:xfrm>
        </p:spPr>
        <p:txBody>
          <a:bodyPr/>
          <a:lstStyle/>
          <a:p>
            <a:r>
              <a:rPr lang="zh-CN" altLang="en-US" dirty="0"/>
              <a:t>默认舍入模式——偶数舍入</a:t>
            </a:r>
            <a:endParaRPr lang="en-US" dirty="0"/>
          </a:p>
          <a:p>
            <a:pPr marL="552450" lvl="1"/>
            <a:r>
              <a:rPr lang="en-US" dirty="0"/>
              <a:t>Hard to get any other kind without dropping into assembly</a:t>
            </a:r>
            <a:endParaRPr lang="en-US" dirty="0"/>
          </a:p>
          <a:p>
            <a:pPr marL="552450" lvl="1"/>
            <a:r>
              <a:rPr lang="en-US" dirty="0">
                <a:solidFill>
                  <a:srgbClr val="00B050"/>
                </a:solidFill>
              </a:rPr>
              <a:t>All others are statistically biased</a:t>
            </a:r>
            <a:endParaRPr lang="en-US" dirty="0">
              <a:solidFill>
                <a:srgbClr val="00B050"/>
              </a:solidFill>
            </a:endParaRPr>
          </a:p>
          <a:p>
            <a:pPr marL="838200" lvl="2"/>
            <a:r>
              <a:rPr lang="en-US" dirty="0"/>
              <a:t>Sum of set of positive numbers will consistently be over- or under- estimated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舍入</a:t>
            </a:r>
            <a:r>
              <a:rPr lang="en-US" altLang="zh-CN" dirty="0"/>
              <a:t>10</a:t>
            </a:r>
            <a:r>
              <a:rPr lang="zh-CN" altLang="en-US" dirty="0"/>
              <a:t>进制小数</a:t>
            </a:r>
            <a:endParaRPr lang="en-US" dirty="0"/>
          </a:p>
          <a:p>
            <a:pPr marL="552450" lvl="1"/>
            <a:r>
              <a:rPr lang="zh-CN" altLang="en-US" dirty="0">
                <a:solidFill>
                  <a:srgbClr val="00B050"/>
                </a:solidFill>
              </a:rPr>
              <a:t>如果需要舍去的部分，刚好是一半</a:t>
            </a:r>
            <a:endParaRPr lang="en-US" dirty="0">
              <a:solidFill>
                <a:srgbClr val="00B050"/>
              </a:solidFill>
            </a:endParaRPr>
          </a:p>
          <a:p>
            <a:pPr marL="838200" lvl="2"/>
            <a:r>
              <a:rPr lang="zh-CN" altLang="en-US" dirty="0">
                <a:solidFill>
                  <a:srgbClr val="00B050"/>
                </a:solidFill>
              </a:rPr>
              <a:t>舍入时，让保留的最低位为偶数</a:t>
            </a:r>
            <a:endParaRPr lang="zh-CN" altLang="en-US" dirty="0">
              <a:solidFill>
                <a:srgbClr val="00B050"/>
              </a:solidFill>
            </a:endParaRPr>
          </a:p>
          <a:p>
            <a:pPr marL="381000" lvl="1"/>
            <a:r>
              <a:rPr lang="zh-CN" altLang="en-US" dirty="0"/>
              <a:t>例子：舍入到百分位（保留</a:t>
            </a:r>
            <a:r>
              <a:rPr lang="en-US" altLang="zh-CN" dirty="0"/>
              <a:t>2</a:t>
            </a:r>
            <a:r>
              <a:rPr lang="zh-CN" altLang="en-US" dirty="0"/>
              <a:t>位小数）</a:t>
            </a:r>
            <a:endParaRPr lang="en-US" dirty="0"/>
          </a:p>
          <a:p>
            <a:pPr marL="838200" lvl="2">
              <a:buNone/>
            </a:pPr>
            <a:r>
              <a:rPr lang="en-US" dirty="0" smtClean="0"/>
              <a:t>	7.89</a:t>
            </a:r>
            <a:r>
              <a:rPr lang="en-US" u="sng" dirty="0" smtClean="0"/>
              <a:t>49999</a:t>
            </a:r>
            <a:r>
              <a:rPr lang="en-US" dirty="0"/>
              <a:t>	</a:t>
            </a:r>
            <a:r>
              <a:rPr lang="en-US" dirty="0" smtClean="0"/>
              <a:t>7.89</a:t>
            </a:r>
            <a:r>
              <a:rPr lang="en-US" dirty="0"/>
              <a:t>	(</a:t>
            </a:r>
            <a:r>
              <a:rPr lang="zh-CN" altLang="en-US" dirty="0"/>
              <a:t>小于一半</a:t>
            </a:r>
            <a:r>
              <a:rPr lang="en-US" dirty="0"/>
              <a:t>)</a:t>
            </a:r>
            <a:endParaRPr lang="en-US" dirty="0"/>
          </a:p>
          <a:p>
            <a:pPr marL="838200" lvl="2">
              <a:buNone/>
            </a:pPr>
            <a:r>
              <a:rPr lang="en-US" dirty="0" smtClean="0"/>
              <a:t>	7.89</a:t>
            </a:r>
            <a:r>
              <a:rPr lang="en-US" u="sng" dirty="0" smtClean="0"/>
              <a:t>50001</a:t>
            </a:r>
            <a:r>
              <a:rPr lang="en-US" dirty="0"/>
              <a:t>	</a:t>
            </a:r>
            <a:r>
              <a:rPr lang="en-US" dirty="0" smtClean="0"/>
              <a:t>7.90</a:t>
            </a:r>
            <a:r>
              <a:rPr lang="en-US" dirty="0"/>
              <a:t>	(</a:t>
            </a:r>
            <a:r>
              <a:rPr lang="zh-CN" altLang="en-US" dirty="0"/>
              <a:t>大于一半</a:t>
            </a:r>
            <a:r>
              <a:rPr lang="en-US" dirty="0"/>
              <a:t>)</a:t>
            </a:r>
            <a:endParaRPr lang="en-US" dirty="0"/>
          </a:p>
          <a:p>
            <a:pPr marL="838200" lvl="2">
              <a:buNone/>
            </a:pPr>
            <a:r>
              <a:rPr lang="en-US" dirty="0" smtClean="0"/>
              <a:t>	7.89</a:t>
            </a:r>
            <a:r>
              <a:rPr lang="en-US" u="sng" dirty="0" smtClean="0"/>
              <a:t>50000</a:t>
            </a:r>
            <a:r>
              <a:rPr lang="en-US" dirty="0"/>
              <a:t>	</a:t>
            </a:r>
            <a:r>
              <a:rPr lang="en-US" dirty="0" smtClean="0"/>
              <a:t>7.90</a:t>
            </a:r>
            <a:r>
              <a:rPr lang="en-US" dirty="0"/>
              <a:t>	(</a:t>
            </a:r>
            <a:r>
              <a:rPr lang="zh-CN" altLang="en-US" dirty="0"/>
              <a:t>刚好一半</a:t>
            </a:r>
            <a:r>
              <a:rPr lang="en-US" dirty="0"/>
              <a:t>—</a:t>
            </a:r>
            <a:r>
              <a:rPr lang="zh-CN" altLang="en-US" dirty="0"/>
              <a:t>向上舍入</a:t>
            </a:r>
            <a:r>
              <a:rPr lang="en-US" dirty="0"/>
              <a:t>)</a:t>
            </a:r>
            <a:endParaRPr lang="en-US" dirty="0"/>
          </a:p>
          <a:p>
            <a:pPr marL="838200" lvl="2">
              <a:buNone/>
            </a:pPr>
            <a:r>
              <a:rPr lang="en-US" dirty="0" smtClean="0"/>
              <a:t>	7.88</a:t>
            </a:r>
            <a:r>
              <a:rPr lang="en-US" u="sng" dirty="0" smtClean="0"/>
              <a:t>50000</a:t>
            </a:r>
            <a:r>
              <a:rPr lang="en-US" dirty="0"/>
              <a:t>	</a:t>
            </a:r>
            <a:r>
              <a:rPr lang="en-US" dirty="0" smtClean="0"/>
              <a:t>7.88</a:t>
            </a:r>
            <a:r>
              <a:rPr lang="en-US" dirty="0"/>
              <a:t>	(</a:t>
            </a:r>
            <a:r>
              <a:rPr lang="zh-CN" altLang="en-US" dirty="0">
                <a:sym typeface="+mn-ea"/>
              </a:rPr>
              <a:t>刚好一半</a:t>
            </a:r>
            <a:r>
              <a:rPr lang="en-US" dirty="0">
                <a:sym typeface="+mn-ea"/>
              </a:rPr>
              <a:t>—</a:t>
            </a:r>
            <a:r>
              <a:rPr lang="zh-CN" altLang="en-US" dirty="0">
                <a:sym typeface="+mn-ea"/>
              </a:rPr>
              <a:t>向</a:t>
            </a:r>
            <a:r>
              <a:rPr lang="zh-CN" altLang="en-US" dirty="0">
                <a:sym typeface="+mn-ea"/>
              </a:rPr>
              <a:t>下舍入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舍入二进制</a:t>
            </a:r>
            <a:r>
              <a:rPr lang="zh-CN" altLang="en-US"/>
              <a:t>小数</a:t>
            </a:r>
            <a:endParaRPr lang="zh-CN" alt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zh-CN" altLang="en-US" dirty="0"/>
              <a:t>二进制小数</a:t>
            </a:r>
            <a:endParaRPr lang="en-US" dirty="0"/>
          </a:p>
          <a:p>
            <a:pPr marL="552450" lvl="1"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/>
              <a:t>“</a:t>
            </a:r>
            <a:r>
              <a:rPr lang="zh-CN" altLang="en-US" dirty="0"/>
              <a:t>偶数</a:t>
            </a:r>
            <a:r>
              <a:rPr lang="en-US" dirty="0"/>
              <a:t>” </a:t>
            </a:r>
            <a:r>
              <a:rPr lang="zh-CN" altLang="en-US" dirty="0"/>
              <a:t>意味着最低保留位为</a:t>
            </a:r>
            <a:r>
              <a:rPr lang="en-US" altLang="zh-CN" dirty="0"/>
              <a:t>0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 marL="552450" lvl="1"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/>
              <a:t>“</a:t>
            </a:r>
            <a:r>
              <a:rPr lang="zh-CN" altLang="en-US" dirty="0"/>
              <a:t>一半</a:t>
            </a:r>
            <a:r>
              <a:rPr lang="en-US" dirty="0"/>
              <a:t>” </a:t>
            </a:r>
            <a:r>
              <a:rPr lang="zh-CN" altLang="en-US" dirty="0"/>
              <a:t>意味着舍去的小数</a:t>
            </a:r>
            <a:r>
              <a:rPr lang="en-US" dirty="0"/>
              <a:t> = 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100…</a:t>
            </a:r>
            <a:r>
              <a:rPr lang="en-US" sz="1800" b="1" baseline="-60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endParaRPr lang="en-US" dirty="0"/>
          </a:p>
          <a:p>
            <a:pPr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zh-CN" altLang="en-US" dirty="0"/>
              <a:t>例子</a:t>
            </a:r>
            <a:endParaRPr lang="en-US" dirty="0"/>
          </a:p>
          <a:p>
            <a:pPr marL="552450" lvl="1"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zh-CN" altLang="en-US" dirty="0"/>
              <a:t>舍入到最近的</a:t>
            </a:r>
            <a:r>
              <a:rPr lang="en-US" dirty="0"/>
              <a:t> 1/4 (</a:t>
            </a:r>
            <a:r>
              <a:rPr lang="zh-CN" altLang="en-US" dirty="0"/>
              <a:t>小数点后</a:t>
            </a:r>
            <a:r>
              <a:rPr lang="en-US" altLang="zh-CN" dirty="0"/>
              <a:t>2</a:t>
            </a:r>
            <a:r>
              <a:rPr lang="zh-CN" altLang="en-US" dirty="0"/>
              <a:t>位</a:t>
            </a:r>
            <a:r>
              <a:rPr lang="en-US" dirty="0"/>
              <a:t>)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sz="1800" dirty="0"/>
              <a:t>10</a:t>
            </a:r>
            <a:r>
              <a:rPr lang="zh-CN" altLang="en-US" sz="1800" dirty="0"/>
              <a:t>进制</a:t>
            </a:r>
            <a:r>
              <a:rPr lang="en-US" sz="1800" dirty="0"/>
              <a:t>	</a:t>
            </a:r>
            <a:r>
              <a:rPr lang="zh-CN" altLang="en-US" sz="1800" dirty="0"/>
              <a:t>二进制</a:t>
            </a:r>
            <a:r>
              <a:rPr lang="en-US" sz="1800" dirty="0"/>
              <a:t>	</a:t>
            </a:r>
            <a:r>
              <a:rPr lang="zh-CN" altLang="en-US" sz="1800" dirty="0"/>
              <a:t>舍入后</a:t>
            </a:r>
            <a:r>
              <a:rPr lang="en-US" sz="1800" dirty="0"/>
              <a:t>	</a:t>
            </a:r>
            <a:r>
              <a:rPr lang="zh-CN" altLang="en-US" sz="1800" dirty="0"/>
              <a:t>动作</a:t>
            </a:r>
            <a:r>
              <a:rPr lang="en-US" sz="1800" dirty="0"/>
              <a:t>	</a:t>
            </a:r>
            <a:r>
              <a:rPr lang="zh-CN" altLang="en-US" sz="1800" dirty="0"/>
              <a:t>舍入后的</a:t>
            </a:r>
            <a:r>
              <a:rPr lang="en-US" altLang="zh-CN" sz="1800" dirty="0"/>
              <a:t>10</a:t>
            </a:r>
            <a:r>
              <a:rPr lang="zh-CN" altLang="en-US" sz="1800" dirty="0"/>
              <a:t>进制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/>
              <a:t>2 3/32	10.00</a:t>
            </a:r>
            <a:r>
              <a:rPr lang="en-US" u="sng" dirty="0">
                <a:solidFill>
                  <a:srgbClr val="980002"/>
                </a:solidFill>
              </a:rPr>
              <a:t>011</a:t>
            </a:r>
            <a:r>
              <a:rPr lang="en-US" baseline="-6000" dirty="0"/>
              <a:t>2</a:t>
            </a:r>
            <a:r>
              <a:rPr lang="en-US" dirty="0"/>
              <a:t>	10.00</a:t>
            </a:r>
            <a:r>
              <a:rPr lang="en-US" baseline="-6000" dirty="0"/>
              <a:t>2</a:t>
            </a:r>
            <a:r>
              <a:rPr lang="en-US" dirty="0"/>
              <a:t>	(&lt;1/2—down)	2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/>
              <a:t>2 3/16	10.00</a:t>
            </a:r>
            <a:r>
              <a:rPr lang="en-US" u="sng" dirty="0">
                <a:solidFill>
                  <a:srgbClr val="980002"/>
                </a:solidFill>
              </a:rPr>
              <a:t>110</a:t>
            </a:r>
            <a:r>
              <a:rPr lang="en-US" baseline="-6000" dirty="0"/>
              <a:t>2</a:t>
            </a:r>
            <a:r>
              <a:rPr lang="en-US" dirty="0"/>
              <a:t>		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/>
              <a:t>2 7/8	10.11</a:t>
            </a:r>
            <a:r>
              <a:rPr lang="en-US" u="sng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	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/>
              <a:t>2 5/8	10.10</a:t>
            </a:r>
            <a:r>
              <a:rPr lang="en-US" u="sng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	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二进制小数的</a:t>
            </a:r>
            <a:r>
              <a:rPr lang="zh-CN" altLang="en-US"/>
              <a:t>舍入</a:t>
            </a:r>
            <a:endParaRPr lang="zh-CN" alt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zh-CN" altLang="en-US" sz="2400" dirty="0">
                <a:sym typeface="+mn-ea"/>
              </a:rPr>
              <a:t>二进制小数</a:t>
            </a:r>
            <a:endParaRPr lang="en-US" sz="2400" dirty="0"/>
          </a:p>
          <a:p>
            <a:pPr marL="552450" lvl="1"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偶数</a:t>
            </a:r>
            <a:r>
              <a:rPr lang="en-US" sz="2400" dirty="0">
                <a:sym typeface="+mn-ea"/>
              </a:rPr>
              <a:t>” </a:t>
            </a:r>
            <a:r>
              <a:rPr lang="zh-CN" altLang="en-US" sz="2400" dirty="0">
                <a:sym typeface="+mn-ea"/>
              </a:rPr>
              <a:t>意味着最低保留位为</a:t>
            </a:r>
            <a:r>
              <a:rPr lang="en-US" altLang="zh-CN" sz="2400" dirty="0">
                <a:sym typeface="+mn-ea"/>
              </a:rPr>
              <a:t>0</a:t>
            </a:r>
            <a:endParaRPr lang="en-US" sz="2400" b="1" dirty="0">
              <a:latin typeface="Courier New" panose="02070609020205020404"/>
              <a:cs typeface="Courier New" panose="02070609020205020404"/>
            </a:endParaRPr>
          </a:p>
          <a:p>
            <a:pPr marL="552450" lvl="1"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一半</a:t>
            </a:r>
            <a:r>
              <a:rPr lang="en-US" sz="2400" dirty="0">
                <a:sym typeface="+mn-ea"/>
              </a:rPr>
              <a:t>” </a:t>
            </a:r>
            <a:r>
              <a:rPr lang="zh-CN" altLang="en-US" sz="2400" dirty="0">
                <a:sym typeface="+mn-ea"/>
              </a:rPr>
              <a:t>意味着舍去的小数</a:t>
            </a:r>
            <a:r>
              <a:rPr lang="en-US" sz="2400" dirty="0">
                <a:sym typeface="+mn-ea"/>
              </a:rPr>
              <a:t> = </a:t>
            </a:r>
            <a:r>
              <a:rPr lang="en-US" sz="24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100…</a:t>
            </a:r>
            <a:r>
              <a:rPr lang="en-US" sz="2400" b="1" baseline="-60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</a:t>
            </a:r>
            <a:endParaRPr lang="en-US" sz="2400" b="1" dirty="0">
              <a:latin typeface="Courier New" panose="02070609020205020404"/>
              <a:cs typeface="Courier New" panose="02070609020205020404"/>
            </a:endParaRPr>
          </a:p>
          <a:p>
            <a:pPr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endParaRPr lang="en-US" sz="2400" dirty="0"/>
          </a:p>
          <a:p>
            <a:pPr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zh-CN" altLang="en-US" sz="2400" dirty="0">
                <a:sym typeface="+mn-ea"/>
              </a:rPr>
              <a:t>例子</a:t>
            </a:r>
            <a:endParaRPr lang="en-US" sz="2400" dirty="0"/>
          </a:p>
          <a:p>
            <a:pPr marL="552450" lvl="1"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zh-CN" altLang="en-US" sz="2400" dirty="0">
                <a:sym typeface="+mn-ea"/>
              </a:rPr>
              <a:t>舍入到最近的</a:t>
            </a:r>
            <a:r>
              <a:rPr lang="en-US" sz="2400" dirty="0">
                <a:sym typeface="+mn-ea"/>
              </a:rPr>
              <a:t> 1/4 (</a:t>
            </a:r>
            <a:r>
              <a:rPr lang="zh-CN" altLang="en-US" sz="2400" dirty="0">
                <a:sym typeface="+mn-ea"/>
              </a:rPr>
              <a:t>小数点后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位</a:t>
            </a:r>
            <a:r>
              <a:rPr lang="en-US" sz="2400" dirty="0">
                <a:sym typeface="+mn-ea"/>
              </a:rPr>
              <a:t>)</a:t>
            </a:r>
            <a:endParaRPr lang="en-US" sz="2400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sz="1800" dirty="0">
                <a:sym typeface="+mn-ea"/>
              </a:rPr>
              <a:t>10</a:t>
            </a:r>
            <a:r>
              <a:rPr lang="zh-CN" altLang="en-US" sz="1800" dirty="0">
                <a:sym typeface="+mn-ea"/>
              </a:rPr>
              <a:t>进制</a:t>
            </a:r>
            <a:r>
              <a:rPr lang="en-US" sz="1800" dirty="0">
                <a:sym typeface="+mn-ea"/>
              </a:rPr>
              <a:t>	</a:t>
            </a:r>
            <a:r>
              <a:rPr lang="zh-CN" altLang="en-US" sz="1800" dirty="0">
                <a:sym typeface="+mn-ea"/>
              </a:rPr>
              <a:t>二进制</a:t>
            </a:r>
            <a:r>
              <a:rPr lang="en-US" sz="1800" dirty="0">
                <a:sym typeface="+mn-ea"/>
              </a:rPr>
              <a:t>	</a:t>
            </a:r>
            <a:r>
              <a:rPr lang="zh-CN" altLang="en-US" sz="1800" dirty="0">
                <a:sym typeface="+mn-ea"/>
              </a:rPr>
              <a:t>舍入后</a:t>
            </a:r>
            <a:r>
              <a:rPr lang="en-US" sz="1800" dirty="0">
                <a:sym typeface="+mn-ea"/>
              </a:rPr>
              <a:t>	</a:t>
            </a:r>
            <a:r>
              <a:rPr lang="zh-CN" altLang="en-US" sz="1800" dirty="0">
                <a:sym typeface="+mn-ea"/>
              </a:rPr>
              <a:t>动作</a:t>
            </a:r>
            <a:r>
              <a:rPr lang="en-US" sz="1800" dirty="0">
                <a:sym typeface="+mn-ea"/>
              </a:rPr>
              <a:t>	</a:t>
            </a:r>
            <a:r>
              <a:rPr lang="zh-CN" altLang="en-US" sz="1800" dirty="0">
                <a:sym typeface="+mn-ea"/>
              </a:rPr>
              <a:t>舍入后的</a:t>
            </a:r>
            <a:r>
              <a:rPr lang="en-US" altLang="zh-CN" sz="1800" dirty="0">
                <a:sym typeface="+mn-ea"/>
              </a:rPr>
              <a:t>10</a:t>
            </a:r>
            <a:r>
              <a:rPr lang="zh-CN" altLang="en-US" sz="1800" dirty="0">
                <a:sym typeface="+mn-ea"/>
              </a:rPr>
              <a:t>进制</a:t>
            </a:r>
            <a:endParaRPr lang="en-US" sz="1800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>
                <a:solidFill>
                  <a:srgbClr val="00B050"/>
                </a:solidFill>
              </a:rPr>
              <a:t>2 3/32</a:t>
            </a:r>
            <a:r>
              <a:rPr lang="en-US" dirty="0"/>
              <a:t>	10.00</a:t>
            </a:r>
            <a:r>
              <a:rPr lang="en-US" dirty="0">
                <a:solidFill>
                  <a:srgbClr val="980002"/>
                </a:solidFill>
              </a:rPr>
              <a:t>011</a:t>
            </a:r>
            <a:r>
              <a:rPr lang="en-US" baseline="-6000" dirty="0"/>
              <a:t>2</a:t>
            </a:r>
            <a:r>
              <a:rPr lang="en-US" dirty="0"/>
              <a:t>	10.00</a:t>
            </a:r>
            <a:r>
              <a:rPr lang="en-US" baseline="-6000" dirty="0"/>
              <a:t>2</a:t>
            </a:r>
            <a:r>
              <a:rPr lang="en-US" dirty="0"/>
              <a:t>	(&lt;1/2—down)	</a:t>
            </a:r>
            <a:r>
              <a:rPr lang="en-US" dirty="0">
                <a:solidFill>
                  <a:srgbClr val="00B050"/>
                </a:solidFill>
              </a:rPr>
              <a:t>2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>
                <a:solidFill>
                  <a:srgbClr val="00B050"/>
                </a:solidFill>
              </a:rPr>
              <a:t>2 3/16</a:t>
            </a:r>
            <a:r>
              <a:rPr lang="en-US" dirty="0"/>
              <a:t>	10.00</a:t>
            </a:r>
            <a:r>
              <a:rPr lang="en-US" dirty="0">
                <a:solidFill>
                  <a:srgbClr val="980002"/>
                </a:solidFill>
              </a:rPr>
              <a:t>110</a:t>
            </a:r>
            <a:r>
              <a:rPr lang="en-US" baseline="-6000" dirty="0"/>
              <a:t>2</a:t>
            </a:r>
            <a:r>
              <a:rPr lang="en-US" dirty="0"/>
              <a:t>	10.01</a:t>
            </a:r>
            <a:r>
              <a:rPr lang="en-US" baseline="-6000" dirty="0"/>
              <a:t>2</a:t>
            </a:r>
            <a:r>
              <a:rPr lang="en-US" dirty="0"/>
              <a:t>	(&gt;1/2—up)	</a:t>
            </a:r>
            <a:r>
              <a:rPr lang="en-US" dirty="0">
                <a:solidFill>
                  <a:srgbClr val="00B050"/>
                </a:solidFill>
              </a:rPr>
              <a:t>2 1/4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>
                <a:solidFill>
                  <a:srgbClr val="00B050"/>
                </a:solidFill>
              </a:rPr>
              <a:t>2 7/8</a:t>
            </a:r>
            <a:r>
              <a:rPr lang="en-US" dirty="0"/>
              <a:t>	10.11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11.00</a:t>
            </a:r>
            <a:r>
              <a:rPr lang="en-US" baseline="-6000" dirty="0"/>
              <a:t>2</a:t>
            </a:r>
            <a:r>
              <a:rPr lang="en-US" dirty="0"/>
              <a:t>	(  1/2—up)	</a:t>
            </a:r>
            <a:r>
              <a:rPr lang="en-US" dirty="0">
                <a:solidFill>
                  <a:srgbClr val="00B050"/>
                </a:solidFill>
              </a:rPr>
              <a:t>3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  <a:tab pos="1682750" algn="l"/>
                <a:tab pos="3238500" algn="l"/>
                <a:tab pos="4700270" algn="l"/>
                <a:tab pos="6621145" algn="l"/>
              </a:tabLst>
            </a:pPr>
            <a:r>
              <a:rPr lang="en-US" dirty="0">
                <a:solidFill>
                  <a:srgbClr val="00B050"/>
                </a:solidFill>
              </a:rPr>
              <a:t>2 5/8</a:t>
            </a:r>
            <a:r>
              <a:rPr lang="en-US" dirty="0"/>
              <a:t>	10.10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10.10</a:t>
            </a:r>
            <a:r>
              <a:rPr lang="en-US" baseline="-6000" dirty="0"/>
              <a:t>2</a:t>
            </a:r>
            <a:r>
              <a:rPr lang="en-US" dirty="0"/>
              <a:t>	(  1/2—down)	</a:t>
            </a:r>
            <a:r>
              <a:rPr lang="en-US" dirty="0">
                <a:solidFill>
                  <a:srgbClr val="00B050"/>
                </a:solidFill>
              </a:rPr>
              <a:t>2 1/2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FP Multiplication</a:t>
            </a:r>
            <a:r>
              <a:rPr lang="zh-CN" altLang="en-US" dirty="0"/>
              <a:t>浮点数</a:t>
            </a:r>
            <a:r>
              <a:rPr lang="zh-CN" altLang="en-US" dirty="0"/>
              <a:t>乘法</a:t>
            </a:r>
            <a:endParaRPr lang="zh-CN" altLang="en-US" dirty="0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s1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dirty="0">
                <a:solidFill>
                  <a:srgbClr val="980002"/>
                </a:solidFill>
              </a:rPr>
              <a:t>   </a:t>
            </a:r>
            <a:r>
              <a:rPr lang="zh-CN" altLang="en-US" dirty="0">
                <a:solidFill>
                  <a:srgbClr val="980002"/>
                </a:solidFill>
              </a:rPr>
              <a:t>乘以</a:t>
            </a:r>
            <a:r>
              <a:rPr lang="en-US" dirty="0">
                <a:solidFill>
                  <a:srgbClr val="980002"/>
                </a:solidFill>
              </a:rPr>
              <a:t>   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dirty="0">
              <a:solidFill>
                <a:srgbClr val="980002"/>
              </a:solidFill>
            </a:endParaRPr>
          </a:p>
          <a:p>
            <a:r>
              <a:rPr lang="zh-CN" altLang="en-US" dirty="0"/>
              <a:t>精确的值</a:t>
            </a:r>
            <a:r>
              <a:rPr lang="en-US" dirty="0"/>
              <a:t>: </a:t>
            </a: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zh-CN" altLang="en-US" dirty="0"/>
              <a:t>符号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dirty="0"/>
              <a:t>: 	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s1</a:t>
            </a:r>
            <a:r>
              <a:rPr lang="en-US" dirty="0"/>
              <a:t> ^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s2</a:t>
            </a:r>
            <a:endParaRPr lang="en-US" dirty="0"/>
          </a:p>
          <a:p>
            <a:pPr marL="552450" lvl="1"/>
            <a:r>
              <a:rPr lang="zh-CN" altLang="en-US" dirty="0" err="1"/>
              <a:t>尾数</a:t>
            </a:r>
            <a:r>
              <a:rPr lang="en-US" altLang="zh-CN" dirty="0" err="1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M1</a:t>
            </a:r>
            <a:r>
              <a:rPr lang="en-US" dirty="0"/>
              <a:t> </a:t>
            </a:r>
            <a:r>
              <a:rPr lang="en-US" dirty="0" smtClean="0"/>
              <a:t>x </a:t>
            </a:r>
            <a:r>
              <a:rPr lang="en-US" dirty="0"/>
              <a:t>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M2</a:t>
            </a:r>
            <a:endParaRPr lang="en-US" dirty="0"/>
          </a:p>
          <a:p>
            <a:pPr marL="552450" lvl="1"/>
            <a:r>
              <a:rPr lang="zh-CN" altLang="en-US" dirty="0"/>
              <a:t>指数</a:t>
            </a:r>
            <a:r>
              <a:rPr lang="en-US" altLang="zh-CN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dirty="0"/>
              <a:t> +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修正</a:t>
            </a:r>
            <a:endParaRPr lang="en-US" dirty="0"/>
          </a:p>
          <a:p>
            <a:pPr marL="552450" lvl="1"/>
            <a:r>
              <a:rPr lang="zh-CN" altLang="en-US" dirty="0"/>
              <a:t>如果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≥ 2, </a:t>
            </a:r>
            <a:r>
              <a:rPr lang="zh-CN" altLang="en-US" dirty="0"/>
              <a:t>则将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</a:t>
            </a:r>
            <a:r>
              <a:rPr lang="zh-CN" altLang="en-US" dirty="0"/>
              <a:t>右移（同步增加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zh-CN" alt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）</a:t>
            </a:r>
            <a:endParaRPr lang="en-US" dirty="0"/>
          </a:p>
          <a:p>
            <a:pPr marL="552450" lvl="1"/>
            <a:r>
              <a:rPr lang="zh-CN" altLang="en-US" dirty="0"/>
              <a:t>如果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</a:t>
            </a:r>
            <a:r>
              <a:rPr lang="zh-CN" altLang="en-US" dirty="0"/>
              <a:t>超过范围</a:t>
            </a:r>
            <a:r>
              <a:rPr lang="en-US" dirty="0"/>
              <a:t>, </a:t>
            </a:r>
            <a:r>
              <a:rPr lang="zh-CN" altLang="en-US" dirty="0"/>
              <a:t>则</a:t>
            </a:r>
            <a:r>
              <a:rPr lang="en-US" dirty="0"/>
              <a:t>overflow</a:t>
            </a:r>
            <a:r>
              <a:rPr lang="zh-CN" altLang="en-US" dirty="0"/>
              <a:t>（到全</a:t>
            </a:r>
            <a:r>
              <a:rPr lang="en-US" altLang="zh-CN" dirty="0"/>
              <a:t>1</a:t>
            </a:r>
            <a:r>
              <a:rPr lang="zh-CN" altLang="en-US" dirty="0"/>
              <a:t>，表示无穷）</a:t>
            </a:r>
            <a:r>
              <a:rPr lang="en-US" dirty="0"/>
              <a:t> </a:t>
            </a:r>
            <a:endParaRPr lang="en-US" dirty="0"/>
          </a:p>
          <a:p>
            <a:pPr marL="552450" lvl="1"/>
            <a:r>
              <a:rPr lang="zh-CN" altLang="en-US" dirty="0"/>
              <a:t>将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zh-CN" altLang="en-US" dirty="0">
                <a:sym typeface="Calibri Italic" charset="0"/>
              </a:rPr>
              <a:t>调整到</a:t>
            </a:r>
            <a:r>
              <a:rPr lang="zh-CN" altLang="en-US" dirty="0"/>
              <a:t>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r>
              <a:rPr lang="en-US" dirty="0"/>
              <a:t> </a:t>
            </a:r>
            <a:r>
              <a:rPr lang="zh-CN" altLang="en-US" dirty="0"/>
              <a:t>规定的精度</a:t>
            </a:r>
            <a:endParaRPr lang="en-US" dirty="0"/>
          </a:p>
          <a:p>
            <a:r>
              <a:rPr lang="zh-CN" altLang="en-US" dirty="0"/>
              <a:t>实现</a:t>
            </a:r>
            <a:endParaRPr lang="en-US" dirty="0"/>
          </a:p>
          <a:p>
            <a:pPr marL="552450" lvl="1"/>
            <a:r>
              <a:rPr lang="zh-CN" altLang="en-US" dirty="0"/>
              <a:t>尾数的乘法是</a:t>
            </a:r>
            <a:r>
              <a:rPr lang="zh-CN" altLang="en-US" dirty="0"/>
              <a:t>其中工作量最大的</a:t>
            </a:r>
            <a:r>
              <a:rPr lang="zh-CN" altLang="en-US" dirty="0"/>
              <a:t>部分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Floating Point Addition</a:t>
            </a:r>
            <a:r>
              <a:rPr lang="zh-CN" altLang="en-US"/>
              <a:t>浮点数</a:t>
            </a:r>
            <a:r>
              <a:rPr lang="zh-CN" altLang="en-US"/>
              <a:t>加法</a:t>
            </a:r>
            <a:endParaRPr lang="zh-CN" alt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2049145" algn="l"/>
              </a:tabLst>
            </a:pPr>
            <a:r>
              <a:rPr lang="en-US">
                <a:solidFill>
                  <a:srgbClr val="980002"/>
                </a:solidFill>
              </a:rPr>
              <a:t>(–1)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>
                <a:solidFill>
                  <a:srgbClr val="980002"/>
                </a:solidFill>
              </a:rPr>
              <a:t> </a:t>
            </a:r>
            <a:r>
              <a:rPr lang="en-US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>
                <a:solidFill>
                  <a:srgbClr val="980002"/>
                </a:solidFill>
              </a:rPr>
              <a:t>  2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>
                <a:solidFill>
                  <a:srgbClr val="980002"/>
                </a:solidFill>
              </a:rPr>
              <a:t>   +   (-1)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>
                <a:solidFill>
                  <a:srgbClr val="980002"/>
                </a:solidFill>
              </a:rPr>
              <a:t> </a:t>
            </a:r>
            <a:r>
              <a:rPr lang="en-US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>
                <a:solidFill>
                  <a:srgbClr val="980002"/>
                </a:solidFill>
              </a:rPr>
              <a:t>  2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>
              <a:solidFill>
                <a:srgbClr val="980002"/>
              </a:solidFill>
            </a:endParaRPr>
          </a:p>
          <a:p>
            <a:pPr marL="317500" lvl="1" indent="0">
              <a:tabLst>
                <a:tab pos="2049145" algn="l"/>
              </a:tabLst>
            </a:pPr>
            <a:r>
              <a:rPr lang="en-US"/>
              <a:t>Assume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/>
              <a:t> &gt;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/>
          </a:p>
          <a:p>
            <a:pPr>
              <a:tabLst>
                <a:tab pos="2049145" algn="l"/>
              </a:tabLst>
            </a:pPr>
            <a:endParaRPr lang="en-US"/>
          </a:p>
          <a:p>
            <a:pPr>
              <a:tabLst>
                <a:tab pos="2049145" algn="l"/>
              </a:tabLst>
            </a:pPr>
            <a:r>
              <a:rPr lang="zh-CN" altLang="en-US"/>
              <a:t>精确的结果</a:t>
            </a:r>
            <a:r>
              <a:rPr lang="en-US"/>
              <a:t>: </a:t>
            </a:r>
            <a:r>
              <a:rPr lang="en-US">
                <a:solidFill>
                  <a:srgbClr val="980002"/>
                </a:solidFill>
              </a:rPr>
              <a:t>(–1)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>
                <a:solidFill>
                  <a:srgbClr val="980002"/>
                </a:solidFill>
              </a:rPr>
              <a:t> </a:t>
            </a:r>
            <a:r>
              <a:rPr lang="en-US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>
                <a:solidFill>
                  <a:srgbClr val="980002"/>
                </a:solidFill>
              </a:rPr>
              <a:t>  2</a:t>
            </a:r>
            <a:r>
              <a:rPr lang="en-US" baseline="3200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/>
          </a:p>
          <a:p>
            <a:pPr marL="317500" lvl="1" indent="0">
              <a:tabLst>
                <a:tab pos="2049145" algn="l"/>
              </a:tabLst>
            </a:pPr>
            <a:r>
              <a:rPr lang="zh-CN" altLang="en-US"/>
              <a:t>对齐指数</a:t>
            </a:r>
            <a:r>
              <a:rPr lang="en-US"/>
              <a:t>: E = max(E1, E2)</a:t>
            </a:r>
            <a:endParaRPr lang="en-US"/>
          </a:p>
          <a:p>
            <a:pPr marL="317500" lvl="1" indent="0">
              <a:tabLst>
                <a:tab pos="2049145" algn="l"/>
              </a:tabLst>
            </a:pPr>
            <a:r>
              <a:rPr lang="zh-CN" altLang="en-US"/>
              <a:t>符号</a:t>
            </a:r>
            <a:r>
              <a:rPr lang="en-US"/>
              <a:t>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/>
              <a:t>, </a:t>
            </a:r>
            <a:r>
              <a:rPr lang="zh-CN" altLang="en-US"/>
              <a:t>尾数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: </a:t>
            </a:r>
            <a:endParaRPr lang="en-US"/>
          </a:p>
          <a:p>
            <a:pPr marL="838200" lvl="2">
              <a:tabLst>
                <a:tab pos="2049145" algn="l"/>
              </a:tabLst>
            </a:pPr>
            <a:r>
              <a:rPr lang="zh-CN" altLang="en-US"/>
              <a:t>有符号加的结果</a:t>
            </a:r>
            <a:endParaRPr lang="en-US"/>
          </a:p>
          <a:p>
            <a:pPr marL="0" indent="0">
              <a:buNone/>
              <a:tabLst>
                <a:tab pos="2049145" algn="l"/>
              </a:tabLst>
            </a:pPr>
            <a:endParaRPr lang="en-US"/>
          </a:p>
          <a:p>
            <a:pPr>
              <a:tabLst>
                <a:tab pos="2049145" algn="l"/>
              </a:tabLst>
            </a:pPr>
            <a:r>
              <a:rPr lang="zh-CN" altLang="en-US"/>
              <a:t>修正</a:t>
            </a:r>
            <a:endParaRPr lang="en-US"/>
          </a:p>
          <a:p>
            <a:pPr marL="317500" lvl="1" indent="0">
              <a:tabLst>
                <a:tab pos="2049145" algn="l"/>
              </a:tabLst>
            </a:pPr>
            <a:r>
              <a:rPr lang="zh-CN" altLang="en-US"/>
              <a:t>如果</a:t>
            </a:r>
            <a:r>
              <a:rPr lang="en-US"/>
              <a:t>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≥ 2,</a:t>
            </a:r>
            <a:r>
              <a:rPr lang="zh-CN" altLang="en-US" dirty="0">
                <a:sym typeface="+mn-ea"/>
              </a:rPr>
              <a:t>则将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右移（同步增加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zh-CN" alt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）</a:t>
            </a:r>
            <a:endParaRPr lang="en-US"/>
          </a:p>
          <a:p>
            <a:pPr marL="317500" lvl="1" indent="0">
              <a:tabLst>
                <a:tab pos="2049145" algn="l"/>
              </a:tabLst>
            </a:pPr>
            <a:r>
              <a:rPr lang="zh-CN" altLang="en-US">
                <a:sym typeface="+mn-ea"/>
              </a:rPr>
              <a:t>如果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/>
              <a:t> &lt; 1, </a:t>
            </a:r>
            <a:r>
              <a:rPr lang="zh-CN" altLang="en-US" dirty="0">
                <a:sym typeface="+mn-ea"/>
              </a:rPr>
              <a:t>则将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左移</a:t>
            </a:r>
            <a:r>
              <a:rPr lang="en-US" altLang="zh-CN" dirty="0">
                <a:sym typeface="+mn-ea"/>
              </a:rPr>
              <a:t>k</a:t>
            </a:r>
            <a:r>
              <a:rPr lang="zh-CN" altLang="en-US" dirty="0">
                <a:sym typeface="+mn-ea"/>
              </a:rPr>
              <a:t>位（同步对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/>
              <a:t> </a:t>
            </a:r>
            <a:r>
              <a:rPr lang="zh-CN" altLang="en-US"/>
              <a:t>减去</a:t>
            </a:r>
            <a:r>
              <a:rPr lang="en-US"/>
              <a:t> 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zh-CN" alt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）</a:t>
            </a:r>
            <a:endParaRPr lang="en-US"/>
          </a:p>
          <a:p>
            <a:pPr marL="317500" lvl="1" indent="0">
              <a:tabLst>
                <a:tab pos="2049145" algn="l"/>
              </a:tabLst>
            </a:pPr>
            <a:r>
              <a:rPr lang="zh-CN" altLang="en-US"/>
              <a:t>如果</a:t>
            </a:r>
            <a:r>
              <a:rPr lang="en-US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zh-CN" altLang="en-US"/>
              <a:t>超过范围</a:t>
            </a:r>
            <a:r>
              <a:rPr lang="en-US" altLang="zh-CN"/>
              <a:t>，</a:t>
            </a:r>
            <a:r>
              <a:rPr lang="zh-CN" altLang="en-US"/>
              <a:t>溢出（大于</a:t>
            </a:r>
            <a:r>
              <a:rPr lang="en-US" altLang="zh-CN"/>
              <a:t>11...0</a:t>
            </a:r>
            <a:r>
              <a:rPr lang="zh-CN" altLang="en-US"/>
              <a:t>则</a:t>
            </a:r>
            <a:r>
              <a:rPr lang="en-US" altLang="zh-CN"/>
              <a:t>overflow</a:t>
            </a:r>
            <a:r>
              <a:rPr lang="zh-CN" altLang="en-US"/>
              <a:t>；小于</a:t>
            </a:r>
            <a:r>
              <a:rPr lang="en-US" altLang="zh-CN"/>
              <a:t>00...0</a:t>
            </a:r>
            <a:r>
              <a:rPr lang="zh-CN" altLang="en-US"/>
              <a:t>则</a:t>
            </a:r>
            <a:r>
              <a:rPr lang="en-US" altLang="zh-CN"/>
              <a:t>underflow</a:t>
            </a:r>
            <a:r>
              <a:rPr lang="zh-CN" altLang="en-US"/>
              <a:t>）</a:t>
            </a:r>
            <a:endParaRPr lang="en-US"/>
          </a:p>
          <a:p>
            <a:pPr marL="317500" lvl="1" indent="0">
              <a:tabLst>
                <a:tab pos="2049145" algn="l"/>
              </a:tabLst>
            </a:pPr>
            <a:r>
              <a:rPr lang="zh-CN" altLang="en-US" dirty="0">
                <a:sym typeface="+mn-ea"/>
              </a:rPr>
              <a:t>将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zh-CN" altLang="en-US" dirty="0">
                <a:sym typeface="Calibri Italic" charset="0"/>
              </a:rPr>
              <a:t>调整到</a:t>
            </a:r>
            <a:r>
              <a:rPr lang="zh-CN" altLang="en-US" dirty="0">
                <a:sym typeface="+mn-ea"/>
              </a:rPr>
              <a:t>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frac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规定的的</a:t>
            </a:r>
            <a:r>
              <a:rPr lang="zh-CN" altLang="en-US" dirty="0">
                <a:sym typeface="+mn-ea"/>
              </a:rPr>
              <a:t>精度</a:t>
            </a:r>
            <a:endParaRPr lang="zh-CN" altLang="en-US" dirty="0">
              <a:sym typeface="+mn-ea"/>
            </a:endParaRPr>
          </a:p>
        </p:txBody>
      </p:sp>
      <p:sp>
        <p:nvSpPr>
          <p:cNvPr id="39941" name="Rectangle 5"/>
          <p:cNvSpPr/>
          <p:nvPr/>
        </p:nvSpPr>
        <p:spPr bwMode="auto">
          <a:xfrm>
            <a:off x="6591300" y="2540000"/>
            <a:ext cx="17907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endParaRPr lang="en-US" sz="20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9942" name="Rectangle 6"/>
          <p:cNvSpPr/>
          <p:nvPr/>
        </p:nvSpPr>
        <p:spPr bwMode="auto">
          <a:xfrm>
            <a:off x="8169275" y="3086100"/>
            <a:ext cx="22225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endParaRPr lang="en-US" sz="20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83820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>
            <a:off x="103759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8394700" y="2349500"/>
            <a:ext cx="19685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6" name="Rectangle 10"/>
          <p:cNvSpPr/>
          <p:nvPr/>
        </p:nvSpPr>
        <p:spPr bwMode="auto">
          <a:xfrm>
            <a:off x="9091613" y="2119313"/>
            <a:ext cx="624840" cy="30734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Arial Narrow Bold Italic" panose="020B0706020202030204" charset="0"/>
                <a:ea typeface="Arial Narrow Bold Italic" panose="020B0706020202030204" charset="0"/>
                <a:cs typeface="Arial Narrow Bold Italic" panose="020B0706020202030204" charset="0"/>
                <a:sym typeface="Arial Narrow Bold Italic" panose="020B0706020202030204" charset="0"/>
              </a:rPr>
              <a:t>E1</a:t>
            </a:r>
            <a:r>
              <a:rPr lang="en-US" sz="2000">
                <a:solidFill>
                  <a:schemeClr val="tx1"/>
                </a:solidFill>
                <a:latin typeface="Arial Narrow Bold" panose="020B0706020202030204" charset="0"/>
                <a:ea typeface="Arial Narrow Bold" panose="020B0706020202030204" charset="0"/>
                <a:cs typeface="Arial Narrow Bold" panose="020B0706020202030204" charset="0"/>
                <a:sym typeface="Arial Narrow Bold" panose="020B0706020202030204" charset="0"/>
              </a:rPr>
              <a:t>–</a:t>
            </a:r>
            <a:r>
              <a:rPr lang="en-US" sz="2000">
                <a:solidFill>
                  <a:schemeClr val="tx1"/>
                </a:solidFill>
                <a:latin typeface="Arial Narrow Bold Italic" panose="020B0706020202030204" charset="0"/>
                <a:ea typeface="Arial Narrow Bold Italic" panose="020B0706020202030204" charset="0"/>
                <a:cs typeface="Arial Narrow Bold Italic" panose="020B0706020202030204" charset="0"/>
                <a:sym typeface="Arial Narrow Bold Italic" panose="020B0706020202030204" charset="0"/>
              </a:rPr>
              <a:t>E2</a:t>
            </a:r>
            <a:endParaRPr lang="en-US" sz="2000">
              <a:solidFill>
                <a:schemeClr val="tx1"/>
              </a:solidFill>
              <a:latin typeface="Arial Narrow Bold Italic" panose="020B0706020202030204" charset="0"/>
              <a:ea typeface="Arial Narrow Bold Italic" panose="020B0706020202030204" charset="0"/>
              <a:cs typeface="Arial Narrow Bold Italic" panose="020B0706020202030204" charset="0"/>
              <a:sym typeface="Arial Narrow Bold Italic" panose="020B0706020202030204" charset="0"/>
            </a:endParaRPr>
          </a:p>
        </p:txBody>
      </p:sp>
      <p:sp>
        <p:nvSpPr>
          <p:cNvPr id="39947" name="Rectangle 11"/>
          <p:cNvSpPr/>
          <p:nvPr/>
        </p:nvSpPr>
        <p:spPr bwMode="auto">
          <a:xfrm>
            <a:off x="6196452" y="2949575"/>
            <a:ext cx="304800" cy="615315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4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+</a:t>
            </a:r>
            <a:endParaRPr lang="en-US" sz="4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6350000" y="3683000"/>
            <a:ext cx="40894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9" name="Rectangle 13"/>
          <p:cNvSpPr/>
          <p:nvPr/>
        </p:nvSpPr>
        <p:spPr bwMode="auto">
          <a:xfrm>
            <a:off x="6591300" y="3835400"/>
            <a:ext cx="37846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endParaRPr lang="en-US" sz="2000">
              <a:solidFill>
                <a:schemeClr val="tx1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3498" y="1524000"/>
            <a:ext cx="34004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Get binary points lined up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6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Mathematical Properties of FP Add</a:t>
            </a:r>
            <a:br>
              <a:rPr lang="en-US" sz="3200" smtClean="0"/>
            </a:br>
            <a:r>
              <a:rPr lang="zh-CN" altLang="en-US" sz="3200" smtClean="0"/>
              <a:t>浮点数加法的数学特性</a:t>
            </a:r>
            <a:endParaRPr lang="zh-CN" altLang="en-US" sz="3200" smtClean="0"/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Compare to those of </a:t>
            </a:r>
            <a:r>
              <a:rPr lang="en-US" dirty="0" err="1" smtClean="0"/>
              <a:t>Abelian</a:t>
            </a:r>
            <a:r>
              <a:rPr lang="en-US" dirty="0" smtClean="0"/>
              <a:t> Group</a:t>
            </a:r>
            <a:endParaRPr lang="en-US" dirty="0" smtClean="0"/>
          </a:p>
          <a:p>
            <a:pPr lvl="1"/>
            <a:r>
              <a:rPr lang="en-US" dirty="0" smtClean="0"/>
              <a:t>Closed under addition?			</a:t>
            </a:r>
            <a:endParaRPr lang="en-US" dirty="0" smtClean="0"/>
          </a:p>
          <a:p>
            <a:pPr lvl="2"/>
            <a:r>
              <a:rPr lang="en-US" dirty="0">
                <a:solidFill>
                  <a:schemeClr val="tx1"/>
                </a:solidFill>
              </a:rPr>
              <a:t>B</a:t>
            </a:r>
            <a:r>
              <a:rPr lang="en-US" dirty="0" smtClean="0">
                <a:solidFill>
                  <a:schemeClr val="tx1"/>
                </a:solidFill>
              </a:rPr>
              <a:t>ut may generate infinity or </a:t>
            </a:r>
            <a:r>
              <a:rPr lang="en-US" dirty="0" err="1" smtClean="0">
                <a:solidFill>
                  <a:schemeClr val="tx1"/>
                </a:solidFill>
              </a:rPr>
              <a:t>NaN</a:t>
            </a:r>
            <a:endParaRPr lang="en-US" dirty="0" smtClean="0"/>
          </a:p>
          <a:p>
            <a:pPr lvl="1"/>
            <a:r>
              <a:rPr lang="en-US" dirty="0" smtClean="0"/>
              <a:t>Commutative? 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Associative?</a:t>
            </a:r>
            <a:endParaRPr lang="en-US" dirty="0" smtClean="0"/>
          </a:p>
          <a:p>
            <a:pPr lvl="2"/>
            <a:r>
              <a:rPr lang="en-US" dirty="0" smtClean="0"/>
              <a:t>Overflow and inexactness of rounding</a:t>
            </a:r>
            <a:endParaRPr lang="en-US" dirty="0" smtClean="0"/>
          </a:p>
          <a:p>
            <a:pPr lvl="2"/>
            <a:r>
              <a:rPr lang="en-US" dirty="0" smtClean="0">
                <a:latin typeface="Courier New" panose="02070609020205020404"/>
                <a:cs typeface="Courier New" panose="02070609020205020404"/>
              </a:rPr>
              <a:t>(3.14+1e10)-1e10 = 0, 3.14+(1e10-1e10) = 3.14</a:t>
            </a:r>
            <a:endParaRPr lang="en-US" dirty="0" smtClean="0">
              <a:latin typeface="Courier New" panose="02070609020205020404"/>
              <a:cs typeface="Courier New" panose="02070609020205020404"/>
            </a:endParaRPr>
          </a:p>
          <a:p>
            <a:pPr lvl="1"/>
            <a:r>
              <a:rPr lang="en-US" dirty="0" smtClean="0"/>
              <a:t>0 is additive identity? </a:t>
            </a:r>
            <a:endParaRPr lang="en-US" dirty="0" smtClean="0"/>
          </a:p>
          <a:p>
            <a:pPr lvl="1"/>
            <a:r>
              <a:rPr lang="en-US" dirty="0" smtClean="0"/>
              <a:t>Every element has additive inverse?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00B050"/>
                </a:solidFill>
              </a:rPr>
              <a:t>Yes, except for infinities &amp; </a:t>
            </a:r>
            <a:r>
              <a:rPr lang="en-US" dirty="0" err="1" smtClean="0">
                <a:solidFill>
                  <a:srgbClr val="00B050"/>
                </a:solidFill>
              </a:rPr>
              <a:t>NaNs</a:t>
            </a:r>
            <a:endParaRPr lang="en-US" dirty="0" smtClean="0"/>
          </a:p>
          <a:p>
            <a:r>
              <a:rPr lang="en-US" dirty="0" smtClean="0"/>
              <a:t>Monotonicity</a:t>
            </a:r>
            <a:endParaRPr lang="en-US" dirty="0" smtClean="0"/>
          </a:p>
          <a:p>
            <a:pPr lvl="1"/>
            <a:r>
              <a:rPr lang="en-US" dirty="0" smtClean="0">
                <a:sym typeface="Calibri Italic" charset="0"/>
              </a:rPr>
              <a:t>a</a:t>
            </a:r>
            <a:r>
              <a:rPr lang="en-US" dirty="0" smtClean="0"/>
              <a:t> ≥ </a:t>
            </a:r>
            <a:r>
              <a:rPr lang="en-US" dirty="0" smtClean="0">
                <a:sym typeface="Calibri Italic" charset="0"/>
              </a:rPr>
              <a:t>b</a:t>
            </a:r>
            <a:r>
              <a:rPr lang="en-US" dirty="0" smtClean="0"/>
              <a:t> ⇒ </a:t>
            </a:r>
            <a:r>
              <a:rPr lang="en-US" dirty="0" err="1" smtClean="0">
                <a:sym typeface="Calibri Italic" charset="0"/>
              </a:rPr>
              <a:t>a</a:t>
            </a:r>
            <a:r>
              <a:rPr lang="en-US" dirty="0" err="1" smtClean="0"/>
              <a:t>+</a:t>
            </a:r>
            <a:r>
              <a:rPr lang="en-US" dirty="0" err="1" smtClean="0">
                <a:sym typeface="Calibri Italic" charset="0"/>
              </a:rPr>
              <a:t>c</a:t>
            </a:r>
            <a:r>
              <a:rPr lang="en-US" dirty="0" smtClean="0"/>
              <a:t> ≥ </a:t>
            </a:r>
            <a:r>
              <a:rPr lang="en-US" dirty="0" err="1" smtClean="0">
                <a:sym typeface="Calibri Italic" charset="0"/>
              </a:rPr>
              <a:t>b</a:t>
            </a:r>
            <a:r>
              <a:rPr lang="en-US" dirty="0" err="1" smtClean="0"/>
              <a:t>+</a:t>
            </a:r>
            <a:r>
              <a:rPr lang="en-US" dirty="0" err="1" smtClean="0">
                <a:sym typeface="Calibri Italic" charset="0"/>
              </a:rPr>
              <a:t>c</a:t>
            </a:r>
            <a:r>
              <a:rPr lang="en-US" dirty="0" smtClean="0"/>
              <a:t>?</a:t>
            </a:r>
            <a:endParaRPr lang="en-US" dirty="0" smtClean="0"/>
          </a:p>
          <a:p>
            <a:pPr lvl="2"/>
            <a:r>
              <a:rPr lang="en-US" dirty="0" smtClean="0"/>
              <a:t>Except for infinities &amp; </a:t>
            </a:r>
            <a:r>
              <a:rPr lang="en-US" dirty="0" err="1" smtClean="0"/>
              <a:t>NaNs</a:t>
            </a:r>
            <a:endParaRPr lang="en-US" dirty="0"/>
          </a:p>
        </p:txBody>
      </p:sp>
      <p:sp>
        <p:nvSpPr>
          <p:cNvPr id="40969" name="Rectangle 9"/>
          <p:cNvSpPr/>
          <p:nvPr/>
        </p:nvSpPr>
        <p:spPr bwMode="auto">
          <a:xfrm>
            <a:off x="6936264" y="1790700"/>
            <a:ext cx="600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  <a:endParaRPr lang="en-US" sz="240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0970" name="Rectangle 10"/>
          <p:cNvSpPr/>
          <p:nvPr/>
        </p:nvSpPr>
        <p:spPr bwMode="auto">
          <a:xfrm>
            <a:off x="6939439" y="2514600"/>
            <a:ext cx="600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  <a:endParaRPr lang="en-US" sz="240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0971" name="Rectangle 11"/>
          <p:cNvSpPr/>
          <p:nvPr/>
        </p:nvSpPr>
        <p:spPr bwMode="auto">
          <a:xfrm>
            <a:off x="6956901" y="4038600"/>
            <a:ext cx="600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0972" name="Rectangle 12"/>
          <p:cNvSpPr/>
          <p:nvPr/>
        </p:nvSpPr>
        <p:spPr bwMode="auto">
          <a:xfrm>
            <a:off x="6977539" y="2882900"/>
            <a:ext cx="473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0973" name="Rectangle 13"/>
          <p:cNvSpPr/>
          <p:nvPr/>
        </p:nvSpPr>
        <p:spPr bwMode="auto">
          <a:xfrm>
            <a:off x="6974364" y="4724400"/>
            <a:ext cx="1048385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0974" name="Rectangle 14"/>
          <p:cNvSpPr/>
          <p:nvPr/>
        </p:nvSpPr>
        <p:spPr bwMode="auto">
          <a:xfrm>
            <a:off x="6974364" y="5562600"/>
            <a:ext cx="1048385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198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Mathematical Properties of FP Mult</a:t>
            </a:r>
            <a:endParaRPr lang="en-US"/>
          </a:p>
        </p:txBody>
      </p:sp>
      <p:sp>
        <p:nvSpPr>
          <p:cNvPr id="4199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to Commutative Ring</a:t>
            </a:r>
            <a:endParaRPr lang="en-US" dirty="0"/>
          </a:p>
          <a:p>
            <a:pPr marL="552450" lvl="1"/>
            <a:r>
              <a:rPr lang="en-US" dirty="0"/>
              <a:t>Closed under multiplication?</a:t>
            </a:r>
            <a:endParaRPr lang="en-US" dirty="0"/>
          </a:p>
          <a:p>
            <a:pPr marL="838200" lvl="2"/>
            <a:r>
              <a:rPr lang="en-US" dirty="0"/>
              <a:t>But may generate infinity or </a:t>
            </a:r>
            <a:r>
              <a:rPr lang="en-US" dirty="0" err="1"/>
              <a:t>NaN</a:t>
            </a:r>
            <a:endParaRPr lang="en-US" dirty="0"/>
          </a:p>
          <a:p>
            <a:pPr marL="552450" lvl="1"/>
            <a:r>
              <a:rPr lang="en-US" dirty="0"/>
              <a:t>Multiplication Commutative?</a:t>
            </a:r>
            <a:endParaRPr lang="en-US" dirty="0"/>
          </a:p>
          <a:p>
            <a:pPr marL="552450" lvl="1"/>
            <a:r>
              <a:rPr lang="en-US" dirty="0">
                <a:solidFill>
                  <a:srgbClr val="00B050"/>
                </a:solidFill>
              </a:rPr>
              <a:t>Multiplication is Associative?</a:t>
            </a:r>
            <a:endParaRPr lang="en-US" dirty="0"/>
          </a:p>
          <a:p>
            <a:pPr marL="838200" lvl="2"/>
            <a:r>
              <a:rPr lang="en-US" dirty="0"/>
              <a:t>Possibility of overflow, inexactness of </a:t>
            </a:r>
            <a:r>
              <a:rPr lang="en-US" dirty="0" smtClean="0"/>
              <a:t>rounding</a:t>
            </a:r>
            <a:endParaRPr lang="en-US" dirty="0" smtClean="0"/>
          </a:p>
          <a:p>
            <a:pPr marL="838200" lvl="2"/>
            <a:r>
              <a:rPr lang="en-US" dirty="0" smtClean="0"/>
              <a:t>Ex: </a:t>
            </a:r>
            <a:r>
              <a:rPr lang="en-US" dirty="0" smtClean="0">
                <a:latin typeface="Courier New" panose="02070609020205020404"/>
              </a:rPr>
              <a:t>(1e20*1e20)*1e-20</a:t>
            </a:r>
            <a:r>
              <a:rPr lang="en-US" dirty="0" smtClean="0"/>
              <a:t>= </a:t>
            </a:r>
            <a:r>
              <a:rPr lang="en-US" dirty="0" err="1" smtClean="0">
                <a:latin typeface="Courier New" panose="02070609020205020404"/>
                <a:cs typeface="Courier New" panose="02070609020205020404"/>
              </a:rPr>
              <a:t>inf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609020205020404"/>
                <a:cs typeface="Courier New" panose="02070609020205020404"/>
              </a:rPr>
              <a:t>1e20*(1e20*1e-20)</a:t>
            </a:r>
            <a:r>
              <a:rPr lang="en-US" dirty="0" smtClean="0"/>
              <a:t>= </a:t>
            </a:r>
            <a:r>
              <a:rPr lang="en-US" dirty="0" smtClean="0">
                <a:latin typeface="Courier New" panose="02070609020205020404"/>
                <a:cs typeface="Courier New" panose="02070609020205020404"/>
              </a:rPr>
              <a:t>1e20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  <a:p>
            <a:pPr marL="552450" lvl="1"/>
            <a:r>
              <a:rPr lang="en-US" dirty="0"/>
              <a:t>1 is multiplicative identity?</a:t>
            </a:r>
            <a:endParaRPr lang="en-US" dirty="0"/>
          </a:p>
          <a:p>
            <a:pPr marL="552450" lvl="1"/>
            <a:r>
              <a:rPr lang="en-US" dirty="0">
                <a:solidFill>
                  <a:srgbClr val="00B050"/>
                </a:solidFill>
              </a:rPr>
              <a:t>Multiplication distributes over addition?</a:t>
            </a:r>
            <a:endParaRPr lang="en-US" dirty="0"/>
          </a:p>
          <a:p>
            <a:pPr marL="838200" lvl="2"/>
            <a:r>
              <a:rPr lang="en-US" dirty="0"/>
              <a:t>Possibility of overflow, inexactness of </a:t>
            </a:r>
            <a:r>
              <a:rPr lang="en-US" dirty="0" smtClean="0"/>
              <a:t>rounding</a:t>
            </a:r>
            <a:endParaRPr lang="en-US" dirty="0" smtClean="0"/>
          </a:p>
          <a:p>
            <a:pPr marL="838200" lvl="2"/>
            <a:r>
              <a:rPr lang="en-US" dirty="0" smtClean="0">
                <a:latin typeface="Courier New" panose="02070609020205020404"/>
                <a:cs typeface="Courier New" panose="02070609020205020404"/>
              </a:rPr>
              <a:t>1e20*(1e20-1e20)</a:t>
            </a:r>
            <a:r>
              <a:rPr lang="en-US" dirty="0" smtClean="0"/>
              <a:t>= </a:t>
            </a:r>
            <a:r>
              <a:rPr lang="en-US" dirty="0" smtClean="0">
                <a:latin typeface="Courier New" panose="02070609020205020404"/>
                <a:cs typeface="Courier New" panose="02070609020205020404"/>
              </a:rPr>
              <a:t>0.0</a:t>
            </a:r>
            <a:r>
              <a:rPr lang="en-US" dirty="0" smtClean="0"/>
              <a:t>, </a:t>
            </a:r>
            <a:r>
              <a:rPr lang="en-US" dirty="0"/>
              <a:t> </a:t>
            </a:r>
            <a:r>
              <a:rPr lang="en-US" dirty="0" smtClean="0">
                <a:latin typeface="Courier New" panose="02070609020205020404"/>
                <a:cs typeface="Courier New" panose="02070609020205020404"/>
              </a:rPr>
              <a:t>1e20*1e20 – 1e20*1e20 </a:t>
            </a:r>
            <a:r>
              <a:rPr lang="en-US" dirty="0" smtClean="0"/>
              <a:t>= </a:t>
            </a:r>
            <a:r>
              <a:rPr lang="en-US" dirty="0" err="1" smtClean="0">
                <a:latin typeface="Courier New" panose="02070609020205020404"/>
                <a:cs typeface="Courier New" panose="02070609020205020404"/>
              </a:rPr>
              <a:t>NaN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  <a:p>
            <a:pPr marL="431800" indent="-342900"/>
            <a:r>
              <a:rPr lang="en-US" dirty="0" smtClean="0"/>
              <a:t>Monotonicity</a:t>
            </a:r>
            <a:endParaRPr lang="en-US" dirty="0"/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dirty="0"/>
              <a:t> ≥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dirty="0"/>
              <a:t> 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 ≥ 0  ⇒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dirty="0"/>
              <a:t> *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 ≥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dirty="0"/>
              <a:t> *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?</a:t>
            </a:r>
            <a:endParaRPr lang="en-US" dirty="0"/>
          </a:p>
          <a:p>
            <a:pPr marL="838200" lvl="2"/>
            <a:r>
              <a:rPr lang="en-US" dirty="0"/>
              <a:t>Except for infinities &amp; </a:t>
            </a:r>
            <a:r>
              <a:rPr lang="en-US" dirty="0" err="1"/>
              <a:t>NaNs</a:t>
            </a:r>
            <a:endParaRPr lang="en-US" dirty="0"/>
          </a:p>
        </p:txBody>
      </p:sp>
      <p:sp>
        <p:nvSpPr>
          <p:cNvPr id="41993" name="Rectangle 9"/>
          <p:cNvSpPr/>
          <p:nvPr/>
        </p:nvSpPr>
        <p:spPr bwMode="auto">
          <a:xfrm>
            <a:off x="7774464" y="1790700"/>
            <a:ext cx="600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  <a:endParaRPr lang="en-US" sz="240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1994" name="Rectangle 10"/>
          <p:cNvSpPr/>
          <p:nvPr/>
        </p:nvSpPr>
        <p:spPr bwMode="auto">
          <a:xfrm>
            <a:off x="7774464" y="2522538"/>
            <a:ext cx="600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  <a:endParaRPr lang="en-US" sz="240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1995" name="Rectangle 11"/>
          <p:cNvSpPr/>
          <p:nvPr/>
        </p:nvSpPr>
        <p:spPr bwMode="auto">
          <a:xfrm>
            <a:off x="7815739" y="2895600"/>
            <a:ext cx="473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  <a:endParaRPr lang="en-US" sz="240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1996" name="Rectangle 12"/>
          <p:cNvSpPr/>
          <p:nvPr/>
        </p:nvSpPr>
        <p:spPr bwMode="auto">
          <a:xfrm>
            <a:off x="7774464" y="3975100"/>
            <a:ext cx="600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1997" name="Rectangle 13"/>
          <p:cNvSpPr/>
          <p:nvPr/>
        </p:nvSpPr>
        <p:spPr bwMode="auto">
          <a:xfrm>
            <a:off x="7815739" y="4343400"/>
            <a:ext cx="47371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41998" name="Rectangle 14"/>
          <p:cNvSpPr/>
          <p:nvPr/>
        </p:nvSpPr>
        <p:spPr bwMode="auto">
          <a:xfrm>
            <a:off x="7812564" y="5791200"/>
            <a:ext cx="1048385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  <a:endParaRPr lang="en-US" sz="2400" dirty="0">
              <a:solidFill>
                <a:srgbClr val="C00000"/>
              </a:solidFill>
              <a:latin typeface="Calibri Bold Italic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Today: Floating Point</a:t>
            </a:r>
            <a:endParaRPr lang="en-US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  <a:endParaRPr lang="en-US">
              <a:solidFill>
                <a:srgbClr val="B3B3B3"/>
              </a:solidFill>
            </a:endParaRP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  <a:endParaRPr lang="en-US">
              <a:solidFill>
                <a:srgbClr val="B3B3B3"/>
              </a:solidFill>
            </a:endParaRPr>
          </a:p>
          <a:p>
            <a:r>
              <a:rPr lang="en-US"/>
              <a:t>Floating point in C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C</a:t>
            </a:r>
            <a:r>
              <a:rPr lang="zh-CN" altLang="en-US">
                <a:ea typeface="SimSun" charset="0"/>
              </a:rPr>
              <a:t>语言中的浮点数）</a:t>
            </a:r>
            <a:endParaRPr lang="en-US"/>
          </a:p>
          <a:p>
            <a:r>
              <a:rPr lang="en-US">
                <a:solidFill>
                  <a:srgbClr val="B3B3B3"/>
                </a:solidFill>
              </a:rPr>
              <a:t>Summary</a:t>
            </a:r>
            <a:endParaRPr lang="en-US">
              <a:solidFill>
                <a:srgbClr val="B3B3B3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3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/>
              <a:t>Floating Point in C</a:t>
            </a:r>
            <a:br>
              <a:rPr lang="en-US" sz="3200"/>
            </a:br>
            <a:r>
              <a:rPr lang="en-US" altLang="zh-CN" sz="3200">
                <a:ea typeface="SimSun" charset="0"/>
                <a:sym typeface="+mn-ea"/>
              </a:rPr>
              <a:t>C</a:t>
            </a:r>
            <a:r>
              <a:rPr lang="zh-CN" altLang="en-US" sz="3200">
                <a:ea typeface="SimSun" charset="0"/>
                <a:sym typeface="+mn-ea"/>
              </a:rPr>
              <a:t>语言中的浮点数</a:t>
            </a:r>
            <a:endParaRPr lang="en-US" sz="3200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zh-CN" altLang="en-US" dirty="0"/>
              <a:t>支持两种</a:t>
            </a:r>
            <a:r>
              <a:rPr lang="zh-CN" altLang="en-US" dirty="0"/>
              <a:t>精度级别的浮点数</a:t>
            </a:r>
            <a:endParaRPr lang="en-US" dirty="0"/>
          </a:p>
          <a:p>
            <a:pPr marL="317500" lvl="1" indent="0"/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float</a:t>
            </a:r>
            <a:r>
              <a:rPr lang="en-US" dirty="0"/>
              <a:t>	single precision</a:t>
            </a:r>
            <a:endParaRPr lang="en-US" dirty="0"/>
          </a:p>
          <a:p>
            <a:pPr marL="317500" lvl="1" indent="0"/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double</a:t>
            </a:r>
            <a:r>
              <a:rPr lang="en-US" dirty="0"/>
              <a:t>	double precision</a:t>
            </a:r>
            <a:endParaRPr lang="en-US" dirty="0"/>
          </a:p>
          <a:p>
            <a:pPr>
              <a:spcBef>
                <a:spcPts val="1600"/>
              </a:spcBef>
            </a:pPr>
            <a:r>
              <a:rPr lang="zh-CN" altLang="en-US" dirty="0"/>
              <a:t>类型转换</a:t>
            </a:r>
            <a:endParaRPr lang="en-US" dirty="0"/>
          </a:p>
          <a:p>
            <a:pPr marL="317500" lvl="1" indent="0"/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float</a:t>
            </a:r>
            <a:r>
              <a:rPr lang="en-US" dirty="0"/>
              <a:t>,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double</a:t>
            </a:r>
            <a:r>
              <a:rPr lang="en-US" dirty="0"/>
              <a:t> </a:t>
            </a:r>
            <a:r>
              <a:rPr lang="zh-CN" altLang="en-US" dirty="0"/>
              <a:t>之间的类型转换</a:t>
            </a:r>
            <a:r>
              <a:rPr lang="en-US" altLang="zh-CN" dirty="0"/>
              <a:t>，</a:t>
            </a:r>
            <a:r>
              <a:rPr lang="zh-CN" altLang="en-US" dirty="0"/>
              <a:t>需要修改位模式</a:t>
            </a:r>
            <a:r>
              <a:rPr lang="en-US" altLang="zh-CN" dirty="0"/>
              <a:t>（</a:t>
            </a:r>
            <a:r>
              <a:rPr lang="zh-CN" altLang="en-US" dirty="0"/>
              <a:t>表示</a:t>
            </a:r>
            <a:r>
              <a:rPr lang="en-US" altLang="zh-CN" dirty="0"/>
              <a:t>、</a:t>
            </a:r>
            <a:r>
              <a:rPr lang="zh-CN" altLang="en-US" dirty="0"/>
              <a:t>编码</a:t>
            </a:r>
            <a:r>
              <a:rPr lang="en-US" altLang="zh-CN" dirty="0"/>
              <a:t>）</a:t>
            </a:r>
            <a:endParaRPr lang="en-US" dirty="0"/>
          </a:p>
          <a:p>
            <a:pPr marL="317500" lvl="1" indent="0"/>
            <a:r>
              <a:rPr lang="en-US" dirty="0"/>
              <a:t>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double</a:t>
            </a:r>
            <a:r>
              <a:rPr lang="en-US" dirty="0"/>
              <a:t>/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float</a:t>
            </a:r>
            <a:r>
              <a:rPr lang="en-US" dirty="0"/>
              <a:t> → </a:t>
            </a:r>
            <a:r>
              <a:rPr lang="en-US" dirty="0" err="1" smtClean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int</a:t>
            </a:r>
            <a:r>
              <a:rPr lang="en-US" dirty="0" smtClean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 </a:t>
            </a:r>
            <a:endParaRPr lang="en-US" dirty="0"/>
          </a:p>
          <a:p>
            <a:pPr marL="838200" lvl="2"/>
            <a:r>
              <a:rPr lang="zh-CN" altLang="en-US" dirty="0"/>
              <a:t>截断小数部分</a:t>
            </a:r>
            <a:r>
              <a:rPr lang="en-US" altLang="zh-CN" dirty="0"/>
              <a:t>（</a:t>
            </a:r>
            <a:r>
              <a:rPr lang="zh-CN" altLang="en-US" dirty="0"/>
              <a:t>类似于靠</a:t>
            </a:r>
            <a:r>
              <a:rPr lang="en-US" altLang="zh-CN" dirty="0"/>
              <a:t>0</a:t>
            </a:r>
            <a:r>
              <a:rPr lang="zh-CN" altLang="en-US" dirty="0"/>
              <a:t>舍入</a:t>
            </a:r>
            <a:r>
              <a:rPr lang="en-US" altLang="zh-CN" dirty="0"/>
              <a:t>）</a:t>
            </a:r>
            <a:endParaRPr lang="en-US" altLang="zh-CN" dirty="0"/>
          </a:p>
          <a:p>
            <a:pPr marL="838200" lvl="2"/>
            <a:r>
              <a:rPr lang="zh-CN" altLang="en-US" dirty="0"/>
              <a:t>如果浮点数范围超过整数范围</a:t>
            </a:r>
            <a:r>
              <a:rPr lang="en-US" altLang="zh-CN" dirty="0"/>
              <a:t>（</a:t>
            </a:r>
            <a:r>
              <a:rPr lang="zh-CN" altLang="en-US" dirty="0"/>
              <a:t>或者为</a:t>
            </a:r>
            <a:r>
              <a:rPr lang="en-US" altLang="zh-CN" dirty="0"/>
              <a:t>NaN</a:t>
            </a:r>
            <a:r>
              <a:rPr lang="zh-CN" altLang="en-US" dirty="0"/>
              <a:t>时</a:t>
            </a:r>
            <a:r>
              <a:rPr lang="en-US" altLang="zh-CN" dirty="0"/>
              <a:t>）</a:t>
            </a:r>
            <a:endParaRPr lang="en-US" altLang="zh-CN" dirty="0"/>
          </a:p>
          <a:p>
            <a:pPr marL="1295400" lvl="3"/>
            <a:r>
              <a:rPr lang="zh-CN" altLang="en-US" dirty="0"/>
              <a:t>未定义</a:t>
            </a:r>
            <a:r>
              <a:rPr lang="en-US" altLang="zh-CN" dirty="0"/>
              <a:t>，</a:t>
            </a:r>
            <a:r>
              <a:rPr lang="zh-CN" altLang="en-US" dirty="0"/>
              <a:t>通常设置为</a:t>
            </a:r>
            <a:r>
              <a:rPr lang="en-US" altLang="zh-CN" dirty="0"/>
              <a:t>TMin（</a:t>
            </a:r>
            <a:r>
              <a:rPr lang="zh-CN" altLang="en-US" dirty="0"/>
              <a:t>补码的最小值</a:t>
            </a:r>
            <a:r>
              <a:rPr lang="en-US" altLang="zh-CN" dirty="0"/>
              <a:t>）</a:t>
            </a:r>
            <a:endParaRPr lang="en-US" dirty="0"/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double</a:t>
            </a:r>
            <a:endParaRPr lang="en-US" dirty="0"/>
          </a:p>
          <a:p>
            <a:pPr marL="838200" lvl="2"/>
            <a:r>
              <a:rPr lang="zh-CN" altLang="en-US" dirty="0"/>
              <a:t>精确</a:t>
            </a:r>
            <a:r>
              <a:rPr lang="zh-CN" altLang="en-US" dirty="0"/>
              <a:t>无损转换</a:t>
            </a:r>
            <a:r>
              <a:rPr lang="en-US" dirty="0"/>
              <a:t>, </a:t>
            </a:r>
            <a:r>
              <a:rPr lang="en-US" dirty="0"/>
              <a:t>since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int</a:t>
            </a:r>
            <a:r>
              <a:rPr lang="en-US" dirty="0"/>
              <a:t> has ≤ 53 bit word size</a:t>
            </a:r>
            <a:endParaRPr lang="en-US" dirty="0"/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int</a:t>
            </a:r>
            <a:r>
              <a:rPr lang="en-US" dirty="0"/>
              <a:t> → </a:t>
            </a:r>
            <a:r>
              <a:rPr lang="en-US" dirty="0" smtClean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float </a:t>
            </a: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>
                <a:solidFill>
                  <a:srgbClr val="00B050"/>
                </a:solidFill>
              </a:rPr>
              <a:t>Example</a:t>
            </a:r>
            <a:r>
              <a:rPr lang="en-US" altLang="zh-CN" smtClean="0">
                <a:solidFill>
                  <a:srgbClr val="00B050"/>
                </a:solidFill>
              </a:rPr>
              <a:t>:?)</a:t>
            </a:r>
            <a:endParaRPr lang="en-US" dirty="0"/>
          </a:p>
          <a:p>
            <a:pPr marL="838200" lvl="2"/>
            <a:r>
              <a:rPr lang="zh-CN" altLang="en-US" dirty="0"/>
              <a:t>根据舍入模式</a:t>
            </a:r>
            <a:r>
              <a:rPr lang="en-US" altLang="zh-CN" dirty="0"/>
              <a:t>，</a:t>
            </a:r>
            <a:r>
              <a:rPr lang="zh-CN" altLang="en-US" dirty="0"/>
              <a:t>进行</a:t>
            </a:r>
            <a:r>
              <a:rPr lang="zh-CN" altLang="en-US" dirty="0"/>
              <a:t>舍入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Floating Point Puzzles</a:t>
            </a:r>
            <a:r>
              <a:rPr lang="zh-CN" altLang="en-US" sz="32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浮点数的奇怪现象</a:t>
            </a:r>
            <a:endParaRPr lang="zh-CN" altLang="en-US" sz="32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1397000"/>
            <a:ext cx="8382000" cy="1270000"/>
          </a:xfrm>
        </p:spPr>
        <p:txBody>
          <a:bodyPr/>
          <a:lstStyle/>
          <a:p>
            <a:r>
              <a:rPr lang="en-US"/>
              <a:t>For each of the following C expressions, either:</a:t>
            </a:r>
            <a:endParaRPr lang="en-US"/>
          </a:p>
          <a:p>
            <a:pPr marL="552450" lvl="1"/>
            <a:r>
              <a:rPr lang="en-US"/>
              <a:t>Argue that it is true for all argument values</a:t>
            </a:r>
            <a:endParaRPr lang="en-US"/>
          </a:p>
          <a:p>
            <a:pPr marL="552450" lvl="1"/>
            <a:r>
              <a:rPr lang="en-US"/>
              <a:t>Explain why not true</a:t>
            </a:r>
            <a:endParaRPr lang="en-US"/>
          </a:p>
        </p:txBody>
      </p:sp>
      <p:sp>
        <p:nvSpPr>
          <p:cNvPr id="45061" name="Rectangle 5"/>
          <p:cNvSpPr/>
          <p:nvPr/>
        </p:nvSpPr>
        <p:spPr bwMode="auto">
          <a:xfrm>
            <a:off x="5260975" y="2446338"/>
            <a:ext cx="4889500" cy="40767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)(float) x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)(double) x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 == (float)(double) f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== </a:t>
            </a:r>
            <a:r>
              <a:rPr lang="en-US" sz="1800" b="1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(double)(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float) d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 == -(-f);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2/3 == 2/3.0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&lt; 0.0	 ⇒ 	((d*2) &lt; 0.0)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&gt; f	 ⇒ 	-f &gt; -d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* d &gt;= 0.0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d+f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)-d == f</a:t>
            </a:r>
            <a:endParaRPr lang="en-US" sz="18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45062" name="Rectangle 6"/>
          <p:cNvSpPr/>
          <p:nvPr/>
        </p:nvSpPr>
        <p:spPr bwMode="auto">
          <a:xfrm>
            <a:off x="2046288" y="3271838"/>
            <a:ext cx="2628900" cy="1155700"/>
          </a:xfrm>
          <a:prstGeom prst="rect">
            <a:avLst/>
          </a:prstGeom>
          <a:solidFill>
            <a:srgbClr val="D6D6F4"/>
          </a:solidFill>
          <a:ln w="25400" cap="flat">
            <a:solidFill>
              <a:srgbClr val="ADADE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x = …;</a:t>
            </a:r>
            <a:endParaRPr lang="en-US" sz="24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float f = …;</a:t>
            </a:r>
            <a:endParaRPr lang="en-US" sz="24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double d = …;</a:t>
            </a:r>
            <a:endParaRPr lang="en-US" sz="18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45063" name="Rectangle 7"/>
          <p:cNvSpPr/>
          <p:nvPr/>
        </p:nvSpPr>
        <p:spPr bwMode="auto">
          <a:xfrm>
            <a:off x="1981200" y="4581525"/>
            <a:ext cx="1835150" cy="69151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Assume neither</a:t>
            </a:r>
            <a:endParaRPr lang="en-US">
              <a:solidFill>
                <a:schemeClr val="tx1"/>
              </a:solidFill>
              <a:latin typeface="Arial Narrow" panose="020B0706020202030204" pitchFamily="-96" charset="0"/>
              <a:ea typeface="Lucida Grande" panose="020B0600040502020204" charset="0"/>
              <a:cs typeface="Lucida Grande" panose="020B0600040502020204" charset="0"/>
              <a:sym typeface="Arial Narrow" panose="020B0706020202030204" pitchFamily="-96" charset="0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d</a:t>
            </a:r>
            <a:r>
              <a:rPr 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nor </a:t>
            </a:r>
            <a:r>
              <a:rPr lang="en-US" sz="20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</a:t>
            </a:r>
            <a:r>
              <a:rPr 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is NaN</a:t>
            </a:r>
            <a:endParaRPr 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Floating Point Puzzles</a:t>
            </a:r>
            <a:r>
              <a:rPr lang="zh-CN" altLang="en-US" sz="32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浮点数的奇怪现象</a:t>
            </a:r>
            <a:endParaRPr lang="en-US" sz="32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1397000"/>
            <a:ext cx="8382000" cy="1270000"/>
          </a:xfrm>
        </p:spPr>
        <p:txBody>
          <a:bodyPr/>
          <a:lstStyle/>
          <a:p>
            <a:r>
              <a:rPr lang="en-US"/>
              <a:t>For each of the following C expressions, either:</a:t>
            </a:r>
            <a:endParaRPr lang="en-US"/>
          </a:p>
          <a:p>
            <a:pPr marL="552450" lvl="1"/>
            <a:r>
              <a:rPr lang="en-US"/>
              <a:t>Argue that it is true for all argument values</a:t>
            </a:r>
            <a:endParaRPr lang="en-US"/>
          </a:p>
          <a:p>
            <a:pPr marL="552450" lvl="1"/>
            <a:r>
              <a:rPr lang="en-US"/>
              <a:t>Explain why not true</a:t>
            </a:r>
            <a:endParaRPr lang="en-US"/>
          </a:p>
        </p:txBody>
      </p:sp>
      <p:sp>
        <p:nvSpPr>
          <p:cNvPr id="45061" name="Rectangle 5"/>
          <p:cNvSpPr/>
          <p:nvPr/>
        </p:nvSpPr>
        <p:spPr bwMode="auto">
          <a:xfrm>
            <a:off x="4377690" y="2446655"/>
            <a:ext cx="6229350" cy="40767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 == (</a:t>
            </a:r>
            <a:r>
              <a:rPr lang="en-US" sz="1800" b="1" strike="sngStrike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)(float) x </a:t>
            </a:r>
            <a:r>
              <a:rPr lang="en-US" sz="1800" b="1" strike="sngStrike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(rounding, overflow)</a:t>
            </a:r>
            <a:endParaRPr lang="en-US" b="1" strike="sngStrike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)(double) x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 == (float)(double) f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== </a:t>
            </a:r>
            <a:r>
              <a:rPr lang="en-US" sz="1800" b="1" strike="sngStrike" dirty="0" smtClean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(double)(</a:t>
            </a: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float) d </a:t>
            </a:r>
            <a:r>
              <a:rPr lang="en-US" sz="1800" b="1" strike="sngStrike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(rounding, overflow)</a:t>
            </a:r>
            <a:endParaRPr lang="en-US" b="1" strike="sngStrike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 == -(-f);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2/3 == 2/3.0(rounding)</a:t>
            </a:r>
            <a:endParaRPr lang="en-US" b="1" strike="sngStrike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&lt; 0.0	 ⇒ 	((d*2) &lt; 0.0)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&gt; f	 ⇒ 	-f &gt; -d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 * d &gt;= 0.0</a:t>
            </a:r>
            <a:endParaRPr lang="en-US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</a:t>
            </a:r>
            <a:r>
              <a:rPr lang="en-US" sz="1800" b="1" strike="sngStrike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d+f</a:t>
            </a:r>
            <a:r>
              <a:rPr lang="en-US" sz="1800" b="1" strike="sngStrike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)-d == f </a:t>
            </a:r>
            <a:r>
              <a:rPr lang="en-US" sz="1800" b="1" strike="sngStrike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(overflow, rounding)</a:t>
            </a:r>
            <a:endParaRPr lang="en-US" sz="1800" b="1" strike="sngStrike" dirty="0">
              <a:solidFill>
                <a:srgbClr val="00B05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45062" name="Rectangle 6"/>
          <p:cNvSpPr/>
          <p:nvPr/>
        </p:nvSpPr>
        <p:spPr bwMode="auto">
          <a:xfrm>
            <a:off x="1599883" y="3271838"/>
            <a:ext cx="2628900" cy="1155700"/>
          </a:xfrm>
          <a:prstGeom prst="rect">
            <a:avLst/>
          </a:prstGeom>
          <a:solidFill>
            <a:srgbClr val="D6D6F4"/>
          </a:solidFill>
          <a:ln w="25400" cap="flat">
            <a:solidFill>
              <a:srgbClr val="ADADE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x = …;</a:t>
            </a:r>
            <a:endParaRPr lang="en-US" sz="24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float f = …;</a:t>
            </a:r>
            <a:endParaRPr lang="en-US" sz="24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double d = …;</a:t>
            </a:r>
            <a:endParaRPr lang="en-US" sz="1800" b="1" dirty="0">
              <a:solidFill>
                <a:schemeClr val="tx1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45063" name="Rectangle 7"/>
          <p:cNvSpPr/>
          <p:nvPr/>
        </p:nvSpPr>
        <p:spPr bwMode="auto">
          <a:xfrm>
            <a:off x="1981200" y="4581525"/>
            <a:ext cx="1835150" cy="69151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Assume neither</a:t>
            </a:r>
            <a:endParaRPr lang="en-US">
              <a:solidFill>
                <a:schemeClr val="tx1"/>
              </a:solidFill>
              <a:latin typeface="Arial Narrow" panose="020B0706020202030204" pitchFamily="-96" charset="0"/>
              <a:ea typeface="Lucida Grande" panose="020B0600040502020204" charset="0"/>
              <a:cs typeface="Lucida Grande" panose="020B0600040502020204" charset="0"/>
              <a:sym typeface="Arial Narrow" panose="020B0706020202030204" pitchFamily="-96" charset="0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d</a:t>
            </a:r>
            <a:r>
              <a:rPr 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nor </a:t>
            </a:r>
            <a:r>
              <a:rPr lang="en-US" sz="20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f</a:t>
            </a:r>
            <a:r>
              <a:rPr 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is NaN</a:t>
            </a:r>
            <a:endParaRPr 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710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Summary</a:t>
            </a:r>
            <a:endParaRPr lang="en-US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IEEE </a:t>
            </a:r>
            <a:r>
              <a:rPr lang="zh-CN" altLang="en-US"/>
              <a:t>浮点数有明确的数学性质</a:t>
            </a:r>
            <a:endParaRPr lang="en-US"/>
          </a:p>
          <a:p>
            <a:r>
              <a:rPr lang="en-US"/>
              <a:t>Represents numbers of form M x 2</a:t>
            </a:r>
            <a:r>
              <a:rPr lang="en-US" baseline="32000"/>
              <a:t>E</a:t>
            </a:r>
            <a:endParaRPr lang="en-US"/>
          </a:p>
          <a:p>
            <a:r>
              <a:rPr lang="zh-CN" altLang="en-US"/>
              <a:t>有了标准，就可以推理和判断浮点运算的性质，不</a:t>
            </a:r>
            <a:r>
              <a:rPr lang="zh-CN" altLang="en-US"/>
              <a:t>用管实现，</a:t>
            </a:r>
            <a:endParaRPr lang="en-US"/>
          </a:p>
          <a:p>
            <a:pPr marL="552450" lvl="1"/>
            <a:r>
              <a:rPr lang="zh-CN" altLang="en-US"/>
              <a:t>类似于，先计算精确的结果，再作舍入处理</a:t>
            </a:r>
            <a:endParaRPr lang="en-US"/>
          </a:p>
          <a:p>
            <a:r>
              <a:rPr lang="zh-CN" altLang="en-US"/>
              <a:t>跟现实生活中的算术不一样</a:t>
            </a:r>
            <a:endParaRPr lang="en-US"/>
          </a:p>
          <a:p>
            <a:pPr marL="552450" lvl="1"/>
            <a:r>
              <a:rPr lang="zh-CN" altLang="en-US"/>
              <a:t>不满足结合</a:t>
            </a:r>
            <a:r>
              <a:rPr lang="zh-CN" altLang="en-US"/>
              <a:t>律和分配律</a:t>
            </a:r>
            <a:endParaRPr lang="en-US"/>
          </a:p>
          <a:p>
            <a:pPr marL="552450" lvl="1"/>
            <a:r>
              <a:rPr lang="en-US">
                <a:solidFill>
                  <a:srgbClr val="00B050"/>
                </a:solidFill>
              </a:rPr>
              <a:t>Makes life difficult for compilers &amp; serious numerical applications programmers</a:t>
            </a:r>
            <a:endParaRPr lang="en-US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5029200"/>
            <a:ext cx="9144000" cy="13398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813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 smtClean="0"/>
              <a:t>Additional </a:t>
            </a:r>
            <a:r>
              <a:rPr lang="en-US" dirty="0"/>
              <a:t>Slides</a:t>
            </a:r>
            <a:endParaRPr lang="en-US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构造浮点数</a:t>
            </a:r>
            <a:endParaRPr lang="zh-CN" alt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828800" algn="l"/>
              </a:tabLst>
            </a:pPr>
            <a:r>
              <a:rPr lang="zh-CN" altLang="en-US" dirty="0"/>
              <a:t>步骤</a:t>
            </a:r>
            <a:endParaRPr lang="en-US" dirty="0"/>
          </a:p>
          <a:p>
            <a:pPr marL="774700" lvl="1" indent="-457200">
              <a:buAutoNum type="arabicPeriod"/>
              <a:tabLst>
                <a:tab pos="1828800" algn="l"/>
              </a:tabLst>
            </a:pPr>
            <a:r>
              <a:rPr lang="zh-CN" altLang="en-US" b="1" dirty="0">
                <a:latin typeface="Times New Roman Bold" panose="02020603050405020304" charset="0"/>
                <a:cs typeface="Times New Roman Bold" panose="02020603050405020304" charset="0"/>
              </a:rPr>
              <a:t>规范化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：</a:t>
            </a: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Normalize </a:t>
            </a:r>
            <a:r>
              <a:rPr lang="en-US" dirty="0"/>
              <a:t>to have leading 1</a:t>
            </a:r>
            <a:endParaRPr lang="en-US" dirty="0"/>
          </a:p>
          <a:p>
            <a:pPr marL="774700" lvl="1" indent="-457200">
              <a:buAutoNum type="arabicPeriod"/>
              <a:tabLst>
                <a:tab pos="1828800" algn="l"/>
              </a:tabLst>
            </a:pPr>
            <a:r>
              <a:rPr lang="zh-CN" altLang="en-US" b="1" dirty="0">
                <a:latin typeface="Times New Roman Bold" panose="02020603050405020304" charset="0"/>
                <a:cs typeface="Times New Roman Bold" panose="02020603050405020304" charset="0"/>
              </a:rPr>
              <a:t>舍入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：</a:t>
            </a: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Round </a:t>
            </a:r>
            <a:r>
              <a:rPr lang="en-US" dirty="0"/>
              <a:t>to fit within fraction</a:t>
            </a:r>
            <a:endParaRPr lang="en-US" dirty="0"/>
          </a:p>
          <a:p>
            <a:pPr marL="774700" lvl="1" indent="-457200">
              <a:buAutoNum type="arabicPeriod"/>
              <a:tabLst>
                <a:tab pos="1828800" algn="l"/>
              </a:tabLst>
            </a:pPr>
            <a:r>
              <a:rPr lang="zh-CN" altLang="en-US" b="1" dirty="0" err="1">
                <a:latin typeface="Times New Roman Bold" panose="02020603050405020304" charset="0"/>
                <a:cs typeface="Times New Roman Bold" panose="02020603050405020304" charset="0"/>
              </a:rPr>
              <a:t>后续规范化</a:t>
            </a:r>
            <a:r>
              <a:rPr lang="en-US" altLang="zh-CN" b="1" dirty="0" err="1">
                <a:latin typeface="Times New Roman Bold" panose="02020603050405020304" charset="0"/>
                <a:cs typeface="Times New Roman Bold" panose="02020603050405020304" charset="0"/>
              </a:rPr>
              <a:t>：</a:t>
            </a:r>
            <a:r>
              <a:rPr lang="en-US" b="1" dirty="0" err="1">
                <a:latin typeface="Times New Roman Bold" panose="02020603050405020304" charset="0"/>
                <a:cs typeface="Times New Roman Bold" panose="02020603050405020304" charset="0"/>
              </a:rPr>
              <a:t>Postnormalize</a:t>
            </a: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dirty="0"/>
              <a:t>to deal with effects of rounding</a:t>
            </a:r>
            <a:endParaRPr lang="en-US" dirty="0"/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zh-CN" altLang="en-US" dirty="0"/>
              <a:t>例子</a:t>
            </a:r>
            <a:endParaRPr lang="en-US" dirty="0"/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Convert 8-bit unsigned numbers to tiny floating point format</a:t>
            </a:r>
            <a:endParaRPr lang="en-US" dirty="0"/>
          </a:p>
          <a:p>
            <a:pPr marL="552450" lvl="1">
              <a:buNone/>
              <a:tabLst>
                <a:tab pos="1828800" algn="l"/>
              </a:tabLst>
            </a:pPr>
            <a:r>
              <a:rPr lang="en-US" dirty="0"/>
              <a:t>Example Numbers</a:t>
            </a:r>
            <a:endParaRPr lang="en-US" dirty="0"/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128</a:t>
            </a:r>
            <a:r>
              <a:rPr lang="en-US" sz="1800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10000000</a:t>
            </a:r>
            <a:endParaRPr lang="en-US" sz="1800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13</a:t>
            </a:r>
            <a:r>
              <a:rPr lang="en-US" sz="1800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 smtClean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00001101?</a:t>
            </a:r>
            <a:endParaRPr lang="en-US" sz="1800" b="1" dirty="0">
              <a:solidFill>
                <a:srgbClr val="00B050"/>
              </a:solidFill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33</a:t>
            </a:r>
            <a:r>
              <a:rPr lang="en-US" sz="1800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00010001</a:t>
            </a:r>
            <a:endParaRPr lang="en-US" sz="1800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35</a:t>
            </a:r>
            <a:r>
              <a:rPr lang="en-US" sz="1800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00010011</a:t>
            </a:r>
            <a:endParaRPr lang="en-US" sz="1800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138</a:t>
            </a:r>
            <a:r>
              <a:rPr lang="en-US" sz="1800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10001010</a:t>
            </a:r>
            <a:endParaRPr lang="en-US" sz="1800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63</a:t>
            </a:r>
            <a:r>
              <a:rPr lang="en-US" sz="1800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00111111</a:t>
            </a:r>
            <a:endParaRPr lang="en-US" sz="1800" b="1" dirty="0">
              <a:latin typeface="Courier New" panose="02070609020205020404"/>
              <a:cs typeface="Courier New" panose="02070609020205020404"/>
              <a:sym typeface="Monaco" charset="0"/>
            </a:endParaRPr>
          </a:p>
        </p:txBody>
      </p:sp>
      <p:graphicFrame>
        <p:nvGraphicFramePr>
          <p:cNvPr id="49157" name="Group 5"/>
          <p:cNvGraphicFramePr>
            <a:graphicFrameLocks noGrp="1"/>
          </p:cNvGraphicFramePr>
          <p:nvPr/>
        </p:nvGraphicFramePr>
        <p:xfrm>
          <a:off x="6477000" y="9144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规范化</a:t>
            </a:r>
            <a:endParaRPr lang="zh-CN" alt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774825" algn="l"/>
                <a:tab pos="3511550" algn="l"/>
                <a:tab pos="5340350" algn="l"/>
              </a:tabLst>
            </a:pPr>
            <a:r>
              <a:rPr lang="zh-CN" altLang="en-US" dirty="0"/>
              <a:t>需求</a:t>
            </a:r>
            <a:endParaRPr lang="en-US" dirty="0"/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zh-CN" altLang="en-US" dirty="0"/>
              <a:t>转化成规格化形式</a:t>
            </a:r>
            <a:r>
              <a:rPr lang="en-US" altLang="zh-CN" dirty="0"/>
              <a:t>：</a:t>
            </a:r>
            <a:r>
              <a:rPr lang="en-US" dirty="0"/>
              <a:t>1.xxxxx</a:t>
            </a:r>
            <a:endParaRPr lang="en-US" dirty="0"/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zh-CN" altLang="en-US" dirty="0"/>
              <a:t>通过左</a:t>
            </a:r>
            <a:r>
              <a:rPr lang="zh-CN" altLang="en-US" dirty="0"/>
              <a:t>移调整成</a:t>
            </a:r>
            <a:r>
              <a:rPr lang="en-US" altLang="zh-CN" dirty="0"/>
              <a:t>：</a:t>
            </a:r>
            <a:r>
              <a:rPr lang="zh-CN" altLang="en-US" dirty="0"/>
              <a:t>小数的第一位为</a:t>
            </a:r>
            <a:r>
              <a:rPr lang="en-US" altLang="zh-CN" dirty="0"/>
              <a:t>1</a:t>
            </a:r>
            <a:endParaRPr lang="en-US" dirty="0"/>
          </a:p>
          <a:p>
            <a:pPr marL="838200" lvl="2">
              <a:tabLst>
                <a:tab pos="1774825" algn="l"/>
                <a:tab pos="3511550" algn="l"/>
                <a:tab pos="5340350" algn="l"/>
              </a:tabLst>
            </a:pPr>
            <a:r>
              <a:rPr lang="zh-CN" altLang="en-US" dirty="0"/>
              <a:t>左移过程中</a:t>
            </a:r>
            <a:r>
              <a:rPr lang="en-US" altLang="zh-CN" dirty="0"/>
              <a:t>，</a:t>
            </a:r>
            <a:r>
              <a:rPr lang="zh-CN" altLang="en-US" dirty="0"/>
              <a:t>同步减小指数的值</a:t>
            </a:r>
            <a:endParaRPr lang="en-US" dirty="0"/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Binary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Exponent</a:t>
            </a:r>
            <a:endParaRPr lang="en-US" dirty="0">
              <a:latin typeface="Calibri Bold Italic" charset="0"/>
              <a:ea typeface="ヒラギノ角ゴ ProN W6" panose="020B0300000000000000" charset="-128"/>
              <a:cs typeface="ヒラギノ角ゴ ProN W6" panose="020B0300000000000000" charset="-128"/>
              <a:sym typeface="Calibri Bold Italic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128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10000000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1.0000000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7</a:t>
            </a:r>
            <a:endParaRPr lang="en-US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13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00001101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1.101</a:t>
            </a:r>
            <a:r>
              <a:rPr lang="en-US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0000</a:t>
            </a:r>
            <a:r>
              <a:rPr lang="en-US" b="1" dirty="0">
                <a:solidFill>
                  <a:schemeClr val="tx1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3</a:t>
            </a:r>
            <a:endParaRPr lang="en-US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17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00010001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1.000</a:t>
            </a:r>
            <a:r>
              <a:rPr lang="en-US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1000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4</a:t>
            </a:r>
            <a:endParaRPr lang="en-US" b="1" dirty="0">
              <a:solidFill>
                <a:srgbClr val="00B050"/>
              </a:solidFill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19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00010011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1.001</a:t>
            </a:r>
            <a:r>
              <a:rPr lang="en-US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1000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4</a:t>
            </a:r>
            <a:endParaRPr lang="en-US" b="1" dirty="0">
              <a:solidFill>
                <a:srgbClr val="00B050"/>
              </a:solidFill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138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10001010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1.0001010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7</a:t>
            </a:r>
            <a:endParaRPr lang="en-US" b="1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63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00111111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1.1111100</a:t>
            </a:r>
            <a:r>
              <a:rPr lang="en-US" b="1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5</a:t>
            </a:r>
            <a:endParaRPr lang="en-US" b="1" dirty="0">
              <a:latin typeface="Courier New" panose="02070609020205020404"/>
              <a:cs typeface="Courier New" panose="02070609020205020404"/>
              <a:sym typeface="Monaco" charset="0"/>
            </a:endParaRPr>
          </a:p>
        </p:txBody>
      </p:sp>
      <p:graphicFrame>
        <p:nvGraphicFramePr>
          <p:cNvPr id="50181" name="Group 5"/>
          <p:cNvGraphicFramePr>
            <a:graphicFrameLocks noGrp="1"/>
          </p:cNvGraphicFramePr>
          <p:nvPr/>
        </p:nvGraphicFramePr>
        <p:xfrm>
          <a:off x="5803900" y="635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/>
                <a:gridCol w="1397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120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舍入</a:t>
            </a:r>
            <a:endParaRPr lang="zh-CN" altLang="en-US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2844800"/>
            <a:ext cx="8382000" cy="3987800"/>
          </a:xfrm>
        </p:spPr>
        <p:txBody>
          <a:bodyPr/>
          <a:lstStyle/>
          <a:p>
            <a:pPr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zh-CN" altLang="en-US" dirty="0"/>
              <a:t>向上舍入的条件</a:t>
            </a:r>
            <a:endParaRPr lang="en-US" dirty="0"/>
          </a:p>
          <a:p>
            <a:pPr marL="552450" lvl="1"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altLang="zh-CN" dirty="0">
                <a:ea typeface="Zapf Dingbats" panose="05020102010704020609" charset="0"/>
                <a:cs typeface="Zapf Dingbats" panose="05020102010704020609" charset="0"/>
              </a:rPr>
              <a:t>R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位</a:t>
            </a:r>
            <a:r>
              <a:rPr lang="en-US" altLang="zh-CN" dirty="0">
                <a:ea typeface="Zapf Dingbats" panose="05020102010704020609" charset="0"/>
                <a:cs typeface="Zapf Dingbats" panose="05020102010704020609" charset="0"/>
              </a:rPr>
              <a:t> 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= 1, S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位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 = 1 ➙ &gt; 0.5，</a:t>
            </a:r>
            <a:r>
              <a:rPr lang="zh-CN" altLang="en-US" b="1" dirty="0">
                <a:ea typeface="Zapf Dingbats" panose="05020102010704020609" charset="0"/>
                <a:cs typeface="Zapf Dingbats" panose="05020102010704020609" charset="0"/>
              </a:rPr>
              <a:t>向上舍入</a:t>
            </a:r>
            <a:endParaRPr lang="en-US" dirty="0"/>
          </a:p>
          <a:p>
            <a:pPr marL="552450" lvl="1"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altLang="zh-CN" dirty="0">
                <a:ea typeface="Zapf Dingbats" panose="05020102010704020609" charset="0"/>
                <a:cs typeface="Zapf Dingbats" panose="05020102010704020609" charset="0"/>
              </a:rPr>
              <a:t>R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位</a:t>
            </a:r>
            <a:r>
              <a:rPr lang="en-US" altLang="zh-CN" dirty="0">
                <a:ea typeface="Zapf Dingbats" panose="05020102010704020609" charset="0"/>
                <a:cs typeface="Zapf Dingbats" panose="05020102010704020609" charset="0"/>
              </a:rPr>
              <a:t> 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= 1, S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位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= 0 ➙ 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靠偶数舍入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 (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如果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Guard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位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</a:rPr>
              <a:t> = 1</a:t>
            </a:r>
            <a:r>
              <a:rPr lang="zh-CN" altLang="en-US" dirty="0">
                <a:ea typeface="Zapf Dingbats" panose="05020102010704020609" charset="0"/>
                <a:cs typeface="Zapf Dingbats" panose="05020102010704020609" charset="0"/>
              </a:rPr>
              <a:t>时</a:t>
            </a:r>
            <a:r>
              <a:rPr lang="en-US" altLang="zh-CN" dirty="0">
                <a:ea typeface="Zapf Dingbats" panose="05020102010704020609" charset="0"/>
                <a:cs typeface="Zapf Dingbats" panose="05020102010704020609" charset="0"/>
              </a:rPr>
              <a:t>，</a:t>
            </a:r>
            <a:r>
              <a:rPr lang="zh-CN" altLang="en-US" b="1" dirty="0">
                <a:ea typeface="Zapf Dingbats" panose="05020102010704020609" charset="0"/>
                <a:cs typeface="Zapf Dingbats" panose="05020102010704020609" charset="0"/>
              </a:rPr>
              <a:t>向上舍入</a:t>
            </a:r>
            <a:r>
              <a:rPr lang="en-US" dirty="0">
                <a:ea typeface="Zapf Dingbats" panose="05020102010704020609" charset="0"/>
                <a:cs typeface="Zapf Dingbats" panose="05020102010704020609" charset="0"/>
                <a:sym typeface="+mn-ea"/>
              </a:rPr>
              <a:t>)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zh-CN" alt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原来的值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zh-CN" alt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二进制</a:t>
            </a:r>
            <a:r>
              <a:rPr lang="zh-CN" alt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小数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GRS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zh-CN" alt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是否进位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?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zh-CN" alt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舍入</a:t>
            </a:r>
            <a:r>
              <a:rPr lang="zh-CN" alt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后的结果</a:t>
            </a:r>
            <a:endParaRPr lang="en-US" dirty="0">
              <a:latin typeface="Calibri Bold Italic" charset="0"/>
              <a:ea typeface="ヒラギノ角ゴ ProN W6" panose="020B0300000000000000" charset="-128"/>
              <a:cs typeface="ヒラギノ角ゴ ProN W6" panose="020B0300000000000000" charset="-128"/>
              <a:sym typeface="Calibri Bold Italic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128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1.000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0000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N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	1.000</a:t>
            </a:r>
            <a:endParaRPr lang="en-US" sz="1800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13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1.101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0000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100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N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	1.101</a:t>
            </a:r>
            <a:endParaRPr lang="en-US" sz="1800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17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1.000</a:t>
            </a:r>
            <a:r>
              <a:rPr lang="en-US" sz="1800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1000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010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N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	1.000 (</a:t>
            </a:r>
            <a:r>
              <a:rPr lang="zh-CN" alt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舍</a:t>
            </a:r>
            <a:r>
              <a:rPr lang="en-US" sz="1800" dirty="0">
                <a:ea typeface="Zapf Dingbats" panose="05020102010704020609" charset="0"/>
                <a:cs typeface="Zapf Dingbats" panose="05020102010704020609" charset="0"/>
                <a:sym typeface="+mn-ea"/>
              </a:rPr>
              <a:t>)</a:t>
            </a:r>
            <a:endParaRPr lang="en-US" sz="1800" dirty="0">
              <a:latin typeface="Courier New Bold" panose="02070609020205020404" charset="0"/>
              <a:cs typeface="Courier New Bold" panose="02070609020205020404" charset="0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19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1.001</a:t>
            </a:r>
            <a:r>
              <a:rPr lang="en-US" sz="1800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1000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110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Y</a:t>
            </a:r>
            <a:r>
              <a:rPr lang="en-US" sz="1800" dirty="0"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	1.010 (</a:t>
            </a:r>
            <a:r>
              <a:rPr lang="zh-CN" alt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入</a:t>
            </a:r>
            <a:r>
              <a:rPr lang="en-US" sz="1800" dirty="0">
                <a:ea typeface="Zapf Dingbats" panose="05020102010704020609" charset="0"/>
                <a:cs typeface="Zapf Dingbats" panose="05020102010704020609" charset="0"/>
                <a:sym typeface="+mn-ea"/>
              </a:rPr>
              <a:t>)</a:t>
            </a:r>
            <a:endParaRPr lang="en-US" sz="1800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138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1.000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1010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011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Y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	1.001</a:t>
            </a:r>
            <a:endParaRPr lang="en-US" sz="1800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63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1.111</a:t>
            </a:r>
            <a:r>
              <a:rPr lang="en-US" sz="1800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1100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b="1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111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Y</a:t>
            </a:r>
            <a:r>
              <a:rPr lang="en-US" sz="1800" dirty="0">
                <a:latin typeface="Courier New" panose="02070609020205020404"/>
                <a:cs typeface="Courier New" panose="02070609020205020404"/>
                <a:sym typeface="Monaco" charset="0"/>
              </a:rPr>
              <a:t>			</a:t>
            </a:r>
            <a:r>
              <a:rPr lang="en-US" sz="1800" b="1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10.000</a:t>
            </a:r>
            <a:r>
              <a:rPr lang="en-US" sz="1800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</a:t>
            </a:r>
            <a:r>
              <a:rPr 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(</a:t>
            </a:r>
            <a:r>
              <a:rPr lang="zh-CN" altLang="en-US" sz="1800" dirty="0"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入</a:t>
            </a:r>
            <a:r>
              <a:rPr lang="en-US" sz="1800" dirty="0">
                <a:ea typeface="Zapf Dingbats" panose="05020102010704020609" charset="0"/>
                <a:cs typeface="Zapf Dingbats" panose="05020102010704020609" charset="0"/>
                <a:sym typeface="+mn-ea"/>
              </a:rPr>
              <a:t>)</a:t>
            </a:r>
            <a:endParaRPr lang="zh-CN" altLang="en-US" sz="1800" dirty="0">
              <a:latin typeface="Courier New" panose="02070609020205020404"/>
              <a:ea typeface="SimSun" charset="0"/>
              <a:cs typeface="Courier New" panose="02070609020205020404"/>
              <a:sym typeface="Monaco" charset="0"/>
            </a:endParaRPr>
          </a:p>
        </p:txBody>
      </p:sp>
      <p:sp>
        <p:nvSpPr>
          <p:cNvPr id="51205" name="Rectangle 5"/>
          <p:cNvSpPr/>
          <p:nvPr/>
        </p:nvSpPr>
        <p:spPr bwMode="auto">
          <a:xfrm>
            <a:off x="5282248" y="698500"/>
            <a:ext cx="2545080" cy="62992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1.BBG</a:t>
            </a:r>
            <a:r>
              <a:rPr lang="en-US" sz="3600" b="1" dirty="0">
                <a:solidFill>
                  <a:srgbClr val="CC0000"/>
                </a:solidFill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RXXX</a:t>
            </a:r>
            <a:endParaRPr lang="en-US" sz="3600" b="1" dirty="0">
              <a:solidFill>
                <a:srgbClr val="CC0000"/>
              </a:solidFill>
              <a:latin typeface="Courier New" panose="02070609020205020404"/>
              <a:ea typeface="Monaco" charset="0"/>
              <a:cs typeface="Courier New" panose="02070609020205020404"/>
              <a:sym typeface="Monaco" charset="0"/>
            </a:endParaRPr>
          </a:p>
        </p:txBody>
      </p:sp>
      <p:sp>
        <p:nvSpPr>
          <p:cNvPr id="51206" name="Rectangle 6"/>
          <p:cNvSpPr/>
          <p:nvPr/>
        </p:nvSpPr>
        <p:spPr bwMode="auto">
          <a:xfrm>
            <a:off x="1447800" y="1370965"/>
            <a:ext cx="3450590" cy="466725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</a:t>
            </a:r>
            <a:r>
              <a:rPr lang="zh-CN" alt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位</a:t>
            </a:r>
            <a:r>
              <a:rPr lang="en-US" altLang="zh-CN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Guard bit: </a:t>
            </a:r>
            <a:r>
              <a:rPr lang="zh-CN" alt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保留结果的</a:t>
            </a:r>
            <a:r>
              <a:rPr lang="zh-CN" alt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最低位</a:t>
            </a:r>
            <a:endParaRPr lang="zh-CN" altLang="en-US" sz="20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51207" name="Rectangle 7"/>
          <p:cNvSpPr/>
          <p:nvPr/>
        </p:nvSpPr>
        <p:spPr bwMode="auto">
          <a:xfrm>
            <a:off x="3047683" y="2149475"/>
            <a:ext cx="2383155" cy="38354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altLang="zh-CN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</a:t>
            </a:r>
            <a:r>
              <a:rPr lang="zh-CN" alt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位</a:t>
            </a:r>
            <a:r>
              <a:rPr lang="en-US" altLang="zh-CN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1</a:t>
            </a:r>
            <a:r>
              <a:rPr lang="en-US" sz="2000" baseline="30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bit </a:t>
            </a:r>
            <a:r>
              <a:rPr lang="en-US" sz="2000" b="1">
                <a:solidFill>
                  <a:srgbClr val="FF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emoved</a:t>
            </a:r>
            <a:endParaRPr lang="en-US" sz="20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51208" name="AutoShape 8"/>
          <p:cNvSpPr/>
          <p:nvPr/>
        </p:nvSpPr>
        <p:spPr bwMode="auto">
          <a:xfrm rot="-5400000">
            <a:off x="7232650" y="1084263"/>
            <a:ext cx="381000" cy="7747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005"/>
                  <a:pt x="10800" y="18036"/>
                </a:cubicBezTo>
                <a:lnTo>
                  <a:pt x="10800" y="14364"/>
                </a:lnTo>
                <a:cubicBezTo>
                  <a:pt x="10800" y="12395"/>
                  <a:pt x="5965" y="10800"/>
                  <a:pt x="0" y="10800"/>
                </a:cubicBezTo>
                <a:cubicBezTo>
                  <a:pt x="5965" y="10800"/>
                  <a:pt x="10800" y="9204"/>
                  <a:pt x="10800" y="7236"/>
                </a:cubicBezTo>
                <a:lnTo>
                  <a:pt x="10800" y="3564"/>
                </a:lnTo>
                <a:cubicBezTo>
                  <a:pt x="10800" y="1596"/>
                  <a:pt x="15635" y="0"/>
                  <a:pt x="21600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09" name="Rectangle 9"/>
          <p:cNvSpPr/>
          <p:nvPr/>
        </p:nvSpPr>
        <p:spPr bwMode="auto">
          <a:xfrm>
            <a:off x="6550025" y="1798638"/>
            <a:ext cx="3963035" cy="38354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</a:t>
            </a:r>
            <a:r>
              <a:rPr lang="zh-CN" alt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位</a:t>
            </a:r>
            <a:r>
              <a:rPr lang="en-US" altLang="zh-CN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Sticky: OR of remaining bits</a:t>
            </a:r>
            <a:endParaRPr lang="en-US" sz="20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51210" name="Freeform 10"/>
          <p:cNvSpPr/>
          <p:nvPr/>
        </p:nvSpPr>
        <p:spPr bwMode="auto">
          <a:xfrm>
            <a:off x="5588000" y="1258888"/>
            <a:ext cx="1231900" cy="1090612"/>
          </a:xfrm>
          <a:custGeom>
            <a:avLst/>
            <a:gdLst/>
            <a:ahLst/>
            <a:cxnLst>
              <a:cxn ang="0">
                <a:pos x="0" y="19500"/>
              </a:cxn>
              <a:cxn ang="0">
                <a:pos x="21380" y="3812"/>
              </a:cxn>
              <a:cxn ang="0">
                <a:pos x="21159" y="628"/>
              </a:cxn>
            </a:cxnLst>
            <a:rect l="0" t="0" r="r" b="b"/>
            <a:pathLst>
              <a:path w="21381" h="19500">
                <a:moveTo>
                  <a:pt x="0" y="19500"/>
                </a:moveTo>
                <a:cubicBezTo>
                  <a:pt x="0" y="19500"/>
                  <a:pt x="21600" y="9723"/>
                  <a:pt x="21380" y="3812"/>
                </a:cubicBezTo>
                <a:cubicBezTo>
                  <a:pt x="21159" y="-2100"/>
                  <a:pt x="21159" y="628"/>
                  <a:pt x="21159" y="628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Freeform 11"/>
          <p:cNvSpPr/>
          <p:nvPr/>
        </p:nvSpPr>
        <p:spPr bwMode="auto">
          <a:xfrm>
            <a:off x="4775200" y="1320800"/>
            <a:ext cx="1790700" cy="596900"/>
          </a:xfrm>
          <a:custGeom>
            <a:avLst/>
            <a:gdLst/>
            <a:ahLst/>
            <a:cxnLst>
              <a:cxn ang="0">
                <a:pos x="0" y="12462"/>
              </a:cxn>
              <a:cxn ang="0">
                <a:pos x="11949" y="19108"/>
              </a:cxn>
              <a:cxn ang="0">
                <a:pos x="21600" y="4154"/>
              </a:cxn>
              <a:cxn ang="0">
                <a:pos x="21447" y="0"/>
              </a:cxn>
            </a:cxnLst>
            <a:rect l="0" t="0" r="r" b="b"/>
            <a:pathLst>
              <a:path w="21600" h="19538">
                <a:moveTo>
                  <a:pt x="0" y="12462"/>
                </a:moveTo>
                <a:cubicBezTo>
                  <a:pt x="0" y="12462"/>
                  <a:pt x="5668" y="21600"/>
                  <a:pt x="11949" y="19108"/>
                </a:cubicBezTo>
                <a:cubicBezTo>
                  <a:pt x="18230" y="16615"/>
                  <a:pt x="21600" y="4985"/>
                  <a:pt x="21600" y="4154"/>
                </a:cubicBezTo>
                <a:cubicBezTo>
                  <a:pt x="21600" y="3323"/>
                  <a:pt x="21447" y="0"/>
                  <a:pt x="21447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后续</a:t>
            </a:r>
            <a:r>
              <a:rPr lang="zh-CN" altLang="en-US"/>
              <a:t>规范化</a:t>
            </a:r>
            <a:endParaRPr lang="zh-CN" alt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zh-CN" altLang="en-US" dirty="0"/>
              <a:t>可能存在</a:t>
            </a:r>
            <a:r>
              <a:rPr lang="zh-CN" altLang="en-US" dirty="0"/>
              <a:t>的问题</a:t>
            </a:r>
            <a:endParaRPr lang="en-US" dirty="0"/>
          </a:p>
          <a:p>
            <a:pPr marL="552450" lvl="1"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zh-CN" altLang="en-US" dirty="0"/>
              <a:t>舍入</a:t>
            </a:r>
            <a:r>
              <a:rPr lang="zh-CN" altLang="en-US" dirty="0"/>
              <a:t>步骤可能导致溢出</a:t>
            </a:r>
            <a:endParaRPr lang="en-US" dirty="0"/>
          </a:p>
          <a:p>
            <a:pPr marL="552450" lvl="1"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zh-CN" altLang="en-US" dirty="0"/>
              <a:t>通过右移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 &amp; </a:t>
            </a:r>
            <a:r>
              <a:rPr lang="zh-CN" altLang="en-US" dirty="0"/>
              <a:t>增加指数值来处理</a:t>
            </a:r>
            <a:endParaRPr lang="en-US" dirty="0"/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Adjusted</a:t>
            </a:r>
            <a:r>
              <a:rPr lang="en-US" dirty="0"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Result</a:t>
            </a:r>
            <a:endParaRPr lang="en-US" dirty="0">
              <a:latin typeface="Calibri Bold Italic" charset="0"/>
              <a:ea typeface="ヒラギノ角ゴ ProN W6" panose="020B0300000000000000" charset="-128"/>
              <a:cs typeface="ヒラギノ角ゴ ProN W6" panose="020B0300000000000000" charset="-128"/>
              <a:sym typeface="Calibri Bold Italic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b="1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128</a:t>
            </a:r>
            <a:r>
              <a:rPr lang="en-US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1.000</a:t>
            </a:r>
            <a:r>
              <a:rPr lang="en-US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7</a:t>
            </a:r>
            <a:r>
              <a:rPr lang="en-US" dirty="0">
                <a:latin typeface="Courier New" panose="02070609020205020404"/>
                <a:cs typeface="Courier New" panose="02070609020205020404"/>
                <a:sym typeface="Monaco" charset="0"/>
              </a:rPr>
              <a:t>		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128</a:t>
            </a:r>
            <a:endParaRPr lang="en-US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 13</a:t>
            </a:r>
            <a:r>
              <a:rPr lang="en-US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1.101</a:t>
            </a:r>
            <a:r>
              <a:rPr lang="en-US" dirty="0">
                <a:latin typeface="Courier New" panose="02070609020205020404"/>
                <a:cs typeface="Courier New" panose="02070609020205020404"/>
                <a:sym typeface="Monaco" charset="0"/>
              </a:rPr>
              <a:t>	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3</a:t>
            </a:r>
            <a:r>
              <a:rPr lang="en-US" dirty="0">
                <a:latin typeface="Courier New" panose="02070609020205020404"/>
                <a:cs typeface="Courier New" panose="02070609020205020404"/>
                <a:sym typeface="Monaco" charset="0"/>
              </a:rPr>
              <a:t>		</a:t>
            </a:r>
            <a:r>
              <a:rPr lang="en-US" dirty="0">
                <a:latin typeface="Courier New" panose="02070609020205020404"/>
                <a:ea typeface="Monaco" charset="0"/>
                <a:cs typeface="Courier New" panose="02070609020205020404"/>
                <a:sym typeface="Monaco" charset="0"/>
              </a:rPr>
              <a:t> 13</a:t>
            </a:r>
            <a:endParaRPr lang="en-US" dirty="0">
              <a:latin typeface="Courier New" panose="02070609020205020404"/>
              <a:cs typeface="Courier New" panose="02070609020205020404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 17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1.000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4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16</a:t>
            </a:r>
            <a:endParaRPr lang="en-US" b="1" dirty="0">
              <a:solidFill>
                <a:srgbClr val="00B050"/>
              </a:solidFill>
              <a:latin typeface="Courier New Bold" panose="02070609020205020404" charset="0"/>
              <a:cs typeface="Courier New Bold" panose="02070609020205020404" charset="0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 19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1.010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4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20</a:t>
            </a:r>
            <a:endParaRPr lang="en-US" b="1" dirty="0">
              <a:solidFill>
                <a:srgbClr val="00B050"/>
              </a:solidFill>
              <a:latin typeface="Courier New Bold" panose="02070609020205020404" charset="0"/>
              <a:cs typeface="Courier New Bold" panose="02070609020205020404" charset="0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138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1.001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7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	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144</a:t>
            </a:r>
            <a:r>
              <a:rPr lang="en-US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endParaRPr lang="en-US" b="1" dirty="0">
              <a:solidFill>
                <a:srgbClr val="00B050"/>
              </a:solidFill>
              <a:latin typeface="Courier New Bold" panose="02070609020205020404" charset="0"/>
              <a:cs typeface="Courier New Bold" panose="02070609020205020404" charset="0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145" algn="l"/>
                <a:tab pos="598170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  <a:tab pos="1866900" algn="l"/>
                <a:tab pos="3603625" algn="l"/>
                <a:tab pos="4335145" algn="l"/>
                <a:tab pos="6071870" algn="l"/>
              </a:tabLst>
            </a:pP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 63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10.000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5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1.000/6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Monaco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64	0 1101 000</a:t>
            </a:r>
            <a:endParaRPr lang="en-US" b="1" dirty="0">
              <a:solidFill>
                <a:srgbClr val="FF0000"/>
              </a:solidFill>
              <a:latin typeface="Courier New Bold" panose="02070609020205020404" charset="0"/>
              <a:ea typeface="Monaco" charset="0"/>
              <a:cs typeface="Courier New Bold" panose="02070609020205020404" charset="0"/>
              <a:sym typeface="Monac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174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1905000" y="254000"/>
            <a:ext cx="8382000" cy="622300"/>
          </a:xfrm>
        </p:spPr>
        <p:txBody>
          <a:bodyPr/>
          <a:lstStyle/>
          <a:p>
            <a:pPr marL="119380" indent="-119380"/>
            <a:r>
              <a:rPr lang="zh-CN" altLang="en-US"/>
              <a:t>有趣的</a:t>
            </a:r>
            <a:r>
              <a:rPr lang="zh-CN" altLang="en-US"/>
              <a:t>数值</a:t>
            </a:r>
            <a:endParaRPr lang="zh-CN" alt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05000" y="965200"/>
            <a:ext cx="8382000" cy="5867400"/>
          </a:xfrm>
        </p:spPr>
        <p:txBody>
          <a:bodyPr/>
          <a:lstStyle/>
          <a:p>
            <a:pPr>
              <a:buNone/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zh-CN" altLang="en-US" sz="2000" dirty="0"/>
              <a:t>描述</a:t>
            </a:r>
            <a:r>
              <a:rPr lang="en-US" sz="2000" i="1" dirty="0"/>
              <a:t>	exp	</a:t>
            </a:r>
            <a:r>
              <a:rPr lang="en-US" sz="2000" i="1" dirty="0" err="1"/>
              <a:t>frac</a:t>
            </a:r>
            <a:r>
              <a:rPr lang="en-US" sz="2000" i="1" dirty="0"/>
              <a:t>	Numeric Value</a:t>
            </a:r>
            <a:endParaRPr lang="en-US" sz="2000" i="1" dirty="0"/>
          </a:p>
          <a:p>
            <a:pPr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2000" dirty="0">
                <a:solidFill>
                  <a:srgbClr val="00B050"/>
                </a:solidFill>
              </a:rPr>
              <a:t>Zero	00…00	00…00	0.0</a:t>
            </a:r>
            <a:endParaRPr lang="en-US" sz="2000" dirty="0">
              <a:solidFill>
                <a:srgbClr val="00B050"/>
              </a:solidFill>
            </a:endParaRPr>
          </a:p>
          <a:p>
            <a:pPr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2000" dirty="0"/>
              <a:t>Smallest Pos. </a:t>
            </a:r>
            <a:r>
              <a:rPr lang="en-US" sz="2000" dirty="0" err="1"/>
              <a:t>Denorm</a:t>
            </a:r>
            <a:r>
              <a:rPr lang="en-US" sz="2000" dirty="0"/>
              <a:t>.	00…00	00…01	2</a:t>
            </a:r>
            <a:r>
              <a:rPr lang="en-US" sz="2000" baseline="32000" dirty="0"/>
              <a:t>– {23,52}</a:t>
            </a:r>
            <a:r>
              <a:rPr lang="en-US" sz="2000" dirty="0"/>
              <a:t>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Single ≈ 1.4 x 10</a:t>
            </a:r>
            <a:r>
              <a:rPr lang="en-US" sz="1800" baseline="32000" dirty="0"/>
              <a:t>–45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Double ≈ 4.9 x 10</a:t>
            </a:r>
            <a:r>
              <a:rPr lang="en-US" sz="1800" baseline="32000" dirty="0"/>
              <a:t>–324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2000" dirty="0"/>
              <a:t>Largest </a:t>
            </a:r>
            <a:r>
              <a:rPr lang="en-US" sz="2000" dirty="0" err="1"/>
              <a:t>Denormalized</a:t>
            </a:r>
            <a:r>
              <a:rPr lang="en-US" sz="2000" dirty="0"/>
              <a:t>	00…00	11…11	(1.0 – ε)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Single ≈ 1.18 x 10</a:t>
            </a:r>
            <a:r>
              <a:rPr lang="en-US" sz="1800" baseline="32000" dirty="0"/>
              <a:t>–38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Double ≈ 2.2 x 10</a:t>
            </a:r>
            <a:r>
              <a:rPr lang="en-US" sz="1800" baseline="32000" dirty="0"/>
              <a:t>–308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2000" dirty="0"/>
              <a:t>Smallest Pos. Normalized	00…01	00…00	1.0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Just larger than largest </a:t>
            </a:r>
            <a:r>
              <a:rPr lang="en-US" sz="1800" dirty="0" err="1"/>
              <a:t>denormalized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2000" dirty="0">
                <a:solidFill>
                  <a:srgbClr val="00B050"/>
                </a:solidFill>
              </a:rPr>
              <a:t>One	01…11	00…00	1.0</a:t>
            </a:r>
            <a:endParaRPr lang="en-US" sz="2000" dirty="0"/>
          </a:p>
          <a:p>
            <a:pPr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2000" dirty="0"/>
              <a:t> Largest Normalized	11…10	11…11	(2.0 – ε) x 2</a:t>
            </a:r>
            <a:r>
              <a:rPr lang="en-US" sz="2000" baseline="32000" dirty="0"/>
              <a:t>{127,1023}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Single ≈ 3.4 x 10</a:t>
            </a:r>
            <a:r>
              <a:rPr lang="en-US" sz="1800" baseline="32000" dirty="0"/>
              <a:t>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  <a:tab pos="3511550" algn="l"/>
                <a:tab pos="4518025" algn="l"/>
                <a:tab pos="5706745" algn="l"/>
              </a:tabLst>
            </a:pPr>
            <a:r>
              <a:rPr lang="en-US" sz="1800" dirty="0"/>
              <a:t>Double ≈ 1.8 x 10</a:t>
            </a:r>
            <a:r>
              <a:rPr lang="en-US" sz="1800" baseline="32000" dirty="0"/>
              <a:t>308</a:t>
            </a:r>
            <a:endParaRPr lang="en-US" sz="1800" baseline="32000" dirty="0"/>
          </a:p>
        </p:txBody>
      </p:sp>
      <p:sp>
        <p:nvSpPr>
          <p:cNvPr id="31749" name="Rectangle 5"/>
          <p:cNvSpPr/>
          <p:nvPr/>
        </p:nvSpPr>
        <p:spPr bwMode="auto">
          <a:xfrm>
            <a:off x="7277100" y="414338"/>
            <a:ext cx="2819400" cy="4572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{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single,double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}</a:t>
            </a:r>
            <a:endParaRPr lang="en-US" sz="24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</a:t>
            </a:r>
            <a:r>
              <a:rPr lang="zh-CN" altLang="en-US">
                <a:ea typeface="Microsoft YaHei" charset="0"/>
              </a:rPr>
              <a:t>是多少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 u="sng">
                <a:ea typeface="Microsoft YaHei" charset="0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ea typeface="Microsoft YaHei" charset="0"/>
              </a:rPr>
              <a:t>       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>
                <a:ea typeface="Microsoft YaHei" charset="0"/>
              </a:rPr>
              <a:t>转换成一个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B（1-3-2，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endParaRPr lang="zh-CN" altLang="en-US">
              <a:ea typeface="Microsoft YaHei" charset="0"/>
            </a:endParaRPr>
          </a:p>
          <a:p>
            <a:pPr lvl="1"/>
            <a:r>
              <a:rPr lang="zh-CN" altLang="en-US" sz="2000">
                <a:ea typeface="Microsoft YaHei" charset="0"/>
              </a:rPr>
              <a:t>对应的</a:t>
            </a:r>
            <a:r>
              <a:rPr lang="en-US" altLang="zh-CN" sz="2000">
                <a:ea typeface="Microsoft YaHei" charset="0"/>
              </a:rPr>
              <a:t>2</a:t>
            </a:r>
            <a:r>
              <a:rPr lang="zh-CN" altLang="en-US" sz="2000">
                <a:ea typeface="Microsoft YaHei" charset="0"/>
              </a:rPr>
              <a:t>进制表示是多少</a:t>
            </a:r>
            <a:r>
              <a:rPr lang="en-US" altLang="zh-CN" sz="2000">
                <a:ea typeface="Microsoft YaHei" charset="0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</a:t>
            </a:r>
            <a:r>
              <a:rPr lang="en-US" altLang="zh-CN" u="sng">
                <a:ea typeface="Microsoft YaHei" charset="0"/>
                <a:sym typeface="+mn-ea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 sz="2000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10</a:t>
            </a:r>
            <a:r>
              <a:rPr lang="zh-CN" altLang="en-US">
                <a:ea typeface="Microsoft YaHei" charset="0"/>
                <a:sym typeface="+mn-ea"/>
              </a:rPr>
              <a:t>进制是多少</a:t>
            </a:r>
            <a:r>
              <a:rPr lang="en-US" altLang="zh-CN">
                <a:ea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</a:t>
            </a:r>
            <a:r>
              <a:rPr lang="en-US" altLang="zh-CN" u="sng">
                <a:ea typeface="Microsoft YaHei" charset="0"/>
                <a:sym typeface="+mn-ea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  <a:sym typeface="+mn-ea"/>
            </a:endParaRPr>
          </a:p>
          <a:p>
            <a:pPr lvl="0"/>
            <a:r>
              <a:rPr lang="zh-CN" altLang="en-US">
                <a:ea typeface="Microsoft YaHei" charset="0"/>
              </a:rPr>
              <a:t>再从格式</a:t>
            </a:r>
            <a:r>
              <a:rPr lang="en-US" altLang="zh-CN">
                <a:ea typeface="Microsoft YaHei" charset="0"/>
              </a:rPr>
              <a:t>B</a:t>
            </a:r>
            <a:r>
              <a:rPr lang="zh-CN" altLang="en-US">
                <a:ea typeface="Microsoft YaHei" charset="0"/>
              </a:rPr>
              <a:t>转换成格式</a:t>
            </a:r>
            <a:r>
              <a:rPr lang="en-US" altLang="zh-CN">
                <a:ea typeface="Microsoft YaHei" charset="0"/>
              </a:rPr>
              <a:t>A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2</a:t>
            </a:r>
            <a:r>
              <a:rPr lang="zh-CN" altLang="en-US">
                <a:ea typeface="Microsoft YaHei" charset="0"/>
                <a:sym typeface="+mn-ea"/>
              </a:rPr>
              <a:t>进制表示是多少</a:t>
            </a:r>
            <a:r>
              <a:rPr lang="en-US" altLang="zh-CN">
                <a:ea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</a:t>
            </a:r>
            <a:r>
              <a:rPr lang="en-US" altLang="zh-CN" u="sng">
                <a:ea typeface="Microsoft YaHei" charset="0"/>
                <a:sym typeface="+mn-ea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10</a:t>
            </a:r>
            <a:r>
              <a:rPr lang="zh-CN" altLang="en-US">
                <a:ea typeface="Microsoft YaHei" charset="0"/>
                <a:sym typeface="+mn-ea"/>
              </a:rPr>
              <a:t>进制是多少</a:t>
            </a:r>
            <a:r>
              <a:rPr lang="en-US" altLang="zh-CN">
                <a:ea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</a:t>
            </a:r>
            <a:r>
              <a:rPr lang="en-US" altLang="zh-CN" u="sng">
                <a:ea typeface="Microsoft YaHei" charset="0"/>
                <a:sym typeface="+mn-ea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  <a:sym typeface="+mn-ea"/>
            </a:endParaRPr>
          </a:p>
          <a:p>
            <a:pPr lvl="1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</a:t>
            </a:r>
            <a:r>
              <a:rPr lang="zh-CN" altLang="en-US">
                <a:ea typeface="Microsoft YaHei" charset="0"/>
              </a:rPr>
              <a:t>是多少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 u="sng">
                <a:ea typeface="Microsoft YaHei" charset="0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ea typeface="Microsoft YaHei" charset="0"/>
              </a:rPr>
              <a:t>       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</a:t>
            </a:r>
            <a:r>
              <a:rPr lang="zh-CN" altLang="en-US">
                <a:ea typeface="Microsoft YaHei" charset="0"/>
              </a:rPr>
              <a:t>是多少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u="sng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</a:t>
            </a:r>
            <a:r>
              <a:rPr lang="en-US" altLang="zh-CN">
                <a:ea typeface="Microsoft YaHei" charset="0"/>
                <a:sym typeface="+mn-ea"/>
              </a:rPr>
              <a:t>（</a:t>
            </a:r>
            <a:r>
              <a:rPr lang="en-US" altLang="zh-CN" u="sng">
                <a:ea typeface="Microsoft YaHei" charset="0"/>
                <a:sym typeface="+mn-ea"/>
              </a:rPr>
              <a:t>       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</a:t>
            </a:r>
            <a:r>
              <a:rPr lang="zh-CN" altLang="en-US">
                <a:ea typeface="Microsoft YaHei" charset="0"/>
              </a:rPr>
              <a:t>是多少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u="sng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3.75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 sz="2400">
                <a:ea typeface="Microsoft YaHei" charset="0"/>
                <a:sym typeface="+mn-ea"/>
              </a:rPr>
              <a:t>转换成一个</a:t>
            </a:r>
            <a:r>
              <a:rPr lang="en-US" altLang="zh-CN" sz="2400">
                <a:ea typeface="Microsoft YaHei" charset="0"/>
                <a:sym typeface="+mn-ea"/>
              </a:rPr>
              <a:t>FP6</a:t>
            </a:r>
            <a:r>
              <a:rPr lang="zh-CN" altLang="en-US" sz="2400">
                <a:ea typeface="Microsoft YaHei" charset="0"/>
                <a:sym typeface="+mn-ea"/>
              </a:rPr>
              <a:t>格式</a:t>
            </a:r>
            <a:r>
              <a:rPr lang="en-US" altLang="zh-CN" sz="2400">
                <a:ea typeface="Microsoft YaHei" charset="0"/>
                <a:sym typeface="+mn-ea"/>
              </a:rPr>
              <a:t>B（1-3-2，</a:t>
            </a:r>
            <a:r>
              <a:rPr lang="zh-CN" altLang="en-US" sz="2400">
                <a:ea typeface="Microsoft YaHei" charset="0"/>
                <a:sym typeface="+mn-ea"/>
              </a:rPr>
              <a:t>阶码</a:t>
            </a:r>
            <a:r>
              <a:rPr lang="en-US" altLang="zh-CN" sz="2400">
                <a:ea typeface="Microsoft YaHei" charset="0"/>
                <a:sym typeface="+mn-ea"/>
              </a:rPr>
              <a:t>3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，</a:t>
            </a:r>
            <a:r>
              <a:rPr lang="zh-CN" altLang="en-US" sz="2400">
                <a:ea typeface="Microsoft YaHei" charset="0"/>
                <a:sym typeface="+mn-ea"/>
              </a:rPr>
              <a:t>小数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r>
              <a:rPr lang="zh-CN" altLang="en-US" sz="2400">
                <a:ea typeface="Microsoft YaHei" charset="0"/>
                <a:sym typeface="+mn-ea"/>
              </a:rPr>
              <a:t>表示的值</a:t>
            </a:r>
            <a:endParaRPr lang="zh-CN" altLang="en-US" sz="2400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进制表示是多少</a:t>
            </a:r>
            <a:r>
              <a:rPr lang="en-US" altLang="zh-CN" sz="2400">
                <a:ea typeface="Microsoft YaHei" charset="0"/>
                <a:sym typeface="+mn-ea"/>
              </a:rPr>
              <a:t>？</a:t>
            </a:r>
            <a:r>
              <a:rPr lang="en-US" altLang="zh-CN" sz="2400">
                <a:ea typeface="Microsoft YaHei" charset="0"/>
                <a:sym typeface="+mn-ea"/>
              </a:rPr>
              <a:t>（</a:t>
            </a:r>
            <a:r>
              <a:rPr lang="en-US" altLang="zh-CN" sz="2400" u="sng">
                <a:ea typeface="Microsoft YaHei" charset="0"/>
                <a:sym typeface="+mn-ea"/>
              </a:rPr>
              <a:t>       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endParaRPr lang="en-US" altLang="zh-CN" sz="2400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10</a:t>
            </a:r>
            <a:r>
              <a:rPr lang="zh-CN" altLang="en-US" sz="2400">
                <a:ea typeface="Microsoft YaHei" charset="0"/>
                <a:sym typeface="+mn-ea"/>
              </a:rPr>
              <a:t>进制是多少</a:t>
            </a:r>
            <a:r>
              <a:rPr lang="en-US" altLang="zh-CN" sz="2400">
                <a:ea typeface="Microsoft YaHei" charset="0"/>
                <a:sym typeface="+mn-ea"/>
              </a:rPr>
              <a:t>？（</a:t>
            </a:r>
            <a:r>
              <a:rPr lang="en-US" altLang="zh-CN" sz="2400" u="sng">
                <a:ea typeface="Microsoft YaHei" charset="0"/>
                <a:sym typeface="+mn-ea"/>
              </a:rPr>
              <a:t>       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endParaRPr lang="en-US" altLang="zh-CN" sz="2400">
              <a:ea typeface="Microsoft YaHei" charset="0"/>
              <a:sym typeface="+mn-ea"/>
            </a:endParaRPr>
          </a:p>
          <a:p>
            <a:pPr lvl="0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表示的二进制时多少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3.75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 sz="2400">
                <a:ea typeface="Microsoft YaHei" charset="0"/>
                <a:sym typeface="+mn-ea"/>
              </a:rPr>
              <a:t>转换成一个</a:t>
            </a:r>
            <a:r>
              <a:rPr lang="en-US" altLang="zh-CN" sz="2400">
                <a:ea typeface="Microsoft YaHei" charset="0"/>
                <a:sym typeface="+mn-ea"/>
              </a:rPr>
              <a:t>FP6</a:t>
            </a:r>
            <a:r>
              <a:rPr lang="zh-CN" altLang="en-US" sz="2400">
                <a:ea typeface="Microsoft YaHei" charset="0"/>
                <a:sym typeface="+mn-ea"/>
              </a:rPr>
              <a:t>格式</a:t>
            </a:r>
            <a:r>
              <a:rPr lang="en-US" altLang="zh-CN" sz="2400">
                <a:ea typeface="Microsoft YaHei" charset="0"/>
                <a:sym typeface="+mn-ea"/>
              </a:rPr>
              <a:t>B（1-3-2，</a:t>
            </a:r>
            <a:r>
              <a:rPr lang="zh-CN" altLang="en-US" sz="2400">
                <a:ea typeface="Microsoft YaHei" charset="0"/>
                <a:sym typeface="+mn-ea"/>
              </a:rPr>
              <a:t>阶码</a:t>
            </a:r>
            <a:r>
              <a:rPr lang="en-US" altLang="zh-CN" sz="2400">
                <a:ea typeface="Microsoft YaHei" charset="0"/>
                <a:sym typeface="+mn-ea"/>
              </a:rPr>
              <a:t>3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，</a:t>
            </a:r>
            <a:r>
              <a:rPr lang="zh-CN" altLang="en-US" sz="2400">
                <a:ea typeface="Microsoft YaHei" charset="0"/>
                <a:sym typeface="+mn-ea"/>
              </a:rPr>
              <a:t>小数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r>
              <a:rPr lang="zh-CN" altLang="en-US" sz="2400">
                <a:ea typeface="Microsoft YaHei" charset="0"/>
                <a:sym typeface="+mn-ea"/>
              </a:rPr>
              <a:t>表示的值</a:t>
            </a:r>
            <a:endParaRPr lang="zh-CN" altLang="en-US" sz="2400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进制表示是多少</a:t>
            </a:r>
            <a:r>
              <a:rPr lang="en-US" altLang="zh-CN" sz="2400">
                <a:ea typeface="Microsoft YaHei" charset="0"/>
                <a:sym typeface="+mn-ea"/>
              </a:rPr>
              <a:t>？</a:t>
            </a:r>
            <a:endParaRPr lang="en-US" altLang="zh-CN" sz="2400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1.111 -&gt; 10.00（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偶舍入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</a:t>
            </a:r>
            <a:endParaRPr lang="en-US" altLang="zh-CN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小数点左移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10.00*2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-&gt; 1.000*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endParaRPr lang="en-US" altLang="zh-CN" baseline="3000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3）：0 101 00</a:t>
            </a:r>
            <a:endParaRPr lang="en-US" altLang="zh-CN">
              <a:solidFill>
                <a:srgbClr val="00B050"/>
              </a:solidFill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10</a:t>
            </a:r>
            <a:r>
              <a:rPr lang="zh-CN" altLang="en-US" sz="2400">
                <a:ea typeface="Microsoft YaHei" charset="0"/>
                <a:sym typeface="+mn-ea"/>
              </a:rPr>
              <a:t>进制是多少</a:t>
            </a:r>
            <a:r>
              <a:rPr lang="en-US" altLang="zh-CN" sz="2400">
                <a:ea typeface="Microsoft YaHei" charset="0"/>
                <a:sym typeface="+mn-ea"/>
              </a:rPr>
              <a:t>？（___）</a:t>
            </a:r>
            <a:endParaRPr lang="en-US" altLang="zh-CN" sz="2400">
              <a:ea typeface="Microsoft YaHei" charset="0"/>
              <a:sym typeface="+mn-ea"/>
            </a:endParaRPr>
          </a:p>
          <a:p>
            <a:pPr lvl="0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表示的二进制时多少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3.75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 sz="2400">
                <a:ea typeface="Microsoft YaHei" charset="0"/>
                <a:sym typeface="+mn-ea"/>
              </a:rPr>
              <a:t>转换成一个</a:t>
            </a:r>
            <a:r>
              <a:rPr lang="en-US" altLang="zh-CN" sz="2400">
                <a:ea typeface="Microsoft YaHei" charset="0"/>
                <a:sym typeface="+mn-ea"/>
              </a:rPr>
              <a:t>FP6</a:t>
            </a:r>
            <a:r>
              <a:rPr lang="zh-CN" altLang="en-US" sz="2400">
                <a:ea typeface="Microsoft YaHei" charset="0"/>
                <a:sym typeface="+mn-ea"/>
              </a:rPr>
              <a:t>格式</a:t>
            </a:r>
            <a:r>
              <a:rPr lang="en-US" altLang="zh-CN" sz="2400">
                <a:ea typeface="Microsoft YaHei" charset="0"/>
                <a:sym typeface="+mn-ea"/>
              </a:rPr>
              <a:t>B（1-3-2，</a:t>
            </a:r>
            <a:r>
              <a:rPr lang="zh-CN" altLang="en-US" sz="2400">
                <a:ea typeface="Microsoft YaHei" charset="0"/>
                <a:sym typeface="+mn-ea"/>
              </a:rPr>
              <a:t>阶码</a:t>
            </a:r>
            <a:r>
              <a:rPr lang="en-US" altLang="zh-CN" sz="2400">
                <a:ea typeface="Microsoft YaHei" charset="0"/>
                <a:sym typeface="+mn-ea"/>
              </a:rPr>
              <a:t>3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，</a:t>
            </a:r>
            <a:r>
              <a:rPr lang="zh-CN" altLang="en-US" sz="2400">
                <a:ea typeface="Microsoft YaHei" charset="0"/>
                <a:sym typeface="+mn-ea"/>
              </a:rPr>
              <a:t>小数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r>
              <a:rPr lang="zh-CN" altLang="en-US" sz="2400">
                <a:ea typeface="Microsoft YaHei" charset="0"/>
                <a:sym typeface="+mn-ea"/>
              </a:rPr>
              <a:t>表示的值</a:t>
            </a:r>
            <a:endParaRPr lang="zh-CN" altLang="en-US" sz="2400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进制表示是多少</a:t>
            </a:r>
            <a:r>
              <a:rPr lang="en-US" altLang="zh-CN" sz="2400">
                <a:ea typeface="Microsoft YaHei" charset="0"/>
                <a:sym typeface="+mn-ea"/>
              </a:rPr>
              <a:t>？</a:t>
            </a:r>
            <a:endParaRPr lang="en-US" altLang="zh-CN" sz="2400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1.111 -&gt; 10.00（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偶舍入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</a:t>
            </a:r>
            <a:endParaRPr lang="en-US" altLang="zh-CN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小数点左移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10.00*2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-&gt; 1.000*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endParaRPr lang="en-US" altLang="zh-CN" baseline="3000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3）：0 101 00</a:t>
            </a:r>
            <a:endParaRPr lang="en-US" altLang="zh-CN">
              <a:solidFill>
                <a:srgbClr val="00B050"/>
              </a:solidFill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10</a:t>
            </a:r>
            <a:r>
              <a:rPr lang="zh-CN" altLang="en-US" sz="2400">
                <a:ea typeface="Microsoft YaHei" charset="0"/>
                <a:sym typeface="+mn-ea"/>
              </a:rPr>
              <a:t>进制是多少</a:t>
            </a:r>
            <a:r>
              <a:rPr lang="en-US" altLang="zh-CN" sz="2400">
                <a:ea typeface="Microsoft YaHei" charset="0"/>
                <a:sym typeface="+mn-ea"/>
              </a:rPr>
              <a:t>？（</a:t>
            </a:r>
            <a:r>
              <a:rPr lang="en-US" altLang="zh-CN" sz="2400" u="sng">
                <a:solidFill>
                  <a:srgbClr val="00B050"/>
                </a:solidFill>
                <a:ea typeface="Microsoft YaHei" charset="0"/>
                <a:sym typeface="+mn-ea"/>
              </a:rPr>
              <a:t>4.0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endParaRPr lang="en-US" altLang="zh-CN" sz="2400">
              <a:ea typeface="Microsoft YaHei" charset="0"/>
              <a:sym typeface="+mn-ea"/>
            </a:endParaRPr>
          </a:p>
          <a:p>
            <a:pPr lvl="0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表示的二进制时多少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3.75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 sz="2400">
                <a:ea typeface="Microsoft YaHei" charset="0"/>
                <a:sym typeface="+mn-ea"/>
              </a:rPr>
              <a:t>转换成一个</a:t>
            </a:r>
            <a:r>
              <a:rPr lang="en-US" altLang="zh-CN" sz="2400">
                <a:ea typeface="Microsoft YaHei" charset="0"/>
                <a:sym typeface="+mn-ea"/>
              </a:rPr>
              <a:t>FP6</a:t>
            </a:r>
            <a:r>
              <a:rPr lang="zh-CN" altLang="en-US" sz="2400">
                <a:ea typeface="Microsoft YaHei" charset="0"/>
                <a:sym typeface="+mn-ea"/>
              </a:rPr>
              <a:t>格式</a:t>
            </a:r>
            <a:r>
              <a:rPr lang="en-US" altLang="zh-CN" sz="2400">
                <a:ea typeface="Microsoft YaHei" charset="0"/>
                <a:sym typeface="+mn-ea"/>
              </a:rPr>
              <a:t>B（1-3-2，</a:t>
            </a:r>
            <a:r>
              <a:rPr lang="zh-CN" altLang="en-US" sz="2400">
                <a:ea typeface="Microsoft YaHei" charset="0"/>
                <a:sym typeface="+mn-ea"/>
              </a:rPr>
              <a:t>阶码</a:t>
            </a:r>
            <a:r>
              <a:rPr lang="en-US" altLang="zh-CN" sz="2400">
                <a:ea typeface="Microsoft YaHei" charset="0"/>
                <a:sym typeface="+mn-ea"/>
              </a:rPr>
              <a:t>3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，</a:t>
            </a:r>
            <a:r>
              <a:rPr lang="zh-CN" altLang="en-US" sz="2400">
                <a:ea typeface="Microsoft YaHei" charset="0"/>
                <a:sym typeface="+mn-ea"/>
              </a:rPr>
              <a:t>小数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r>
              <a:rPr lang="zh-CN" altLang="en-US" sz="2400">
                <a:ea typeface="Microsoft YaHei" charset="0"/>
                <a:sym typeface="+mn-ea"/>
              </a:rPr>
              <a:t>表示的值</a:t>
            </a:r>
            <a:endParaRPr lang="zh-CN" altLang="en-US" sz="2400"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进制表示是多少</a:t>
            </a:r>
            <a:r>
              <a:rPr lang="en-US" altLang="zh-CN" sz="2400">
                <a:ea typeface="Microsoft YaHei" charset="0"/>
                <a:sym typeface="+mn-ea"/>
              </a:rPr>
              <a:t>？</a:t>
            </a:r>
            <a:endParaRPr lang="en-US" altLang="zh-CN" sz="2400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1.111 -&gt; 10.00（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偶舍入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</a:t>
            </a:r>
            <a:endParaRPr lang="en-US" altLang="zh-CN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小数点左移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10.00*2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-&gt; 1.000*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endParaRPr lang="en-US" altLang="zh-CN" baseline="3000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3）：0 101 00</a:t>
            </a:r>
            <a:endParaRPr lang="en-US" altLang="zh-CN">
              <a:solidFill>
                <a:srgbClr val="00B050"/>
              </a:solidFill>
              <a:ea typeface="Microsoft YaHei" charset="0"/>
            </a:endParaRPr>
          </a:p>
          <a:p>
            <a:pPr lvl="1"/>
            <a:r>
              <a:rPr lang="zh-CN" altLang="en-US" sz="2400">
                <a:ea typeface="Microsoft YaHei" charset="0"/>
                <a:sym typeface="+mn-ea"/>
              </a:rPr>
              <a:t>对应的</a:t>
            </a:r>
            <a:r>
              <a:rPr lang="en-US" altLang="zh-CN" sz="2400">
                <a:ea typeface="Microsoft YaHei" charset="0"/>
                <a:sym typeface="+mn-ea"/>
              </a:rPr>
              <a:t>10</a:t>
            </a:r>
            <a:r>
              <a:rPr lang="zh-CN" altLang="en-US" sz="2400">
                <a:ea typeface="Microsoft YaHei" charset="0"/>
                <a:sym typeface="+mn-ea"/>
              </a:rPr>
              <a:t>进制是多少</a:t>
            </a:r>
            <a:r>
              <a:rPr lang="en-US" altLang="zh-CN" sz="2400">
                <a:ea typeface="Microsoft YaHei" charset="0"/>
                <a:sym typeface="+mn-ea"/>
              </a:rPr>
              <a:t>？（</a:t>
            </a:r>
            <a:r>
              <a:rPr lang="en-US" altLang="zh-CN" sz="2400" u="sng">
                <a:solidFill>
                  <a:srgbClr val="00B050"/>
                </a:solidFill>
                <a:ea typeface="Microsoft YaHei" charset="0"/>
                <a:sym typeface="+mn-ea"/>
              </a:rPr>
              <a:t>4.0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endParaRPr lang="en-US" altLang="zh-CN" sz="2400">
              <a:ea typeface="Microsoft YaHei" charset="0"/>
              <a:sym typeface="+mn-ea"/>
            </a:endParaRPr>
          </a:p>
          <a:p>
            <a:pPr lvl="0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再从格式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B</a:t>
            </a:r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转换成格式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A 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对应的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进制表示是多少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？</a:t>
            </a:r>
            <a:r>
              <a:rPr lang="en-US" altLang="zh-CN" sz="2400">
                <a:ea typeface="Microsoft YaHei" charset="0"/>
                <a:sym typeface="+mn-ea"/>
              </a:rPr>
              <a:t>（___）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对应的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</a:t>
            </a:r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进制是多少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？</a:t>
            </a:r>
            <a:r>
              <a:rPr lang="en-US" altLang="zh-CN" sz="2400">
                <a:ea typeface="Microsoft YaHei" charset="0"/>
                <a:sym typeface="+mn-ea"/>
              </a:rPr>
              <a:t>（___）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0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表示的二进制时多少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3.75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 sz="2400">
                <a:ea typeface="Microsoft YaHei" charset="0"/>
                <a:sym typeface="+mn-ea"/>
              </a:rPr>
              <a:t>转换成一个</a:t>
            </a:r>
            <a:r>
              <a:rPr lang="en-US" altLang="zh-CN" sz="2400">
                <a:ea typeface="Microsoft YaHei" charset="0"/>
                <a:sym typeface="+mn-ea"/>
              </a:rPr>
              <a:t>FP6</a:t>
            </a:r>
            <a:r>
              <a:rPr lang="zh-CN" altLang="en-US" sz="2400">
                <a:ea typeface="Microsoft YaHei" charset="0"/>
                <a:sym typeface="+mn-ea"/>
              </a:rPr>
              <a:t>格式</a:t>
            </a:r>
            <a:r>
              <a:rPr lang="en-US" altLang="zh-CN" sz="2400">
                <a:ea typeface="Microsoft YaHei" charset="0"/>
                <a:sym typeface="+mn-ea"/>
              </a:rPr>
              <a:t>B（1-3-2，</a:t>
            </a:r>
            <a:r>
              <a:rPr lang="zh-CN" altLang="en-US" sz="2400">
                <a:ea typeface="Microsoft YaHei" charset="0"/>
                <a:sym typeface="+mn-ea"/>
              </a:rPr>
              <a:t>阶码</a:t>
            </a:r>
            <a:r>
              <a:rPr lang="en-US" altLang="zh-CN" sz="2400">
                <a:ea typeface="Microsoft YaHei" charset="0"/>
                <a:sym typeface="+mn-ea"/>
              </a:rPr>
              <a:t>3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，</a:t>
            </a:r>
            <a:r>
              <a:rPr lang="zh-CN" altLang="en-US" sz="2400">
                <a:ea typeface="Microsoft YaHei" charset="0"/>
                <a:sym typeface="+mn-ea"/>
              </a:rPr>
              <a:t>小数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r>
              <a:rPr lang="zh-CN" altLang="en-US" sz="2400">
                <a:ea typeface="Microsoft YaHei" charset="0"/>
                <a:sym typeface="+mn-ea"/>
              </a:rPr>
              <a:t>表示的值</a:t>
            </a:r>
            <a:endParaRPr lang="zh-CN" altLang="en-US" sz="2400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2</a:t>
            </a:r>
            <a:r>
              <a:rPr lang="zh-CN" altLang="en-US">
                <a:ea typeface="Microsoft YaHei" charset="0"/>
                <a:sym typeface="+mn-ea"/>
              </a:rPr>
              <a:t>进制表示是多少</a:t>
            </a:r>
            <a:r>
              <a:rPr lang="en-US" altLang="zh-CN">
                <a:ea typeface="Microsoft YaHei" charset="0"/>
                <a:sym typeface="+mn-ea"/>
              </a:rPr>
              <a:t>？</a:t>
            </a:r>
            <a:endParaRPr lang="en-US" altLang="zh-CN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1.111 -&gt; 10.00（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偶舍入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</a:t>
            </a:r>
            <a:endParaRPr lang="en-US" altLang="zh-CN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小数点左移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10.00*2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-&gt; 1.000*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endParaRPr lang="en-US" altLang="zh-CN" baseline="3000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3）：0 101 00</a:t>
            </a:r>
            <a:endParaRPr lang="en-US" altLang="zh-CN">
              <a:solidFill>
                <a:srgbClr val="00B050"/>
              </a:solidFill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10</a:t>
            </a:r>
            <a:r>
              <a:rPr lang="zh-CN" altLang="en-US">
                <a:ea typeface="Microsoft YaHei" charset="0"/>
                <a:sym typeface="+mn-ea"/>
              </a:rPr>
              <a:t>进制是多少</a:t>
            </a:r>
            <a:r>
              <a:rPr lang="en-US" altLang="zh-CN">
                <a:ea typeface="Microsoft YaHei" charset="0"/>
                <a:sym typeface="+mn-ea"/>
              </a:rPr>
              <a:t>？（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4.0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  <a:sym typeface="+mn-ea"/>
            </a:endParaRPr>
          </a:p>
          <a:p>
            <a:pPr lvl="0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再从格式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B</a:t>
            </a:r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转换成格式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A 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对应的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进制表示是多少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（___）</a:t>
            </a:r>
            <a:endParaRPr lang="en-US" altLang="zh-CN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）、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不需要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）、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1）：0 11 000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对应的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进制是多少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（___）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0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例题</a:t>
            </a:r>
            <a:r>
              <a:rPr lang="en-US" altLang="zh-CN">
                <a:ea typeface="Microsoft YaHei" charset="0"/>
              </a:rPr>
              <a:t>：</a:t>
            </a:r>
            <a:r>
              <a:rPr lang="zh-CN" altLang="en-US">
                <a:ea typeface="Microsoft YaHei" charset="0"/>
              </a:rPr>
              <a:t>不同浮点格式之间的转换</a:t>
            </a:r>
            <a:endParaRPr lang="zh-CN" altLang="en-US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Microsoft YaHei" charset="0"/>
              </a:rPr>
              <a:t>假设一个</a:t>
            </a:r>
            <a:r>
              <a:rPr lang="en-US" altLang="zh-CN">
                <a:ea typeface="Microsoft YaHei" charset="0"/>
              </a:rPr>
              <a:t>FP6</a:t>
            </a:r>
            <a:r>
              <a:rPr lang="zh-CN" altLang="en-US">
                <a:ea typeface="Microsoft YaHei" charset="0"/>
              </a:rPr>
              <a:t>格式</a:t>
            </a:r>
            <a:r>
              <a:rPr lang="en-US" altLang="zh-CN">
                <a:ea typeface="Microsoft YaHei" charset="0"/>
              </a:rPr>
              <a:t>A（1-2-3，</a:t>
            </a:r>
            <a:r>
              <a:rPr lang="zh-CN" altLang="en-US">
                <a:ea typeface="Microsoft YaHei" charset="0"/>
              </a:rPr>
              <a:t>阶码</a:t>
            </a:r>
            <a:r>
              <a:rPr lang="en-US" altLang="zh-CN">
                <a:ea typeface="Microsoft YaHei" charset="0"/>
              </a:rPr>
              <a:t>2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，</a:t>
            </a:r>
            <a:r>
              <a:rPr lang="zh-CN" altLang="en-US">
                <a:ea typeface="Microsoft YaHei" charset="0"/>
              </a:rPr>
              <a:t>小数</a:t>
            </a:r>
            <a:r>
              <a:rPr lang="en-US" altLang="zh-CN">
                <a:ea typeface="Microsoft YaHei" charset="0"/>
              </a:rPr>
              <a:t>3</a:t>
            </a:r>
            <a:r>
              <a:rPr lang="zh-CN" altLang="en-US">
                <a:ea typeface="Microsoft YaHei" charset="0"/>
              </a:rPr>
              <a:t>位</a:t>
            </a:r>
            <a:r>
              <a:rPr lang="en-US" altLang="zh-CN">
                <a:ea typeface="Microsoft YaHei" charset="0"/>
              </a:rPr>
              <a:t>）</a:t>
            </a:r>
            <a:r>
              <a:rPr lang="zh-CN" altLang="en-US">
                <a:ea typeface="Microsoft YaHei" charset="0"/>
              </a:rPr>
              <a:t>表示的值</a:t>
            </a:r>
            <a:r>
              <a:rPr lang="en-US" altLang="zh-CN">
                <a:ea typeface="Microsoft YaHei" charset="0"/>
                <a:sym typeface="+mn-ea"/>
              </a:rPr>
              <a:t>0 10 111 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表示的二进制时多少</a:t>
            </a:r>
            <a:r>
              <a:rPr lang="en-US" altLang="zh-CN">
                <a:ea typeface="Microsoft YaHei" charset="0"/>
              </a:rPr>
              <a:t>？（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1.111*2</a:t>
            </a:r>
            <a:r>
              <a:rPr lang="en-US" altLang="zh-CN" baseline="30000">
                <a:solidFill>
                  <a:srgbClr val="00B050"/>
                </a:solidFill>
                <a:ea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ea typeface="Microsoft YaHei" charset="0"/>
                <a:sym typeface="+mn-ea"/>
              </a:rPr>
              <a:t> =11.11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</a:rPr>
              <a:t>对应的</a:t>
            </a:r>
            <a:r>
              <a:rPr lang="en-US" altLang="zh-CN">
                <a:ea typeface="Microsoft YaHei" charset="0"/>
              </a:rPr>
              <a:t>10</a:t>
            </a:r>
            <a:r>
              <a:rPr lang="zh-CN" altLang="en-US">
                <a:ea typeface="Microsoft YaHei" charset="0"/>
              </a:rPr>
              <a:t>进制是多少</a:t>
            </a:r>
            <a:r>
              <a:rPr lang="en-US" altLang="zh-CN">
                <a:ea typeface="Microsoft YaHei" charset="0"/>
              </a:rPr>
              <a:t>？ 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3.75</a:t>
            </a:r>
            <a:r>
              <a:rPr lang="en-US" altLang="zh-CN">
                <a:ea typeface="Microsoft YaHei" charset="0"/>
              </a:rPr>
              <a:t>）</a:t>
            </a:r>
            <a:endParaRPr lang="en-US" altLang="zh-CN">
              <a:ea typeface="Microsoft YaHei" charset="0"/>
            </a:endParaRPr>
          </a:p>
          <a:p>
            <a:pPr lvl="0"/>
            <a:r>
              <a:rPr lang="zh-CN" altLang="en-US" sz="2400">
                <a:ea typeface="Microsoft YaHei" charset="0"/>
                <a:sym typeface="+mn-ea"/>
              </a:rPr>
              <a:t>转换成一个</a:t>
            </a:r>
            <a:r>
              <a:rPr lang="en-US" altLang="zh-CN" sz="2400">
                <a:ea typeface="Microsoft YaHei" charset="0"/>
                <a:sym typeface="+mn-ea"/>
              </a:rPr>
              <a:t>FP6</a:t>
            </a:r>
            <a:r>
              <a:rPr lang="zh-CN" altLang="en-US" sz="2400">
                <a:ea typeface="Microsoft YaHei" charset="0"/>
                <a:sym typeface="+mn-ea"/>
              </a:rPr>
              <a:t>格式</a:t>
            </a:r>
            <a:r>
              <a:rPr lang="en-US" altLang="zh-CN" sz="2400">
                <a:ea typeface="Microsoft YaHei" charset="0"/>
                <a:sym typeface="+mn-ea"/>
              </a:rPr>
              <a:t>B（1-3-2，</a:t>
            </a:r>
            <a:r>
              <a:rPr lang="zh-CN" altLang="en-US" sz="2400">
                <a:ea typeface="Microsoft YaHei" charset="0"/>
                <a:sym typeface="+mn-ea"/>
              </a:rPr>
              <a:t>阶码</a:t>
            </a:r>
            <a:r>
              <a:rPr lang="en-US" altLang="zh-CN" sz="2400">
                <a:ea typeface="Microsoft YaHei" charset="0"/>
                <a:sym typeface="+mn-ea"/>
              </a:rPr>
              <a:t>3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，</a:t>
            </a:r>
            <a:r>
              <a:rPr lang="zh-CN" altLang="en-US" sz="2400">
                <a:ea typeface="Microsoft YaHei" charset="0"/>
                <a:sym typeface="+mn-ea"/>
              </a:rPr>
              <a:t>小数</a:t>
            </a:r>
            <a:r>
              <a:rPr lang="en-US" altLang="zh-CN" sz="2400">
                <a:ea typeface="Microsoft YaHei" charset="0"/>
                <a:sym typeface="+mn-ea"/>
              </a:rPr>
              <a:t>2</a:t>
            </a:r>
            <a:r>
              <a:rPr lang="zh-CN" altLang="en-US" sz="2400">
                <a:ea typeface="Microsoft YaHei" charset="0"/>
                <a:sym typeface="+mn-ea"/>
              </a:rPr>
              <a:t>位</a:t>
            </a:r>
            <a:r>
              <a:rPr lang="en-US" altLang="zh-CN" sz="2400">
                <a:ea typeface="Microsoft YaHei" charset="0"/>
                <a:sym typeface="+mn-ea"/>
              </a:rPr>
              <a:t>）</a:t>
            </a:r>
            <a:r>
              <a:rPr lang="zh-CN" altLang="en-US" sz="2400">
                <a:ea typeface="Microsoft YaHei" charset="0"/>
                <a:sym typeface="+mn-ea"/>
              </a:rPr>
              <a:t>表示的值</a:t>
            </a:r>
            <a:endParaRPr lang="zh-CN" altLang="en-US" sz="2400"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2</a:t>
            </a:r>
            <a:r>
              <a:rPr lang="zh-CN" altLang="en-US">
                <a:ea typeface="Microsoft YaHei" charset="0"/>
                <a:sym typeface="+mn-ea"/>
              </a:rPr>
              <a:t>进制表示是多少</a:t>
            </a:r>
            <a:r>
              <a:rPr lang="en-US" altLang="zh-CN">
                <a:ea typeface="Microsoft YaHei" charset="0"/>
                <a:sym typeface="+mn-ea"/>
              </a:rPr>
              <a:t>？</a:t>
            </a:r>
            <a:endParaRPr lang="en-US" altLang="zh-CN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1.111 -&gt; 10.00（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偶舍入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</a:t>
            </a:r>
            <a:endParaRPr lang="en-US" altLang="zh-CN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小数点左移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）：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10.00*2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-&gt; 1.000*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en-US" altLang="zh-CN" baseline="3000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endParaRPr lang="en-US" altLang="zh-CN" baseline="3000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3）：0 101 00</a:t>
            </a:r>
            <a:endParaRPr lang="en-US" altLang="zh-CN">
              <a:solidFill>
                <a:srgbClr val="00B050"/>
              </a:solidFill>
              <a:ea typeface="Microsoft YaHei" charset="0"/>
            </a:endParaRPr>
          </a:p>
          <a:p>
            <a:pPr lvl="1"/>
            <a:r>
              <a:rPr lang="zh-CN" altLang="en-US">
                <a:ea typeface="Microsoft YaHei" charset="0"/>
                <a:sym typeface="+mn-ea"/>
              </a:rPr>
              <a:t>对应的</a:t>
            </a:r>
            <a:r>
              <a:rPr lang="en-US" altLang="zh-CN">
                <a:ea typeface="Microsoft YaHei" charset="0"/>
                <a:sym typeface="+mn-ea"/>
              </a:rPr>
              <a:t>10</a:t>
            </a:r>
            <a:r>
              <a:rPr lang="zh-CN" altLang="en-US">
                <a:ea typeface="Microsoft YaHei" charset="0"/>
                <a:sym typeface="+mn-ea"/>
              </a:rPr>
              <a:t>进制是多少</a:t>
            </a:r>
            <a:r>
              <a:rPr lang="en-US" altLang="zh-CN">
                <a:ea typeface="Microsoft YaHei" charset="0"/>
                <a:sym typeface="+mn-ea"/>
              </a:rPr>
              <a:t>？（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4.0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ea typeface="Microsoft YaHei" charset="0"/>
              <a:sym typeface="+mn-ea"/>
            </a:endParaRPr>
          </a:p>
          <a:p>
            <a:pPr lvl="0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再从格式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B</a:t>
            </a:r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转换成格式</a:t>
            </a:r>
            <a:r>
              <a:rPr lang="en-US" altLang="zh-CN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A 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对应的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进制表示是多少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（___）</a:t>
            </a:r>
            <a:endParaRPr lang="en-US" altLang="zh-CN">
              <a:ea typeface="Microsoft YaHei" charset="0"/>
              <a:sym typeface="+mn-ea"/>
            </a:endParaRPr>
          </a:p>
          <a:p>
            <a:pPr lvl="2"/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小数调整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保留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2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位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）、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指数调整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不需要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）、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阶码表示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偏差值</a:t>
            </a:r>
            <a:r>
              <a:rPr lang="en-US" altLang="zh-CN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1）：0 11 000</a:t>
            </a:r>
            <a:endParaRPr lang="en-US" altLang="zh-CN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对应的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10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进制是多少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？</a:t>
            </a:r>
            <a:r>
              <a:rPr lang="en-US" altLang="zh-CN">
                <a:ea typeface="Microsoft YaHei" charset="0"/>
                <a:sym typeface="+mn-ea"/>
              </a:rPr>
              <a:t>（</a:t>
            </a:r>
            <a:r>
              <a:rPr lang="en-US" altLang="zh-CN" u="sng">
                <a:solidFill>
                  <a:srgbClr val="00B050"/>
                </a:solidFill>
                <a:ea typeface="Microsoft YaHei" charset="0"/>
                <a:sym typeface="+mn-ea"/>
              </a:rPr>
              <a:t>_</a:t>
            </a:r>
            <a:r>
              <a:rPr lang="zh-CN" altLang="en-US" u="sng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阶码为全</a:t>
            </a:r>
            <a:r>
              <a:rPr lang="en-US" altLang="zh-CN" u="sng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1，</a:t>
            </a:r>
            <a:r>
              <a:rPr lang="zh-CN" altLang="en-US" u="sng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表示溢出为无穷大</a:t>
            </a:r>
            <a:r>
              <a:rPr lang="en-US" altLang="zh-CN">
                <a:ea typeface="Microsoft YaHei" charset="0"/>
                <a:sym typeface="+mn-ea"/>
              </a:rPr>
              <a:t>）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0"/>
            <a:endParaRPr lang="en-US" altLang="zh-CN">
              <a:ea typeface="Microsoft YaHei" charset="0"/>
            </a:endParaRPr>
          </a:p>
          <a:p>
            <a:pPr lvl="1"/>
            <a:endParaRPr lang="en-US" altLang="zh-CN" sz="2000">
              <a:ea typeface="Microsoft YaHei" charset="0"/>
            </a:endParaRPr>
          </a:p>
          <a:p>
            <a:pPr lvl="1"/>
            <a:endParaRPr lang="zh-CN" altLang="en-US">
              <a:ea typeface="Microsoft YaHei" charset="0"/>
            </a:endParaRPr>
          </a:p>
          <a:p>
            <a:pPr marL="279400" lvl="1" indent="0">
              <a:buNone/>
            </a:pPr>
            <a:endParaRPr lang="en-US" altLang="zh-CN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351*430"/>
  <p:tag name="TABLE_ENDDRAG_RECT" val="210*128*351*430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706020202030204" pitchFamily="-9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706020202030204" pitchFamily="-9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15970</Words>
  <Application>WPS Writer</Application>
  <PresentationFormat>On-screen Show (4:3)</PresentationFormat>
  <Paragraphs>1221</Paragraphs>
  <Slides>65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55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127" baseType="lpstr">
      <vt:lpstr>Arial</vt:lpstr>
      <vt:lpstr>SimSun</vt:lpstr>
      <vt:lpstr>Wingdings</vt:lpstr>
      <vt:lpstr>Gill Sans</vt:lpstr>
      <vt:lpstr>ヒラギノ角ゴ ProN W3</vt:lpstr>
      <vt:lpstr>Calibri Bold</vt:lpstr>
      <vt:lpstr>苹方-简</vt:lpstr>
      <vt:lpstr>Calibri</vt:lpstr>
      <vt:lpstr>ヒラギノ角ゴ ProN W6</vt:lpstr>
      <vt:lpstr>Times New Roman Regular</vt:lpstr>
      <vt:lpstr>Kaiti SC Regular</vt:lpstr>
      <vt:lpstr>楷体</vt:lpstr>
      <vt:lpstr>Wingdings 2</vt:lpstr>
      <vt:lpstr>Arial Narrow</vt:lpstr>
      <vt:lpstr>MS PGothic</vt:lpstr>
      <vt:lpstr>Helvetica Neue</vt:lpstr>
      <vt:lpstr>Times New Roman</vt:lpstr>
      <vt:lpstr>Microsoft YaHei</vt:lpstr>
      <vt:lpstr>汉仪旗黑</vt:lpstr>
      <vt:lpstr>Calibri Italic</vt:lpstr>
      <vt:lpstr>Times</vt:lpstr>
      <vt:lpstr>SimSun</vt:lpstr>
      <vt:lpstr>Monaco</vt:lpstr>
      <vt:lpstr>Calibri</vt:lpstr>
      <vt:lpstr>Courier New</vt:lpstr>
      <vt:lpstr>Zapf Dingbats</vt:lpstr>
      <vt:lpstr>汉仪书宋二KW</vt:lpstr>
      <vt:lpstr>Hiragino Kaku Gothic ProN W3</vt:lpstr>
      <vt:lpstr>Kaiti SC W6</vt:lpstr>
      <vt:lpstr>Arial Regular</vt:lpstr>
      <vt:lpstr>Arial Bold</vt:lpstr>
      <vt:lpstr>Microsoft YaHei</vt:lpstr>
      <vt:lpstr>Arial Unicode MS</vt:lpstr>
      <vt:lpstr>Calibri Bold Italic</vt:lpstr>
      <vt:lpstr>Symbol</vt:lpstr>
      <vt:lpstr>Courier New</vt:lpstr>
      <vt:lpstr>Courier New Bold</vt:lpstr>
      <vt:lpstr>Symbol</vt:lpstr>
      <vt:lpstr>Kingsoft Sign</vt:lpstr>
      <vt:lpstr>Apple Symbols</vt:lpstr>
      <vt:lpstr>Lucida Grande</vt:lpstr>
      <vt:lpstr>Arial Narrow Bold</vt:lpstr>
      <vt:lpstr>Kaiti SC Bold</vt:lpstr>
      <vt:lpstr>楷体_GB2312</vt:lpstr>
      <vt:lpstr>汉仪楷体简</vt:lpstr>
      <vt:lpstr>Arial Narrow Bold Italic</vt:lpstr>
      <vt:lpstr>Helvetica</vt:lpstr>
      <vt:lpstr>Times New Roman Bold</vt:lpstr>
      <vt:lpstr>汉仪楷体KW</vt:lpstr>
      <vt:lpstr>冬青黑体简体中文</vt:lpstr>
      <vt:lpstr>SimSun</vt:lpstr>
      <vt:lpstr>Symbol</vt:lpstr>
      <vt:lpstr>Wingdings</vt:lpstr>
      <vt:lpstr>Wingdings 2</vt:lpstr>
      <vt:lpstr>SimSun</vt:lpstr>
      <vt:lpstr>Title Slide</vt:lpstr>
      <vt:lpstr>Title and Content</vt:lpstr>
      <vt:lpstr>Title and Content: Build</vt:lpstr>
      <vt:lpstr>Title Only</vt:lpstr>
      <vt:lpstr>template2007</vt:lpstr>
      <vt:lpstr>Excel.Sheet.8</vt:lpstr>
      <vt:lpstr>Excel.Sheet.8</vt:lpstr>
      <vt:lpstr>Floating Point 浮点数  15-213: Introduction to Computer Systems 4th Lecture, Sep. 10, 2015</vt:lpstr>
      <vt:lpstr>讨论：为什么有浮点数？</vt:lpstr>
      <vt:lpstr>Today: Floating Point浮点表示</vt:lpstr>
      <vt:lpstr>Fractional binary numbers 二进制小数</vt:lpstr>
      <vt:lpstr>Fractional Binary Numbers二进制小数</vt:lpstr>
      <vt:lpstr>二进制小数的例子</vt:lpstr>
      <vt:lpstr>Representable Numbers表示范围</vt:lpstr>
      <vt:lpstr>问题</vt:lpstr>
      <vt:lpstr>问题1</vt:lpstr>
      <vt:lpstr>问题2</vt:lpstr>
      <vt:lpstr>PowerPoint 演示文稿</vt:lpstr>
      <vt:lpstr>Today: Floating Point</vt:lpstr>
      <vt:lpstr>IEEE标准浮点数</vt:lpstr>
      <vt:lpstr>浮点数表示</vt:lpstr>
      <vt:lpstr>多种精度选择</vt:lpstr>
      <vt:lpstr>规格化（Normalized）表示的值</vt:lpstr>
      <vt:lpstr>规格化表示的例子</vt:lpstr>
      <vt:lpstr>Example</vt:lpstr>
      <vt:lpstr>非规格化（Denormalized）表示的值</vt:lpstr>
      <vt:lpstr>特殊表示的值</vt:lpstr>
      <vt:lpstr>可视化: Floating Point 编码</vt:lpstr>
      <vt:lpstr>Today: Floating Point</vt:lpstr>
      <vt:lpstr>小型Floating Point的例子</vt:lpstr>
      <vt:lpstr>Dynamic Range (Positive Only)</vt:lpstr>
      <vt:lpstr>Distribution of Values</vt:lpstr>
      <vt:lpstr>练习</vt:lpstr>
      <vt:lpstr>练习</vt:lpstr>
      <vt:lpstr>浮点值的分布 (放大的视图)</vt:lpstr>
      <vt:lpstr>拓展：大语言模型的基本结构</vt:lpstr>
      <vt:lpstr>拓展：大语言模型中的量化</vt:lpstr>
      <vt:lpstr>PowerPoint 演示文稿</vt:lpstr>
      <vt:lpstr>量化（激活值的量化）</vt:lpstr>
      <vt:lpstr>Deepseek使用的格式</vt:lpstr>
      <vt:lpstr>浮点数的特性</vt:lpstr>
      <vt:lpstr>PowerPoint 演示文稿</vt:lpstr>
      <vt:lpstr>Today: Floating Point</vt:lpstr>
      <vt:lpstr>浮点运算: 基本思路</vt:lpstr>
      <vt:lpstr>Rounding舍入</vt:lpstr>
      <vt:lpstr>Closer Look at Round-To-Even偶数舍入</vt:lpstr>
      <vt:lpstr>舍入二进制小数</vt:lpstr>
      <vt:lpstr>二进制小数的舍入</vt:lpstr>
      <vt:lpstr>FP Multiplication浮点数乘法</vt:lpstr>
      <vt:lpstr>Floating Point Addition浮点数加法</vt:lpstr>
      <vt:lpstr>Mathematical Properties of FP Add 浮点数加法的数学特性</vt:lpstr>
      <vt:lpstr>Mathematical Properties of FP Mult</vt:lpstr>
      <vt:lpstr>Today: Floating Point</vt:lpstr>
      <vt:lpstr>Floating Point in C C语言中的浮点数</vt:lpstr>
      <vt:lpstr>Floating Point Puzzles浮点数的奇怪现象</vt:lpstr>
      <vt:lpstr>Floating Point Puzzles浮点数的奇怪现象</vt:lpstr>
      <vt:lpstr>Summary</vt:lpstr>
      <vt:lpstr>Additional Slides</vt:lpstr>
      <vt:lpstr>构造浮点数</vt:lpstr>
      <vt:lpstr>规范化</vt:lpstr>
      <vt:lpstr>舍入</vt:lpstr>
      <vt:lpstr>后续规范化</vt:lpstr>
      <vt:lpstr>有趣的数值</vt:lpstr>
      <vt:lpstr>例题：不同浮点格式之间的转换</vt:lpstr>
      <vt:lpstr>例题：不同浮点格式之间的转换</vt:lpstr>
      <vt:lpstr>例题：不同浮点格式之间的转换</vt:lpstr>
      <vt:lpstr>例题：不同浮点格式之间的转换</vt:lpstr>
      <vt:lpstr>例题：不同浮点格式之间的转换</vt:lpstr>
      <vt:lpstr>例题：不同浮点格式之间的转换</vt:lpstr>
      <vt:lpstr>例题：不同浮点格式之间的转换</vt:lpstr>
      <vt:lpstr>例题：不同浮点格式之间的转换</vt:lpstr>
      <vt:lpstr>例题：不同浮点格式之间的转换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cp:lastModifiedBy>00030832</cp:lastModifiedBy>
  <cp:revision>399</cp:revision>
  <cp:lastPrinted>2026-03-17T12:36:14Z</cp:lastPrinted>
  <dcterms:created xsi:type="dcterms:W3CDTF">2026-03-17T12:36:14Z</dcterms:created>
  <dcterms:modified xsi:type="dcterms:W3CDTF">2026-03-17T12:36:14Z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8C55CC9682D5C3732C7313657AAF4DB8_42</vt:lpwstr>
  </property>
</Properties>
</file>