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70"/>
  </p:handoutMasterIdLst>
  <p:sldIdLst>
    <p:sldId id="542" r:id="rId3"/>
    <p:sldId id="645" r:id="rId5"/>
    <p:sldId id="580" r:id="rId6"/>
    <p:sldId id="581" r:id="rId7"/>
    <p:sldId id="725" r:id="rId8"/>
    <p:sldId id="582" r:id="rId9"/>
    <p:sldId id="907" r:id="rId10"/>
    <p:sldId id="584" r:id="rId11"/>
    <p:sldId id="901" r:id="rId12"/>
    <p:sldId id="902" r:id="rId13"/>
    <p:sldId id="903" r:id="rId14"/>
    <p:sldId id="680" r:id="rId15"/>
    <p:sldId id="646" r:id="rId16"/>
    <p:sldId id="904" r:id="rId17"/>
    <p:sldId id="905" r:id="rId18"/>
    <p:sldId id="661" r:id="rId19"/>
    <p:sldId id="632" r:id="rId20"/>
    <p:sldId id="588" r:id="rId21"/>
    <p:sldId id="589" r:id="rId22"/>
    <p:sldId id="685" r:id="rId23"/>
    <p:sldId id="590" r:id="rId24"/>
    <p:sldId id="820" r:id="rId25"/>
    <p:sldId id="821" r:id="rId26"/>
    <p:sldId id="637" r:id="rId27"/>
    <p:sldId id="591" r:id="rId28"/>
    <p:sldId id="592" r:id="rId29"/>
    <p:sldId id="863" r:id="rId30"/>
    <p:sldId id="778" r:id="rId31"/>
    <p:sldId id="593" r:id="rId32"/>
    <p:sldId id="594" r:id="rId33"/>
    <p:sldId id="864" r:id="rId34"/>
    <p:sldId id="595" r:id="rId35"/>
    <p:sldId id="906" r:id="rId36"/>
    <p:sldId id="647" r:id="rId37"/>
    <p:sldId id="651" r:id="rId38"/>
    <p:sldId id="639" r:id="rId39"/>
    <p:sldId id="781" r:id="rId40"/>
    <p:sldId id="649" r:id="rId41"/>
    <p:sldId id="597" r:id="rId42"/>
    <p:sldId id="599" r:id="rId43"/>
    <p:sldId id="601" r:id="rId44"/>
    <p:sldId id="602" r:id="rId45"/>
    <p:sldId id="663" r:id="rId46"/>
    <p:sldId id="664" r:id="rId47"/>
    <p:sldId id="665" r:id="rId48"/>
    <p:sldId id="666" r:id="rId49"/>
    <p:sldId id="682" r:id="rId50"/>
    <p:sldId id="683" r:id="rId51"/>
    <p:sldId id="686" r:id="rId52"/>
    <p:sldId id="667" r:id="rId53"/>
    <p:sldId id="668" r:id="rId54"/>
    <p:sldId id="681" r:id="rId55"/>
    <p:sldId id="669" r:id="rId56"/>
    <p:sldId id="726" r:id="rId57"/>
    <p:sldId id="687" r:id="rId58"/>
    <p:sldId id="780" r:id="rId59"/>
    <p:sldId id="678" r:id="rId60"/>
    <p:sldId id="670" r:id="rId61"/>
    <p:sldId id="908" r:id="rId62"/>
    <p:sldId id="672" r:id="rId63"/>
    <p:sldId id="673" r:id="rId64"/>
    <p:sldId id="674" r:id="rId65"/>
    <p:sldId id="679" r:id="rId66"/>
    <p:sldId id="688" r:id="rId67"/>
    <p:sldId id="727" r:id="rId68"/>
    <p:sldId id="659" r:id="rId69"/>
  </p:sldIdLst>
  <p:sldSz cx="12192000" cy="6858000"/>
  <p:notesSz cx="9586595" cy="7302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anose="020B07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FBFBF"/>
    <a:srgbClr val="F6F5BD"/>
    <a:srgbClr val="CC6600"/>
    <a:srgbClr val="FF9999"/>
    <a:srgbClr val="A8E799"/>
    <a:srgbClr val="FFFF99"/>
    <a:srgbClr val="CDF1C5"/>
    <a:srgbClr val="F1C7C7"/>
    <a:srgbClr val="C5F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9" autoAdjust="0"/>
    <p:restoredTop sz="94660"/>
  </p:normalViewPr>
  <p:slideViewPr>
    <p:cSldViewPr snapToObjects="1" showGuides="1">
      <p:cViewPr varScale="1">
        <p:scale>
          <a:sx n="121" d="100"/>
          <a:sy n="121" d="100"/>
        </p:scale>
        <p:origin x="1360" y="176"/>
      </p:cViewPr>
      <p:guideLst>
        <p:guide orient="horz" pos="259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09732" cy="3676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defTabSz="965200">
              <a:defRPr sz="1575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76863" y="0"/>
            <a:ext cx="4109732" cy="3676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t" anchorCtr="0" compatLnSpc="1"/>
          <a:lstStyle>
            <a:lvl1pPr algn="r" defTabSz="965200">
              <a:defRPr sz="1575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25452"/>
            <a:ext cx="4109732" cy="3676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defTabSz="965200">
              <a:defRPr sz="1575" smtClean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76863" y="6925452"/>
            <a:ext cx="4109732" cy="3676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422" tIns="48211" rIns="96422" bIns="48211" numCol="1" anchor="b" anchorCtr="0" compatLnSpc="1"/>
          <a:lstStyle>
            <a:lvl1pPr algn="r" defTabSz="965200">
              <a:defRPr sz="1575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01429" cy="3482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01838" y="0"/>
            <a:ext cx="4201429" cy="3482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25062" y="522402"/>
            <a:ext cx="4953143" cy="278614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00442" y="3482679"/>
            <a:ext cx="7002382" cy="3250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65357"/>
            <a:ext cx="4201429" cy="3482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01838" y="6965357"/>
            <a:ext cx="4201429" cy="3482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1. history</a:t>
            </a:r>
            <a:endParaRPr lang="en-US"/>
          </a:p>
          <a:p>
            <a:r>
              <a:rPr lang="en-US"/>
              <a:t>2. C</a:t>
            </a:r>
            <a:r>
              <a:rPr lang="zh-CN" altLang="en-US"/>
              <a:t>、汇编之间的关系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汇编语言语义模型</a:t>
            </a:r>
            <a:endParaRPr lang="zh-CN" altLang="en-US"/>
          </a:p>
          <a:p>
            <a:r>
              <a:rPr lang="en-US" altLang="zh-CN"/>
              <a:t>4. </a:t>
            </a:r>
            <a:r>
              <a:rPr lang="zh-CN" altLang="en-US"/>
              <a:t>数据（类型、存储）</a:t>
            </a:r>
            <a:endParaRPr lang="zh-CN" altLang="en-US"/>
          </a:p>
          <a:p>
            <a:r>
              <a:rPr lang="en-US"/>
              <a:t>5. </a:t>
            </a:r>
            <a:r>
              <a:rPr lang="zh-CN" altLang="en-US"/>
              <a:t>操作（指令）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Cstate: (stack, heap, global; PCstr-</a:t>
            </a:r>
            <a:r>
              <a:rPr lang="zh-CN" altLang="en-US"/>
              <a:t>单步</a:t>
            </a:r>
            <a:r>
              <a:rPr lang="en-US" altLang="zh-CN"/>
              <a:t>)</a:t>
            </a:r>
            <a:endParaRPr lang="en-US" altLang="zh-CN"/>
          </a:p>
          <a:p>
            <a:r>
              <a:rPr lang="en-US" altLang="zh-CN"/>
              <a:t>AssemblyState: (memory, register, PC)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8B12C5-B8B1-41C6-B29F-6FC9FEB127A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25688" y="522288"/>
            <a:ext cx="4952999" cy="2786062"/>
          </a:xfrm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25688" y="522288"/>
            <a:ext cx="4952999" cy="2786062"/>
          </a:xfrm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/>
          <p:cNvSpPr txBox="1">
            <a:spLocks noChangeArrowheads="1"/>
          </p:cNvSpPr>
          <p:nvPr/>
        </p:nvSpPr>
        <p:spPr bwMode="auto">
          <a:xfrm>
            <a:off x="2265128" y="726094"/>
            <a:ext cx="2772245" cy="35805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3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184" y="4554201"/>
            <a:ext cx="5356133" cy="4314943"/>
          </a:xfrm>
          <a:prstGeom prst="rect">
            <a:avLst/>
          </a:prstGeom>
          <a:noFill/>
          <a:ln>
            <a:rou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5688" y="522288"/>
            <a:ext cx="4952999" cy="27860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  <a:endParaRPr lang="en-US" baseline="0" dirty="0"/>
          </a:p>
          <a:p>
            <a:r>
              <a:rPr lang="en-US" baseline="0" dirty="0"/>
              <a:t>0xf000 + 0x0100 = 0xf100</a:t>
            </a:r>
            <a:endParaRPr lang="en-US" baseline="0" dirty="0"/>
          </a:p>
          <a:p>
            <a:r>
              <a:rPr lang="en-US" baseline="0" dirty="0"/>
              <a:t>0xf000 + 4*0x0100 = 0xf400</a:t>
            </a:r>
            <a:endParaRPr lang="en-US" baseline="0" dirty="0"/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  <a:endParaRPr lang="en-US" baseline="0" dirty="0"/>
          </a:p>
          <a:p>
            <a:r>
              <a:rPr lang="en-US" baseline="0" dirty="0"/>
              <a:t>0xf000 + 0x0100 = 0xf100</a:t>
            </a:r>
            <a:endParaRPr lang="en-US" baseline="0" dirty="0"/>
          </a:p>
          <a:p>
            <a:r>
              <a:rPr lang="en-US" baseline="0" dirty="0"/>
              <a:t>0xf000 + 4*0x0100 = 0xf400</a:t>
            </a:r>
            <a:endParaRPr lang="en-US" baseline="0" dirty="0"/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325688" y="522288"/>
            <a:ext cx="4952999" cy="2786062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imm</a:t>
            </a:r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08012"/>
            <a:ext cx="103632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24" y="435678"/>
            <a:ext cx="1012279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16" y="445070"/>
            <a:ext cx="101219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1" y="228600"/>
            <a:ext cx="2914649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9167" y="228600"/>
            <a:ext cx="8544984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7" y="228600"/>
            <a:ext cx="1166283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6651" y="1362075"/>
            <a:ext cx="5162549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6651" y="3924300"/>
            <a:ext cx="5162549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167" y="228600"/>
            <a:ext cx="1166283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50900" y="1362075"/>
            <a:ext cx="5162551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651" y="1362075"/>
            <a:ext cx="5162549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787" y="371182"/>
            <a:ext cx="10121900" cy="439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9167" y="1362075"/>
            <a:ext cx="10528300" cy="4972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2046857" y="6724952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b="0" dirty="0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1774457" y="6601841"/>
            <a:ext cx="246380" cy="245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</a:fld>
            <a:endParaRPr kumimoji="0" lang="en-US" sz="1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marL="119380" indent="-119380" algn="l" rtl="0" eaLnBrk="1" fontAlgn="base" hangingPunct="1">
        <a:spcBef>
          <a:spcPct val="0"/>
        </a:spcBef>
        <a:spcAft>
          <a:spcPct val="0"/>
        </a:spcAft>
        <a:defRPr sz="32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1pPr>
      <a:lvl2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2pPr>
      <a:lvl3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3pPr>
      <a:lvl4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4pPr>
      <a:lvl5pPr marL="119380" indent="-1193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anose="020B0706020202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7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tags" Target="../tags/tag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209800" y="1708150"/>
            <a:ext cx="7772400" cy="1720850"/>
          </a:xfrm>
        </p:spPr>
        <p:txBody>
          <a:bodyPr/>
          <a:lstStyle/>
          <a:p>
            <a:pPr marL="0" indent="0"/>
            <a:r>
              <a:rPr lang="zh-CN" altLang="en-US" dirty="0">
                <a:sym typeface="+mn-ea"/>
              </a:rPr>
              <a:t>机器级编程</a:t>
            </a:r>
            <a:r>
              <a:rPr lang="en-US" dirty="0">
                <a:sym typeface="+mn-ea"/>
              </a:rPr>
              <a:t> I</a:t>
            </a:r>
            <a:r>
              <a:rPr lang="en-US" dirty="0"/>
              <a:t>: </a:t>
            </a:r>
            <a:r>
              <a:rPr lang="zh-CN" altLang="en-US" dirty="0"/>
              <a:t>入门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15-213/18-213</a:t>
            </a:r>
            <a:r>
              <a:rPr lang="en-US" sz="2000" b="0" dirty="0">
                <a:solidFill>
                  <a:srgbClr val="000000"/>
                </a:solidFill>
                <a:latin typeface="Calibri" pitchFamily="34" charset="0"/>
                <a:sym typeface="Calibri" pitchFamily="34" charset="0"/>
              </a:rPr>
              <a:t>:</a:t>
            </a:r>
            <a:r>
              <a:rPr lang="en-US" sz="2000" b="0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 Introduction to Computer Systems </a:t>
            </a:r>
            <a:br>
              <a:rPr lang="en-US" sz="2000" b="0" dirty="0"/>
            </a:br>
            <a:r>
              <a:rPr lang="en-US" sz="2000" b="0" dirty="0"/>
              <a:t>5</a:t>
            </a:r>
            <a:r>
              <a:rPr lang="en-US" sz="2000" b="0" baseline="30000" dirty="0"/>
              <a:t>th</a:t>
            </a:r>
            <a:r>
              <a:rPr lang="en-US" sz="2000" b="0" dirty="0"/>
              <a:t> Lecture, Sep. 15, 2015</a:t>
            </a:r>
            <a:endParaRPr lang="en-US" sz="2000" b="0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机器级编程</a:t>
            </a:r>
            <a:r>
              <a:rPr lang="en-US" dirty="0"/>
              <a:t> I: </a:t>
            </a:r>
            <a:r>
              <a:rPr lang="zh-CN" altLang="en-US" dirty="0"/>
              <a:t>入门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of Intel processors and architectures</a:t>
            </a:r>
            <a:r>
              <a:rPr lang="zh-CN" altLang="en-US" dirty="0">
                <a:ea typeface="SimSun" charset="0"/>
              </a:rPr>
              <a:t>（历史）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noFill/>
          <a:effectLst/>
        </p:spPr>
        <p:txBody>
          <a:bodyPr/>
          <a:lstStyle/>
          <a:p>
            <a:r>
              <a:rPr lang="en-US" sz="2800" dirty="0"/>
              <a:t>Intel x86 Processors</a:t>
            </a:r>
            <a:r>
              <a:rPr lang="zh-CN" altLang="en-US" sz="2800" dirty="0">
                <a:ea typeface="SimSun" charset="0"/>
              </a:rPr>
              <a:t>（</a:t>
            </a:r>
            <a:r>
              <a:rPr lang="en-US" altLang="zh-CN" sz="2800" dirty="0">
                <a:ea typeface="SimSun" charset="0"/>
              </a:rPr>
              <a:t>Intel x86</a:t>
            </a:r>
            <a:r>
              <a:rPr lang="zh-CN" altLang="en-US" sz="2800" dirty="0">
                <a:ea typeface="SimSun" charset="0"/>
              </a:rPr>
              <a:t>处理器）</a:t>
            </a:r>
            <a:endParaRPr lang="zh-CN" altLang="en-US" sz="2800" dirty="0">
              <a:ea typeface="SimSun" charset="0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362075"/>
            <a:ext cx="7896225" cy="4972050"/>
          </a:xfrm>
          <a:noFill/>
        </p:spPr>
        <p:txBody>
          <a:bodyPr lIns="90487" tIns="44450" rIns="90487" bIns="44450"/>
          <a:lstStyle/>
          <a:p>
            <a:r>
              <a:rPr lang="zh-CN" altLang="en-US" dirty="0"/>
              <a:t>统治了笔记本电脑</a:t>
            </a:r>
            <a:r>
              <a:rPr lang="en-US" dirty="0"/>
              <a:t>/</a:t>
            </a:r>
            <a:r>
              <a:rPr lang="zh-CN" altLang="en-US" dirty="0"/>
              <a:t>桌面电脑</a:t>
            </a:r>
            <a:r>
              <a:rPr lang="en-US" dirty="0"/>
              <a:t>/</a:t>
            </a:r>
            <a:r>
              <a:rPr lang="zh-CN" altLang="en-US" dirty="0"/>
              <a:t>服务器电脑的市场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其</a:t>
            </a:r>
            <a:r>
              <a:rPr lang="en-US" altLang="zh-CN" dirty="0"/>
              <a:t>CPU</a:t>
            </a:r>
            <a:r>
              <a:rPr lang="zh-CN" altLang="en-US" dirty="0"/>
              <a:t>设计</a:t>
            </a:r>
            <a:r>
              <a:rPr lang="zh-CN" altLang="en-US" dirty="0"/>
              <a:t>发展了快</a:t>
            </a:r>
            <a:r>
              <a:rPr lang="en-US" altLang="zh-CN" dirty="0"/>
              <a:t>50</a:t>
            </a:r>
            <a:r>
              <a:rPr lang="zh-CN" altLang="en-US" dirty="0"/>
              <a:t>年</a:t>
            </a:r>
            <a:endParaRPr lang="en-US" dirty="0"/>
          </a:p>
          <a:p>
            <a:pPr lvl="1"/>
            <a:r>
              <a:rPr lang="en-US" dirty="0"/>
              <a:t>1978</a:t>
            </a:r>
            <a:r>
              <a:rPr lang="zh-CN" altLang="en-US" dirty="0"/>
              <a:t>年开始</a:t>
            </a:r>
            <a:r>
              <a:rPr lang="en-US" altLang="zh-CN" dirty="0"/>
              <a:t>，</a:t>
            </a:r>
            <a:r>
              <a:rPr lang="zh-CN" altLang="en-US" dirty="0"/>
              <a:t>引入了</a:t>
            </a:r>
            <a:r>
              <a:rPr lang="en-US" altLang="zh-CN" dirty="0"/>
              <a:t>8086</a:t>
            </a:r>
            <a:r>
              <a:rPr lang="zh-CN" altLang="en-US" dirty="0"/>
              <a:t>芯片</a:t>
            </a:r>
            <a:endParaRPr lang="en-US" dirty="0"/>
          </a:p>
          <a:p>
            <a:pPr lvl="1"/>
            <a:r>
              <a:rPr lang="en-US" dirty="0"/>
              <a:t>Added more features as time goes on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Complex instruction set computer (CISC) </a:t>
            </a:r>
            <a:r>
              <a:rPr lang="zh-CN" altLang="en-US" dirty="0"/>
              <a:t>复杂指令集机器</a:t>
            </a:r>
            <a:endParaRPr lang="en-US" dirty="0"/>
          </a:p>
          <a:p>
            <a:pPr lvl="1"/>
            <a:r>
              <a:rPr lang="zh-CN" altLang="en-US" dirty="0"/>
              <a:t>不同的指令有不同的格式，和长度</a:t>
            </a:r>
            <a:endParaRPr lang="en-US" dirty="0"/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理论上</a:t>
            </a:r>
            <a:r>
              <a:rPr lang="zh-CN" altLang="en-US" dirty="0"/>
              <a:t>，很难赶上精简指令集机器</a:t>
            </a:r>
            <a:r>
              <a:rPr lang="en-US" dirty="0"/>
              <a:t> Reduced Instruction Set Computers (RISC)</a:t>
            </a:r>
            <a:r>
              <a:rPr lang="zh-CN" altLang="en-US" dirty="0"/>
              <a:t>的性能</a:t>
            </a:r>
            <a:endParaRPr lang="en-US" dirty="0"/>
          </a:p>
          <a:p>
            <a:pPr lvl="1"/>
            <a:r>
              <a:rPr lang="zh-CN" altLang="en-US" dirty="0"/>
              <a:t>但是，</a:t>
            </a:r>
            <a:r>
              <a:rPr lang="en-US" altLang="zh-CN" dirty="0"/>
              <a:t>Intel</a:t>
            </a:r>
            <a:r>
              <a:rPr lang="zh-CN" altLang="en-US" dirty="0"/>
              <a:t>在</a:t>
            </a:r>
            <a:r>
              <a:rPr lang="zh-CN" altLang="en-US" dirty="0">
                <a:solidFill>
                  <a:srgbClr val="00B050"/>
                </a:solidFill>
              </a:rPr>
              <a:t>性能</a:t>
            </a:r>
            <a:r>
              <a:rPr lang="zh-CN" altLang="en-US" dirty="0"/>
              <a:t>上做到了</a:t>
            </a:r>
            <a:r>
              <a:rPr lang="en-US" dirty="0"/>
              <a:t>!</a:t>
            </a:r>
            <a:endParaRPr lang="en-US" dirty="0"/>
          </a:p>
          <a:p>
            <a:pPr lvl="2"/>
            <a:r>
              <a:rPr lang="zh-CN" altLang="en-US" dirty="0"/>
              <a:t>在</a:t>
            </a:r>
            <a:r>
              <a:rPr lang="zh-CN" altLang="en-US" dirty="0">
                <a:solidFill>
                  <a:srgbClr val="00B050"/>
                </a:solidFill>
              </a:rPr>
              <a:t>低功耗</a:t>
            </a:r>
            <a:r>
              <a:rPr lang="zh-CN" altLang="en-US" dirty="0"/>
              <a:t>方面没有赶上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69912"/>
            <a:ext cx="8229600" cy="573088"/>
          </a:xfrm>
        </p:spPr>
        <p:txBody>
          <a:bodyPr/>
          <a:lstStyle/>
          <a:p>
            <a:r>
              <a:rPr lang="en-US" dirty="0"/>
              <a:t>Intel x86 Evolution: Milestones</a:t>
            </a:r>
            <a:endParaRPr lang="en-US" dirty="0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447800"/>
            <a:ext cx="7924800" cy="5105400"/>
          </a:xfrm>
        </p:spPr>
        <p:txBody>
          <a:bodyPr/>
          <a:lstStyle/>
          <a:p>
            <a:pPr marL="224155" indent="-224155" defTabSz="895350">
              <a:buNone/>
              <a:tabLst>
                <a:tab pos="2055495" algn="l"/>
                <a:tab pos="3884295" algn="l"/>
                <a:tab pos="5946775" algn="l"/>
              </a:tabLst>
            </a:pPr>
            <a:r>
              <a:rPr lang="en-US" i="1" dirty="0">
                <a:solidFill>
                  <a:srgbClr val="C00000"/>
                </a:solidFill>
              </a:rPr>
              <a:t>	Name	Date	Transistors	MHz</a:t>
            </a:r>
            <a:endParaRPr lang="en-US" i="1" dirty="0">
              <a:solidFill>
                <a:srgbClr val="C00000"/>
              </a:solidFill>
            </a:endParaRPr>
          </a:p>
          <a:p>
            <a:pPr marL="224155" indent="-224155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8086	1978	29K	5-10</a:t>
            </a:r>
            <a:endParaRPr lang="en-US" dirty="0"/>
          </a:p>
          <a:p>
            <a:pPr marL="560705" lvl="1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First </a:t>
            </a:r>
            <a:r>
              <a:rPr lang="en-US" dirty="0">
                <a:solidFill>
                  <a:srgbClr val="00B050"/>
                </a:solidFill>
              </a:rPr>
              <a:t>16-bit </a:t>
            </a:r>
            <a:r>
              <a:rPr lang="en-US" dirty="0"/>
              <a:t>Intel processor.  Basis for IBM PC &amp; DOS</a:t>
            </a:r>
            <a:endParaRPr lang="en-US" dirty="0"/>
          </a:p>
          <a:p>
            <a:pPr marL="560705" lvl="1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1MB address space</a:t>
            </a:r>
            <a:endParaRPr lang="en-US" dirty="0"/>
          </a:p>
          <a:p>
            <a:pPr marL="224155" indent="-224155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386	1985	275K	16-33	</a:t>
            </a:r>
            <a:endParaRPr lang="en-US" dirty="0"/>
          </a:p>
          <a:p>
            <a:pPr marL="560705" lvl="1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First </a:t>
            </a:r>
            <a:r>
              <a:rPr lang="en-US" dirty="0">
                <a:solidFill>
                  <a:srgbClr val="00B050"/>
                </a:solidFill>
              </a:rPr>
              <a:t>32 bit </a:t>
            </a:r>
            <a:r>
              <a:rPr lang="en-US" dirty="0"/>
              <a:t>Intel processor , referred to as IA32</a:t>
            </a:r>
            <a:endParaRPr lang="en-US" dirty="0"/>
          </a:p>
          <a:p>
            <a:pPr marL="560705" lvl="1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Added “flat addressing”, capable of running Unix</a:t>
            </a:r>
            <a:endParaRPr lang="en-US" dirty="0"/>
          </a:p>
          <a:p>
            <a:pPr marL="160655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Pentium 4E	2004	125M	2800-3800</a:t>
            </a:r>
            <a:endParaRPr lang="en-US" dirty="0"/>
          </a:p>
          <a:p>
            <a:pPr marL="560705" lvl="1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First </a:t>
            </a:r>
            <a:r>
              <a:rPr lang="en-US" dirty="0">
                <a:solidFill>
                  <a:srgbClr val="00B050"/>
                </a:solidFill>
              </a:rPr>
              <a:t>64-bit</a:t>
            </a:r>
            <a:r>
              <a:rPr lang="en-US" dirty="0"/>
              <a:t> Intel x86 processor, referred to as x86-64</a:t>
            </a:r>
            <a:endParaRPr lang="en-US" dirty="0"/>
          </a:p>
          <a:p>
            <a:pPr marL="160655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b="0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Core 2	2006	291M	1060-3500</a:t>
            </a:r>
            <a:endParaRPr lang="en-US" dirty="0"/>
          </a:p>
          <a:p>
            <a:pPr marL="560705" lvl="1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First multi-core Intel processor</a:t>
            </a:r>
            <a:endParaRPr lang="en-US" dirty="0"/>
          </a:p>
          <a:p>
            <a:pPr marL="160655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Core i7	2008	731M	1700-3900</a:t>
            </a:r>
            <a:endParaRPr lang="en-US" dirty="0"/>
          </a:p>
          <a:p>
            <a:pPr marL="560705" lvl="1" indent="-222250" defTabSz="895350">
              <a:tabLst>
                <a:tab pos="2055495" algn="l"/>
                <a:tab pos="3884295" algn="l"/>
                <a:tab pos="5946775" algn="l"/>
              </a:tabLst>
            </a:pPr>
            <a:r>
              <a:rPr lang="en-US" dirty="0"/>
              <a:t>Four cores (our shark machines)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频率上升</a:t>
            </a:r>
            <a:endParaRPr lang="zh-CN" altLang="en-US"/>
          </a:p>
          <a:p>
            <a:r>
              <a:rPr lang="zh-CN" altLang="en-US"/>
              <a:t>功耗上升</a:t>
            </a:r>
            <a:endParaRPr lang="zh-CN" altLang="en-US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955" y="3087370"/>
            <a:ext cx="7632700" cy="306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30" y="1546225"/>
            <a:ext cx="2110105" cy="119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229600" cy="573088"/>
          </a:xfrm>
        </p:spPr>
        <p:txBody>
          <a:bodyPr/>
          <a:lstStyle/>
          <a:p>
            <a:r>
              <a:rPr lang="en-US" dirty="0"/>
              <a:t>Intel x86 Processors, cont.</a:t>
            </a:r>
            <a:endParaRPr lang="en-US" dirty="0"/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828800" y="877888"/>
            <a:ext cx="7896225" cy="4972050"/>
          </a:xfrm>
        </p:spPr>
        <p:txBody>
          <a:bodyPr/>
          <a:lstStyle/>
          <a:p>
            <a:pPr marL="224155" indent="-224155" defTabSz="895350">
              <a:tabLst>
                <a:tab pos="2349500" algn="l"/>
              </a:tabLst>
            </a:pPr>
            <a:r>
              <a:rPr lang="en-US" dirty="0"/>
              <a:t>Machine Evolution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386	1985	0.3M	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Pentium	1993	3.1M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Pentium/MMX	1997	4.5M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 err="1"/>
              <a:t>PentiumPro</a:t>
            </a:r>
            <a:r>
              <a:rPr lang="en-US" dirty="0"/>
              <a:t>	1995	6.5M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Pentium III	1999	8.2M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Pentium 4	2001	42M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Core 2 Duo	2006	291M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Core i7	2008	731M</a:t>
            </a:r>
            <a:endParaRPr lang="en-US" dirty="0"/>
          </a:p>
          <a:p>
            <a:pPr marL="224155" indent="-224155" defTabSz="895350">
              <a:tabLst>
                <a:tab pos="2349500" algn="l"/>
              </a:tabLst>
            </a:pPr>
            <a:r>
              <a:rPr lang="en-US" dirty="0"/>
              <a:t>Added Features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Instructions to support multimedia operations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Instructions to enable more efficient conditional operations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Transition from 32 bits to 64 bits</a:t>
            </a:r>
            <a:endParaRPr lang="en-US" dirty="0"/>
          </a:p>
          <a:p>
            <a:pPr marL="560705" lvl="1" indent="-222250" defTabSz="895350">
              <a:tabLst>
                <a:tab pos="2349500" algn="l"/>
              </a:tabLst>
            </a:pPr>
            <a:r>
              <a:rPr lang="en-US" dirty="0"/>
              <a:t>More cores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248400" y="1143000"/>
            <a:ext cx="42481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Clones: Advanced Micro Devices (AMD)</a:t>
            </a:r>
            <a:endParaRPr lang="en-US" dirty="0"/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60655" indent="-222250" defTabSz="895350">
              <a:tabLst>
                <a:tab pos="2349500" algn="l"/>
              </a:tabLst>
            </a:pPr>
            <a:r>
              <a:rPr lang="en-US" dirty="0"/>
              <a:t>Historically</a:t>
            </a:r>
            <a:endParaRPr lang="en-US" dirty="0"/>
          </a:p>
          <a:p>
            <a:pPr marL="440055" lvl="1" indent="-165100" defTabSz="895350">
              <a:tabLst>
                <a:tab pos="2349500" algn="l"/>
              </a:tabLst>
            </a:pPr>
            <a:r>
              <a:rPr lang="en-US" dirty="0"/>
              <a:t>AMD has followed just behind Intel</a:t>
            </a:r>
            <a:endParaRPr lang="en-US" dirty="0"/>
          </a:p>
          <a:p>
            <a:pPr marL="440055" lvl="1" indent="-165100" defTabSz="895350">
              <a:tabLst>
                <a:tab pos="2349500" algn="l"/>
              </a:tabLst>
            </a:pPr>
            <a:r>
              <a:rPr lang="en-US" dirty="0">
                <a:solidFill>
                  <a:srgbClr val="00B050"/>
                </a:solidFill>
              </a:rPr>
              <a:t>A little bit slower, a lot cheaper</a:t>
            </a:r>
            <a:endParaRPr lang="en-US" dirty="0"/>
          </a:p>
          <a:p>
            <a:pPr marL="160655" indent="-222250" defTabSz="895350">
              <a:tabLst>
                <a:tab pos="2349500" algn="l"/>
              </a:tabLst>
            </a:pPr>
            <a:r>
              <a:rPr lang="en-US" dirty="0"/>
              <a:t>Then</a:t>
            </a:r>
            <a:endParaRPr lang="en-US" dirty="0"/>
          </a:p>
          <a:p>
            <a:pPr marL="440055" lvl="1" indent="-165100" defTabSz="895350">
              <a:tabLst>
                <a:tab pos="2349500" algn="l"/>
              </a:tabLst>
            </a:pPr>
            <a:r>
              <a:rPr lang="en-US" dirty="0"/>
              <a:t>Recruited top circuit designers from Digital Equipment Corp. and other downward trending companies</a:t>
            </a:r>
            <a:endParaRPr lang="en-US" dirty="0"/>
          </a:p>
          <a:p>
            <a:pPr marL="440055" lvl="1" indent="-165100" defTabSz="895350">
              <a:tabLst>
                <a:tab pos="2349500" algn="l"/>
              </a:tabLst>
            </a:pPr>
            <a:r>
              <a:rPr lang="en-US" dirty="0"/>
              <a:t>Built </a:t>
            </a:r>
            <a:r>
              <a:rPr lang="en-US" dirty="0" err="1"/>
              <a:t>Opteron</a:t>
            </a:r>
            <a:r>
              <a:rPr lang="en-US" dirty="0"/>
              <a:t>: tough competitor to Pentium 4</a:t>
            </a:r>
            <a:endParaRPr lang="en-US" dirty="0"/>
          </a:p>
          <a:p>
            <a:pPr marL="440055" lvl="1" indent="-165100" defTabSz="895350">
              <a:tabLst>
                <a:tab pos="2349500" algn="l"/>
              </a:tabLst>
            </a:pPr>
            <a:r>
              <a:rPr lang="en-US" dirty="0">
                <a:solidFill>
                  <a:srgbClr val="00B050"/>
                </a:solidFill>
              </a:rPr>
              <a:t>Developed x86-64, their own extension to 64 bits</a:t>
            </a:r>
            <a:endParaRPr lang="en-US" dirty="0"/>
          </a:p>
          <a:p>
            <a:pPr marL="40005" indent="-165100" defTabSz="895350">
              <a:tabLst>
                <a:tab pos="2349500" algn="l"/>
              </a:tabLst>
            </a:pPr>
            <a:r>
              <a:rPr lang="en-US" dirty="0"/>
              <a:t> Recent Years</a:t>
            </a:r>
            <a:endParaRPr lang="en-US" dirty="0"/>
          </a:p>
          <a:p>
            <a:pPr marL="440055" lvl="1" indent="-165100" defTabSz="895350">
              <a:tabLst>
                <a:tab pos="2349500" algn="l"/>
              </a:tabLst>
            </a:pPr>
            <a:r>
              <a:rPr lang="en-US" dirty="0"/>
              <a:t>Intel got its act together</a:t>
            </a:r>
            <a:endParaRPr lang="en-US" dirty="0"/>
          </a:p>
          <a:p>
            <a:pPr marL="840105" lvl="2" indent="-165100" defTabSz="895350">
              <a:tabLst>
                <a:tab pos="2349500" algn="l"/>
              </a:tabLst>
            </a:pPr>
            <a:r>
              <a:rPr lang="en-US" dirty="0"/>
              <a:t>Leads the world in semiconductor technology</a:t>
            </a:r>
            <a:endParaRPr lang="en-US" dirty="0"/>
          </a:p>
          <a:p>
            <a:pPr marL="440055" lvl="1" indent="-165100" defTabSz="895350">
              <a:tabLst>
                <a:tab pos="2349500" algn="l"/>
              </a:tabLst>
            </a:pPr>
            <a:r>
              <a:rPr lang="en-US" dirty="0">
                <a:solidFill>
                  <a:srgbClr val="FF0000"/>
                </a:solidFill>
              </a:rPr>
              <a:t>AMD has fallen behind</a:t>
            </a:r>
            <a:endParaRPr lang="en-US" dirty="0">
              <a:solidFill>
                <a:srgbClr val="FF0000"/>
              </a:solidFill>
            </a:endParaRPr>
          </a:p>
          <a:p>
            <a:pPr marL="840105" lvl="2" indent="-165100" defTabSz="895350">
              <a:tabLst>
                <a:tab pos="2349500" algn="l"/>
              </a:tabLst>
            </a:pPr>
            <a:r>
              <a:rPr lang="en-US" dirty="0"/>
              <a:t>Relies on external semiconductor manufacturer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Intel vs AMD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市场份额上</a:t>
            </a:r>
            <a:r>
              <a:rPr lang="en-US" altLang="zh-CN"/>
              <a:t>，AMD</a:t>
            </a:r>
            <a:r>
              <a:rPr lang="zh-CN" altLang="en-US"/>
              <a:t>有追赶的</a:t>
            </a:r>
            <a:r>
              <a:rPr lang="zh-CN" altLang="en-US"/>
              <a:t>趋势</a:t>
            </a:r>
            <a:endParaRPr lang="zh-CN" altLang="en-US"/>
          </a:p>
          <a:p>
            <a:r>
              <a:rPr lang="zh-CN" altLang="en-US"/>
              <a:t>旗舰</a:t>
            </a:r>
            <a:r>
              <a:rPr lang="en-US" altLang="zh-CN"/>
              <a:t>CPU</a:t>
            </a:r>
            <a:r>
              <a:rPr lang="zh-CN" altLang="en-US"/>
              <a:t>上</a:t>
            </a:r>
            <a:r>
              <a:rPr lang="en-US" altLang="zh-CN"/>
              <a:t>，AMD</a:t>
            </a:r>
            <a:r>
              <a:rPr lang="zh-CN" altLang="en-US"/>
              <a:t>目前已经不输</a:t>
            </a:r>
            <a:r>
              <a:rPr lang="en-US" altLang="zh-CN"/>
              <a:t>Intel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286000"/>
            <a:ext cx="5643245" cy="4232275"/>
          </a:xfrm>
          <a:prstGeom prst="rect">
            <a:avLst/>
          </a:prstGeom>
        </p:spPr>
      </p:pic>
      <p:sp>
        <p:nvSpPr>
          <p:cNvPr id="4" name="Cloud Callout 3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800" b="1"/>
              <a:t>Intel vs AMD</a:t>
            </a:r>
            <a:endParaRPr lang="en-US" altLang="zh-CN" sz="2800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1400" b="1"/>
              <a:t> </a:t>
            </a:r>
            <a:endParaRPr lang="en-US" altLang="zh-CN" sz="1400" b="1"/>
          </a:p>
        </p:txBody>
      </p:sp>
      <p:sp>
        <p:nvSpPr>
          <p:cNvPr id="6" name="文本框 5"/>
          <p:cNvSpPr txBox="1"/>
          <p:nvPr/>
        </p:nvSpPr>
        <p:spPr>
          <a:xfrm>
            <a:off x="609600" y="1238885"/>
            <a:ext cx="8362950" cy="1129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</a:pPr>
            <a:r>
              <a:rPr lang="zh-CN" altLang="en-US" sz="1800" i="0">
                <a:solidFill>
                  <a:srgbClr val="060607"/>
                </a:solidFill>
                <a:latin typeface="-apple-system"/>
                <a:ea typeface="-apple-system"/>
              </a:rPr>
              <a:t>单线程性能对比</a:t>
            </a:r>
            <a:r>
              <a:rPr lang="en-US" altLang="zh-CN" sz="1800" i="0">
                <a:solidFill>
                  <a:srgbClr val="060607"/>
                </a:solidFill>
                <a:latin typeface="-apple-system"/>
                <a:ea typeface="-apple-system"/>
              </a:rPr>
              <a:t>(24.09</a:t>
            </a:r>
            <a:r>
              <a:rPr lang="zh-CN" altLang="en-US" sz="1800" i="0">
                <a:solidFill>
                  <a:srgbClr val="060607"/>
                </a:solidFill>
                <a:latin typeface="-apple-system"/>
                <a:ea typeface="-apple-system"/>
              </a:rPr>
              <a:t>数据</a:t>
            </a:r>
            <a:r>
              <a:rPr lang="en-US" altLang="zh-CN" sz="1800" i="0">
                <a:solidFill>
                  <a:srgbClr val="060607"/>
                </a:solidFill>
                <a:latin typeface="-apple-system"/>
                <a:ea typeface="-apple-system"/>
              </a:rPr>
              <a:t>）</a:t>
            </a:r>
            <a:endParaRPr lang="zh-CN" altLang="en-US" sz="1800" i="0">
              <a:solidFill>
                <a:srgbClr val="060607"/>
              </a:solidFill>
              <a:latin typeface="-apple-system"/>
              <a:ea typeface="-apple-system"/>
            </a:endParaRPr>
          </a:p>
          <a:p>
            <a:pPr marL="0" indent="0" fontAlgn="base">
              <a:lnSpc>
                <a:spcPts val="2400"/>
              </a:lnSpc>
              <a:spcBef>
                <a:spcPts val="900"/>
              </a:spcBef>
              <a:spcAft>
                <a:spcPts val="900"/>
              </a:spcAft>
            </a:pPr>
            <a:r>
              <a:rPr lang="zh-CN" altLang="en-US" sz="1800" i="0">
                <a:solidFill>
                  <a:srgbClr val="060607"/>
                </a:solidFill>
                <a:latin typeface="-apple-system"/>
                <a:ea typeface="-apple-system"/>
              </a:rPr>
              <a:t>单线程性能是衡量</a:t>
            </a:r>
            <a:r>
              <a:rPr lang="en-US" altLang="zh-CN" sz="1800" i="0">
                <a:solidFill>
                  <a:srgbClr val="060607"/>
                </a:solidFill>
                <a:latin typeface="-apple-system"/>
                <a:ea typeface="-apple-system"/>
              </a:rPr>
              <a:t>CPU</a:t>
            </a:r>
            <a:r>
              <a:rPr lang="zh-CN" altLang="en-US" sz="1800" i="0">
                <a:solidFill>
                  <a:srgbClr val="060607"/>
                </a:solidFill>
                <a:latin typeface="-apple-system"/>
                <a:ea typeface="-apple-system"/>
              </a:rPr>
              <a:t>在处理单任务时的效率，对于游戏和日常办公场景尤为重要。以下是</a:t>
            </a:r>
            <a:r>
              <a:rPr lang="en-US" altLang="zh-CN" sz="1800" i="0">
                <a:solidFill>
                  <a:srgbClr val="060607"/>
                </a:solidFill>
                <a:latin typeface="-apple-system"/>
                <a:ea typeface="-apple-system"/>
              </a:rPr>
              <a:t>AMD</a:t>
            </a:r>
            <a:r>
              <a:rPr lang="zh-CN" altLang="en-US" sz="1800" i="0">
                <a:solidFill>
                  <a:srgbClr val="060607"/>
                </a:solidFill>
                <a:latin typeface="-apple-system"/>
                <a:ea typeface="-apple-system"/>
              </a:rPr>
              <a:t>和</a:t>
            </a:r>
            <a:r>
              <a:rPr lang="en-US" altLang="zh-CN" sz="1800" i="0">
                <a:solidFill>
                  <a:srgbClr val="060607"/>
                </a:solidFill>
                <a:latin typeface="-apple-system"/>
                <a:ea typeface="-apple-system"/>
              </a:rPr>
              <a:t>Intel</a:t>
            </a:r>
            <a:r>
              <a:rPr lang="zh-CN" altLang="en-US" sz="1800" i="0">
                <a:solidFill>
                  <a:srgbClr val="060607"/>
                </a:solidFill>
                <a:latin typeface="-apple-system"/>
                <a:ea typeface="-apple-system"/>
              </a:rPr>
              <a:t>旗舰</a:t>
            </a:r>
            <a:r>
              <a:rPr lang="en-US" altLang="zh-CN" sz="1800" i="0">
                <a:solidFill>
                  <a:srgbClr val="060607"/>
                </a:solidFill>
                <a:latin typeface="-apple-system"/>
                <a:ea typeface="-apple-system"/>
              </a:rPr>
              <a:t>CPU</a:t>
            </a:r>
            <a:r>
              <a:rPr lang="zh-CN" altLang="en-US" sz="1800" i="0">
                <a:solidFill>
                  <a:srgbClr val="060607"/>
                </a:solidFill>
                <a:latin typeface="-apple-system"/>
                <a:ea typeface="-apple-system"/>
              </a:rPr>
              <a:t>的单线程性能对比：</a:t>
            </a:r>
            <a:endParaRPr lang="zh-CN" altLang="en-US" sz="1800" i="0">
              <a:solidFill>
                <a:srgbClr val="060607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2371725"/>
          <a:ext cx="10485120" cy="3657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1850"/>
                <a:gridCol w="1482090"/>
                <a:gridCol w="1853565"/>
                <a:gridCol w="1552575"/>
                <a:gridCol w="1747520"/>
                <a:gridCol w="1747520"/>
              </a:tblGrid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CPU</a:t>
                      </a:r>
                      <a:r>
                        <a:rPr lang="zh-CN" altLang="en-US" sz="1600" b="1"/>
                        <a:t>型号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/>
                        <a:t>性能得分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/>
                        <a:t>架构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/>
                        <a:t>核心</a:t>
                      </a:r>
                      <a:r>
                        <a:rPr lang="en-US" altLang="zh-CN" sz="1600" b="1"/>
                        <a:t>/</a:t>
                      </a:r>
                      <a:r>
                        <a:rPr lang="zh-CN" altLang="en-US" sz="1600" b="1"/>
                        <a:t>线程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/>
                        <a:t>基础</a:t>
                      </a:r>
                      <a:r>
                        <a:rPr lang="en-US" altLang="zh-CN" sz="1600" b="1"/>
                        <a:t>/</a:t>
                      </a:r>
                      <a:r>
                        <a:rPr lang="zh-CN" altLang="en-US" sz="1600" b="1"/>
                        <a:t>睿频频率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TDP (W)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Intel Core i9-10980XE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100.0%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Cascade Lake-X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18/36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3.0 / 4.8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165W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AMD Ryzen 9 3950X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97.5%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Zen 2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16/32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3.5 / 4.7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105W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AMD Ryzen 9 3900X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97.3%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Zen 2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12/24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3.8 / 4.6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105W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Intel Core i9-9900KS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96.4%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Coffee Lake-R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8/16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4.0 / 5.0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127W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Intel Core i9-9900K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95.8%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Coffee Lake-R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8/16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3.6 / 5.0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95W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38200" y="6096000"/>
            <a:ext cx="10274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>
                <a:solidFill>
                  <a:srgbClr val="060607"/>
                </a:solidFill>
                <a:latin typeface="-apple-system"/>
                <a:ea typeface="-apple-system"/>
                <a:sym typeface="+mn-ea"/>
              </a:rPr>
              <a:t>(24.09</a:t>
            </a:r>
            <a:r>
              <a:rPr lang="zh-CN" altLang="en-US" sz="1800">
                <a:solidFill>
                  <a:srgbClr val="060607"/>
                </a:solidFill>
                <a:latin typeface="-apple-system"/>
                <a:ea typeface="-apple-system"/>
                <a:sym typeface="+mn-ea"/>
              </a:rPr>
              <a:t>数据</a:t>
            </a:r>
            <a:r>
              <a:rPr lang="en-US" altLang="zh-CN" sz="1800">
                <a:solidFill>
                  <a:srgbClr val="060607"/>
                </a:solidFill>
                <a:latin typeface="-apple-system"/>
                <a:ea typeface="-apple-system"/>
                <a:sym typeface="+mn-ea"/>
              </a:rPr>
              <a:t>）</a:t>
            </a:r>
            <a:r>
              <a:rPr lang="en-US" altLang="zh-CN" sz="1800">
                <a:solidFill>
                  <a:srgbClr val="060607"/>
                </a:solidFill>
                <a:latin typeface="-apple-system"/>
                <a:ea typeface="-apple-system"/>
                <a:sym typeface="+mn-ea"/>
              </a:rPr>
              <a:t>https://www.electronicshub.org/amd-vs-intel-processor-comparison-chart/</a:t>
            </a:r>
            <a:endParaRPr lang="en-US" altLang="zh-CN" sz="1800" dirty="0" smtClean="0">
              <a:solidFill>
                <a:srgbClr val="060607"/>
              </a:solidFill>
              <a:latin typeface="-apple-system"/>
              <a:ea typeface="-apple-system"/>
              <a:sym typeface="+mn-ea"/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85800" y="1066800"/>
            <a:ext cx="10485120" cy="1129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>
              <a:lnSpc>
                <a:spcPts val="2400"/>
              </a:lnSpc>
              <a:spcBef>
                <a:spcPts val="1100"/>
              </a:spcBef>
              <a:spcAft>
                <a:spcPct val="0"/>
              </a:spcAft>
            </a:pPr>
            <a:r>
              <a:rPr lang="zh-CN" altLang="en-US" sz="1800" b="1" i="0">
                <a:solidFill>
                  <a:srgbClr val="060607"/>
                </a:solidFill>
                <a:latin typeface="-apple-system"/>
                <a:ea typeface="-apple-system"/>
              </a:rPr>
              <a:t>多线程性能对比</a:t>
            </a:r>
            <a:endParaRPr lang="en-US" altLang="zh-CN" sz="1800" b="1" i="0">
              <a:solidFill>
                <a:srgbClr val="060607"/>
              </a:solidFill>
              <a:latin typeface="-apple-system"/>
              <a:ea typeface="-apple-system"/>
            </a:endParaRPr>
          </a:p>
          <a:p>
            <a:pPr marL="0" indent="0" fontAlgn="base">
              <a:lnSpc>
                <a:spcPts val="2400"/>
              </a:lnSpc>
              <a:spcBef>
                <a:spcPts val="900"/>
              </a:spcBef>
              <a:spcAft>
                <a:spcPts val="900"/>
              </a:spcAft>
            </a:pPr>
            <a:r>
              <a:rPr lang="zh-CN" altLang="en-US" sz="1800" b="0" i="0">
                <a:solidFill>
                  <a:srgbClr val="060607"/>
                </a:solidFill>
                <a:latin typeface="-apple-system"/>
                <a:ea typeface="-apple-system"/>
              </a:rPr>
              <a:t>多线程性能是衡量</a:t>
            </a:r>
            <a:r>
              <a:rPr lang="en-US" altLang="zh-CN" sz="1800" b="0" i="0">
                <a:solidFill>
                  <a:srgbClr val="060607"/>
                </a:solidFill>
                <a:latin typeface="-apple-system"/>
                <a:ea typeface="-apple-system"/>
              </a:rPr>
              <a:t>CPU</a:t>
            </a:r>
            <a:r>
              <a:rPr lang="zh-CN" altLang="en-US" sz="1800" b="0" i="0">
                <a:solidFill>
                  <a:srgbClr val="060607"/>
                </a:solidFill>
                <a:latin typeface="-apple-system"/>
                <a:ea typeface="-apple-system"/>
              </a:rPr>
              <a:t>在处理多任务时的效率，对于内容创作、</a:t>
            </a:r>
            <a:r>
              <a:rPr lang="en-US" altLang="zh-CN" sz="1800" b="0" i="0">
                <a:solidFill>
                  <a:srgbClr val="060607"/>
                </a:solidFill>
                <a:latin typeface="-apple-system"/>
                <a:ea typeface="-apple-system"/>
              </a:rPr>
              <a:t>3D</a:t>
            </a:r>
            <a:r>
              <a:rPr lang="zh-CN" altLang="en-US" sz="1800" b="0" i="0">
                <a:solidFill>
                  <a:srgbClr val="060607"/>
                </a:solidFill>
                <a:latin typeface="-apple-system"/>
                <a:ea typeface="-apple-system"/>
              </a:rPr>
              <a:t>渲染和服务器应用尤为重要。以下是</a:t>
            </a:r>
            <a:r>
              <a:rPr lang="en-US" altLang="zh-CN" sz="1800" b="0" i="0">
                <a:solidFill>
                  <a:srgbClr val="060607"/>
                </a:solidFill>
                <a:latin typeface="-apple-system"/>
                <a:ea typeface="-apple-system"/>
              </a:rPr>
              <a:t>AMD</a:t>
            </a:r>
            <a:r>
              <a:rPr lang="zh-CN" altLang="en-US" sz="1800" b="0" i="0">
                <a:solidFill>
                  <a:srgbClr val="060607"/>
                </a:solidFill>
                <a:latin typeface="-apple-system"/>
                <a:ea typeface="-apple-system"/>
              </a:rPr>
              <a:t>和</a:t>
            </a:r>
            <a:r>
              <a:rPr lang="en-US" altLang="zh-CN" sz="1800" b="0" i="0">
                <a:solidFill>
                  <a:srgbClr val="060607"/>
                </a:solidFill>
                <a:latin typeface="-apple-system"/>
                <a:ea typeface="-apple-system"/>
              </a:rPr>
              <a:t>Intel</a:t>
            </a:r>
            <a:r>
              <a:rPr lang="zh-CN" altLang="en-US" sz="1800" b="0" i="0">
                <a:solidFill>
                  <a:srgbClr val="060607"/>
                </a:solidFill>
                <a:latin typeface="-apple-system"/>
                <a:ea typeface="-apple-system"/>
              </a:rPr>
              <a:t>旗舰</a:t>
            </a:r>
            <a:r>
              <a:rPr lang="en-US" altLang="zh-CN" sz="1800" b="0" i="0">
                <a:solidFill>
                  <a:srgbClr val="060607"/>
                </a:solidFill>
                <a:latin typeface="-apple-system"/>
                <a:ea typeface="-apple-system"/>
              </a:rPr>
              <a:t>CPU</a:t>
            </a:r>
            <a:r>
              <a:rPr lang="zh-CN" altLang="en-US" sz="1800" b="0" i="0">
                <a:solidFill>
                  <a:srgbClr val="060607"/>
                </a:solidFill>
                <a:latin typeface="-apple-system"/>
                <a:ea typeface="-apple-system"/>
              </a:rPr>
              <a:t>的多线程性能对比：</a:t>
            </a:r>
            <a:endParaRPr lang="zh-CN" altLang="en-US" sz="1800" b="0" i="0">
              <a:solidFill>
                <a:srgbClr val="060607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762000" y="2209800"/>
          <a:ext cx="10485120" cy="36753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8570"/>
                <a:gridCol w="1978025"/>
                <a:gridCol w="1995805"/>
                <a:gridCol w="1285875"/>
                <a:gridCol w="1677035"/>
                <a:gridCol w="1019810"/>
              </a:tblGrid>
              <a:tr h="62738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CPU</a:t>
                      </a:r>
                      <a:r>
                        <a:rPr lang="zh-CN" altLang="en-US" sz="1600" b="1"/>
                        <a:t>型号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/>
                        <a:t>多线程性能得分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/>
                        <a:t>架构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/>
                        <a:t>核心</a:t>
                      </a:r>
                      <a:r>
                        <a:rPr lang="en-US" altLang="zh-CN" sz="1600" b="1"/>
                        <a:t>/</a:t>
                      </a:r>
                      <a:r>
                        <a:rPr lang="zh-CN" altLang="en-US" sz="1600" b="1"/>
                        <a:t>线程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/>
                        <a:t>基础</a:t>
                      </a:r>
                      <a:r>
                        <a:rPr lang="en-US" altLang="zh-CN" sz="1600" b="1"/>
                        <a:t>/</a:t>
                      </a:r>
                      <a:r>
                        <a:rPr lang="zh-CN" altLang="en-US" sz="1600" b="1"/>
                        <a:t>睿频频率</a:t>
                      </a:r>
                      <a:endParaRPr lang="zh-CN" altLang="en-US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TDP (W)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AMD Threadripper 3990X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100.0%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Zen 2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64/128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2.9 / 4.3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280W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AMD Threadripper 3970X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94.7%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Zen 2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32/64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3.7 / 4.5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280W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AMD Threadripper 3960X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86.8%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Zen 2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24/48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3.8 / 4.5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280W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Intel Xeon W-3175X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82.6%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Skylake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28/56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3.1 / 4.3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225W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  <a:tr h="0"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Intel Core i9-10980XE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62.7%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Cascade Lake-X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18/36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3.0 / 4.8 GHz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  <a:tc>
                  <a:txBody>
                    <a:bodyPr/>
                    <a:p>
                      <a:pPr marL="0" indent="0" algn="l" fontAlgn="base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/>
                        <a:t>165W</a:t>
                      </a:r>
                      <a:endParaRPr lang="en-US" altLang="zh-CN" sz="1600" b="1"/>
                    </a:p>
                  </a:txBody>
                  <a:tcPr marL="203517" marR="203517" marT="152717" marB="152717"/>
                </a:tc>
              </a:tr>
            </a:tbl>
          </a:graphicData>
        </a:graphic>
      </p:graphicFrame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800" b="1"/>
              <a:t>Intel vs AMD</a:t>
            </a:r>
            <a:endParaRPr lang="en-US" altLang="zh-CN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838200" y="6096000"/>
            <a:ext cx="102743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800">
                <a:solidFill>
                  <a:srgbClr val="060607"/>
                </a:solidFill>
                <a:latin typeface="-apple-system"/>
                <a:ea typeface="-apple-system"/>
                <a:sym typeface="+mn-ea"/>
              </a:rPr>
              <a:t>(24.09</a:t>
            </a:r>
            <a:r>
              <a:rPr lang="zh-CN" altLang="en-US" sz="1800">
                <a:solidFill>
                  <a:srgbClr val="060607"/>
                </a:solidFill>
                <a:latin typeface="-apple-system"/>
                <a:ea typeface="-apple-system"/>
                <a:sym typeface="+mn-ea"/>
              </a:rPr>
              <a:t>数据</a:t>
            </a:r>
            <a:r>
              <a:rPr lang="en-US" altLang="zh-CN" sz="1800">
                <a:solidFill>
                  <a:srgbClr val="060607"/>
                </a:solidFill>
                <a:latin typeface="-apple-system"/>
                <a:ea typeface="-apple-system"/>
                <a:sym typeface="+mn-ea"/>
              </a:rPr>
              <a:t>）</a:t>
            </a:r>
            <a:r>
              <a:rPr lang="en-US" altLang="zh-CN" sz="1800">
                <a:solidFill>
                  <a:srgbClr val="060607"/>
                </a:solidFill>
                <a:latin typeface="-apple-system"/>
                <a:ea typeface="-apple-system"/>
                <a:sym typeface="+mn-ea"/>
              </a:rPr>
              <a:t>https://www.electronicshub.org/amd-vs-intel-processor-comparison-chart/</a:t>
            </a:r>
            <a:endParaRPr lang="en-US" altLang="zh-CN" sz="1800" dirty="0" smtClean="0">
              <a:solidFill>
                <a:srgbClr val="060607"/>
              </a:solidFill>
              <a:latin typeface="-apple-system"/>
              <a:ea typeface="-apple-system"/>
              <a:sym typeface="+mn-ea"/>
            </a:endParaRPr>
          </a:p>
        </p:txBody>
      </p:sp>
      <p:sp>
        <p:nvSpPr>
          <p:cNvPr id="3" name="Cloud Callout 2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48400" y="2057400"/>
            <a:ext cx="4981575" cy="37744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83" y="1981200"/>
            <a:ext cx="4391005" cy="38862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 bwMode="auto">
          <a:xfrm>
            <a:off x="3048000" y="3810000"/>
            <a:ext cx="3200400" cy="1371600"/>
          </a:xfrm>
          <a:prstGeom prst="line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3505200" y="4267200"/>
            <a:ext cx="2819400" cy="1143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3124200" y="4648200"/>
            <a:ext cx="3200400" cy="1143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loud Callout 2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C, assembly, machine code</a:t>
            </a:r>
            <a:r>
              <a:rPr lang="zh-CN" altLang="en-US" dirty="0">
                <a:ea typeface="SimSun" charset="0"/>
              </a:rPr>
              <a:t>（</a:t>
            </a:r>
            <a:r>
              <a:rPr lang="en-US" altLang="zh-CN" dirty="0">
                <a:ea typeface="SimSun" charset="0"/>
              </a:rPr>
              <a:t>C</a:t>
            </a:r>
            <a:r>
              <a:rPr lang="zh-CN" altLang="en-US" dirty="0">
                <a:ea typeface="SimSun" charset="0"/>
              </a:rPr>
              <a:t>、汇编到机器码）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单条指令经过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CPU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的流程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（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扩展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）</a:t>
            </a:r>
            <a:endParaRPr lang="en-US" altLang="zh-CN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</p:txBody>
      </p:sp>
      <p:pic>
        <p:nvPicPr>
          <p:cNvPr id="49155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485900"/>
            <a:ext cx="849947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指令经过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</a:rPr>
              <a:t>CPU</a:t>
            </a:r>
            <a:endParaRPr lang="en-US" altLang="zh-CN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 b="1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指令</a:t>
            </a:r>
            <a:endParaRPr lang="zh-CN" altLang="en-US" b="1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1"/>
            <a:r>
              <a:rPr lang="zh-CN" altLang="en-US" b="1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寄存器</a:t>
            </a:r>
            <a:endParaRPr lang="zh-CN" altLang="en-US" b="1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1"/>
            <a:r>
              <a:rPr lang="en-US" altLang="zh-CN" b="1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ALU</a:t>
            </a:r>
            <a:endParaRPr lang="en-US" altLang="zh-CN" b="1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1"/>
            <a:r>
              <a:rPr lang="zh-CN" altLang="en-US" b="1">
                <a:latin typeface="Microsoft YaHei" charset="0"/>
                <a:ea typeface="Microsoft YaHei" charset="0"/>
                <a:cs typeface="Microsoft YaHei" charset="0"/>
              </a:rPr>
              <a:t>内存</a:t>
            </a:r>
            <a:endParaRPr lang="zh-CN" altLang="en-US" b="1">
              <a:latin typeface="Microsoft YaHei" charset="0"/>
              <a:ea typeface="Microsoft YaHei" charset="0"/>
              <a:cs typeface="Microsoft YaHei" charset="0"/>
            </a:endParaRPr>
          </a:p>
          <a:p>
            <a:pPr lvl="0"/>
            <a:endParaRPr lang="zh-CN" altLang="en-US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3" name="Cloud Callout 2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72708" name="TextBox 1"/>
          <p:cNvSpPr txBox="1">
            <a:spLocks noChangeArrowheads="1"/>
          </p:cNvSpPr>
          <p:nvPr/>
        </p:nvSpPr>
        <p:spPr bwMode="auto">
          <a:xfrm>
            <a:off x="1981200" y="2590800"/>
            <a:ext cx="150558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x-none" sz="1600">
                <a:solidFill>
                  <a:srgbClr val="FF0000"/>
                </a:solidFill>
                <a:latin typeface="Courier" pitchFamily="49" charset="0"/>
                <a:ea typeface="Courier" pitchFamily="49" charset="0"/>
                <a:cs typeface="Courier" pitchFamily="49" charset="0"/>
              </a:rPr>
              <a:t>add x1, x2, x3 </a:t>
            </a:r>
            <a:endParaRPr lang="da-DK" altLang="x-none" sz="1600">
              <a:solidFill>
                <a:srgbClr val="FF0000"/>
              </a:solidFill>
              <a:latin typeface="Courier" pitchFamily="49" charset="0"/>
              <a:ea typeface="Courier" pitchFamily="49" charset="0"/>
              <a:cs typeface="Courier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357360" y="3581400"/>
            <a:ext cx="945515" cy="38989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34200" y="2461895"/>
            <a:ext cx="945515" cy="38989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38650" y="2512695"/>
            <a:ext cx="945515" cy="38989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 smtClean="0">
              <a:latin typeface="Calibri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41905" y="2238375"/>
            <a:ext cx="945515" cy="390525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 smtClean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多条指令经过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</a:rPr>
              <a:t>CPU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的流程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</a:rPr>
              <a:t>（</a:t>
            </a:r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扩展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</a:rPr>
              <a:t>）</a:t>
            </a:r>
            <a:endParaRPr lang="en-US" altLang="zh-CN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Microsoft YaHei" charset="0"/>
                <a:ea typeface="Microsoft YaHei" charset="0"/>
                <a:cs typeface="Microsoft YaHei" charset="0"/>
              </a:rPr>
              <a:t>指令经过</a:t>
            </a:r>
            <a:r>
              <a:rPr lang="en-US" altLang="zh-CN">
                <a:latin typeface="Microsoft YaHei" charset="0"/>
                <a:ea typeface="Microsoft YaHei" charset="0"/>
                <a:cs typeface="Microsoft YaHei" charset="0"/>
              </a:rPr>
              <a:t>CPU</a:t>
            </a:r>
            <a:endParaRPr lang="en-US" altLang="zh-CN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指令</a:t>
            </a:r>
            <a:endParaRPr lang="zh-CN" altLang="en-US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1"/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寄存器</a:t>
            </a:r>
            <a:endParaRPr lang="zh-CN" altLang="en-US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1"/>
            <a:r>
              <a:rPr lang="en-US" altLang="zh-CN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ALU</a:t>
            </a:r>
            <a:endParaRPr lang="en-US" altLang="zh-CN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1"/>
            <a:r>
              <a:rPr lang="zh-CN" altLang="en-US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内存</a:t>
            </a:r>
            <a:endParaRPr lang="zh-CN" altLang="en-US">
              <a:latin typeface="Microsoft YaHei" charset="0"/>
              <a:ea typeface="Microsoft YaHei" charset="0"/>
              <a:cs typeface="Microsoft YaHei" charset="0"/>
              <a:sym typeface="+mn-ea"/>
            </a:endParaRPr>
          </a:p>
          <a:p>
            <a:pPr lvl="1"/>
            <a:r>
              <a:rPr lang="en-US" altLang="zh-CN" b="1">
                <a:latin typeface="Microsoft YaHei" charset="0"/>
                <a:ea typeface="Microsoft YaHei" charset="0"/>
                <a:cs typeface="Microsoft YaHei" charset="0"/>
              </a:rPr>
              <a:t>PC</a:t>
            </a:r>
            <a:endParaRPr lang="en-US" altLang="zh-CN" b="1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 b="1">
                <a:latin typeface="Microsoft YaHei" charset="0"/>
                <a:ea typeface="Microsoft YaHei" charset="0"/>
                <a:cs typeface="Microsoft YaHei" charset="0"/>
              </a:rPr>
              <a:t>控制信号</a:t>
            </a:r>
            <a:endParaRPr lang="zh-CN" altLang="en-US" b="1">
              <a:latin typeface="Microsoft YaHei" charset="0"/>
              <a:ea typeface="Microsoft YaHei" charset="0"/>
              <a:cs typeface="Microsoft YaHei" charset="0"/>
            </a:endParaRPr>
          </a:p>
          <a:p>
            <a:pPr lvl="0"/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要点</a:t>
            </a:r>
            <a:endParaRPr lang="zh-CN" altLang="en-US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算术逻辑运算</a:t>
            </a:r>
            <a:endParaRPr lang="zh-CN" altLang="en-US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访问内存</a:t>
            </a:r>
            <a:endParaRPr lang="zh-CN" altLang="en-US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1"/>
            <a:r>
              <a:rPr lang="zh-CN" altLang="en-US" sz="2400">
                <a:latin typeface="Microsoft YaHei" charset="0"/>
                <a:ea typeface="Microsoft YaHei" charset="0"/>
                <a:cs typeface="Microsoft YaHei" charset="0"/>
                <a:sym typeface="+mn-ea"/>
              </a:rPr>
              <a:t>控制指令</a:t>
            </a:r>
            <a:endParaRPr lang="zh-CN" altLang="en-US" sz="2400">
              <a:latin typeface="Microsoft YaHei" charset="0"/>
              <a:ea typeface="Microsoft YaHei" charset="0"/>
              <a:cs typeface="Microsoft YaHei" charset="0"/>
            </a:endParaRPr>
          </a:p>
          <a:p>
            <a:pPr lvl="0"/>
            <a:endParaRPr lang="zh-CN" altLang="en-US" b="1">
              <a:latin typeface="Microsoft YaHei" charset="0"/>
              <a:ea typeface="Microsoft YaHei" charset="0"/>
              <a:cs typeface="Microsoft YaHei" charset="0"/>
            </a:endParaRPr>
          </a:p>
        </p:txBody>
      </p:sp>
      <p:pic>
        <p:nvPicPr>
          <p:cNvPr id="72707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600200"/>
            <a:ext cx="8028940" cy="500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8" name="TextBox 1"/>
          <p:cNvSpPr txBox="1">
            <a:spLocks noChangeArrowheads="1"/>
          </p:cNvSpPr>
          <p:nvPr/>
        </p:nvSpPr>
        <p:spPr bwMode="auto">
          <a:xfrm>
            <a:off x="539750" y="5938838"/>
            <a:ext cx="31686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da-DK" altLang="x-none" sz="2400">
                <a:solidFill>
                  <a:srgbClr val="FF0000"/>
                </a:solidFill>
                <a:latin typeface="Courier" pitchFamily="49" charset="0"/>
                <a:ea typeface="Courier" pitchFamily="49" charset="0"/>
                <a:cs typeface="Courier" pitchFamily="49" charset="0"/>
              </a:rPr>
              <a:t>add x1, x2, x3 </a:t>
            </a:r>
            <a:endParaRPr lang="da-DK" altLang="x-none" sz="2400">
              <a:solidFill>
                <a:srgbClr val="FF0000"/>
              </a:solidFill>
              <a:latin typeface="Courier" pitchFamily="49" charset="0"/>
              <a:ea typeface="Courier" pitchFamily="49" charset="0"/>
              <a:cs typeface="Courier" pitchFamily="49" charset="0"/>
            </a:endParaRPr>
          </a:p>
        </p:txBody>
      </p:sp>
      <p:sp>
        <p:nvSpPr>
          <p:cNvPr id="3" name="Cloud Callout 2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05200" y="3886200"/>
            <a:ext cx="659765" cy="93472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ctr" anchorCtr="1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 smtClean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2" name="Rectangle 6"/>
          <p:cNvSpPr>
            <a:spLocks noChangeArrowheads="1"/>
          </p:cNvSpPr>
          <p:nvPr/>
        </p:nvSpPr>
        <p:spPr bwMode="auto">
          <a:xfrm>
            <a:off x="2590800" y="1066800"/>
            <a:ext cx="3200400" cy="2209800"/>
          </a:xfrm>
          <a:prstGeom prst="rect">
            <a:avLst/>
          </a:prstGeom>
          <a:solidFill>
            <a:srgbClr val="EFBFBF"/>
          </a:solidFill>
          <a:ln w="28575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CPU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04800"/>
            <a:ext cx="7226300" cy="573088"/>
          </a:xfrm>
        </p:spPr>
        <p:txBody>
          <a:bodyPr/>
          <a:lstStyle/>
          <a:p>
            <a:r>
              <a:rPr lang="en-US" dirty="0"/>
              <a:t>Assembly/Machine Code View</a:t>
            </a:r>
            <a:endParaRPr lang="en-US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43113" y="3352800"/>
            <a:ext cx="4852987" cy="3092450"/>
          </a:xfrm>
        </p:spPr>
        <p:txBody>
          <a:bodyPr/>
          <a:lstStyle/>
          <a:p>
            <a:pPr marL="227330" indent="-227330" defTabSz="895350">
              <a:buNone/>
              <a:tabLst>
                <a:tab pos="1371600" algn="l"/>
                <a:tab pos="4572000" algn="l"/>
              </a:tabLst>
            </a:pPr>
            <a:r>
              <a:rPr lang="en-US" sz="2400" dirty="0"/>
              <a:t>Programmer-Visible State</a:t>
            </a:r>
            <a:endParaRPr lang="en-US" sz="2400" dirty="0"/>
          </a:p>
          <a:p>
            <a:pPr marL="560705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PC: Program counter</a:t>
            </a:r>
            <a:endParaRPr lang="en-US" sz="2000" b="1" dirty="0"/>
          </a:p>
          <a:p>
            <a:pPr marL="840105" lvl="2" indent="-165100" defTabSz="895350">
              <a:tabLst>
                <a:tab pos="1371600" algn="l"/>
                <a:tab pos="4572000" algn="l"/>
              </a:tabLst>
            </a:pPr>
            <a:r>
              <a:rPr lang="zh-CN" altLang="en-US" sz="1800" dirty="0"/>
              <a:t>下一条指令的地址</a:t>
            </a:r>
            <a:endParaRPr lang="en-US" sz="1800" dirty="0"/>
          </a:p>
          <a:p>
            <a:pPr marL="840105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Called “RIP” (x86-64)</a:t>
            </a:r>
            <a:endParaRPr lang="en-US" sz="1800" dirty="0"/>
          </a:p>
          <a:p>
            <a:pPr marL="560705" lvl="1" indent="-222250" defTabSz="895350">
              <a:tabLst>
                <a:tab pos="1371600" algn="l"/>
                <a:tab pos="4572000" algn="l"/>
              </a:tabLst>
            </a:pPr>
            <a:r>
              <a:rPr lang="zh-CN" altLang="en-US" sz="2000" b="1" dirty="0"/>
              <a:t>寄存器</a:t>
            </a:r>
            <a:endParaRPr lang="en-US" sz="2000" b="1" dirty="0"/>
          </a:p>
          <a:p>
            <a:pPr marL="840105" lvl="2" indent="-165100" defTabSz="895350">
              <a:tabLst>
                <a:tab pos="1371600" algn="l"/>
                <a:tab pos="4572000" algn="l"/>
              </a:tabLst>
            </a:pPr>
            <a:r>
              <a:rPr lang="zh-CN" altLang="en-US" sz="1800" dirty="0"/>
              <a:t>存储频繁使用的程序数据</a:t>
            </a:r>
            <a:endParaRPr lang="en-US" sz="1800" dirty="0"/>
          </a:p>
          <a:p>
            <a:pPr marL="560705" lvl="1" indent="-222250" defTabSz="895350">
              <a:tabLst>
                <a:tab pos="1371600" algn="l"/>
                <a:tab pos="4572000" algn="l"/>
              </a:tabLst>
            </a:pPr>
            <a:r>
              <a:rPr lang="zh-CN" altLang="en-US" sz="2000" b="1" dirty="0"/>
              <a:t>条件码</a:t>
            </a:r>
            <a:endParaRPr lang="en-US" sz="2000" b="1" dirty="0"/>
          </a:p>
          <a:p>
            <a:pPr marL="840105" lvl="2" indent="-165100" defTabSz="895350">
              <a:tabLst>
                <a:tab pos="1371600" algn="l"/>
                <a:tab pos="4572000" algn="l"/>
              </a:tabLst>
            </a:pPr>
            <a:r>
              <a:rPr lang="zh-CN" altLang="en-US" sz="1800" dirty="0"/>
              <a:t>存储最近的算术逻辑操作的状态信息</a:t>
            </a:r>
            <a:endParaRPr lang="en-US" sz="1800" dirty="0"/>
          </a:p>
          <a:p>
            <a:pPr marL="840105" lvl="2" indent="-165100" defTabSz="895350">
              <a:tabLst>
                <a:tab pos="1371600" algn="l"/>
                <a:tab pos="4572000" algn="l"/>
              </a:tabLst>
            </a:pPr>
            <a:r>
              <a:rPr lang="zh-CN" altLang="en-US" sz="1800" dirty="0"/>
              <a:t>用于条件</a:t>
            </a:r>
            <a:r>
              <a:rPr lang="zh-CN" altLang="en-US" sz="1800" dirty="0"/>
              <a:t>分支</a:t>
            </a:r>
            <a:endParaRPr lang="zh-CN" altLang="en-US" sz="1800" dirty="0"/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2933700" y="1981200"/>
            <a:ext cx="533400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PC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3886200" y="1371600"/>
            <a:ext cx="1676400" cy="7620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latin typeface="Calibri" pitchFamily="34" charset="0"/>
              </a:rPr>
              <a:t>寄存器</a:t>
            </a:r>
            <a:endParaRPr lang="zh-CN" altLang="en-US" dirty="0">
              <a:latin typeface="Calibri" pitchFamily="34" charset="0"/>
            </a:endParaRPr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7543800" y="1066800"/>
            <a:ext cx="1752600" cy="2209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Ctr="1"/>
          <a:lstStyle/>
          <a:p>
            <a:pPr algn="ctr">
              <a:lnSpc>
                <a:spcPct val="100000"/>
              </a:lnSpc>
            </a:pPr>
            <a:r>
              <a:rPr lang="zh-CN" altLang="en-US" dirty="0">
                <a:latin typeface="Calibri" pitchFamily="34" charset="0"/>
              </a:rPr>
              <a:t>内存</a:t>
            </a:r>
            <a:endParaRPr lang="zh-CN" altLang="en-US" dirty="0">
              <a:latin typeface="Calibri" pitchFamily="34" charset="0"/>
            </a:endParaRPr>
          </a:p>
        </p:txBody>
      </p:sp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7848600" y="1730102"/>
            <a:ext cx="1143000" cy="101219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dirty="0">
                <a:latin typeface="Calibri" pitchFamily="34" charset="0"/>
              </a:rPr>
              <a:t>代码</a:t>
            </a:r>
            <a:endParaRPr lang="en-US" sz="2000" dirty="0">
              <a:latin typeface="Calibri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000" dirty="0">
                <a:latin typeface="Calibri" pitchFamily="34" charset="0"/>
              </a:rPr>
              <a:t>数据</a:t>
            </a:r>
            <a:endParaRPr lang="en-US" sz="2000" dirty="0">
              <a:latin typeface="Calibri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zh-CN" altLang="en-US" sz="2000" dirty="0">
                <a:latin typeface="Calibri" pitchFamily="34" charset="0"/>
              </a:rPr>
              <a:t>栈</a:t>
            </a:r>
            <a:endParaRPr lang="zh-CN" altLang="en-US" sz="2000" dirty="0">
              <a:latin typeface="Calibri" pitchFamily="34" charset="0"/>
            </a:endParaRPr>
          </a:p>
        </p:txBody>
      </p:sp>
      <p:sp>
        <p:nvSpPr>
          <p:cNvPr id="147465" name="Line 9"/>
          <p:cNvSpPr>
            <a:spLocks noChangeShapeType="1"/>
          </p:cNvSpPr>
          <p:nvPr/>
        </p:nvSpPr>
        <p:spPr bwMode="auto">
          <a:xfrm>
            <a:off x="5791200" y="17018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6" name="Line 10"/>
          <p:cNvSpPr>
            <a:spLocks noChangeShapeType="1"/>
          </p:cNvSpPr>
          <p:nvPr/>
        </p:nvSpPr>
        <p:spPr bwMode="auto">
          <a:xfrm>
            <a:off x="5791200" y="22352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>
            <a:off x="5791200" y="27686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8" name="Text Box 12"/>
          <p:cNvSpPr txBox="1">
            <a:spLocks noChangeArrowheads="1"/>
          </p:cNvSpPr>
          <p:nvPr/>
        </p:nvSpPr>
        <p:spPr bwMode="auto">
          <a:xfrm>
            <a:off x="5791200" y="1295400"/>
            <a:ext cx="1752600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内存地址</a:t>
            </a:r>
            <a:endParaRPr lang="zh-CN" altLang="en-US" sz="2000" b="0" dirty="0">
              <a:latin typeface="Calibri" pitchFamily="34" charset="0"/>
            </a:endParaRPr>
          </a:p>
        </p:txBody>
      </p:sp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5791200" y="1854200"/>
            <a:ext cx="1752600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数据</a:t>
            </a:r>
            <a:endParaRPr lang="zh-CN" altLang="en-US" sz="2000" b="0" dirty="0">
              <a:latin typeface="Calibri" pitchFamily="34" charset="0"/>
            </a:endParaRPr>
          </a:p>
        </p:txBody>
      </p:sp>
      <p:sp>
        <p:nvSpPr>
          <p:cNvPr id="147470" name="Text Box 14"/>
          <p:cNvSpPr txBox="1">
            <a:spLocks noChangeArrowheads="1"/>
          </p:cNvSpPr>
          <p:nvPr/>
        </p:nvSpPr>
        <p:spPr bwMode="auto">
          <a:xfrm>
            <a:off x="5791200" y="2387600"/>
            <a:ext cx="1676400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0" dirty="0">
                <a:latin typeface="Calibri" pitchFamily="34" charset="0"/>
              </a:rPr>
              <a:t>指令</a:t>
            </a:r>
            <a:endParaRPr lang="zh-CN" altLang="en-US" sz="2000" b="0" dirty="0">
              <a:latin typeface="Calibri" pitchFamily="34" charset="0"/>
            </a:endParaRPr>
          </a:p>
        </p:txBody>
      </p:sp>
      <p:sp>
        <p:nvSpPr>
          <p:cNvPr id="147472" name="Rectangle 16"/>
          <p:cNvSpPr>
            <a:spLocks noChangeArrowheads="1"/>
          </p:cNvSpPr>
          <p:nvPr/>
        </p:nvSpPr>
        <p:spPr bwMode="auto">
          <a:xfrm>
            <a:off x="4191000" y="2286000"/>
            <a:ext cx="1066800" cy="6858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zh-CN" altLang="en-US" sz="1800" dirty="0">
                <a:latin typeface="Calibri" pitchFamily="34" charset="0"/>
              </a:rPr>
              <a:t>条件</a:t>
            </a:r>
            <a:r>
              <a:rPr lang="zh-CN" altLang="en-US" sz="1800" dirty="0">
                <a:latin typeface="Calibri" pitchFamily="34" charset="0"/>
              </a:rPr>
              <a:t>码</a:t>
            </a:r>
            <a:endParaRPr lang="zh-CN" altLang="en-US" sz="1800" dirty="0">
              <a:latin typeface="Calibri" pitchFamily="34" charset="0"/>
            </a:endParaRPr>
          </a:p>
        </p:txBody>
      </p:sp>
      <p:sp>
        <p:nvSpPr>
          <p:cNvPr id="147473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6896100" y="3702050"/>
            <a:ext cx="3619500" cy="1568450"/>
          </a:xfrm>
        </p:spPr>
        <p:txBody>
          <a:bodyPr/>
          <a:lstStyle/>
          <a:p>
            <a:pPr marL="292100" lvl="1" indent="-177800"/>
            <a:r>
              <a:rPr lang="zh-CN" altLang="en-US" sz="2000" b="1" dirty="0"/>
              <a:t>内存</a:t>
            </a:r>
            <a:endParaRPr lang="en-US" sz="2000" b="1" dirty="0"/>
          </a:p>
          <a:p>
            <a:pPr marL="571500" lvl="2" indent="-165100"/>
            <a:r>
              <a:rPr lang="zh-CN" altLang="en-US" sz="1800" dirty="0"/>
              <a:t>字节寻址的数组</a:t>
            </a:r>
            <a:endParaRPr lang="en-US" sz="1800" dirty="0"/>
          </a:p>
          <a:p>
            <a:pPr marL="571500" lvl="2" indent="-165100"/>
            <a:r>
              <a:rPr lang="zh-CN" altLang="en-US" sz="1800" dirty="0"/>
              <a:t>可以存放代码和数据</a:t>
            </a:r>
            <a:endParaRPr lang="en-US" sz="1800" dirty="0"/>
          </a:p>
          <a:p>
            <a:pPr marL="571500" lvl="2" indent="-165100"/>
            <a:r>
              <a:rPr lang="zh-CN" altLang="en-US" sz="1800" dirty="0"/>
              <a:t>内存上的栈区，用来支撑函数调用</a:t>
            </a:r>
            <a:endParaRPr lang="en-US" sz="1800" dirty="0"/>
          </a:p>
          <a:p>
            <a:pPr marL="0" indent="0"/>
            <a:endParaRPr lang="en-US" sz="20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7591425" cy="762000"/>
          </a:xfrm>
        </p:spPr>
        <p:txBody>
          <a:bodyPr/>
          <a:lstStyle/>
          <a:p>
            <a:pPr eaLnBrk="1" hangingPunct="1"/>
            <a:r>
              <a:rPr lang="zh-CN" altLang="en-US" dirty="0"/>
              <a:t>定义</a:t>
            </a:r>
            <a:endParaRPr lang="zh-CN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126490"/>
            <a:ext cx="7896225" cy="49720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体系结构</a:t>
            </a:r>
            <a:r>
              <a:rPr lang="en-US" dirty="0">
                <a:solidFill>
                  <a:srgbClr val="C00000"/>
                </a:solidFill>
              </a:rPr>
              <a:t>:</a:t>
            </a:r>
            <a:r>
              <a:rPr lang="en-US" dirty="0"/>
              <a:t> (also ISA: instruction set architecture)</a:t>
            </a:r>
            <a:endParaRPr lang="en-US" dirty="0"/>
          </a:p>
          <a:p>
            <a:pPr lvl="1" eaLnBrk="1" hangingPunct="1"/>
            <a:r>
              <a:rPr lang="zh-CN" altLang="en-US" sz="2000" dirty="0"/>
              <a:t>一个编译器</a:t>
            </a:r>
            <a:r>
              <a:rPr lang="en-US" altLang="zh-CN" sz="2000" dirty="0"/>
              <a:t>/</a:t>
            </a:r>
            <a:r>
              <a:rPr lang="zh-CN" altLang="en-US" sz="2000" dirty="0"/>
              <a:t>汇编器开发人员需要了解的那部分计算机</a:t>
            </a:r>
            <a:r>
              <a:rPr lang="zh-CN" altLang="en-US" sz="2000" dirty="0"/>
              <a:t>设计</a:t>
            </a:r>
            <a:endParaRPr lang="zh-CN" altLang="en-US" sz="2000" dirty="0"/>
          </a:p>
          <a:p>
            <a:pPr lvl="1" eaLnBrk="1" hangingPunct="1"/>
            <a:r>
              <a:rPr lang="zh-CN" altLang="en-US" dirty="0"/>
              <a:t>比如</a:t>
            </a:r>
            <a:r>
              <a:rPr lang="en-US" dirty="0"/>
              <a:t>: 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指令集、寄存器等</a:t>
            </a:r>
            <a:r>
              <a:rPr lang="en-US" dirty="0"/>
              <a:t>.</a:t>
            </a:r>
            <a:endParaRPr lang="en-US" dirty="0"/>
          </a:p>
          <a:p>
            <a:r>
              <a:rPr lang="zh-CN" altLang="en-US" dirty="0" err="1">
                <a:solidFill>
                  <a:srgbClr val="C00000"/>
                </a:solidFill>
              </a:rPr>
              <a:t>微体系结构</a:t>
            </a:r>
            <a:r>
              <a:rPr lang="en-US" dirty="0">
                <a:solidFill>
                  <a:srgbClr val="C00000"/>
                </a:solidFill>
              </a:rPr>
              <a:t>:</a:t>
            </a:r>
            <a:r>
              <a:rPr lang="en-US" dirty="0"/>
              <a:t> </a:t>
            </a:r>
            <a:r>
              <a:rPr lang="zh-CN" altLang="en-US" dirty="0"/>
              <a:t>体系结构的实现</a:t>
            </a:r>
            <a:r>
              <a:rPr lang="en-US" dirty="0"/>
              <a:t>. </a:t>
            </a:r>
            <a:r>
              <a:rPr lang="zh-CN" altLang="en-US" dirty="0">
                <a:ea typeface="SimSun" charset="0"/>
              </a:rPr>
              <a:t>（计算机组成的内容）</a:t>
            </a:r>
            <a:endParaRPr lang="en-US" dirty="0"/>
          </a:p>
          <a:p>
            <a:pPr lvl="1"/>
            <a:r>
              <a:rPr lang="zh-CN" altLang="en-US" dirty="0"/>
              <a:t>比如</a:t>
            </a:r>
            <a:r>
              <a:rPr lang="en-US" dirty="0"/>
              <a:t>: </a:t>
            </a:r>
            <a:r>
              <a:rPr lang="zh-CN" altLang="en-US" dirty="0"/>
              <a:t>缓存容量，</a:t>
            </a:r>
            <a:r>
              <a:rPr lang="en-US" altLang="zh-CN" dirty="0"/>
              <a:t>CPU</a:t>
            </a:r>
            <a:r>
              <a:rPr lang="zh-CN" altLang="en-US" dirty="0"/>
              <a:t>频率</a:t>
            </a:r>
            <a:r>
              <a:rPr lang="en-US" dirty="0"/>
              <a:t>, </a:t>
            </a:r>
            <a:r>
              <a:rPr lang="zh-CN" altLang="en-US" dirty="0"/>
              <a:t>流水线</a:t>
            </a:r>
            <a:r>
              <a:rPr lang="en-US" dirty="0"/>
              <a:t>, </a:t>
            </a:r>
            <a:r>
              <a:rPr lang="zh-CN" altLang="en-US" dirty="0"/>
              <a:t>分支预测等</a:t>
            </a:r>
            <a:endParaRPr lang="en-US" dirty="0"/>
          </a:p>
          <a:p>
            <a:r>
              <a:rPr lang="zh-CN" altLang="en-US" dirty="0"/>
              <a:t>代码的两种形式</a:t>
            </a:r>
            <a:r>
              <a:rPr lang="en-US" dirty="0"/>
              <a:t>: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Machine Code</a:t>
            </a:r>
            <a:r>
              <a:rPr lang="en-US" dirty="0"/>
              <a:t>: </a:t>
            </a:r>
            <a:r>
              <a:rPr lang="zh-CN" altLang="en-US" dirty="0"/>
              <a:t>处理器运行的二进制代码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Assembly Code</a:t>
            </a:r>
            <a:r>
              <a:rPr lang="en-US" dirty="0"/>
              <a:t>: </a:t>
            </a:r>
            <a:r>
              <a:rPr lang="zh-CN" altLang="en-US" dirty="0"/>
              <a:t>机器码的文本表示（给程序员查看）</a:t>
            </a:r>
            <a:endParaRPr lang="en-US" dirty="0"/>
          </a:p>
          <a:p>
            <a:pPr eaLnBrk="1" hangingPunct="1"/>
            <a:r>
              <a:rPr lang="en-US" dirty="0"/>
              <a:t>Example ISAs: </a:t>
            </a:r>
            <a:endParaRPr lang="en-US" dirty="0"/>
          </a:p>
          <a:p>
            <a:pPr lvl="1"/>
            <a:r>
              <a:rPr lang="en-US" dirty="0"/>
              <a:t>Intel: x86, IA32, Itanium, x86-64</a:t>
            </a:r>
            <a:endParaRPr lang="en-US" dirty="0"/>
          </a:p>
          <a:p>
            <a:pPr lvl="1"/>
            <a:r>
              <a:rPr lang="en-US" dirty="0"/>
              <a:t>ARM: Used in almost all mobile phones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2625725" y="2514600"/>
            <a:ext cx="727075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text</a:t>
            </a:r>
            <a:endParaRPr lang="en-US" sz="2000" i="1" dirty="0">
              <a:latin typeface="Calibri" pitchFamily="34" charset="0"/>
            </a:endParaRP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2625725" y="3655700"/>
            <a:ext cx="727075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text</a:t>
            </a:r>
            <a:endParaRPr lang="en-US" sz="2000" i="1" dirty="0">
              <a:latin typeface="Calibri" pitchFamily="34" charset="0"/>
            </a:endParaRP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2352675" y="4724400"/>
            <a:ext cx="1000125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binary</a:t>
            </a:r>
            <a:endParaRPr lang="en-US" sz="2000" i="1" dirty="0">
              <a:latin typeface="Calibri" pitchFamily="34" charset="0"/>
            </a:endParaRP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2352675" y="5867400"/>
            <a:ext cx="1000125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i="1" dirty="0">
                <a:latin typeface="Calibri" pitchFamily="34" charset="0"/>
              </a:rPr>
              <a:t>binary</a:t>
            </a:r>
            <a:endParaRPr lang="en-US" sz="2000" i="1" dirty="0">
              <a:latin typeface="Calibri" pitchFamily="34" charset="0"/>
            </a:endParaRPr>
          </a:p>
        </p:txBody>
      </p:sp>
      <p:sp>
        <p:nvSpPr>
          <p:cNvPr id="148486" name="Line 6"/>
          <p:cNvSpPr>
            <a:spLocks noChangeShapeType="1"/>
          </p:cNvSpPr>
          <p:nvPr/>
        </p:nvSpPr>
        <p:spPr bwMode="auto">
          <a:xfrm>
            <a:off x="5513388" y="2977233"/>
            <a:ext cx="0" cy="4578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>
            <a:off x="5819774" y="3124200"/>
            <a:ext cx="3032125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dirty="0">
                <a:latin typeface="Calibri" pitchFamily="34" charset="0"/>
              </a:rPr>
              <a:t>编译器</a:t>
            </a:r>
            <a:r>
              <a:rPr lang="en-US" sz="2000" dirty="0">
                <a:latin typeface="Calibri" pitchFamily="34" charset="0"/>
              </a:rPr>
              <a:t>(</a:t>
            </a:r>
            <a:r>
              <a:rPr lang="en-US" sz="2000" dirty="0" err="1">
                <a:latin typeface="Courier New" panose="02070609020205020404" pitchFamily="49" charset="0"/>
              </a:rPr>
              <a:t>gcc</a:t>
            </a:r>
            <a:r>
              <a:rPr lang="en-US" sz="2000" dirty="0">
                <a:latin typeface="Courier New" panose="02070609020205020404" pitchFamily="49" charset="0"/>
              </a:rPr>
              <a:t> –</a:t>
            </a:r>
            <a:r>
              <a:rPr lang="en-US" sz="2000" dirty="0" err="1">
                <a:latin typeface="Courier New" panose="02070609020205020404" pitchFamily="49" charset="0"/>
              </a:rPr>
              <a:t>Og</a:t>
            </a:r>
            <a:r>
              <a:rPr lang="en-US" sz="2000" dirty="0">
                <a:latin typeface="Courier New" panose="02070609020205020404" pitchFamily="49" charset="0"/>
              </a:rPr>
              <a:t> -S</a:t>
            </a:r>
            <a:r>
              <a:rPr lang="en-US" sz="2000" dirty="0">
                <a:latin typeface="Calibri" pitchFamily="34" charset="0"/>
              </a:rPr>
              <a:t>)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148488" name="Rectangle 8"/>
          <p:cNvSpPr>
            <a:spLocks noChangeArrowheads="1"/>
          </p:cNvSpPr>
          <p:nvPr/>
        </p:nvSpPr>
        <p:spPr bwMode="auto">
          <a:xfrm>
            <a:off x="5803900" y="4191000"/>
            <a:ext cx="3048000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dirty="0">
                <a:latin typeface="Calibri" pitchFamily="34" charset="0"/>
              </a:rPr>
              <a:t>汇编器</a:t>
            </a:r>
            <a:r>
              <a:rPr lang="en-US" sz="2000" dirty="0">
                <a:latin typeface="Calibri" pitchFamily="34" charset="0"/>
              </a:rPr>
              <a:t>(</a:t>
            </a:r>
            <a:r>
              <a:rPr lang="en-US" sz="2000" dirty="0" err="1">
                <a:latin typeface="Courier New" panose="02070609020205020404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 </a:t>
            </a:r>
            <a:r>
              <a:rPr lang="en-US" sz="2000" dirty="0">
                <a:latin typeface="Courier New" panose="02070609020205020404" pitchFamily="49" charset="0"/>
              </a:rPr>
              <a:t>as</a:t>
            </a:r>
            <a:r>
              <a:rPr lang="en-US" sz="2000" dirty="0">
                <a:latin typeface="Calibri" pitchFamily="34" charset="0"/>
              </a:rPr>
              <a:t>)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148489" name="Rectangle 9"/>
          <p:cNvSpPr>
            <a:spLocks noChangeArrowheads="1"/>
          </p:cNvSpPr>
          <p:nvPr/>
        </p:nvSpPr>
        <p:spPr bwMode="auto">
          <a:xfrm>
            <a:off x="5819775" y="5334000"/>
            <a:ext cx="2638425" cy="39624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000" dirty="0">
                <a:latin typeface="Calibri" pitchFamily="34" charset="0"/>
              </a:rPr>
              <a:t>链接器</a:t>
            </a:r>
            <a:r>
              <a:rPr lang="en-US" sz="2000" dirty="0">
                <a:latin typeface="Calibri" pitchFamily="34" charset="0"/>
              </a:rPr>
              <a:t>(</a:t>
            </a:r>
            <a:r>
              <a:rPr lang="en-US" sz="2000" dirty="0" err="1">
                <a:latin typeface="Courier New" panose="02070609020205020404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</a:t>
            </a:r>
            <a:r>
              <a:rPr lang="en-US" sz="2000" dirty="0">
                <a:latin typeface="Courier" pitchFamily="49" charset="0"/>
              </a:rPr>
              <a:t> </a:t>
            </a:r>
            <a:r>
              <a:rPr lang="en-US" sz="2000" dirty="0">
                <a:latin typeface="Courier New" panose="02070609020205020404" pitchFamily="49" charset="0"/>
              </a:rPr>
              <a:t>ld</a:t>
            </a:r>
            <a:r>
              <a:rPr lang="en-US" sz="2000" dirty="0">
                <a:latin typeface="Calibri" pitchFamily="34" charset="0"/>
              </a:rPr>
              <a:t>)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148490" name="Rectangle 10"/>
          <p:cNvSpPr>
            <a:spLocks noChangeArrowheads="1"/>
          </p:cNvSpPr>
          <p:nvPr/>
        </p:nvSpPr>
        <p:spPr bwMode="auto">
          <a:xfrm>
            <a:off x="3897313" y="2579688"/>
            <a:ext cx="3263900" cy="396240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 program (</a:t>
            </a:r>
            <a:r>
              <a:rPr lang="en-US" sz="2000" dirty="0">
                <a:latin typeface="Courier New" panose="02070609020205020404" pitchFamily="49" charset="0"/>
              </a:rPr>
              <a:t>p1.c p2.c</a:t>
            </a:r>
            <a:r>
              <a:rPr lang="en-US" sz="2000" dirty="0">
                <a:latin typeface="Calibri" pitchFamily="34" charset="0"/>
              </a:rPr>
              <a:t>)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148491" name="Rectangle 11"/>
          <p:cNvSpPr>
            <a:spLocks noChangeArrowheads="1"/>
          </p:cNvSpPr>
          <p:nvPr/>
        </p:nvSpPr>
        <p:spPr bwMode="auto">
          <a:xfrm>
            <a:off x="3783013" y="3657600"/>
            <a:ext cx="3492500" cy="396240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latin typeface="Calibri" pitchFamily="34" charset="0"/>
              </a:rPr>
              <a:t>Asm</a:t>
            </a:r>
            <a:r>
              <a:rPr lang="en-US" sz="2000" dirty="0">
                <a:latin typeface="Calibri" pitchFamily="34" charset="0"/>
              </a:rPr>
              <a:t> program (</a:t>
            </a:r>
            <a:r>
              <a:rPr lang="en-US" sz="2000" dirty="0">
                <a:latin typeface="Courier New" panose="02070609020205020404" pitchFamily="49" charset="0"/>
              </a:rPr>
              <a:t>p1.s p2.s</a:t>
            </a:r>
            <a:r>
              <a:rPr lang="en-US" sz="2000" dirty="0">
                <a:latin typeface="Calibri" pitchFamily="34" charset="0"/>
              </a:rPr>
              <a:t>)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3668713" y="4800600"/>
            <a:ext cx="3721100" cy="396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Object program (</a:t>
            </a:r>
            <a:r>
              <a:rPr lang="en-US" sz="2000" dirty="0">
                <a:latin typeface="Courier New" panose="02070609020205020404" pitchFamily="49" charset="0"/>
              </a:rPr>
              <a:t>p1.o p2.o</a:t>
            </a:r>
            <a:r>
              <a:rPr lang="en-US" sz="2000" dirty="0">
                <a:latin typeface="Calibri" pitchFamily="34" charset="0"/>
              </a:rPr>
              <a:t>)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148493" name="Rectangle 13"/>
          <p:cNvSpPr>
            <a:spLocks noChangeArrowheads="1"/>
          </p:cNvSpPr>
          <p:nvPr/>
        </p:nvSpPr>
        <p:spPr bwMode="auto">
          <a:xfrm>
            <a:off x="3655219" y="5943600"/>
            <a:ext cx="3748088" cy="396240"/>
          </a:xfrm>
          <a:prstGeom prst="rect">
            <a:avLst/>
          </a:prstGeom>
          <a:solidFill>
            <a:srgbClr val="FF9999"/>
          </a:solidFill>
          <a:ln w="28575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Executable program (</a:t>
            </a:r>
            <a:r>
              <a:rPr lang="en-US" sz="2000" dirty="0">
                <a:latin typeface="Courier New" panose="02070609020205020404" pitchFamily="49" charset="0"/>
              </a:rPr>
              <a:t>p</a:t>
            </a:r>
            <a:r>
              <a:rPr lang="en-US" sz="2000" dirty="0">
                <a:latin typeface="Calibri" pitchFamily="34" charset="0"/>
              </a:rPr>
              <a:t>)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148494" name="Line 14"/>
          <p:cNvSpPr>
            <a:spLocks noChangeShapeType="1"/>
          </p:cNvSpPr>
          <p:nvPr/>
        </p:nvSpPr>
        <p:spPr bwMode="auto">
          <a:xfrm>
            <a:off x="5513388" y="4055145"/>
            <a:ext cx="0" cy="4578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5" name="Line 15"/>
          <p:cNvSpPr>
            <a:spLocks noChangeShapeType="1"/>
          </p:cNvSpPr>
          <p:nvPr/>
        </p:nvSpPr>
        <p:spPr bwMode="auto">
          <a:xfrm>
            <a:off x="5513388" y="5198145"/>
            <a:ext cx="0" cy="4578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6" name="Rectangle 16"/>
          <p:cNvSpPr>
            <a:spLocks noChangeArrowheads="1"/>
          </p:cNvSpPr>
          <p:nvPr/>
        </p:nvSpPr>
        <p:spPr bwMode="auto">
          <a:xfrm>
            <a:off x="8382000" y="4800600"/>
            <a:ext cx="2044700" cy="7042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Static libraries (</a:t>
            </a:r>
            <a:r>
              <a:rPr lang="en-US" sz="2000" dirty="0">
                <a:latin typeface="Courier New" panose="02070609020205020404" pitchFamily="49" charset="0"/>
              </a:rPr>
              <a:t>.a</a:t>
            </a:r>
            <a:r>
              <a:rPr lang="en-US" sz="2000" dirty="0">
                <a:latin typeface="Calibri" pitchFamily="34" charset="0"/>
              </a:rPr>
              <a:t>)</a:t>
            </a:r>
            <a:endParaRPr lang="en-US" sz="2000" dirty="0">
              <a:latin typeface="Calibri" pitchFamily="34" charset="0"/>
            </a:endParaRPr>
          </a:p>
        </p:txBody>
      </p:sp>
      <p:sp>
        <p:nvSpPr>
          <p:cNvPr id="148497" name="Line 17"/>
          <p:cNvSpPr>
            <a:spLocks noChangeShapeType="1"/>
          </p:cNvSpPr>
          <p:nvPr/>
        </p:nvSpPr>
        <p:spPr bwMode="auto">
          <a:xfrm flipH="1">
            <a:off x="7389813" y="5334000"/>
            <a:ext cx="990600" cy="4578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8" name="Rectangle 18"/>
          <p:cNvSpPr>
            <a:spLocks noGrp="1" noChangeArrowheads="1"/>
          </p:cNvSpPr>
          <p:nvPr>
            <p:ph type="title"/>
          </p:nvPr>
        </p:nvSpPr>
        <p:spPr>
          <a:xfrm>
            <a:off x="1905000" y="341312"/>
            <a:ext cx="6997700" cy="573088"/>
          </a:xfrm>
        </p:spPr>
        <p:txBody>
          <a:bodyPr/>
          <a:lstStyle/>
          <a:p>
            <a:r>
              <a:rPr lang="zh-CN" altLang="en-US"/>
              <a:t>将</a:t>
            </a:r>
            <a:r>
              <a:rPr lang="en-US" altLang="zh-CN"/>
              <a:t>C</a:t>
            </a:r>
            <a:r>
              <a:rPr lang="zh-CN" altLang="en-US"/>
              <a:t>代码翻译成目标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148499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1814513" y="990600"/>
            <a:ext cx="8307387" cy="1463675"/>
          </a:xfrm>
        </p:spPr>
        <p:txBody>
          <a:bodyPr/>
          <a:lstStyle/>
          <a:p>
            <a:pPr marL="560705" lvl="1" indent="-222250" defTabSz="895350">
              <a:tabLst>
                <a:tab pos="2286000" algn="l"/>
                <a:tab pos="3543300" algn="l"/>
              </a:tabLst>
            </a:pPr>
            <a:r>
              <a:rPr lang="zh-CN" altLang="en-US" dirty="0"/>
              <a:t>源代码文件</a:t>
            </a:r>
            <a:r>
              <a:rPr lang="en-US" altLang="zh-CN" dirty="0"/>
              <a:t>: </a:t>
            </a:r>
            <a:r>
              <a:rPr lang="en-US" dirty="0"/>
              <a:t>  </a:t>
            </a:r>
            <a:r>
              <a:rPr lang="en-US" b="1" dirty="0">
                <a:latin typeface="Courier New" panose="02070609020205020404" pitchFamily="49" charset="0"/>
              </a:rPr>
              <a:t>p1.c p2.c</a:t>
            </a:r>
            <a:endParaRPr lang="en-US" b="1" dirty="0">
              <a:latin typeface="Courier" pitchFamily="49" charset="0"/>
            </a:endParaRPr>
          </a:p>
          <a:p>
            <a:pPr marL="560705" lvl="1" indent="-222250" defTabSz="895350">
              <a:tabLst>
                <a:tab pos="2286000" algn="l"/>
                <a:tab pos="3543300" algn="l"/>
              </a:tabLst>
            </a:pPr>
            <a:r>
              <a:rPr lang="zh-CN" altLang="en-US" dirty="0"/>
              <a:t>编译命令</a:t>
            </a:r>
            <a:r>
              <a:rPr lang="en-US" dirty="0"/>
              <a:t>:  </a:t>
            </a:r>
            <a:r>
              <a:rPr lang="en-US" b="1" dirty="0" err="1">
                <a:latin typeface="Courier New" panose="02070609020205020404" pitchFamily="49" charset="0"/>
              </a:rPr>
              <a:t>gcc</a:t>
            </a:r>
            <a:r>
              <a:rPr lang="en-US" b="1" dirty="0">
                <a:latin typeface="Courier New" panose="02070609020205020404" pitchFamily="49" charset="0"/>
              </a:rPr>
              <a:t> –</a:t>
            </a:r>
            <a:r>
              <a:rPr lang="en-US" b="1" dirty="0" err="1">
                <a:latin typeface="Courier New" panose="02070609020205020404" pitchFamily="49" charset="0"/>
              </a:rPr>
              <a:t>Og</a:t>
            </a:r>
            <a:r>
              <a:rPr lang="en-US" b="1" dirty="0">
                <a:latin typeface="Courier New" panose="02070609020205020404" pitchFamily="49" charset="0"/>
              </a:rPr>
              <a:t> p1.c p2.c -o p</a:t>
            </a:r>
            <a:endParaRPr lang="en-US" b="1" dirty="0">
              <a:latin typeface="Courier New" panose="02070609020205020404" pitchFamily="49" charset="0"/>
            </a:endParaRPr>
          </a:p>
          <a:p>
            <a:pPr marL="560705" lvl="1" indent="-222250" defTabSz="895350">
              <a:tabLst>
                <a:tab pos="2286000" algn="l"/>
                <a:tab pos="3543300" algn="l"/>
              </a:tabLst>
            </a:pPr>
            <a:r>
              <a:rPr lang="zh-CN" altLang="en-US" dirty="0"/>
              <a:t>生成的二进制文件</a:t>
            </a:r>
            <a:r>
              <a:rPr lang="en-US" altLang="zh-CN" dirty="0"/>
              <a:t>: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609020205020404" pitchFamily="49" charset="0"/>
              </a:rPr>
              <a:t>p</a:t>
            </a:r>
            <a:endParaRPr lang="en-US" b="1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434975"/>
            <a:ext cx="6845300" cy="555625"/>
          </a:xfrm>
          <a:noFill/>
          <a:effectLst/>
        </p:spPr>
        <p:txBody>
          <a:bodyPr/>
          <a:lstStyle/>
          <a:p>
            <a:r>
              <a:rPr lang="zh-CN" altLang="en-US"/>
              <a:t>翻译成</a:t>
            </a:r>
            <a:r>
              <a:rPr lang="zh-CN" altLang="en-US"/>
              <a:t>汇编代码</a:t>
            </a:r>
            <a:endParaRPr lang="zh-CN" altLang="en-US"/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946150"/>
            <a:ext cx="2438400" cy="363538"/>
          </a:xfrm>
          <a:noFill/>
        </p:spPr>
        <p:txBody>
          <a:bodyPr lIns="90487" tIns="44450" rIns="90487" bIns="44450"/>
          <a:lstStyle/>
          <a:p>
            <a:pPr>
              <a:buNone/>
            </a:pPr>
            <a:r>
              <a:rPr lang="en-US" dirty="0"/>
              <a:t>C Code (</a:t>
            </a:r>
            <a:r>
              <a:rPr lang="en-US" dirty="0" err="1"/>
              <a:t>sum.c</a:t>
            </a:r>
            <a:r>
              <a:rPr lang="en-US" dirty="0"/>
              <a:t>)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1600200" y="1403350"/>
            <a:ext cx="4343400" cy="230441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long plus(long x, long y); 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void </a:t>
            </a:r>
            <a:r>
              <a:rPr lang="en-US" sz="1800" dirty="0" err="1">
                <a:latin typeface="Courier New" panose="02070609020205020404" pitchFamily="49" charset="0"/>
              </a:rPr>
              <a:t>sumstore</a:t>
            </a:r>
            <a:r>
              <a:rPr lang="en-US" sz="1800" dirty="0">
                <a:latin typeface="Courier New" panose="02070609020205020404" pitchFamily="49" charset="0"/>
              </a:rPr>
              <a:t>(long x, long y, 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           long *</a:t>
            </a:r>
            <a:r>
              <a:rPr lang="en-US" sz="1800" dirty="0" err="1">
                <a:latin typeface="Courier New" panose="02070609020205020404" pitchFamily="49" charset="0"/>
              </a:rPr>
              <a:t>dest</a:t>
            </a:r>
            <a:r>
              <a:rPr lang="en-US" sz="1800" dirty="0">
                <a:latin typeface="Courier New" panose="02070609020205020404" pitchFamily="49" charset="0"/>
              </a:rPr>
              <a:t>)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{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 long t = </a:t>
            </a:r>
            <a:r>
              <a:rPr lang="en-US" sz="1800" dirty="0">
                <a:solidFill>
                  <a:srgbClr val="00B050"/>
                </a:solidFill>
                <a:latin typeface="Courier New" panose="02070609020205020404" pitchFamily="49" charset="0"/>
              </a:rPr>
              <a:t>plus</a:t>
            </a:r>
            <a:r>
              <a:rPr lang="en-US" sz="1800" dirty="0">
                <a:latin typeface="Courier New" panose="02070609020205020404" pitchFamily="49" charset="0"/>
              </a:rPr>
              <a:t>(x, y);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 *</a:t>
            </a:r>
            <a:r>
              <a:rPr lang="en-US" sz="1800" dirty="0" err="1">
                <a:latin typeface="Courier New" panose="02070609020205020404" pitchFamily="49" charset="0"/>
              </a:rPr>
              <a:t>dest</a:t>
            </a:r>
            <a:r>
              <a:rPr lang="en-US" sz="1800" dirty="0">
                <a:latin typeface="Courier New" panose="02070609020205020404" pitchFamily="49" charset="0"/>
              </a:rPr>
              <a:t> = t;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}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5943600" y="914400"/>
            <a:ext cx="4114800" cy="4127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/>
          <a:lstStyle/>
          <a:p>
            <a:pPr marL="224155" indent="-224155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Generated x86-64 Assembly</a:t>
            </a: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  <a:p>
            <a:pPr marL="224155" indent="-224155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6019800" y="1395413"/>
            <a:ext cx="4195763" cy="202755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anose="02070609020205020404" pitchFamily="49" charset="0"/>
              </a:rPr>
              <a:t>sumstore</a:t>
            </a:r>
            <a:r>
              <a:rPr lang="en-US" sz="1800" dirty="0">
                <a:latin typeface="Courier New" panose="02070609020205020404" pitchFamily="49" charset="0"/>
              </a:rPr>
              <a:t>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</a:t>
            </a:r>
            <a:r>
              <a:rPr lang="en-US" sz="1800" dirty="0" err="1">
                <a:latin typeface="Courier New" panose="02070609020205020404" pitchFamily="49" charset="0"/>
              </a:rPr>
              <a:t>pushq</a:t>
            </a:r>
            <a:r>
              <a:rPr lang="en-US" sz="1800" dirty="0">
                <a:latin typeface="Courier New" panose="02070609020205020404" pitchFamily="49" charset="0"/>
              </a:rPr>
              <a:t>   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</a:t>
            </a:r>
            <a:r>
              <a:rPr lang="en-US" sz="1800" dirty="0" err="1">
                <a:latin typeface="Courier New" panose="02070609020205020404" pitchFamily="49" charset="0"/>
              </a:rPr>
              <a:t>movq</a:t>
            </a:r>
            <a:r>
              <a:rPr lang="en-US" sz="1800" dirty="0">
                <a:latin typeface="Courier New" panose="02070609020205020404" pitchFamily="49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</a:rPr>
              <a:t>rdx</a:t>
            </a:r>
            <a:r>
              <a:rPr lang="en-US" sz="1800" dirty="0">
                <a:latin typeface="Courier New" panose="02070609020205020404" pitchFamily="49" charset="0"/>
              </a:rPr>
              <a:t>, 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</a:t>
            </a:r>
            <a:r>
              <a:rPr lang="en-US" sz="1800" dirty="0">
                <a:solidFill>
                  <a:srgbClr val="00B050"/>
                </a:solidFill>
                <a:latin typeface="Courier New" panose="02070609020205020404" pitchFamily="49" charset="0"/>
              </a:rPr>
              <a:t>call    plus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</a:t>
            </a:r>
            <a:r>
              <a:rPr lang="en-US" sz="1800" dirty="0" err="1">
                <a:latin typeface="Courier New" panose="02070609020205020404" pitchFamily="49" charset="0"/>
              </a:rPr>
              <a:t>movq</a:t>
            </a:r>
            <a:r>
              <a:rPr lang="en-US" sz="1800" dirty="0">
                <a:latin typeface="Courier New" panose="02070609020205020404" pitchFamily="49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</a:rPr>
              <a:t>rax</a:t>
            </a:r>
            <a:r>
              <a:rPr lang="en-US" sz="1800" dirty="0">
                <a:latin typeface="Courier New" panose="02070609020205020404" pitchFamily="49" charset="0"/>
              </a:rPr>
              <a:t>, (%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r>
              <a:rPr lang="en-US" sz="1800" dirty="0">
                <a:latin typeface="Courier New" panose="02070609020205020404" pitchFamily="49" charset="0"/>
              </a:rPr>
              <a:t>)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</a:t>
            </a:r>
            <a:r>
              <a:rPr lang="en-US" sz="1800" dirty="0" err="1">
                <a:latin typeface="Courier New" panose="02070609020205020404" pitchFamily="49" charset="0"/>
              </a:rPr>
              <a:t>popq</a:t>
            </a:r>
            <a:r>
              <a:rPr lang="en-US" sz="1800" dirty="0">
                <a:latin typeface="Courier New" panose="02070609020205020404" pitchFamily="49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ret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1978025" y="3638098"/>
            <a:ext cx="7467600" cy="212026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latin typeface="Calibri" pitchFamily="34" charset="0"/>
              </a:rPr>
              <a:t>编译命令：</a:t>
            </a:r>
            <a:r>
              <a:rPr lang="en-US" dirty="0" err="1">
                <a:latin typeface="Courier New" panose="02070609020205020404" pitchFamily="49" charset="0"/>
              </a:rPr>
              <a:t>gcc</a:t>
            </a:r>
            <a:r>
              <a:rPr lang="en-US" dirty="0">
                <a:latin typeface="Courier New" panose="02070609020205020404" pitchFamily="49" charset="0"/>
              </a:rPr>
              <a:t>  –S </a:t>
            </a:r>
            <a:r>
              <a:rPr lang="en-US" dirty="0" err="1">
                <a:latin typeface="Courier New" panose="02070609020205020404" pitchFamily="49" charset="0"/>
              </a:rPr>
              <a:t>sum.c</a:t>
            </a:r>
            <a:endParaRPr lang="en-US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latin typeface="Calibri" pitchFamily="34" charset="0"/>
              </a:rPr>
              <a:t>输出文件：</a:t>
            </a:r>
            <a:r>
              <a:rPr lang="en-US" dirty="0" err="1">
                <a:latin typeface="Courier New" panose="02070609020205020404" pitchFamily="49" charset="0"/>
              </a:rPr>
              <a:t>sum.s</a:t>
            </a:r>
            <a:endParaRPr lang="en-US" dirty="0">
              <a:latin typeface="Courier New" panose="02070609020205020404" pitchFamily="49" charset="0"/>
            </a:endParaRP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  <a:latin typeface="Courier New" panose="02070609020205020404" pitchFamily="49" charset="0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Courier New" panose="02070609020205020404" pitchFamily="49" charset="0"/>
              </a:rPr>
              <a:t>语言的语法成分 </a:t>
            </a:r>
            <a:r>
              <a:rPr lang="en-US" altLang="zh-CN" dirty="0">
                <a:solidFill>
                  <a:srgbClr val="FF0000"/>
                </a:solidFill>
                <a:latin typeface="Courier New" panose="02070609020205020404" pitchFamily="49" charset="0"/>
              </a:rPr>
              <a:t>vs </a:t>
            </a:r>
            <a:r>
              <a:rPr lang="zh-CN" altLang="en-US" dirty="0">
                <a:solidFill>
                  <a:srgbClr val="FF0000"/>
                </a:solidFill>
                <a:latin typeface="Courier New" panose="02070609020205020404" pitchFamily="49" charset="0"/>
              </a:rPr>
              <a:t>汇编语言的语法成分</a:t>
            </a:r>
            <a:endParaRPr lang="en-US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endParaRPr lang="en-US" dirty="0">
              <a:solidFill>
                <a:srgbClr val="FF0000"/>
              </a:solidFill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</a:t>
            </a:r>
            <a:r>
              <a:rPr lang="zh-CN" altLang="en-US"/>
              <a:t>语言中的</a:t>
            </a:r>
            <a:r>
              <a:rPr lang="zh-CN" altLang="en-US"/>
              <a:t>数据类型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基本</a:t>
            </a:r>
            <a:r>
              <a:rPr lang="zh-CN" altLang="en-US"/>
              <a:t>类型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复合</a:t>
            </a:r>
            <a:r>
              <a:rPr lang="zh-CN" altLang="en-US"/>
              <a:t>类型</a:t>
            </a:r>
            <a:endParaRPr lang="zh-CN" altLang="en-US"/>
          </a:p>
          <a:p>
            <a:pPr lvl="1"/>
            <a:r>
              <a:rPr lang="en-US" altLang="zh-CN"/>
              <a:t>array</a:t>
            </a:r>
            <a:r>
              <a:rPr lang="zh-CN" altLang="en-US">
                <a:ea typeface="SimSun" charset="0"/>
              </a:rPr>
              <a:t>，</a:t>
            </a:r>
            <a:r>
              <a:rPr lang="en-US" altLang="zh-CN">
                <a:ea typeface="SimSun" charset="0"/>
              </a:rPr>
              <a:t>struct</a:t>
            </a:r>
            <a:endParaRPr lang="en-US" altLang="zh-CN">
              <a:ea typeface="SimSun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906" y="2209800"/>
            <a:ext cx="7234358" cy="21070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93712"/>
            <a:ext cx="8382000" cy="573088"/>
          </a:xfrm>
        </p:spPr>
        <p:txBody>
          <a:bodyPr/>
          <a:lstStyle/>
          <a:p>
            <a:r>
              <a:rPr lang="zh-CN" altLang="en-US" sz="3200" dirty="0">
                <a:ea typeface="SimSun" charset="0"/>
              </a:rPr>
              <a:t>汇编语言</a:t>
            </a:r>
            <a:r>
              <a:rPr lang="zh-CN" altLang="en-US" sz="3200" dirty="0">
                <a:ea typeface="SimSun" charset="0"/>
              </a:rPr>
              <a:t>中的数据</a:t>
            </a:r>
            <a:r>
              <a:rPr lang="zh-CN" altLang="en-US" sz="3200" dirty="0">
                <a:ea typeface="SimSun" charset="0"/>
              </a:rPr>
              <a:t>类型</a:t>
            </a:r>
            <a:endParaRPr lang="zh-CN" altLang="en-US" sz="3200" dirty="0">
              <a:ea typeface="SimSun" charset="0"/>
            </a:endParaRP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4513" y="1250950"/>
            <a:ext cx="8548687" cy="5530850"/>
          </a:xfrm>
        </p:spPr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唯一的数据类型是</a:t>
            </a:r>
            <a:r>
              <a:rPr lang="en-US" altLang="zh-CN" dirty="0">
                <a:solidFill>
                  <a:srgbClr val="00B050"/>
                </a:solidFill>
              </a:rPr>
              <a:t>: </a:t>
            </a:r>
            <a:r>
              <a:rPr lang="en-US" altLang="zh-CN" dirty="0">
                <a:solidFill>
                  <a:srgbClr val="00B050"/>
                </a:solidFill>
                <a:ea typeface="SimSun" charset="0"/>
              </a:rPr>
              <a:t>1</a:t>
            </a:r>
            <a:r>
              <a:rPr lang="zh-CN" altLang="en-US" dirty="0">
                <a:solidFill>
                  <a:srgbClr val="00B050"/>
                </a:solidFill>
                <a:ea typeface="SimSun" charset="0"/>
              </a:rPr>
              <a:t>个或多个字节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zh-CN" altLang="en-US" dirty="0"/>
              <a:t>整型数据：</a:t>
            </a:r>
            <a:r>
              <a:rPr lang="en-US" dirty="0"/>
              <a:t>1, 2, 4, or 8 bytes</a:t>
            </a:r>
            <a:endParaRPr lang="en-US" dirty="0"/>
          </a:p>
          <a:p>
            <a:pPr lvl="1"/>
            <a:r>
              <a:rPr lang="zh-CN" altLang="en-US" dirty="0"/>
              <a:t>数据</a:t>
            </a:r>
            <a:endParaRPr lang="zh-CN" altLang="en-US" dirty="0"/>
          </a:p>
          <a:p>
            <a:pPr lvl="1"/>
            <a:r>
              <a:rPr lang="zh-CN" altLang="en-US" dirty="0"/>
              <a:t>地址</a:t>
            </a:r>
            <a:r>
              <a:rPr lang="en-US" altLang="zh-CN" dirty="0"/>
              <a:t> </a:t>
            </a:r>
            <a:r>
              <a:rPr lang="en-US" dirty="0"/>
              <a:t>(</a:t>
            </a:r>
            <a:r>
              <a:rPr lang="en-US" dirty="0" err="1"/>
              <a:t>untyped</a:t>
            </a:r>
            <a:r>
              <a:rPr lang="en-US" dirty="0"/>
              <a:t> pointers)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浮点型数据：</a:t>
            </a:r>
            <a:r>
              <a:rPr lang="en-US" dirty="0"/>
              <a:t>4, 8, or 10 bytes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代码</a:t>
            </a:r>
            <a:r>
              <a:rPr lang="en-US" dirty="0"/>
              <a:t>: </a:t>
            </a:r>
            <a:r>
              <a:rPr lang="zh-CN" altLang="en-US" dirty="0"/>
              <a:t>用字节序列来编码指令流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没有复合类型（比如数组、结构）</a:t>
            </a:r>
            <a:endParaRPr lang="zh-CN" altLang="en-US" dirty="0"/>
          </a:p>
          <a:p>
            <a:pPr lvl="1"/>
            <a:r>
              <a:rPr lang="zh-CN" altLang="en-US" dirty="0"/>
              <a:t>只是在内存中连续分配的</a:t>
            </a:r>
            <a:r>
              <a:rPr lang="zh-CN" altLang="en-US" dirty="0"/>
              <a:t>字节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ea typeface="SimSun" pitchFamily="2" charset="-122"/>
                <a:sym typeface="+mn-ea"/>
              </a:rPr>
              <a:t>C</a:t>
            </a:r>
            <a:r>
              <a:rPr lang="zh-CN" altLang="en-US">
                <a:ea typeface="SimSun" pitchFamily="2" charset="-122"/>
                <a:sym typeface="+mn-ea"/>
              </a:rPr>
              <a:t>语言的</a:t>
            </a:r>
            <a:r>
              <a:rPr lang="zh-CN" altLang="en-US">
                <a:ea typeface="SimSun" pitchFamily="2" charset="-122"/>
                <a:sym typeface="+mn-ea"/>
              </a:rPr>
              <a:t>代码成分</a:t>
            </a:r>
            <a:endParaRPr lang="zh-CN" altLang="en-US">
              <a:ea typeface="SimSun" pitchFamily="2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z="2880">
                <a:ea typeface="SimSun" pitchFamily="2" charset="-122"/>
                <a:sym typeface="+mn-ea"/>
              </a:rPr>
              <a:t>高级语言——机器语言的高级</a:t>
            </a:r>
            <a:r>
              <a:rPr lang="zh-CN" altLang="en-US" sz="2880">
                <a:ea typeface="SimSun" pitchFamily="2" charset="-122"/>
                <a:sym typeface="+mn-ea"/>
              </a:rPr>
              <a:t>抽象</a:t>
            </a:r>
            <a:endParaRPr lang="zh-CN" altLang="en-US" sz="2880">
              <a:ea typeface="SimSun" pitchFamily="2" charset="-122"/>
              <a:sym typeface="+mn-ea"/>
            </a:endParaRPr>
          </a:p>
          <a:p>
            <a:pPr lvl="1"/>
            <a:r>
              <a:rPr lang="zh-CN" altLang="en-US" sz="2400">
                <a:sym typeface="+mn-ea"/>
              </a:rPr>
              <a:t>算术逻辑语句</a:t>
            </a:r>
            <a:endParaRPr lang="zh-CN" altLang="en-US" sz="2400"/>
          </a:p>
          <a:p>
            <a:pPr lvl="2"/>
            <a:r>
              <a:rPr lang="zh-CN" altLang="en-US" sz="2400">
                <a:sym typeface="+mn-ea"/>
              </a:rPr>
              <a:t>算术：</a:t>
            </a:r>
            <a:r>
              <a:rPr lang="en-US" altLang="zh-CN" sz="2400">
                <a:sym typeface="+mn-ea"/>
              </a:rPr>
              <a:t>+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-, *, /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逻辑：</a:t>
            </a:r>
            <a:r>
              <a:rPr lang="en-US" altLang="zh-CN" sz="2400">
                <a:sym typeface="+mn-ea"/>
              </a:rPr>
              <a:t>&amp;&amp;, ||, !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关系：</a:t>
            </a:r>
            <a:r>
              <a:rPr lang="en-US" altLang="zh-CN" sz="2400">
                <a:sym typeface="+mn-ea"/>
              </a:rPr>
              <a:t>&gt;, &lt;, ==, &gt;=, &lt;=, !=</a:t>
            </a:r>
            <a:endParaRPr lang="en-US" altLang="zh-CN" sz="2400"/>
          </a:p>
          <a:p>
            <a:pPr lvl="1"/>
            <a:r>
              <a:rPr lang="zh-CN" altLang="en-US" sz="2400">
                <a:sym typeface="+mn-ea"/>
              </a:rPr>
              <a:t>内存访问</a:t>
            </a:r>
            <a:r>
              <a:rPr lang="zh-CN" altLang="en-US" sz="2400">
                <a:sym typeface="+mn-ea"/>
              </a:rPr>
              <a:t>语句</a:t>
            </a:r>
            <a:endParaRPr lang="zh-CN" altLang="en-US" sz="2400">
              <a:sym typeface="+mn-ea"/>
            </a:endParaRPr>
          </a:p>
          <a:p>
            <a:pPr lvl="2"/>
            <a:r>
              <a:rPr lang="en-US" altLang="zh-CN" sz="2400">
                <a:sym typeface="+mn-ea"/>
              </a:rPr>
              <a:t>x = a</a:t>
            </a:r>
            <a:endParaRPr lang="en-US" sz="2400"/>
          </a:p>
          <a:p>
            <a:pPr lvl="1"/>
            <a:r>
              <a:rPr lang="zh-CN" altLang="en-US" sz="2400">
                <a:sym typeface="+mn-ea"/>
              </a:rPr>
              <a:t>控制语句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控制语句：</a:t>
            </a:r>
            <a:r>
              <a:rPr lang="en-US" altLang="zh-CN" sz="2400">
                <a:sym typeface="+mn-ea"/>
              </a:rPr>
              <a:t>if-else, for, while-do, do-while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过程调用语句：</a:t>
            </a:r>
            <a:r>
              <a:rPr lang="en-US" altLang="zh-CN" sz="2400">
                <a:sym typeface="+mn-ea"/>
              </a:rPr>
              <a:t>f()</a:t>
            </a:r>
            <a:endParaRPr lang="en-US" altLang="zh-CN" sz="2400">
              <a:sym typeface="+mn-ea"/>
            </a:endParaRP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机器语言的</a:t>
            </a:r>
            <a:r>
              <a:rPr lang="zh-CN" altLang="en-US"/>
              <a:t>指令成分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汇编语言——机器语言的符号化</a:t>
            </a:r>
            <a:endParaRPr lang="zh-CN" altLang="en-US"/>
          </a:p>
          <a:p>
            <a:pPr lvl="1"/>
            <a:r>
              <a:rPr lang="zh-CN" altLang="en-US"/>
              <a:t>算术逻辑指令</a:t>
            </a:r>
            <a:endParaRPr lang="zh-CN" altLang="en-US"/>
          </a:p>
          <a:p>
            <a:pPr lvl="2"/>
            <a:r>
              <a:rPr lang="zh-CN" altLang="en-US"/>
              <a:t>算术指令：</a:t>
            </a:r>
            <a:r>
              <a:rPr lang="en-US" altLang="zh-CN"/>
              <a:t> add, sub, mul, div, ...</a:t>
            </a:r>
            <a:endParaRPr lang="en-US" altLang="zh-CN"/>
          </a:p>
          <a:p>
            <a:pPr lvl="2"/>
            <a:r>
              <a:rPr lang="zh-CN" altLang="en-US"/>
              <a:t>逻辑指令</a:t>
            </a:r>
            <a:r>
              <a:rPr lang="en-US" altLang="zh-CN"/>
              <a:t>: and, or, not, ...</a:t>
            </a:r>
            <a:endParaRPr lang="en-US" altLang="zh-CN"/>
          </a:p>
          <a:p>
            <a:pPr lvl="2"/>
            <a:r>
              <a:rPr lang="zh-CN" altLang="en-US"/>
              <a:t>移位指令</a:t>
            </a:r>
            <a:r>
              <a:rPr lang="en-US" altLang="zh-CN"/>
              <a:t>:  sal, sar, ...</a:t>
            </a:r>
            <a:endParaRPr lang="en-US" altLang="zh-CN"/>
          </a:p>
          <a:p>
            <a:pPr lvl="1"/>
            <a:r>
              <a:rPr lang="zh-CN" altLang="en-US"/>
              <a:t>内存访问指令</a:t>
            </a:r>
            <a:endParaRPr lang="zh-CN" altLang="en-US"/>
          </a:p>
          <a:p>
            <a:pPr lvl="2"/>
            <a:r>
              <a:rPr lang="zh-CN" altLang="en-US"/>
              <a:t>数据传送</a:t>
            </a:r>
            <a:r>
              <a:rPr lang="en-US" altLang="zh-CN"/>
              <a:t>: mov, ...</a:t>
            </a:r>
            <a:endParaRPr lang="en-US" altLang="zh-CN"/>
          </a:p>
          <a:p>
            <a:pPr lvl="1"/>
            <a:r>
              <a:rPr lang="zh-CN" altLang="en-US"/>
              <a:t>控制指令</a:t>
            </a:r>
            <a:endParaRPr lang="zh-CN" altLang="en-US"/>
          </a:p>
          <a:p>
            <a:pPr lvl="2"/>
            <a:r>
              <a:rPr lang="zh-CN" altLang="en-US"/>
              <a:t>条件</a:t>
            </a:r>
            <a:r>
              <a:rPr lang="zh-CN" altLang="en-US"/>
              <a:t>分支：</a:t>
            </a:r>
            <a:r>
              <a:rPr lang="en-US" altLang="zh-CN"/>
              <a:t>je, jne, ...</a:t>
            </a:r>
            <a:endParaRPr lang="en-US" altLang="zh-CN"/>
          </a:p>
          <a:p>
            <a:pPr lvl="2"/>
            <a:r>
              <a:rPr lang="zh-CN" altLang="en-US"/>
              <a:t>无条件分支</a:t>
            </a:r>
            <a:r>
              <a:rPr lang="en-US" altLang="zh-CN"/>
              <a:t>： jmp</a:t>
            </a:r>
            <a:endParaRPr lang="en-US" altLang="zh-CN"/>
          </a:p>
          <a:p>
            <a:pPr lvl="2"/>
            <a:r>
              <a:rPr lang="zh-CN" altLang="en-US"/>
              <a:t>函数调用指令：</a:t>
            </a:r>
            <a:r>
              <a:rPr lang="en-US" altLang="zh-CN"/>
              <a:t>call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Assembly Characteristics: Operations</a:t>
            </a:r>
            <a:br>
              <a:rPr lang="en-US"/>
            </a:br>
            <a:r>
              <a:rPr lang="zh-CN" altLang="en-US"/>
              <a:t>汇编语言中的</a:t>
            </a:r>
            <a:r>
              <a:rPr lang="zh-CN" altLang="en-US"/>
              <a:t>运算</a:t>
            </a:r>
            <a:endParaRPr lang="zh-CN" alt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算术逻辑运算</a:t>
            </a:r>
            <a:endParaRPr lang="zh-CN" altLang="en-US"/>
          </a:p>
          <a:p>
            <a:pPr lvl="1"/>
            <a:r>
              <a:rPr lang="zh-CN" altLang="en-US"/>
              <a:t>算术运算的操作数是，寄存器或内存数据</a:t>
            </a:r>
            <a:endParaRPr lang="en-US"/>
          </a:p>
          <a:p>
            <a:endParaRPr lang="en-US"/>
          </a:p>
          <a:p>
            <a:r>
              <a:rPr lang="zh-CN" altLang="en-US"/>
              <a:t>内存访问运算</a:t>
            </a:r>
            <a:r>
              <a:rPr lang="en-US" altLang="zh-CN"/>
              <a:t>——</a:t>
            </a:r>
            <a:r>
              <a:rPr lang="zh-CN" altLang="en-US"/>
              <a:t>在内存与寄存器之间转移数据</a:t>
            </a:r>
            <a:endParaRPr lang="en-US"/>
          </a:p>
          <a:p>
            <a:pPr lvl="1"/>
            <a:r>
              <a:rPr lang="zh-CN" altLang="en-US"/>
              <a:t>从内存加载数据到寄存器</a:t>
            </a:r>
            <a:endParaRPr lang="zh-CN" altLang="en-US"/>
          </a:p>
          <a:p>
            <a:pPr lvl="1"/>
            <a:r>
              <a:rPr lang="zh-CN" altLang="en-US"/>
              <a:t>将寄存器中的数据写回到内存</a:t>
            </a:r>
            <a:endParaRPr lang="en-US"/>
          </a:p>
          <a:p>
            <a:endParaRPr lang="en-US"/>
          </a:p>
          <a:p>
            <a:r>
              <a:rPr lang="zh-CN" altLang="en-US"/>
              <a:t>控制的转移</a:t>
            </a:r>
            <a:endParaRPr lang="en-US"/>
          </a:p>
          <a:p>
            <a:pPr lvl="1"/>
            <a:r>
              <a:rPr lang="zh-CN" altLang="en-US"/>
              <a:t>无条件跳转（</a:t>
            </a:r>
            <a:r>
              <a:rPr lang="zh-CN" altLang="en-US"/>
              <a:t>包括函数调用和返回）</a:t>
            </a:r>
            <a:endParaRPr lang="zh-CN" altLang="en-US"/>
          </a:p>
          <a:p>
            <a:pPr lvl="1"/>
            <a:r>
              <a:rPr lang="zh-CN" altLang="en-US"/>
              <a:t>条件</a:t>
            </a:r>
            <a:r>
              <a:rPr lang="zh-CN" altLang="en-US"/>
              <a:t>分支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1866900" y="914400"/>
            <a:ext cx="3009900" cy="4127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/>
          <a:lstStyle/>
          <a:p>
            <a:pPr marL="224155" indent="-224155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Code for </a:t>
            </a:r>
            <a:r>
              <a:rPr lang="en-US" sz="2400" dirty="0" err="1">
                <a:latin typeface="Courier New" panose="02070609020205020404" pitchFamily="49" charset="0"/>
              </a:rPr>
              <a:t>sumstore</a:t>
            </a: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  <a:p>
            <a:pPr marL="224155" indent="-224155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1555" name="Rectangle 3"/>
          <p:cNvSpPr>
            <a:spLocks noChangeArrowheads="1"/>
          </p:cNvSpPr>
          <p:nvPr/>
        </p:nvSpPr>
        <p:spPr bwMode="auto">
          <a:xfrm>
            <a:off x="1868488" y="1447800"/>
            <a:ext cx="2511425" cy="424370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0x0400595: 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0x53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0x48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0x89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0xd3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0xe8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0xf2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0xff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0xff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0xff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0x48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0x89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0x03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0x5b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0xc3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5524500" cy="573088"/>
          </a:xfrm>
        </p:spPr>
        <p:txBody>
          <a:bodyPr/>
          <a:lstStyle/>
          <a:p>
            <a:r>
              <a:rPr lang="zh-CN" altLang="en-US"/>
              <a:t>二进制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029200" y="1143000"/>
            <a:ext cx="5486400" cy="5486400"/>
          </a:xfrm>
        </p:spPr>
        <p:txBody>
          <a:bodyPr/>
          <a:lstStyle/>
          <a:p>
            <a:r>
              <a:rPr lang="zh-CN" altLang="en-US" dirty="0"/>
              <a:t>汇编器</a:t>
            </a:r>
            <a:endParaRPr lang="en-US" dirty="0"/>
          </a:p>
          <a:p>
            <a:pPr lvl="1"/>
            <a:r>
              <a:rPr lang="zh-CN" altLang="en-US" dirty="0"/>
              <a:t>将</a:t>
            </a:r>
            <a:r>
              <a:rPr lang="en-US" dirty="0">
                <a:latin typeface="Courier New" panose="02070609020205020404" pitchFamily="49" charset="0"/>
              </a:rPr>
              <a:t>.s</a:t>
            </a:r>
            <a:r>
              <a:rPr lang="en-US" dirty="0"/>
              <a:t> </a:t>
            </a:r>
            <a:r>
              <a:rPr lang="zh-CN" altLang="en-US" dirty="0"/>
              <a:t>文件转换成</a:t>
            </a:r>
            <a:r>
              <a:rPr lang="en-US" dirty="0">
                <a:latin typeface="Courier New" panose="02070609020205020404" pitchFamily="49" charset="0"/>
              </a:rPr>
              <a:t>.o</a:t>
            </a:r>
            <a:r>
              <a:rPr lang="zh-CN" altLang="en-US" dirty="0">
                <a:latin typeface="Courier New" panose="02070609020205020404" pitchFamily="49" charset="0"/>
              </a:rPr>
              <a:t>文件</a:t>
            </a:r>
            <a:endParaRPr lang="en-US" dirty="0">
              <a:latin typeface="Courier New" panose="02070609020205020404" pitchFamily="49" charset="0"/>
            </a:endParaRPr>
          </a:p>
          <a:p>
            <a:pPr lvl="1"/>
            <a:r>
              <a:rPr lang="en-US" dirty="0">
                <a:latin typeface="Courier New" panose="02070609020205020404" pitchFamily="49" charset="0"/>
                <a:sym typeface="+mn-ea"/>
              </a:rPr>
              <a:t>.o</a:t>
            </a:r>
            <a:r>
              <a:rPr lang="zh-CN" altLang="en-US" dirty="0">
                <a:latin typeface="Courier New" panose="02070609020205020404" pitchFamily="49" charset="0"/>
                <a:sym typeface="+mn-ea"/>
              </a:rPr>
              <a:t>文件</a:t>
            </a:r>
            <a:r>
              <a:rPr lang="zh-CN" altLang="en-US" dirty="0"/>
              <a:t>包含每条指令的二进制编码</a:t>
            </a:r>
            <a:endParaRPr 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接近</a:t>
            </a:r>
            <a:r>
              <a:rPr lang="zh-CN" altLang="en-US" dirty="0"/>
              <a:t>可执行文件的内容</a:t>
            </a:r>
            <a:endParaRPr lang="zh-CN" altLang="en-US" dirty="0"/>
          </a:p>
          <a:p>
            <a:pPr lvl="2"/>
            <a:r>
              <a:rPr lang="zh-CN" altLang="en-US" dirty="0"/>
              <a:t>有待建立不同文件的</a:t>
            </a:r>
            <a:r>
              <a:rPr lang="zh-CN" altLang="en-US" dirty="0"/>
              <a:t>符号之间的关联</a:t>
            </a:r>
            <a:endParaRPr lang="en-US" dirty="0"/>
          </a:p>
          <a:p>
            <a:r>
              <a:rPr lang="zh-CN" altLang="en-US" dirty="0"/>
              <a:t>链接器</a:t>
            </a:r>
            <a:endParaRPr lang="en-US" dirty="0"/>
          </a:p>
          <a:p>
            <a:pPr lvl="1"/>
            <a:r>
              <a:rPr lang="zh-CN" altLang="en-US" dirty="0"/>
              <a:t>解析不同文件中符号间的引用关系</a:t>
            </a:r>
            <a:endParaRPr lang="en-US" dirty="0"/>
          </a:p>
          <a:p>
            <a:pPr lvl="1"/>
            <a:r>
              <a:rPr lang="zh-CN" altLang="en-US" dirty="0"/>
              <a:t>合并静态的运行时库</a:t>
            </a:r>
            <a:endParaRPr lang="en-US" dirty="0"/>
          </a:p>
          <a:p>
            <a:pPr lvl="2"/>
            <a:r>
              <a:rPr lang="en-US" dirty="0"/>
              <a:t>E.g., code for </a:t>
            </a:r>
            <a:r>
              <a:rPr lang="en-US" b="1" dirty="0" err="1">
                <a:solidFill>
                  <a:schemeClr val="tx1"/>
                </a:solidFill>
                <a:latin typeface="Courier New" panose="02070609020205020404" pitchFamily="49" charset="0"/>
              </a:rPr>
              <a:t>malloc</a:t>
            </a:r>
            <a:r>
              <a:rPr lang="en-US" b="1" dirty="0"/>
              <a:t>, </a:t>
            </a:r>
            <a:r>
              <a:rPr lang="en-US" b="1" dirty="0" err="1">
                <a:solidFill>
                  <a:schemeClr val="tx1"/>
                </a:solidFill>
                <a:latin typeface="Courier New" panose="02070609020205020404" pitchFamily="49" charset="0"/>
              </a:rPr>
              <a:t>printf</a:t>
            </a:r>
            <a:endParaRPr lang="en-US" b="1" dirty="0">
              <a:solidFill>
                <a:schemeClr val="tx1"/>
              </a:solidFill>
              <a:latin typeface="Courier New" panose="02070609020205020404" pitchFamily="49" charset="0"/>
            </a:endParaRPr>
          </a:p>
          <a:p>
            <a:pPr lvl="1"/>
            <a:r>
              <a:rPr lang="zh-CN" altLang="en-US" dirty="0"/>
              <a:t>或者动态链接库</a:t>
            </a:r>
            <a:r>
              <a:rPr lang="en-US" dirty="0"/>
              <a:t> </a:t>
            </a:r>
            <a:r>
              <a:rPr lang="en-US" i="1" dirty="0"/>
              <a:t>dynamically linked</a:t>
            </a:r>
            <a:endParaRPr lang="en-US" i="1" dirty="0"/>
          </a:p>
          <a:p>
            <a:pPr lvl="2"/>
            <a:r>
              <a:rPr lang="zh-CN" altLang="en-US" dirty="0"/>
              <a:t>程序开始运行时，才进行链接</a:t>
            </a:r>
            <a:endParaRPr lang="en-US" dirty="0"/>
          </a:p>
          <a:p>
            <a:pPr lvl="1"/>
            <a:r>
              <a:rPr lang="en-US" dirty="0" err="1"/>
              <a:t>参考</a:t>
            </a:r>
            <a:r>
              <a:rPr lang="zh-CN" altLang="en-US" dirty="0"/>
              <a:t>：</a:t>
            </a:r>
            <a:r>
              <a:rPr lang="en-US" altLang="zh-CN" dirty="0" err="1"/>
              <a:t>csapp</a:t>
            </a:r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</a:t>
            </a:r>
            <a:endParaRPr lang="en-US" dirty="0"/>
          </a:p>
        </p:txBody>
      </p:sp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2736850" y="4038600"/>
            <a:ext cx="2691765" cy="19050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/>
          <a:lstStyle/>
          <a:p>
            <a:pPr marL="560705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Total of 14 bytes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  <a:p>
            <a:pPr marL="560705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Each instruction 1, 3, or 5 bytes</a:t>
            </a:r>
            <a:endParaRPr lang="en-US" sz="1800" dirty="0">
              <a:solidFill>
                <a:srgbClr val="C00000"/>
              </a:solidFill>
              <a:latin typeface="Calibri" pitchFamily="34" charset="0"/>
            </a:endParaRPr>
          </a:p>
          <a:p>
            <a:pPr marL="560705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Starts at address </a:t>
            </a:r>
            <a:r>
              <a:rPr lang="en-US" sz="1800" dirty="0">
                <a:solidFill>
                  <a:srgbClr val="C00000"/>
                </a:solidFill>
                <a:latin typeface="Courier New" panose="02070609020205020404" pitchFamily="49" charset="0"/>
              </a:rPr>
              <a:t>0x0400595</a:t>
            </a:r>
            <a:endParaRPr lang="en-US" sz="1800" dirty="0">
              <a:solidFill>
                <a:srgbClr val="C00000"/>
              </a:solidFill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7264400" cy="573088"/>
          </a:xfrm>
        </p:spPr>
        <p:txBody>
          <a:bodyPr/>
          <a:lstStyle/>
          <a:p>
            <a:r>
              <a:rPr lang="zh-CN" altLang="en-US"/>
              <a:t>机器指令——</a:t>
            </a:r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0" y="838200"/>
            <a:ext cx="4572000" cy="5791200"/>
          </a:xfrm>
        </p:spPr>
        <p:txBody>
          <a:bodyPr/>
          <a:lstStyle/>
          <a:p>
            <a:pPr marL="224155" indent="-224155" defTabSz="895350">
              <a:tabLst>
                <a:tab pos="1603375" algn="l"/>
                <a:tab pos="2514600" algn="l"/>
              </a:tabLst>
            </a:pPr>
            <a:r>
              <a:rPr lang="en-US" dirty="0"/>
              <a:t>C</a:t>
            </a:r>
            <a:r>
              <a:rPr lang="zh-CN" altLang="en-US" dirty="0"/>
              <a:t>代码</a:t>
            </a:r>
            <a:endParaRPr lang="en-US" dirty="0"/>
          </a:p>
          <a:p>
            <a:pPr marL="560705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Store value </a:t>
            </a:r>
            <a:r>
              <a:rPr lang="en-US" b="1" dirty="0">
                <a:latin typeface="Courier New" panose="02070609020205020404"/>
                <a:cs typeface="Courier New" panose="02070609020205020404"/>
              </a:rPr>
              <a:t>t</a:t>
            </a:r>
            <a:r>
              <a:rPr lang="en-US" dirty="0"/>
              <a:t> where designated by </a:t>
            </a:r>
            <a:r>
              <a:rPr lang="en-US" b="1" dirty="0" err="1">
                <a:latin typeface="Courier New" panose="02070609020205020404"/>
                <a:cs typeface="Courier New" panose="02070609020205020404"/>
              </a:rPr>
              <a:t>dest</a:t>
            </a:r>
            <a:endParaRPr lang="en-US" b="1" dirty="0">
              <a:latin typeface="Courier New" panose="02070609020205020404"/>
              <a:cs typeface="Courier New" panose="02070609020205020404"/>
            </a:endParaRPr>
          </a:p>
          <a:p>
            <a:pPr marL="224155" indent="-224155" defTabSz="895350">
              <a:tabLst>
                <a:tab pos="1603375" algn="l"/>
                <a:tab pos="2514600" algn="l"/>
              </a:tabLst>
            </a:pPr>
            <a:r>
              <a:rPr lang="zh-CN" altLang="en-US" dirty="0"/>
              <a:t>汇编代码</a:t>
            </a:r>
            <a:endParaRPr lang="en-US" dirty="0"/>
          </a:p>
          <a:p>
            <a:pPr marL="560705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Move 8-byte value to memory</a:t>
            </a:r>
            <a:endParaRPr lang="en-US" dirty="0"/>
          </a:p>
          <a:p>
            <a:pPr marL="560705" lvl="1" indent="-222250" defTabSz="895350">
              <a:tabLst>
                <a:tab pos="1603375" algn="l"/>
                <a:tab pos="2514600" algn="l"/>
              </a:tabLst>
            </a:pPr>
            <a:r>
              <a:rPr lang="zh-CN" altLang="en-US" dirty="0"/>
              <a:t>操作数</a:t>
            </a:r>
            <a:r>
              <a:rPr lang="en-US" dirty="0"/>
              <a:t>:</a:t>
            </a:r>
            <a:endParaRPr lang="en-US" dirty="0"/>
          </a:p>
          <a:p>
            <a:pPr marL="840105" lvl="2" indent="-165100" defTabSz="895350">
              <a:buNone/>
              <a:tabLst>
                <a:tab pos="1603375" algn="l"/>
                <a:tab pos="2514600" algn="l"/>
              </a:tabLst>
            </a:pPr>
            <a:r>
              <a:rPr lang="en-US" b="1" dirty="0">
                <a:latin typeface="Courier New" panose="02070609020205020404" pitchFamily="49" charset="0"/>
              </a:rPr>
              <a:t>t</a:t>
            </a:r>
            <a:r>
              <a:rPr lang="en-US" b="1" dirty="0"/>
              <a:t>:	</a:t>
            </a:r>
            <a:r>
              <a:rPr lang="zh-CN" altLang="en-US" dirty="0"/>
              <a:t>寄存器</a:t>
            </a:r>
            <a:r>
              <a:rPr lang="en-US" dirty="0"/>
              <a:t>	</a:t>
            </a:r>
            <a:r>
              <a:rPr lang="en-US" b="1" dirty="0">
                <a:latin typeface="Courier New" panose="02070609020205020404" pitchFamily="49" charset="0"/>
              </a:rPr>
              <a:t>%</a:t>
            </a:r>
            <a:r>
              <a:rPr lang="en-US" b="1" dirty="0" err="1">
                <a:latin typeface="Courier New" panose="02070609020205020404" pitchFamily="49" charset="0"/>
              </a:rPr>
              <a:t>rax</a:t>
            </a:r>
            <a:endParaRPr lang="en-US" b="1" dirty="0">
              <a:latin typeface="Courier New" panose="02070609020205020404" pitchFamily="49" charset="0"/>
            </a:endParaRPr>
          </a:p>
          <a:p>
            <a:pPr marL="840105" lvl="2" indent="-165100" defTabSz="895350">
              <a:buFont typeface="Wingdings" panose="05000000000000000000" pitchFamily="2" charset="2"/>
              <a:buNone/>
              <a:tabLst>
                <a:tab pos="1603375" algn="l"/>
                <a:tab pos="2514600" algn="l"/>
              </a:tabLst>
            </a:pPr>
            <a:r>
              <a:rPr lang="en-US" b="1" dirty="0" err="1">
                <a:latin typeface="Courier New" panose="02070609020205020404" pitchFamily="49" charset="0"/>
              </a:rPr>
              <a:t>dest</a:t>
            </a:r>
            <a:r>
              <a:rPr lang="en-US" b="1" dirty="0"/>
              <a:t>:</a:t>
            </a:r>
            <a:r>
              <a:rPr lang="en-US" dirty="0"/>
              <a:t>	</a:t>
            </a:r>
            <a:r>
              <a:rPr lang="zh-CN" altLang="en-US" dirty="0"/>
              <a:t>寄存器</a:t>
            </a:r>
            <a:r>
              <a:rPr lang="en-US" dirty="0"/>
              <a:t>	</a:t>
            </a:r>
            <a:r>
              <a:rPr lang="en-US" b="1" dirty="0">
                <a:solidFill>
                  <a:schemeClr val="tx1"/>
                </a:solidFill>
                <a:latin typeface="Courier New" panose="02070609020205020404" pitchFamily="49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Courier New" panose="02070609020205020404" pitchFamily="49" charset="0"/>
              </a:rPr>
              <a:t>rbx</a:t>
            </a:r>
            <a:endParaRPr lang="en-US" b="1" dirty="0">
              <a:solidFill>
                <a:schemeClr val="tx1"/>
              </a:solidFill>
              <a:latin typeface="Courier New" panose="02070609020205020404" pitchFamily="49" charset="0"/>
            </a:endParaRPr>
          </a:p>
          <a:p>
            <a:pPr marL="840105" lvl="2" indent="-165100" defTabSz="895350">
              <a:buFont typeface="Wingdings" panose="05000000000000000000" pitchFamily="2" charset="2"/>
              <a:buNone/>
              <a:tabLst>
                <a:tab pos="1603375" algn="l"/>
                <a:tab pos="2514600" algn="l"/>
              </a:tabLst>
            </a:pPr>
            <a:r>
              <a:rPr lang="en-US" b="1" dirty="0">
                <a:latin typeface="Courier New" panose="02070609020205020404" pitchFamily="49" charset="0"/>
              </a:rPr>
              <a:t>*</a:t>
            </a:r>
            <a:r>
              <a:rPr lang="en-US" b="1" dirty="0" err="1">
                <a:latin typeface="Courier New" panose="02070609020205020404" pitchFamily="49" charset="0"/>
              </a:rPr>
              <a:t>dest</a:t>
            </a:r>
            <a:r>
              <a:rPr lang="en-US" b="1" dirty="0"/>
              <a:t>:</a:t>
            </a:r>
            <a:r>
              <a:rPr lang="en-US" dirty="0"/>
              <a:t> 	</a:t>
            </a:r>
            <a:r>
              <a:rPr lang="zh-CN" altLang="en-US" dirty="0"/>
              <a:t>内存</a:t>
            </a:r>
            <a:r>
              <a:rPr lang="en-US" dirty="0"/>
              <a:t>	</a:t>
            </a:r>
            <a:r>
              <a:rPr lang="en-US" b="1" dirty="0"/>
              <a:t>M</a:t>
            </a:r>
            <a:r>
              <a:rPr lang="en-US" b="1" dirty="0">
                <a:solidFill>
                  <a:srgbClr val="00B050"/>
                </a:solidFill>
              </a:rPr>
              <a:t>[</a:t>
            </a:r>
            <a:r>
              <a:rPr lang="en-US" b="1" dirty="0">
                <a:solidFill>
                  <a:srgbClr val="00B050"/>
                </a:solidFill>
                <a:latin typeface="Courier New" panose="02070609020205020404" pitchFamily="49" charset="0"/>
              </a:rPr>
              <a:t>%</a:t>
            </a:r>
            <a:r>
              <a:rPr lang="en-US" b="1" dirty="0" err="1">
                <a:solidFill>
                  <a:srgbClr val="00B050"/>
                </a:solidFill>
                <a:latin typeface="Courier New" panose="02070609020205020404" pitchFamily="49" charset="0"/>
              </a:rPr>
              <a:t>rbx</a:t>
            </a:r>
            <a:r>
              <a:rPr lang="en-US" b="1" dirty="0">
                <a:solidFill>
                  <a:srgbClr val="00B050"/>
                </a:solidFill>
                <a:latin typeface="Courier New" panose="02070609020205020404" pitchFamily="49" charset="0"/>
              </a:rPr>
              <a:t>]</a:t>
            </a:r>
            <a:endParaRPr lang="en-US" b="1" dirty="0"/>
          </a:p>
          <a:p>
            <a:pPr marL="224155" indent="-224155" defTabSz="895350">
              <a:tabLst>
                <a:tab pos="1603375" algn="l"/>
                <a:tab pos="2514600" algn="l"/>
              </a:tabLst>
            </a:pPr>
            <a:r>
              <a:rPr lang="zh-CN" altLang="en-US" dirty="0"/>
              <a:t>二进制代码</a:t>
            </a:r>
            <a:endParaRPr lang="en-US" dirty="0"/>
          </a:p>
          <a:p>
            <a:pPr marL="560705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3-byte instruction</a:t>
            </a:r>
            <a:endParaRPr lang="en-US" dirty="0"/>
          </a:p>
          <a:p>
            <a:pPr marL="560705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Stored at address </a:t>
            </a:r>
            <a:r>
              <a:rPr lang="en-US" b="1" dirty="0">
                <a:latin typeface="Courier New" panose="02070609020205020404" pitchFamily="49" charset="0"/>
              </a:rPr>
              <a:t>0x40059e</a:t>
            </a:r>
            <a:endParaRPr lang="en-US" b="1" dirty="0">
              <a:latin typeface="Courier New" panose="02070609020205020404" pitchFamily="49" charset="0"/>
            </a:endParaRP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2057400" y="1143000"/>
            <a:ext cx="3883025" cy="36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*</a:t>
            </a:r>
            <a:r>
              <a:rPr lang="en-US" sz="1800" dirty="0" err="1">
                <a:latin typeface="Courier New" panose="02070609020205020404" pitchFamily="49" charset="0"/>
              </a:rPr>
              <a:t>dest</a:t>
            </a:r>
            <a:r>
              <a:rPr lang="en-US" sz="1800" dirty="0">
                <a:latin typeface="Courier New" panose="02070609020205020404" pitchFamily="49" charset="0"/>
              </a:rPr>
              <a:t> = t;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152581" name="Rectangle 5"/>
          <p:cNvSpPr>
            <a:spLocks noChangeArrowheads="1"/>
          </p:cNvSpPr>
          <p:nvPr/>
        </p:nvSpPr>
        <p:spPr bwMode="auto">
          <a:xfrm>
            <a:off x="2057400" y="2286000"/>
            <a:ext cx="3886200" cy="36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549400" algn="l"/>
              </a:tabLst>
            </a:pPr>
            <a:r>
              <a:rPr lang="en-US" sz="1800" dirty="0" err="1">
                <a:latin typeface="Courier New" panose="02070609020205020404" pitchFamily="49" charset="0"/>
              </a:rPr>
              <a:t>movq</a:t>
            </a:r>
            <a:r>
              <a:rPr lang="en-US" sz="1800" dirty="0">
                <a:latin typeface="Courier New" panose="02070609020205020404" pitchFamily="49" charset="0"/>
              </a:rPr>
              <a:t> %</a:t>
            </a:r>
            <a:r>
              <a:rPr lang="en-US" sz="1800" dirty="0" err="1">
                <a:latin typeface="Courier New" panose="02070609020205020404" pitchFamily="49" charset="0"/>
              </a:rPr>
              <a:t>rax</a:t>
            </a:r>
            <a:r>
              <a:rPr lang="en-US" sz="1800" dirty="0">
                <a:latin typeface="Courier New" panose="02070609020205020404" pitchFamily="49" charset="0"/>
              </a:rPr>
              <a:t>, </a:t>
            </a:r>
            <a:r>
              <a:rPr lang="en-US" sz="1800" dirty="0">
                <a:solidFill>
                  <a:srgbClr val="00B050"/>
                </a:solidFill>
                <a:latin typeface="Courier New" panose="02070609020205020404" pitchFamily="49" charset="0"/>
              </a:rPr>
              <a:t>(%</a:t>
            </a:r>
            <a:r>
              <a:rPr lang="en-US" sz="1800" dirty="0" err="1">
                <a:solidFill>
                  <a:srgbClr val="00B050"/>
                </a:solidFill>
                <a:latin typeface="Courier New" panose="02070609020205020404" pitchFamily="49" charset="0"/>
              </a:rPr>
              <a:t>rbx</a:t>
            </a:r>
            <a:r>
              <a:rPr lang="en-US" sz="1800" dirty="0">
                <a:solidFill>
                  <a:srgbClr val="00B050"/>
                </a:solidFill>
                <a:latin typeface="Courier New" panose="02070609020205020404" pitchFamily="49" charset="0"/>
              </a:rPr>
              <a:t>)</a:t>
            </a:r>
            <a:endParaRPr lang="en-US" sz="1800" dirty="0">
              <a:solidFill>
                <a:srgbClr val="00B050"/>
              </a:solidFill>
              <a:latin typeface="Courier New" panose="02070609020205020404" pitchFamily="49" charset="0"/>
            </a:endParaRPr>
          </a:p>
        </p:txBody>
      </p:sp>
      <p:sp>
        <p:nvSpPr>
          <p:cNvPr id="152582" name="Rectangle 6"/>
          <p:cNvSpPr>
            <a:spLocks noChangeArrowheads="1"/>
          </p:cNvSpPr>
          <p:nvPr/>
        </p:nvSpPr>
        <p:spPr bwMode="auto">
          <a:xfrm>
            <a:off x="2054225" y="4912519"/>
            <a:ext cx="3886200" cy="36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2921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0x40059e:  48 89 03</a:t>
            </a:r>
            <a:endParaRPr lang="en-US" sz="1800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928813" y="360362"/>
            <a:ext cx="8716962" cy="78263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GB" dirty="0" smtClean="0">
                <a:sym typeface="+mn-ea"/>
              </a:rPr>
              <a:t>Linker: example</a:t>
            </a:r>
            <a:r>
              <a:rPr lang="zh-CN" altLang="en-US" dirty="0" smtClean="0">
                <a:ea typeface="SimSun" charset="0"/>
                <a:sym typeface="+mn-ea"/>
              </a:rPr>
              <a:t>——符号</a:t>
            </a:r>
            <a:r>
              <a:rPr lang="zh-CN" altLang="en-US" dirty="0" smtClean="0">
                <a:ea typeface="SimSun" charset="0"/>
                <a:sym typeface="+mn-ea"/>
              </a:rPr>
              <a:t>解析</a:t>
            </a:r>
            <a:endParaRPr lang="zh-CN" altLang="en-US" dirty="0" smtClean="0">
              <a:ea typeface="SimSun" charset="0"/>
              <a:sym typeface="+mn-ea"/>
            </a:endParaRP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1870710" y="3083560"/>
            <a:ext cx="4072890" cy="3009900"/>
          </a:xfrm>
          <a:prstGeom prst="rect">
            <a:avLst/>
          </a:prstGeom>
          <a:solidFill>
            <a:srgbClr val="F7F5CD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>
            <a:noAutofit/>
          </a:bodyPr>
          <a:lstStyle/>
          <a:p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 panose="020B0609030804020204"/>
              </a:rPr>
              <a:t>sum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800" dirty="0">
                <a:solidFill>
                  <a:srgbClr val="C1651C"/>
                </a:solidFill>
                <a:latin typeface="Menlo-Regular" panose="020B0609030804020204"/>
              </a:rPr>
              <a:t>a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C1651C"/>
                </a:solidFill>
                <a:latin typeface="Menlo-Regular" panose="020B0609030804020204"/>
              </a:rPr>
              <a:t>n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);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hu-HU" sz="1800" dirty="0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hu-HU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hu-HU" sz="1800" dirty="0">
                <a:solidFill>
                  <a:srgbClr val="C1651C"/>
                </a:solidFill>
                <a:latin typeface="Menlo-Regular" panose="020B0609030804020204"/>
              </a:rPr>
              <a:t>array</a:t>
            </a:r>
            <a:r>
              <a:rPr lang="hu-HU" sz="1800" dirty="0">
                <a:solidFill>
                  <a:srgbClr val="000000"/>
                </a:solidFill>
                <a:latin typeface="Menlo-Regular" panose="020B0609030804020204"/>
              </a:rPr>
              <a:t>[2] = {1, 2};</a:t>
            </a:r>
            <a:endParaRPr lang="hu-HU" sz="18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hu-HU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 panose="020B0609030804020204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()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r-FR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800" dirty="0">
                <a:solidFill>
                  <a:srgbClr val="C1651C"/>
                </a:solidFill>
                <a:latin typeface="Menlo-Regular" panose="020B0609030804020204"/>
              </a:rPr>
              <a:t>val</a:t>
            </a:r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Menlo-Regular" panose="020B0609030804020204"/>
              </a:rPr>
              <a:t>sum</a:t>
            </a:r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Menlo-Regular" panose="020B0609030804020204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, 2);</a:t>
            </a:r>
            <a:endParaRPr lang="fr-FR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endParaRPr lang="fr-FR" sz="1800" dirty="0">
              <a:solidFill>
                <a:srgbClr val="000000"/>
              </a:solidFill>
              <a:latin typeface="Menlo-Regular" panose="020B0609030804020204"/>
            </a:endParaRPr>
          </a:p>
          <a:p>
            <a:pPr indent="457200"/>
            <a:r>
              <a:rPr lang="fr-FR" sz="180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 val;</a:t>
            </a:r>
            <a:endParaRPr lang="fr-FR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en-US" sz="1800" dirty="0">
              <a:latin typeface="Courier New" panose="02070609020205020404"/>
              <a:cs typeface="Courier New" panose="02070609020205020404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4876908" y="5734419"/>
            <a:ext cx="1002030" cy="352425"/>
          </a:xfrm>
          <a:prstGeom prst="rect">
            <a:avLst/>
          </a:prstGeom>
          <a:noFill/>
          <a:ln w="3240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main.c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6240145" y="3085465"/>
            <a:ext cx="4211955" cy="301879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</a:ln>
          <a:effectLst/>
        </p:spPr>
        <p:txBody>
          <a:bodyPr wrap="none" lIns="90000" tIns="46800" rIns="90000" bIns="46800">
            <a:noAutofit/>
          </a:bodyPr>
          <a:lstStyle/>
          <a:p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 panose="020B0609030804020204"/>
              </a:rPr>
              <a:t>sum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(</a:t>
            </a:r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*</a:t>
            </a:r>
            <a:r>
              <a:rPr lang="en-US" sz="1800" dirty="0">
                <a:solidFill>
                  <a:srgbClr val="C1651C"/>
                </a:solidFill>
                <a:latin typeface="Menlo-Regular" panose="020B0609030804020204"/>
              </a:rPr>
              <a:t>a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en-US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en-US" sz="1800" dirty="0">
                <a:solidFill>
                  <a:srgbClr val="C1651C"/>
                </a:solidFill>
                <a:latin typeface="Menlo-Regular" panose="020B0609030804020204"/>
              </a:rPr>
              <a:t>n</a:t>
            </a:r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)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en-US" sz="1800" dirty="0">
                <a:solidFill>
                  <a:srgbClr val="000000"/>
                </a:solidFill>
                <a:latin typeface="Menlo-Regular" panose="020B0609030804020204"/>
              </a:rPr>
              <a:t>{</a:t>
            </a:r>
            <a:endParaRPr lang="en-U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fr-FR" sz="1800" dirty="0" err="1">
                <a:solidFill>
                  <a:srgbClr val="2D961E"/>
                </a:solidFill>
                <a:latin typeface="Menlo-Regular" panose="020B0609030804020204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 </a:t>
            </a:r>
            <a:r>
              <a:rPr lang="fr-FR" sz="1800" dirty="0">
                <a:solidFill>
                  <a:srgbClr val="C1651C"/>
                </a:solidFill>
                <a:latin typeface="Menlo-Regular" panose="020B0609030804020204"/>
              </a:rPr>
              <a:t>i</a:t>
            </a:r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, </a:t>
            </a:r>
            <a:r>
              <a:rPr lang="fr-FR" sz="1800" dirty="0">
                <a:solidFill>
                  <a:srgbClr val="C1651C"/>
                </a:solidFill>
                <a:latin typeface="Menlo-Regular" panose="020B0609030804020204"/>
              </a:rPr>
              <a:t>s</a:t>
            </a:r>
            <a:r>
              <a:rPr lang="fr-FR" sz="1800" dirty="0">
                <a:solidFill>
                  <a:srgbClr val="000000"/>
                </a:solidFill>
                <a:latin typeface="Menlo-Regular" panose="020B0609030804020204"/>
              </a:rPr>
              <a:t> = 0;</a:t>
            </a:r>
            <a:endParaRPr lang="fr-FR" sz="1800" dirty="0">
              <a:solidFill>
                <a:srgbClr val="000000"/>
              </a:solidFill>
              <a:latin typeface="Menlo-Regular" panose="020B0609030804020204"/>
            </a:endParaRPr>
          </a:p>
          <a:p>
            <a:endParaRPr lang="fr-FR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a-DK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r>
              <a:rPr lang="da-DK" sz="1800" dirty="0">
                <a:solidFill>
                  <a:srgbClr val="C200FF"/>
                </a:solidFill>
                <a:latin typeface="Menlo-Regular" panose="020B0609030804020204"/>
              </a:rPr>
              <a:t>for</a:t>
            </a:r>
            <a:r>
              <a:rPr lang="da-DK" sz="1800" dirty="0">
                <a:solidFill>
                  <a:srgbClr val="000000"/>
                </a:solidFill>
                <a:latin typeface="Menlo-Regular" panose="020B0609030804020204"/>
              </a:rPr>
              <a:t> (i = 0; i &lt; n; i++) {</a:t>
            </a:r>
            <a:endParaRPr lang="da-DK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a-DK" sz="1800" dirty="0">
                <a:solidFill>
                  <a:srgbClr val="000000"/>
                </a:solidFill>
                <a:latin typeface="Menlo-Regular" panose="020B0609030804020204"/>
              </a:rPr>
              <a:t>        s += a[i];</a:t>
            </a:r>
            <a:endParaRPr lang="da-DK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da-DK" sz="1800" dirty="0">
                <a:solidFill>
                  <a:srgbClr val="000000"/>
                </a:solidFill>
                <a:latin typeface="Menlo-Regular" panose="020B0609030804020204"/>
              </a:rPr>
              <a:t>    }</a:t>
            </a:r>
            <a:endParaRPr lang="da-DK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800" dirty="0">
                <a:solidFill>
                  <a:srgbClr val="000000"/>
                </a:solidFill>
                <a:latin typeface="Menlo-Regular" panose="020B0609030804020204"/>
              </a:rPr>
              <a:t>    </a:t>
            </a:r>
            <a:endParaRPr lang="is-IS" sz="1800" dirty="0">
              <a:solidFill>
                <a:srgbClr val="000000"/>
              </a:solidFill>
              <a:latin typeface="Menlo-Regular" panose="020B0609030804020204"/>
            </a:endParaRPr>
          </a:p>
          <a:p>
            <a:pPr indent="457200"/>
            <a:r>
              <a:rPr lang="is-IS" sz="1800" dirty="0">
                <a:solidFill>
                  <a:srgbClr val="C200FF"/>
                </a:solidFill>
                <a:latin typeface="Menlo-Regular" panose="020B0609030804020204"/>
              </a:rPr>
              <a:t>return</a:t>
            </a:r>
            <a:r>
              <a:rPr lang="is-IS" sz="1800" dirty="0">
                <a:solidFill>
                  <a:srgbClr val="000000"/>
                </a:solidFill>
                <a:latin typeface="Menlo-Regular" panose="020B0609030804020204"/>
              </a:rPr>
              <a:t> s;</a:t>
            </a:r>
            <a:endParaRPr lang="is-IS" sz="1800" dirty="0">
              <a:solidFill>
                <a:srgbClr val="000000"/>
              </a:solidFill>
              <a:latin typeface="Menlo-Regular" panose="020B0609030804020204"/>
            </a:endParaRPr>
          </a:p>
          <a:p>
            <a:r>
              <a:rPr lang="is-IS" sz="1800" dirty="0">
                <a:solidFill>
                  <a:srgbClr val="000000"/>
                </a:solidFill>
                <a:latin typeface="Menlo-Regular" panose="020B0609030804020204"/>
              </a:rPr>
              <a:t>}</a:t>
            </a:r>
            <a:endParaRPr lang="is-IS" sz="1800" dirty="0">
              <a:solidFill>
                <a:srgbClr val="000000"/>
              </a:solidFill>
              <a:latin typeface="Menlo-Regular" panose="020B0609030804020204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9525233" y="5715090"/>
            <a:ext cx="864870" cy="352425"/>
          </a:xfrm>
          <a:prstGeom prst="rect">
            <a:avLst/>
          </a:prstGeom>
          <a:noFill/>
          <a:ln w="3240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609020205020404" pitchFamily="49" charset="0"/>
                <a:ea typeface="msgothic" charset="0"/>
                <a:cs typeface="msgothic" charset="0"/>
              </a:rPr>
              <a:t>sum.c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V="1">
            <a:off x="4114800" y="3429000"/>
            <a:ext cx="2971800" cy="1600200"/>
          </a:xfrm>
          <a:prstGeom prst="straightConnector1">
            <a:avLst/>
          </a:prstGeom>
          <a:noFill/>
          <a:ln w="25400" cap="flat" cmpd="sng" algn="ctr">
            <a:solidFill>
              <a:srgbClr val="99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2" name="Straight Arrow Connector 71"/>
          <p:cNvCxnSpPr/>
          <p:nvPr/>
        </p:nvCxnSpPr>
        <p:spPr bwMode="auto">
          <a:xfrm flipH="1" flipV="1">
            <a:off x="3200400" y="3886200"/>
            <a:ext cx="1524000" cy="1066800"/>
          </a:xfrm>
          <a:prstGeom prst="straightConnector1">
            <a:avLst/>
          </a:prstGeom>
          <a:noFill/>
          <a:ln w="25400" cap="flat" cmpd="sng" algn="ctr">
            <a:solidFill>
              <a:srgbClr val="99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2438400" y="3429000"/>
            <a:ext cx="16008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hu-HU" sz="1600" b="0" i="1" dirty="0">
                <a:solidFill>
                  <a:schemeClr val="tx1"/>
                </a:solidFill>
                <a:highlight>
                  <a:srgbClr val="C0C0C0"/>
                </a:highlight>
                <a:latin typeface="Menlo Italic" panose="020B0609030804020204" charset="0"/>
                <a:cs typeface="Menlo Italic" panose="020B0609030804020204" charset="0"/>
                <a:sym typeface="+mn-ea"/>
              </a:rPr>
              <a:t>def-</a:t>
            </a:r>
            <a:r>
              <a:rPr lang="hu-HU" sz="1600" b="0" i="1" dirty="0">
                <a:solidFill>
                  <a:schemeClr val="tx1"/>
                </a:solidFill>
                <a:highlight>
                  <a:srgbClr val="C0C0C0"/>
                </a:highlight>
                <a:latin typeface="Menlo Italic" panose="020B0609030804020204" charset="0"/>
                <a:cs typeface="Menlo Italic" panose="020B0609030804020204" charset="0"/>
                <a:sym typeface="+mn-ea"/>
              </a:rPr>
              <a:t>array</a:t>
            </a:r>
            <a:endParaRPr lang="hu-HU" altLang="en-US" sz="1600" b="0" i="1" dirty="0" smtClean="0">
              <a:solidFill>
                <a:schemeClr val="tx1"/>
              </a:solidFill>
              <a:highlight>
                <a:srgbClr val="C0C0C0"/>
              </a:highlight>
              <a:latin typeface="Menlo Italic" panose="020B0609030804020204" charset="0"/>
              <a:cs typeface="Menlo Italic" panose="020B060903080402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81800" y="2743200"/>
            <a:ext cx="16008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hu-HU" sz="1600" b="0" i="1" dirty="0">
                <a:solidFill>
                  <a:schemeClr val="tx1"/>
                </a:solidFill>
                <a:highlight>
                  <a:srgbClr val="C0C0C0"/>
                </a:highlight>
                <a:latin typeface="Menlo Italic" panose="020B0609030804020204" charset="0"/>
                <a:cs typeface="Menlo Italic" panose="020B0609030804020204" charset="0"/>
                <a:sym typeface="+mn-ea"/>
              </a:rPr>
              <a:t>def-sum</a:t>
            </a:r>
            <a:endParaRPr lang="en-US" altLang="hu-HU" sz="1600" b="0" i="1" dirty="0" smtClean="0">
              <a:solidFill>
                <a:schemeClr val="tx1"/>
              </a:solidFill>
              <a:highlight>
                <a:srgbClr val="C0C0C0"/>
              </a:highlight>
              <a:latin typeface="Menlo Italic" panose="020B0609030804020204" charset="0"/>
              <a:cs typeface="Menlo Italic" panose="020B060903080402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52800" y="5029200"/>
            <a:ext cx="16008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hu-HU" sz="1600" b="0" i="1" dirty="0">
                <a:solidFill>
                  <a:schemeClr val="tx1"/>
                </a:solidFill>
                <a:highlight>
                  <a:srgbClr val="C0C0C0"/>
                </a:highlight>
                <a:latin typeface="Menlo Italic" panose="020B0609030804020204" charset="0"/>
                <a:cs typeface="Menlo Italic" panose="020B0609030804020204" charset="0"/>
                <a:sym typeface="+mn-ea"/>
              </a:rPr>
              <a:t>ref-sum</a:t>
            </a:r>
            <a:endParaRPr lang="en-US" altLang="hu-HU" sz="1600" b="0" i="1" dirty="0" smtClean="0">
              <a:solidFill>
                <a:schemeClr val="tx1"/>
              </a:solidFill>
              <a:highlight>
                <a:srgbClr val="C0C0C0"/>
              </a:highlight>
              <a:latin typeface="Menlo Italic" panose="020B0609030804020204" charset="0"/>
              <a:cs typeface="Menlo Italic" panose="020B06090308040202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19600" y="5029200"/>
            <a:ext cx="16008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hu-HU" sz="1600" b="0" i="1" dirty="0">
                <a:solidFill>
                  <a:schemeClr val="tx1"/>
                </a:solidFill>
                <a:highlight>
                  <a:srgbClr val="C0C0C0"/>
                </a:highlight>
                <a:latin typeface="Menlo Italic" panose="020B0609030804020204" charset="0"/>
                <a:cs typeface="Menlo Italic" panose="020B0609030804020204" charset="0"/>
                <a:sym typeface="+mn-ea"/>
              </a:rPr>
              <a:t>ref-array</a:t>
            </a:r>
            <a:endParaRPr lang="en-US" altLang="hu-HU" sz="1600" b="0" i="1" dirty="0" smtClean="0">
              <a:solidFill>
                <a:schemeClr val="tx1"/>
              </a:solidFill>
              <a:highlight>
                <a:srgbClr val="C0C0C0"/>
              </a:highlight>
              <a:latin typeface="Menlo Italic" panose="020B0609030804020204" charset="0"/>
              <a:cs typeface="Menlo Italic" panose="020B0609030804020204" charset="0"/>
              <a:sym typeface="+mn-ea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符号解析</a:t>
            </a:r>
            <a:endParaRPr lang="zh-CN" altLang="en-US"/>
          </a:p>
          <a:p>
            <a:pPr lvl="1"/>
            <a:r>
              <a:rPr lang="zh-CN" altLang="en-US"/>
              <a:t>为</a:t>
            </a:r>
            <a:r>
              <a:rPr lang="en-US" altLang="zh-CN"/>
              <a:t>x</a:t>
            </a:r>
            <a:r>
              <a:rPr lang="zh-CN" altLang="en-US"/>
              <a:t>的</a:t>
            </a:r>
            <a:r>
              <a:rPr lang="zh-CN" altLang="en-US" b="1">
                <a:solidFill>
                  <a:srgbClr val="00B050"/>
                </a:solidFill>
              </a:rPr>
              <a:t>引用</a:t>
            </a:r>
            <a:r>
              <a:rPr lang="en-US" altLang="zh-CN"/>
              <a:t>ref-x</a:t>
            </a:r>
            <a:r>
              <a:rPr lang="zh-CN" altLang="en-US"/>
              <a:t>，找到对应的</a:t>
            </a:r>
            <a:r>
              <a:rPr lang="zh-CN" altLang="en-US" b="1">
                <a:solidFill>
                  <a:srgbClr val="00B050"/>
                </a:solidFill>
              </a:rPr>
              <a:t>定义</a:t>
            </a:r>
            <a:r>
              <a:rPr lang="en-US" altLang="zh-CN"/>
              <a:t>def-x</a:t>
            </a:r>
            <a:endParaRPr lang="en-US" altLang="zh-CN"/>
          </a:p>
          <a:p>
            <a:pPr lvl="1"/>
            <a:r>
              <a:rPr lang="zh-CN" altLang="en-US"/>
              <a:t>如果没找到，报错：无法解析的外部符号</a:t>
            </a:r>
            <a:endParaRPr lang="en-US" altLang="zh-CN"/>
          </a:p>
          <a:p>
            <a:pPr lvl="1"/>
            <a:endParaRPr lang="en-US" altLang="zh-CN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896533" y="465667"/>
            <a:ext cx="7594600" cy="573088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GB" dirty="0" smtClean="0">
                <a:sym typeface="+mn-ea"/>
              </a:rPr>
              <a:t>Linker: example</a:t>
            </a:r>
            <a:r>
              <a:rPr lang="zh-CN" altLang="en-US" dirty="0" smtClean="0">
                <a:ea typeface="SimSun" charset="0"/>
                <a:sym typeface="+mn-ea"/>
              </a:rPr>
              <a:t>——合并与</a:t>
            </a:r>
            <a:r>
              <a:rPr lang="zh-CN" altLang="en-US" dirty="0" smtClean="0">
                <a:ea typeface="SimSun" charset="0"/>
                <a:sym typeface="+mn-ea"/>
              </a:rPr>
              <a:t>重定位</a:t>
            </a:r>
            <a:endParaRPr lang="zh-CN" altLang="en-US" dirty="0" smtClean="0">
              <a:ea typeface="SimSun" charset="0"/>
              <a:sym typeface="+mn-ea"/>
            </a:endParaRPr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032174" y="3702050"/>
            <a:ext cx="2278062" cy="533400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anose="02070609020205020404" pitchFamily="49" charset="0"/>
                <a:ea typeface="msgothic" charset="0"/>
                <a:cs typeface="msgothic" charset="0"/>
              </a:rPr>
              <a:t>main()</a:t>
            </a:r>
            <a:endParaRPr lang="en-GB" sz="16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942303" y="3395828"/>
            <a:ext cx="100203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main.o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2032174" y="5032375"/>
            <a:ext cx="2278062" cy="533400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sum(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)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909749" y="4738689"/>
            <a:ext cx="86487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err="1" smtClean="0">
                <a:latin typeface="Courier New" panose="02070609020205020404" pitchFamily="49" charset="0"/>
                <a:ea typeface="msgothic" charset="0"/>
                <a:cs typeface="msgothic" charset="0"/>
              </a:rPr>
              <a:t>sum.o</a:t>
            </a:r>
            <a:endParaRPr lang="en-GB" sz="18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2032174" y="2057400"/>
            <a:ext cx="2278062" cy="533400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System code</a:t>
            </a: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2032174" y="4235450"/>
            <a:ext cx="2278062" cy="3222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anose="02070609020205020404" pitchFamily="49" charset="0"/>
                <a:ea typeface="msgothic" charset="0"/>
                <a:cs typeface="msgothic" charset="0"/>
              </a:rPr>
              <a:t>int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 </a:t>
            </a:r>
            <a:r>
              <a:rPr lang="en-GB" sz="1600" b="1" dirty="0" smtClean="0">
                <a:latin typeface="Courier New" panose="02070609020205020404" pitchFamily="49" charset="0"/>
                <a:ea typeface="msgothic" charset="0"/>
                <a:cs typeface="msgothic" charset="0"/>
              </a:rPr>
              <a:t>array[</a:t>
            </a:r>
            <a:r>
              <a: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rPr>
              <a:t>2]={1,2}</a:t>
            </a:r>
            <a:endParaRPr lang="en-GB" sz="1600" b="1" dirty="0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2032174" y="2590800"/>
            <a:ext cx="2278062" cy="361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System </a:t>
            </a:r>
            <a:r>
              <a:rPr lang="en-GB" sz="1600" b="1" dirty="0" smtClean="0">
                <a:latin typeface="Calibri" pitchFamily="34" charset="0"/>
                <a:ea typeface="msgothic" charset="0"/>
                <a:cs typeface="msgothic" charset="0"/>
              </a:rPr>
              <a:t>data</a:t>
            </a: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1913467" y="1306513"/>
            <a:ext cx="3233420" cy="4540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GB" b="1" dirty="0" err="1">
                <a:latin typeface="Calibri" pitchFamily="34" charset="0"/>
                <a:ea typeface="msgothic" charset="0"/>
                <a:cs typeface="msgothic" charset="0"/>
              </a:rPr>
              <a:t>可重定位的二进制</a:t>
            </a:r>
            <a:r>
              <a:rPr lang="zh-CN" altLang="en-GB" b="1" dirty="0" err="1">
                <a:latin typeface="Calibri" pitchFamily="34" charset="0"/>
                <a:ea typeface="msgothic" charset="0"/>
                <a:cs typeface="msgothic" charset="0"/>
              </a:rPr>
              <a:t>文件</a:t>
            </a:r>
            <a:endParaRPr lang="zh-CN" altLang="en-GB" b="1" dirty="0" err="1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4302299" y="2112963"/>
            <a:ext cx="86487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.text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8456" name="Text Box 24"/>
          <p:cNvSpPr txBox="1">
            <a:spLocks noChangeArrowheads="1"/>
          </p:cNvSpPr>
          <p:nvPr/>
        </p:nvSpPr>
        <p:spPr bwMode="auto">
          <a:xfrm>
            <a:off x="4302299" y="2478088"/>
            <a:ext cx="86487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.data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4302299" y="3741738"/>
            <a:ext cx="86487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.text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4302299" y="4154488"/>
            <a:ext cx="86487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.data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sp>
        <p:nvSpPr>
          <p:cNvPr id="18459" name="Text Box 27"/>
          <p:cNvSpPr txBox="1">
            <a:spLocks noChangeArrowheads="1"/>
          </p:cNvSpPr>
          <p:nvPr/>
        </p:nvSpPr>
        <p:spPr bwMode="auto">
          <a:xfrm>
            <a:off x="4302299" y="5103813"/>
            <a:ext cx="864870" cy="352425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anose="02070609020205020404" pitchFamily="49" charset="0"/>
                <a:ea typeface="msgothic" charset="0"/>
                <a:cs typeface="msgothic" charset="0"/>
              </a:rPr>
              <a:t>.text</a:t>
            </a:r>
            <a:endParaRPr lang="en-GB" sz="1800" b="1">
              <a:latin typeface="Courier New" panose="02070609020205020404" pitchFamily="49" charset="0"/>
              <a:ea typeface="msgothic" charset="0"/>
              <a:cs typeface="msgothic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5562600" y="1306513"/>
            <a:ext cx="4894683" cy="4635499"/>
            <a:chOff x="4038600" y="1306513"/>
            <a:chExt cx="4894683" cy="4635499"/>
          </a:xfrm>
        </p:grpSpPr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5231591" y="2309813"/>
              <a:ext cx="2422525" cy="319087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Headers</a:t>
              </a:r>
              <a:endParaRPr lang="en-GB" sz="1600" b="1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5231591" y="2957513"/>
              <a:ext cx="2422525" cy="533400"/>
            </a:xfrm>
            <a:prstGeom prst="rect">
              <a:avLst/>
            </a:prstGeom>
            <a:solidFill>
              <a:srgbClr val="F6F5BD"/>
            </a:solidFill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anose="02070609020205020404" pitchFamily="49" charset="0"/>
                  <a:ea typeface="msgothic" charset="0"/>
                  <a:cs typeface="msgothic" charset="0"/>
                </a:rPr>
                <a:t>main()</a:t>
              </a:r>
              <a:endParaRPr lang="en-GB" sz="1600" b="1">
                <a:latin typeface="Courier New" panose="02070609020205020404" pitchFamily="49" charset="0"/>
                <a:ea typeface="msgothic" charset="0"/>
                <a:cs typeface="msgothic" charset="0"/>
              </a:endParaRPr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5231591" y="3490913"/>
              <a:ext cx="2422525" cy="533400"/>
            </a:xfrm>
            <a:prstGeom prst="rect">
              <a:avLst/>
            </a:prstGeom>
            <a:solidFill>
              <a:srgbClr val="F6F5BD"/>
            </a:solidFill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anose="02070609020205020404" pitchFamily="49" charset="0"/>
                  <a:ea typeface="msgothic" charset="0"/>
                  <a:cs typeface="msgothic" charset="0"/>
                </a:rPr>
                <a:t>s</a:t>
              </a:r>
              <a:r>
                <a:rPr lang="en-US" altLang="en-GB" sz="1600" b="1">
                  <a:latin typeface="Courier New" panose="02070609020205020404" pitchFamily="49" charset="0"/>
                  <a:ea typeface="msgothic" charset="0"/>
                  <a:cs typeface="msgothic" charset="0"/>
                </a:rPr>
                <a:t>um</a:t>
              </a:r>
              <a:r>
                <a:rPr lang="en-GB" sz="1600" b="1">
                  <a:latin typeface="Courier New" panose="02070609020205020404" pitchFamily="49" charset="0"/>
                  <a:ea typeface="msgothic" charset="0"/>
                  <a:cs typeface="msgothic" charset="0"/>
                </a:rPr>
                <a:t>()</a:t>
              </a:r>
              <a:endParaRPr lang="en-GB" sz="1600" b="1">
                <a:latin typeface="Courier New" panose="02070609020205020404" pitchFamily="49" charset="0"/>
                <a:ea typeface="msgothic" charset="0"/>
                <a:cs typeface="msgothic" charset="0"/>
              </a:endParaRPr>
            </a:p>
          </p:txBody>
        </p:sp>
        <p:sp>
          <p:nvSpPr>
            <p:cNvPr id="18443" name="Text Box 11"/>
            <p:cNvSpPr txBox="1">
              <a:spLocks noChangeArrowheads="1"/>
            </p:cNvSpPr>
            <p:nvPr/>
          </p:nvSpPr>
          <p:spPr bwMode="auto">
            <a:xfrm>
              <a:off x="4948237" y="2136774"/>
              <a:ext cx="306070" cy="36385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latin typeface="Calibri" pitchFamily="34" charset="0"/>
                  <a:ea typeface="msgothic" charset="0"/>
                  <a:cs typeface="msgothic" charset="0"/>
                </a:rPr>
                <a:t>0</a:t>
              </a:r>
              <a:endParaRPr lang="en-GB" sz="1800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18448" name="Rectangle 16"/>
            <p:cNvSpPr>
              <a:spLocks noChangeArrowheads="1"/>
            </p:cNvSpPr>
            <p:nvPr/>
          </p:nvSpPr>
          <p:spPr bwMode="auto">
            <a:xfrm>
              <a:off x="5231591" y="4024313"/>
              <a:ext cx="2422525" cy="533400"/>
            </a:xfrm>
            <a:prstGeom prst="rect">
              <a:avLst/>
            </a:prstGeom>
            <a:solidFill>
              <a:srgbClr val="F6F5BD"/>
            </a:solidFill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More system code</a:t>
              </a:r>
              <a:endParaRPr lang="en-GB" sz="1600" b="1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18452" name="Text Box 20"/>
            <p:cNvSpPr txBox="1">
              <a:spLocks noChangeArrowheads="1"/>
            </p:cNvSpPr>
            <p:nvPr/>
          </p:nvSpPr>
          <p:spPr bwMode="auto">
            <a:xfrm>
              <a:off x="5105400" y="1306513"/>
              <a:ext cx="2927985" cy="45402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GB" b="1" dirty="0">
                  <a:latin typeface="Calibri" pitchFamily="34" charset="0"/>
                  <a:ea typeface="msgothic" charset="0"/>
                  <a:cs typeface="msgothic" charset="0"/>
                </a:rPr>
                <a:t>可执行的二进制</a:t>
              </a:r>
              <a:r>
                <a:rPr lang="zh-CN" altLang="en-GB" b="1" dirty="0">
                  <a:latin typeface="Calibri" pitchFamily="34" charset="0"/>
                  <a:ea typeface="msgothic" charset="0"/>
                  <a:cs typeface="msgothic" charset="0"/>
                </a:rPr>
                <a:t>文件</a:t>
              </a:r>
              <a:endParaRPr lang="zh-CN" altLang="en-GB" b="1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18453" name="AutoShape 21"/>
            <p:cNvSpPr/>
            <p:nvPr/>
          </p:nvSpPr>
          <p:spPr bwMode="auto">
            <a:xfrm>
              <a:off x="7772400" y="2628899"/>
              <a:ext cx="304800" cy="1928813"/>
            </a:xfrm>
            <a:prstGeom prst="rightBrace">
              <a:avLst>
                <a:gd name="adj1" fmla="val 59766"/>
                <a:gd name="adj2" fmla="val 50000"/>
              </a:avLst>
            </a:prstGeom>
            <a:noFill/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Text Box 22"/>
            <p:cNvSpPr txBox="1">
              <a:spLocks noChangeArrowheads="1"/>
            </p:cNvSpPr>
            <p:nvPr/>
          </p:nvSpPr>
          <p:spPr bwMode="auto">
            <a:xfrm>
              <a:off x="8068413" y="3224742"/>
              <a:ext cx="864870" cy="35242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latin typeface="Courier New" panose="02070609020205020404" pitchFamily="49" charset="0"/>
                  <a:ea typeface="msgothic" charset="0"/>
                  <a:cs typeface="msgothic" charset="0"/>
                </a:rPr>
                <a:t>.text</a:t>
              </a:r>
              <a:endParaRPr lang="en-GB" sz="1800" b="1">
                <a:latin typeface="Courier New" panose="02070609020205020404" pitchFamily="49" charset="0"/>
                <a:ea typeface="msgothic" charset="0"/>
                <a:cs typeface="msgothic" charset="0"/>
              </a:endParaRPr>
            </a:p>
          </p:txBody>
        </p:sp>
        <p:sp>
          <p:nvSpPr>
            <p:cNvPr id="18462" name="Rectangle 30"/>
            <p:cNvSpPr>
              <a:spLocks noChangeArrowheads="1"/>
            </p:cNvSpPr>
            <p:nvPr/>
          </p:nvSpPr>
          <p:spPr bwMode="auto">
            <a:xfrm>
              <a:off x="5231591" y="5257800"/>
              <a:ext cx="2422525" cy="684212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anose="02070609020205020404" pitchFamily="49" charset="0"/>
                  <a:ea typeface="msgothic" charset="0"/>
                  <a:cs typeface="msgothic" charset="0"/>
                </a:rPr>
                <a:t>.symtab</a:t>
              </a:r>
              <a:endParaRPr lang="en-GB" sz="1600" b="1">
                <a:latin typeface="Courier New" panose="02070609020205020404" pitchFamily="49" charset="0"/>
                <a:ea typeface="msgothic" charset="0"/>
                <a:cs typeface="msgothic" charset="0"/>
              </a:endParaRPr>
            </a:p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anose="02070609020205020404" pitchFamily="49" charset="0"/>
                  <a:ea typeface="msgothic" charset="0"/>
                  <a:cs typeface="msgothic" charset="0"/>
                </a:rPr>
                <a:t>.debug</a:t>
              </a:r>
              <a:endParaRPr lang="en-GB" sz="1600" b="1">
                <a:latin typeface="Courier New" panose="02070609020205020404" pitchFamily="49" charset="0"/>
                <a:ea typeface="msgothic" charset="0"/>
                <a:cs typeface="msgothic" charset="0"/>
              </a:endParaRPr>
            </a:p>
          </p:txBody>
        </p:sp>
        <p:sp>
          <p:nvSpPr>
            <p:cNvPr id="18463" name="AutoShape 31"/>
            <p:cNvSpPr/>
            <p:nvPr/>
          </p:nvSpPr>
          <p:spPr bwMode="auto">
            <a:xfrm>
              <a:off x="7730316" y="4557713"/>
              <a:ext cx="304800" cy="676275"/>
            </a:xfrm>
            <a:prstGeom prst="rightBrace">
              <a:avLst>
                <a:gd name="adj1" fmla="val 18490"/>
                <a:gd name="adj2" fmla="val 50000"/>
              </a:avLst>
            </a:prstGeom>
            <a:noFill/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Text Box 32"/>
            <p:cNvSpPr txBox="1">
              <a:spLocks noChangeArrowheads="1"/>
            </p:cNvSpPr>
            <p:nvPr/>
          </p:nvSpPr>
          <p:spPr bwMode="auto">
            <a:xfrm>
              <a:off x="8068413" y="4696354"/>
              <a:ext cx="864870" cy="352425"/>
            </a:xfrm>
            <a:prstGeom prst="rect">
              <a:avLst/>
            </a:prstGeom>
            <a:noFill/>
            <a:ln w="9525">
              <a:noFill/>
              <a:rou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latin typeface="Courier New" panose="02070609020205020404" pitchFamily="49" charset="0"/>
                  <a:ea typeface="msgothic" charset="0"/>
                  <a:cs typeface="msgothic" charset="0"/>
                </a:rPr>
                <a:t>.data</a:t>
              </a:r>
              <a:endParaRPr lang="en-GB" sz="1800" b="1">
                <a:latin typeface="Courier New" panose="02070609020205020404" pitchFamily="49" charset="0"/>
                <a:ea typeface="msgothic" charset="0"/>
                <a:cs typeface="msgothic" charset="0"/>
              </a:endParaRPr>
            </a:p>
          </p:txBody>
        </p:sp>
        <p:sp>
          <p:nvSpPr>
            <p:cNvPr id="18467" name="Line 35"/>
            <p:cNvSpPr>
              <a:spLocks noChangeShapeType="1"/>
            </p:cNvSpPr>
            <p:nvPr/>
          </p:nvSpPr>
          <p:spPr bwMode="auto">
            <a:xfrm>
              <a:off x="4038600" y="4106070"/>
              <a:ext cx="836613" cy="1587"/>
            </a:xfrm>
            <a:prstGeom prst="line">
              <a:avLst/>
            </a:prstGeom>
            <a:noFill/>
            <a:ln w="76320">
              <a:solidFill>
                <a:schemeClr val="tx1">
                  <a:lumMod val="65000"/>
                  <a:lumOff val="35000"/>
                </a:schemeClr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Line 36"/>
            <p:cNvSpPr>
              <a:spLocks noChangeShapeType="1"/>
            </p:cNvSpPr>
            <p:nvPr/>
          </p:nvSpPr>
          <p:spPr bwMode="auto">
            <a:xfrm>
              <a:off x="4038600" y="2971800"/>
              <a:ext cx="836613" cy="392113"/>
            </a:xfrm>
            <a:prstGeom prst="line">
              <a:avLst/>
            </a:prstGeom>
            <a:noFill/>
            <a:ln w="76320">
              <a:solidFill>
                <a:schemeClr val="tx1">
                  <a:lumMod val="65000"/>
                  <a:lumOff val="35000"/>
                </a:schemeClr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Line 37"/>
            <p:cNvSpPr>
              <a:spLocks noChangeShapeType="1"/>
            </p:cNvSpPr>
            <p:nvPr/>
          </p:nvSpPr>
          <p:spPr bwMode="auto">
            <a:xfrm flipV="1">
              <a:off x="4038600" y="4849813"/>
              <a:ext cx="836613" cy="409575"/>
            </a:xfrm>
            <a:prstGeom prst="line">
              <a:avLst/>
            </a:prstGeom>
            <a:noFill/>
            <a:ln w="76320">
              <a:solidFill>
                <a:schemeClr val="tx1">
                  <a:lumMod val="65000"/>
                  <a:lumOff val="35000"/>
                </a:schemeClr>
              </a:solidFill>
              <a:miter lim="800000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Rectangle 38"/>
            <p:cNvSpPr>
              <a:spLocks noChangeArrowheads="1"/>
            </p:cNvSpPr>
            <p:nvPr/>
          </p:nvSpPr>
          <p:spPr bwMode="auto">
            <a:xfrm>
              <a:off x="5231591" y="2633663"/>
              <a:ext cx="2422525" cy="319087"/>
            </a:xfrm>
            <a:prstGeom prst="rect">
              <a:avLst/>
            </a:prstGeom>
            <a:solidFill>
              <a:srgbClr val="F6F5BD"/>
            </a:solidFill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System code</a:t>
              </a:r>
              <a:endParaRPr lang="en-GB" sz="1600" b="1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46" name="Rectangle 15"/>
            <p:cNvSpPr>
              <a:spLocks noChangeArrowheads="1"/>
            </p:cNvSpPr>
            <p:nvPr/>
          </p:nvSpPr>
          <p:spPr bwMode="auto">
            <a:xfrm>
              <a:off x="5231590" y="4564063"/>
              <a:ext cx="2422525" cy="3619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System </a:t>
              </a:r>
              <a:r>
                <a:rPr lang="en-GB" sz="1600" b="1" dirty="0" smtClean="0">
                  <a:latin typeface="Calibri" pitchFamily="34" charset="0"/>
                  <a:ea typeface="msgothic" charset="0"/>
                  <a:cs typeface="msgothic" charset="0"/>
                </a:rPr>
                <a:t>data</a:t>
              </a:r>
              <a:endParaRPr lang="en-GB" sz="1600" b="1" dirty="0">
                <a:latin typeface="Calibri" pitchFamily="34" charset="0"/>
                <a:ea typeface="msgothic" charset="0"/>
                <a:cs typeface="msgothic" charset="0"/>
              </a:endParaRPr>
            </a:p>
          </p:txBody>
        </p:sp>
        <p:sp>
          <p:nvSpPr>
            <p:cNvPr id="47" name="Rectangle 14"/>
            <p:cNvSpPr>
              <a:spLocks noChangeArrowheads="1"/>
            </p:cNvSpPr>
            <p:nvPr/>
          </p:nvSpPr>
          <p:spPr bwMode="auto">
            <a:xfrm>
              <a:off x="5231591" y="4942682"/>
              <a:ext cx="2422524" cy="3222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560">
              <a:solidFill>
                <a:schemeClr val="tx1"/>
              </a:solidFill>
              <a:miter lim="800000"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 err="1">
                  <a:latin typeface="Courier New" panose="02070609020205020404" pitchFamily="49" charset="0"/>
                  <a:ea typeface="msgothic" charset="0"/>
                  <a:cs typeface="msgothic" charset="0"/>
                </a:rPr>
                <a:t>int</a:t>
              </a:r>
              <a:r>
                <a:rPr lang="en-GB" sz="1600" b="1" dirty="0">
                  <a:latin typeface="Courier New" panose="02070609020205020404" pitchFamily="49" charset="0"/>
                  <a:ea typeface="msgothic" charset="0"/>
                  <a:cs typeface="msgothic" charset="0"/>
                </a:rPr>
                <a:t> </a:t>
              </a:r>
              <a:r>
                <a:rPr lang="en-GB" sz="1600" b="1" dirty="0" smtClean="0">
                  <a:latin typeface="Courier New" panose="02070609020205020404" pitchFamily="49" charset="0"/>
                  <a:ea typeface="msgothic" charset="0"/>
                  <a:cs typeface="msgothic" charset="0"/>
                </a:rPr>
                <a:t>array[</a:t>
              </a:r>
              <a:r>
                <a:rPr lang="en-GB" sz="1600" b="1" dirty="0">
                  <a:latin typeface="Courier New" panose="02070609020205020404" pitchFamily="49" charset="0"/>
                  <a:ea typeface="msgothic" charset="0"/>
                  <a:cs typeface="msgothic" charset="0"/>
                </a:rPr>
                <a:t>2]={1,2}</a:t>
              </a:r>
              <a:endParaRPr lang="en-GB" sz="1600" b="1" dirty="0">
                <a:latin typeface="Courier New" panose="02070609020205020404" pitchFamily="49" charset="0"/>
                <a:ea typeface="msgothic" charset="0"/>
                <a:cs typeface="msgothic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2425700" y="1035050"/>
            <a:ext cx="2603500" cy="4127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/>
          <a:lstStyle/>
          <a:p>
            <a:pPr marL="224155" indent="-224155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Disassembled</a:t>
            </a: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  <a:p>
            <a:pPr marL="224155" indent="-224155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6819900" cy="573088"/>
          </a:xfrm>
        </p:spPr>
        <p:txBody>
          <a:bodyPr/>
          <a:lstStyle/>
          <a:p>
            <a:r>
              <a:rPr lang="zh-CN" altLang="en-US"/>
              <a:t>利用</a:t>
            </a:r>
            <a:r>
              <a:rPr lang="en-US" altLang="zh-CN"/>
              <a:t>objdump</a:t>
            </a:r>
            <a:r>
              <a:rPr lang="zh-CN" altLang="en-US"/>
              <a:t>反汇编二进制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4114800"/>
            <a:ext cx="8140700" cy="2249488"/>
          </a:xfrm>
        </p:spPr>
        <p:txBody>
          <a:bodyPr/>
          <a:lstStyle/>
          <a:p>
            <a:r>
              <a:rPr lang="en-US" dirty="0" err="1"/>
              <a:t>Disassembler</a:t>
            </a:r>
            <a:endParaRPr 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b="1" dirty="0" err="1">
                <a:latin typeface="Courier New" panose="02070609020205020404" pitchFamily="49" charset="0"/>
              </a:rPr>
              <a:t>objdump</a:t>
            </a:r>
            <a:r>
              <a:rPr lang="en-US" b="1" dirty="0">
                <a:latin typeface="Courier New" panose="02070609020205020404" pitchFamily="49" charset="0"/>
              </a:rPr>
              <a:t> –d sum</a:t>
            </a:r>
            <a:endParaRPr lang="en-US" b="1" dirty="0">
              <a:latin typeface="Courier New" panose="02070609020205020404" pitchFamily="49" charset="0"/>
            </a:endParaRPr>
          </a:p>
          <a:p>
            <a:pPr lvl="1"/>
            <a:r>
              <a:rPr lang="en-US" dirty="0"/>
              <a:t>Useful tool for examining object code</a:t>
            </a:r>
            <a:endParaRPr lang="en-US" dirty="0"/>
          </a:p>
          <a:p>
            <a:pPr lvl="1"/>
            <a:r>
              <a:rPr lang="en-US" dirty="0"/>
              <a:t>Analyzes bit pattern of series of instructions</a:t>
            </a:r>
            <a:endParaRPr lang="en-US" dirty="0"/>
          </a:p>
          <a:p>
            <a:pPr lvl="1"/>
            <a:r>
              <a:rPr lang="en-US" dirty="0"/>
              <a:t>Produces approximate rendition of assembly code</a:t>
            </a:r>
            <a:endParaRPr lang="en-US" dirty="0"/>
          </a:p>
          <a:p>
            <a:pPr lvl="1"/>
            <a:r>
              <a:rPr lang="en-US" dirty="0"/>
              <a:t>Can be run on either </a:t>
            </a:r>
            <a:r>
              <a:rPr lang="en-US" dirty="0" err="1">
                <a:latin typeface="Courier New" panose="02070609020205020404" pitchFamily="49" charset="0"/>
              </a:rPr>
              <a:t>a.out</a:t>
            </a:r>
            <a:r>
              <a:rPr lang="en-US" dirty="0"/>
              <a:t> (complete executable) or </a:t>
            </a:r>
            <a:r>
              <a:rPr lang="en-US" dirty="0">
                <a:latin typeface="Courier New" panose="02070609020205020404" pitchFamily="49" charset="0"/>
              </a:rPr>
              <a:t>.o</a:t>
            </a:r>
            <a:r>
              <a:rPr lang="en-US" dirty="0"/>
              <a:t> file</a:t>
            </a:r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628900" y="1628839"/>
            <a:ext cx="7493000" cy="202755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0000000000400595 &lt;</a:t>
            </a:r>
            <a:r>
              <a:rPr lang="en-US" sz="1800" dirty="0" err="1">
                <a:latin typeface="Courier New" panose="02070609020205020404" pitchFamily="49" charset="0"/>
              </a:rPr>
              <a:t>sumstore</a:t>
            </a:r>
            <a:r>
              <a:rPr lang="en-US" sz="1800" dirty="0">
                <a:latin typeface="Courier New" panose="02070609020205020404" pitchFamily="49" charset="0"/>
              </a:rPr>
              <a:t>&gt;: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400595:  53               push   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400596:  48 89 d3         </a:t>
            </a:r>
            <a:r>
              <a:rPr lang="en-US" sz="1800" dirty="0" err="1">
                <a:latin typeface="Courier New" panose="02070609020205020404" pitchFamily="49" charset="0"/>
              </a:rPr>
              <a:t>mov</a:t>
            </a:r>
            <a:r>
              <a:rPr lang="en-US" sz="1800" dirty="0">
                <a:latin typeface="Courier New" panose="02070609020205020404" pitchFamily="49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</a:rPr>
              <a:t>rdx</a:t>
            </a:r>
            <a:r>
              <a:rPr lang="en-US" sz="1800" dirty="0">
                <a:latin typeface="Courier New" panose="02070609020205020404" pitchFamily="49" charset="0"/>
              </a:rPr>
              <a:t>,%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400599:  e8 f2 </a:t>
            </a:r>
            <a:r>
              <a:rPr lang="en-US" sz="1800" dirty="0" err="1">
                <a:latin typeface="Courier New" panose="02070609020205020404" pitchFamily="49" charset="0"/>
              </a:rPr>
              <a:t>ff</a:t>
            </a:r>
            <a:r>
              <a:rPr lang="en-US" sz="1800" dirty="0">
                <a:latin typeface="Courier New" panose="02070609020205020404" pitchFamily="49" charset="0"/>
              </a:rPr>
              <a:t> </a:t>
            </a:r>
            <a:r>
              <a:rPr lang="en-US" sz="1800" dirty="0" err="1">
                <a:latin typeface="Courier New" panose="02070609020205020404" pitchFamily="49" charset="0"/>
              </a:rPr>
              <a:t>ff</a:t>
            </a:r>
            <a:r>
              <a:rPr lang="en-US" sz="1800" dirty="0">
                <a:latin typeface="Courier New" panose="02070609020205020404" pitchFamily="49" charset="0"/>
              </a:rPr>
              <a:t> </a:t>
            </a:r>
            <a:r>
              <a:rPr lang="en-US" sz="1800" dirty="0" err="1">
                <a:latin typeface="Courier New" panose="02070609020205020404" pitchFamily="49" charset="0"/>
              </a:rPr>
              <a:t>ff</a:t>
            </a:r>
            <a:r>
              <a:rPr lang="en-US" sz="1800" dirty="0">
                <a:latin typeface="Courier New" panose="02070609020205020404" pitchFamily="49" charset="0"/>
              </a:rPr>
              <a:t>   </a:t>
            </a:r>
            <a:r>
              <a:rPr lang="en-US" sz="1800" dirty="0" err="1">
                <a:latin typeface="Courier New" panose="02070609020205020404" pitchFamily="49" charset="0"/>
              </a:rPr>
              <a:t>callq</a:t>
            </a:r>
            <a:r>
              <a:rPr lang="en-US" sz="1800" dirty="0">
                <a:latin typeface="Courier New" panose="02070609020205020404" pitchFamily="49" charset="0"/>
              </a:rPr>
              <a:t>  400590 &lt;plus&gt;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40059e:  48 89 03         </a:t>
            </a:r>
            <a:r>
              <a:rPr lang="en-US" sz="1800" dirty="0" err="1">
                <a:latin typeface="Courier New" panose="02070609020205020404" pitchFamily="49" charset="0"/>
              </a:rPr>
              <a:t>mov</a:t>
            </a:r>
            <a:r>
              <a:rPr lang="en-US" sz="1800" dirty="0">
                <a:latin typeface="Courier New" panose="02070609020205020404" pitchFamily="49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</a:rPr>
              <a:t>rax</a:t>
            </a:r>
            <a:r>
              <a:rPr lang="en-US" sz="1800" dirty="0">
                <a:latin typeface="Courier New" panose="02070609020205020404" pitchFamily="49" charset="0"/>
              </a:rPr>
              <a:t>,(%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r>
              <a:rPr lang="en-US" sz="1800" dirty="0">
                <a:latin typeface="Courier New" panose="02070609020205020404" pitchFamily="49" charset="0"/>
              </a:rPr>
              <a:t>)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4005a1:  5b               pop    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4005a2:  c3               </a:t>
            </a:r>
            <a:r>
              <a:rPr lang="en-US" sz="1800" dirty="0" err="1">
                <a:latin typeface="Courier New" panose="02070609020205020404" pitchFamily="49" charset="0"/>
              </a:rPr>
              <a:t>retq</a:t>
            </a:r>
            <a:endParaRPr lang="en-US" sz="1800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5715000" y="914400"/>
            <a:ext cx="2603500" cy="4127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/>
          <a:lstStyle/>
          <a:p>
            <a:pPr marL="224155" indent="-224155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Disassembled</a:t>
            </a: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  <a:p>
            <a:pPr marL="224155" indent="-224155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3821113" y="1705039"/>
            <a:ext cx="6846887" cy="202755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Dump of assembler code for function </a:t>
            </a:r>
            <a:r>
              <a:rPr lang="en-US" sz="1800" dirty="0" err="1">
                <a:latin typeface="Courier New" panose="02070609020205020404" pitchFamily="49" charset="0"/>
              </a:rPr>
              <a:t>sumstore</a:t>
            </a:r>
            <a:r>
              <a:rPr lang="en-US" sz="1800" dirty="0">
                <a:latin typeface="Courier New" panose="02070609020205020404" pitchFamily="49" charset="0"/>
              </a:rPr>
              <a:t>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0x0000000000400595 &lt;+0&gt;: push   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0x0000000000400596 &lt;+1&gt;: </a:t>
            </a:r>
            <a:r>
              <a:rPr lang="en-US" sz="1800" dirty="0" err="1">
                <a:latin typeface="Courier New" panose="02070609020205020404" pitchFamily="49" charset="0"/>
              </a:rPr>
              <a:t>mov</a:t>
            </a:r>
            <a:r>
              <a:rPr lang="en-US" sz="1800" dirty="0">
                <a:latin typeface="Courier New" panose="02070609020205020404" pitchFamily="49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</a:rPr>
              <a:t>rdx</a:t>
            </a:r>
            <a:r>
              <a:rPr lang="en-US" sz="1800" dirty="0">
                <a:latin typeface="Courier New" panose="02070609020205020404" pitchFamily="49" charset="0"/>
              </a:rPr>
              <a:t>,%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0x0000000000400599 &lt;+4&gt;: </a:t>
            </a:r>
            <a:r>
              <a:rPr lang="en-US" sz="1800" dirty="0" err="1">
                <a:latin typeface="Courier New" panose="02070609020205020404" pitchFamily="49" charset="0"/>
              </a:rPr>
              <a:t>callq</a:t>
            </a:r>
            <a:r>
              <a:rPr lang="en-US" sz="1800" dirty="0">
                <a:latin typeface="Courier New" panose="02070609020205020404" pitchFamily="49" charset="0"/>
              </a:rPr>
              <a:t>  0x400590 &lt;plus&gt;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0x000000000040059e &lt;+9&gt;: </a:t>
            </a:r>
            <a:r>
              <a:rPr lang="en-US" sz="1800" dirty="0" err="1">
                <a:latin typeface="Courier New" panose="02070609020205020404" pitchFamily="49" charset="0"/>
              </a:rPr>
              <a:t>mov</a:t>
            </a:r>
            <a:r>
              <a:rPr lang="en-US" sz="1800" dirty="0">
                <a:latin typeface="Courier New" panose="02070609020205020404" pitchFamily="49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</a:rPr>
              <a:t>rax</a:t>
            </a:r>
            <a:r>
              <a:rPr lang="en-US" sz="1800" dirty="0">
                <a:latin typeface="Courier New" panose="02070609020205020404" pitchFamily="49" charset="0"/>
              </a:rPr>
              <a:t>,(%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r>
              <a:rPr lang="en-US" sz="1800" dirty="0">
                <a:latin typeface="Courier New" panose="02070609020205020404" pitchFamily="49" charset="0"/>
              </a:rPr>
              <a:t>)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0x00000000004005a1 &lt;+12&gt;:pop    %</a:t>
            </a:r>
            <a:r>
              <a:rPr lang="en-US" sz="1800" dirty="0" err="1">
                <a:latin typeface="Courier New" panose="02070609020205020404" pitchFamily="49" charset="0"/>
              </a:rPr>
              <a:t>rbx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0x00000000004005a2 &lt;+13&gt;:</a:t>
            </a:r>
            <a:r>
              <a:rPr lang="en-US" sz="1800" dirty="0" err="1">
                <a:latin typeface="Courier New" panose="02070609020205020404" pitchFamily="49" charset="0"/>
              </a:rPr>
              <a:t>retq</a:t>
            </a:r>
            <a:r>
              <a:rPr lang="en-US" sz="1800" dirty="0">
                <a:latin typeface="Courier New" panose="02070609020205020404" pitchFamily="49" charset="0"/>
              </a:rPr>
              <a:t> </a:t>
            </a:r>
            <a:endParaRPr lang="en-US" sz="1800" i="1" dirty="0">
              <a:latin typeface="Courier New" panose="02070609020205020404" pitchFamily="49" charset="0"/>
            </a:endParaRP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title"/>
          </p:nvPr>
        </p:nvSpPr>
        <p:spPr>
          <a:xfrm>
            <a:off x="2057400" y="417195"/>
            <a:ext cx="7735570" cy="573405"/>
          </a:xfrm>
        </p:spPr>
        <p:txBody>
          <a:bodyPr/>
          <a:lstStyle/>
          <a:p>
            <a:r>
              <a:rPr lang="zh-CN" altLang="en-US"/>
              <a:t>利用</a:t>
            </a:r>
            <a:r>
              <a:rPr lang="en-US" altLang="zh-CN"/>
              <a:t>gdb</a:t>
            </a:r>
            <a:r>
              <a:rPr lang="zh-CN" altLang="en-US"/>
              <a:t>反汇编二进制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21113" y="4195763"/>
            <a:ext cx="6300787" cy="2249487"/>
          </a:xfrm>
        </p:spPr>
        <p:txBody>
          <a:bodyPr/>
          <a:lstStyle/>
          <a:p>
            <a:r>
              <a:rPr lang="en-US" dirty="0"/>
              <a:t>Within </a:t>
            </a:r>
            <a:r>
              <a:rPr lang="en-US" dirty="0" err="1"/>
              <a:t>gdb</a:t>
            </a:r>
            <a:r>
              <a:rPr lang="en-US" dirty="0"/>
              <a:t> Debugger</a:t>
            </a:r>
            <a:endParaRPr 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b="1" dirty="0" err="1">
                <a:latin typeface="Courier New" panose="02070609020205020404" pitchFamily="49" charset="0"/>
              </a:rPr>
              <a:t>gdb</a:t>
            </a:r>
            <a:r>
              <a:rPr lang="en-US" b="1" dirty="0">
                <a:latin typeface="Courier New" panose="02070609020205020404" pitchFamily="49" charset="0"/>
              </a:rPr>
              <a:t> sum</a:t>
            </a:r>
            <a:endParaRPr lang="en-US" b="1" dirty="0">
              <a:latin typeface="Courier New" panose="020706090202050204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609020205020404" pitchFamily="49" charset="0"/>
              </a:rPr>
              <a:t>disassemble </a:t>
            </a:r>
            <a:r>
              <a:rPr lang="en-US" b="1" dirty="0" err="1">
                <a:latin typeface="Courier New" panose="02070609020205020404" pitchFamily="49" charset="0"/>
              </a:rPr>
              <a:t>sumstore</a:t>
            </a:r>
            <a:endParaRPr lang="en-US" b="1" dirty="0">
              <a:latin typeface="Courier New" panose="02070609020205020404" pitchFamily="49" charset="0"/>
            </a:endParaRPr>
          </a:p>
          <a:p>
            <a:pPr lvl="1"/>
            <a:r>
              <a:rPr lang="en-US" dirty="0"/>
              <a:t>Disassemble procedure</a:t>
            </a:r>
            <a:endParaRPr 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b="1" dirty="0">
                <a:latin typeface="Courier New" panose="02070609020205020404" pitchFamily="49" charset="0"/>
              </a:rPr>
              <a:t>x/14xb </a:t>
            </a:r>
            <a:r>
              <a:rPr lang="en-US" b="1" dirty="0" err="1">
                <a:latin typeface="Courier New" panose="02070609020205020404" pitchFamily="49" charset="0"/>
              </a:rPr>
              <a:t>sumstore</a:t>
            </a:r>
            <a:endParaRPr lang="en-US" b="1" dirty="0">
              <a:latin typeface="Courier New" panose="02070609020205020404" pitchFamily="49" charset="0"/>
            </a:endParaRPr>
          </a:p>
          <a:p>
            <a:pPr lvl="1"/>
            <a:r>
              <a:rPr lang="en-US" dirty="0"/>
              <a:t>Examine the 14 bytes starting at </a:t>
            </a:r>
            <a:r>
              <a:rPr lang="en-US" dirty="0" err="1">
                <a:latin typeface="Courier New" panose="02070609020205020404" pitchFamily="49" charset="0"/>
              </a:rPr>
              <a:t>sumstore</a:t>
            </a:r>
            <a:endParaRPr lang="en-US" dirty="0">
              <a:latin typeface="Courier New" panose="020706090202050204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2209800" y="1066800"/>
            <a:ext cx="1308100" cy="41275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lIns="90487" tIns="44450" rIns="90487" bIns="44450"/>
          <a:lstStyle/>
          <a:p>
            <a:pPr marL="224155" indent="-224155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Object</a:t>
            </a: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  <a:p>
            <a:pPr marL="224155" indent="-224155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1828800" y="1524000"/>
            <a:ext cx="1828800" cy="42437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0x0400595: 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0x53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0x48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0x89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0xd3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0xe8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0xf2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0xff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0xff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0xff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0x48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0x89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0x03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0x5b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0xc3</a:t>
            </a:r>
            <a:endParaRPr lang="en-US" sz="1800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VS</a:t>
            </a:r>
            <a:r>
              <a:rPr lang="zh-CN" altLang="en-US"/>
              <a:t>中查看</a:t>
            </a:r>
            <a:r>
              <a:rPr lang="zh-CN" altLang="en-US"/>
              <a:t>反汇编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05000" y="5715000"/>
            <a:ext cx="457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dirty="0" smtClean="0">
                <a:latin typeface="Calibri" pitchFamily="34" charset="0"/>
              </a:rPr>
              <a:t>https://learn.microsoft.com/zh-cn/visualstudio/debugger/how-to-use-the-disassembly-window?view=vs-2022</a:t>
            </a:r>
            <a:endParaRPr lang="zh-CN" altLang="en-US" sz="1800" dirty="0" smtClean="0">
              <a:latin typeface="Calibri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91200" y="762000"/>
            <a:ext cx="4927600" cy="50622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69912"/>
            <a:ext cx="7150100" cy="573088"/>
          </a:xfrm>
        </p:spPr>
        <p:txBody>
          <a:bodyPr/>
          <a:lstStyle/>
          <a:p>
            <a:r>
              <a:rPr lang="en-US"/>
              <a:t>What Can be Disassembled?</a:t>
            </a:r>
            <a:endParaRPr lang="en-US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4513" y="5551488"/>
            <a:ext cx="8624887" cy="1306512"/>
          </a:xfrm>
        </p:spPr>
        <p:txBody>
          <a:bodyPr/>
          <a:lstStyle/>
          <a:p>
            <a:r>
              <a:rPr lang="en-US" sz="2000" dirty="0"/>
              <a:t>Anything that can be interpreted as executable code</a:t>
            </a:r>
            <a:endParaRPr lang="en-US" sz="2000" dirty="0"/>
          </a:p>
          <a:p>
            <a:r>
              <a:rPr lang="en-US" sz="2000" dirty="0" err="1"/>
              <a:t>Disassembler</a:t>
            </a:r>
            <a:r>
              <a:rPr lang="en-US" sz="2000" dirty="0"/>
              <a:t> examines bytes and reconstructs assembly source</a:t>
            </a:r>
            <a:endParaRPr lang="en-US" sz="2000" dirty="0"/>
          </a:p>
          <a:p>
            <a:r>
              <a:rPr lang="zh-CN" altLang="en-US" sz="2000" dirty="0">
                <a:solidFill>
                  <a:srgbClr val="00B050"/>
                </a:solidFill>
              </a:rPr>
              <a:t>你知道的反汇编工具（二进制分析）？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2057400" y="1585912"/>
            <a:ext cx="8153400" cy="368998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% </a:t>
            </a:r>
            <a:r>
              <a:rPr lang="en-US" sz="1800" dirty="0" err="1">
                <a:latin typeface="Courier New" panose="02070609020205020404" pitchFamily="49" charset="0"/>
              </a:rPr>
              <a:t>objdump</a:t>
            </a:r>
            <a:r>
              <a:rPr lang="en-US" sz="1800" dirty="0">
                <a:latin typeface="Courier New" panose="02070609020205020404" pitchFamily="49" charset="0"/>
              </a:rPr>
              <a:t> -</a:t>
            </a:r>
            <a:r>
              <a:rPr lang="en-US" sz="1800" dirty="0" err="1">
                <a:latin typeface="Courier New" panose="02070609020205020404" pitchFamily="49" charset="0"/>
              </a:rPr>
              <a:t>d</a:t>
            </a:r>
            <a:r>
              <a:rPr lang="en-US" sz="1800" dirty="0">
                <a:latin typeface="Courier New" panose="02070609020205020404" pitchFamily="49" charset="0"/>
              </a:rPr>
              <a:t> WINWORD.EXE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WINWORD.EXE:   file format pei-i386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No symbols in "WINWORD.EXE".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Disassembly of section .text: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30001000 &lt;.text&gt;: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30001000:  55             push   %</a:t>
            </a:r>
            <a:r>
              <a:rPr lang="en-US" sz="1800" dirty="0" err="1">
                <a:latin typeface="Courier New" panose="02070609020205020404" pitchFamily="49" charset="0"/>
              </a:rPr>
              <a:t>ebp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30001001:  8b </a:t>
            </a:r>
            <a:r>
              <a:rPr lang="en-US" sz="1800" dirty="0" err="1">
                <a:latin typeface="Courier New" panose="02070609020205020404" pitchFamily="49" charset="0"/>
              </a:rPr>
              <a:t>ec</a:t>
            </a:r>
            <a:r>
              <a:rPr lang="en-US" sz="1800" dirty="0">
                <a:latin typeface="Courier New" panose="02070609020205020404" pitchFamily="49" charset="0"/>
              </a:rPr>
              <a:t>          </a:t>
            </a:r>
            <a:r>
              <a:rPr lang="en-US" sz="1800" dirty="0" err="1">
                <a:latin typeface="Courier New" panose="02070609020205020404" pitchFamily="49" charset="0"/>
              </a:rPr>
              <a:t>mov</a:t>
            </a:r>
            <a:r>
              <a:rPr lang="en-US" sz="1800" dirty="0">
                <a:latin typeface="Courier New" panose="02070609020205020404" pitchFamily="49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</a:rPr>
              <a:t>esp,%ebp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30001003:  6a ff          push   $0xffffffff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30001005:  68 90 10 00 30 push   $0x30001090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3000100a:  68 91 dc 4c 30 push   $0x304cdc91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3657600" y="3858425"/>
            <a:ext cx="5334000" cy="13716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Reverse engineering forbidden by</a:t>
            </a:r>
            <a:endParaRPr lang="en-US" dirty="0">
              <a:solidFill>
                <a:srgbClr val="FF0000"/>
              </a:solidFill>
              <a:latin typeface="Calibri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Microsoft End User License Agreement</a:t>
            </a:r>
            <a:endParaRPr lang="en-US" dirty="0">
              <a:solidFill>
                <a:srgbClr val="FF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Assembly Basics: Registers, operands, move</a:t>
            </a:r>
            <a:r>
              <a:rPr lang="zh-CN" altLang="en-US" dirty="0">
                <a:ea typeface="SimSun" charset="0"/>
              </a:rPr>
              <a:t>（汇编入门：寄存器、操作数、</a:t>
            </a:r>
            <a:r>
              <a:rPr lang="en-US" altLang="zh-CN" dirty="0">
                <a:ea typeface="SimSun" charset="0"/>
              </a:rPr>
              <a:t>move</a:t>
            </a:r>
            <a:r>
              <a:rPr lang="zh-CN" altLang="en-US" dirty="0">
                <a:ea typeface="SimSun" charset="0"/>
              </a:rPr>
              <a:t>指令）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/>
          <p:nvPr/>
        </p:nvSpPr>
        <p:spPr bwMode="auto">
          <a:xfrm>
            <a:off x="2286000" y="4800600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%rsp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x86-64 Integer Registers</a:t>
            </a: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842770" y="6019800"/>
            <a:ext cx="8258175" cy="445135"/>
          </a:xfrm>
        </p:spPr>
        <p:txBody>
          <a:bodyPr/>
          <a:lstStyle/>
          <a:p>
            <a:pPr lvl="1"/>
            <a:r>
              <a:rPr lang="en-US" dirty="0"/>
              <a:t>Can reference low-order 4 bytes (also low-order 1 &amp; 2 bytes)</a:t>
            </a:r>
            <a:endParaRPr lang="en-US" dirty="0"/>
          </a:p>
        </p:txBody>
      </p:sp>
      <p:sp>
        <p:nvSpPr>
          <p:cNvPr id="27654" name="Rectangle 6"/>
          <p:cNvSpPr/>
          <p:nvPr/>
        </p:nvSpPr>
        <p:spPr bwMode="auto">
          <a:xfrm>
            <a:off x="4076700" y="1181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%eax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55" name="Rectangle 7"/>
          <p:cNvSpPr/>
          <p:nvPr/>
        </p:nvSpPr>
        <p:spPr bwMode="auto">
          <a:xfrm>
            <a:off x="4076700" y="1790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%ebx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56" name="Rectangle 8"/>
          <p:cNvSpPr/>
          <p:nvPr/>
        </p:nvSpPr>
        <p:spPr bwMode="auto">
          <a:xfrm>
            <a:off x="4076700" y="2400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%ecx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57" name="Rectangle 9"/>
          <p:cNvSpPr/>
          <p:nvPr/>
        </p:nvSpPr>
        <p:spPr bwMode="auto">
          <a:xfrm>
            <a:off x="4076700" y="30099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%edx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58" name="Rectangle 10"/>
          <p:cNvSpPr/>
          <p:nvPr/>
        </p:nvSpPr>
        <p:spPr bwMode="auto">
          <a:xfrm>
            <a:off x="4076700" y="36195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%esi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59" name="Rectangle 11"/>
          <p:cNvSpPr/>
          <p:nvPr/>
        </p:nvSpPr>
        <p:spPr bwMode="auto">
          <a:xfrm>
            <a:off x="4076700" y="4229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%edi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0" name="Rectangle 12"/>
          <p:cNvSpPr/>
          <p:nvPr/>
        </p:nvSpPr>
        <p:spPr bwMode="auto">
          <a:xfrm>
            <a:off x="4076700" y="4838700"/>
            <a:ext cx="1752600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%esp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1" name="Rectangle 13"/>
          <p:cNvSpPr/>
          <p:nvPr/>
        </p:nvSpPr>
        <p:spPr bwMode="auto">
          <a:xfrm>
            <a:off x="4076700" y="54356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%ebp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2" name="Rectangle 14"/>
          <p:cNvSpPr/>
          <p:nvPr/>
        </p:nvSpPr>
        <p:spPr bwMode="auto">
          <a:xfrm>
            <a:off x="8039100" y="1181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%r8d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3" name="Rectangle 15"/>
          <p:cNvSpPr/>
          <p:nvPr/>
        </p:nvSpPr>
        <p:spPr bwMode="auto">
          <a:xfrm>
            <a:off x="8039100" y="1790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%r9d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4" name="Rectangle 16"/>
          <p:cNvSpPr/>
          <p:nvPr/>
        </p:nvSpPr>
        <p:spPr bwMode="auto">
          <a:xfrm>
            <a:off x="8039100" y="2400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%r10d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5" name="Rectangle 17"/>
          <p:cNvSpPr/>
          <p:nvPr/>
        </p:nvSpPr>
        <p:spPr bwMode="auto">
          <a:xfrm>
            <a:off x="8039100" y="30099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%r11d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6" name="Rectangle 18"/>
          <p:cNvSpPr/>
          <p:nvPr/>
        </p:nvSpPr>
        <p:spPr bwMode="auto">
          <a:xfrm>
            <a:off x="8039100" y="36195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%r12d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7" name="Rectangle 19"/>
          <p:cNvSpPr/>
          <p:nvPr/>
        </p:nvSpPr>
        <p:spPr bwMode="auto">
          <a:xfrm>
            <a:off x="8039100" y="4229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%r13d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8" name="Rectangle 20"/>
          <p:cNvSpPr/>
          <p:nvPr/>
        </p:nvSpPr>
        <p:spPr bwMode="auto">
          <a:xfrm>
            <a:off x="8039100" y="4838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%r14d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69" name="Rectangle 21"/>
          <p:cNvSpPr/>
          <p:nvPr/>
        </p:nvSpPr>
        <p:spPr bwMode="auto">
          <a:xfrm>
            <a:off x="8039100" y="5448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%r15d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0" name="Rectangle 22"/>
          <p:cNvSpPr/>
          <p:nvPr/>
        </p:nvSpPr>
        <p:spPr bwMode="auto">
          <a:xfrm>
            <a:off x="62484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%r8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1" name="Rectangle 23"/>
          <p:cNvSpPr/>
          <p:nvPr/>
        </p:nvSpPr>
        <p:spPr bwMode="auto">
          <a:xfrm>
            <a:off x="62484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%r9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2" name="Rectangle 24"/>
          <p:cNvSpPr/>
          <p:nvPr/>
        </p:nvSpPr>
        <p:spPr bwMode="auto">
          <a:xfrm>
            <a:off x="62484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%r10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3" name="Rectangle 25"/>
          <p:cNvSpPr/>
          <p:nvPr/>
        </p:nvSpPr>
        <p:spPr bwMode="auto">
          <a:xfrm>
            <a:off x="62484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%r11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4" name="Rectangle 26"/>
          <p:cNvSpPr/>
          <p:nvPr/>
        </p:nvSpPr>
        <p:spPr bwMode="auto">
          <a:xfrm>
            <a:off x="62484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%r12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5" name="Rectangle 27"/>
          <p:cNvSpPr/>
          <p:nvPr/>
        </p:nvSpPr>
        <p:spPr bwMode="auto">
          <a:xfrm>
            <a:off x="62484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%r13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6" name="Rectangle 28"/>
          <p:cNvSpPr/>
          <p:nvPr/>
        </p:nvSpPr>
        <p:spPr bwMode="auto">
          <a:xfrm>
            <a:off x="6248400" y="4800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%r14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7" name="Rectangle 29"/>
          <p:cNvSpPr/>
          <p:nvPr/>
        </p:nvSpPr>
        <p:spPr bwMode="auto">
          <a:xfrm>
            <a:off x="62484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%r15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8" name="Rectangle 30"/>
          <p:cNvSpPr/>
          <p:nvPr/>
        </p:nvSpPr>
        <p:spPr bwMode="auto">
          <a:xfrm>
            <a:off x="22860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79" name="Rectangle 31"/>
          <p:cNvSpPr/>
          <p:nvPr/>
        </p:nvSpPr>
        <p:spPr bwMode="auto">
          <a:xfrm>
            <a:off x="22860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80" name="Rectangle 32"/>
          <p:cNvSpPr/>
          <p:nvPr/>
        </p:nvSpPr>
        <p:spPr bwMode="auto">
          <a:xfrm>
            <a:off x="22860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%rcx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81" name="Rectangle 33"/>
          <p:cNvSpPr/>
          <p:nvPr/>
        </p:nvSpPr>
        <p:spPr bwMode="auto">
          <a:xfrm>
            <a:off x="22860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%rdx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82" name="Rectangle 34"/>
          <p:cNvSpPr/>
          <p:nvPr/>
        </p:nvSpPr>
        <p:spPr bwMode="auto">
          <a:xfrm>
            <a:off x="22860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%rsi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83" name="Rectangle 35"/>
          <p:cNvSpPr/>
          <p:nvPr/>
        </p:nvSpPr>
        <p:spPr bwMode="auto">
          <a:xfrm>
            <a:off x="22860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%rdi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684" name="Rectangle 36"/>
          <p:cNvSpPr/>
          <p:nvPr/>
        </p:nvSpPr>
        <p:spPr bwMode="auto">
          <a:xfrm>
            <a:off x="22860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%rbp</a:t>
            </a:r>
            <a:endParaRPr lang="en-US" sz="24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History: IA32 Registers</a:t>
            </a:r>
            <a:endParaRPr lang="en-US" dirty="0"/>
          </a:p>
        </p:txBody>
      </p:sp>
      <p:grpSp>
        <p:nvGrpSpPr>
          <p:cNvPr id="4" name="Group 12"/>
          <p:cNvGrpSpPr/>
          <p:nvPr/>
        </p:nvGrpSpPr>
        <p:grpSpPr bwMode="auto">
          <a:xfrm>
            <a:off x="2819400" y="1333501"/>
            <a:ext cx="5715000" cy="4533902"/>
            <a:chOff x="3984" y="1008"/>
            <a:chExt cx="1584" cy="225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984" y="100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eax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984" y="1296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ecx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984" y="1584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edx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984" y="1872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anose="02070609020205020404" pitchFamily="49" charset="0"/>
                </a:rPr>
                <a:t>%ebx</a:t>
              </a:r>
              <a:endParaRPr lang="en-US">
                <a:latin typeface="Courier New" panose="02070609020205020404" pitchFamily="49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984" y="2160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anose="02070609020205020404" pitchFamily="49" charset="0"/>
                </a:rPr>
                <a:t>%esi</a:t>
              </a:r>
              <a:endParaRPr lang="en-US">
                <a:latin typeface="Courier New" panose="02070609020205020404" pitchFamily="49" charset="0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984" y="244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anose="02070609020205020404" pitchFamily="49" charset="0"/>
                </a:rPr>
                <a:t>%edi</a:t>
              </a:r>
              <a:endParaRPr lang="en-US">
                <a:latin typeface="Courier New" panose="02070609020205020404" pitchFamily="49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984" y="2736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anose="02070609020205020404" pitchFamily="49" charset="0"/>
                </a:rPr>
                <a:t>%esp</a:t>
              </a:r>
              <a:endParaRPr lang="en-US">
                <a:latin typeface="Courier New" panose="02070609020205020404" pitchFamily="49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984" y="3024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anose="02070609020205020404" pitchFamily="49" charset="0"/>
                </a:rPr>
                <a:t>%ebp</a:t>
              </a:r>
              <a:endParaRPr lang="en-US">
                <a:latin typeface="Courier New" panose="02070609020205020404" pitchFamily="49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708326" y="1404970"/>
            <a:ext cx="2819400" cy="343694"/>
            <a:chOff x="4495800" y="1404970"/>
            <a:chExt cx="2819400" cy="343694"/>
          </a:xfrm>
        </p:grpSpPr>
        <p:sp>
          <p:nvSpPr>
            <p:cNvPr id="13" name="Rectangle 12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706020202030204" pitchFamily="34" charset="0"/>
              </a:endParaRPr>
            </a:p>
          </p:txBody>
        </p:sp>
        <p:cxnSp>
          <p:nvCxnSpPr>
            <p:cNvPr id="19" name="Straight Connector 18"/>
            <p:cNvCxnSpPr>
              <a:stCxn id="13" idx="0"/>
              <a:endCxn id="13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3" name="Group 22"/>
          <p:cNvGrpSpPr/>
          <p:nvPr/>
        </p:nvGrpSpPr>
        <p:grpSpPr>
          <a:xfrm>
            <a:off x="5708326" y="1989024"/>
            <a:ext cx="2819400" cy="343694"/>
            <a:chOff x="4495800" y="1404970"/>
            <a:chExt cx="2819400" cy="34369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706020202030204" pitchFamily="34" charset="0"/>
              </a:endParaRPr>
            </a:p>
          </p:txBody>
        </p:sp>
        <p:cxnSp>
          <p:nvCxnSpPr>
            <p:cNvPr id="25" name="Straight Connector 24"/>
            <p:cNvCxnSpPr>
              <a:stCxn id="24" idx="0"/>
              <a:endCxn id="24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/>
          <p:cNvGrpSpPr/>
          <p:nvPr/>
        </p:nvGrpSpPr>
        <p:grpSpPr>
          <a:xfrm>
            <a:off x="5708326" y="2558580"/>
            <a:ext cx="2819400" cy="343694"/>
            <a:chOff x="4495800" y="1404970"/>
            <a:chExt cx="2819400" cy="343694"/>
          </a:xfrm>
        </p:grpSpPr>
        <p:sp>
          <p:nvSpPr>
            <p:cNvPr id="27" name="Rectangle 26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706020202030204" pitchFamily="34" charset="0"/>
              </a:endParaRPr>
            </a:p>
          </p:txBody>
        </p:sp>
        <p:cxnSp>
          <p:nvCxnSpPr>
            <p:cNvPr id="28" name="Straight Connector 27"/>
            <p:cNvCxnSpPr>
              <a:stCxn id="27" idx="0"/>
              <a:endCxn id="27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5708326" y="3141484"/>
            <a:ext cx="2819400" cy="343694"/>
            <a:chOff x="4495800" y="1404970"/>
            <a:chExt cx="2819400" cy="343694"/>
          </a:xfrm>
        </p:grpSpPr>
        <p:sp>
          <p:nvSpPr>
            <p:cNvPr id="30" name="Rectangle 29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706020202030204" pitchFamily="34" charset="0"/>
              </a:endParaRPr>
            </a:p>
          </p:txBody>
        </p:sp>
        <p:cxnSp>
          <p:nvCxnSpPr>
            <p:cNvPr id="31" name="Straight Connector 30"/>
            <p:cNvCxnSpPr>
              <a:stCxn id="30" idx="0"/>
              <a:endCxn id="30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32"/>
          <p:cNvSpPr/>
          <p:nvPr/>
        </p:nvSpPr>
        <p:spPr bwMode="auto">
          <a:xfrm>
            <a:off x="5708326" y="3717666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5708326" y="4301720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5708326" y="4871276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5708326" y="5454180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5105400" y="1391622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%ax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105400" y="1975438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cx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105400" y="2541296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dx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05400" y="3131786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bx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05400" y="3708016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si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105400" y="4287222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di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105400" y="4857690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%sp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105400" y="5443570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bp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096000" y="1391622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%ah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096000" y="1975438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ch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96000" y="2541296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%dh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096000" y="3131786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bh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467600" y="1391622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%al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467600" y="1975438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cl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467600" y="2541296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%dl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67600" y="3131786"/>
            <a:ext cx="5943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</a:rPr>
              <a:t>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</a:rPr>
              <a:t>bl</a:t>
            </a:r>
            <a:endParaRPr lang="en-US" sz="1800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3" name="AutoShape 7"/>
          <p:cNvSpPr/>
          <p:nvPr/>
        </p:nvSpPr>
        <p:spPr bwMode="auto">
          <a:xfrm rot="5400000">
            <a:off x="6975983" y="4671257"/>
            <a:ext cx="279400" cy="2824085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791200" y="6248400"/>
            <a:ext cx="2660650" cy="52260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16-bit virtual registers</a:t>
            </a:r>
            <a:endParaRPr lang="en-US" sz="1800" dirty="0">
              <a:latin typeface="Calibri" pitchFamily="34" charset="0"/>
            </a:endParaRPr>
          </a:p>
          <a:p>
            <a:pPr algn="ctr"/>
            <a:r>
              <a:rPr lang="en-US" sz="1800" dirty="0">
                <a:latin typeface="Calibri" pitchFamily="34" charset="0"/>
              </a:rPr>
              <a:t>(backwards compatibility)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75" name="AutoShape 7"/>
          <p:cNvSpPr/>
          <p:nvPr/>
        </p:nvSpPr>
        <p:spPr bwMode="auto">
          <a:xfrm rot="10800000">
            <a:off x="2438400" y="1333500"/>
            <a:ext cx="279400" cy="337631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 rot="16200000">
            <a:off x="1302264" y="2812536"/>
            <a:ext cx="1960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general purpose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079159" y="1391622"/>
            <a:ext cx="1249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accumulate</a:t>
            </a:r>
            <a:endParaRPr lang="en-US" sz="1400" i="1" dirty="0">
              <a:solidFill>
                <a:schemeClr val="bg1">
                  <a:lumMod val="50000"/>
                </a:schemeClr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079159" y="1975438"/>
            <a:ext cx="92964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counter</a:t>
            </a:r>
            <a:endParaRPr lang="en-US" sz="1400" i="1" dirty="0">
              <a:solidFill>
                <a:schemeClr val="bg1">
                  <a:lumMod val="50000"/>
                </a:schemeClr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079159" y="2541296"/>
            <a:ext cx="60960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data</a:t>
            </a:r>
            <a:endParaRPr lang="en-US" sz="1400" i="1" dirty="0">
              <a:solidFill>
                <a:schemeClr val="bg1">
                  <a:lumMod val="50000"/>
                </a:schemeClr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079159" y="3131786"/>
            <a:ext cx="60960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base</a:t>
            </a:r>
            <a:endParaRPr lang="en-US" sz="1400" i="1" dirty="0">
              <a:solidFill>
                <a:schemeClr val="bg1">
                  <a:lumMod val="50000"/>
                </a:schemeClr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079159" y="3626836"/>
            <a:ext cx="9296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source </a:t>
            </a:r>
            <a:endParaRPr lang="en-US" sz="1400" i="1" dirty="0">
              <a:solidFill>
                <a:schemeClr val="bg1">
                  <a:lumMod val="50000"/>
                </a:schemeClr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index</a:t>
            </a:r>
            <a:endParaRPr lang="en-US" sz="1400" i="1" dirty="0">
              <a:solidFill>
                <a:schemeClr val="bg1">
                  <a:lumMod val="50000"/>
                </a:schemeClr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079159" y="4204648"/>
            <a:ext cx="13563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destination</a:t>
            </a:r>
            <a:endParaRPr lang="en-US" sz="1400" i="1" dirty="0">
              <a:solidFill>
                <a:schemeClr val="bg1">
                  <a:lumMod val="50000"/>
                </a:schemeClr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index</a:t>
            </a:r>
            <a:endParaRPr lang="en-US" sz="1400" i="1" dirty="0">
              <a:solidFill>
                <a:schemeClr val="bg1">
                  <a:lumMod val="50000"/>
                </a:schemeClr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079159" y="4701317"/>
            <a:ext cx="11430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anose="02070609020205020404" pitchFamily="49" charset="0"/>
                <a:cs typeface="Courier New" panose="02070609020205020404" pitchFamily="49" charset="0"/>
              </a:rPr>
              <a:t>stack </a:t>
            </a:r>
            <a:endParaRPr lang="en-US" sz="1800" i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800" i="1" dirty="0">
                <a:latin typeface="Courier New" panose="02070609020205020404" pitchFamily="49" charset="0"/>
                <a:cs typeface="Courier New" panose="02070609020205020404" pitchFamily="49" charset="0"/>
              </a:rPr>
              <a:t>pointer</a:t>
            </a:r>
            <a:endParaRPr lang="en-US" sz="1800" i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079159" y="5313528"/>
            <a:ext cx="11430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anose="02070609020205020404" pitchFamily="49" charset="0"/>
                <a:cs typeface="Courier New" panose="02070609020205020404" pitchFamily="49" charset="0"/>
              </a:rPr>
              <a:t>base</a:t>
            </a:r>
            <a:endParaRPr lang="en-US" sz="1800" i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1800" i="1" dirty="0">
                <a:latin typeface="Courier New" panose="02070609020205020404" pitchFamily="49" charset="0"/>
                <a:cs typeface="Courier New" panose="02070609020205020404" pitchFamily="49" charset="0"/>
              </a:rPr>
              <a:t>pointer</a:t>
            </a:r>
            <a:endParaRPr lang="en-US" sz="1800" i="1" dirty="0"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715859" y="649069"/>
            <a:ext cx="20542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Origin</a:t>
            </a:r>
            <a:endParaRPr lang="en-US" sz="1800" dirty="0">
              <a:latin typeface="Calibri" pitchFamily="34" charset="0"/>
            </a:endParaRPr>
          </a:p>
          <a:p>
            <a:pPr algn="ctr"/>
            <a:r>
              <a:rPr lang="en-US" sz="1800" dirty="0">
                <a:latin typeface="Calibri" pitchFamily="34" charset="0"/>
              </a:rPr>
              <a:t>(mostly obsolete)</a:t>
            </a:r>
            <a:endParaRPr lang="en-US" sz="1800" dirty="0">
              <a:latin typeface="Calibri" pitchFamily="34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842770" y="6019800"/>
            <a:ext cx="8258175" cy="343535"/>
          </a:xfrm>
        </p:spPr>
        <p:txBody>
          <a:bodyPr/>
          <a:lstStyle/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Can reference low-order 4 bytes (also low-order 1 &amp; 2 bytes)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6" grpId="0" bldLvl="0" animBg="1"/>
      <p:bldP spid="39" grpId="0" bldLvl="0" animBg="1"/>
      <p:bldP spid="42" grpId="0" bldLvl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9" grpId="0"/>
      <p:bldP spid="70" grpId="0"/>
      <p:bldP spid="71" grpId="0"/>
      <p:bldP spid="72" grpId="0"/>
      <p:bldP spid="73" grpId="0" bldLvl="0" animBg="1"/>
      <p:bldP spid="74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扩展</a:t>
            </a:r>
            <a:r>
              <a:rPr lang="en-US"/>
              <a:t>: X86-64 vs RISC-V</a:t>
            </a:r>
            <a:endParaRPr lang="en-US"/>
          </a:p>
        </p:txBody>
      </p:sp>
      <p:pic>
        <p:nvPicPr>
          <p:cNvPr id="5" name="Picture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04820" y="2291715"/>
            <a:ext cx="5727700" cy="3111500"/>
          </a:xfrm>
          <a:prstGeom prst="rect">
            <a:avLst/>
          </a:prstGeom>
        </p:spPr>
      </p:pic>
      <p:sp>
        <p:nvSpPr>
          <p:cNvPr id="3" name="Cloud Callout 2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457200"/>
            <a:ext cx="6908165" cy="573405"/>
          </a:xfrm>
        </p:spPr>
        <p:txBody>
          <a:bodyPr/>
          <a:lstStyle/>
          <a:p>
            <a:r>
              <a:rPr lang="zh-CN" altLang="en-US" dirty="0"/>
              <a:t>传送</a:t>
            </a:r>
            <a:r>
              <a:rPr lang="zh-CN" altLang="en-US" dirty="0"/>
              <a:t>数据</a:t>
            </a:r>
            <a:endParaRPr lang="zh-CN" altLang="en-US" dirty="0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4513" y="1066483"/>
            <a:ext cx="8396287" cy="5224462"/>
          </a:xfrm>
        </p:spPr>
        <p:txBody>
          <a:bodyPr/>
          <a:lstStyle/>
          <a:p>
            <a:r>
              <a:rPr lang="en-US" dirty="0"/>
              <a:t>Moving Data</a:t>
            </a:r>
            <a:r>
              <a:rPr lang="zh-CN" altLang="en-US" dirty="0">
                <a:ea typeface="SimSun" charset="0"/>
                <a:sym typeface="+mn-ea"/>
              </a:rPr>
              <a:t>（</a:t>
            </a:r>
            <a:r>
              <a:rPr lang="zh-CN" altLang="en-US" dirty="0">
                <a:ea typeface="SimSun" charset="0"/>
                <a:sym typeface="+mn-ea"/>
              </a:rPr>
              <a:t>传送数据）</a:t>
            </a:r>
            <a:endParaRPr lang="zh-CN" altLang="en-US" dirty="0">
              <a:ea typeface="SimSun" charset="0"/>
            </a:endParaRPr>
          </a:p>
          <a:p>
            <a:pPr lvl="1"/>
            <a:r>
              <a:rPr lang="en-US" b="1" dirty="0" err="1">
                <a:latin typeface="Courier New" panose="02070609020205020404" pitchFamily="49" charset="0"/>
              </a:rPr>
              <a:t>movq</a:t>
            </a:r>
            <a:r>
              <a:rPr lang="en-US" b="1" dirty="0"/>
              <a:t> </a:t>
            </a:r>
            <a:r>
              <a:rPr lang="en-US" b="1" i="1" dirty="0"/>
              <a:t>Source</a:t>
            </a:r>
            <a:r>
              <a:rPr lang="en-US" b="1" dirty="0"/>
              <a:t>, </a:t>
            </a:r>
            <a:r>
              <a:rPr lang="en-US" b="1" i="1" dirty="0" err="1"/>
              <a:t>Dest</a:t>
            </a:r>
            <a:r>
              <a:rPr lang="en-US" b="1" dirty="0"/>
              <a:t>: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Operand Types </a:t>
            </a:r>
            <a:r>
              <a:rPr lang="zh-CN" altLang="en-US" dirty="0">
                <a:ea typeface="SimSun" charset="0"/>
              </a:rPr>
              <a:t>（操作数的类型）</a:t>
            </a:r>
            <a:endParaRPr lang="en-US" dirty="0"/>
          </a:p>
          <a:p>
            <a:pPr lvl="1"/>
            <a:r>
              <a:rPr lang="zh-CN" altLang="en-US" b="1" i="1" dirty="0">
                <a:solidFill>
                  <a:srgbClr val="C00000"/>
                </a:solidFill>
              </a:rPr>
              <a:t>立即数</a:t>
            </a:r>
            <a:r>
              <a:rPr lang="en-US" b="1" i="1" dirty="0">
                <a:solidFill>
                  <a:srgbClr val="C00000"/>
                </a:solidFill>
              </a:rPr>
              <a:t>:</a:t>
            </a:r>
            <a:r>
              <a:rPr lang="en-US" dirty="0"/>
              <a:t> Constant integer data</a:t>
            </a:r>
            <a:endParaRPr lang="en-US" dirty="0"/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anose="02070609020205020404" pitchFamily="49" charset="0"/>
              </a:rPr>
              <a:t>$0x400</a:t>
            </a:r>
            <a:r>
              <a:rPr lang="en-US" b="1" dirty="0"/>
              <a:t>, </a:t>
            </a:r>
            <a:r>
              <a:rPr lang="en-US" b="1" dirty="0">
                <a:latin typeface="Courier New" panose="02070609020205020404" pitchFamily="49" charset="0"/>
              </a:rPr>
              <a:t>$-533</a:t>
            </a:r>
            <a:endParaRPr lang="en-US" dirty="0"/>
          </a:p>
          <a:p>
            <a:pPr lvl="2"/>
            <a:r>
              <a:rPr lang="en-US" dirty="0"/>
              <a:t>Like C constant, but prefixed with </a:t>
            </a:r>
            <a:r>
              <a:rPr lang="en-US" b="1" dirty="0">
                <a:latin typeface="Courier New" panose="02070609020205020404" pitchFamily="49" charset="0"/>
              </a:rPr>
              <a:t>‘$’</a:t>
            </a:r>
            <a:endParaRPr lang="en-US" b="1" dirty="0">
              <a:latin typeface="Courier New" panose="02070609020205020404" pitchFamily="49" charset="0"/>
            </a:endParaRPr>
          </a:p>
          <a:p>
            <a:pPr lvl="2"/>
            <a:r>
              <a:rPr lang="en-US" dirty="0"/>
              <a:t>Encoded with 1, 2, or 4 bytes</a:t>
            </a:r>
            <a:endParaRPr lang="en-US" dirty="0"/>
          </a:p>
          <a:p>
            <a:pPr lvl="1"/>
            <a:r>
              <a:rPr lang="zh-CN" altLang="en-US" b="1" i="1" dirty="0">
                <a:solidFill>
                  <a:srgbClr val="C00000"/>
                </a:solidFill>
              </a:rPr>
              <a:t>寄存器</a:t>
            </a:r>
            <a:r>
              <a:rPr lang="en-US" b="1" i="1" dirty="0">
                <a:solidFill>
                  <a:srgbClr val="C00000"/>
                </a:solidFill>
              </a:rPr>
              <a:t>: </a:t>
            </a:r>
            <a:r>
              <a:rPr lang="en-US" dirty="0"/>
              <a:t>16</a:t>
            </a:r>
            <a:r>
              <a:rPr lang="zh-CN" altLang="en-US" dirty="0"/>
              <a:t>个</a:t>
            </a:r>
            <a:r>
              <a:rPr lang="zh-CN" altLang="en-US" dirty="0"/>
              <a:t>通用寄存器之一</a:t>
            </a:r>
            <a:endParaRPr lang="en-US" dirty="0"/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anose="02070609020205020404" pitchFamily="49" charset="0"/>
              </a:rPr>
              <a:t>%</a:t>
            </a:r>
            <a:r>
              <a:rPr lang="en-US" b="1" dirty="0" err="1">
                <a:latin typeface="Courier New" panose="02070609020205020404" pitchFamily="49" charset="0"/>
              </a:rPr>
              <a:t>rax</a:t>
            </a:r>
            <a:r>
              <a:rPr lang="en-US" b="1" dirty="0">
                <a:latin typeface="Courier New" panose="02070609020205020404" pitchFamily="49" charset="0"/>
              </a:rPr>
              <a:t>, %r13</a:t>
            </a:r>
            <a:endParaRPr lang="en-US" b="1" dirty="0">
              <a:latin typeface="Courier New" panose="02070609020205020404" pitchFamily="49" charset="0"/>
            </a:endParaRPr>
          </a:p>
          <a:p>
            <a:pPr lvl="2"/>
            <a:r>
              <a:rPr lang="en-US" dirty="0"/>
              <a:t>But </a:t>
            </a:r>
            <a:r>
              <a:rPr lang="en-US" b="1" dirty="0">
                <a:latin typeface="Courier New" panose="02070609020205020404" pitchFamily="49" charset="0"/>
              </a:rPr>
              <a:t>%</a:t>
            </a:r>
            <a:r>
              <a:rPr lang="en-US" b="1" dirty="0" err="1">
                <a:latin typeface="Courier New" panose="02070609020205020404" pitchFamily="49" charset="0"/>
              </a:rPr>
              <a:t>rsp</a:t>
            </a:r>
            <a:r>
              <a:rPr lang="en-US" b="1" dirty="0">
                <a:latin typeface="Courier New" panose="02070609020205020404" pitchFamily="49" charset="0"/>
              </a:rPr>
              <a:t> </a:t>
            </a:r>
            <a:r>
              <a:rPr lang="en-US" dirty="0"/>
              <a:t>reserved for special use</a:t>
            </a:r>
            <a:endParaRPr lang="en-US" dirty="0"/>
          </a:p>
          <a:p>
            <a:pPr lvl="2"/>
            <a:r>
              <a:rPr lang="en-US" dirty="0"/>
              <a:t>Others have special uses for particular instructions</a:t>
            </a:r>
            <a:endParaRPr lang="en-US" dirty="0"/>
          </a:p>
          <a:p>
            <a:pPr lvl="1"/>
            <a:r>
              <a:rPr lang="zh-CN" altLang="en-US" b="1" i="1" dirty="0">
                <a:solidFill>
                  <a:srgbClr val="C00000"/>
                </a:solidFill>
              </a:rPr>
              <a:t>内存</a:t>
            </a:r>
            <a:r>
              <a:rPr lang="en-US" b="1" i="1" dirty="0">
                <a:solidFill>
                  <a:srgbClr val="C00000"/>
                </a:solidFill>
              </a:rPr>
              <a:t>:</a:t>
            </a:r>
            <a:r>
              <a:rPr lang="en-US" dirty="0"/>
              <a:t> </a:t>
            </a:r>
            <a:r>
              <a:rPr lang="zh-CN" altLang="en-US" dirty="0"/>
              <a:t>内存中（由寄存器指定的地址处）</a:t>
            </a:r>
            <a:r>
              <a:rPr lang="en-US" altLang="zh-CN" dirty="0"/>
              <a:t>8</a:t>
            </a:r>
            <a:r>
              <a:rPr lang="zh-CN" altLang="en-US" dirty="0"/>
              <a:t>个连续的字节</a:t>
            </a:r>
            <a:r>
              <a:rPr lang="en-US" dirty="0"/>
              <a:t> </a:t>
            </a:r>
            <a:endParaRPr lang="en-US" dirty="0"/>
          </a:p>
          <a:p>
            <a:pPr lvl="2"/>
            <a:r>
              <a:rPr lang="en-US" dirty="0"/>
              <a:t>Simplest example: </a:t>
            </a:r>
            <a:r>
              <a:rPr lang="en-US" b="1" dirty="0">
                <a:latin typeface="Courier New" panose="02070609020205020404" pitchFamily="49" charset="0"/>
              </a:rPr>
              <a:t>(%</a:t>
            </a:r>
            <a:r>
              <a:rPr lang="en-US" b="1" dirty="0" err="1">
                <a:latin typeface="Courier New" panose="02070609020205020404" pitchFamily="49" charset="0"/>
              </a:rPr>
              <a:t>rax</a:t>
            </a:r>
            <a:r>
              <a:rPr lang="en-US" b="1" dirty="0">
                <a:latin typeface="Courier New" panose="02070609020205020404" pitchFamily="49" charset="0"/>
              </a:rPr>
              <a:t>)</a:t>
            </a:r>
            <a:endParaRPr lang="en-US" b="1" dirty="0">
              <a:latin typeface="Courier New" panose="02070609020205020404" pitchFamily="49" charset="0"/>
            </a:endParaRPr>
          </a:p>
          <a:p>
            <a:pPr lvl="2"/>
            <a:r>
              <a:rPr lang="en-US" dirty="0"/>
              <a:t>Various other “address modes”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691416" y="609600"/>
            <a:ext cx="2519384" cy="4267200"/>
            <a:chOff x="6167416" y="609600"/>
            <a:chExt cx="2519384" cy="4267200"/>
          </a:xfrm>
        </p:grpSpPr>
        <p:sp>
          <p:nvSpPr>
            <p:cNvPr id="156676" name="Rectangle 4"/>
            <p:cNvSpPr>
              <a:spLocks noChangeArrowheads="1"/>
            </p:cNvSpPr>
            <p:nvPr/>
          </p:nvSpPr>
          <p:spPr bwMode="auto">
            <a:xfrm>
              <a:off x="6172200" y="609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rax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156677" name="Rectangle 5"/>
            <p:cNvSpPr>
              <a:spLocks noChangeArrowheads="1"/>
            </p:cNvSpPr>
            <p:nvPr/>
          </p:nvSpPr>
          <p:spPr bwMode="auto">
            <a:xfrm>
              <a:off x="6172200" y="1066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rcx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156678" name="Rectangle 6"/>
            <p:cNvSpPr>
              <a:spLocks noChangeArrowheads="1"/>
            </p:cNvSpPr>
            <p:nvPr/>
          </p:nvSpPr>
          <p:spPr bwMode="auto">
            <a:xfrm>
              <a:off x="6172200" y="1524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rdx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156679" name="Rectangle 7"/>
            <p:cNvSpPr>
              <a:spLocks noChangeArrowheads="1"/>
            </p:cNvSpPr>
            <p:nvPr/>
          </p:nvSpPr>
          <p:spPr bwMode="auto">
            <a:xfrm>
              <a:off x="6172200" y="19812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rbx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156680" name="Rectangle 8"/>
            <p:cNvSpPr>
              <a:spLocks noChangeArrowheads="1"/>
            </p:cNvSpPr>
            <p:nvPr/>
          </p:nvSpPr>
          <p:spPr bwMode="auto">
            <a:xfrm>
              <a:off x="6172200" y="24384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rsi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156681" name="Rectangle 9"/>
            <p:cNvSpPr>
              <a:spLocks noChangeArrowheads="1"/>
            </p:cNvSpPr>
            <p:nvPr/>
          </p:nvSpPr>
          <p:spPr bwMode="auto">
            <a:xfrm>
              <a:off x="6172200" y="2895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rdi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156682" name="Rectangle 10"/>
            <p:cNvSpPr>
              <a:spLocks noChangeArrowheads="1"/>
            </p:cNvSpPr>
            <p:nvPr/>
          </p:nvSpPr>
          <p:spPr bwMode="auto">
            <a:xfrm>
              <a:off x="6172200" y="3352800"/>
              <a:ext cx="2514600" cy="38100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rsp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156683" name="Rectangle 11"/>
            <p:cNvSpPr>
              <a:spLocks noChangeArrowheads="1"/>
            </p:cNvSpPr>
            <p:nvPr/>
          </p:nvSpPr>
          <p:spPr bwMode="auto">
            <a:xfrm>
              <a:off x="6172200" y="3810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rbp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6167416" y="4495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anose="02070609020205020404" pitchFamily="49" charset="0"/>
                </a:rPr>
                <a:t>%</a:t>
              </a:r>
              <a:r>
                <a:rPr lang="en-US" dirty="0" err="1">
                  <a:latin typeface="Courier New" panose="02070609020205020404" pitchFamily="49" charset="0"/>
                </a:rPr>
                <a:t>rN</a:t>
              </a:r>
              <a:endParaRPr lang="en-US" dirty="0">
                <a:latin typeface="Courier New" panose="020706090202050204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85800"/>
            <a:ext cx="7165975" cy="573088"/>
          </a:xfrm>
        </p:spPr>
        <p:txBody>
          <a:bodyPr/>
          <a:lstStyle/>
          <a:p>
            <a:r>
              <a:rPr lang="en-US">
                <a:latin typeface="Courier New" panose="02070609020205020404" pitchFamily="49" charset="0"/>
              </a:rPr>
              <a:t>movq</a:t>
            </a:r>
            <a:r>
              <a:rPr lang="en-US"/>
              <a:t> </a:t>
            </a:r>
            <a:r>
              <a:rPr lang="zh-CN" altLang="en-US"/>
              <a:t>指令允许的操作数</a:t>
            </a:r>
            <a:r>
              <a:rPr lang="zh-CN" altLang="en-US"/>
              <a:t>类型</a:t>
            </a:r>
            <a:endParaRPr lang="zh-CN" alt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5943600"/>
            <a:ext cx="8140700" cy="533400"/>
          </a:xfrm>
          <a:noFill/>
        </p:spPr>
        <p:txBody>
          <a:bodyPr lIns="0" tIns="0" rIns="0" bIns="0"/>
          <a:lstStyle/>
          <a:p>
            <a:pPr marL="0" indent="0" algn="ctr">
              <a:buNone/>
            </a:pPr>
            <a:r>
              <a:rPr lang="en-US" i="1">
                <a:solidFill>
                  <a:srgbClr val="C00000"/>
                </a:solidFill>
              </a:rPr>
              <a:t>Cannot do memory-memory transfer with a single instruction</a:t>
            </a:r>
            <a:endParaRPr lang="en-US" i="1">
              <a:solidFill>
                <a:srgbClr val="C00000"/>
              </a:solidFill>
            </a:endParaRP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1752600" y="3771900"/>
            <a:ext cx="91440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ourier New" panose="02070609020205020404" pitchFamily="49" charset="0"/>
              </a:rPr>
              <a:t>movq</a:t>
            </a:r>
            <a:endParaRPr lang="en-US" sz="2400" dirty="0">
              <a:latin typeface="Courier New" panose="02070609020205020404" pitchFamily="49" charset="0"/>
            </a:endParaRP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3124200" y="2705100"/>
            <a:ext cx="82550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Imm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3124200" y="3771900"/>
            <a:ext cx="76454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3124200" y="4914900"/>
            <a:ext cx="91059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4343400" y="2476500"/>
            <a:ext cx="76454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5" name="Text Box 9"/>
          <p:cNvSpPr txBox="1">
            <a:spLocks noChangeArrowheads="1"/>
          </p:cNvSpPr>
          <p:nvPr/>
        </p:nvSpPr>
        <p:spPr bwMode="auto">
          <a:xfrm>
            <a:off x="4343400" y="2933700"/>
            <a:ext cx="91059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6" name="Text Box 10"/>
          <p:cNvSpPr txBox="1">
            <a:spLocks noChangeArrowheads="1"/>
          </p:cNvSpPr>
          <p:nvPr/>
        </p:nvSpPr>
        <p:spPr bwMode="auto">
          <a:xfrm>
            <a:off x="4343400" y="3619500"/>
            <a:ext cx="76454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7" name="Text Box 11"/>
          <p:cNvSpPr txBox="1">
            <a:spLocks noChangeArrowheads="1"/>
          </p:cNvSpPr>
          <p:nvPr/>
        </p:nvSpPr>
        <p:spPr bwMode="auto">
          <a:xfrm>
            <a:off x="4343400" y="4065588"/>
            <a:ext cx="91059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4343400" y="4914900"/>
            <a:ext cx="76454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9" name="Text Box 13"/>
          <p:cNvSpPr txBox="1">
            <a:spLocks noChangeArrowheads="1"/>
          </p:cNvSpPr>
          <p:nvPr/>
        </p:nvSpPr>
        <p:spPr bwMode="auto">
          <a:xfrm>
            <a:off x="2971800" y="1752600"/>
            <a:ext cx="488315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dirty="0">
                <a:latin typeface="Calibri" pitchFamily="34" charset="0"/>
              </a:rPr>
              <a:t>源</a:t>
            </a:r>
            <a:endParaRPr lang="zh-CN" altLang="en-US" sz="2400" dirty="0">
              <a:latin typeface="Calibri" pitchFamily="34" charset="0"/>
            </a:endParaRPr>
          </a:p>
        </p:txBody>
      </p:sp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4343400" y="1752600"/>
            <a:ext cx="79375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dirty="0" err="1">
                <a:latin typeface="Calibri" pitchFamily="34" charset="0"/>
              </a:rPr>
              <a:t>目的</a:t>
            </a:r>
            <a:endParaRPr lang="zh-CN" altLang="en-US" sz="2400" dirty="0" err="1">
              <a:latin typeface="Calibri" pitchFamily="34" charset="0"/>
            </a:endParaRPr>
          </a:p>
        </p:txBody>
      </p:sp>
      <p:sp>
        <p:nvSpPr>
          <p:cNvPr id="157716" name="AutoShape 20"/>
          <p:cNvSpPr/>
          <p:nvPr/>
        </p:nvSpPr>
        <p:spPr bwMode="auto">
          <a:xfrm>
            <a:off x="2819400" y="2628900"/>
            <a:ext cx="304800" cy="27432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7" name="AutoShape 21"/>
          <p:cNvSpPr/>
          <p:nvPr/>
        </p:nvSpPr>
        <p:spPr bwMode="auto">
          <a:xfrm>
            <a:off x="4038600" y="2552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8" name="AutoShape 22"/>
          <p:cNvSpPr/>
          <p:nvPr/>
        </p:nvSpPr>
        <p:spPr bwMode="auto">
          <a:xfrm>
            <a:off x="4038600" y="3695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9" name="Text Box 23"/>
          <p:cNvSpPr txBox="1">
            <a:spLocks noChangeArrowheads="1"/>
          </p:cNvSpPr>
          <p:nvPr/>
        </p:nvSpPr>
        <p:spPr bwMode="auto">
          <a:xfrm>
            <a:off x="8214995" y="1752600"/>
            <a:ext cx="210312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400" dirty="0">
                <a:latin typeface="Calibri" pitchFamily="34" charset="0"/>
              </a:rPr>
              <a:t>对应的</a:t>
            </a:r>
            <a:r>
              <a:rPr lang="en-US" altLang="zh-CN" sz="2400" dirty="0">
                <a:latin typeface="Calibri" pitchFamily="34" charset="0"/>
              </a:rPr>
              <a:t>C</a:t>
            </a:r>
            <a:r>
              <a:rPr lang="zh-CN" altLang="en-US" sz="2400" dirty="0">
                <a:latin typeface="Calibri" pitchFamily="34" charset="0"/>
              </a:rPr>
              <a:t>语言</a:t>
            </a:r>
            <a:endParaRPr lang="zh-CN" altLang="en-US" sz="2400" dirty="0">
              <a:latin typeface="Calibri" pitchFamily="34" charset="0"/>
            </a:endParaRP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5257800" y="2506663"/>
            <a:ext cx="23164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anose="02070609020205020404" pitchFamily="49" charset="0"/>
              </a:rPr>
              <a:t>movq</a:t>
            </a:r>
            <a:r>
              <a:rPr lang="en-US" sz="2000" dirty="0">
                <a:latin typeface="Courier New" panose="02070609020205020404" pitchFamily="49" charset="0"/>
              </a:rPr>
              <a:t> $0x4,%rax</a:t>
            </a:r>
            <a:endParaRPr lang="en-US" sz="2000" dirty="0">
              <a:latin typeface="Courier New" panose="02070609020205020404" pitchFamily="49" charset="0"/>
            </a:endParaRPr>
          </a:p>
        </p:txBody>
      </p:sp>
      <p:sp>
        <p:nvSpPr>
          <p:cNvPr id="157720" name="Text Box 24"/>
          <p:cNvSpPr txBox="1">
            <a:spLocks noChangeArrowheads="1"/>
          </p:cNvSpPr>
          <p:nvPr/>
        </p:nvSpPr>
        <p:spPr bwMode="auto">
          <a:xfrm>
            <a:off x="8197850" y="2506663"/>
            <a:ext cx="18592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anose="02070609020205020404" pitchFamily="49" charset="0"/>
              </a:rPr>
              <a:t>temp = 0x4;</a:t>
            </a:r>
            <a:endParaRPr lang="en-US" sz="2000">
              <a:latin typeface="Courier New" panose="02070609020205020404" pitchFamily="49" charset="0"/>
            </a:endParaRPr>
          </a:p>
        </p:txBody>
      </p:sp>
      <p:sp>
        <p:nvSpPr>
          <p:cNvPr id="157712" name="Text Box 16"/>
          <p:cNvSpPr txBox="1">
            <a:spLocks noChangeArrowheads="1"/>
          </p:cNvSpPr>
          <p:nvPr/>
        </p:nvSpPr>
        <p:spPr bwMode="auto">
          <a:xfrm>
            <a:off x="5257800" y="2963863"/>
            <a:ext cx="27736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anose="02070609020205020404" pitchFamily="49" charset="0"/>
              </a:rPr>
              <a:t>movq</a:t>
            </a:r>
            <a:r>
              <a:rPr lang="en-US" sz="2000" dirty="0">
                <a:latin typeface="Courier New" panose="02070609020205020404" pitchFamily="49" charset="0"/>
              </a:rPr>
              <a:t> $-147,</a:t>
            </a:r>
            <a:r>
              <a:rPr lang="en-US" sz="2000" dirty="0">
                <a:solidFill>
                  <a:srgbClr val="00B050"/>
                </a:solidFill>
                <a:latin typeface="Courier New" panose="02070609020205020404" pitchFamily="49" charset="0"/>
              </a:rPr>
              <a:t>(%</a:t>
            </a:r>
            <a:r>
              <a:rPr lang="en-US" sz="2000" dirty="0" err="1">
                <a:solidFill>
                  <a:srgbClr val="00B050"/>
                </a:solidFill>
                <a:latin typeface="Courier New" panose="02070609020205020404" pitchFamily="49" charset="0"/>
              </a:rPr>
              <a:t>rax</a:t>
            </a:r>
            <a:r>
              <a:rPr lang="en-US" sz="2000" dirty="0">
                <a:solidFill>
                  <a:srgbClr val="00B050"/>
                </a:solidFill>
                <a:latin typeface="Courier New" panose="02070609020205020404" pitchFamily="49" charset="0"/>
              </a:rPr>
              <a:t>)</a:t>
            </a:r>
            <a:endParaRPr lang="en-US" sz="2000" dirty="0">
              <a:solidFill>
                <a:srgbClr val="00B050"/>
              </a:solidFill>
              <a:latin typeface="Courier New" panose="02070609020205020404" pitchFamily="49" charset="0"/>
            </a:endParaRPr>
          </a:p>
        </p:txBody>
      </p:sp>
      <p:sp>
        <p:nvSpPr>
          <p:cNvPr id="157721" name="Text Box 25"/>
          <p:cNvSpPr txBox="1">
            <a:spLocks noChangeArrowheads="1"/>
          </p:cNvSpPr>
          <p:nvPr/>
        </p:nvSpPr>
        <p:spPr bwMode="auto">
          <a:xfrm>
            <a:off x="8197850" y="2963863"/>
            <a:ext cx="17068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anose="02070609020205020404" pitchFamily="49" charset="0"/>
              </a:rPr>
              <a:t>*p = -147;</a:t>
            </a:r>
            <a:endParaRPr lang="en-US" sz="2000">
              <a:latin typeface="Courier New" panose="02070609020205020404" pitchFamily="49" charset="0"/>
            </a:endParaRPr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5257800" y="3649663"/>
            <a:ext cx="23164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anose="02070609020205020404" pitchFamily="49" charset="0"/>
              </a:rPr>
              <a:t>movq</a:t>
            </a:r>
            <a:r>
              <a:rPr lang="en-US" sz="2000" dirty="0">
                <a:latin typeface="Courier New" panose="02070609020205020404" pitchFamily="49" charset="0"/>
              </a:rPr>
              <a:t> %</a:t>
            </a:r>
            <a:r>
              <a:rPr lang="en-US" sz="2000" dirty="0" err="1">
                <a:latin typeface="Courier New" panose="02070609020205020404" pitchFamily="49" charset="0"/>
              </a:rPr>
              <a:t>rax</a:t>
            </a:r>
            <a:r>
              <a:rPr lang="en-US" sz="2000" dirty="0">
                <a:latin typeface="Courier New" panose="02070609020205020404" pitchFamily="49" charset="0"/>
              </a:rPr>
              <a:t>,%</a:t>
            </a:r>
            <a:r>
              <a:rPr lang="en-US" sz="2000" dirty="0" err="1">
                <a:latin typeface="Courier New" panose="02070609020205020404" pitchFamily="49" charset="0"/>
              </a:rPr>
              <a:t>rdx</a:t>
            </a:r>
            <a:endParaRPr lang="en-US" sz="2000" dirty="0">
              <a:latin typeface="Courier New" panose="02070609020205020404" pitchFamily="49" charset="0"/>
            </a:endParaRPr>
          </a:p>
        </p:txBody>
      </p:sp>
      <p:sp>
        <p:nvSpPr>
          <p:cNvPr id="157722" name="Text Box 26"/>
          <p:cNvSpPr txBox="1">
            <a:spLocks noChangeArrowheads="1"/>
          </p:cNvSpPr>
          <p:nvPr/>
        </p:nvSpPr>
        <p:spPr bwMode="auto">
          <a:xfrm>
            <a:off x="8197850" y="3649663"/>
            <a:ext cx="23164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anose="02070609020205020404" pitchFamily="49" charset="0"/>
              </a:rPr>
              <a:t>temp2 = temp1;</a:t>
            </a:r>
            <a:endParaRPr lang="en-US" sz="2000">
              <a:latin typeface="Courier New" panose="02070609020205020404" pitchFamily="49" charset="0"/>
            </a:endParaRPr>
          </a:p>
        </p:txBody>
      </p:sp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5257800" y="4095750"/>
            <a:ext cx="26212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anose="02070609020205020404" pitchFamily="49" charset="0"/>
              </a:rPr>
              <a:t>movq</a:t>
            </a:r>
            <a:r>
              <a:rPr lang="en-US" sz="2000" dirty="0">
                <a:latin typeface="Courier New" panose="02070609020205020404" pitchFamily="49" charset="0"/>
              </a:rPr>
              <a:t> %</a:t>
            </a:r>
            <a:r>
              <a:rPr lang="en-US" sz="2000" dirty="0" err="1">
                <a:latin typeface="Courier New" panose="02070609020205020404" pitchFamily="49" charset="0"/>
              </a:rPr>
              <a:t>rax</a:t>
            </a:r>
            <a:r>
              <a:rPr lang="en-US" sz="2000" dirty="0">
                <a:latin typeface="Courier New" panose="02070609020205020404" pitchFamily="49" charset="0"/>
              </a:rPr>
              <a:t>,</a:t>
            </a:r>
            <a:r>
              <a:rPr lang="en-US" sz="2000" dirty="0">
                <a:solidFill>
                  <a:srgbClr val="00B050"/>
                </a:solidFill>
                <a:latin typeface="Courier New" panose="02070609020205020404" pitchFamily="49" charset="0"/>
              </a:rPr>
              <a:t>(%</a:t>
            </a:r>
            <a:r>
              <a:rPr lang="en-US" sz="2000" dirty="0" err="1">
                <a:solidFill>
                  <a:srgbClr val="00B050"/>
                </a:solidFill>
                <a:latin typeface="Courier New" panose="02070609020205020404" pitchFamily="49" charset="0"/>
              </a:rPr>
              <a:t>rdx</a:t>
            </a:r>
            <a:r>
              <a:rPr lang="en-US" sz="2000" dirty="0">
                <a:solidFill>
                  <a:srgbClr val="00B050"/>
                </a:solidFill>
                <a:latin typeface="Courier New" panose="02070609020205020404" pitchFamily="49" charset="0"/>
              </a:rPr>
              <a:t>)</a:t>
            </a:r>
            <a:endParaRPr lang="en-US" sz="2000" dirty="0">
              <a:solidFill>
                <a:srgbClr val="00B050"/>
              </a:solidFill>
              <a:latin typeface="Courier New" panose="02070609020205020404" pitchFamily="49" charset="0"/>
            </a:endParaRPr>
          </a:p>
        </p:txBody>
      </p:sp>
      <p:sp>
        <p:nvSpPr>
          <p:cNvPr id="157723" name="Text Box 27"/>
          <p:cNvSpPr txBox="1">
            <a:spLocks noChangeArrowheads="1"/>
          </p:cNvSpPr>
          <p:nvPr/>
        </p:nvSpPr>
        <p:spPr bwMode="auto">
          <a:xfrm>
            <a:off x="8197850" y="4095750"/>
            <a:ext cx="17068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anose="02070609020205020404" pitchFamily="49" charset="0"/>
              </a:rPr>
              <a:t>*p = temp;</a:t>
            </a:r>
            <a:endParaRPr lang="en-US" sz="2000">
              <a:latin typeface="Courier New" panose="02070609020205020404" pitchFamily="49" charset="0"/>
            </a:endParaRPr>
          </a:p>
        </p:txBody>
      </p:sp>
      <p:sp>
        <p:nvSpPr>
          <p:cNvPr id="157715" name="Text Box 19"/>
          <p:cNvSpPr txBox="1">
            <a:spLocks noChangeArrowheads="1"/>
          </p:cNvSpPr>
          <p:nvPr/>
        </p:nvSpPr>
        <p:spPr bwMode="auto">
          <a:xfrm>
            <a:off x="5257800" y="4945063"/>
            <a:ext cx="26212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anose="02070609020205020404" pitchFamily="49" charset="0"/>
              </a:rPr>
              <a:t>movq</a:t>
            </a:r>
            <a:r>
              <a:rPr lang="en-US" sz="2000" dirty="0">
                <a:latin typeface="Courier New" panose="02070609020205020404" pitchFamily="49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Courier New" panose="02070609020205020404" pitchFamily="49" charset="0"/>
              </a:rPr>
              <a:t>(%</a:t>
            </a:r>
            <a:r>
              <a:rPr lang="en-US" sz="2000" dirty="0" err="1">
                <a:solidFill>
                  <a:srgbClr val="00B050"/>
                </a:solidFill>
                <a:latin typeface="Courier New" panose="02070609020205020404" pitchFamily="49" charset="0"/>
              </a:rPr>
              <a:t>rax</a:t>
            </a:r>
            <a:r>
              <a:rPr lang="en-US" sz="2000" dirty="0">
                <a:solidFill>
                  <a:srgbClr val="00B050"/>
                </a:solidFill>
                <a:latin typeface="Courier New" panose="02070609020205020404" pitchFamily="49" charset="0"/>
              </a:rPr>
              <a:t>)</a:t>
            </a:r>
            <a:r>
              <a:rPr lang="en-US" sz="2000" dirty="0">
                <a:latin typeface="Courier New" panose="02070609020205020404" pitchFamily="49" charset="0"/>
              </a:rPr>
              <a:t>,%</a:t>
            </a:r>
            <a:r>
              <a:rPr lang="en-US" sz="2000" dirty="0" err="1">
                <a:latin typeface="Courier New" panose="02070609020205020404" pitchFamily="49" charset="0"/>
              </a:rPr>
              <a:t>rdx</a:t>
            </a:r>
            <a:endParaRPr lang="en-US" sz="2000" dirty="0">
              <a:latin typeface="Courier New" panose="02070609020205020404" pitchFamily="49" charset="0"/>
            </a:endParaRPr>
          </a:p>
        </p:txBody>
      </p:sp>
      <p:sp>
        <p:nvSpPr>
          <p:cNvPr id="157724" name="Text Box 28"/>
          <p:cNvSpPr txBox="1">
            <a:spLocks noChangeArrowheads="1"/>
          </p:cNvSpPr>
          <p:nvPr/>
        </p:nvSpPr>
        <p:spPr bwMode="auto">
          <a:xfrm>
            <a:off x="8197850" y="4945063"/>
            <a:ext cx="1706880" cy="39878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anose="02070609020205020404" pitchFamily="49" charset="0"/>
              </a:rPr>
              <a:t>temp = *p;</a:t>
            </a:r>
            <a:endParaRPr lang="en-US" sz="2000">
              <a:latin typeface="Courier New" panose="02070609020205020404" pitchFamily="49" charset="0"/>
            </a:endParaRPr>
          </a:p>
        </p:txBody>
      </p:sp>
      <p:sp>
        <p:nvSpPr>
          <p:cNvPr id="157725" name="Text Box 29"/>
          <p:cNvSpPr txBox="1">
            <a:spLocks noChangeArrowheads="1"/>
          </p:cNvSpPr>
          <p:nvPr/>
        </p:nvSpPr>
        <p:spPr bwMode="auto">
          <a:xfrm>
            <a:off x="6096000" y="1752600"/>
            <a:ext cx="118364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dirty="0">
                <a:latin typeface="Calibri" pitchFamily="34" charset="0"/>
                <a:sym typeface="+mn-ea"/>
              </a:rPr>
              <a:t>源</a:t>
            </a:r>
            <a:r>
              <a:rPr lang="en-US" sz="2400" dirty="0" err="1">
                <a:latin typeface="Calibri" pitchFamily="34" charset="0"/>
              </a:rPr>
              <a:t>,</a:t>
            </a:r>
            <a:r>
              <a:rPr lang="zh-CN" altLang="en-US" dirty="0" err="1">
                <a:latin typeface="Calibri" pitchFamily="34" charset="0"/>
                <a:sym typeface="+mn-ea"/>
              </a:rPr>
              <a:t>目的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1" grpId="0" bldLvl="0" animBg="1"/>
      <p:bldP spid="157720" grpId="0" bldLvl="0" animBg="1"/>
      <p:bldP spid="157712" grpId="0" bldLvl="0" animBg="1"/>
      <p:bldP spid="157721" grpId="0" bldLvl="0" animBg="1"/>
      <p:bldP spid="157713" grpId="0" bldLvl="0" animBg="1"/>
      <p:bldP spid="157722" grpId="0" bldLvl="0" animBg="1"/>
      <p:bldP spid="157714" grpId="0" bldLvl="0" animBg="1"/>
      <p:bldP spid="157723" grpId="0" bldLvl="0" animBg="1"/>
      <p:bldP spid="157715" grpId="0" bldLvl="0" animBg="1"/>
      <p:bldP spid="157724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0875" y="342265"/>
            <a:ext cx="8691245" cy="573405"/>
          </a:xfrm>
        </p:spPr>
        <p:txBody>
          <a:bodyPr/>
          <a:lstStyle/>
          <a:p>
            <a:r>
              <a:rPr lang="en-US" sz="2800" dirty="0"/>
              <a:t>Example of Simple Addressing Modes</a:t>
            </a:r>
            <a:br>
              <a:rPr lang="en-US" sz="2800" dirty="0"/>
            </a:br>
            <a:r>
              <a:rPr lang="zh-CN" altLang="en-US" sz="2800" dirty="0"/>
              <a:t>简单的寻址模式的例子</a:t>
            </a:r>
            <a:endParaRPr lang="zh-CN" altLang="en-US" sz="2800" dirty="0"/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1828800" y="1676400"/>
            <a:ext cx="3962400" cy="230441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void swap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(long *</a:t>
            </a:r>
            <a:r>
              <a:rPr lang="en-US" sz="1800" dirty="0" err="1">
                <a:latin typeface="Courier New" panose="02070609020205020404" pitchFamily="49" charset="0"/>
              </a:rPr>
              <a:t>xp</a:t>
            </a:r>
            <a:r>
              <a:rPr lang="en-US" sz="1800" dirty="0">
                <a:latin typeface="Courier New" panose="02070609020205020404" pitchFamily="49" charset="0"/>
              </a:rPr>
              <a:t>, long *</a:t>
            </a:r>
            <a:r>
              <a:rPr lang="en-US" sz="1800" dirty="0" err="1">
                <a:latin typeface="Courier New" panose="02070609020205020404" pitchFamily="49" charset="0"/>
              </a:rPr>
              <a:t>yp</a:t>
            </a:r>
            <a:r>
              <a:rPr lang="en-US" sz="1800" dirty="0">
                <a:latin typeface="Courier New" panose="02070609020205020404" pitchFamily="49" charset="0"/>
              </a:rPr>
              <a:t>) 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{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long t0 = *</a:t>
            </a:r>
            <a:r>
              <a:rPr lang="en-US" sz="1800" dirty="0" err="1">
                <a:latin typeface="Courier New" panose="02070609020205020404" pitchFamily="49" charset="0"/>
              </a:rPr>
              <a:t>xp</a:t>
            </a:r>
            <a:r>
              <a:rPr lang="en-US" sz="1800" dirty="0">
                <a:latin typeface="Courier New" panose="02070609020205020404" pitchFamily="49" charset="0"/>
              </a:rPr>
              <a:t>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long t1 = *</a:t>
            </a:r>
            <a:r>
              <a:rPr lang="en-US" sz="1800" dirty="0" err="1">
                <a:latin typeface="Courier New" panose="02070609020205020404" pitchFamily="49" charset="0"/>
              </a:rPr>
              <a:t>yp</a:t>
            </a:r>
            <a:r>
              <a:rPr lang="en-US" sz="1800" dirty="0">
                <a:latin typeface="Courier New" panose="02070609020205020404" pitchFamily="49" charset="0"/>
              </a:rPr>
              <a:t>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*</a:t>
            </a:r>
            <a:r>
              <a:rPr lang="en-US" sz="1800" dirty="0" err="1">
                <a:latin typeface="Courier New" panose="02070609020205020404" pitchFamily="49" charset="0"/>
              </a:rPr>
              <a:t>xp</a:t>
            </a:r>
            <a:r>
              <a:rPr lang="en-US" sz="1800" dirty="0">
                <a:latin typeface="Courier New" panose="02070609020205020404" pitchFamily="49" charset="0"/>
              </a:rPr>
              <a:t> = t1;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*</a:t>
            </a:r>
            <a:r>
              <a:rPr lang="en-US" sz="1800" dirty="0" err="1">
                <a:latin typeface="Courier New" panose="02070609020205020404" pitchFamily="49" charset="0"/>
              </a:rPr>
              <a:t>yp</a:t>
            </a:r>
            <a:r>
              <a:rPr lang="en-US" sz="1800" dirty="0">
                <a:latin typeface="Courier New" panose="02070609020205020404" pitchFamily="49" charset="0"/>
              </a:rPr>
              <a:t> = t0;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}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019800" y="2154198"/>
            <a:ext cx="4191000" cy="175069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swap: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</a:t>
            </a:r>
            <a:r>
              <a:rPr lang="ro-RO" sz="1800" dirty="0">
                <a:latin typeface="Courier New" panose="02070609020205020404" pitchFamily="49" charset="0"/>
              </a:rPr>
              <a:t> movq    (%rdi), %rax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(%rsi), %rdx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%rdx, (%rdi)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%rax, (%rsi)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ret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57400" y="4419600"/>
            <a:ext cx="7467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800" dirty="0">
                <a:solidFill>
                  <a:srgbClr val="00B050"/>
                </a:solidFill>
                <a:latin typeface="Calibri" pitchFamily="34" charset="0"/>
              </a:rPr>
              <a:t>What is pointer and how to dereference a </a:t>
            </a:r>
            <a:r>
              <a:rPr lang="en-US" altLang="zh-CN" sz="1800" dirty="0" err="1">
                <a:solidFill>
                  <a:srgbClr val="00B050"/>
                </a:solidFill>
                <a:latin typeface="Calibri" pitchFamily="34" charset="0"/>
              </a:rPr>
              <a:t>ponter</a:t>
            </a:r>
            <a:r>
              <a:rPr lang="en-US" altLang="zh-CN" sz="1800" dirty="0">
                <a:solidFill>
                  <a:srgbClr val="00B050"/>
                </a:solidFill>
                <a:latin typeface="Calibri" pitchFamily="34" charset="0"/>
              </a:rPr>
              <a:t>?</a:t>
            </a:r>
            <a:endParaRPr lang="en-US" altLang="zh-CN" sz="1800" dirty="0">
              <a:solidFill>
                <a:srgbClr val="00B050"/>
              </a:solidFill>
              <a:latin typeface="Calibri" pitchFamily="34" charset="0"/>
            </a:endParaRPr>
          </a:p>
          <a:p>
            <a:pPr marL="342900" indent="-342900">
              <a:buAutoNum type="arabicPeriod"/>
            </a:pPr>
            <a:r>
              <a:rPr lang="en-US" altLang="zh-CN" sz="1800" dirty="0">
                <a:solidFill>
                  <a:srgbClr val="00B050"/>
                </a:solidFill>
                <a:latin typeface="Calibri" pitchFamily="34" charset="0"/>
              </a:rPr>
              <a:t>local variables -&gt; register?</a:t>
            </a:r>
            <a:endParaRPr lang="zh-CN" altLang="en-US" sz="1800" dirty="0">
              <a:solidFill>
                <a:srgbClr val="00B05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855822" y="1780988"/>
            <a:ext cx="1752600" cy="1752600"/>
            <a:chOff x="9111129" y="1790700"/>
            <a:chExt cx="1752600" cy="1752600"/>
          </a:xfrm>
        </p:grpSpPr>
        <p:sp>
          <p:nvSpPr>
            <p:cNvPr id="56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57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rsi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rax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0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anose="02070609020205020404" pitchFamily="49" charset="0"/>
              </a:endParaRPr>
            </a:p>
          </p:txBody>
        </p:sp>
        <p:sp>
          <p:nvSpPr>
            <p:cNvPr id="61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anose="02070609020205020404" pitchFamily="49" charset="0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anose="02070609020205020404" pitchFamily="49" charset="0"/>
              </a:endParaRPr>
            </a:p>
          </p:txBody>
        </p:sp>
        <p:sp>
          <p:nvSpPr>
            <p:cNvPr id="63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anose="02070609020205020404" pitchFamily="49" charset="0"/>
              </a:endParaRPr>
            </a:p>
          </p:txBody>
        </p:sp>
      </p:grp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 panose="02070609020205020404"/>
                <a:cs typeface="Courier New" panose="02070609020205020404"/>
              </a:rPr>
              <a:t>Swap</a:t>
            </a:r>
            <a:r>
              <a:rPr lang="en-US" dirty="0"/>
              <a:t>()</a:t>
            </a:r>
            <a:endParaRPr lang="en-US" dirty="0"/>
          </a:p>
        </p:txBody>
      </p:sp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1828800" y="1295400"/>
            <a:ext cx="3962400" cy="230441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void swap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 (long *</a:t>
            </a:r>
            <a:r>
              <a:rPr lang="en-US" sz="1800" dirty="0" err="1">
                <a:latin typeface="Courier New" panose="02070609020205020404" pitchFamily="49" charset="0"/>
              </a:rPr>
              <a:t>xp</a:t>
            </a:r>
            <a:r>
              <a:rPr lang="en-US" sz="1800" dirty="0">
                <a:latin typeface="Courier New" panose="02070609020205020404" pitchFamily="49" charset="0"/>
              </a:rPr>
              <a:t>, long *</a:t>
            </a:r>
            <a:r>
              <a:rPr lang="en-US" sz="1800" dirty="0" err="1">
                <a:latin typeface="Courier New" panose="02070609020205020404" pitchFamily="49" charset="0"/>
              </a:rPr>
              <a:t>yp</a:t>
            </a:r>
            <a:r>
              <a:rPr lang="en-US" sz="1800" dirty="0">
                <a:latin typeface="Courier New" panose="02070609020205020404" pitchFamily="49" charset="0"/>
              </a:rPr>
              <a:t>) 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{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long t0 = *</a:t>
            </a:r>
            <a:r>
              <a:rPr lang="en-US" sz="1800" dirty="0" err="1">
                <a:latin typeface="Courier New" panose="02070609020205020404" pitchFamily="49" charset="0"/>
              </a:rPr>
              <a:t>xp</a:t>
            </a:r>
            <a:r>
              <a:rPr lang="en-US" sz="1800" dirty="0">
                <a:latin typeface="Courier New" panose="02070609020205020404" pitchFamily="49" charset="0"/>
              </a:rPr>
              <a:t>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long t1 = *</a:t>
            </a:r>
            <a:r>
              <a:rPr lang="en-US" sz="1800" dirty="0" err="1">
                <a:latin typeface="Courier New" panose="02070609020205020404" pitchFamily="49" charset="0"/>
              </a:rPr>
              <a:t>yp</a:t>
            </a:r>
            <a:r>
              <a:rPr lang="en-US" sz="1800" dirty="0">
                <a:latin typeface="Courier New" panose="02070609020205020404" pitchFamily="49" charset="0"/>
              </a:rPr>
              <a:t>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*</a:t>
            </a:r>
            <a:r>
              <a:rPr lang="en-US" sz="1800" dirty="0" err="1">
                <a:latin typeface="Courier New" panose="02070609020205020404" pitchFamily="49" charset="0"/>
              </a:rPr>
              <a:t>xp</a:t>
            </a:r>
            <a:r>
              <a:rPr lang="en-US" sz="1800" dirty="0">
                <a:latin typeface="Courier New" panose="02070609020205020404" pitchFamily="49" charset="0"/>
              </a:rPr>
              <a:t> = t1;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*</a:t>
            </a:r>
            <a:r>
              <a:rPr lang="en-US" sz="1800" dirty="0" err="1">
                <a:latin typeface="Courier New" panose="02070609020205020404" pitchFamily="49" charset="0"/>
              </a:rPr>
              <a:t>yp</a:t>
            </a:r>
            <a:r>
              <a:rPr lang="en-US" sz="1800" dirty="0">
                <a:latin typeface="Courier New" panose="02070609020205020404" pitchFamily="49" charset="0"/>
              </a:rPr>
              <a:t> = t0;</a:t>
            </a:r>
            <a:endParaRPr lang="en-US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}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160773" name="Text Box 5"/>
          <p:cNvSpPr txBox="1">
            <a:spLocks noChangeArrowheads="1"/>
          </p:cNvSpPr>
          <p:nvPr/>
        </p:nvSpPr>
        <p:spPr bwMode="auto">
          <a:xfrm>
            <a:off x="8614370" y="833735"/>
            <a:ext cx="1373505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2057400" y="4114800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alibri" pitchFamily="34" charset="0"/>
              </a:rPr>
              <a:t>Register	Value</a:t>
            </a:r>
            <a:endParaRPr lang="en-US" sz="1800" dirty="0">
              <a:highlight>
                <a:srgbClr val="C0C0C0"/>
              </a:highlight>
              <a:latin typeface="Calibri" pitchFamily="34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xp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rsi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yp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rax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t0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t1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4572000" y="4800600"/>
            <a:ext cx="5867400" cy="175069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swap: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</a:t>
            </a:r>
            <a:r>
              <a:rPr lang="ro-RO" sz="1800" dirty="0">
                <a:latin typeface="Courier New" panose="02070609020205020404" pitchFamily="49" charset="0"/>
              </a:rPr>
              <a:t> movq    (%rdi), %rax  # t0 = *xp  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(%rsi), %rdx  # t1 = *yp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%rdx, (%rdi)  # *xp = t1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%rax, (%rsi)  # *yp = t0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ret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6040399" y="1219200"/>
            <a:ext cx="157226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  <a:endParaRPr lang="en-US" sz="2400" dirty="0">
              <a:latin typeface="Calibri" pitchFamily="34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239000" y="1680830"/>
            <a:ext cx="1466178" cy="334025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7239000" y="2438400"/>
            <a:ext cx="1451237" cy="685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Oval 4"/>
          <p:cNvSpPr/>
          <p:nvPr/>
        </p:nvSpPr>
        <p:spPr bwMode="auto">
          <a:xfrm>
            <a:off x="7162800" y="19050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7162800" y="23622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dirty="0">
              <a:latin typeface="Calibri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705178" y="1456675"/>
            <a:ext cx="1066800" cy="1905000"/>
            <a:chOff x="7181178" y="1456675"/>
            <a:chExt cx="1066800" cy="1905000"/>
          </a:xfrm>
        </p:grpSpPr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7181178" y="1456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7181178" y="1837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7181178" y="2218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7181178" y="2599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8" name="Rectangle 20"/>
            <p:cNvSpPr>
              <a:spLocks noChangeArrowheads="1"/>
            </p:cNvSpPr>
            <p:nvPr/>
          </p:nvSpPr>
          <p:spPr bwMode="auto">
            <a:xfrm>
              <a:off x="7181178" y="2980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 panose="02070609020205020404"/>
                <a:cs typeface="Courier New" panose="02070609020205020404"/>
              </a:rPr>
              <a:t>Swap</a:t>
            </a:r>
            <a:r>
              <a:rPr lang="en-US" dirty="0"/>
              <a:t>()</a:t>
            </a:r>
            <a:endParaRPr lang="en-US" dirty="0"/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6477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123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6477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6477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6477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6477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  <a:sym typeface="+mn-ea"/>
              </a:rPr>
              <a:t>456</a:t>
            </a:r>
            <a:endParaRPr lang="en-US" sz="1800" dirty="0">
              <a:latin typeface="Calibri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2634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rsi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rax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anose="02070609020205020404" pitchFamily="49" charset="0"/>
              </a:endParaRP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anose="02070609020205020404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2819400" y="1252322"/>
            <a:ext cx="157226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6340383" y="1032633"/>
            <a:ext cx="1373505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2971800" y="4114800"/>
            <a:ext cx="5867400" cy="175069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swap: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</a:t>
            </a:r>
            <a:r>
              <a:rPr lang="ro-RO" sz="1800" dirty="0">
                <a:latin typeface="Courier New" panose="02070609020205020404" pitchFamily="49" charset="0"/>
              </a:rPr>
              <a:t> movq    (%rdi), %rax  # t0 = *xp  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(%rsi), %rdx  # t1 = *yp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%rdx, (%rdi)  # *xp = t1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%rax, (%rsi)  # *yp = t0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ret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620000" y="1414046"/>
            <a:ext cx="1219200" cy="2192352"/>
            <a:chOff x="6096000" y="1414046"/>
            <a:chExt cx="1219200" cy="2192352"/>
          </a:xfrm>
        </p:grpSpPr>
        <p:sp>
          <p:nvSpPr>
            <p:cNvPr id="5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0x118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0x108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81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7185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  <a:endParaRPr lang="en-US" sz="1600" dirty="0">
                <a:latin typeface="Calibri"/>
                <a:cs typeface="Calibri"/>
              </a:endParaRPr>
            </a:p>
          </p:txBody>
        </p:sp>
      </p:grpSp>
      <p:cxnSp>
        <p:nvCxnSpPr>
          <p:cNvPr id="3" name="Straight Arrow Connector 2"/>
          <p:cNvCxnSpPr/>
          <p:nvPr/>
        </p:nvCxnSpPr>
        <p:spPr bwMode="auto">
          <a:xfrm>
            <a:off x="4512310" y="1920875"/>
            <a:ext cx="1828165" cy="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4512310" y="2447290"/>
            <a:ext cx="1828165" cy="98171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8001000" y="4098925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</p:spPr>
        <p:txBody>
          <a:bodyPr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alibri" pitchFamily="34" charset="0"/>
              </a:rPr>
              <a:t>Register	Value</a:t>
            </a:r>
            <a:endParaRPr lang="en-US" sz="1800" dirty="0">
              <a:highlight>
                <a:srgbClr val="C0C0C0"/>
              </a:highlight>
              <a:latin typeface="Calibri" pitchFamily="34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xp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rsi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yp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rax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t0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t1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 panose="02070609020205020404"/>
                <a:cs typeface="Courier New" panose="02070609020205020404"/>
              </a:rPr>
              <a:t>Swap</a:t>
            </a:r>
            <a:r>
              <a:rPr lang="en-US" dirty="0"/>
              <a:t>()</a:t>
            </a:r>
            <a:endParaRPr lang="en-US" dirty="0"/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6477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123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6477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6477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6477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6477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456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2634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rsi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rax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anose="02070609020205020404" pitchFamily="49" charset="0"/>
                </a:rPr>
                <a:t>123</a:t>
              </a:r>
              <a:endParaRPr lang="en-US" sz="1800" dirty="0">
                <a:solidFill>
                  <a:srgbClr val="FF0000"/>
                </a:solidFill>
                <a:latin typeface="Courier New" panose="02070609020205020404" pitchFamily="49" charset="0"/>
              </a:endParaRP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anose="02070609020205020404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2819400" y="1252322"/>
            <a:ext cx="157226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6340383" y="1032633"/>
            <a:ext cx="1373505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  <a:endParaRPr lang="en-US" sz="2400" dirty="0">
              <a:latin typeface="Calibri" pitchFamily="34" charset="0"/>
            </a:endParaRPr>
          </a:p>
        </p:txBody>
      </p:sp>
      <p:cxnSp>
        <p:nvCxnSpPr>
          <p:cNvPr id="78" name="Straight Arrow Connector 77"/>
          <p:cNvCxnSpPr>
            <a:stCxn id="53" idx="1"/>
            <a:endCxn id="71" idx="3"/>
          </p:cNvCxnSpPr>
          <p:nvPr/>
        </p:nvCxnSpPr>
        <p:spPr bwMode="auto">
          <a:xfrm flipH="1">
            <a:off x="4387423" y="1852210"/>
            <a:ext cx="2089577" cy="1066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2971800" y="4114800"/>
            <a:ext cx="5867400" cy="175069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swap: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</a:t>
            </a:r>
            <a:r>
              <a:rPr lang="ro-RO" sz="1800" dirty="0">
                <a:latin typeface="Courier New" panose="020706090202050204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urier New" panose="02070609020205020404" pitchFamily="49" charset="0"/>
              </a:rPr>
              <a:t>movq    (%rdi), %rax  # t0 = *xp  </a:t>
            </a:r>
            <a:endParaRPr lang="ro-RO" sz="1800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(%rsi), %rdx  # t1 = *yp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%rdx, (%rdi)  # *xp = t1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%rax, (%rsi)  # *yp = t0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ret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7620000" y="1414046"/>
            <a:ext cx="1219200" cy="2192352"/>
            <a:chOff x="6096000" y="1414046"/>
            <a:chExt cx="1219200" cy="2192352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0x118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0x108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7185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  <a:endParaRPr lang="en-US" sz="1600" dirty="0">
                <a:latin typeface="Calibri"/>
                <a:cs typeface="Calibri"/>
              </a:endParaRPr>
            </a:p>
          </p:txBody>
        </p:sp>
      </p:grp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8001000" y="4175125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</p:spPr>
        <p:txBody>
          <a:bodyPr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alibri" pitchFamily="34" charset="0"/>
              </a:rPr>
              <a:t>Register	Value</a:t>
            </a:r>
            <a:endParaRPr lang="en-US" sz="1800" dirty="0">
              <a:highlight>
                <a:srgbClr val="C0C0C0"/>
              </a:highlight>
              <a:latin typeface="Calibri" pitchFamily="34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xp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rsi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yp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rax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t0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t1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 panose="02070609020205020404"/>
                <a:cs typeface="Courier New" panose="02070609020205020404"/>
              </a:rPr>
              <a:t>Swap</a:t>
            </a:r>
            <a:r>
              <a:rPr lang="en-US" dirty="0"/>
              <a:t>()</a:t>
            </a:r>
            <a:endParaRPr lang="en-US" dirty="0"/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6477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123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6477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6477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6477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6477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456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2634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rsi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rax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123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anose="02070609020205020404" pitchFamily="49" charset="0"/>
                </a:rPr>
                <a:t>456</a:t>
              </a:r>
              <a:endParaRPr lang="en-US" sz="1800" dirty="0">
                <a:solidFill>
                  <a:srgbClr val="FF0000"/>
                </a:solidFill>
                <a:latin typeface="Courier New" panose="02070609020205020404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2819400" y="1252322"/>
            <a:ext cx="157226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6340383" y="1032633"/>
            <a:ext cx="1373505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  <a:endParaRPr lang="en-US" sz="2400" dirty="0">
              <a:latin typeface="Calibri" pitchFamily="34" charset="0"/>
            </a:endParaRPr>
          </a:p>
        </p:txBody>
      </p:sp>
      <p:cxnSp>
        <p:nvCxnSpPr>
          <p:cNvPr id="78" name="Straight Arrow Connector 77"/>
          <p:cNvCxnSpPr>
            <a:stCxn id="58" idx="1"/>
            <a:endCxn id="72" idx="3"/>
          </p:cNvCxnSpPr>
          <p:nvPr/>
        </p:nvCxnSpPr>
        <p:spPr bwMode="auto">
          <a:xfrm flipH="1">
            <a:off x="4387423" y="3376210"/>
            <a:ext cx="2089577" cy="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2971800" y="4114800"/>
            <a:ext cx="5867400" cy="175069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swap: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</a:t>
            </a:r>
            <a:r>
              <a:rPr lang="ro-RO" sz="1800" dirty="0">
                <a:latin typeface="Courier New" panose="02070609020205020404" pitchFamily="49" charset="0"/>
              </a:rPr>
              <a:t> movq    (%rdi), %rax  # t0 = *xp  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anose="02070609020205020404" pitchFamily="49" charset="0"/>
              </a:rPr>
              <a:t> movq    (%rsi), %rdx  # t1 = *yp</a:t>
            </a:r>
            <a:endParaRPr lang="ro-RO" sz="1800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%rdx, (%rdi)  # *xp = t1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%rax, (%rsi)  # *yp = t0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ret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7620000" y="1414046"/>
            <a:ext cx="1219200" cy="2192352"/>
            <a:chOff x="6096000" y="1414046"/>
            <a:chExt cx="1219200" cy="2192352"/>
          </a:xfrm>
        </p:grpSpPr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0x118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0x108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7185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  <a:endParaRPr lang="en-US" sz="1600" dirty="0">
                <a:latin typeface="Calibri"/>
                <a:cs typeface="Calibri"/>
              </a:endParaRPr>
            </a:p>
          </p:txBody>
        </p:sp>
      </p:grp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8001000" y="4175125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</p:spPr>
        <p:txBody>
          <a:bodyPr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alibri" pitchFamily="34" charset="0"/>
              </a:rPr>
              <a:t>Register	Value</a:t>
            </a:r>
            <a:endParaRPr lang="en-US" sz="1800" dirty="0">
              <a:highlight>
                <a:srgbClr val="C0C0C0"/>
              </a:highlight>
              <a:latin typeface="Calibri" pitchFamily="34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xp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rsi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yp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rax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t0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t1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 panose="02070609020205020404"/>
                <a:cs typeface="Courier New" panose="02070609020205020404"/>
              </a:rPr>
              <a:t>Swap</a:t>
            </a:r>
            <a:r>
              <a:rPr lang="en-US" dirty="0"/>
              <a:t>()</a:t>
            </a:r>
            <a:endParaRPr lang="en-US" dirty="0"/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6477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ourier New" panose="02070609020205020404" pitchFamily="49" charset="0"/>
              </a:rPr>
              <a:t>456</a:t>
            </a:r>
            <a:endParaRPr lang="en-US" sz="1800" dirty="0">
              <a:solidFill>
                <a:srgbClr val="FF0000"/>
              </a:solidFill>
              <a:latin typeface="Courier New" panose="02070609020205020404" pitchFamily="49" charset="0"/>
            </a:endParaRP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6477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6477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6477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6477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456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2634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rsi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rax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123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456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2819400" y="1252322"/>
            <a:ext cx="157226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6340383" y="1032633"/>
            <a:ext cx="1373505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  <a:endParaRPr lang="en-US" sz="2400" dirty="0">
              <a:latin typeface="Calibri" pitchFamily="34" charset="0"/>
            </a:endParaRPr>
          </a:p>
        </p:txBody>
      </p:sp>
      <p:cxnSp>
        <p:nvCxnSpPr>
          <p:cNvPr id="78" name="Straight Arrow Connector 77"/>
          <p:cNvCxnSpPr>
            <a:stCxn id="72" idx="3"/>
            <a:endCxn id="53" idx="1"/>
          </p:cNvCxnSpPr>
          <p:nvPr/>
        </p:nvCxnSpPr>
        <p:spPr bwMode="auto">
          <a:xfrm flipV="1">
            <a:off x="4387423" y="1852210"/>
            <a:ext cx="2089577" cy="1524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2971800" y="4114800"/>
            <a:ext cx="5867400" cy="175069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swap: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</a:t>
            </a:r>
            <a:r>
              <a:rPr lang="ro-RO" sz="1800" dirty="0">
                <a:latin typeface="Courier New" panose="02070609020205020404" pitchFamily="49" charset="0"/>
              </a:rPr>
              <a:t> movq    (%rdi), %rax  # t0 = *xp  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(%rsi), %rdx  # t1 = *yp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anose="02070609020205020404" pitchFamily="49" charset="0"/>
              </a:rPr>
              <a:t> movq    %rdx, (%rdi)  # *xp = t1</a:t>
            </a:r>
            <a:endParaRPr lang="ro-RO" sz="1800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%rax, (%rsi)  # *yp = t0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ret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7620000" y="1414046"/>
            <a:ext cx="1219200" cy="2192352"/>
            <a:chOff x="6096000" y="1414046"/>
            <a:chExt cx="1219200" cy="2192352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0x118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0x108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7185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  <a:endParaRPr lang="en-US" sz="1600" dirty="0">
                <a:latin typeface="Calibri"/>
                <a:cs typeface="Calibri"/>
              </a:endParaRPr>
            </a:p>
          </p:txBody>
        </p:sp>
      </p:grp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8001000" y="4175125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</p:spPr>
        <p:txBody>
          <a:bodyPr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alibri" pitchFamily="34" charset="0"/>
              </a:rPr>
              <a:t>Register	Value</a:t>
            </a:r>
            <a:endParaRPr lang="en-US" sz="1800" dirty="0">
              <a:highlight>
                <a:srgbClr val="C0C0C0"/>
              </a:highlight>
              <a:latin typeface="Calibri" pitchFamily="34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xp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rsi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yp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rax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t0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t1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 panose="02070609020205020404"/>
                <a:cs typeface="Courier New" panose="02070609020205020404"/>
              </a:rPr>
              <a:t>Swap</a:t>
            </a:r>
            <a:r>
              <a:rPr lang="en-US" dirty="0"/>
              <a:t>()</a:t>
            </a:r>
            <a:endParaRPr lang="en-US" dirty="0"/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6477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anose="02070609020205020404" pitchFamily="49" charset="0"/>
              </a:rPr>
              <a:t>456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6477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anose="02070609020205020404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6477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6477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6477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123</a:t>
            </a:r>
            <a:endParaRPr lang="en-US" sz="1800" dirty="0">
              <a:solidFill>
                <a:srgbClr val="FF0000"/>
              </a:solidFill>
              <a:latin typeface="Calibri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2634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rsi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rax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%</a:t>
              </a:r>
              <a:r>
                <a:rPr lang="en-US" sz="1800" dirty="0" err="1">
                  <a:latin typeface="Courier New" panose="02070609020205020404" pitchFamily="49" charset="0"/>
                </a:rPr>
                <a:t>rdx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123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456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2819400" y="1252322"/>
            <a:ext cx="1572260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6340383" y="1032633"/>
            <a:ext cx="1373505" cy="4603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  <a:endParaRPr lang="en-US" sz="2400" dirty="0">
              <a:latin typeface="Calibri" pitchFamily="34" charset="0"/>
            </a:endParaRPr>
          </a:p>
        </p:txBody>
      </p:sp>
      <p:cxnSp>
        <p:nvCxnSpPr>
          <p:cNvPr id="78" name="Straight Arrow Connector 77"/>
          <p:cNvCxnSpPr>
            <a:stCxn id="71" idx="3"/>
          </p:cNvCxnSpPr>
          <p:nvPr/>
        </p:nvCxnSpPr>
        <p:spPr bwMode="auto">
          <a:xfrm>
            <a:off x="4387423" y="2919010"/>
            <a:ext cx="2074636" cy="4191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2971800" y="4114800"/>
            <a:ext cx="5867400" cy="175069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swap:</a:t>
            </a:r>
            <a:endParaRPr lang="en-US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en-US" sz="1800" dirty="0">
                <a:latin typeface="Courier New" panose="02070609020205020404" pitchFamily="49" charset="0"/>
              </a:rPr>
              <a:t>  </a:t>
            </a:r>
            <a:r>
              <a:rPr lang="ro-RO" sz="1800" dirty="0">
                <a:latin typeface="Courier New" panose="02070609020205020404" pitchFamily="49" charset="0"/>
              </a:rPr>
              <a:t> movq    (%rdi), %rax  # t0 = *xp  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(%rsi), %rdx  # t1 = *yp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movq    %rdx, (%rdi)  # *xp = t1</a:t>
            </a:r>
            <a:endParaRPr lang="ro-RO" sz="1800" dirty="0"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</a:t>
            </a:r>
            <a:r>
              <a:rPr lang="ro-RO" sz="1800" dirty="0">
                <a:solidFill>
                  <a:srgbClr val="FF0000"/>
                </a:solidFill>
                <a:latin typeface="Courier New" panose="02070609020205020404" pitchFamily="49" charset="0"/>
              </a:rPr>
              <a:t>movq    %rax, (%rsi)  # *yp = t0</a:t>
            </a:r>
            <a:endParaRPr lang="ro-RO" sz="1800" dirty="0">
              <a:solidFill>
                <a:srgbClr val="FF0000"/>
              </a:solidFill>
              <a:latin typeface="Courier New" panose="02070609020205020404" pitchFamily="49" charset="0"/>
            </a:endParaRPr>
          </a:p>
          <a:p>
            <a:pPr>
              <a:tabLst>
                <a:tab pos="347345" algn="l"/>
                <a:tab pos="1312545" algn="l"/>
              </a:tabLst>
            </a:pPr>
            <a:r>
              <a:rPr lang="ro-RO" sz="1800" dirty="0">
                <a:latin typeface="Courier New" panose="02070609020205020404" pitchFamily="49" charset="0"/>
              </a:rPr>
              <a:t>   ret</a:t>
            </a:r>
            <a:endParaRPr lang="en-US" sz="1800" dirty="0">
              <a:latin typeface="Courier New" panose="02070609020205020404" pitchFamily="49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7620000" y="1414046"/>
            <a:ext cx="1219200" cy="2192352"/>
            <a:chOff x="6096000" y="1414046"/>
            <a:chExt cx="1219200" cy="2192352"/>
          </a:xfrm>
        </p:grpSpPr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0x120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0x118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0x110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0x108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8300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anose="02070609020205020404" pitchFamily="49" charset="0"/>
                </a:rPr>
                <a:t>0x100 </a:t>
              </a:r>
              <a:endParaRPr lang="en-US" sz="1800" dirty="0">
                <a:latin typeface="Courier New" panose="02070609020205020404" pitchFamily="49" charset="0"/>
              </a:endParaRP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7185"/>
            </a:xfrm>
            <a:prstGeom prst="rect">
              <a:avLst/>
            </a:prstGeom>
            <a:noFill/>
            <a:ln w="254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  <a:endParaRPr lang="en-US" sz="1600" dirty="0">
                <a:latin typeface="Calibri"/>
                <a:cs typeface="Calibri"/>
              </a:endParaRPr>
            </a:p>
          </p:txBody>
        </p:sp>
      </p:grp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8001000" y="4175125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</p:spPr>
        <p:txBody>
          <a:bodyPr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alibri" pitchFamily="34" charset="0"/>
              </a:rPr>
              <a:t>Register	Value</a:t>
            </a:r>
            <a:endParaRPr lang="en-US" sz="1800" dirty="0">
              <a:highlight>
                <a:srgbClr val="C0C0C0"/>
              </a:highlight>
              <a:latin typeface="Calibri" pitchFamily="34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xp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rsi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yp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rax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t0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%</a:t>
            </a:r>
            <a:r>
              <a:rPr lang="en-US" sz="1800" dirty="0" err="1">
                <a:highlight>
                  <a:srgbClr val="C0C0C0"/>
                </a:highlight>
                <a:latin typeface="Courier New" panose="02070609020205020404" pitchFamily="49" charset="0"/>
              </a:rPr>
              <a:t>rdx</a:t>
            </a:r>
            <a:r>
              <a:rPr lang="en-US" sz="1800" dirty="0">
                <a:highlight>
                  <a:srgbClr val="C0C0C0"/>
                </a:highlight>
                <a:latin typeface="Courier New" panose="02070609020205020404" pitchFamily="49" charset="0"/>
              </a:rPr>
              <a:t>	t1</a:t>
            </a:r>
            <a:endParaRPr lang="en-US" sz="1800" dirty="0">
              <a:highlight>
                <a:srgbClr val="C0C0C0"/>
              </a:highlight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完整的</a:t>
            </a:r>
            <a:r>
              <a:rPr lang="en-US" altLang="zh-CN" dirty="0">
                <a:solidFill>
                  <a:srgbClr val="00B050"/>
                </a:solidFill>
              </a:rPr>
              <a:t>movement instructions 1/2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0" y="1610718"/>
            <a:ext cx="6324600" cy="2319020"/>
          </a:xfrm>
          <a:prstGeom prst="rect">
            <a:avLst/>
          </a:prstGeom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047999" y="4191000"/>
            <a:ext cx="6425187" cy="91948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latin typeface="Courier New" panose="02070609020205020404" pitchFamily="49" charset="0"/>
              </a:rPr>
              <a:t>Source &amp; Destination: </a:t>
            </a:r>
            <a:r>
              <a:rPr lang="en-US" altLang="zh-CN" sz="1800" dirty="0">
                <a:solidFill>
                  <a:srgbClr val="FF0000"/>
                </a:solidFill>
                <a:latin typeface="Courier New" panose="02070609020205020404" pitchFamily="49" charset="0"/>
              </a:rPr>
              <a:t>equal-width</a:t>
            </a: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 err="1">
                <a:latin typeface="Courier New" panose="02070609020205020404" pitchFamily="49" charset="0"/>
              </a:rPr>
              <a:t>movq</a:t>
            </a:r>
            <a:r>
              <a:rPr lang="en-US" altLang="zh-CN" sz="1800" dirty="0">
                <a:latin typeface="Courier New" panose="02070609020205020404" pitchFamily="49" charset="0"/>
              </a:rPr>
              <a:t>:  (32bit </a:t>
            </a:r>
            <a:r>
              <a:rPr lang="en-US" altLang="zh-CN" sz="1800" dirty="0" err="1">
                <a:latin typeface="Courier New" panose="02070609020205020404" pitchFamily="49" charset="0"/>
              </a:rPr>
              <a:t>imm</a:t>
            </a:r>
            <a:r>
              <a:rPr lang="en-US" altLang="zh-CN" sz="1800" dirty="0">
                <a:latin typeface="Courier New" panose="02070609020205020404" pitchFamily="49" charset="0"/>
              </a:rPr>
              <a:t>, signed-extend)</a:t>
            </a: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 err="1">
                <a:latin typeface="Courier New" panose="02070609020205020404" pitchFamily="49" charset="0"/>
              </a:rPr>
              <a:t>movabsq</a:t>
            </a:r>
            <a:r>
              <a:rPr lang="en-US" altLang="zh-CN" sz="1800" dirty="0">
                <a:latin typeface="Courier New" panose="02070609020205020404" pitchFamily="49" charset="0"/>
              </a:rPr>
              <a:t>: I (64bit </a:t>
            </a:r>
            <a:r>
              <a:rPr lang="en-US" altLang="zh-CN" sz="1800" dirty="0" err="1">
                <a:latin typeface="Courier New" panose="02070609020205020404" pitchFamily="49" charset="0"/>
              </a:rPr>
              <a:t>imm</a:t>
            </a:r>
            <a:r>
              <a:rPr lang="en-US" altLang="zh-CN" sz="1800" dirty="0">
                <a:latin typeface="Courier New" panose="02070609020205020404" pitchFamily="49" charset="0"/>
              </a:rPr>
              <a:t>), R (register only)</a:t>
            </a:r>
            <a:endParaRPr lang="en-US" altLang="zh-CN" sz="1800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solidFill>
                  <a:srgbClr val="00B050"/>
                </a:solidFill>
              </a:rPr>
              <a:t>完整的</a:t>
            </a:r>
            <a:r>
              <a:rPr lang="en-US" altLang="zh-CN" b="0" dirty="0">
                <a:solidFill>
                  <a:srgbClr val="00B050"/>
                </a:solidFill>
              </a:rPr>
              <a:t>movement instructions 2/2</a:t>
            </a:r>
            <a:endParaRPr lang="zh-CN" altLang="en-US" b="0" dirty="0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008" y="1365535"/>
            <a:ext cx="7369179" cy="20270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762" y="3394069"/>
            <a:ext cx="8314140" cy="2682472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81200" y="6186433"/>
            <a:ext cx="8443302" cy="36576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 err="1">
                <a:latin typeface="Courier New" panose="02070609020205020404" pitchFamily="49" charset="0"/>
              </a:rPr>
              <a:t>cltq</a:t>
            </a:r>
            <a:r>
              <a:rPr lang="en-US" altLang="zh-CN" sz="1800" dirty="0">
                <a:latin typeface="Courier New" panose="02070609020205020404" pitchFamily="49" charset="0"/>
              </a:rPr>
              <a:t> vs </a:t>
            </a:r>
            <a:r>
              <a:rPr lang="en-US" altLang="zh-CN" sz="1800" dirty="0" err="1">
                <a:latin typeface="Courier New" panose="02070609020205020404" pitchFamily="49" charset="0"/>
              </a:rPr>
              <a:t>movslq</a:t>
            </a:r>
            <a:r>
              <a:rPr lang="en-US" altLang="zh-CN" sz="1800" dirty="0">
                <a:latin typeface="Courier New" panose="02070609020205020404" pitchFamily="49" charset="0"/>
              </a:rPr>
              <a:t>: more compact encoding with implicit </a:t>
            </a:r>
            <a:r>
              <a:rPr lang="en-US" altLang="zh-CN" sz="1800" dirty="0" err="1">
                <a:latin typeface="Courier New" panose="02070609020205020404" pitchFamily="49" charset="0"/>
              </a:rPr>
              <a:t>regisers</a:t>
            </a:r>
            <a:endParaRPr lang="en-US" altLang="zh-CN" sz="1800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0870" y="435610"/>
            <a:ext cx="8675370" cy="762000"/>
          </a:xfrm>
        </p:spPr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</a:rPr>
              <a:t>mov</a:t>
            </a:r>
            <a:r>
              <a:rPr lang="zh-CN" altLang="en-US" dirty="0">
                <a:solidFill>
                  <a:srgbClr val="00B050"/>
                </a:solidFill>
              </a:rPr>
              <a:t>指令</a:t>
            </a:r>
            <a:r>
              <a:rPr lang="en-US" altLang="zh-CN" dirty="0">
                <a:solidFill>
                  <a:srgbClr val="00B050"/>
                </a:solidFill>
              </a:rPr>
              <a:t> vs C</a:t>
            </a:r>
            <a:r>
              <a:rPr lang="zh-CN" altLang="en-US" dirty="0">
                <a:solidFill>
                  <a:srgbClr val="00B050"/>
                </a:solidFill>
              </a:rPr>
              <a:t>语言中的</a:t>
            </a:r>
            <a:r>
              <a:rPr lang="zh-CN" altLang="en-US" dirty="0">
                <a:solidFill>
                  <a:srgbClr val="00B050"/>
                </a:solidFill>
              </a:rPr>
              <a:t>赋值语句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39566" y="1362075"/>
            <a:ext cx="7896225" cy="4972050"/>
          </a:xfrm>
        </p:spPr>
        <p:txBody>
          <a:bodyPr/>
          <a:lstStyle/>
          <a:p>
            <a:r>
              <a:rPr lang="en-US" altLang="zh-CN" dirty="0" err="1"/>
              <a:t>mov (in assembly) vs assignment (in C)</a:t>
            </a:r>
            <a:endParaRPr lang="zh-CN" altLang="en-US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981201" y="1752600"/>
            <a:ext cx="7491986" cy="313563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latin typeface="Courier New" panose="02070609020205020404" pitchFamily="49" charset="0"/>
              </a:rPr>
              <a:t>char c1, c2;</a:t>
            </a: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latin typeface="Courier New" panose="02070609020205020404" pitchFamily="49" charset="0"/>
              </a:rPr>
              <a:t>short s1, s2, *</a:t>
            </a:r>
            <a:r>
              <a:rPr lang="en-US" altLang="zh-CN" sz="1800" dirty="0" err="1">
                <a:latin typeface="Courier New" panose="02070609020205020404" pitchFamily="49" charset="0"/>
              </a:rPr>
              <a:t>ps</a:t>
            </a:r>
            <a:r>
              <a:rPr lang="en-US" altLang="zh-CN" sz="1800" dirty="0">
                <a:latin typeface="Courier New" panose="02070609020205020404" pitchFamily="49" charset="0"/>
              </a:rPr>
              <a:t>;</a:t>
            </a: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 err="1">
                <a:latin typeface="Courier New" panose="02070609020205020404" pitchFamily="49" charset="0"/>
              </a:rPr>
              <a:t>int</a:t>
            </a:r>
            <a:r>
              <a:rPr lang="en-US" altLang="zh-CN" sz="1800" dirty="0">
                <a:latin typeface="Courier New" panose="02070609020205020404" pitchFamily="49" charset="0"/>
              </a:rPr>
              <a:t> </a:t>
            </a:r>
            <a:r>
              <a:rPr lang="en-US" altLang="zh-CN" sz="1800" dirty="0" err="1">
                <a:latin typeface="Courier New" panose="02070609020205020404" pitchFamily="49" charset="0"/>
              </a:rPr>
              <a:t>i</a:t>
            </a:r>
            <a:r>
              <a:rPr lang="zh-CN" altLang="en-US" sz="1800" dirty="0">
                <a:latin typeface="Courier New" panose="02070609020205020404" pitchFamily="49" charset="0"/>
              </a:rPr>
              <a:t>；</a:t>
            </a: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latin typeface="Courier New" panose="02070609020205020404" pitchFamily="49" charset="0"/>
              </a:rPr>
              <a:t>long l;</a:t>
            </a: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latin typeface="Courier New" panose="02070609020205020404" pitchFamily="49" charset="0"/>
              </a:rPr>
              <a:t>c1 = c2;          #</a:t>
            </a:r>
            <a:r>
              <a:rPr lang="en-US" altLang="zh-CN" sz="1800" dirty="0" err="1">
                <a:latin typeface="Courier New" panose="02070609020205020404" pitchFamily="49" charset="0"/>
              </a:rPr>
              <a:t>movb</a:t>
            </a: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latin typeface="Courier New" panose="02070609020205020404" pitchFamily="49" charset="0"/>
              </a:rPr>
              <a:t>s1 = s2;		#</a:t>
            </a:r>
            <a:r>
              <a:rPr lang="en-US" altLang="zh-CN" sz="1800" dirty="0" err="1">
                <a:latin typeface="Courier New" panose="02070609020205020404" pitchFamily="49" charset="0"/>
              </a:rPr>
              <a:t>movw</a:t>
            </a: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latin typeface="Courier New" panose="02070609020205020404" pitchFamily="49" charset="0"/>
              </a:rPr>
              <a:t>l = </a:t>
            </a:r>
            <a:r>
              <a:rPr lang="en-US" altLang="zh-CN" sz="1800" dirty="0" err="1">
                <a:latin typeface="Courier New" panose="02070609020205020404" pitchFamily="49" charset="0"/>
              </a:rPr>
              <a:t>i</a:t>
            </a:r>
            <a:r>
              <a:rPr lang="en-US" altLang="zh-CN" sz="1800" dirty="0">
                <a:latin typeface="Courier New" panose="02070609020205020404" pitchFamily="49" charset="0"/>
              </a:rPr>
              <a:t>;		#</a:t>
            </a:r>
            <a:r>
              <a:rPr lang="en-US" altLang="zh-CN" sz="1800" dirty="0" err="1">
                <a:latin typeface="Courier New" panose="02070609020205020404" pitchFamily="49" charset="0"/>
              </a:rPr>
              <a:t>movslq</a:t>
            </a: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solidFill>
                  <a:srgbClr val="00B050"/>
                </a:solidFill>
                <a:latin typeface="Courier New" panose="02070609020205020404" pitchFamily="49" charset="0"/>
              </a:rPr>
              <a:t>*</a:t>
            </a:r>
            <a:r>
              <a:rPr lang="en-US" altLang="zh-CN" sz="1800" dirty="0" err="1">
                <a:solidFill>
                  <a:srgbClr val="00B050"/>
                </a:solidFill>
                <a:latin typeface="Courier New" panose="02070609020205020404" pitchFamily="49" charset="0"/>
              </a:rPr>
              <a:t>ps</a:t>
            </a:r>
            <a:r>
              <a:rPr lang="en-US" altLang="zh-CN" sz="1800" dirty="0">
                <a:solidFill>
                  <a:srgbClr val="00B050"/>
                </a:solidFill>
                <a:latin typeface="Courier New" panose="02070609020205020404" pitchFamily="49" charset="0"/>
              </a:rPr>
              <a:t> = s1?</a:t>
            </a:r>
            <a:endParaRPr lang="en-US" altLang="zh-CN" sz="1800" dirty="0">
              <a:solidFill>
                <a:srgbClr val="00B050"/>
              </a:solidFill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endParaRPr lang="en-US" altLang="zh-CN" sz="1800" dirty="0"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endParaRPr lang="en-US" altLang="zh-CN" sz="1800" dirty="0">
              <a:latin typeface="Courier New" panose="02070609020205020404" pitchFamily="49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Memory Addressing Modes</a:t>
            </a:r>
            <a:br>
              <a:rPr lang="en-US"/>
            </a:br>
            <a:r>
              <a:rPr lang="zh-CN" altLang="en-US"/>
              <a:t>简单的内存寻址</a:t>
            </a:r>
            <a:r>
              <a:rPr lang="zh-CN" altLang="en-US"/>
              <a:t>模式</a:t>
            </a:r>
            <a:endParaRPr lang="zh-CN" alt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基本形式：</a:t>
            </a:r>
            <a:r>
              <a:rPr lang="en-US"/>
              <a:t>(R)</a:t>
            </a:r>
            <a:endParaRPr lang="zh-CN" altLang="en-US"/>
          </a:p>
          <a:p>
            <a:pPr lvl="1"/>
            <a:r>
              <a:rPr lang="zh-CN" altLang="en-US"/>
              <a:t>表示：</a:t>
            </a:r>
            <a:r>
              <a:rPr lang="en-US"/>
              <a:t>Mem[Reg[R]]</a:t>
            </a:r>
            <a:endParaRPr lang="en-US"/>
          </a:p>
          <a:p>
            <a:pPr lvl="1"/>
            <a:r>
              <a:rPr lang="zh-CN" altLang="en-US"/>
              <a:t>寄存器</a:t>
            </a:r>
            <a:r>
              <a:rPr lang="en-US"/>
              <a:t>R </a:t>
            </a:r>
            <a:r>
              <a:rPr lang="zh-CN" altLang="en-US"/>
              <a:t>指定内存地址</a:t>
            </a:r>
            <a:endParaRPr lang="en-US"/>
          </a:p>
          <a:p>
            <a:pPr lvl="1"/>
            <a:r>
              <a:rPr lang="zh-CN" altLang="en-US"/>
              <a:t>对应于</a:t>
            </a:r>
            <a:r>
              <a:rPr lang="en-US" altLang="zh-CN"/>
              <a:t>C/C++</a:t>
            </a:r>
            <a:r>
              <a:rPr lang="zh-CN" altLang="en-US"/>
              <a:t>语言中的指针解引用</a:t>
            </a:r>
            <a:br>
              <a:rPr lang="en-US"/>
            </a:br>
            <a:br>
              <a:rPr lang="en-US"/>
            </a:br>
            <a:r>
              <a:rPr lang="en-US"/>
              <a:t>movq (%rcx),%rax</a:t>
            </a:r>
            <a:endParaRPr lang="en-US"/>
          </a:p>
          <a:p>
            <a:pPr lvl="1"/>
            <a:endParaRPr lang="en-US"/>
          </a:p>
          <a:p>
            <a:r>
              <a:rPr lang="zh-CN" altLang="en-US"/>
              <a:t>带偏移形式：</a:t>
            </a:r>
            <a:r>
              <a:rPr lang="en-US"/>
              <a:t>D(R)	</a:t>
            </a:r>
            <a:endParaRPr lang="en-US"/>
          </a:p>
          <a:p>
            <a:pPr lvl="1"/>
            <a:r>
              <a:rPr lang="zh-CN" altLang="en-US" sz="2000"/>
              <a:t>表示：</a:t>
            </a:r>
            <a:r>
              <a:rPr lang="en-US"/>
              <a:t>Mem[Reg[R]+D]</a:t>
            </a:r>
            <a:endParaRPr lang="en-US"/>
          </a:p>
          <a:p>
            <a:pPr lvl="1"/>
            <a:r>
              <a:rPr lang="zh-CN" altLang="en-US"/>
              <a:t>寄存器</a:t>
            </a:r>
            <a:r>
              <a:rPr lang="en-US"/>
              <a:t>R </a:t>
            </a:r>
            <a:r>
              <a:rPr lang="zh-CN" altLang="en-US"/>
              <a:t>指定内存块的起始地址</a:t>
            </a:r>
            <a:endParaRPr lang="en-US"/>
          </a:p>
          <a:p>
            <a:pPr lvl="1"/>
            <a:r>
              <a:rPr lang="zh-CN" altLang="en-US"/>
              <a:t>常量偏移</a:t>
            </a:r>
            <a:r>
              <a:rPr lang="en-US"/>
              <a:t> D </a:t>
            </a:r>
            <a:r>
              <a:rPr lang="zh-CN" altLang="en-US"/>
              <a:t>指定偏移</a:t>
            </a:r>
            <a:br>
              <a:rPr lang="en-US"/>
            </a:br>
            <a:br>
              <a:rPr lang="en-US"/>
            </a:br>
            <a:r>
              <a:rPr lang="en-US"/>
              <a:t>movq 8(%rbp),%</a:t>
            </a:r>
            <a:r>
              <a:rPr lang="en-US"/>
              <a:t>rdx</a:t>
            </a:r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93712"/>
            <a:ext cx="8077200" cy="573088"/>
          </a:xfrm>
        </p:spPr>
        <p:txBody>
          <a:bodyPr/>
          <a:lstStyle/>
          <a:p>
            <a:r>
              <a:rPr lang="en-US" sz="3200" dirty="0"/>
              <a:t>Complete Memory Addressing Modes</a:t>
            </a:r>
            <a:br>
              <a:rPr lang="en-US" sz="3200" dirty="0"/>
            </a:br>
            <a:r>
              <a:rPr lang="zh-CN" altLang="en-US" sz="3200" dirty="0"/>
              <a:t>完整的内存</a:t>
            </a:r>
            <a:r>
              <a:rPr lang="zh-CN" altLang="en-US" sz="3200" dirty="0"/>
              <a:t>地址模式</a:t>
            </a:r>
            <a:endParaRPr lang="zh-CN" altLang="en-US" sz="3200" dirty="0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4513" y="1250950"/>
            <a:ext cx="8307387" cy="5530850"/>
          </a:xfrm>
        </p:spPr>
        <p:txBody>
          <a:bodyPr/>
          <a:lstStyle/>
          <a:p>
            <a:pPr marL="224155" indent="-224155" defTabSz="895350">
              <a:tabLst>
                <a:tab pos="1206500" algn="l"/>
                <a:tab pos="3657600" algn="l"/>
              </a:tabLst>
            </a:pPr>
            <a:r>
              <a:rPr lang="zh-CN" altLang="en-US" dirty="0"/>
              <a:t>最通用的形式</a:t>
            </a:r>
            <a:endParaRPr lang="en-US" dirty="0"/>
          </a:p>
          <a:p>
            <a:pPr marL="224155" indent="-224155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 D]</a:t>
            </a:r>
            <a:endParaRPr lang="en-US" dirty="0"/>
          </a:p>
          <a:p>
            <a:pPr marL="560705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D: 	Constant “displacement” 1, 2, or 4 bytes</a:t>
            </a:r>
            <a:endParaRPr lang="en-US" dirty="0"/>
          </a:p>
          <a:p>
            <a:pPr marL="560705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Rb</a:t>
            </a:r>
            <a:r>
              <a:rPr lang="en-US" dirty="0"/>
              <a:t>: 	Base register: Any of 16 integer registers</a:t>
            </a:r>
            <a:endParaRPr lang="en-US" dirty="0"/>
          </a:p>
          <a:p>
            <a:pPr marL="560705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Ri</a:t>
            </a:r>
            <a:r>
              <a:rPr lang="en-US" dirty="0"/>
              <a:t>:	Index register: Any, except for </a:t>
            </a:r>
            <a:r>
              <a:rPr lang="en-US" b="1" dirty="0">
                <a:latin typeface="Courier New" panose="02070609020205020404" pitchFamily="49" charset="0"/>
              </a:rPr>
              <a:t>%</a:t>
            </a:r>
            <a:r>
              <a:rPr lang="en-US" b="1" dirty="0" err="1">
                <a:latin typeface="Courier New" panose="02070609020205020404" pitchFamily="49" charset="0"/>
              </a:rPr>
              <a:t>rsp</a:t>
            </a:r>
            <a:endParaRPr lang="en-US" b="1" dirty="0">
              <a:latin typeface="Courier New" panose="02070609020205020404" pitchFamily="49" charset="0"/>
            </a:endParaRPr>
          </a:p>
          <a:p>
            <a:pPr marL="560705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S: 	Scale: 1, 2, 4, or 8 (</a:t>
            </a:r>
            <a:r>
              <a:rPr lang="en-US" i="1" dirty="0">
                <a:solidFill>
                  <a:srgbClr val="00B050"/>
                </a:solidFill>
              </a:rPr>
              <a:t>why these numbers?</a:t>
            </a:r>
            <a:r>
              <a:rPr lang="en-US" dirty="0"/>
              <a:t>)</a:t>
            </a:r>
            <a:endParaRPr lang="en-US" dirty="0"/>
          </a:p>
          <a:p>
            <a:pPr marL="560705" lvl="1" indent="-222250" defTabSz="895350">
              <a:tabLst>
                <a:tab pos="1206500" algn="l"/>
                <a:tab pos="3657600" algn="l"/>
              </a:tabLst>
            </a:pPr>
            <a:r>
              <a:rPr lang="en-US" b="1" dirty="0">
                <a:latin typeface="Times New Roman Bold" panose="02020603050405020304" charset="0"/>
                <a:cs typeface="Times New Roman Bold" panose="02020603050405020304" charset="0"/>
              </a:rPr>
              <a:t>mov 8(rbx, rcx, 4), rsp</a:t>
            </a:r>
            <a:endParaRPr lang="en-US" dirty="0"/>
          </a:p>
          <a:p>
            <a:pPr marL="224155" indent="-224155" defTabSz="895350">
              <a:tabLst>
                <a:tab pos="1206500" algn="l"/>
                <a:tab pos="3657600" algn="l"/>
              </a:tabLst>
            </a:pPr>
            <a:endParaRPr lang="zh-CN" altLang="en-US" dirty="0"/>
          </a:p>
          <a:p>
            <a:pPr marL="224155" indent="-224155" defTabSz="895350">
              <a:tabLst>
                <a:tab pos="1206500" algn="l"/>
                <a:tab pos="3657600" algn="l"/>
              </a:tabLst>
            </a:pPr>
            <a:r>
              <a:rPr lang="zh-CN" altLang="en-US" dirty="0"/>
              <a:t>特例</a:t>
            </a:r>
            <a:endParaRPr lang="en-US" dirty="0"/>
          </a:p>
          <a:p>
            <a:pPr marL="224155" indent="-224155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  <a:endParaRPr lang="en-US" dirty="0"/>
          </a:p>
          <a:p>
            <a:pPr marL="224155" indent="-224155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]+D]</a:t>
            </a:r>
            <a:endParaRPr lang="en-US" dirty="0"/>
          </a:p>
          <a:p>
            <a:pPr marL="224155" indent="-224155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完整的操作数形式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>
                <a:solidFill>
                  <a:srgbClr val="00B050"/>
                </a:solidFill>
              </a:rPr>
              <a:t>为什么设计这么多地址</a:t>
            </a:r>
            <a:r>
              <a:rPr lang="zh-CN" altLang="en-US" dirty="0">
                <a:solidFill>
                  <a:srgbClr val="00B050"/>
                </a:solidFill>
              </a:rPr>
              <a:t>表达式模式？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1681" y="1981200"/>
            <a:ext cx="6930766" cy="2750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/>
        </p:nvGraphicFramePr>
        <p:xfrm>
          <a:off x="2591095" y="3048000"/>
          <a:ext cx="6934200" cy="2814320"/>
        </p:xfrm>
        <a:graphic>
          <a:graphicData uri="http://schemas.openxmlformats.org/drawingml/2006/table">
            <a:tbl>
              <a:tblPr/>
              <a:tblGrid>
                <a:gridCol w="2672080"/>
                <a:gridCol w="2741295"/>
                <a:gridCol w="1520825"/>
              </a:tblGrid>
              <a:tr h="782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panose="020B0300000000000000" charset="-128"/>
                          <a:cs typeface="ヒラギノ角ゴ ProN W6" panose="020B0300000000000000" charset="-128"/>
                          <a:sym typeface="Calibri Bold" charset="0"/>
                        </a:rPr>
                        <a:t>Expression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Bold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alibri Bold" charset="0"/>
                      </a:endParaRP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panose="020B0300000000000000" charset="-128"/>
                          <a:cs typeface="ヒラギノ角ゴ ProN W6" panose="020B0300000000000000" charset="-128"/>
                          <a:sym typeface="Calibri Bold" charset="0"/>
                        </a:rPr>
                        <a:t>Address Computation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Bold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alibri Bold" charset="0"/>
                      </a:endParaRP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panose="020B0300000000000000" charset="-128"/>
                          <a:cs typeface="ヒラギノ角ゴ ProN W6" panose="020B0300000000000000" charset="-128"/>
                          <a:sym typeface="Calibri Bold" charset="0"/>
                        </a:rPr>
                        <a:t>Address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Bold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alibri Bold" charset="0"/>
                      </a:endParaRP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 pitchFamily="49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ourier New" panose="02070609020205020404" pitchFamily="49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 pitchFamily="49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ourier New" panose="02070609020205020404" pitchFamily="49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 pitchFamily="49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ourier New" panose="02070609020205020404" pitchFamily="49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 pitchFamily="49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ourier New" panose="02070609020205020404" pitchFamily="49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(%rdx,%rcx,4)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 pitchFamily="49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ourier New" panose="02070609020205020404" pitchFamily="49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 pitchFamily="49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ourier New" panose="02070609020205020404" pitchFamily="49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0x80(,%rdx,2)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 pitchFamily="49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ourier New" panose="02070609020205020404" pitchFamily="49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609020205020404" pitchFamily="49" charset="0"/>
                        <a:ea typeface="ヒラギノ角ゴ ProN W3" panose="020B0300000000000000" charset="-128"/>
                        <a:cs typeface="ヒラギノ角ゴ ProN W3" panose="020B0300000000000000" charset="-128"/>
                        <a:sym typeface="Courier New" panose="02070609020205020404" pitchFamily="49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xfrm>
            <a:off x="1916578" y="422978"/>
            <a:ext cx="7592093" cy="762000"/>
          </a:xfrm>
        </p:spPr>
        <p:txBody>
          <a:bodyPr/>
          <a:lstStyle/>
          <a:p>
            <a:pPr marL="81280" indent="-81280"/>
            <a:r>
              <a:rPr lang="zh-CN" altLang="en-US" sz="3200" dirty="0"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地址计算</a:t>
            </a:r>
            <a:endParaRPr lang="zh-CN" altLang="en-US" sz="3200" dirty="0"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graphicFrame>
        <p:nvGraphicFramePr>
          <p:cNvPr id="12350" name="Group 62"/>
          <p:cNvGraphicFramePr>
            <a:graphicFrameLocks noGrp="1"/>
          </p:cNvGraphicFramePr>
          <p:nvPr/>
        </p:nvGraphicFramePr>
        <p:xfrm>
          <a:off x="2590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/>
                <a:gridCol w="13208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0xf000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0x0100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1280" indent="-81280"/>
            <a:r>
              <a:rPr lang="en-US" dirty="0"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Address Computation Examples</a:t>
            </a:r>
            <a:endParaRPr lang="en-US" dirty="0">
              <a:latin typeface="Calibri" pitchFamily="34" charset="0"/>
              <a:ea typeface="ヒラギノ角ゴ ProN W3" panose="020B0300000000000000" charset="-128"/>
              <a:cs typeface="ヒラギノ角ゴ ProN W3" panose="020B0300000000000000" charset="-128"/>
              <a:sym typeface="Calibri" pitchFamily="34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/>
        </p:nvGraphicFramePr>
        <p:xfrm>
          <a:off x="2574585" y="3200400"/>
          <a:ext cx="6934200" cy="2605405"/>
        </p:xfrm>
        <a:graphic>
          <a:graphicData uri="http://schemas.openxmlformats.org/drawingml/2006/table">
            <a:tbl>
              <a:tblPr/>
              <a:tblGrid>
                <a:gridCol w="2672080"/>
                <a:gridCol w="2741295"/>
                <a:gridCol w="1520825"/>
              </a:tblGrid>
              <a:tr h="782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panose="020B0300000000000000" charset="-128"/>
                          <a:cs typeface="ヒラギノ角ゴ ProN W6" panose="020B0300000000000000" charset="-128"/>
                          <a:sym typeface="Calibri Bold" charset="0"/>
                        </a:rPr>
                        <a:t>Expression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Bold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alibri Bold" charset="0"/>
                      </a:endParaRP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panose="020B0300000000000000" charset="-128"/>
                          <a:cs typeface="ヒラギノ角ゴ ProN W6" panose="020B0300000000000000" charset="-128"/>
                          <a:sym typeface="Calibri Bold" charset="0"/>
                        </a:rPr>
                        <a:t>Address Computation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Bold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alibri Bold" charset="0"/>
                      </a:endParaRP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panose="020B0300000000000000" charset="-128"/>
                          <a:cs typeface="ヒラギノ角ゴ ProN W6" panose="020B0300000000000000" charset="-128"/>
                          <a:sym typeface="Calibri Bold" charset="0"/>
                        </a:rPr>
                        <a:t>Address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 Bold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alibri Bold" charset="0"/>
                      </a:endParaRP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0xf000 + 0x8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0xf008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0xf000 + 0x100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0xf100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52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(%rdx,%rcx,4)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0xf000 + 4*0x100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0xf400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559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0x80(,%rdx,2)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2*0xf000 + 0x80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0x1e080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/>
        </p:nvGraphicFramePr>
        <p:xfrm>
          <a:off x="2590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/>
                <a:gridCol w="13208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0xf000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pitchFamily="18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0x0100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</a:rPr>
              <a:t>Connect addressing modes to C</a:t>
            </a:r>
            <a:br>
              <a:rPr lang="en-US" altLang="zh-CN" dirty="0">
                <a:solidFill>
                  <a:srgbClr val="00B050"/>
                </a:solidFill>
              </a:rPr>
            </a:br>
            <a:r>
              <a:rPr lang="zh-CN" altLang="en-US" dirty="0">
                <a:solidFill>
                  <a:srgbClr val="00B050"/>
                </a:solidFill>
              </a:rPr>
              <a:t>不同寻址模式对应的</a:t>
            </a:r>
            <a:r>
              <a:rPr lang="en-US" altLang="zh-CN" dirty="0">
                <a:solidFill>
                  <a:srgbClr val="00B050"/>
                </a:solidFill>
              </a:rPr>
              <a:t>C</a:t>
            </a:r>
            <a:r>
              <a:rPr lang="zh-CN" altLang="en-US" dirty="0">
                <a:solidFill>
                  <a:srgbClr val="00B050"/>
                </a:solidFill>
              </a:rPr>
              <a:t>语言</a:t>
            </a:r>
            <a:r>
              <a:rPr lang="zh-CN" altLang="en-US" dirty="0">
                <a:solidFill>
                  <a:srgbClr val="00B050"/>
                </a:solidFill>
              </a:rPr>
              <a:t>结构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21291"/>
            <a:ext cx="7896225" cy="4972050"/>
          </a:xfrm>
        </p:spPr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29064" y="1524000"/>
          <a:ext cx="6096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Addressing mode</a:t>
                      </a:r>
                      <a:endParaRPr lang="en-US" altLang="zh-CN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C syntax</a:t>
                      </a:r>
                      <a:endParaRPr lang="en-US" altLang="zh-CN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$</a:t>
                      </a:r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Imm</a:t>
                      </a:r>
                      <a:endParaRPr lang="zh-CN" altLang="en-US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3</a:t>
                      </a:r>
                      <a:endParaRPr lang="en-US" altLang="zh-CN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R</a:t>
                      </a:r>
                      <a:endParaRPr lang="en-US" altLang="zh-CN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int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 </a:t>
                      </a:r>
                      <a:r>
                        <a:rPr lang="en-US" altLang="zh-CN" b="0" baseline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i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;</a:t>
                      </a:r>
                      <a:endParaRPr lang="zh-CN" altLang="en-US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(R)</a:t>
                      </a:r>
                      <a:endParaRPr lang="en-US" altLang="zh-CN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 x = *p</a:t>
                      </a:r>
                      <a:endParaRPr lang="en-US" altLang="zh-CN" b="0" baseline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Imm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(r)</a:t>
                      </a:r>
                      <a:endParaRPr lang="zh-CN" altLang="en-US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00B050"/>
                          </a:solidFill>
                          <a:latin typeface="Arial Regular" panose="020B0704020202020204" charset="0"/>
                          <a:cs typeface="Arial Regular" panose="020B0704020202020204" charset="0"/>
                        </a:rPr>
                        <a:t>??? x = </a:t>
                      </a:r>
                      <a:r>
                        <a:rPr lang="en-US" altLang="zh-CN" b="0" dirty="0">
                          <a:solidFill>
                            <a:srgbClr val="00B050"/>
                          </a:solidFill>
                          <a:latin typeface="Arial Regular" panose="020B0704020202020204" charset="0"/>
                          <a:cs typeface="Arial Regular" panose="020B0704020202020204" charset="0"/>
                        </a:rPr>
                        <a:t>a[2]</a:t>
                      </a:r>
                      <a:endParaRPr lang="en-US" altLang="zh-CN" b="0" dirty="0">
                        <a:solidFill>
                          <a:srgbClr val="00B050"/>
                        </a:solidFill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(</a:t>
                      </a:r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Rb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,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 </a:t>
                      </a:r>
                      <a:r>
                        <a:rPr lang="en-US" altLang="zh-CN" b="0" baseline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Ri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)</a:t>
                      </a:r>
                      <a:endParaRPr lang="zh-CN" altLang="en-US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00B050"/>
                          </a:solidFill>
                          <a:latin typeface="Arial Regular" panose="020B0704020202020204" charset="0"/>
                          <a:cs typeface="Arial Regular" panose="020B0704020202020204" charset="0"/>
                        </a:rPr>
                        <a:t>???</a:t>
                      </a:r>
                      <a:endParaRPr lang="en-US" altLang="zh-CN" b="0" dirty="0">
                        <a:solidFill>
                          <a:srgbClr val="00B050"/>
                        </a:solidFill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Imm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(</a:t>
                      </a:r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Rb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,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 </a:t>
                      </a:r>
                      <a:r>
                        <a:rPr lang="en-US" altLang="zh-CN" b="0" baseline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Ri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)</a:t>
                      </a:r>
                      <a:endParaRPr lang="zh-CN" altLang="en-US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00B050"/>
                          </a:solidFill>
                          <a:latin typeface="Arial Regular" panose="020B0704020202020204" charset="0"/>
                          <a:cs typeface="Arial Regular" panose="020B0704020202020204" charset="0"/>
                        </a:rPr>
                        <a:t>???</a:t>
                      </a:r>
                      <a:endParaRPr lang="en-US" altLang="zh-CN" b="0" dirty="0">
                        <a:solidFill>
                          <a:srgbClr val="00B050"/>
                        </a:solidFill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(, </a:t>
                      </a:r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Ri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, s)</a:t>
                      </a:r>
                      <a:endParaRPr lang="zh-CN" altLang="en-US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---</a:t>
                      </a:r>
                      <a:endParaRPr lang="en-US" altLang="zh-CN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Imm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(, </a:t>
                      </a:r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Ri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,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 s)</a:t>
                      </a:r>
                      <a:endParaRPr lang="zh-CN" altLang="en-US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---</a:t>
                      </a:r>
                      <a:endParaRPr lang="en-US" altLang="zh-CN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(</a:t>
                      </a:r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Rb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,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 </a:t>
                      </a:r>
                      <a:r>
                        <a:rPr lang="en-US" altLang="zh-CN" b="0" baseline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Ri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, s)</a:t>
                      </a:r>
                      <a:endParaRPr lang="zh-CN" altLang="en-US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00B050"/>
                          </a:solidFill>
                          <a:latin typeface="Arial Regular" panose="020B0704020202020204" charset="0"/>
                          <a:cs typeface="Arial Regular" panose="020B0704020202020204" charset="0"/>
                        </a:rPr>
                        <a:t>??? x = a[i]</a:t>
                      </a:r>
                      <a:endParaRPr lang="en-US" altLang="zh-CN" b="0" dirty="0">
                        <a:solidFill>
                          <a:srgbClr val="00B050"/>
                        </a:solidFill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Imm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(</a:t>
                      </a:r>
                      <a:r>
                        <a:rPr lang="en-US" altLang="zh-CN" b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Rb</a:t>
                      </a:r>
                      <a:r>
                        <a:rPr lang="en-US" altLang="zh-CN" b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,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 </a:t>
                      </a:r>
                      <a:r>
                        <a:rPr lang="en-US" altLang="zh-CN" b="0" baseline="0" dirty="0" err="1">
                          <a:latin typeface="Arial Regular" panose="020B0704020202020204" charset="0"/>
                          <a:cs typeface="Arial Regular" panose="020B0704020202020204" charset="0"/>
                        </a:rPr>
                        <a:t>Ri</a:t>
                      </a:r>
                      <a:r>
                        <a:rPr lang="en-US" altLang="zh-CN" b="0" baseline="0" dirty="0">
                          <a:latin typeface="Arial Regular" panose="020B0704020202020204" charset="0"/>
                          <a:cs typeface="Arial Regular" panose="020B0704020202020204" charset="0"/>
                        </a:rPr>
                        <a:t>, s)</a:t>
                      </a:r>
                      <a:endParaRPr lang="zh-CN" altLang="en-US" b="0" dirty="0"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00B050"/>
                          </a:solidFill>
                          <a:latin typeface="Arial Regular" panose="020B0704020202020204" charset="0"/>
                          <a:cs typeface="Arial Regular" panose="020B0704020202020204" charset="0"/>
                        </a:rPr>
                        <a:t>???</a:t>
                      </a:r>
                      <a:endParaRPr lang="en-US" altLang="zh-CN" b="0" dirty="0">
                        <a:solidFill>
                          <a:srgbClr val="00B050"/>
                        </a:solidFill>
                        <a:latin typeface="Arial Regular" panose="020B0704020202020204" charset="0"/>
                        <a:cs typeface="Arial Regular" panose="020B07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0870" y="435610"/>
            <a:ext cx="8119110" cy="762000"/>
          </a:xfrm>
        </p:spPr>
        <p:txBody>
          <a:bodyPr/>
          <a:p>
            <a:r>
              <a:rPr lang="zh-CN" altLang="en-US"/>
              <a:t>不同的寻址模式</a:t>
            </a:r>
            <a:r>
              <a:rPr lang="en-US"/>
              <a:t>: X86-64 vs RISCV</a:t>
            </a:r>
            <a:endParaRPr lang="en-US"/>
          </a:p>
        </p:txBody>
      </p:sp>
      <p:pic>
        <p:nvPicPr>
          <p:cNvPr id="17613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920" y="3183890"/>
            <a:ext cx="6061075" cy="3436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9435" y="1197610"/>
            <a:ext cx="6061075" cy="24053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/>
              <a:t>Arithmetic &amp; logical operations</a:t>
            </a:r>
            <a:r>
              <a:rPr lang="zh-CN" altLang="en-US" dirty="0">
                <a:ea typeface="SimSun" charset="0"/>
              </a:rPr>
              <a:t>（算术逻辑运算）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/>
              <a:t>Address Computation Instruction</a:t>
            </a:r>
            <a:br>
              <a:rPr lang="en-US"/>
            </a:br>
            <a:r>
              <a:rPr lang="zh-CN" altLang="en-US"/>
              <a:t>地址计算</a:t>
            </a:r>
            <a:r>
              <a:rPr lang="zh-CN" altLang="en-US"/>
              <a:t>指令</a:t>
            </a:r>
            <a:endParaRPr lang="zh-CN" alt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leaq</a:t>
            </a:r>
            <a:r>
              <a:rPr lang="en-US" dirty="0"/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r>
              <a:rPr lang="en-US" dirty="0"/>
              <a:t>,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Dst</a:t>
            </a:r>
            <a:endParaRPr lang="en-US" dirty="0"/>
          </a:p>
          <a:p>
            <a:pPr marL="552450" lvl="1"/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en-US" dirty="0"/>
              <a:t> </a:t>
            </a:r>
            <a:r>
              <a:rPr lang="zh-CN" altLang="en-US" dirty="0"/>
              <a:t>是</a:t>
            </a:r>
            <a:r>
              <a:rPr lang="zh-CN" altLang="en-US" dirty="0"/>
              <a:t>地址表达式</a:t>
            </a:r>
            <a:endParaRPr lang="en-US" dirty="0"/>
          </a:p>
          <a:p>
            <a:pPr marL="552450" lvl="1"/>
            <a:r>
              <a:rPr lang="zh-CN" altLang="en-US" dirty="0"/>
              <a:t>将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zh-CN" altLang="en-US" dirty="0"/>
              <a:t>表示的地址存入</a:t>
            </a:r>
            <a:r>
              <a:rPr lang="en-US" dirty="0"/>
              <a:t>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Dst</a:t>
            </a:r>
            <a:endParaRPr lang="en-US" dirty="0" err="1">
              <a:latin typeface="Calibri Italic" charset="0"/>
              <a:ea typeface="Calibri Italic" charset="0"/>
              <a:cs typeface="Calibri Italic" charset="0"/>
              <a:sym typeface="Calibri Italic" charset="0"/>
            </a:endParaRPr>
          </a:p>
          <a:p>
            <a:pPr marL="552450" lvl="1"/>
            <a:r>
              <a:rPr lang="zh-CN" alt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不修改</a:t>
            </a:r>
            <a:r>
              <a:rPr lang="en-US" altLang="zh-CN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flags</a:t>
            </a:r>
            <a:r>
              <a:rPr lang="en-US" b="1" dirty="0"/>
              <a:t> </a:t>
            </a:r>
            <a:endParaRPr lang="en-US" b="1" dirty="0"/>
          </a:p>
          <a:p>
            <a:pPr>
              <a:spcBef>
                <a:spcPts val="2800"/>
              </a:spcBef>
            </a:pPr>
            <a:r>
              <a:rPr lang="zh-CN" altLang="en-US" dirty="0"/>
              <a:t>用法</a:t>
            </a:r>
            <a:endParaRPr lang="en-US" dirty="0"/>
          </a:p>
          <a:p>
            <a:pPr marL="552450" lvl="1"/>
            <a:r>
              <a:rPr lang="zh-CN" altLang="en-US" dirty="0">
                <a:solidFill>
                  <a:srgbClr val="00B050"/>
                </a:solidFill>
              </a:rPr>
              <a:t>用于计算地址</a:t>
            </a:r>
            <a:r>
              <a:rPr lang="zh-CN" altLang="en-US" dirty="0">
                <a:solidFill>
                  <a:srgbClr val="00B050"/>
                </a:solidFill>
              </a:rPr>
              <a:t>本身：这时不需要访问内存</a:t>
            </a:r>
            <a:endParaRPr lang="en-US" dirty="0"/>
          </a:p>
          <a:p>
            <a:pPr marL="838200" lvl="2"/>
            <a:r>
              <a:rPr lang="en-US" dirty="0"/>
              <a:t>E.g., translation of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p = &amp;x[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];</a:t>
            </a:r>
            <a:endParaRPr lang="en-US" dirty="0"/>
          </a:p>
          <a:p>
            <a:pPr marL="552450" lvl="1"/>
            <a:endParaRPr lang="zh-CN" altLang="en-US" dirty="0">
              <a:solidFill>
                <a:srgbClr val="00B050"/>
              </a:solidFill>
            </a:endParaRPr>
          </a:p>
          <a:p>
            <a:pPr marL="552450" lvl="1"/>
            <a:r>
              <a:rPr lang="zh-CN" altLang="en-US" dirty="0">
                <a:solidFill>
                  <a:srgbClr val="00B050"/>
                </a:solidFill>
              </a:rPr>
              <a:t>也可以</a:t>
            </a:r>
            <a:r>
              <a:rPr lang="zh-CN" altLang="en-US" dirty="0">
                <a:solidFill>
                  <a:srgbClr val="00B050"/>
                </a:solidFill>
              </a:rPr>
              <a:t>用于计算算术表达式：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形如</a:t>
            </a:r>
            <a:r>
              <a:rPr lang="en-US" dirty="0">
                <a:solidFill>
                  <a:schemeClr val="tx1"/>
                </a:solidFill>
              </a:rPr>
              <a:t> x + k*y</a:t>
            </a:r>
            <a:endParaRPr lang="en-US" dirty="0"/>
          </a:p>
          <a:p>
            <a:pPr marL="838200" lvl="2"/>
            <a:r>
              <a:rPr lang="en-US" dirty="0"/>
              <a:t>k = 1, 2, 4, or 8</a:t>
            </a:r>
            <a:endParaRPr lang="en-US" dirty="0"/>
          </a:p>
          <a:p>
            <a:pPr lvl="1"/>
            <a:r>
              <a:rPr lang="en-US" dirty="0"/>
              <a:t>Example</a:t>
            </a:r>
            <a:endParaRPr lang="en-US" dirty="0"/>
          </a:p>
        </p:txBody>
      </p:sp>
      <p:sp>
        <p:nvSpPr>
          <p:cNvPr id="13317" name="Rectangle 5"/>
          <p:cNvSpPr/>
          <p:nvPr/>
        </p:nvSpPr>
        <p:spPr bwMode="auto">
          <a:xfrm>
            <a:off x="3200400" y="5257800"/>
            <a:ext cx="2514600" cy="1346200"/>
          </a:xfrm>
          <a:prstGeom prst="rect">
            <a:avLst/>
          </a:prstGeom>
          <a:solidFill>
            <a:srgbClr val="CDF1C5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182880" tIns="0" rIns="0" bIns="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long m12(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long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x)</a:t>
            </a:r>
            <a:endParaRPr lang="en-US" b="1" dirty="0">
              <a:solidFill>
                <a:schemeClr val="tx1"/>
              </a:solidFill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{</a:t>
            </a:r>
            <a:endParaRPr lang="en-US" b="1" dirty="0">
              <a:solidFill>
                <a:schemeClr val="tx1"/>
              </a:solidFill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return x*12;</a:t>
            </a:r>
            <a:endParaRPr lang="en-US" b="1" dirty="0">
              <a:solidFill>
                <a:schemeClr val="tx1"/>
              </a:solidFill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</p:txBody>
      </p:sp>
      <p:sp>
        <p:nvSpPr>
          <p:cNvPr id="13318" name="Rectangle 6"/>
          <p:cNvSpPr/>
          <p:nvPr/>
        </p:nvSpPr>
        <p:spPr bwMode="auto">
          <a:xfrm>
            <a:off x="6248400" y="5823585"/>
            <a:ext cx="5524500" cy="685800"/>
          </a:xfrm>
          <a:prstGeom prst="rect">
            <a:avLst/>
          </a:prstGeom>
          <a:solidFill>
            <a:srgbClr val="FFFF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76200" tIns="76200" rIns="76200" bIns="76200"/>
          <a:lstStyle/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leaq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 (%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,%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,2), 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r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ax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 # t &lt;-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x+x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*2</a:t>
            </a:r>
            <a:endParaRPr lang="en-US" dirty="0">
              <a:solidFill>
                <a:schemeClr val="tx1"/>
              </a:solidFill>
              <a:latin typeface="Arial Narrow" panose="020B0706020202030204" pitchFamily="34" charset="0"/>
              <a:ea typeface="Lucida Grande" panose="020B0600040502020204" charset="0"/>
              <a:cs typeface="Lucida Grande" panose="020B0600040502020204" charset="0"/>
              <a:sym typeface="Arial Narrow" panose="020B0706020202030204" pitchFamily="34" charset="0"/>
            </a:endParaRPr>
          </a:p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salq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 $2, %</a:t>
            </a:r>
            <a:r>
              <a:rPr lang="en-US" sz="1800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r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ax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            </a:t>
            </a:r>
            <a:r>
              <a:rPr lang="en-US" sz="1800" dirty="0"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# 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return t&lt;&lt;2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" panose="02070609020205020404" pitchFamily="49" charset="0"/>
            </a:endParaRPr>
          </a:p>
        </p:txBody>
      </p:sp>
      <p:sp>
        <p:nvSpPr>
          <p:cNvPr id="13319" name="Rectangle 7"/>
          <p:cNvSpPr/>
          <p:nvPr/>
        </p:nvSpPr>
        <p:spPr bwMode="auto">
          <a:xfrm>
            <a:off x="6205538" y="5379085"/>
            <a:ext cx="2222500" cy="368935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对应的汇编指令</a:t>
            </a:r>
            <a:r>
              <a:rPr lang="en-US" sz="24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:</a:t>
            </a:r>
            <a:endParaRPr lang="en-US" sz="24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2" name="Rectangle 6"/>
          <p:cNvSpPr/>
          <p:nvPr/>
        </p:nvSpPr>
        <p:spPr bwMode="auto">
          <a:xfrm>
            <a:off x="6240145" y="3886200"/>
            <a:ext cx="5524500" cy="685800"/>
          </a:xfrm>
          <a:prstGeom prst="rect">
            <a:avLst/>
          </a:prstGeom>
          <a:solidFill>
            <a:srgbClr val="FFFF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76200" tIns="76200" rIns="76200" bIns="76200"/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#</a:t>
            </a:r>
            <a:r>
              <a:rPr lang="zh-CN" alt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假设</a:t>
            </a:r>
            <a:r>
              <a:rPr lang="en-US" altLang="zh-CN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x</a:t>
            </a:r>
            <a:r>
              <a:rPr lang="zh-CN" alt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在</a:t>
            </a:r>
            <a:r>
              <a:rPr lang="en-US" altLang="zh-CN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%rdi，i</a:t>
            </a:r>
            <a:r>
              <a:rPr lang="zh-CN" alt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在</a:t>
            </a:r>
            <a:r>
              <a:rPr lang="en-US" altLang="zh-CN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%rsi，p</a:t>
            </a:r>
            <a:r>
              <a:rPr lang="zh-CN" alt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在</a:t>
            </a:r>
            <a:r>
              <a:rPr lang="en-US" altLang="zh-CN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%rax</a:t>
            </a:r>
            <a:endParaRPr lang="en-US" sz="1800" dirty="0" err="1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" panose="02070609020205020404" pitchFamily="49" charset="0"/>
            </a:endParaRPr>
          </a:p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" panose="02070609020205020404" pitchFamily="49" charset="0"/>
              </a:rPr>
              <a:t>leaq (%rdi, %rsi, 4), %rax</a:t>
            </a:r>
            <a:endParaRPr lang="en-US" sz="1800" dirty="0" err="1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" panose="02070609020205020404" pitchFamily="49" charset="0"/>
            </a:endParaRPr>
          </a:p>
        </p:txBody>
      </p:sp>
      <p:sp>
        <p:nvSpPr>
          <p:cNvPr id="3" name="Rectangle 7"/>
          <p:cNvSpPr/>
          <p:nvPr/>
        </p:nvSpPr>
        <p:spPr bwMode="auto">
          <a:xfrm>
            <a:off x="6171883" y="3339465"/>
            <a:ext cx="2222500" cy="368935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p>
            <a:r>
              <a:rPr lang="zh-CN" altLang="en-US" sz="24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对应的汇编指令</a:t>
            </a:r>
            <a:r>
              <a:rPr lang="en-US" sz="24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:</a:t>
            </a:r>
            <a:endParaRPr lang="en-US" sz="24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57800" y="1600200"/>
            <a:ext cx="6096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 smtClean="0">
                <a:solidFill>
                  <a:srgbClr val="00B050"/>
                </a:solidFill>
                <a:latin typeface="Calibri" pitchFamily="34" charset="0"/>
              </a:rPr>
              <a:t>leaq</a:t>
            </a:r>
            <a:r>
              <a:rPr lang="zh-CN" altLang="en-US" sz="2000" dirty="0" smtClean="0">
                <a:solidFill>
                  <a:srgbClr val="00B050"/>
                </a:solidFill>
                <a:latin typeface="Calibri" pitchFamily="34" charset="0"/>
              </a:rPr>
              <a:t>指令，使用了地址表达式的形式，本质上完成算术运算（而不用访问内存）。</a:t>
            </a:r>
            <a:endParaRPr lang="zh-CN" altLang="en-US" sz="2000" dirty="0" smtClean="0">
              <a:solidFill>
                <a:srgbClr val="00B050"/>
              </a:solidFill>
              <a:latin typeface="Calibri" pitchFamily="34" charset="0"/>
            </a:endParaRPr>
          </a:p>
          <a:p>
            <a:r>
              <a:rPr lang="zh-CN" altLang="en-US" sz="2000" dirty="0" smtClean="0">
                <a:solidFill>
                  <a:srgbClr val="00B050"/>
                </a:solidFill>
                <a:latin typeface="Calibri" pitchFamily="34" charset="0"/>
              </a:rPr>
              <a:t>由于这个硬件能力，既可以被用来计算地址，也可以用了计算算术表达式</a:t>
            </a:r>
            <a:endParaRPr lang="zh-CN" altLang="en-US" sz="2000" dirty="0" smtClean="0">
              <a:solidFill>
                <a:srgbClr val="00B05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为什么</a:t>
            </a:r>
            <a:r>
              <a:rPr lang="en-US" altLang="en-US"/>
              <a:t> LEA </a:t>
            </a:r>
            <a:r>
              <a:rPr lang="zh-CN" altLang="en-US"/>
              <a:t>是性能关键指令</a:t>
            </a:r>
            <a:endParaRPr lang="en-US" altLang="en-US"/>
          </a:p>
          <a:p>
            <a:pPr lvl="1"/>
            <a:r>
              <a:rPr lang="en-US" altLang="en-US"/>
              <a:t>LEA</a:t>
            </a:r>
            <a:r>
              <a:rPr lang="zh-CN" altLang="en-US"/>
              <a:t>（</a:t>
            </a:r>
            <a:r>
              <a:rPr lang="en-US" altLang="en-US"/>
              <a:t>Load Effective Address</a:t>
            </a:r>
            <a:r>
              <a:rPr lang="zh-CN" altLang="en-US"/>
              <a:t>）在</a:t>
            </a:r>
            <a:r>
              <a:rPr lang="en-US" altLang="en-US"/>
              <a:t> x86 </a:t>
            </a:r>
            <a:r>
              <a:rPr lang="zh-CN" altLang="en-US"/>
              <a:t>里之所以被称为</a:t>
            </a:r>
            <a:r>
              <a:rPr lang="en-US" altLang="en-US"/>
              <a:t>“</a:t>
            </a:r>
            <a:r>
              <a:rPr lang="zh-CN" altLang="en-US"/>
              <a:t>性能神器</a:t>
            </a:r>
            <a:r>
              <a:rPr lang="en-US" altLang="en-US"/>
              <a:t>”</a:t>
            </a:r>
            <a:r>
              <a:rPr lang="zh-CN" altLang="en-US"/>
              <a:t>，不是因为它</a:t>
            </a:r>
            <a:r>
              <a:rPr lang="en-US" altLang="en-US"/>
              <a:t>“</a:t>
            </a:r>
            <a:r>
              <a:rPr lang="zh-CN" altLang="en-US"/>
              <a:t>取地址</a:t>
            </a:r>
            <a:r>
              <a:rPr lang="en-US" altLang="en-US"/>
              <a:t>”</a:t>
            </a:r>
            <a:r>
              <a:rPr lang="zh-CN" altLang="en-US"/>
              <a:t>，而是因为：</a:t>
            </a:r>
            <a:endParaRPr lang="zh-CN" altLang="en-US"/>
          </a:p>
          <a:p>
            <a:pPr lvl="1"/>
            <a:r>
              <a:rPr lang="zh-CN" altLang="en-US"/>
              <a:t>它是一条</a:t>
            </a:r>
            <a:r>
              <a:rPr lang="en-US" altLang="en-US"/>
              <a:t>“</a:t>
            </a:r>
            <a:r>
              <a:rPr lang="zh-CN" altLang="en-US"/>
              <a:t>免费算术指令</a:t>
            </a:r>
            <a:r>
              <a:rPr lang="en-US" altLang="en-US"/>
              <a:t>”</a:t>
            </a:r>
            <a:r>
              <a:rPr lang="zh-CN" altLang="en-US"/>
              <a:t>：</a:t>
            </a:r>
            <a:r>
              <a:rPr lang="zh-CN" altLang="en-US" b="1"/>
              <a:t>不改</a:t>
            </a:r>
            <a:r>
              <a:rPr lang="en-US" altLang="en-US" b="1"/>
              <a:t> flags</a:t>
            </a:r>
            <a:r>
              <a:rPr lang="zh-CN" altLang="en-US"/>
              <a:t>、功能强、执行快、对流水线友好。</a:t>
            </a:r>
            <a:endParaRPr lang="zh-CN" altLang="en-US"/>
          </a:p>
        </p:txBody>
      </p:sp>
      <p:sp>
        <p:nvSpPr>
          <p:cNvPr id="4" name="Cloud Callout 3"/>
          <p:cNvSpPr/>
          <p:nvPr/>
        </p:nvSpPr>
        <p:spPr>
          <a:xfrm>
            <a:off x="10408920" y="435610"/>
            <a:ext cx="944880" cy="720090"/>
          </a:xfrm>
          <a:prstGeom prst="cloudCallout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Narrow" panose="020B070602020203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一些算术</a:t>
            </a:r>
            <a:r>
              <a:rPr lang="zh-CN" altLang="en-US" dirty="0"/>
              <a:t>运算</a:t>
            </a:r>
            <a:endParaRPr lang="zh-CN" altLang="en-US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20875" y="1362075"/>
            <a:ext cx="8604250" cy="4982845"/>
          </a:xfrm>
        </p:spPr>
        <p:txBody>
          <a:bodyPr/>
          <a:lstStyle/>
          <a:p>
            <a:pPr>
              <a:tabLst>
                <a:tab pos="259715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Two Operand Instructions</a:t>
            </a:r>
            <a:r>
              <a:rPr lang="zh-CN" altLang="en-US" dirty="0">
                <a:ea typeface="SimSun" charset="0"/>
              </a:rPr>
              <a:t>（二元运算）</a:t>
            </a:r>
            <a:r>
              <a:rPr lang="en-US" dirty="0"/>
              <a:t>:</a:t>
            </a:r>
            <a:endParaRPr lang="en-US" dirty="0"/>
          </a:p>
          <a:p>
            <a:pPr marL="0" lvl="1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Format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Computation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panose="020B0300000000000000" charset="-128"/>
              <a:cs typeface="ヒラギノ角ゴ ProN W6" panose="020B0300000000000000" charset="-128"/>
              <a:sym typeface="Calibri Bold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+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b="1" dirty="0" err="1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subq</a:t>
            </a:r>
            <a:r>
              <a:rPr lang="en-US" dirty="0">
                <a:solidFill>
                  <a:srgbClr val="00B050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>
                <a:solidFill>
                  <a:srgbClr val="00B050"/>
                </a:solidFill>
              </a:rPr>
              <a:t>Dest</a:t>
            </a:r>
            <a:r>
              <a:rPr lang="en-US" dirty="0">
                <a:solidFill>
                  <a:srgbClr val="00B050"/>
                </a:solidFill>
              </a:rPr>
              <a:t> = </a:t>
            </a:r>
            <a:r>
              <a:rPr lang="en-US" dirty="0" err="1">
                <a:solidFill>
                  <a:srgbClr val="00B050"/>
                </a:solidFill>
              </a:rPr>
              <a:t>Dest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  <a:latin typeface="Calibri Italic" charset="0"/>
                <a:ea typeface="Calibri Italic" charset="0"/>
                <a:cs typeface="Calibri Italic" charset="0"/>
                <a:sym typeface="Symbol"/>
              </a:rPr>
              <a:t>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imulq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*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</a:t>
            </a:r>
            <a:r>
              <a:rPr lang="en-US" b="1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</a:t>
            </a: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&lt;&lt;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Also called </a:t>
            </a:r>
            <a:r>
              <a:rPr lang="en-US" dirty="0" err="1">
                <a:solidFill>
                  <a:srgbClr val="00B050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shlq</a:t>
            </a:r>
            <a:endParaRPr lang="en-US" dirty="0">
              <a:solidFill>
                <a:srgbClr val="00B050"/>
              </a:solidFill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</a:t>
            </a:r>
            <a:r>
              <a:rPr lang="en-US" b="1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</a:t>
            </a: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rithmetic right shift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</a:t>
            </a:r>
            <a:r>
              <a:rPr lang="en-US" b="1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h</a:t>
            </a: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&gt;&gt; </a:t>
            </a:r>
            <a:r>
              <a:rPr lang="en-US" dirty="0" err="1"/>
              <a:t>Src</a:t>
            </a:r>
            <a:r>
              <a:rPr lang="en-US" dirty="0"/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Logical right shift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xorq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^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andq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&amp; </a:t>
            </a:r>
            <a:r>
              <a:rPr lang="en-US" dirty="0" err="1"/>
              <a:t>Src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orq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dirty="0"/>
              <a:t>	</a:t>
            </a:r>
            <a:r>
              <a:rPr lang="en-US" dirty="0" err="1"/>
              <a:t>Dest</a:t>
            </a:r>
            <a:r>
              <a:rPr lang="en-US" dirty="0"/>
              <a:t> = </a:t>
            </a:r>
            <a:r>
              <a:rPr lang="en-US" dirty="0" err="1"/>
              <a:t>Dest</a:t>
            </a:r>
            <a:r>
              <a:rPr lang="en-US" dirty="0"/>
              <a:t> | </a:t>
            </a:r>
            <a:r>
              <a:rPr lang="en-US" dirty="0" err="1"/>
              <a:t>Src</a:t>
            </a:r>
            <a:endParaRPr lang="en-US" dirty="0"/>
          </a:p>
          <a:p>
            <a:pPr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zh-CN" altLang="en-US" dirty="0">
                <a:solidFill>
                  <a:srgbClr val="FF0000"/>
                </a:solidFill>
              </a:rPr>
              <a:t>留意：指令中参数的顺序！</a:t>
            </a:r>
            <a:endParaRPr lang="en-US" dirty="0">
              <a:solidFill>
                <a:srgbClr val="FF0000"/>
              </a:solidFill>
            </a:endParaRPr>
          </a:p>
          <a:p>
            <a:pPr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645" algn="l"/>
              </a:tabLst>
            </a:pPr>
            <a:r>
              <a:rPr lang="en-US" dirty="0"/>
              <a:t>No distinction between signed and unsigned </a:t>
            </a:r>
            <a:r>
              <a:rPr lang="en-US" dirty="0" err="1"/>
              <a:t>int</a:t>
            </a:r>
            <a:r>
              <a:rPr lang="en-US" dirty="0"/>
              <a:t> (why?)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一些算术</a:t>
            </a:r>
            <a:r>
              <a:rPr lang="zh-CN" altLang="en-US"/>
              <a:t>运算</a:t>
            </a:r>
            <a:endParaRPr lang="zh-CN" alt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One Operand Instructions</a:t>
            </a:r>
            <a:r>
              <a:rPr lang="zh-CN" altLang="en-US" dirty="0">
                <a:ea typeface="SimSun" charset="0"/>
              </a:rPr>
              <a:t>（一元运算）</a:t>
            </a:r>
            <a:endParaRPr lang="en-US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+ 1</a:t>
            </a:r>
            <a:endParaRPr lang="en-US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decq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1</a:t>
            </a:r>
            <a:endParaRPr lang="en-US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negq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endParaRPr lang="en-US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notq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panose="020B0300000000000000" charset="-128"/>
                <a:cs typeface="ヒラギノ角ゴ ProN W6" panose="020B0300000000000000" charset="-128"/>
                <a:sym typeface="Calibri Bold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sym typeface="Calibri Italic" charset="0"/>
              </a:rPr>
              <a:t>	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~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endParaRPr lang="en-US" dirty="0">
              <a:latin typeface="Calibri Italic" charset="0"/>
              <a:sym typeface="Calibri Italic" charset="0"/>
            </a:endParaRPr>
          </a:p>
          <a:p>
            <a:pPr>
              <a:spcBef>
                <a:spcPts val="3500"/>
              </a:spcBef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See book for more instructions</a:t>
            </a:r>
            <a:endParaRPr lang="en-US" dirty="0"/>
          </a:p>
          <a:p>
            <a:pPr lvl="1">
              <a:spcBef>
                <a:spcPts val="3500"/>
              </a:spcBef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altLang="zh-CN" dirty="0"/>
              <a:t>assembly code of </a:t>
            </a:r>
            <a:r>
              <a:rPr lang="en-US" dirty="0">
                <a:sym typeface="+mn-ea"/>
              </a:rPr>
              <a:t>different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data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types</a:t>
            </a:r>
            <a:r>
              <a:rPr lang="en-US" dirty="0"/>
              <a:t>	</a:t>
            </a:r>
            <a:endParaRPr lang="en-US" dirty="0"/>
          </a:p>
          <a:p>
            <a:pPr lvl="2">
              <a:spcBef>
                <a:spcPts val="1700"/>
              </a:spcBef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solidFill>
                  <a:srgbClr val="00B050"/>
                </a:solidFill>
              </a:rPr>
              <a:t>addb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addw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addl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addq</a:t>
            </a:r>
            <a:endParaRPr lang="en-US" dirty="0">
              <a:solidFill>
                <a:srgbClr val="00B050"/>
              </a:solidFill>
            </a:endParaRPr>
          </a:p>
          <a:p>
            <a:pPr lvl="2">
              <a:spcBef>
                <a:spcPts val="1700"/>
              </a:spcBef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solidFill>
                  <a:srgbClr val="00B050"/>
                </a:solidFill>
              </a:rPr>
              <a:t>incb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incw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incl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incq</a:t>
            </a:r>
            <a:endParaRPr lang="en-US" dirty="0">
              <a:solidFill>
                <a:srgbClr val="00B050"/>
              </a:solidFill>
            </a:endParaRPr>
          </a:p>
          <a:p>
            <a:pPr lvl="2">
              <a:spcBef>
                <a:spcPts val="1700"/>
              </a:spcBef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 err="1">
                <a:solidFill>
                  <a:srgbClr val="00B050"/>
                </a:solidFill>
              </a:rPr>
              <a:t>salb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salw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sall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 err="1">
                <a:solidFill>
                  <a:srgbClr val="00B050"/>
                </a:solidFill>
              </a:rPr>
              <a:t>salq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算术运算的</a:t>
            </a:r>
            <a:r>
              <a:rPr lang="zh-CN" altLang="en-US" dirty="0"/>
              <a:t>例子</a:t>
            </a:r>
            <a:endParaRPr lang="zh-CN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10200" y="3505199"/>
            <a:ext cx="4406900" cy="28289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指令说明：</a:t>
            </a:r>
            <a:endParaRPr lang="en-US" dirty="0"/>
          </a:p>
          <a:p>
            <a:pPr lvl="1" indent="-342900"/>
            <a:r>
              <a:rPr lang="en-US" b="1" dirty="0" err="1">
                <a:latin typeface="Courier New" panose="02070609020205020404"/>
                <a:cs typeface="Courier New" panose="02070609020205020404"/>
              </a:rPr>
              <a:t>leaq</a:t>
            </a:r>
            <a:r>
              <a:rPr lang="en-US" dirty="0"/>
              <a:t>: </a:t>
            </a:r>
            <a:r>
              <a:rPr lang="zh-CN" altLang="en-US" dirty="0"/>
              <a:t>地址计算</a:t>
            </a:r>
            <a:endParaRPr lang="en-US" dirty="0"/>
          </a:p>
          <a:p>
            <a:pPr lvl="1" indent="-342900"/>
            <a:r>
              <a:rPr lang="en-US" b="1" dirty="0" err="1">
                <a:latin typeface="Courier New" panose="02070609020205020404"/>
                <a:cs typeface="Courier New" panose="02070609020205020404"/>
              </a:rPr>
              <a:t>salq</a:t>
            </a:r>
            <a:r>
              <a:rPr lang="en-US" dirty="0"/>
              <a:t>: </a:t>
            </a:r>
            <a:r>
              <a:rPr lang="zh-CN" altLang="en-US" dirty="0"/>
              <a:t>移位</a:t>
            </a:r>
            <a:endParaRPr lang="en-US" dirty="0"/>
          </a:p>
          <a:p>
            <a:pPr lvl="1" indent="-342900"/>
            <a:r>
              <a:rPr lang="en-US" b="1" dirty="0" err="1">
                <a:latin typeface="Courier New" panose="02070609020205020404"/>
                <a:cs typeface="Courier New" panose="02070609020205020404"/>
              </a:rPr>
              <a:t>imulq</a:t>
            </a:r>
            <a:r>
              <a:rPr lang="en-US" dirty="0"/>
              <a:t>: </a:t>
            </a:r>
            <a:r>
              <a:rPr lang="zh-CN" altLang="en-US" dirty="0"/>
              <a:t>乘法</a:t>
            </a:r>
            <a:endParaRPr lang="en-US" dirty="0"/>
          </a:p>
          <a:p>
            <a:pPr lvl="2" indent="-342900"/>
            <a:r>
              <a:rPr lang="zh-CN" altLang="en-US" dirty="0"/>
              <a:t>为什么只使用了一</a:t>
            </a:r>
            <a:r>
              <a:rPr lang="zh-CN" altLang="en-US" dirty="0"/>
              <a:t>次？</a:t>
            </a:r>
            <a:endParaRPr lang="zh-CN" altLang="en-US" dirty="0"/>
          </a:p>
        </p:txBody>
      </p:sp>
      <p:sp>
        <p:nvSpPr>
          <p:cNvPr id="17412" name="Rectangle 4"/>
          <p:cNvSpPr/>
          <p:nvPr/>
        </p:nvSpPr>
        <p:spPr bwMode="auto">
          <a:xfrm>
            <a:off x="1676400" y="1752600"/>
            <a:ext cx="35814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long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arith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(long x, long y, long z)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{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t1 =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x+y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t2 = z+t1;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t3 = x+4;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t4 = y * 48;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t5 = t3 + t4;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= t2 * t5;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return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}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</p:txBody>
      </p:sp>
      <p:sp>
        <p:nvSpPr>
          <p:cNvPr id="17413" name="Rectangle 5"/>
          <p:cNvSpPr/>
          <p:nvPr/>
        </p:nvSpPr>
        <p:spPr bwMode="auto">
          <a:xfrm>
            <a:off x="5773737" y="1193800"/>
            <a:ext cx="4127500" cy="2463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arith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leaq</a:t>
            </a:r>
            <a:r>
              <a:rPr lang="en-US" sz="1800" dirty="0">
                <a:solidFill>
                  <a:srgbClr val="00B050"/>
                </a:solidFill>
                <a:latin typeface="Courier New Bold" panose="02070609020205020404" charset="0"/>
                <a:ea typeface="Monaco" charset="0"/>
                <a:cs typeface="Courier New Bold" panose="02070609020205020404" charset="0"/>
                <a:sym typeface="Monaco" charset="0"/>
              </a:rPr>
              <a:t>    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(%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rsi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rax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addq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rax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(%rsi,%rsi,2),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rdx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solidFill>
                  <a:srgbClr val="00B050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salq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$4,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rdx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4(%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rcx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solidFill>
                  <a:srgbClr val="00B050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imulq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rax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xfrm>
            <a:off x="1881505" y="445135"/>
            <a:ext cx="8346440" cy="762000"/>
          </a:xfrm>
        </p:spPr>
        <p:txBody>
          <a:bodyPr/>
          <a:lstStyle/>
          <a:p>
            <a:pPr marL="119380" indent="-119380"/>
            <a:r>
              <a:rPr lang="zh-CN" altLang="en-US" sz="2800" dirty="0"/>
              <a:t>理解该</a:t>
            </a:r>
            <a:r>
              <a:rPr lang="zh-CN" altLang="en-US" sz="2800" dirty="0"/>
              <a:t>例子</a:t>
            </a:r>
            <a:endParaRPr lang="zh-CN" altLang="en-US" sz="2800" dirty="0"/>
          </a:p>
        </p:txBody>
      </p:sp>
      <p:sp>
        <p:nvSpPr>
          <p:cNvPr id="17412" name="Rectangle 4"/>
          <p:cNvSpPr/>
          <p:nvPr/>
        </p:nvSpPr>
        <p:spPr bwMode="auto">
          <a:xfrm>
            <a:off x="1676400" y="1752600"/>
            <a:ext cx="35052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long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arith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(long x, long y, long z)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{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t1 =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x+y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t2 = z+t1;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t3 = x+4;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t4 = y * 48;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t5 = t3 + t4;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long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= t2 * t5;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return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;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}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</p:txBody>
      </p:sp>
      <p:sp>
        <p:nvSpPr>
          <p:cNvPr id="17413" name="Rectangle 5"/>
          <p:cNvSpPr/>
          <p:nvPr/>
        </p:nvSpPr>
        <p:spPr bwMode="auto">
          <a:xfrm>
            <a:off x="5334000" y="1193800"/>
            <a:ext cx="5181600" cy="2463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arith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(%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rsi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# t1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addq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      # t2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(%rsi,%rsi,2),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rdx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salq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$4,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        # t4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4(%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# t5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imulq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        # </a:t>
            </a:r>
            <a:r>
              <a:rPr lang="en-US" sz="1800" dirty="0" err="1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rval</a:t>
            </a:r>
            <a:endParaRPr lang="en-US" sz="1800" dirty="0"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42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Monaco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ea typeface="Monaco" charset="0"/>
              <a:cs typeface="Courier New" panose="02070609020205020404" pitchFamily="49" charset="0"/>
              <a:sym typeface="Monaco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3733800"/>
          <a:ext cx="3352800" cy="2667000"/>
        </p:xfrm>
        <a:graphic>
          <a:graphicData uri="http://schemas.openxmlformats.org/drawingml/2006/table">
            <a:tbl>
              <a:tblPr firstRow="1" bandRow="1"/>
              <a:tblGrid>
                <a:gridCol w="1676400"/>
                <a:gridCol w="1676400"/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rdi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rsi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y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rdx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z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rax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t1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lang="en-US" baseline="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t2</a:t>
                      </a:r>
                      <a:r>
                        <a:rPr lang="en-US" baseline="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lang="en-US" b="1" i="0" baseline="0" dirty="0" err="1">
                          <a:latin typeface="Courier New" panose="02070609020205020404"/>
                          <a:cs typeface="Courier New" panose="02070609020205020404"/>
                        </a:rPr>
                        <a:t>rval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rdx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t4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rcx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 panose="020B0300000000000000" charset="-128"/>
                          <a:cs typeface="ヒラギノ角ゴ ProN W6" panose="020B0300000000000000" charset="-128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t5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505" y="445135"/>
            <a:ext cx="7954645" cy="762000"/>
          </a:xfrm>
        </p:spPr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算术运算与</a:t>
            </a:r>
            <a:r>
              <a:rPr lang="en-US" altLang="zh-CN" dirty="0">
                <a:solidFill>
                  <a:srgbClr val="00B050"/>
                </a:solidFill>
              </a:rPr>
              <a:t>C</a:t>
            </a:r>
            <a:r>
              <a:rPr lang="zh-CN" altLang="en-US" dirty="0">
                <a:solidFill>
                  <a:srgbClr val="00B050"/>
                </a:solidFill>
              </a:rPr>
              <a:t>语言</a:t>
            </a:r>
            <a:endParaRPr lang="zh-CN" altLang="en-US" dirty="0">
              <a:solidFill>
                <a:srgbClr val="00B05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629474" y="1217134"/>
          <a:ext cx="6096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Arithmetic operations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 syntax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ADD/SUB/IMUL/OR/AND/XOR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+, -, *, |, &amp;, ^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INC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++p; p++; </a:t>
                      </a:r>
                      <a:r>
                        <a:rPr lang="en-US" altLang="zh-CN" dirty="0" err="1"/>
                        <a:t>i</a:t>
                      </a:r>
                      <a:r>
                        <a:rPr lang="en-US" altLang="zh-CN" dirty="0"/>
                        <a:t>++; ++ </a:t>
                      </a:r>
                      <a:r>
                        <a:rPr lang="en-US" altLang="zh-CN" dirty="0" err="1"/>
                        <a:t>i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DEC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--p;</a:t>
                      </a:r>
                      <a:r>
                        <a:rPr lang="en-US" altLang="zh-CN" baseline="0" dirty="0"/>
                        <a:t> p--; --</a:t>
                      </a:r>
                      <a:r>
                        <a:rPr lang="en-US" altLang="zh-CN" baseline="0" dirty="0" err="1"/>
                        <a:t>i</a:t>
                      </a:r>
                      <a:r>
                        <a:rPr lang="en-US" altLang="zh-CN" baseline="0" dirty="0"/>
                        <a:t>; </a:t>
                      </a:r>
                      <a:r>
                        <a:rPr lang="en-US" altLang="zh-CN" baseline="0" dirty="0" err="1"/>
                        <a:t>i</a:t>
                      </a:r>
                      <a:r>
                        <a:rPr lang="en-US" altLang="zh-CN" baseline="0" dirty="0"/>
                        <a:t>--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NEG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/>
                        <a:t> -x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NOT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~x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SAL/SHL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&lt;&lt;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???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SHR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???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目前为止学过的</a:t>
            </a:r>
            <a:r>
              <a:rPr lang="zh-CN" altLang="en-US" dirty="0"/>
              <a:t>指令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 (b, w, l, q)</a:t>
            </a:r>
            <a:endParaRPr lang="en-US" dirty="0"/>
          </a:p>
          <a:p>
            <a:r>
              <a:rPr lang="en-US" dirty="0"/>
              <a:t>lea, add, sub, mul, div</a:t>
            </a:r>
            <a:endParaRPr lang="en-US" dirty="0"/>
          </a:p>
          <a:p>
            <a:r>
              <a:rPr lang="en-US" dirty="0"/>
              <a:t>and, or, xor</a:t>
            </a:r>
            <a:endParaRPr lang="en-US" dirty="0"/>
          </a:p>
          <a:p>
            <a:r>
              <a:rPr lang="en-US" dirty="0"/>
              <a:t>sar, shr, sal</a:t>
            </a:r>
            <a:endParaRPr lang="en-US" dirty="0"/>
          </a:p>
          <a:p>
            <a:r>
              <a:rPr lang="en-US" dirty="0">
                <a:sym typeface="+mn-ea"/>
              </a:rPr>
              <a:t>inc, dec, neg</a:t>
            </a:r>
            <a:endParaRPr lang="en-US" dirty="0"/>
          </a:p>
          <a:p>
            <a:r>
              <a:rPr lang="en-US" dirty="0"/>
              <a:t>这些指令能够实现所有C语言吗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指令集可以视为</a:t>
            </a:r>
            <a:r>
              <a:rPr lang="en-US" altLang="zh-CN" dirty="0">
                <a:sym typeface="+mn-ea"/>
              </a:rPr>
              <a:t>CPU</a:t>
            </a:r>
            <a:r>
              <a:rPr lang="zh-CN" altLang="en-US" dirty="0">
                <a:sym typeface="+mn-ea"/>
              </a:rPr>
              <a:t>提供的</a:t>
            </a:r>
            <a:r>
              <a:rPr lang="en-US" altLang="zh-CN" dirty="0">
                <a:sym typeface="+mn-ea"/>
              </a:rPr>
              <a:t>API</a:t>
            </a:r>
            <a:r>
              <a:rPr lang="zh-CN" altLang="en-US" dirty="0">
                <a:sym typeface="+mn-ea"/>
              </a:rPr>
              <a:t>接口（即</a:t>
            </a:r>
            <a:r>
              <a:rPr lang="en-US" altLang="zh-CN" dirty="0">
                <a:sym typeface="+mn-ea"/>
              </a:rPr>
              <a:t>ISA</a:t>
            </a:r>
            <a:r>
              <a:rPr lang="zh-CN" altLang="en-US" dirty="0">
                <a:ea typeface="SimSun" charset="0"/>
                <a:sym typeface="+mn-ea"/>
              </a:rPr>
              <a:t>）</a:t>
            </a:r>
            <a:endParaRPr lang="zh-CN" altLang="en-US" dirty="0">
              <a:ea typeface="SimSun" charset="0"/>
              <a:sym typeface="+mn-ea"/>
            </a:endParaRPr>
          </a:p>
          <a:p>
            <a:pPr lvl="1"/>
            <a:r>
              <a:rPr lang="zh-CN" altLang="en-US" dirty="0"/>
              <a:t>编译器，是利用指令集接口来实现</a:t>
            </a:r>
            <a:r>
              <a:rPr lang="en-US" altLang="zh-CN" dirty="0"/>
              <a:t>C</a:t>
            </a:r>
            <a:r>
              <a:rPr lang="zh-CN" altLang="en-US" dirty="0"/>
              <a:t>语言</a:t>
            </a:r>
            <a:r>
              <a:rPr lang="zh-CN" altLang="en-US" dirty="0"/>
              <a:t>构造</a:t>
            </a:r>
            <a:endParaRPr lang="zh-CN" altLang="en-US" dirty="0"/>
          </a:p>
          <a:p>
            <a:pPr lvl="2"/>
            <a:r>
              <a:rPr lang="zh-CN" altLang="en-US" dirty="0"/>
              <a:t>将</a:t>
            </a:r>
            <a:r>
              <a:rPr lang="en-US" altLang="zh-CN" dirty="0"/>
              <a:t>C/C++</a:t>
            </a:r>
            <a:r>
              <a:rPr lang="zh-CN" altLang="en-US" dirty="0"/>
              <a:t>翻译成</a:t>
            </a:r>
            <a:r>
              <a:rPr lang="en-US" altLang="zh-CN" dirty="0"/>
              <a:t>ISA</a:t>
            </a:r>
            <a:r>
              <a:rPr lang="zh-CN" altLang="en-US" dirty="0"/>
              <a:t>接口</a:t>
            </a:r>
            <a:endParaRPr lang="en-US" altLang="zh-CN" dirty="0"/>
          </a:p>
          <a:p>
            <a:pPr lvl="1"/>
            <a:r>
              <a:rPr lang="zh-CN" altLang="en-US" dirty="0"/>
              <a:t>这些</a:t>
            </a:r>
            <a:r>
              <a:rPr lang="en-US" altLang="zh-CN" dirty="0"/>
              <a:t>API</a:t>
            </a:r>
            <a:r>
              <a:rPr lang="zh-CN" altLang="en-US"/>
              <a:t>够用吗？</a:t>
            </a:r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464435" y="5715000"/>
            <a:ext cx="7665085" cy="91948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 lIns="90487" tIns="44450" rIns="90487" bIns="44450">
            <a:spAutoFit/>
          </a:bodyPr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solidFill>
                  <a:srgbClr val="00B050"/>
                </a:solidFill>
                <a:latin typeface="Courier New" panose="02070609020205020404" pitchFamily="49" charset="0"/>
              </a:rPr>
              <a:t>How to implement a&gt;b, a != b of C language?</a:t>
            </a:r>
            <a:endParaRPr lang="en-US" altLang="zh-CN" sz="1800" dirty="0">
              <a:solidFill>
                <a:srgbClr val="00B050"/>
              </a:solidFill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solidFill>
                  <a:srgbClr val="00B050"/>
                </a:solidFill>
                <a:latin typeface="Courier New" panose="02070609020205020404" pitchFamily="49" charset="0"/>
              </a:rPr>
              <a:t>How to implement ||, &amp;&amp;, ! of C language?</a:t>
            </a:r>
            <a:endParaRPr lang="en-US" altLang="zh-CN" sz="1800" dirty="0">
              <a:solidFill>
                <a:srgbClr val="00B050"/>
              </a:solidFill>
              <a:latin typeface="Courier New" panose="02070609020205020404" pitchFamily="49" charset="0"/>
            </a:endParaRPr>
          </a:p>
          <a:p>
            <a:pPr algn="l">
              <a:lnSpc>
                <a:spcPct val="100000"/>
              </a:lnSpc>
              <a:tabLst>
                <a:tab pos="347345" algn="l"/>
                <a:tab pos="1312545" algn="l"/>
              </a:tabLst>
            </a:pPr>
            <a:r>
              <a:rPr lang="en-US" altLang="zh-CN" sz="1800" dirty="0">
                <a:solidFill>
                  <a:srgbClr val="00B050"/>
                </a:solidFill>
                <a:latin typeface="Courier New" panose="02070609020205020404" pitchFamily="49" charset="0"/>
              </a:rPr>
              <a:t>How to implement if-else, do-while, while-do, for... </a:t>
            </a:r>
            <a:endParaRPr lang="en-US" altLang="zh-CN" sz="1800" dirty="0">
              <a:solidFill>
                <a:srgbClr val="00B050"/>
              </a:solidFill>
              <a:latin typeface="Courier New" panose="020706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Programming I: </a:t>
            </a:r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of Intel processors and architectures</a:t>
            </a:r>
            <a:endParaRPr lang="en-US" dirty="0"/>
          </a:p>
          <a:p>
            <a:pPr lvl="1"/>
            <a:r>
              <a:rPr lang="en-US" dirty="0"/>
              <a:t>Evolutionary design leads to many quirks and artifacts</a:t>
            </a:r>
            <a:endParaRPr lang="en-US" dirty="0"/>
          </a:p>
          <a:p>
            <a:r>
              <a:rPr lang="en-US" dirty="0"/>
              <a:t>C</a:t>
            </a:r>
            <a:r>
              <a:rPr lang="zh-CN" altLang="en-US" dirty="0"/>
              <a:t>语言、汇编语言，以及机器码</a:t>
            </a:r>
            <a:endParaRPr lang="en-US" dirty="0"/>
          </a:p>
          <a:p>
            <a:pPr lvl="1"/>
            <a:r>
              <a:rPr lang="zh-CN" altLang="en-US" dirty="0"/>
              <a:t>汇编程序的状态需要考虑</a:t>
            </a:r>
            <a:r>
              <a:rPr lang="en-US" dirty="0"/>
              <a:t>: </a:t>
            </a:r>
            <a:r>
              <a:rPr lang="zh-CN" altLang="en-US" dirty="0"/>
              <a:t>程序计数器（</a:t>
            </a:r>
            <a:r>
              <a:rPr lang="en-US" dirty="0"/>
              <a:t>program counter</a:t>
            </a:r>
            <a:r>
              <a:rPr lang="zh-CN" altLang="en-US" dirty="0"/>
              <a:t>）</a:t>
            </a:r>
            <a:r>
              <a:rPr lang="en-US" dirty="0"/>
              <a:t>, </a:t>
            </a:r>
            <a:r>
              <a:rPr lang="zh-CN" altLang="en-US" dirty="0"/>
              <a:t>寄存器（</a:t>
            </a:r>
            <a:r>
              <a:rPr lang="en-US" dirty="0"/>
              <a:t>registers</a:t>
            </a:r>
            <a:r>
              <a:rPr lang="zh-CN" altLang="en-US" dirty="0"/>
              <a:t>）</a:t>
            </a:r>
            <a:r>
              <a:rPr lang="en-US" dirty="0"/>
              <a:t>, ...</a:t>
            </a:r>
            <a:endParaRPr lang="en-US" dirty="0"/>
          </a:p>
          <a:p>
            <a:pPr lvl="1"/>
            <a:r>
              <a:rPr lang="zh-CN" altLang="en-US" dirty="0"/>
              <a:t>编译器必须将表达式、语句、过程</a:t>
            </a:r>
            <a:r>
              <a:rPr lang="en-US" dirty="0"/>
              <a:t> </a:t>
            </a:r>
            <a:r>
              <a:rPr lang="zh-CN" altLang="en-US" dirty="0"/>
              <a:t>翻译成底层的机器指令序列</a:t>
            </a:r>
            <a:endParaRPr lang="en-US" dirty="0"/>
          </a:p>
          <a:p>
            <a:r>
              <a:rPr lang="zh-CN" altLang="en-US" dirty="0"/>
              <a:t>汇编语言入门</a:t>
            </a:r>
            <a:r>
              <a:rPr lang="en-US" dirty="0"/>
              <a:t>: </a:t>
            </a:r>
            <a:r>
              <a:rPr lang="zh-CN" altLang="en-US" dirty="0"/>
              <a:t>寄存器</a:t>
            </a:r>
            <a:r>
              <a:rPr lang="en-US" dirty="0"/>
              <a:t>, </a:t>
            </a:r>
            <a:r>
              <a:rPr lang="zh-CN" altLang="en-US" dirty="0"/>
              <a:t>操作数</a:t>
            </a:r>
            <a:r>
              <a:rPr lang="en-US" dirty="0"/>
              <a:t>, move</a:t>
            </a:r>
            <a:r>
              <a:rPr lang="zh-CN" altLang="en-US" dirty="0"/>
              <a:t>指令</a:t>
            </a:r>
            <a:endParaRPr lang="en-US" dirty="0"/>
          </a:p>
          <a:p>
            <a:pPr lvl="1"/>
            <a:r>
              <a:rPr lang="en-US" dirty="0"/>
              <a:t>x86-64 move </a:t>
            </a:r>
            <a:r>
              <a:rPr lang="zh-CN" altLang="en-US" dirty="0"/>
              <a:t>指令支持了各种各样的数据移动</a:t>
            </a:r>
            <a:endParaRPr lang="en-US" dirty="0"/>
          </a:p>
          <a:p>
            <a:r>
              <a:rPr lang="zh-CN" altLang="en-US" dirty="0"/>
              <a:t>算术指令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lang="zh-CN" altLang="en-US" dirty="0"/>
              <a:t>编译器需要组合多条汇编指令，来实现</a:t>
            </a:r>
            <a:r>
              <a:rPr lang="en-US" altLang="zh-CN" dirty="0"/>
              <a:t>C</a:t>
            </a:r>
            <a:r>
              <a:rPr lang="zh-CN" altLang="en-US" dirty="0"/>
              <a:t>语言中的算术运算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rtlCol="0" anchor="ctr" anchorCtr="1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dirty="0" smtClean="0"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706020202030204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0</TotalTime>
  <Words>15898</Words>
  <Application>WPS Writer</Application>
  <PresentationFormat>On-screen Show (4:3)</PresentationFormat>
  <Paragraphs>1659</Paragraphs>
  <Slides>66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48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115" baseType="lpstr">
      <vt:lpstr>Arial</vt:lpstr>
      <vt:lpstr>SimSun</vt:lpstr>
      <vt:lpstr>Wingdings</vt:lpstr>
      <vt:lpstr>Arial Narrow</vt:lpstr>
      <vt:lpstr>Calibri</vt:lpstr>
      <vt:lpstr>Helvetica Neue</vt:lpstr>
      <vt:lpstr>Times New Roman Regular</vt:lpstr>
      <vt:lpstr>Kaiti SC Regular</vt:lpstr>
      <vt:lpstr>Wingdings 2</vt:lpstr>
      <vt:lpstr>Times New Roman</vt:lpstr>
      <vt:lpstr>SimSun</vt:lpstr>
      <vt:lpstr>汉仪书宋二KW</vt:lpstr>
      <vt:lpstr>-apple-system</vt:lpstr>
      <vt:lpstr>Thonburi</vt:lpstr>
      <vt:lpstr>Microsoft YaHei</vt:lpstr>
      <vt:lpstr>汉仪旗黑</vt:lpstr>
      <vt:lpstr>Arial Unicode MS</vt:lpstr>
      <vt:lpstr>Microsoft YaHei</vt:lpstr>
      <vt:lpstr>Courier</vt:lpstr>
      <vt:lpstr>Courier New</vt:lpstr>
      <vt:lpstr>Courier New</vt:lpstr>
      <vt:lpstr>Menlo-Regular</vt:lpstr>
      <vt:lpstr>msgothic</vt:lpstr>
      <vt:lpstr>Menlo Italic</vt:lpstr>
      <vt:lpstr>Courier New Bold</vt:lpstr>
      <vt:lpstr>Calibri</vt:lpstr>
      <vt:lpstr>Times New Roman Bold</vt:lpstr>
      <vt:lpstr>Calibri Bold</vt:lpstr>
      <vt:lpstr>苹方-简</vt:lpstr>
      <vt:lpstr>ヒラギノ角ゴ ProN W6</vt:lpstr>
      <vt:lpstr>ヒラギノ角ゴ ProN W3</vt:lpstr>
      <vt:lpstr>Gill Sans</vt:lpstr>
      <vt:lpstr>Arial Regular</vt:lpstr>
      <vt:lpstr>Calibri Bold Italic</vt:lpstr>
      <vt:lpstr>Calibri Italic</vt:lpstr>
      <vt:lpstr>Monaco</vt:lpstr>
      <vt:lpstr>Lucida Grande</vt:lpstr>
      <vt:lpstr>Symbol</vt:lpstr>
      <vt:lpstr>Calibri Bold</vt:lpstr>
      <vt:lpstr>Kingsoft Sign</vt:lpstr>
      <vt:lpstr>SimSun</vt:lpstr>
      <vt:lpstr>-apple-system</vt:lpstr>
      <vt:lpstr>Menlo-Regular</vt:lpstr>
      <vt:lpstr>Symbol</vt:lpstr>
      <vt:lpstr>Wingdings</vt:lpstr>
      <vt:lpstr>Wingdings 2</vt:lpstr>
      <vt:lpstr>SimSun</vt:lpstr>
      <vt:lpstr>Apple Color Emoji</vt:lpstr>
      <vt:lpstr>template2007</vt:lpstr>
      <vt:lpstr>机器级编程 I: 入门  15-213/18-213: Introduction to Computer Systems  5th Lecture, Sep. 15, 2015</vt:lpstr>
      <vt:lpstr>机器级编程 I: 入门</vt:lpstr>
      <vt:lpstr>Intel x86 Processors（Intel x86处理器）</vt:lpstr>
      <vt:lpstr>Intel x86 Evolution: Milestones</vt:lpstr>
      <vt:lpstr> </vt:lpstr>
      <vt:lpstr>Intel x86 Processors, cont.</vt:lpstr>
      <vt:lpstr>PowerPoint 演示文稿</vt:lpstr>
      <vt:lpstr>x86 Clones: Advanced Micro Devices (AMD)</vt:lpstr>
      <vt:lpstr>Intel vs AMD</vt:lpstr>
      <vt:lpstr>Intel vs AMD</vt:lpstr>
      <vt:lpstr>Intel vs AMD</vt:lpstr>
      <vt:lpstr>PowerPoint 演示文稿</vt:lpstr>
      <vt:lpstr>Today: Machine Programming I: Basics</vt:lpstr>
      <vt:lpstr>单条指令经过CPU的流程（扩展）</vt:lpstr>
      <vt:lpstr>多条指令经过CPU的流程（扩展）</vt:lpstr>
      <vt:lpstr>Assembly/Machine Code View</vt:lpstr>
      <vt:lpstr>定义</vt:lpstr>
      <vt:lpstr>将C代码翻译成目标代码</vt:lpstr>
      <vt:lpstr>翻译成汇编代码</vt:lpstr>
      <vt:lpstr>C语言中的数据类型</vt:lpstr>
      <vt:lpstr>汇编语言中的数据类型</vt:lpstr>
      <vt:lpstr>C语言的代码成分</vt:lpstr>
      <vt:lpstr>机器语言的指令成分</vt:lpstr>
      <vt:lpstr>Assembly Characteristics: Operations 汇编语言中的运算</vt:lpstr>
      <vt:lpstr>二进制代码</vt:lpstr>
      <vt:lpstr>机器指令——举例</vt:lpstr>
      <vt:lpstr>Linker: example——符号解析</vt:lpstr>
      <vt:lpstr>Linker: example——合并与重定位</vt:lpstr>
      <vt:lpstr>利用objdump反汇编二进制代码</vt:lpstr>
      <vt:lpstr>利用gdb反汇编二进制代码</vt:lpstr>
      <vt:lpstr>VS中查看反汇编</vt:lpstr>
      <vt:lpstr>What Can be Disassembled?</vt:lpstr>
      <vt:lpstr>PowerPoint 演示文稿</vt:lpstr>
      <vt:lpstr>Today: Machine Programming I: Basics</vt:lpstr>
      <vt:lpstr>x86-64 Integer Registers</vt:lpstr>
      <vt:lpstr>Some History: IA32 Registers</vt:lpstr>
      <vt:lpstr>扩展: X86-64 vs RISC-V</vt:lpstr>
      <vt:lpstr>传送数据</vt:lpstr>
      <vt:lpstr>movq 指令允许的操作数类型</vt:lpstr>
      <vt:lpstr>Example of Simple Addressing Modes 简单的寻址模式的例子</vt:lpstr>
      <vt:lpstr>Understanding Swap()</vt:lpstr>
      <vt:lpstr>Understanding Swap()</vt:lpstr>
      <vt:lpstr>Understanding Swap()</vt:lpstr>
      <vt:lpstr>Understanding Swap()</vt:lpstr>
      <vt:lpstr>Understanding Swap()</vt:lpstr>
      <vt:lpstr>Understanding Swap()</vt:lpstr>
      <vt:lpstr>完整的movement instructions 1/2</vt:lpstr>
      <vt:lpstr>完整的movement instructions 2/2</vt:lpstr>
      <vt:lpstr>mov指令 vs C语言中的赋值语句</vt:lpstr>
      <vt:lpstr>Simple Memory Addressing Modes 简单的内存寻址模式</vt:lpstr>
      <vt:lpstr>Complete Memory Addressing Modes 完整的内存地址模式</vt:lpstr>
      <vt:lpstr>完整的操作数形式</vt:lpstr>
      <vt:lpstr>地址计算</vt:lpstr>
      <vt:lpstr>Address Computation Examples</vt:lpstr>
      <vt:lpstr>Connect addressing modes to C 不同寻址模式对应的C语言结构</vt:lpstr>
      <vt:lpstr>不同的寻址模式: X86-64 vs RISCV</vt:lpstr>
      <vt:lpstr>Today: Machine Programming I: Basics</vt:lpstr>
      <vt:lpstr>Address Computation Instruction 地址计算指令</vt:lpstr>
      <vt:lpstr>PowerPoint 演示文稿</vt:lpstr>
      <vt:lpstr>一些算术运算</vt:lpstr>
      <vt:lpstr>一些算术运算</vt:lpstr>
      <vt:lpstr>算术运算的例子</vt:lpstr>
      <vt:lpstr>理解该例子</vt:lpstr>
      <vt:lpstr>算术运算与C语言</vt:lpstr>
      <vt:lpstr>目前为止学过的指令</vt:lpstr>
      <vt:lpstr>Machine Programming I: 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Introduction to Computer Systems 15-213/18-213 </dc:title>
  <dc:creator>Markus Pueschel</dc:creator>
  <cp:lastModifiedBy>00030832</cp:lastModifiedBy>
  <cp:revision>923</cp:revision>
  <cp:lastPrinted>2026-03-17T12:36:33Z</cp:lastPrinted>
  <dcterms:created xsi:type="dcterms:W3CDTF">2026-03-17T12:36:33Z</dcterms:created>
  <dcterms:modified xsi:type="dcterms:W3CDTF">2026-03-17T12:36:33Z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E788446FFAB906ABB9F825652601BC2D_42</vt:lpwstr>
  </property>
</Properties>
</file>