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90" r:id="rId4"/>
    <p:sldId id="260" r:id="rId5"/>
    <p:sldId id="291" r:id="rId6"/>
    <p:sldId id="293" r:id="rId7"/>
    <p:sldId id="292" r:id="rId8"/>
    <p:sldId id="294" r:id="rId9"/>
    <p:sldId id="295" r:id="rId10"/>
    <p:sldId id="299" r:id="rId11"/>
    <p:sldId id="296" r:id="rId12"/>
    <p:sldId id="297" r:id="rId13"/>
    <p:sldId id="298" r:id="rId14"/>
    <p:sldId id="300" r:id="rId15"/>
    <p:sldId id="301" r:id="rId16"/>
    <p:sldId id="302" r:id="rId17"/>
    <p:sldId id="303" r:id="rId18"/>
    <p:sldId id="27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0C2F341-6F60-432C-B4E0-6FA15ECBC84E}">
          <p14:sldIdLst>
            <p14:sldId id="256"/>
          </p14:sldIdLst>
        </p14:section>
        <p14:section name="正文" id="{79E22CAA-EDDB-4540-8E79-CF9371970BDC}">
          <p14:sldIdLst>
            <p14:sldId id="258"/>
            <p14:sldId id="290"/>
            <p14:sldId id="260"/>
            <p14:sldId id="291"/>
            <p14:sldId id="293"/>
            <p14:sldId id="292"/>
            <p14:sldId id="294"/>
            <p14:sldId id="295"/>
            <p14:sldId id="299"/>
            <p14:sldId id="296"/>
            <p14:sldId id="297"/>
            <p14:sldId id="298"/>
            <p14:sldId id="300"/>
            <p14:sldId id="301"/>
            <p14:sldId id="302"/>
            <p14:sldId id="303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60561-BEF6-40BB-90DF-3C840C71C6CA}" v="1" dt="2026-03-28T06:01:28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63" autoAdjust="0"/>
    <p:restoredTop sz="94658" autoAdjust="0"/>
  </p:normalViewPr>
  <p:slideViewPr>
    <p:cSldViewPr snapToGrid="0">
      <p:cViewPr varScale="1">
        <p:scale>
          <a:sx n="91" d="100"/>
          <a:sy n="91" d="100"/>
        </p:scale>
        <p:origin x="204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7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87EF020-2553-7611-065D-BD5102A171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9E1C64-8EFE-61F8-86EA-E9AAAB0D0C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2942B-5E7F-4888-9439-2AF2B21DAEF6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C97788-E05D-E07A-DD42-53C3684896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46D6A1-857E-D477-E5FA-4D73BC0A8D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49173-42E3-41C2-923E-CA934E253A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763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4641A-20D9-4FCB-A884-309D66A7AC09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7E99D-ABB6-4F08-9144-895AFF893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791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0172A-F9A6-2F9C-C086-4D5A9A4A5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9FDD9E-13B7-FD58-03C4-0F691DBFD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5275"/>
            <a:ext cx="9144000" cy="1655762"/>
          </a:xfr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451607-3E37-8E51-F026-6FE827E4B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D788-9ADD-4415-BA5C-900AC4D9D416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F3A238-76C3-9023-5CF5-A44C4DF0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ED782B-AC48-302D-040C-074D3214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D8C09A-CCFF-C855-BF43-B8C07D3C0576}"/>
              </a:ext>
            </a:extLst>
          </p:cNvPr>
          <p:cNvSpPr/>
          <p:nvPr userDrawn="1"/>
        </p:nvSpPr>
        <p:spPr>
          <a:xfrm>
            <a:off x="986367" y="1011767"/>
            <a:ext cx="381000" cy="2590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2B31D109-C179-697D-6B0C-6AA2B0651793}"/>
              </a:ext>
            </a:extLst>
          </p:cNvPr>
          <p:cNvSpPr/>
          <p:nvPr userDrawn="1"/>
        </p:nvSpPr>
        <p:spPr>
          <a:xfrm>
            <a:off x="1524000" y="3739040"/>
            <a:ext cx="9144000" cy="45719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94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126C6-D7C8-1452-8640-66385CAA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4905"/>
            <a:ext cx="10515600" cy="82364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10F6BB-AA89-7056-CA06-48EF19456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D5A9E0-0FCE-BD83-63FF-2F4B3641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2F12FD-8025-10B5-054A-CBA38CED3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3B6710-7014-19E6-A9A7-1AA2965F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3DD1CA-E752-2671-29E8-01A6ACA9AA17}"/>
              </a:ext>
            </a:extLst>
          </p:cNvPr>
          <p:cNvSpPr/>
          <p:nvPr userDrawn="1"/>
        </p:nvSpPr>
        <p:spPr>
          <a:xfrm>
            <a:off x="406401" y="242093"/>
            <a:ext cx="342900" cy="1571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149B7CB-6B70-F3F2-875E-451B930CE143}"/>
              </a:ext>
            </a:extLst>
          </p:cNvPr>
          <p:cNvCxnSpPr>
            <a:cxnSpLocks/>
          </p:cNvCxnSpPr>
          <p:nvPr userDrawn="1"/>
        </p:nvCxnSpPr>
        <p:spPr>
          <a:xfrm>
            <a:off x="762000" y="807243"/>
            <a:ext cx="10667999" cy="1772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9591C53-8D32-92F8-E18D-DB15EA9722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17368"/>
            <a:ext cx="10515600" cy="440531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单击此处编辑母版段落标题样式</a:t>
            </a:r>
          </a:p>
        </p:txBody>
      </p:sp>
    </p:spTree>
    <p:extLst>
      <p:ext uri="{BB962C8B-B14F-4D97-AF65-F5344CB8AC3E}">
        <p14:creationId xmlns:p14="http://schemas.microsoft.com/office/powerpoint/2010/main" val="355685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B611D-78A3-6356-73BC-5B475427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682" y="1709738"/>
            <a:ext cx="9901767" cy="2852737"/>
          </a:xfrm>
        </p:spPr>
        <p:txBody>
          <a:bodyPr anchor="b"/>
          <a:lstStyle>
            <a:lvl1pPr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B40AE2-84BE-6441-8FC8-EB4EFEF79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DCBE1-7DA8-63FD-A4D4-844D473F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23FF-A6A9-4343-9785-3B8E65C6A2EC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8323A2-509A-E1E3-FF52-B0AEDE91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0444AB-8A97-F0F1-243C-C0C22C5E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453067A0-2290-B7A4-D3D7-439B2752250B}"/>
              </a:ext>
            </a:extLst>
          </p:cNvPr>
          <p:cNvSpPr/>
          <p:nvPr userDrawn="1"/>
        </p:nvSpPr>
        <p:spPr>
          <a:xfrm>
            <a:off x="838200" y="4553110"/>
            <a:ext cx="10528300" cy="45719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内容占位符 11">
            <a:extLst>
              <a:ext uri="{FF2B5EF4-FFF2-40B4-BE49-F238E27FC236}">
                <a16:creationId xmlns:a16="http://schemas.microsoft.com/office/drawing/2014/main" id="{619655FF-8153-D38B-0F18-7E3EA3C10E1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5500" y="1709739"/>
            <a:ext cx="588961" cy="2843372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zh-CN" dirty="0"/>
              <a:t>#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49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79EA8-81D6-F6A5-E42C-941903FCE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2pPr>
              <a:lnSpc>
                <a:spcPct val="15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1458F0-9089-28A7-E904-21898F158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2pPr>
              <a:lnSpc>
                <a:spcPct val="15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D0241B-8A74-CD7C-99A2-242B0336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14EA-2657-4EDF-9546-670F41AB21D3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493611-B1EB-1DDD-2381-148A954BC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6CDFD3-1440-522D-BC64-83737BE0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C8FAA22-7BA8-8291-26AF-68156419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4905"/>
            <a:ext cx="10515600" cy="82364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9F5C60-D9BE-1F29-0286-5AAFCB33FD25}"/>
              </a:ext>
            </a:extLst>
          </p:cNvPr>
          <p:cNvSpPr/>
          <p:nvPr userDrawn="1"/>
        </p:nvSpPr>
        <p:spPr>
          <a:xfrm>
            <a:off x="406401" y="242093"/>
            <a:ext cx="342900" cy="1571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CA2D7B2-7154-D14D-6A6C-987672B6DB70}"/>
              </a:ext>
            </a:extLst>
          </p:cNvPr>
          <p:cNvCxnSpPr>
            <a:cxnSpLocks/>
          </p:cNvCxnSpPr>
          <p:nvPr userDrawn="1"/>
        </p:nvCxnSpPr>
        <p:spPr>
          <a:xfrm>
            <a:off x="762000" y="807243"/>
            <a:ext cx="10667999" cy="1772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57F743C0-540C-C49F-01E5-623DDBE775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17368"/>
            <a:ext cx="10515600" cy="440531"/>
          </a:xfrm>
        </p:spPr>
        <p:txBody>
          <a:bodyPr anchor="b">
            <a:normAutofit/>
          </a:bodyPr>
          <a:lstStyle>
            <a:lvl1pPr marL="0" indent="0">
              <a:buNone/>
              <a:defRPr lang="zh-CN" altLang="en-US" sz="18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单击此处编辑母版段落标题样式</a:t>
            </a:r>
          </a:p>
        </p:txBody>
      </p:sp>
    </p:spTree>
    <p:extLst>
      <p:ext uri="{BB962C8B-B14F-4D97-AF65-F5344CB8AC3E}">
        <p14:creationId xmlns:p14="http://schemas.microsoft.com/office/powerpoint/2010/main" val="349955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8CC990-071A-5D61-3D58-1D22236C0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518B02-CB84-1396-72D0-DD07D2DC5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lnSpc>
                <a:spcPct val="15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03169B-0721-F42E-276D-9047F5D53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9DFB07-E61C-6FF9-E277-59D5CD582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lnSpc>
                <a:spcPct val="15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EB14B9-4FAA-722A-5BCA-319ACEFC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691A-068E-4893-B467-B220399EFC6A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D6D9FC-CC89-7002-D61C-920BD708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DC947F-29DF-4228-50DC-417A61F7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F482B3-79E5-569B-A0B8-03EAAD2B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4905"/>
            <a:ext cx="10515600" cy="82364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F49C89-A94C-B37A-9402-DC1DA9095818}"/>
              </a:ext>
            </a:extLst>
          </p:cNvPr>
          <p:cNvSpPr/>
          <p:nvPr userDrawn="1"/>
        </p:nvSpPr>
        <p:spPr>
          <a:xfrm>
            <a:off x="406401" y="242093"/>
            <a:ext cx="342900" cy="1571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E080FAD-FAC8-1234-F018-AFADC6BF43FC}"/>
              </a:ext>
            </a:extLst>
          </p:cNvPr>
          <p:cNvCxnSpPr>
            <a:cxnSpLocks/>
          </p:cNvCxnSpPr>
          <p:nvPr userDrawn="1"/>
        </p:nvCxnSpPr>
        <p:spPr>
          <a:xfrm>
            <a:off x="762000" y="807243"/>
            <a:ext cx="10667999" cy="1772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0">
            <a:extLst>
              <a:ext uri="{FF2B5EF4-FFF2-40B4-BE49-F238E27FC236}">
                <a16:creationId xmlns:a16="http://schemas.microsoft.com/office/drawing/2014/main" id="{E006C3FE-D1DA-65E9-5C0C-5092FCDCCB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17368"/>
            <a:ext cx="10515600" cy="440531"/>
          </a:xfrm>
        </p:spPr>
        <p:txBody>
          <a:bodyPr anchor="b">
            <a:normAutofit/>
          </a:bodyPr>
          <a:lstStyle>
            <a:lvl1pPr marL="0" indent="0">
              <a:buNone/>
              <a:defRPr lang="zh-CN" altLang="en-US" sz="18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单击此处编辑母版段落标题样式</a:t>
            </a:r>
          </a:p>
        </p:txBody>
      </p:sp>
    </p:spTree>
    <p:extLst>
      <p:ext uri="{BB962C8B-B14F-4D97-AF65-F5344CB8AC3E}">
        <p14:creationId xmlns:p14="http://schemas.microsoft.com/office/powerpoint/2010/main" val="130083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54A60B-4F22-F00A-9BD0-A9FBB62E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DD4-E1E5-4CCE-A283-9458A8CCD5B3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539966-D821-684A-3B7A-C8DB53027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DA607F-02F2-CE3D-5E5E-769CF9AD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A5D7ADB-2268-6C42-5C5F-C60CF8BD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4905"/>
            <a:ext cx="10515600" cy="82364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09A7DF-F1C1-E8FA-DDB5-C05D98C4495B}"/>
              </a:ext>
            </a:extLst>
          </p:cNvPr>
          <p:cNvSpPr/>
          <p:nvPr userDrawn="1"/>
        </p:nvSpPr>
        <p:spPr>
          <a:xfrm>
            <a:off x="406401" y="242093"/>
            <a:ext cx="342900" cy="1571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E920863-B55E-2CBE-B8C3-AED9EB2396FB}"/>
              </a:ext>
            </a:extLst>
          </p:cNvPr>
          <p:cNvCxnSpPr>
            <a:cxnSpLocks/>
          </p:cNvCxnSpPr>
          <p:nvPr userDrawn="1"/>
        </p:nvCxnSpPr>
        <p:spPr>
          <a:xfrm>
            <a:off x="762000" y="807243"/>
            <a:ext cx="10667999" cy="1772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0">
            <a:extLst>
              <a:ext uri="{FF2B5EF4-FFF2-40B4-BE49-F238E27FC236}">
                <a16:creationId xmlns:a16="http://schemas.microsoft.com/office/drawing/2014/main" id="{CD79C528-AAAA-D046-AB3D-55F0A57FF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17368"/>
            <a:ext cx="10515600" cy="440531"/>
          </a:xfrm>
        </p:spPr>
        <p:txBody>
          <a:bodyPr anchor="b">
            <a:normAutofit/>
          </a:bodyPr>
          <a:lstStyle>
            <a:lvl1pPr marL="0" indent="0">
              <a:buNone/>
              <a:defRPr lang="zh-CN" altLang="en-US" sz="18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单击此处编辑母版段落标题样式</a:t>
            </a:r>
          </a:p>
        </p:txBody>
      </p:sp>
    </p:spTree>
    <p:extLst>
      <p:ext uri="{BB962C8B-B14F-4D97-AF65-F5344CB8AC3E}">
        <p14:creationId xmlns:p14="http://schemas.microsoft.com/office/powerpoint/2010/main" val="4290237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D7EC2D-82AF-616D-D14D-3FD50207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F378-3FCA-43AE-826F-C6656DDBF4D4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185F94-FACE-9E4F-3839-254C8876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59B224-F2EB-A6A9-7D41-6F6B5D61E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459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12BDA96-1C9D-1C98-A55F-0D6930170F3E}"/>
              </a:ext>
            </a:extLst>
          </p:cNvPr>
          <p:cNvSpPr/>
          <p:nvPr userDrawn="1"/>
        </p:nvSpPr>
        <p:spPr>
          <a:xfrm>
            <a:off x="0" y="6356350"/>
            <a:ext cx="12192001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534798-9F33-5BFB-942E-FBB7840196B6}"/>
              </a:ext>
            </a:extLst>
          </p:cNvPr>
          <p:cNvSpPr/>
          <p:nvPr userDrawn="1"/>
        </p:nvSpPr>
        <p:spPr>
          <a:xfrm>
            <a:off x="2559050" y="6356350"/>
            <a:ext cx="7073900" cy="3651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EDDB3D-56FF-F308-CE66-D73B8B16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6E7AC6-9E88-90CB-FE80-B4D7EFB48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090B15-1E53-2E37-E4BC-F87556457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fld id="{E70C5B46-FF24-4ED6-B50A-5AEA7966E74A}" type="datetime1">
              <a:rPr lang="zh-CN" altLang="en-US" smtClean="0"/>
              <a:t>2026/3/28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2D357-92DB-C561-EDBF-A26536D9A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武汉大学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BB8FC3-5A50-55ED-42BE-5DC345FEB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E49D51C-D1D6-49ED-AEB1-B846C6EB5F8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6CCFE1-BDFF-DE60-F447-BF51C2C9B7F3}"/>
              </a:ext>
            </a:extLst>
          </p:cNvPr>
          <p:cNvSpPr/>
          <p:nvPr userDrawn="1"/>
        </p:nvSpPr>
        <p:spPr>
          <a:xfrm>
            <a:off x="0" y="0"/>
            <a:ext cx="12192000" cy="1473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EC9E15-8A20-FEB4-EE10-D29A3F58D1C3}"/>
              </a:ext>
            </a:extLst>
          </p:cNvPr>
          <p:cNvSpPr/>
          <p:nvPr userDrawn="1"/>
        </p:nvSpPr>
        <p:spPr>
          <a:xfrm>
            <a:off x="0" y="-1"/>
            <a:ext cx="1401233" cy="14737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C683A8F-A7E2-C0C3-97D4-2D2BC8DBE36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65432" y="520004"/>
            <a:ext cx="1073257" cy="76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2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C5235-8815-48DE-EE1D-6473C2C7C4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📚</a:t>
            </a:r>
            <a:br>
              <a:rPr lang="en-US" altLang="zh-CN" dirty="0"/>
            </a:br>
            <a:r>
              <a:rPr lang="en-US" altLang="zh-CN" dirty="0"/>
              <a:t>GDB</a:t>
            </a:r>
            <a:r>
              <a:rPr lang="zh-CN" altLang="en-US" dirty="0"/>
              <a:t> </a:t>
            </a:r>
            <a:r>
              <a:rPr lang="en-US" altLang="zh-CN" dirty="0"/>
              <a:t>It’s</a:t>
            </a:r>
            <a:r>
              <a:rPr lang="zh-CN" altLang="en-US" dirty="0"/>
              <a:t> </a:t>
            </a:r>
            <a:r>
              <a:rPr lang="en-US" altLang="zh-CN" dirty="0" err="1"/>
              <a:t>MyGO</a:t>
            </a:r>
            <a:r>
              <a:rPr lang="en-US" altLang="zh-CN" dirty="0"/>
              <a:t>!!!!!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0E0558-A241-3325-62BE-7909B04729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DLaM Display" panose="020F0502020204030204" pitchFamily="2" charset="0"/>
              </a:rPr>
              <a:t>2026.03.28 Quank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Microsoft Sans Serif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FB1A3E-3CF2-5822-C05B-7B4FCD348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FA19-38AA-47EE-83D3-AA6A7B4252EF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6457FC-32A5-AEBC-5C82-6077D4D6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A6A002-F378-379E-DB7A-889A146D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03D5D1D-37CD-DEC2-9790-10BA9D317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140" y="2203176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7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02B9B-0196-608E-BD31-6CF330E7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前置知识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859827-41BC-26D4-876E-1B1645D57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DD42B7-C631-D380-A334-64D5CAFF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BB6E-9D45-40C0-B7B2-8AD27972A4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80306-233F-D6A3-38B4-03E98FB9E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407026-4C39-1773-3E72-1E643D08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C68E02F-F2D7-5393-FDD5-35F35C85725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C154D1C-6421-B872-8A81-F9BF9DC97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179" y="3186113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ACF37-243C-42E4-A64A-5FCBFE36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3D8D2-90A9-9948-688E-658A29AC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为什么使用</a:t>
            </a:r>
            <a:r>
              <a:rPr lang="en-US" altLang="zh-CN" dirty="0"/>
              <a:t>GDB?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3816ED-EFCB-937B-A147-6138692BE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0793-569E-48C8-B250-3779ECD29574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FC673-A029-4802-F5AD-BEE59AEA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F338CA-A2DA-1D25-009A-D981F4D7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0971EE6-858F-335D-8970-9191052031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+mj-lt"/>
              </a:rPr>
              <a:t>1. </a:t>
            </a:r>
            <a:r>
              <a:rPr lang="zh-CN" altLang="en-US" dirty="0">
                <a:latin typeface="+mj-lt"/>
              </a:rPr>
              <a:t>前置知识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475F1FC0-5FBB-1747-9FA3-AF55C4FE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GDB</a:t>
            </a:r>
            <a:r>
              <a:rPr lang="zh-CN" altLang="en-US" dirty="0"/>
              <a:t>可以帮助我们查看程序的运行状态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GDB</a:t>
            </a:r>
            <a:r>
              <a:rPr lang="zh-CN" altLang="en-US" dirty="0"/>
              <a:t>可以帮助我们跟踪程序如何运行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GDB</a:t>
            </a:r>
            <a:r>
              <a:rPr lang="zh-CN" altLang="en-US" dirty="0"/>
              <a:t>可以帮助我们查看内部数据状态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8ED1E88-1E7B-22A7-F64F-6906AA0FA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999" y="555625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94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6927-C53F-E7B2-F0CA-440BD3AA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E2212-9CC3-7282-73CF-350A006D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如何启动</a:t>
            </a:r>
            <a:r>
              <a:rPr lang="en-US" altLang="zh-CN" dirty="0"/>
              <a:t>GDB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51DEE-9DE2-8820-4771-88D3B756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0793-569E-48C8-B250-3779ECD29574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E5FE92-CEDA-F2FE-0C6F-0D9A4687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D231F3-BDF7-0825-50A0-4F0986C2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7B86ACF-5D8B-042F-6C5A-A0D7407B11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+mj-lt"/>
              </a:rPr>
              <a:t>1. </a:t>
            </a:r>
            <a:r>
              <a:rPr lang="zh-CN" altLang="en-US" dirty="0">
                <a:latin typeface="+mj-lt"/>
              </a:rPr>
              <a:t>前置知识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D57556A9-6491-2812-CFA9-8D2561AF1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直接运行</a:t>
            </a:r>
            <a:r>
              <a:rPr lang="en-US" altLang="zh-CN" dirty="0" err="1"/>
              <a:t>gdb</a:t>
            </a:r>
            <a:r>
              <a:rPr lang="zh-CN" altLang="en-US" dirty="0"/>
              <a:t>，</a:t>
            </a:r>
            <a:r>
              <a:rPr lang="en-US" altLang="zh-CN" dirty="0"/>
              <a:t>file</a:t>
            </a:r>
            <a:r>
              <a:rPr lang="zh-CN" altLang="en-US" dirty="0"/>
              <a:t>加载某一程序</a:t>
            </a:r>
            <a:endParaRPr lang="en-US" altLang="zh-CN" dirty="0"/>
          </a:p>
          <a:p>
            <a:r>
              <a:rPr lang="en-US" altLang="zh-CN" dirty="0" err="1"/>
              <a:t>gdb</a:t>
            </a:r>
            <a:r>
              <a:rPr lang="zh-CN" altLang="en-US" dirty="0"/>
              <a:t> </a:t>
            </a:r>
            <a:r>
              <a:rPr lang="en-US" altLang="zh-CN" dirty="0"/>
              <a:t>./program</a:t>
            </a:r>
            <a:r>
              <a:rPr lang="zh-CN" altLang="en-US" dirty="0"/>
              <a:t> 加载某一程序</a:t>
            </a:r>
            <a:endParaRPr lang="en-US" altLang="zh-CN" dirty="0"/>
          </a:p>
          <a:p>
            <a:r>
              <a:rPr lang="zh-CN" altLang="en-US" dirty="0"/>
              <a:t>启动后打好断点和数据监测，</a:t>
            </a:r>
            <a:r>
              <a:rPr lang="en-US" altLang="zh-CN" dirty="0"/>
              <a:t>run</a:t>
            </a:r>
            <a:r>
              <a:rPr lang="zh-CN" altLang="en-US" dirty="0"/>
              <a:t>以运行程序开始调试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05C007C-3D02-7EB2-0BB5-A93FDBBE3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979" y="555625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97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64F76-CD21-5154-A360-646AE7B7C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被调试文件的类型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BBC37-6226-D0FE-D5F9-D948B6DFF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含有调试符号（通过</a:t>
            </a:r>
            <a:r>
              <a:rPr kumimoji="1" lang="en-US" altLang="zh-CN" dirty="0" err="1"/>
              <a:t>gcc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–g</a:t>
            </a:r>
            <a:r>
              <a:rPr kumimoji="1" lang="zh-CN" altLang="en-US" dirty="0"/>
              <a:t>生成）</a:t>
            </a:r>
            <a:endParaRPr kumimoji="1" lang="en-US" altLang="zh-CN" dirty="0"/>
          </a:p>
          <a:p>
            <a:r>
              <a:rPr kumimoji="1" lang="zh-CN" altLang="en-US" dirty="0"/>
              <a:t>没有调试符号（</a:t>
            </a:r>
            <a:r>
              <a:rPr kumimoji="1" lang="en-US" altLang="zh-CN" dirty="0" err="1"/>
              <a:t>gcc</a:t>
            </a:r>
            <a:r>
              <a:rPr kumimoji="1" lang="zh-CN" altLang="en-US" dirty="0"/>
              <a:t>生成时不带有</a:t>
            </a:r>
            <a:r>
              <a:rPr kumimoji="1" lang="en-US" altLang="zh-CN" dirty="0"/>
              <a:t>-g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还可以是</a:t>
            </a:r>
            <a:r>
              <a:rPr kumimoji="1" lang="en-US" altLang="zh-CN" dirty="0"/>
              <a:t>…</a:t>
            </a:r>
          </a:p>
          <a:p>
            <a:pPr lvl="1"/>
            <a:r>
              <a:rPr kumimoji="1" lang="zh-CN" altLang="en-US" dirty="0"/>
              <a:t>运行中进程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内核转储文件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1D9A0-81E0-2DFC-D598-1E8FEEEA6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34CFC2-7108-14FE-7C41-D7176DC1F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842AD6-EE6B-B36F-8854-F79DF039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DD7473A-FE9E-8564-37EA-300BE1239A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前置知识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4177E7C-F7A6-F0B3-7D5B-02B09F4A8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886" y="555625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26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640F4-162F-F383-D3E7-D832E8F99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15B43-92C1-46D2-FEC1-3214B2159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基础命令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AD79C1-7B10-B9E3-2EDB-10D326DE9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F52593-B35B-C667-463E-77D806D0D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BB6E-9D45-40C0-B7B2-8AD27972A4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0D5BF4-E80D-CAE3-4EDF-DCE022D9A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AA507-5414-2C1A-743A-34C1DA90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DAABE30-CAC6-1312-11A4-1B323E8143D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3ABCAB4-4C82-EE63-A1BE-FE4B66F21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00" y="3186113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05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F5D14-E67B-469D-4D9B-D1CCE524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运行控制</a:t>
            </a:r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1A3CF527-60BE-C838-E7E8-CFF747479E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882203"/>
              </p:ext>
            </p:extLst>
          </p:nvPr>
        </p:nvGraphicFramePr>
        <p:xfrm>
          <a:off x="838200" y="1825625"/>
          <a:ext cx="10515597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14504178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312385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21210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命令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简写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作用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65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run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r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运行程序（可加参数）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581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kill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(</a:t>
                      </a:r>
                      <a:r>
                        <a:rPr lang="zh-CN" altLang="en-US"/>
                        <a:t>无</a:t>
                      </a:r>
                      <a:r>
                        <a:rPr lang="en-US" altLang="zh-CN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终止当前运行的程序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86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continue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c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继续执行到下一个断点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46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step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s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单步进入（进入函数内部）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100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next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n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单步跳过（不进入函数）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2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finish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(</a:t>
                      </a:r>
                      <a:r>
                        <a:rPr lang="zh-CN" altLang="en-US"/>
                        <a:t>无</a:t>
                      </a:r>
                      <a:r>
                        <a:rPr lang="en-US" altLang="zh-CN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执行完当前函数并返回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671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until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(</a:t>
                      </a:r>
                      <a:r>
                        <a:rPr lang="zh-CN" altLang="en-US"/>
                        <a:t>无</a:t>
                      </a:r>
                      <a:r>
                        <a:rPr lang="en-US" altLang="zh-CN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跳出循环（执行到当前循环体之外）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669688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5C369-4A53-ECAF-D1E2-B23622E6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374984-7693-20F1-E820-2EB74C37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EE0C35-5008-3CE1-4422-59F5DE1E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8FFC6C0-4A47-56B3-EE5B-A974326842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基础命令</a:t>
            </a:r>
          </a:p>
        </p:txBody>
      </p:sp>
    </p:spTree>
    <p:extLst>
      <p:ext uri="{BB962C8B-B14F-4D97-AF65-F5344CB8AC3E}">
        <p14:creationId xmlns:p14="http://schemas.microsoft.com/office/powerpoint/2010/main" val="238337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675B-7C2B-2EFE-1B47-2AF9D2D1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665A9-8049-E783-9FAD-436B9A8F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断点</a:t>
            </a:r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0E19081B-E3D6-4B37-BE14-FAF7DC5BF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559841"/>
              </p:ext>
            </p:extLst>
          </p:nvPr>
        </p:nvGraphicFramePr>
        <p:xfrm>
          <a:off x="838200" y="1825625"/>
          <a:ext cx="1051559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14504178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312385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21210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命令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65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latin typeface="Courier New" panose="02070309020205020404" pitchFamily="49" charset="0"/>
                        </a:rPr>
                        <a:t>break</a:t>
                      </a: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altLang="zh-CN" dirty="0" err="1">
                          <a:latin typeface="Courier New" panose="02070309020205020404" pitchFamily="49" charset="0"/>
                        </a:rPr>
                        <a:t>func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latin typeface="Courier New" panose="02070309020205020404" pitchFamily="49" charset="0"/>
                        </a:rPr>
                        <a:t>b </a:t>
                      </a:r>
                      <a:r>
                        <a:rPr lang="en" dirty="0" err="1">
                          <a:latin typeface="Courier New" panose="02070309020205020404" pitchFamily="49" charset="0"/>
                        </a:rPr>
                        <a:t>func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在函数入口处打断点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581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latin typeface="Courier New" panose="02070309020205020404" pitchFamily="49" charset="0"/>
                        </a:rPr>
                        <a:t>break</a:t>
                      </a: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altLang="zh-CN" dirty="0">
                          <a:latin typeface="Courier New" panose="02070309020205020404" pitchFamily="49" charset="0"/>
                        </a:rPr>
                        <a:t>10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b 10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在当前文件第</a:t>
                      </a:r>
                      <a:r>
                        <a:rPr lang="en-US" altLang="zh-CN"/>
                        <a:t>10</a:t>
                      </a:r>
                      <a:r>
                        <a:rPr lang="zh-CN" altLang="en-US"/>
                        <a:t>行打断点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86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latin typeface="Courier New" panose="02070309020205020404" pitchFamily="49" charset="0"/>
                        </a:rPr>
                        <a:t>break</a:t>
                      </a: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altLang="zh-CN" dirty="0">
                          <a:latin typeface="Courier New" panose="02070309020205020404" pitchFamily="49" charset="0"/>
                        </a:rPr>
                        <a:t>file.c:15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b file.c:15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在指定文件的</a:t>
                      </a:r>
                      <a:r>
                        <a:rPr lang="en-US" altLang="zh-CN"/>
                        <a:t>15</a:t>
                      </a:r>
                      <a:r>
                        <a:rPr lang="zh-CN" altLang="en-US"/>
                        <a:t>行打断点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46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info breakpoints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i b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查看所有断点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100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latin typeface="Courier New" panose="02070309020205020404" pitchFamily="49" charset="0"/>
                        </a:rPr>
                        <a:t>delete</a:t>
                      </a: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altLang="zh-CN" dirty="0">
                          <a:latin typeface="Courier New" panose="02070309020205020404" pitchFamily="49" charset="0"/>
                        </a:rPr>
                        <a:t>2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d 2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删除编号为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的断点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2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latin typeface="Courier New" panose="02070309020205020404" pitchFamily="49" charset="0"/>
                        </a:rPr>
                        <a:t>disable</a:t>
                      </a: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altLang="zh-CN" dirty="0">
                          <a:latin typeface="Courier New" panose="02070309020205020404" pitchFamily="49" charset="0"/>
                        </a:rPr>
                        <a:t>3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dis 3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禁用编号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的断点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671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latin typeface="Courier New" panose="02070309020205020404" pitchFamily="49" charset="0"/>
                        </a:rPr>
                        <a:t>enable</a:t>
                      </a: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altLang="zh-CN" dirty="0">
                          <a:latin typeface="Courier New" panose="02070309020205020404" pitchFamily="49" charset="0"/>
                        </a:rPr>
                        <a:t>3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en 3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启用编号</a:t>
                      </a:r>
                      <a:r>
                        <a:rPr lang="en-US" altLang="zh-CN" dirty="0"/>
                        <a:t>3</a:t>
                      </a:r>
                      <a:r>
                        <a:rPr lang="zh-CN" altLang="en-US" dirty="0"/>
                        <a:t>的断点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669688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8D3B19-2B3A-518E-6410-24656CF9C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20E3FF-FFAB-0E75-53D0-B7803EC0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46E599-1972-E31A-FAD4-A64E54BE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24CC375-B02F-8C1D-1408-6752629215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基础命令</a:t>
            </a:r>
          </a:p>
        </p:txBody>
      </p:sp>
    </p:spTree>
    <p:extLst>
      <p:ext uri="{BB962C8B-B14F-4D97-AF65-F5344CB8AC3E}">
        <p14:creationId xmlns:p14="http://schemas.microsoft.com/office/powerpoint/2010/main" val="836410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0396A-AB1C-3910-01A9-441280AB0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2924-71AB-812A-8F97-1F57FCC7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程序状态</a:t>
            </a:r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1C36E23F-584C-A96E-A12F-BFDEB29881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4134330"/>
              </p:ext>
            </p:extLst>
          </p:nvPr>
        </p:nvGraphicFramePr>
        <p:xfrm>
          <a:off x="838200" y="1825625"/>
          <a:ext cx="1051559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14504178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312385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21210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命令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简写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作用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65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print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p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打印变量或表达式的值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51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print /x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p/x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以十六进制打印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581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latin typeface="Courier New" panose="02070309020205020404" pitchFamily="49" charset="0"/>
                        </a:rPr>
                        <a:t>print *</a:t>
                      </a:r>
                      <a:r>
                        <a:rPr lang="en" dirty="0" err="1">
                          <a:latin typeface="Courier New" panose="02070309020205020404" pitchFamily="49" charset="0"/>
                        </a:rPr>
                        <a:t>array@len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打印数组的前</a:t>
                      </a:r>
                      <a:r>
                        <a:rPr lang="en"/>
                        <a:t>len</a:t>
                      </a:r>
                      <a:r>
                        <a:rPr lang="zh-CN" altLang="en-US"/>
                        <a:t>个元素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86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backtrace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bt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查看函数调用堆栈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46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frame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f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切换当前栈帧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100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info locals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i locals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查看当前函数局部变量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2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info args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i args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查看当前函数参数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671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list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latin typeface="Courier New" panose="02070309020205020404" pitchFamily="49" charset="0"/>
                        </a:rPr>
                        <a:t>l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显示源代码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669688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C382EE-1BBA-39EF-78E2-67B9DEBF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A66EE-08F2-D3EB-D4BF-33A790BB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F9A82-038A-16FE-FA1F-3FBD068A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098DFBE-3FC4-D130-D525-AB300B63B7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基础命令</a:t>
            </a:r>
          </a:p>
        </p:txBody>
      </p:sp>
    </p:spTree>
    <p:extLst>
      <p:ext uri="{BB962C8B-B14F-4D97-AF65-F5344CB8AC3E}">
        <p14:creationId xmlns:p14="http://schemas.microsoft.com/office/powerpoint/2010/main" val="2652101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E2F9-83FB-A3FA-0E81-1B70AD14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B1605-2364-2CBC-78EA-B7443A30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查看数据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E2D9E9-0497-3BEB-12B6-19B7C2CF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7F21B8-A622-B323-4F28-98CA1D66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AABC97-18F5-31D8-025D-3F35C83A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034A35F-C496-BD36-3ECD-4AC49F9124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基础命令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1DC82B2-DE17-F3C3-A421-8733267C1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dirty="0"/>
              <a:t>x /&lt;</a:t>
            </a:r>
            <a:r>
              <a:rPr lang="zh-CN" altLang="en-US" dirty="0"/>
              <a:t>重复次数</a:t>
            </a:r>
            <a:r>
              <a:rPr lang="en-US" altLang="zh-CN" dirty="0"/>
              <a:t>&gt;&lt;</a:t>
            </a:r>
            <a:r>
              <a:rPr lang="zh-CN" altLang="en-US" dirty="0"/>
              <a:t>格式</a:t>
            </a:r>
            <a:r>
              <a:rPr lang="en-US" altLang="zh-CN" dirty="0"/>
              <a:t>&gt;&lt;</a:t>
            </a:r>
            <a:r>
              <a:rPr lang="zh-CN" altLang="en-US" dirty="0"/>
              <a:t>大小</a:t>
            </a:r>
            <a:r>
              <a:rPr lang="en-US" altLang="zh-CN" dirty="0"/>
              <a:t>&gt; &lt;</a:t>
            </a:r>
            <a:r>
              <a:rPr lang="zh-CN" altLang="en-US" dirty="0"/>
              <a:t>地址</a:t>
            </a:r>
            <a:r>
              <a:rPr lang="en-US" altLang="zh-CN" dirty="0"/>
              <a:t>&gt;</a:t>
            </a:r>
          </a:p>
          <a:p>
            <a:endParaRPr lang="zh-CN" alt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A207162-D653-3914-212E-48C820D40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109767"/>
              </p:ext>
            </p:extLst>
          </p:nvPr>
        </p:nvGraphicFramePr>
        <p:xfrm>
          <a:off x="7686040" y="1005840"/>
          <a:ext cx="3530600" cy="4846320"/>
        </p:xfrm>
        <a:graphic>
          <a:graphicData uri="http://schemas.openxmlformats.org/drawingml/2006/table">
            <a:tbl>
              <a:tblPr/>
              <a:tblGrid>
                <a:gridCol w="1765300">
                  <a:extLst>
                    <a:ext uri="{9D8B030D-6E8A-4147-A177-3AD203B41FA5}">
                      <a16:colId xmlns:a16="http://schemas.microsoft.com/office/drawing/2014/main" val="1140307774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3297236217"/>
                    </a:ext>
                  </a:extLst>
                </a:gridCol>
              </a:tblGrid>
              <a:tr h="280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格式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含义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325471"/>
                  </a:ext>
                </a:extLst>
              </a:tr>
              <a:tr h="280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x</a:t>
                      </a:r>
                      <a:endParaRPr lang="en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十六进制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752712"/>
                  </a:ext>
                </a:extLst>
              </a:tr>
              <a:tr h="280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d</a:t>
                      </a:r>
                      <a:endParaRPr lang="en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有符号十进制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451138"/>
                  </a:ext>
                </a:extLst>
              </a:tr>
              <a:tr h="280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u</a:t>
                      </a:r>
                      <a:endParaRPr lang="en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无符号十进制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242802"/>
                  </a:ext>
                </a:extLst>
              </a:tr>
              <a:tr h="280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o</a:t>
                      </a:r>
                      <a:endParaRPr lang="en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八进制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834106"/>
                  </a:ext>
                </a:extLst>
              </a:tr>
              <a:tr h="280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t</a:t>
                      </a:r>
                      <a:endParaRPr lang="e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二进制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79754"/>
                  </a:ext>
                </a:extLst>
              </a:tr>
              <a:tr h="280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c</a:t>
                      </a:r>
                      <a:endParaRPr lang="e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字符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651525"/>
                  </a:ext>
                </a:extLst>
              </a:tr>
              <a:tr h="489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s</a:t>
                      </a:r>
                      <a:endParaRPr lang="en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字符串（直到遇到 </a:t>
                      </a:r>
                      <a:r>
                        <a:rPr lang="en-US" altLang="zh-C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\0</a:t>
                      </a: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870484"/>
                  </a:ext>
                </a:extLst>
              </a:tr>
              <a:tr h="280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f</a:t>
                      </a:r>
                      <a:endParaRPr lang="en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浮点数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657581"/>
                  </a:ext>
                </a:extLst>
              </a:tr>
              <a:tr h="489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a</a:t>
                      </a:r>
                      <a:endParaRPr lang="en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地址（带符号信息）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675491"/>
                  </a:ext>
                </a:extLst>
              </a:tr>
              <a:tr h="489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ourier New" panose="02070309020205020404" pitchFamily="49" charset="0"/>
                        </a:rPr>
                        <a:t>i</a:t>
                      </a:r>
                      <a:endParaRPr lang="e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机器指令（反汇编）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362546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E6F9DA04-3C80-5881-1C56-0A690D676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726272"/>
              </p:ext>
            </p:extLst>
          </p:nvPr>
        </p:nvGraphicFramePr>
        <p:xfrm>
          <a:off x="838199" y="2520886"/>
          <a:ext cx="4300647" cy="1371600"/>
        </p:xfrm>
        <a:graphic>
          <a:graphicData uri="http://schemas.openxmlformats.org/drawingml/2006/table">
            <a:tbl>
              <a:tblPr/>
              <a:tblGrid>
                <a:gridCol w="1433549">
                  <a:extLst>
                    <a:ext uri="{9D8B030D-6E8A-4147-A177-3AD203B41FA5}">
                      <a16:colId xmlns:a16="http://schemas.microsoft.com/office/drawing/2014/main" val="2147895083"/>
                    </a:ext>
                  </a:extLst>
                </a:gridCol>
                <a:gridCol w="1443293">
                  <a:extLst>
                    <a:ext uri="{9D8B030D-6E8A-4147-A177-3AD203B41FA5}">
                      <a16:colId xmlns:a16="http://schemas.microsoft.com/office/drawing/2014/main" val="3787424192"/>
                    </a:ext>
                  </a:extLst>
                </a:gridCol>
                <a:gridCol w="1423805">
                  <a:extLst>
                    <a:ext uri="{9D8B030D-6E8A-4147-A177-3AD203B41FA5}">
                      <a16:colId xmlns:a16="http://schemas.microsoft.com/office/drawing/2014/main" val="2997621318"/>
                    </a:ext>
                  </a:extLst>
                </a:gridCol>
              </a:tblGrid>
              <a:tr h="21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大小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字节数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用途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221607"/>
                  </a:ext>
                </a:extLst>
              </a:tr>
              <a:tr h="21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latin typeface="Courier New" panose="02070309020205020404" pitchFamily="49" charset="0"/>
                        </a:rPr>
                        <a:t>b</a:t>
                      </a:r>
                      <a:endParaRPr lang="e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676600"/>
                  </a:ext>
                </a:extLst>
              </a:tr>
              <a:tr h="21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>
                          <a:latin typeface="Courier New" panose="02070309020205020404" pitchFamily="49" charset="0"/>
                        </a:rPr>
                        <a:t>h</a:t>
                      </a:r>
                      <a:endParaRPr lang="e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halfword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991861"/>
                  </a:ext>
                </a:extLst>
              </a:tr>
              <a:tr h="21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latin typeface="Courier New" panose="02070309020205020404" pitchFamily="49" charset="0"/>
                        </a:rPr>
                        <a:t>w</a:t>
                      </a:r>
                      <a:endParaRPr lang="e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812181"/>
                  </a:ext>
                </a:extLst>
              </a:tr>
              <a:tr h="21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>
                          <a:latin typeface="Courier New" panose="02070309020205020404" pitchFamily="49" charset="0"/>
                        </a:rPr>
                        <a:t>g</a:t>
                      </a:r>
                      <a:endParaRPr lang="e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dirty="0"/>
                        <a:t>giant 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828813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D5A1040-25A8-B193-A1AB-78DF5D2DD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87221"/>
              </p:ext>
            </p:extLst>
          </p:nvPr>
        </p:nvGraphicFramePr>
        <p:xfrm>
          <a:off x="838199" y="4001294"/>
          <a:ext cx="5821546" cy="2246248"/>
        </p:xfrm>
        <a:graphic>
          <a:graphicData uri="http://schemas.openxmlformats.org/drawingml/2006/table">
            <a:tbl>
              <a:tblPr/>
              <a:tblGrid>
                <a:gridCol w="2835585">
                  <a:extLst>
                    <a:ext uri="{9D8B030D-6E8A-4147-A177-3AD203B41FA5}">
                      <a16:colId xmlns:a16="http://schemas.microsoft.com/office/drawing/2014/main" val="2318651098"/>
                    </a:ext>
                  </a:extLst>
                </a:gridCol>
                <a:gridCol w="2985961">
                  <a:extLst>
                    <a:ext uri="{9D8B030D-6E8A-4147-A177-3AD203B41FA5}">
                      <a16:colId xmlns:a16="http://schemas.microsoft.com/office/drawing/2014/main" val="2360002858"/>
                    </a:ext>
                  </a:extLst>
                </a:gridCol>
              </a:tblGrid>
              <a:tr h="195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 dirty="0"/>
                        <a:t>命令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/>
                        <a:t>说明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598743"/>
                  </a:ext>
                </a:extLst>
              </a:tr>
              <a:tr h="315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800" dirty="0">
                          <a:latin typeface="Courier New" panose="02070309020205020404" pitchFamily="49" charset="0"/>
                        </a:rPr>
                        <a:t>x /10xb 0x7fffffffde00</a:t>
                      </a:r>
                      <a:endParaRPr lang="en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 dirty="0"/>
                        <a:t>从地址 </a:t>
                      </a:r>
                      <a:r>
                        <a:rPr lang="en-US" altLang="zh-CN" sz="800" dirty="0"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" sz="800" dirty="0">
                          <a:latin typeface="Courier New" panose="02070309020205020404" pitchFamily="49" charset="0"/>
                        </a:rPr>
                        <a:t>x7fffffffde00</a:t>
                      </a:r>
                      <a:r>
                        <a:rPr lang="en" sz="800" dirty="0"/>
                        <a:t> </a:t>
                      </a:r>
                      <a:r>
                        <a:rPr lang="zh-CN" altLang="en-US" sz="800" dirty="0"/>
                        <a:t>开始，显示 </a:t>
                      </a:r>
                      <a:r>
                        <a:rPr lang="en-US" altLang="zh-CN" sz="800" dirty="0"/>
                        <a:t>10 </a:t>
                      </a:r>
                      <a:r>
                        <a:rPr lang="zh-CN" altLang="en-US" sz="800" dirty="0"/>
                        <a:t>个字节（十六进制）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688159"/>
                  </a:ext>
                </a:extLst>
              </a:tr>
              <a:tr h="315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800" dirty="0">
                          <a:latin typeface="Courier New" panose="02070309020205020404" pitchFamily="49" charset="0"/>
                        </a:rPr>
                        <a:t>x /4wd $</a:t>
                      </a:r>
                      <a:r>
                        <a:rPr lang="en" sz="800" dirty="0" err="1">
                          <a:latin typeface="Courier New" panose="02070309020205020404" pitchFamily="49" charset="0"/>
                        </a:rPr>
                        <a:t>rsp</a:t>
                      </a:r>
                      <a:endParaRPr lang="en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/>
                        <a:t>从栈指针 </a:t>
                      </a:r>
                      <a:r>
                        <a:rPr lang="en-US" altLang="zh-CN" sz="800">
                          <a:latin typeface="Courier New" panose="02070309020205020404" pitchFamily="49" charset="0"/>
                        </a:rPr>
                        <a:t>$</a:t>
                      </a:r>
                      <a:r>
                        <a:rPr lang="en" sz="800">
                          <a:latin typeface="Courier New" panose="02070309020205020404" pitchFamily="49" charset="0"/>
                        </a:rPr>
                        <a:t>rsp</a:t>
                      </a:r>
                      <a:r>
                        <a:rPr lang="en" sz="800"/>
                        <a:t> </a:t>
                      </a:r>
                      <a:r>
                        <a:rPr lang="zh-CN" altLang="en-US" sz="800"/>
                        <a:t>开始，显示 </a:t>
                      </a:r>
                      <a:r>
                        <a:rPr lang="en-US" altLang="zh-CN" sz="800"/>
                        <a:t>4 </a:t>
                      </a:r>
                      <a:r>
                        <a:rPr lang="zh-CN" altLang="en-US" sz="800"/>
                        <a:t>个有符号十进制字（</a:t>
                      </a:r>
                      <a:r>
                        <a:rPr lang="en-US" altLang="zh-CN" sz="800"/>
                        <a:t>4 </a:t>
                      </a:r>
                      <a:r>
                        <a:rPr lang="zh-CN" altLang="en-US" sz="800"/>
                        <a:t>字节</a:t>
                      </a:r>
                      <a:r>
                        <a:rPr lang="en-US" altLang="zh-CN" sz="800"/>
                        <a:t>/</a:t>
                      </a:r>
                      <a:r>
                        <a:rPr lang="zh-CN" altLang="en-US" sz="800"/>
                        <a:t>字）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769965"/>
                  </a:ext>
                </a:extLst>
              </a:tr>
              <a:tr h="195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800" dirty="0">
                          <a:latin typeface="Courier New" panose="02070309020205020404" pitchFamily="49" charset="0"/>
                        </a:rPr>
                        <a:t>x /s 0x7fffffffde00</a:t>
                      </a:r>
                      <a:endParaRPr lang="en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/>
                        <a:t>将地址视为 </a:t>
                      </a:r>
                      <a:r>
                        <a:rPr lang="en" sz="800"/>
                        <a:t>C </a:t>
                      </a:r>
                      <a:r>
                        <a:rPr lang="zh-CN" altLang="en-US" sz="800"/>
                        <a:t>字符串，显示直到 </a:t>
                      </a:r>
                      <a:r>
                        <a:rPr lang="en-US" altLang="zh-CN" sz="800">
                          <a:latin typeface="Courier New" panose="02070309020205020404" pitchFamily="49" charset="0"/>
                        </a:rPr>
                        <a:t>\0</a:t>
                      </a:r>
                      <a:endParaRPr lang="zh-CN" alt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946296"/>
                  </a:ext>
                </a:extLst>
              </a:tr>
              <a:tr h="315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800" dirty="0">
                          <a:latin typeface="Courier New" panose="02070309020205020404" pitchFamily="49" charset="0"/>
                        </a:rPr>
                        <a:t>x /2gf &amp;</a:t>
                      </a:r>
                      <a:r>
                        <a:rPr lang="en" sz="800" dirty="0" err="1">
                          <a:latin typeface="Courier New" panose="02070309020205020404" pitchFamily="49" charset="0"/>
                        </a:rPr>
                        <a:t>my_double</a:t>
                      </a:r>
                      <a:endParaRPr lang="en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 dirty="0"/>
                        <a:t>从 </a:t>
                      </a:r>
                      <a:r>
                        <a:rPr lang="en" sz="800" dirty="0" err="1">
                          <a:latin typeface="Courier New" panose="02070309020205020404" pitchFamily="49" charset="0"/>
                        </a:rPr>
                        <a:t>my_double</a:t>
                      </a:r>
                      <a:r>
                        <a:rPr lang="en" sz="800" dirty="0"/>
                        <a:t> </a:t>
                      </a:r>
                      <a:r>
                        <a:rPr lang="zh-CN" altLang="en-US" sz="800" dirty="0"/>
                        <a:t>地址开始，显示 </a:t>
                      </a:r>
                      <a:r>
                        <a:rPr lang="en-US" altLang="zh-CN" sz="800" dirty="0"/>
                        <a:t>2 </a:t>
                      </a:r>
                      <a:r>
                        <a:rPr lang="zh-CN" altLang="en-US" sz="800" dirty="0"/>
                        <a:t>个巨字（</a:t>
                      </a:r>
                      <a:r>
                        <a:rPr lang="en-US" altLang="zh-CN" sz="800" dirty="0"/>
                        <a:t>8 </a:t>
                      </a:r>
                      <a:r>
                        <a:rPr lang="zh-CN" altLang="en-US" sz="800" dirty="0"/>
                        <a:t>字节</a:t>
                      </a:r>
                      <a:r>
                        <a:rPr lang="en-US" altLang="zh-CN" sz="800" dirty="0"/>
                        <a:t>/</a:t>
                      </a:r>
                      <a:r>
                        <a:rPr lang="zh-CN" altLang="en-US" sz="800" dirty="0"/>
                        <a:t>巨字）的浮点数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546536"/>
                  </a:ext>
                </a:extLst>
              </a:tr>
              <a:tr h="195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800">
                          <a:latin typeface="Courier New" panose="02070309020205020404" pitchFamily="49" charset="0"/>
                        </a:rPr>
                        <a:t>x /i $rip</a:t>
                      </a:r>
                      <a:endParaRPr lang="en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 dirty="0"/>
                        <a:t>显示当前指令指针 </a:t>
                      </a:r>
                      <a:r>
                        <a:rPr lang="en-US" altLang="zh-CN" sz="800" dirty="0">
                          <a:latin typeface="Courier New" panose="02070309020205020404" pitchFamily="49" charset="0"/>
                        </a:rPr>
                        <a:t>$</a:t>
                      </a:r>
                      <a:r>
                        <a:rPr lang="en" sz="800" dirty="0">
                          <a:latin typeface="Courier New" panose="02070309020205020404" pitchFamily="49" charset="0"/>
                        </a:rPr>
                        <a:t>rip</a:t>
                      </a:r>
                      <a:r>
                        <a:rPr lang="en" sz="800" dirty="0"/>
                        <a:t> </a:t>
                      </a:r>
                      <a:r>
                        <a:rPr lang="zh-CN" altLang="en-US" sz="800" dirty="0"/>
                        <a:t>处的机器指令（反汇编）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297658"/>
                  </a:ext>
                </a:extLst>
              </a:tr>
              <a:tr h="195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800">
                          <a:latin typeface="Courier New" panose="02070309020205020404" pitchFamily="49" charset="0"/>
                        </a:rPr>
                        <a:t>x /20c 0x7fffffffde00</a:t>
                      </a:r>
                      <a:endParaRPr lang="en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 dirty="0"/>
                        <a:t>显示 </a:t>
                      </a:r>
                      <a:r>
                        <a:rPr lang="en-US" altLang="zh-CN" sz="800" dirty="0"/>
                        <a:t>20 </a:t>
                      </a:r>
                      <a:r>
                        <a:rPr lang="zh-CN" altLang="en-US" sz="800" dirty="0"/>
                        <a:t>个字符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705951"/>
                  </a:ext>
                </a:extLst>
              </a:tr>
              <a:tr h="195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800">
                          <a:latin typeface="Courier New" panose="02070309020205020404" pitchFamily="49" charset="0"/>
                        </a:rPr>
                        <a:t>x /4xg $rsp</a:t>
                      </a:r>
                      <a:endParaRPr lang="en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 dirty="0"/>
                        <a:t>显示栈顶开始的 </a:t>
                      </a:r>
                      <a:r>
                        <a:rPr lang="en-US" altLang="zh-CN" sz="800" dirty="0"/>
                        <a:t>4 </a:t>
                      </a:r>
                      <a:r>
                        <a:rPr lang="zh-CN" altLang="en-US" sz="800" dirty="0"/>
                        <a:t>个巨字（十六进制）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26086"/>
                  </a:ext>
                </a:extLst>
              </a:tr>
              <a:tr h="195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800">
                          <a:latin typeface="Courier New" panose="02070309020205020404" pitchFamily="49" charset="0"/>
                        </a:rPr>
                        <a:t>x /8b $rsi</a:t>
                      </a:r>
                      <a:endParaRPr lang="en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800" dirty="0"/>
                        <a:t>从 </a:t>
                      </a:r>
                      <a:r>
                        <a:rPr lang="en-US" altLang="zh-CN" sz="800" dirty="0">
                          <a:latin typeface="Courier New" panose="02070309020205020404" pitchFamily="49" charset="0"/>
                        </a:rPr>
                        <a:t>$</a:t>
                      </a:r>
                      <a:r>
                        <a:rPr lang="en" sz="800" dirty="0" err="1">
                          <a:latin typeface="Courier New" panose="02070309020205020404" pitchFamily="49" charset="0"/>
                        </a:rPr>
                        <a:t>rsi</a:t>
                      </a:r>
                      <a:r>
                        <a:rPr lang="en" sz="800" dirty="0"/>
                        <a:t> </a:t>
                      </a:r>
                      <a:r>
                        <a:rPr lang="zh-CN" altLang="en-US" sz="800" dirty="0"/>
                        <a:t>指向的地址显示 </a:t>
                      </a:r>
                      <a:r>
                        <a:rPr lang="en-US" altLang="zh-CN" sz="800" dirty="0"/>
                        <a:t>8 </a:t>
                      </a:r>
                      <a:r>
                        <a:rPr lang="zh-CN" altLang="en-US" sz="800" dirty="0"/>
                        <a:t>个字节（十六进制）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65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892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D0EB3-D0D5-F17F-174B-741AE7D22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5E8A7-D9CE-DFFC-02B7-2ED919C0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Tricks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7C605-365D-78C1-3AD2-041E7029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5213C8-7C59-4E58-67B8-23F72A3E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B58AC5-C3C9-08E3-980B-DBF9890B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D72E6A2-47E7-69A7-009F-36380EAAA3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基础命令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D1C7D424-99B8-3EB3-6CAF-B53DCBF2B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条件断点（</a:t>
            </a:r>
            <a:r>
              <a:rPr lang="en" altLang="zh-CN" dirty="0"/>
              <a:t>break &lt;location&gt; if &lt;condition&gt;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监视（</a:t>
            </a:r>
            <a:r>
              <a:rPr lang="en-US" altLang="zh-CN" dirty="0"/>
              <a:t>watch</a:t>
            </a:r>
            <a:r>
              <a:rPr lang="zh-CN" altLang="en-US" dirty="0"/>
              <a:t> </a:t>
            </a:r>
            <a:r>
              <a:rPr lang="en-US" altLang="zh-CN" dirty="0" err="1"/>
              <a:t>rwatch</a:t>
            </a:r>
            <a:r>
              <a:rPr lang="zh-CN" altLang="en-US" dirty="0"/>
              <a:t> </a:t>
            </a:r>
            <a:r>
              <a:rPr lang="en-US" altLang="zh-CN" dirty="0" err="1"/>
              <a:t>awatch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显示变量</a:t>
            </a:r>
            <a:endParaRPr lang="en-US" altLang="zh-CN" dirty="0"/>
          </a:p>
          <a:p>
            <a:pPr lvl="1"/>
            <a:r>
              <a:rPr lang="en" altLang="zh-CN" sz="2000" dirty="0"/>
              <a:t>(</a:t>
            </a:r>
            <a:r>
              <a:rPr lang="en" altLang="zh-CN" sz="2000" dirty="0" err="1"/>
              <a:t>gdb</a:t>
            </a:r>
            <a:r>
              <a:rPr lang="en" altLang="zh-CN" sz="2000" dirty="0"/>
              <a:t>) display x</a:t>
            </a:r>
          </a:p>
          <a:p>
            <a:pPr lvl="1"/>
            <a:r>
              <a:rPr lang="en" altLang="zh-CN" sz="2000" dirty="0"/>
              <a:t>(</a:t>
            </a:r>
            <a:r>
              <a:rPr lang="en" altLang="zh-CN" sz="2000" dirty="0" err="1"/>
              <a:t>gdb</a:t>
            </a:r>
            <a:r>
              <a:rPr lang="en" altLang="zh-CN" sz="2000" dirty="0"/>
              <a:t>) display /x y</a:t>
            </a:r>
          </a:p>
          <a:p>
            <a:pPr lvl="1"/>
            <a:r>
              <a:rPr lang="en" altLang="zh-CN" sz="2000" dirty="0"/>
              <a:t>(</a:t>
            </a:r>
            <a:r>
              <a:rPr lang="en" altLang="zh-CN" sz="2000" dirty="0" err="1"/>
              <a:t>gdb</a:t>
            </a:r>
            <a:r>
              <a:rPr lang="en" altLang="zh-CN" sz="2000" dirty="0"/>
              <a:t>) info display</a:t>
            </a:r>
          </a:p>
          <a:p>
            <a:pPr lvl="1"/>
            <a:r>
              <a:rPr lang="en" altLang="zh-CN" sz="2000" dirty="0"/>
              <a:t>(</a:t>
            </a:r>
            <a:r>
              <a:rPr lang="en" altLang="zh-CN" sz="2000" dirty="0" err="1"/>
              <a:t>gdb</a:t>
            </a:r>
            <a:r>
              <a:rPr lang="en" altLang="zh-CN" sz="2000" dirty="0"/>
              <a:t>) undisplay 1</a:t>
            </a:r>
          </a:p>
          <a:p>
            <a:pPr lvl="1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16165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35FDE-AC28-F2F6-D173-5245510A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47AD7-0A46-FE46-9D67-42EF79CE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Tricks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6DC2B-ED72-804B-7DE9-82BEF3297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A9B-1018-10AF-04C2-CE503615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78E15-DD60-EE41-0C97-A70B0DB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A1029CA-0554-3906-87C9-22A70C9F2D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基础命令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6F48E5E-90E3-F5D8-802C-ED9DEE47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修改变量（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var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调用函数（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 err="1"/>
              <a:t>func</a:t>
            </a:r>
            <a:r>
              <a:rPr lang="en-US" altLang="zh-CN" dirty="0"/>
              <a:t>(param)</a:t>
            </a:r>
            <a:r>
              <a:rPr lang="zh-CN" altLang="en-US" dirty="0"/>
              <a:t> ）</a:t>
            </a:r>
            <a:endParaRPr lang="en-US" altLang="zh-CN" dirty="0"/>
          </a:p>
          <a:p>
            <a:r>
              <a:rPr lang="zh-CN" altLang="en-US" dirty="0"/>
              <a:t>跳转（</a:t>
            </a:r>
            <a:r>
              <a:rPr lang="en-US" altLang="zh-CN" dirty="0"/>
              <a:t>jump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查看栈（</a:t>
            </a:r>
            <a:r>
              <a:rPr lang="en-US" altLang="zh-CN" dirty="0"/>
              <a:t>backtrace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32728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2EFD-9FCB-1430-6002-2291FF476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39B99-8DAF-E21D-06F5-F35DCBAB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汇编信息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354D6E-299A-0C85-4F00-727AA3431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86082-CF10-24C4-8004-456626769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CEDA6-EE7A-6F17-75B7-DB962FF8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3E4CEB6-780B-719C-5290-4740F32850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基础命令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82C159D-F0FC-9337-CE54-12954DC7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disassemble/</a:t>
            </a:r>
            <a:r>
              <a:rPr lang="en-US" altLang="zh-CN" dirty="0" err="1"/>
              <a:t>disass</a:t>
            </a:r>
            <a:r>
              <a:rPr lang="zh-CN" altLang="en-US" dirty="0"/>
              <a:t> </a:t>
            </a:r>
            <a:r>
              <a:rPr lang="en-US" altLang="zh-CN" dirty="0" err="1"/>
              <a:t>func</a:t>
            </a:r>
            <a:r>
              <a:rPr lang="zh-CN" altLang="en-US" dirty="0"/>
              <a:t> 反汇编某一函数</a:t>
            </a:r>
            <a:endParaRPr lang="en-US" altLang="zh-CN" dirty="0"/>
          </a:p>
          <a:p>
            <a:r>
              <a:rPr lang="en" altLang="zh-CN" dirty="0" err="1"/>
              <a:t>disass</a:t>
            </a:r>
            <a:r>
              <a:rPr lang="en" altLang="zh-CN" dirty="0"/>
              <a:t> /r _start</a:t>
            </a:r>
            <a:r>
              <a:rPr lang="zh-CN" altLang="en-US" dirty="0"/>
              <a:t> 反汇编完整文件</a:t>
            </a:r>
            <a:endParaRPr lang="en-US" altLang="zh-CN" dirty="0"/>
          </a:p>
          <a:p>
            <a:r>
              <a:rPr lang="en-US" altLang="zh-CN" dirty="0"/>
              <a:t>layout</a:t>
            </a:r>
            <a:r>
              <a:rPr lang="zh-CN" altLang="en-US" dirty="0"/>
              <a:t> </a:t>
            </a:r>
            <a:r>
              <a:rPr lang="en-US" altLang="zh-CN" dirty="0" err="1"/>
              <a:t>asm</a:t>
            </a:r>
            <a:r>
              <a:rPr lang="en-US" altLang="zh-CN" dirty="0"/>
              <a:t>/split/regs</a:t>
            </a: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1749590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7FF8F-2784-5D5F-AC42-C4016ED13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E37AA-4436-300C-F682-9E716A72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Bonus</a:t>
            </a:r>
            <a:r>
              <a:rPr lang="zh-CN" altLang="en-US" dirty="0"/>
              <a:t> </a:t>
            </a:r>
            <a:r>
              <a:rPr lang="en-US" altLang="zh-CN" dirty="0"/>
              <a:t>Stage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B675AC-229A-3E81-C8A1-3FF65E980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CC41CE-AD05-FA37-B7D1-3E15702B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BB6E-9D45-40C0-B7B2-8AD27972A4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62F834-0365-1FBD-D33A-C0D1F0D7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9A0EA6-FB17-C742-BD72-37878D210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27B90B0-E485-2D8B-C6EF-654DB94DC0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B54CC31-CA08-8C28-99AB-222FA05D5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650" y="3186113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46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46B8648-5FA7-159E-1BE7-0F83A9029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4905"/>
            <a:ext cx="10515600" cy="823649"/>
          </a:xfrm>
        </p:spPr>
        <p:txBody>
          <a:bodyPr/>
          <a:lstStyle/>
          <a:p>
            <a:r>
              <a:rPr lang="en-US" dirty="0"/>
              <a:t>GDB</a:t>
            </a:r>
            <a:r>
              <a:rPr lang="zh-CN" altLang="en-US" dirty="0"/>
              <a:t> </a:t>
            </a:r>
            <a:r>
              <a:rPr lang="en-US" altLang="zh-CN" dirty="0" err="1"/>
              <a:t>Cheatsheet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F2EC000-1B89-2C90-81B7-A36E8A738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Google</a:t>
            </a:r>
            <a:r>
              <a:rPr lang="zh-CN" altLang="en-US" dirty="0"/>
              <a:t> </a:t>
            </a:r>
            <a:r>
              <a:rPr lang="en-US" altLang="zh-CN" dirty="0"/>
              <a:t>it!</a:t>
            </a:r>
          </a:p>
          <a:p>
            <a:r>
              <a:rPr lang="zh-CN" altLang="en-US" dirty="0"/>
              <a:t>或者问</a:t>
            </a:r>
            <a:r>
              <a:rPr lang="en-US" altLang="zh-CN" dirty="0"/>
              <a:t>AI</a:t>
            </a:r>
          </a:p>
          <a:p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C32695-1E70-D67D-9C75-AD1910D8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30D23FF-A6A9-4343-9785-3B8E65C6A2EC}" type="datetime1">
              <a:rPr lang="zh-CN" altLang="en-US" smtClean="0"/>
              <a:pPr>
                <a:spcAft>
                  <a:spcPts val="600"/>
                </a:spcAft>
              </a:pPr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44DC7B-894C-91BE-9E99-A053EA1E5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972B6-AD4D-D2D8-1B50-6EDC76BF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49D51C-D1D6-49ED-AEB1-B846C6EB5F84}" type="slidenum">
              <a:rPr lang="zh-CN" altLang="en-US" smtClean="0"/>
              <a:pPr>
                <a:spcAft>
                  <a:spcPts val="600"/>
                </a:spcAft>
              </a:pPr>
              <a:t>15</a:t>
            </a:fld>
            <a:endParaRPr lang="zh-CN" alt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F1DAD7F-A696-16AB-2517-797CA17805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317368"/>
            <a:ext cx="10515600" cy="440531"/>
          </a:xfrm>
        </p:spPr>
        <p:txBody>
          <a:bodyPr/>
          <a:lstStyle/>
          <a:p>
            <a:r>
              <a:rPr lang="en-US" altLang="zh-CN" dirty="0"/>
              <a:t>3. Bonus</a:t>
            </a:r>
            <a:r>
              <a:rPr lang="zh-CN" altLang="en-US" dirty="0"/>
              <a:t> </a:t>
            </a:r>
            <a:r>
              <a:rPr lang="en-US" altLang="zh-CN" dirty="0"/>
              <a:t>Stage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5D09839-6301-F46F-6A94-F041406C7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829" y="1031188"/>
            <a:ext cx="3725561" cy="514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07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4EA33-2426-A3EA-639A-46F4E559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GDB</a:t>
            </a:r>
            <a:r>
              <a:rPr kumimoji="1" lang="zh-CN" altLang="en-US" dirty="0"/>
              <a:t> </a:t>
            </a:r>
            <a:r>
              <a:rPr kumimoji="1" lang="en-US" altLang="zh-CN" dirty="0"/>
              <a:t>Lab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5F64A-15C0-CAB2-DFDF-3C47B2DCC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尝试使用</a:t>
            </a:r>
            <a:r>
              <a:rPr kumimoji="1" lang="en-US" altLang="zh-CN" dirty="0"/>
              <a:t>GDB</a:t>
            </a:r>
            <a:r>
              <a:rPr kumimoji="1" lang="zh-CN" altLang="en-US" dirty="0"/>
              <a:t>调试</a:t>
            </a:r>
            <a:r>
              <a:rPr kumimoji="1" lang="en-US" altLang="zh-CN" dirty="0"/>
              <a:t>act1-2</a:t>
            </a:r>
          </a:p>
          <a:p>
            <a:r>
              <a:rPr kumimoji="1" lang="zh-CN" altLang="en-US" dirty="0"/>
              <a:t>编译并使用</a:t>
            </a:r>
            <a:r>
              <a:rPr kumimoji="1" lang="en-US" altLang="zh-CN" dirty="0"/>
              <a:t>GDB</a:t>
            </a:r>
            <a:r>
              <a:rPr kumimoji="1" lang="zh-CN" altLang="en-US" dirty="0"/>
              <a:t>查看</a:t>
            </a:r>
            <a:r>
              <a:rPr kumimoji="1" lang="en-US" altLang="zh-CN" dirty="0"/>
              <a:t>act3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2C7F64-9667-AD3A-616C-BDDFB8BE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303AA-BEF9-B050-2DF9-FFC6745C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C510EA-EACB-3767-A34E-69385BFA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21A0C7A-39A9-10A9-71D1-74AE92AAD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3. Bonus</a:t>
            </a:r>
            <a:r>
              <a:rPr lang="zh-CN" altLang="en-US" dirty="0"/>
              <a:t> </a:t>
            </a:r>
            <a:r>
              <a:rPr lang="en-US" altLang="zh-CN" dirty="0"/>
              <a:t>Stage</a:t>
            </a:r>
          </a:p>
        </p:txBody>
      </p:sp>
    </p:spTree>
    <p:extLst>
      <p:ext uri="{BB962C8B-B14F-4D97-AF65-F5344CB8AC3E}">
        <p14:creationId xmlns:p14="http://schemas.microsoft.com/office/powerpoint/2010/main" val="3234767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F8BB2-78D6-FE01-F750-288C9DAFD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After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Session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B7AB88-232B-3C6B-772F-AD3197455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尝试使用各种调试工具调试各种二进制文件</a:t>
            </a:r>
            <a:endParaRPr kumimoji="1" lang="en-US" altLang="zh-CN" dirty="0"/>
          </a:p>
          <a:p>
            <a:r>
              <a:rPr kumimoji="1" lang="zh-CN" altLang="en-US" dirty="0"/>
              <a:t>多加练习阅读汇编程序</a:t>
            </a:r>
            <a:endParaRPr kumimoji="1" lang="en-US" altLang="zh-CN" dirty="0"/>
          </a:p>
          <a:p>
            <a:r>
              <a:rPr kumimoji="1" lang="zh-CN" altLang="en-US" dirty="0"/>
              <a:t>多尝试</a:t>
            </a:r>
            <a:endParaRPr kumimoji="1" lang="en-US" altLang="zh-CN" dirty="0"/>
          </a:p>
          <a:p>
            <a:r>
              <a:rPr kumimoji="1" lang="zh-CN" altLang="en-US" dirty="0"/>
              <a:t>多交流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AB7221-8465-485D-868E-CF2DD48A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16A-2760-476C-B48C-63AB8C5EB03B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E188E-FE63-E3CC-6CA5-CC8E130BB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0B296-6E48-FD62-FDF8-185682FC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64FC80A-274F-4B18-818E-3026AA52F4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3. Bonus</a:t>
            </a:r>
            <a:r>
              <a:rPr lang="zh-CN" altLang="en-US" dirty="0"/>
              <a:t> </a:t>
            </a:r>
            <a:r>
              <a:rPr lang="en-US" altLang="zh-CN" dirty="0"/>
              <a:t>Stage</a:t>
            </a:r>
          </a:p>
        </p:txBody>
      </p:sp>
    </p:spTree>
    <p:extLst>
      <p:ext uri="{BB962C8B-B14F-4D97-AF65-F5344CB8AC3E}">
        <p14:creationId xmlns:p14="http://schemas.microsoft.com/office/powerpoint/2010/main" val="2170865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46AAD576-610B-EEFC-5B04-7B23D6C6C764}"/>
              </a:ext>
            </a:extLst>
          </p:cNvPr>
          <p:cNvSpPr/>
          <p:nvPr/>
        </p:nvSpPr>
        <p:spPr>
          <a:xfrm>
            <a:off x="0" y="289932"/>
            <a:ext cx="12192000" cy="5927988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E9FBAE-15A4-EFEB-BF31-995053F7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F378-3FCA-43AE-826F-C6656DDBF4D4}" type="datetime1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CDFBC5-708C-A1CB-737D-308F2AC4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武汉大学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AF244E-6038-8AC5-6D8E-00B5E445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D51C-D1D6-49ED-AEB1-B846C6EB5F8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F97D41-5A57-0244-18E0-CD5F0C758FF5}"/>
              </a:ext>
            </a:extLst>
          </p:cNvPr>
          <p:cNvSpPr txBox="1"/>
          <p:nvPr/>
        </p:nvSpPr>
        <p:spPr>
          <a:xfrm>
            <a:off x="2721641" y="2690340"/>
            <a:ext cx="6748718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</a:rPr>
              <a:t>Thank you!</a:t>
            </a:r>
            <a:endParaRPr lang="zh-CN" alt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611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C Fonts">
      <a:majorFont>
        <a:latin typeface="STIX Two Text"/>
        <a:ea typeface="Noto Sans SC Medium"/>
        <a:cs typeface=""/>
      </a:majorFont>
      <a:minorFont>
        <a:latin typeface="STIX Two Text SemiBold"/>
        <a:ea typeface="Noto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y PPT Template.pptx" id="{EF4D95E0-AD3E-4D69-BABC-ED6C04D7671A}" vid="{339D6A85-E16B-4E17-B933-FB5054BB7CC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OSI PPT Template</Template>
  <TotalTime>353</TotalTime>
  <Words>824</Words>
  <Application>Microsoft Office PowerPoint</Application>
  <PresentationFormat>宽屏</PresentationFormat>
  <Paragraphs>252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Noto Sans SC Medium</vt:lpstr>
      <vt:lpstr>等线</vt:lpstr>
      <vt:lpstr>Arial</vt:lpstr>
      <vt:lpstr>Courier New</vt:lpstr>
      <vt:lpstr>STIX Two Text</vt:lpstr>
      <vt:lpstr>STIX Two Text SemiBold</vt:lpstr>
      <vt:lpstr>Office 主题​​</vt:lpstr>
      <vt:lpstr>📚 GDB It’s MyGO!!!!!</vt:lpstr>
      <vt:lpstr>前置知识</vt:lpstr>
      <vt:lpstr>为什么使用GDB?</vt:lpstr>
      <vt:lpstr>如何启动GDB</vt:lpstr>
      <vt:lpstr>被调试文件的类型</vt:lpstr>
      <vt:lpstr>基础命令</vt:lpstr>
      <vt:lpstr>运行控制</vt:lpstr>
      <vt:lpstr>断点</vt:lpstr>
      <vt:lpstr>程序状态</vt:lpstr>
      <vt:lpstr>查看数据</vt:lpstr>
      <vt:lpstr>Tricks</vt:lpstr>
      <vt:lpstr>Tricks</vt:lpstr>
      <vt:lpstr>汇编信息</vt:lpstr>
      <vt:lpstr>Bonus Stage</vt:lpstr>
      <vt:lpstr>GDB Cheatsheet</vt:lpstr>
      <vt:lpstr>GDB Lab</vt:lpstr>
      <vt:lpstr>After Session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‌ Quank</dc:creator>
  <cp:lastModifiedBy>Quank</cp:lastModifiedBy>
  <cp:revision>4</cp:revision>
  <dcterms:created xsi:type="dcterms:W3CDTF">2026-03-07T01:46:04Z</dcterms:created>
  <dcterms:modified xsi:type="dcterms:W3CDTF">2026-03-28T07:44:04Z</dcterms:modified>
</cp:coreProperties>
</file>