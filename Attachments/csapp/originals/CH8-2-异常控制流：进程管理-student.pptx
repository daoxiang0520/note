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54"/>
  </p:handoutMasterIdLst>
  <p:sldIdLst>
    <p:sldId id="542" r:id="rId3"/>
    <p:sldId id="1683" r:id="rId5"/>
    <p:sldId id="1434" r:id="rId6"/>
    <p:sldId id="1265" r:id="rId7"/>
    <p:sldId id="1266" r:id="rId8"/>
    <p:sldId id="1267" r:id="rId9"/>
    <p:sldId id="1268" r:id="rId10"/>
    <p:sldId id="1269" r:id="rId11"/>
    <p:sldId id="1270" r:id="rId12"/>
    <p:sldId id="1686" r:id="rId13"/>
    <p:sldId id="1688" r:id="rId14"/>
    <p:sldId id="1261" r:id="rId15"/>
    <p:sldId id="1436" r:id="rId16"/>
    <p:sldId id="1220" r:id="rId17"/>
    <p:sldId id="1685" r:id="rId18"/>
    <p:sldId id="1642" r:id="rId19"/>
    <p:sldId id="1704" r:id="rId20"/>
    <p:sldId id="1649" r:id="rId21"/>
    <p:sldId id="1643" r:id="rId22"/>
    <p:sldId id="1271" r:id="rId23"/>
    <p:sldId id="1272" r:id="rId24"/>
    <p:sldId id="1273" r:id="rId25"/>
    <p:sldId id="1221" r:id="rId26"/>
    <p:sldId id="1238" r:id="rId27"/>
    <p:sldId id="1239" r:id="rId28"/>
    <p:sldId id="1689" r:id="rId29"/>
    <p:sldId id="1226" r:id="rId30"/>
    <p:sldId id="1227" r:id="rId31"/>
    <p:sldId id="1228" r:id="rId32"/>
    <p:sldId id="1229" r:id="rId33"/>
    <p:sldId id="1230" r:id="rId34"/>
    <p:sldId id="1437" r:id="rId35"/>
    <p:sldId id="1231" r:id="rId36"/>
    <p:sldId id="1653" r:id="rId37"/>
    <p:sldId id="1232" r:id="rId38"/>
    <p:sldId id="1654" r:id="rId39"/>
    <p:sldId id="1676" r:id="rId40"/>
    <p:sldId id="1701" r:id="rId41"/>
    <p:sldId id="1690" r:id="rId42"/>
    <p:sldId id="1651" r:id="rId43"/>
    <p:sldId id="1652" r:id="rId44"/>
    <p:sldId id="1233" r:id="rId45"/>
    <p:sldId id="1246" r:id="rId46"/>
    <p:sldId id="1275" r:id="rId47"/>
    <p:sldId id="1438" r:id="rId48"/>
    <p:sldId id="1702" r:id="rId49"/>
    <p:sldId id="1703" r:id="rId50"/>
    <p:sldId id="1650" r:id="rId51"/>
    <p:sldId id="1235" r:id="rId52"/>
    <p:sldId id="1236" r:id="rId53"/>
  </p:sldIdLst>
  <p:sldSz cx="12192000" cy="6858000"/>
  <p:notesSz cx="7302500" cy="9586595"/>
  <p:custDataLst>
    <p:tags r:id="rId58"/>
  </p:custDataLst>
  <p:defaultTextStyle>
    <a:defPPr>
      <a:defRPr lang="en-US"/>
    </a:defPPr>
    <a:lvl1pPr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5pPr>
    <a:lvl6pPr marL="2286000" algn="l" defTabSz="914400" rtl="0" eaLnBrk="1" latinLnBrk="0" hangingPunct="1">
      <a:defRPr sz="2400" b="1" kern="1200">
        <a:solidFill>
          <a:schemeClr val="tx1"/>
        </a:solidFill>
        <a:latin typeface="Arial Narrow" panose="020B0706020202030204" pitchFamily="34" charset="0"/>
        <a:ea typeface="+mn-ea"/>
        <a:cs typeface="+mn-cs"/>
      </a:defRPr>
    </a:lvl6pPr>
    <a:lvl7pPr marL="2743200" algn="l" defTabSz="914400" rtl="0" eaLnBrk="1" latinLnBrk="0" hangingPunct="1">
      <a:defRPr sz="2400" b="1" kern="1200">
        <a:solidFill>
          <a:schemeClr val="tx1"/>
        </a:solidFill>
        <a:latin typeface="Arial Narrow" panose="020B0706020202030204" pitchFamily="34" charset="0"/>
        <a:ea typeface="+mn-ea"/>
        <a:cs typeface="+mn-cs"/>
      </a:defRPr>
    </a:lvl7pPr>
    <a:lvl8pPr marL="3200400" algn="l" defTabSz="914400" rtl="0" eaLnBrk="1" latinLnBrk="0" hangingPunct="1">
      <a:defRPr sz="2400" b="1" kern="1200">
        <a:solidFill>
          <a:schemeClr val="tx1"/>
        </a:solidFill>
        <a:latin typeface="Arial Narrow" panose="020B0706020202030204" pitchFamily="34" charset="0"/>
        <a:ea typeface="+mn-ea"/>
        <a:cs typeface="+mn-cs"/>
      </a:defRPr>
    </a:lvl8pPr>
    <a:lvl9pPr marL="3657600" algn="l" defTabSz="914400" rtl="0" eaLnBrk="1" latinLnBrk="0" hangingPunct="1">
      <a:defRPr sz="2400" b="1" kern="1200">
        <a:solidFill>
          <a:schemeClr val="tx1"/>
        </a:solidFill>
        <a:latin typeface="Arial Narrow" panose="020B0706020202030204" pitchFamily="34" charset="0"/>
        <a:ea typeface="+mn-ea"/>
        <a:cs typeface="+mn-cs"/>
      </a:defRPr>
    </a:lvl9pPr>
  </p:defaultTextStyle>
  <p:extLst>
    <p:ext uri="{EFAFB233-063F-42B5-8137-9DF3F51BA10A}">
      <p15:sldGuideLst xmlns:p15="http://schemas.microsoft.com/office/powerpoint/2012/main">
        <p15:guide id="1" orient="horz" pos="2318" userDrawn="1">
          <p15:clr>
            <a:srgbClr val="A4A3A4"/>
          </p15:clr>
        </p15:guide>
        <p15:guide id="2" pos="37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7F5CD"/>
    <a:srgbClr val="F6F5BD"/>
    <a:srgbClr val="AB8D8D"/>
    <a:srgbClr val="990000"/>
    <a:srgbClr val="D5F1CF"/>
    <a:srgbClr val="F1C7C7"/>
    <a:srgbClr val="E9E1C9"/>
    <a:srgbClr val="DED8C4"/>
    <a:srgbClr val="E7DD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8" autoAdjust="0"/>
    <p:restoredTop sz="90909" autoAdjust="0"/>
  </p:normalViewPr>
  <p:slideViewPr>
    <p:cSldViewPr snapToObjects="1" showGuides="1">
      <p:cViewPr varScale="1">
        <p:scale>
          <a:sx n="114" d="100"/>
          <a:sy n="114" d="100"/>
        </p:scale>
        <p:origin x="280" y="184"/>
      </p:cViewPr>
      <p:guideLst>
        <p:guide orient="horz" pos="2318"/>
        <p:guide pos="3747"/>
      </p:guideLst>
    </p:cSldViewPr>
  </p:slideViewPr>
  <p:notesTextViewPr>
    <p:cViewPr>
      <p:scale>
        <a:sx n="100" d="100"/>
        <a:sy n="100" d="100"/>
      </p:scale>
      <p:origin x="0" y="0"/>
    </p:cViewPr>
  </p:notesTextViewPr>
  <p:sorterViewPr>
    <p:cViewPr>
      <p:scale>
        <a:sx n="80" d="100"/>
        <a:sy n="80" d="100"/>
      </p:scale>
      <p:origin x="0" y="0"/>
    </p:cViewPr>
  </p:sorter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1.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ln>
          <a:effectLst/>
        </p:spPr>
        <p:txBody>
          <a:bodyPr vert="horz" wrap="square" lIns="96422" tIns="48211" rIns="96422" bIns="48211" numCol="1" anchor="t" anchorCtr="0" compatLnSpc="1"/>
          <a:lstStyle>
            <a:lvl1pPr defTabSz="965200">
              <a:defRPr sz="1200" smtClean="0">
                <a:latin typeface="Times New Roman" panose="02020603050405020304" pitchFamily="18" charset="0"/>
              </a:defRPr>
            </a:lvl1pPr>
          </a:lstStyle>
          <a:p>
            <a:pPr>
              <a:defRPr/>
            </a:pPr>
            <a:r>
              <a:rPr lang="en-US"/>
              <a:t>DAC 2001 Tutorial</a:t>
            </a:r>
            <a:endParaRPr lang="en-US"/>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ln>
          <a:effectLst/>
        </p:spPr>
        <p:txBody>
          <a:bodyPr vert="horz" wrap="square" lIns="96422" tIns="48211" rIns="96422" bIns="48211" numCol="1" anchor="t" anchorCtr="0" compatLnSpc="1"/>
          <a:lstStyle>
            <a:lvl1pPr algn="r" defTabSz="965200">
              <a:defRPr sz="1200" smtClean="0">
                <a:latin typeface="Times New Roman" panose="02020603050405020304"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ln>
          <a:effectLst/>
        </p:spPr>
        <p:txBody>
          <a:bodyPr vert="horz" wrap="square" lIns="96422" tIns="48211" rIns="96422" bIns="48211" numCol="1" anchor="b" anchorCtr="0" compatLnSpc="1"/>
          <a:lstStyle>
            <a:lvl1pPr defTabSz="965200">
              <a:defRPr sz="1200" smtClean="0">
                <a:latin typeface="Times New Roman" panose="02020603050405020304" pitchFamily="18" charset="0"/>
                <a:cs typeface="Times New Roman" panose="02020603050405020304" pitchFamily="18" charset="0"/>
              </a:defRPr>
            </a:lvl1pPr>
          </a:lstStyle>
          <a:p>
            <a:pPr>
              <a:defRPr/>
            </a:pPr>
            <a:r>
              <a:rPr lang="en-US"/>
              <a:t>©R.A. Rutenbar, 2001</a:t>
            </a:r>
            <a:endParaRPr lang="en-US"/>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ln>
          <a:effectLst/>
        </p:spPr>
        <p:txBody>
          <a:bodyPr vert="horz" wrap="square" lIns="96422" tIns="48211" rIns="96422" bIns="48211" numCol="1" anchor="b" anchorCtr="0" compatLnSpc="1"/>
          <a:lstStyle>
            <a:lvl1pPr algn="r" defTabSz="965200">
              <a:defRPr sz="1200" smtClean="0">
                <a:latin typeface="Times New Roman" panose="02020603050405020304" pitchFamily="18" charset="0"/>
              </a:defRPr>
            </a:lvl1pPr>
          </a:lstStyle>
          <a:p>
            <a:pPr>
              <a:defRPr/>
            </a:pPr>
            <a:fld id="{83587096-7852-44F5-9A71-D621B1FF2472}"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ln>
          <a:effectLst/>
        </p:spPr>
        <p:txBody>
          <a:bodyPr vert="horz" wrap="square" lIns="91440" tIns="45720" rIns="91440" bIns="45720" numCol="1" anchor="t" anchorCtr="0" compatLnSpc="1"/>
          <a:lstStyle>
            <a:lvl1pPr>
              <a:defRPr sz="1200" b="0" smtClean="0">
                <a:latin typeface="Times New Roman" panose="02020603050405020304"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ln>
          <a:effectLst/>
        </p:spPr>
        <p:txBody>
          <a:bodyPr vert="horz" wrap="square" lIns="91440" tIns="45720" rIns="91440" bIns="45720" numCol="1" anchor="t" anchorCtr="0" compatLnSpc="1"/>
          <a:lstStyle>
            <a:lvl1pPr algn="r">
              <a:defRPr sz="1200" b="0" smtClean="0">
                <a:latin typeface="Times New Roman" panose="02020603050405020304"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406400" y="685800"/>
            <a:ext cx="6502400" cy="3657600"/>
          </a:xfrm>
          <a:prstGeom prst="rect">
            <a:avLst/>
          </a:prstGeom>
          <a:noFill/>
          <a:ln w="9525">
            <a:solidFill>
              <a:srgbClr val="000000"/>
            </a:solidFill>
            <a:miter lim="800000"/>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ln>
          <a:effectLst/>
        </p:spPr>
        <p:txBody>
          <a:bodyPr vert="horz" wrap="square" lIns="91440" tIns="45720" rIns="91440" bIns="45720" numCol="1" anchor="b" anchorCtr="0" compatLnSpc="1"/>
          <a:lstStyle>
            <a:lvl1pPr>
              <a:defRPr sz="1200" b="0" smtClean="0">
                <a:latin typeface="Times New Roman" panose="02020603050405020304"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ln>
          <a:effectLst/>
        </p:spPr>
        <p:txBody>
          <a:bodyPr vert="horz" wrap="square" lIns="91440" tIns="45720" rIns="91440" bIns="45720" numCol="1" anchor="b" anchorCtr="0" compatLnSpc="1"/>
          <a:lstStyle>
            <a:lvl1pPr algn="r">
              <a:defRPr sz="1200" b="0" smtClean="0">
                <a:latin typeface="Times New Roman" panose="02020603050405020304" pitchFamily="18" charset="0"/>
              </a:defRPr>
            </a:lvl1pPr>
          </a:lstStyle>
          <a:p>
            <a:pPr>
              <a:defRPr/>
            </a:pPr>
            <a:fld id="{40F64717-A5A5-4C4E-9291-2F18B7410B06}"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4" Type="http://schemas.openxmlformats.org/officeDocument/2006/relationships/hyperlink" Target="https://linux.die.net/man/2/_exit" TargetMode="External"/><Relationship Id="rId3" Type="http://schemas.openxmlformats.org/officeDocument/2006/relationships/hyperlink" Target="https://linux.die.net/man/3/exit" TargetMode="External"/><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406400" y="685800"/>
            <a:ext cx="6502400" cy="3657600"/>
          </a:xfrm>
        </p:spPr>
      </p:sp>
      <p:sp>
        <p:nvSpPr>
          <p:cNvPr id="51203" name="Notes Placeholder 2"/>
          <p:cNvSpPr>
            <a:spLocks noGrp="1"/>
          </p:cNvSpPr>
          <p:nvPr>
            <p:ph type="body" idx="1"/>
          </p:nvPr>
        </p:nvSpPr>
        <p:spPr>
          <a:noFill/>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dug into the code of the C library, you might see that </a:t>
            </a:r>
            <a:r>
              <a:rPr lang="en-US" dirty="0" err="1"/>
              <a:t>fopen</a:t>
            </a:r>
            <a:r>
              <a:rPr lang="en-US" dirty="0"/>
              <a:t> uses another function called just “open” to do most of its work, but “open” is defined in assembly language and it doesn’t seem to do very much, it just puts a constant in EAX and uses this special “</a:t>
            </a:r>
            <a:r>
              <a:rPr lang="en-US" dirty="0" err="1"/>
              <a:t>syscall</a:t>
            </a:r>
            <a:r>
              <a:rPr lang="en-US" dirty="0"/>
              <a:t>” instruction and then compares RAX with another constant and either returns or jumps to error handling code.</a:t>
            </a:r>
            <a:endParaRPr lang="en-US" dirty="0"/>
          </a:p>
          <a:p>
            <a:endParaRPr lang="en-US" dirty="0"/>
          </a:p>
          <a:p>
            <a:r>
              <a:rPr lang="en-US" dirty="0"/>
              <a:t>Well, like I said, “</a:t>
            </a:r>
            <a:r>
              <a:rPr lang="en-US" dirty="0" err="1"/>
              <a:t>syscall</a:t>
            </a:r>
            <a:r>
              <a:rPr lang="en-US" dirty="0"/>
              <a:t>” makes a function call into the kernel.  The kernel will do all the real work.  It gets the arguments to open from the usual argument registers, and the value it returns in RAX is either the return value or an error code.</a:t>
            </a:r>
            <a:endParaRPr lang="en-US" dirty="0"/>
          </a:p>
          <a:p>
            <a:endParaRPr lang="en-US" dirty="0"/>
          </a:p>
          <a:p>
            <a:r>
              <a:rPr lang="en-US" dirty="0"/>
              <a:t>We have to use a special instruction to call the kernel because the kernel has special privileges. It can do things like change the page tables and talk directly to I/O devices.  So you can’t just jump into its code anywhere.</a:t>
            </a:r>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Rot="1" noChangeAspect="1" noChangeArrowheads="1" noTextEdit="1"/>
          </p:cNvSpPr>
          <p:nvPr>
            <p:ph type="sldImg"/>
          </p:nvPr>
        </p:nvSpPr>
        <p:spPr>
          <a:xfrm>
            <a:off x="406400" y="685800"/>
            <a:ext cx="6502400" cy="3657600"/>
          </a:xfrm>
        </p:spPr>
      </p:sp>
      <p:sp>
        <p:nvSpPr>
          <p:cNvPr id="531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gets repetitive writing </a:t>
            </a:r>
            <a:r>
              <a:rPr lang="en-US" dirty="0" err="1"/>
              <a:t>fprintf</a:t>
            </a:r>
            <a:r>
              <a:rPr lang="en-US" dirty="0"/>
              <a:t> stderr blah blah </a:t>
            </a:r>
            <a:r>
              <a:rPr lang="en-US" dirty="0" err="1"/>
              <a:t>strerror</a:t>
            </a:r>
            <a:r>
              <a:rPr lang="en-US" dirty="0"/>
              <a:t> </a:t>
            </a:r>
            <a:r>
              <a:rPr lang="en-US" dirty="0" err="1"/>
              <a:t>errno</a:t>
            </a:r>
            <a:r>
              <a:rPr lang="en-US" dirty="0"/>
              <a:t> blah exit 1, so some people like to define a helper function that encapsulates it.  You’ll see this in the starter code for shell and proxy.  But this is only the Right Thing if exiting is the Right Thing.</a:t>
            </a:r>
            <a:endParaRPr lang="en-US" dirty="0"/>
          </a:p>
          <a:p>
            <a:endParaRPr lang="en-US" dirty="0"/>
          </a:p>
          <a:p>
            <a:r>
              <a:rPr lang="en-US" dirty="0"/>
              <a:t>[next] The textbook’s sample code has bugs in some of its error reporting functions.  If you see exit 0 in an error reporting function, change it to 1.</a:t>
            </a:r>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lstStyle/>
          <a:p>
            <a:r>
              <a:rPr lang="en-US" dirty="0"/>
              <a:t>The textbook, and these slides, compact things even further with “Stevens wrappers” that encapsulate both the error handling and the actual system call.  Whenever you see a system call spelled with an uppercase first letter, it’s one of these wrappers. It takes the same arguments as the bare system call and it returns </a:t>
            </a:r>
            <a:r>
              <a:rPr lang="en-US" i="1" dirty="0"/>
              <a:t>only</a:t>
            </a:r>
            <a:r>
              <a:rPr lang="en-US" dirty="0"/>
              <a:t> if it succeeds.</a:t>
            </a:r>
            <a:endParaRPr lang="en-US" dirty="0"/>
          </a:p>
          <a:p>
            <a:endParaRPr lang="en-US" dirty="0"/>
          </a:p>
          <a:p>
            <a:r>
              <a:rPr lang="en-US" dirty="0"/>
              <a:t>We like this for the slides because it gets the error handling out of the way and makes the slides easier to read, but it’s almost never the right thing to do in a real program, because, again, exiting isn’t always the right thing.</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dirty="0"/>
              <a:t>Exit is another of those rare system calls that can’t fail.</a:t>
            </a:r>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Rot="1" noChangeAspect="1" noChangeArrowheads="1" noTextEdit="1"/>
          </p:cNvSpPr>
          <p:nvPr>
            <p:ph type="sldImg"/>
          </p:nvPr>
        </p:nvSpPr>
        <p:spPr>
          <a:xfrm>
            <a:off x="406400" y="685800"/>
            <a:ext cx="6502400" cy="3657600"/>
          </a:xfrm>
        </p:spPr>
      </p:sp>
      <p:sp>
        <p:nvSpPr>
          <p:cNvPr id="53453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xfrm>
            <a:off x="406400" y="685800"/>
            <a:ext cx="6502400" cy="3657600"/>
          </a:xfrm>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xfrm>
            <a:off x="406400" y="685800"/>
            <a:ext cx="6502400" cy="3657600"/>
          </a:xfrm>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xfrm>
            <a:off x="406400" y="685800"/>
            <a:ext cx="6502400" cy="3657600"/>
          </a:xfrm>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xfrm>
            <a:off x="406400" y="685800"/>
            <a:ext cx="6502400" cy="3657600"/>
          </a:xfrm>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xfrm>
            <a:off x="406400" y="685800"/>
            <a:ext cx="6502400" cy="3657600"/>
          </a:xfrm>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lstStyle/>
          <a:p>
            <a:r>
              <a:rPr lang="en-US" i="1" dirty="0"/>
              <a:t>topological sort</a:t>
            </a:r>
            <a:r>
              <a:rPr lang="zh-CN" altLang="en-US" i="1" dirty="0"/>
              <a:t>拓扑排序</a:t>
            </a:r>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xfrm>
            <a:off x="406400" y="685800"/>
            <a:ext cx="6502400" cy="3657600"/>
          </a:xfrm>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xfrm>
            <a:off x="406400" y="685800"/>
            <a:ext cx="6502400" cy="3657600"/>
          </a:xfrm>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xfrm>
            <a:off x="406400" y="685800"/>
            <a:ext cx="6502400" cy="3657600"/>
          </a:xfrm>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Rot="1" noChangeAspect="1" noChangeArrowheads="1" noTextEdit="1"/>
          </p:cNvSpPr>
          <p:nvPr>
            <p:ph type="sldImg"/>
          </p:nvPr>
        </p:nvSpPr>
        <p:spPr>
          <a:xfrm>
            <a:off x="406400" y="685800"/>
            <a:ext cx="6502400" cy="3657600"/>
          </a:xfrm>
        </p:spPr>
      </p:sp>
      <p:sp>
        <p:nvSpPr>
          <p:cNvPr id="54169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Rot="1" noChangeAspect="1" noChangeArrowheads="1" noTextEdit="1"/>
          </p:cNvSpPr>
          <p:nvPr>
            <p:ph type="sldImg"/>
          </p:nvPr>
        </p:nvSpPr>
        <p:spPr>
          <a:xfrm>
            <a:off x="406400" y="685800"/>
            <a:ext cx="6502400" cy="3657600"/>
          </a:xfrm>
        </p:spPr>
      </p:sp>
      <p:sp>
        <p:nvSpPr>
          <p:cNvPr id="542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Rot="1" noChangeAspect="1" noChangeArrowheads="1" noTextEdit="1"/>
          </p:cNvSpPr>
          <p:nvPr>
            <p:ph type="sldImg"/>
          </p:nvPr>
        </p:nvSpPr>
        <p:spPr>
          <a:xfrm>
            <a:off x="406400" y="685800"/>
            <a:ext cx="6502400" cy="3657600"/>
          </a:xfrm>
        </p:spPr>
      </p:sp>
      <p:sp>
        <p:nvSpPr>
          <p:cNvPr id="543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Rot="1" noChangeAspect="1" noChangeArrowheads="1" noTextEdit="1"/>
          </p:cNvSpPr>
          <p:nvPr>
            <p:ph type="sldImg"/>
          </p:nvPr>
        </p:nvSpPr>
        <p:spPr>
          <a:xfrm>
            <a:off x="406400" y="685800"/>
            <a:ext cx="6502400" cy="3657600"/>
          </a:xfrm>
        </p:spPr>
      </p:sp>
      <p:sp>
        <p:nvSpPr>
          <p:cNvPr id="544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Rot="1" noChangeAspect="1" noChangeArrowheads="1" noTextEdit="1"/>
          </p:cNvSpPr>
          <p:nvPr>
            <p:ph type="sldImg"/>
          </p:nvPr>
        </p:nvSpPr>
        <p:spPr>
          <a:xfrm>
            <a:off x="406400" y="685800"/>
            <a:ext cx="6502400" cy="3657600"/>
          </a:xfrm>
        </p:spPr>
      </p:sp>
      <p:sp>
        <p:nvSpPr>
          <p:cNvPr id="54579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Rot="1" noChangeAspect="1" noChangeArrowheads="1" noTextEdit="1"/>
          </p:cNvSpPr>
          <p:nvPr>
            <p:ph type="sldImg"/>
          </p:nvPr>
        </p:nvSpPr>
        <p:spPr>
          <a:xfrm>
            <a:off x="406400" y="685800"/>
            <a:ext cx="6502400" cy="3657600"/>
          </a:xfrm>
        </p:spPr>
      </p:sp>
      <p:sp>
        <p:nvSpPr>
          <p:cNvPr id="546819" name="Rectangle 3"/>
          <p:cNvSpPr>
            <a:spLocks noGrp="1" noChangeArrowheads="1"/>
          </p:cNvSpPr>
          <p:nvPr>
            <p:ph type="body" idx="1"/>
          </p:nvPr>
        </p:nvSpPr>
        <p:spPr/>
        <p:txBody>
          <a:bodyPr/>
          <a:lstStyle/>
          <a:p>
            <a:r>
              <a:rPr lang="en-US" b="1" dirty="0">
                <a:effectLst/>
              </a:rPr>
              <a:t>WIFEXITED(</a:t>
            </a:r>
            <a:r>
              <a:rPr lang="en-US" i="1" dirty="0">
                <a:effectLst/>
              </a:rPr>
              <a:t>status</a:t>
            </a:r>
            <a:r>
              <a:rPr lang="en-US" b="1" dirty="0">
                <a:effectLst/>
              </a:rPr>
              <a:t>)</a:t>
            </a:r>
            <a:r>
              <a:rPr lang="en-US" dirty="0"/>
              <a:t>returns true if the child terminated normally, that is, by calling </a:t>
            </a:r>
            <a:r>
              <a:rPr lang="en-US" sz="1200" b="1" kern="1200" dirty="0">
                <a:solidFill>
                  <a:schemeClr val="tx1"/>
                </a:solidFill>
                <a:effectLst/>
                <a:latin typeface="Times New Roman" panose="02020603050405020304" pitchFamily="18" charset="0"/>
                <a:ea typeface="+mn-ea"/>
                <a:cs typeface="+mn-cs"/>
                <a:hlinkClick r:id="rId3"/>
              </a:rPr>
              <a:t>exit</a:t>
            </a:r>
            <a:r>
              <a:rPr lang="en-US" dirty="0"/>
              <a:t>(3) or </a:t>
            </a:r>
            <a:r>
              <a:rPr lang="en-US" sz="1200" b="1" kern="1200" dirty="0">
                <a:solidFill>
                  <a:schemeClr val="tx1"/>
                </a:solidFill>
                <a:effectLst/>
                <a:latin typeface="Times New Roman" panose="02020603050405020304" pitchFamily="18" charset="0"/>
                <a:ea typeface="+mn-ea"/>
                <a:cs typeface="+mn-cs"/>
                <a:hlinkClick r:id="rId4"/>
              </a:rPr>
              <a:t>_exit</a:t>
            </a:r>
            <a:r>
              <a:rPr lang="en-US" dirty="0"/>
              <a:t>(2), or by returning from main().</a:t>
            </a:r>
            <a:endParaRPr lang="en-US" dirty="0"/>
          </a:p>
          <a:p>
            <a:r>
              <a:rPr lang="en-US" sz="1200" b="1" kern="1200" dirty="0">
                <a:solidFill>
                  <a:schemeClr val="tx1"/>
                </a:solidFill>
                <a:effectLst/>
                <a:latin typeface="Times New Roman" panose="02020603050405020304" pitchFamily="18" charset="0"/>
                <a:ea typeface="+mn-ea"/>
                <a:cs typeface="+mn-cs"/>
              </a:rPr>
              <a:t>WEXITSTATUS(</a:t>
            </a:r>
            <a:r>
              <a:rPr lang="en-US" sz="1200" i="1" kern="1200" dirty="0" err="1">
                <a:solidFill>
                  <a:schemeClr val="tx1"/>
                </a:solidFill>
                <a:effectLst/>
                <a:latin typeface="Times New Roman" panose="02020603050405020304" pitchFamily="18" charset="0"/>
                <a:ea typeface="+mn-ea"/>
                <a:cs typeface="+mn-cs"/>
              </a:rPr>
              <a:t>wstatus</a:t>
            </a:r>
            <a:r>
              <a:rPr lang="en-US" sz="1200" b="1" kern="1200" dirty="0">
                <a:solidFill>
                  <a:schemeClr val="tx1"/>
                </a:solidFill>
                <a:effectLst/>
                <a:latin typeface="Times New Roman" panose="02020603050405020304" pitchFamily="18" charset="0"/>
                <a:ea typeface="+mn-ea"/>
                <a:cs typeface="+mn-cs"/>
              </a:rPr>
              <a:t>)</a:t>
            </a:r>
            <a:r>
              <a:rPr lang="en-US" dirty="0"/>
              <a:t> returns the exit status of the child. This macro should be employed only if </a:t>
            </a:r>
            <a:r>
              <a:rPr lang="en-US" sz="1200" b="1" kern="1200" dirty="0">
                <a:solidFill>
                  <a:schemeClr val="tx1"/>
                </a:solidFill>
                <a:effectLst/>
                <a:latin typeface="Times New Roman" panose="02020603050405020304" pitchFamily="18" charset="0"/>
                <a:ea typeface="+mn-ea"/>
                <a:cs typeface="+mn-cs"/>
              </a:rPr>
              <a:t>WIFEXITED </a:t>
            </a:r>
            <a:r>
              <a:rPr lang="en-US" dirty="0"/>
              <a:t>returned true.</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Rot="1" noChangeAspect="1" noChangeArrowheads="1" noTextEdit="1"/>
          </p:cNvSpPr>
          <p:nvPr>
            <p:ph type="sldImg"/>
          </p:nvPr>
        </p:nvSpPr>
        <p:spPr>
          <a:xfrm>
            <a:off x="406400" y="685800"/>
            <a:ext cx="6502400" cy="3657600"/>
          </a:xfrm>
        </p:spPr>
      </p:sp>
      <p:sp>
        <p:nvSpPr>
          <p:cNvPr id="547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85800"/>
            <a:ext cx="6502400" cy="36576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xfrm>
            <a:off x="406400" y="685800"/>
            <a:ext cx="6502400" cy="3657600"/>
          </a:xfrm>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xfrm>
            <a:off x="406400" y="685800"/>
            <a:ext cx="6502400" cy="3657600"/>
          </a:xfrm>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xfrm>
            <a:off x="406400" y="685800"/>
            <a:ext cx="6502400" cy="3657600"/>
          </a:xfrm>
        </p:spPr>
      </p:sp>
      <p:sp>
        <p:nvSpPr>
          <p:cNvPr id="54989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xfrm>
            <a:off x="406400" y="685800"/>
            <a:ext cx="6502400" cy="3657600"/>
          </a:xfrm>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Rot="1" noChangeAspect="1" noChangeArrowheads="1" noTextEdit="1"/>
          </p:cNvSpPr>
          <p:nvPr>
            <p:ph type="sldImg"/>
          </p:nvPr>
        </p:nvSpPr>
        <p:spPr>
          <a:xfrm>
            <a:off x="406400" y="685800"/>
            <a:ext cx="6502400" cy="3657600"/>
          </a:xfrm>
        </p:spPr>
      </p:sp>
      <p:sp>
        <p:nvSpPr>
          <p:cNvPr id="550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Rot="1" noChangeAspect="1" noChangeArrowheads="1" noTextEdit="1"/>
          </p:cNvSpPr>
          <p:nvPr>
            <p:ph type="sldImg"/>
          </p:nvPr>
        </p:nvSpPr>
        <p:spPr>
          <a:xfrm>
            <a:off x="406400" y="685800"/>
            <a:ext cx="6502400" cy="3657600"/>
          </a:xfrm>
        </p:spPr>
      </p:sp>
      <p:sp>
        <p:nvSpPr>
          <p:cNvPr id="55193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08013"/>
            <a:ext cx="10363200" cy="1470025"/>
          </a:xfrm>
        </p:spPr>
        <p:txBody>
          <a:bodyPr/>
          <a:lstStyle>
            <a:lvl1pPr>
              <a:defRPr>
                <a:latin typeface="仿宋" panose="02010609060101010101" pitchFamily="49" charset="-122"/>
                <a:ea typeface="仿宋" panose="02010609060101010101" pitchFamily="49" charset="-122"/>
              </a:defRPr>
            </a:lvl1pPr>
          </a:lstStyle>
          <a:p>
            <a:r>
              <a:rPr lang="en-US" dirty="0"/>
              <a:t>Click to edit Master title style</a:t>
            </a:r>
            <a:endParaRPr lang="en-US" dirty="0"/>
          </a:p>
        </p:txBody>
      </p:sp>
      <p:sp>
        <p:nvSpPr>
          <p:cNvPr id="3" name="Subtitle 2"/>
          <p:cNvSpPr>
            <a:spLocks noGrp="1"/>
          </p:cNvSpPr>
          <p:nvPr>
            <p:ph type="subTitle" idx="1"/>
          </p:nvPr>
        </p:nvSpPr>
        <p:spPr>
          <a:xfrm>
            <a:off x="914400" y="3886200"/>
            <a:ext cx="10236656" cy="1752600"/>
          </a:xfrm>
        </p:spPr>
        <p:txBody>
          <a:bodyPr/>
          <a:lstStyle>
            <a:lvl1pPr marL="0" indent="0" algn="l">
              <a:buNone/>
              <a:defRPr sz="2000" b="0">
                <a:latin typeface="仿宋" panose="02010609060101010101" pitchFamily="49" charset="-122"/>
                <a:ea typeface="仿宋" panose="02010609060101010101" pitchFamily="49"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6025" y="435678"/>
            <a:ext cx="10122791" cy="762000"/>
          </a:xfrm>
        </p:spPr>
        <p:txBody>
          <a:bodyPr/>
          <a:lstStyle>
            <a:lvl1pPr>
              <a:defRPr>
                <a:latin typeface="Times New Roman Regular" panose="02020603050405020304" charset="0"/>
                <a:ea typeface="Microsoft YaHei" charset="0"/>
                <a:cs typeface="Times New Roman Regular" panose="02020603050405020304" charset="0"/>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defRPr>
                <a:latin typeface="Times New Roman Regular" panose="02020603050405020304" charset="0"/>
                <a:ea typeface="Microsoft YaHei" charset="0"/>
                <a:cs typeface="Times New Roman Regular" panose="02020603050405020304" charset="0"/>
              </a:defRPr>
            </a:lvl1pPr>
            <a:lvl2pPr>
              <a:defRPr>
                <a:latin typeface="Times New Roman Regular" panose="02020603050405020304" charset="0"/>
                <a:ea typeface="Microsoft YaHei" charset="0"/>
                <a:cs typeface="Times New Roman Regular" panose="02020603050405020304" charset="0"/>
              </a:defRPr>
            </a:lvl2pPr>
            <a:lvl3pPr>
              <a:defRPr>
                <a:latin typeface="Times New Roman Regular" panose="02020603050405020304" charset="0"/>
                <a:ea typeface="Microsoft YaHei" charset="0"/>
                <a:cs typeface="Times New Roman Regular" panose="02020603050405020304" charset="0"/>
              </a:defRPr>
            </a:lvl3pPr>
            <a:lvl4pPr>
              <a:defRPr>
                <a:latin typeface="Times New Roman Regular" panose="02020603050405020304" charset="0"/>
                <a:ea typeface="Microsoft YaHei" charset="0"/>
                <a:cs typeface="Times New Roman Regular" panose="02020603050405020304" charset="0"/>
              </a:defRPr>
            </a:lvl4pPr>
            <a:lvl5pPr>
              <a:defRPr>
                <a:latin typeface="Times New Roman Regular" panose="02020603050405020304" charset="0"/>
                <a:ea typeface="Microsoft YaHei" charset="0"/>
                <a:cs typeface="Times New Roman Regular" panose="0202060305040502030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Calibri" panose="020F0502020204030204"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Calibri" panose="020F0502020204030204"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sz="2800">
                <a:latin typeface="Calibri" panose="020F0502020204030204" pitchFamily="34" charset="0"/>
              </a:defRPr>
            </a:lvl1pPr>
            <a:lvl2pPr>
              <a:defRPr sz="2400">
                <a:latin typeface="Calibri" panose="020F0502020204030204" pitchFamily="34" charset="0"/>
              </a:defRPr>
            </a:lvl2pPr>
            <a:lvl3pPr>
              <a:defRPr sz="2000">
                <a:latin typeface="Calibri" panose="020F0502020204030204" pitchFamily="34" charset="0"/>
              </a:defRPr>
            </a:lvl3pPr>
            <a:lvl4pPr>
              <a:defRPr sz="1800">
                <a:latin typeface="Calibri" panose="020F0502020204030204" pitchFamily="34" charset="0"/>
              </a:defRPr>
            </a:lvl4pPr>
            <a:lvl5pPr>
              <a:defRPr sz="1800">
                <a:latin typeface="Calibri" panose="020F0502020204030204"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sz="2800">
                <a:latin typeface="Calibri" panose="020F0502020204030204" pitchFamily="34" charset="0"/>
              </a:defRPr>
            </a:lvl1pPr>
            <a:lvl2pPr>
              <a:defRPr sz="2400">
                <a:latin typeface="Calibri" panose="020F0502020204030204" pitchFamily="34" charset="0"/>
              </a:defRPr>
            </a:lvl2pPr>
            <a:lvl3pPr>
              <a:defRPr sz="2000">
                <a:latin typeface="Calibri" panose="020F0502020204030204" pitchFamily="34" charset="0"/>
              </a:defRPr>
            </a:lvl3pPr>
            <a:lvl4pPr>
              <a:defRPr sz="1800">
                <a:latin typeface="Calibri" panose="020F0502020204030204" pitchFamily="34" charset="0"/>
              </a:defRPr>
            </a:lvl4pPr>
            <a:lvl5pPr>
              <a:defRPr sz="1800">
                <a:latin typeface="Calibri" panose="020F0502020204030204"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400">
                <a:latin typeface="Calibri" panose="020F0502020204030204" pitchFamily="34" charset="0"/>
              </a:defRPr>
            </a:lvl1pPr>
            <a:lvl2pPr>
              <a:defRPr sz="2000">
                <a:latin typeface="Calibri" panose="020F0502020204030204" pitchFamily="34" charset="0"/>
              </a:defRPr>
            </a:lvl2pPr>
            <a:lvl3pPr>
              <a:defRPr sz="1800">
                <a:latin typeface="Calibri" panose="020F0502020204030204" pitchFamily="34" charset="0"/>
              </a:defRPr>
            </a:lvl3pPr>
            <a:lvl4pPr>
              <a:defRPr sz="1600">
                <a:latin typeface="Calibri" panose="020F0502020204030204" pitchFamily="34" charset="0"/>
              </a:defRPr>
            </a:lvl4pPr>
            <a:lvl5pPr>
              <a:defRPr sz="1600">
                <a:latin typeface="Calibri" panose="020F0502020204030204"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93368" y="2174875"/>
            <a:ext cx="5389033" cy="3951288"/>
          </a:xfrm>
        </p:spPr>
        <p:txBody>
          <a:bodyPr/>
          <a:lstStyle>
            <a:lvl1pPr>
              <a:defRPr sz="2400">
                <a:latin typeface="Calibri" panose="020F0502020204030204" pitchFamily="34" charset="0"/>
              </a:defRPr>
            </a:lvl1pPr>
            <a:lvl2pPr>
              <a:defRPr sz="2000">
                <a:latin typeface="Calibri" panose="020F0502020204030204" pitchFamily="34" charset="0"/>
              </a:defRPr>
            </a:lvl2pPr>
            <a:lvl3pPr>
              <a:defRPr sz="1800">
                <a:latin typeface="Calibri" panose="020F0502020204030204" pitchFamily="34" charset="0"/>
              </a:defRPr>
            </a:lvl3pPr>
            <a:lvl4pPr>
              <a:defRPr sz="1600">
                <a:latin typeface="Calibri" panose="020F0502020204030204" pitchFamily="34" charset="0"/>
              </a:defRPr>
            </a:lvl4pPr>
            <a:lvl5pPr>
              <a:defRPr sz="1600">
                <a:latin typeface="Calibri" panose="020F0502020204030204"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lvl1pPr>
              <a:defRPr>
                <a:latin typeface="Calibri" panose="020F0502020204030204" pitchFamily="34" charset="0"/>
              </a:defRPr>
            </a:lvl1pPr>
          </a:lstStyle>
          <a:p>
            <a:r>
              <a:rPr lang="en-US" dirty="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Calibri" panose="020F0502020204030204"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766733" y="273051"/>
            <a:ext cx="6815667" cy="5853113"/>
          </a:xfrm>
        </p:spPr>
        <p:txBody>
          <a:bodyPr/>
          <a:lstStyle>
            <a:lvl1pPr>
              <a:defRPr sz="3200">
                <a:latin typeface="Calibri" panose="020F0502020204030204" pitchFamily="34" charset="0"/>
              </a:defRPr>
            </a:lvl1pPr>
            <a:lvl2pPr>
              <a:defRPr sz="2800">
                <a:latin typeface="Calibri" panose="020F0502020204030204" pitchFamily="34" charset="0"/>
              </a:defRPr>
            </a:lvl2pPr>
            <a:lvl3pPr>
              <a:defRPr sz="2400">
                <a:latin typeface="Calibri" panose="020F0502020204030204" pitchFamily="34" charset="0"/>
              </a:defRPr>
            </a:lvl3pPr>
            <a:lvl4pPr>
              <a:defRPr sz="2000">
                <a:latin typeface="Calibri" panose="020F0502020204030204" pitchFamily="34" charset="0"/>
              </a:defRPr>
            </a:lvl4pPr>
            <a:lvl5pPr>
              <a:defRPr sz="2000">
                <a:latin typeface="Calibri" panose="020F0502020204030204" pitchFamily="34" charset="0"/>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Calibri" panose="020F0502020204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Calibri" panose="020F0502020204030204" pitchFamily="34"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Calibri" panose="020F0502020204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2" y="228601"/>
            <a:ext cx="2914649" cy="6105525"/>
          </a:xfrm>
        </p:spPr>
        <p:txBody>
          <a:bodyPr vert="eaVert"/>
          <a:lstStyle>
            <a:lvl1pPr>
              <a:defRPr>
                <a:latin typeface="Calibri" panose="020F0502020204030204"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529167" y="228601"/>
            <a:ext cx="8544984" cy="6105525"/>
          </a:xfrm>
        </p:spPr>
        <p:txBody>
          <a:bodyPr vert="eaVert"/>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quarter" idx="2"/>
          </p:nvPr>
        </p:nvSpPr>
        <p:spPr>
          <a:xfrm>
            <a:off x="6216651" y="1362076"/>
            <a:ext cx="5162549" cy="2409825"/>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3"/>
          </p:nvPr>
        </p:nvSpPr>
        <p:spPr>
          <a:xfrm>
            <a:off x="6216651" y="3924301"/>
            <a:ext cx="5162549" cy="2409825"/>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anose="020F0502020204030204" pitchFamily="34" charset="0"/>
              </a:defRPr>
            </a:lvl1pPr>
          </a:lstStyle>
          <a:p>
            <a:r>
              <a:rPr lang="en-US" dirty="0"/>
              <a:t>Click to edit Master title style</a:t>
            </a:r>
            <a:endParaRPr lang="en-US" dirty="0"/>
          </a:p>
        </p:txBody>
      </p:sp>
      <p:sp>
        <p:nvSpPr>
          <p:cNvPr id="3" name="Text Placeholder 2"/>
          <p:cNvSpPr>
            <a:spLocks noGrp="1"/>
          </p:cNvSpPr>
          <p:nvPr>
            <p:ph type="body" sz="half" idx="1"/>
          </p:nvPr>
        </p:nvSpPr>
        <p:spPr>
          <a:xfrm>
            <a:off x="850901" y="1362075"/>
            <a:ext cx="5162551" cy="497205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98787" y="371182"/>
            <a:ext cx="10121900" cy="762000"/>
          </a:xfrm>
          <a:prstGeom prst="rect">
            <a:avLst/>
          </a:prstGeom>
          <a:noFill/>
          <a:ln w="9525">
            <a:noFill/>
            <a:miter lim="800000"/>
          </a:ln>
        </p:spPr>
        <p:txBody>
          <a:bodyPr vert="horz" wrap="square" lIns="91440" tIns="45720" rIns="91440" bIns="45720" numCol="1" anchor="ctr" anchorCtr="0" compatLnSpc="1"/>
          <a:lstStyle/>
          <a:p>
            <a:pPr lvl="0"/>
            <a:r>
              <a:rPr lang="en-US" dirty="0"/>
              <a:t>Click to edit Master title style</a:t>
            </a:r>
            <a:endParaRPr lang="en-US" dirty="0"/>
          </a:p>
        </p:txBody>
      </p:sp>
      <p:sp>
        <p:nvSpPr>
          <p:cNvPr id="8195" name="Rectangle 3"/>
          <p:cNvSpPr>
            <a:spLocks noGrp="1" noChangeArrowheads="1"/>
          </p:cNvSpPr>
          <p:nvPr>
            <p:ph type="body" idx="1"/>
          </p:nvPr>
        </p:nvSpPr>
        <p:spPr bwMode="auto">
          <a:xfrm>
            <a:off x="529167" y="1362075"/>
            <a:ext cx="10528300" cy="4972050"/>
          </a:xfrm>
          <a:prstGeom prst="rect">
            <a:avLst/>
          </a:prstGeom>
          <a:noFill/>
          <a:ln w="9525">
            <a:noFill/>
            <a:miter lim="800000"/>
          </a:ln>
        </p:spPr>
        <p:txBody>
          <a:bodyPr vert="horz" wrap="square" lIns="91440" tIns="45720" rIns="91440" bIns="45720" numCol="1" anchor="t" anchorCtr="0" compatLnSpc="1"/>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Text Box 5"/>
          <p:cNvSpPr txBox="1">
            <a:spLocks noChangeArrowheads="1"/>
          </p:cNvSpPr>
          <p:nvPr userDrawn="1"/>
        </p:nvSpPr>
        <p:spPr bwMode="auto">
          <a:xfrm>
            <a:off x="10530418" y="-26987"/>
            <a:ext cx="1746249" cy="275590"/>
          </a:xfrm>
          <a:prstGeom prst="rect">
            <a:avLst/>
          </a:prstGeom>
          <a:noFill/>
          <a:ln w="25400">
            <a:noFill/>
            <a:miter lim="800000"/>
          </a:ln>
          <a:effectLst/>
        </p:spPr>
        <p:txBody>
          <a:bodyPr>
            <a:spAutoFit/>
          </a:bodyPr>
          <a:lstStyle/>
          <a:p>
            <a:pPr>
              <a:defRPr/>
            </a:pPr>
            <a:r>
              <a:rPr lang="en-US" sz="1200" b="0" dirty="0">
                <a:solidFill>
                  <a:schemeClr val="bg1"/>
                </a:solidFill>
                <a:latin typeface="Times New Roman Regular" panose="02020603050405020304" charset="0"/>
                <a:ea typeface="Microsoft YaHei" charset="0"/>
                <a:cs typeface="Times New Roman Regular" panose="02020603050405020304" charset="0"/>
              </a:rPr>
              <a:t>Carnegie Mellon</a:t>
            </a:r>
            <a:endParaRPr lang="en-US" sz="1200" b="0" dirty="0">
              <a:solidFill>
                <a:schemeClr val="bg1"/>
              </a:solidFill>
              <a:latin typeface="Times New Roman Regular" panose="02020603050405020304" charset="0"/>
              <a:ea typeface="Microsoft YaHei" charset="0"/>
              <a:cs typeface="Times New Roman Regular" panose="02020603050405020304" charset="0"/>
            </a:endParaRPr>
          </a:p>
        </p:txBody>
      </p:sp>
      <p:sp>
        <p:nvSpPr>
          <p:cNvPr id="8" name="Rectangle 7"/>
          <p:cNvSpPr/>
          <p:nvPr userDrawn="1"/>
        </p:nvSpPr>
        <p:spPr>
          <a:xfrm>
            <a:off x="11774458" y="6611780"/>
            <a:ext cx="389890" cy="245110"/>
          </a:xfrm>
          <a:prstGeom prst="rect">
            <a:avLst/>
          </a:prstGeom>
        </p:spPr>
        <p:txBody>
          <a:bodyPr wrap="none">
            <a:spAutoFit/>
          </a:bodyPr>
          <a:lstStyle/>
          <a:p>
            <a:fld id="{F5551B27-49BC-4291-80C6-707CDCF1D651}" type="slidenum">
              <a:rPr kumimoji="0" lang="en-US" sz="1000" b="0" i="0" u="none" strike="noStrike" kern="1200" cap="none" spc="0" normalizeH="0" baseline="0" noProof="0" smtClean="0">
                <a:ln>
                  <a:noFill/>
                </a:ln>
                <a:solidFill>
                  <a:srgbClr val="000000"/>
                </a:solidFill>
                <a:effectLst/>
                <a:uLnTx/>
                <a:uFillTx/>
                <a:latin typeface="Times New Roman Regular" panose="02020603050405020304" charset="0"/>
                <a:ea typeface="Microsoft YaHei" charset="0"/>
                <a:cs typeface="Times New Roman Regular" panose="02020603050405020304" charset="0"/>
              </a:rPr>
            </a:fld>
            <a:endParaRPr kumimoji="0" lang="en-US" sz="1000" b="0" i="0" u="none" strike="noStrike" kern="1200" cap="none" spc="0" normalizeH="0" baseline="0" noProof="0" dirty="0" smtClean="0">
              <a:ln>
                <a:noFill/>
              </a:ln>
              <a:solidFill>
                <a:srgbClr val="000000"/>
              </a:solidFill>
              <a:effectLst/>
              <a:uLnTx/>
              <a:uFillTx/>
              <a:latin typeface="Times New Roman Regular" panose="02020603050405020304" charset="0"/>
              <a:ea typeface="Microsoft YaHei" charset="0"/>
              <a:cs typeface="Times New Roman Regular" panose="02020603050405020304" charset="0"/>
            </a:endParaRPr>
          </a:p>
        </p:txBody>
      </p:sp>
      <p:sp>
        <p:nvSpPr>
          <p:cNvPr id="2" name="TextBox 8"/>
          <p:cNvSpPr txBox="1"/>
          <p:nvPr userDrawn="1"/>
        </p:nvSpPr>
        <p:spPr>
          <a:xfrm>
            <a:off x="215" y="6553201"/>
            <a:ext cx="3434080" cy="275590"/>
          </a:xfrm>
          <a:prstGeom prst="rect">
            <a:avLst/>
          </a:prstGeom>
          <a:noFill/>
        </p:spPr>
        <p:txBody>
          <a:bodyPr wrap="none" rtlCol="0">
            <a:spAutoFit/>
          </a:bodyPr>
          <a:lstStyle/>
          <a:p>
            <a:pPr algn="l"/>
            <a:r>
              <a:rPr lang="zh-CN" altLang="en-US" sz="1200" b="0">
                <a:solidFill>
                  <a:schemeClr val="tx1">
                    <a:tint val="75000"/>
                  </a:schemeClr>
                </a:solidFill>
                <a:latin typeface="Times New Roman Regular" panose="02020603050405020304" charset="0"/>
                <a:ea typeface="Microsoft YaHei" charset="0"/>
                <a:cs typeface="Times New Roman Regular" panose="02020603050405020304" charset="0"/>
                <a:sym typeface="+mn-ea"/>
              </a:rPr>
              <a:t>计算机系统基础-深入理解计算机系统（第三版）</a:t>
            </a:r>
            <a:endParaRPr lang="zh-CN" altLang="en-US" sz="1200" b="0" i="0" dirty="0">
              <a:solidFill>
                <a:schemeClr val="tx1">
                  <a:tint val="75000"/>
                </a:schemeClr>
              </a:solidFill>
              <a:latin typeface="Times New Roman Regular" panose="02020603050405020304" charset="0"/>
              <a:ea typeface="Microsoft YaHei" charset="0"/>
              <a:cs typeface="Times New Roman Regular" panose="02020603050405020304" charset="0"/>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marL="119380" indent="-119380" algn="l" rtl="0" eaLnBrk="1" fontAlgn="base" hangingPunct="1">
        <a:spcBef>
          <a:spcPct val="0"/>
        </a:spcBef>
        <a:spcAft>
          <a:spcPct val="0"/>
        </a:spcAft>
        <a:defRPr sz="3600" b="0">
          <a:solidFill>
            <a:schemeClr val="tx1"/>
          </a:solidFill>
          <a:latin typeface="Times New Roman Regular" panose="02020603050405020304" charset="0"/>
          <a:ea typeface="Microsoft YaHei" charset="0"/>
          <a:cs typeface="Times New Roman Regular" panose="02020603050405020304" charset="0"/>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0">
          <a:solidFill>
            <a:schemeClr val="tx1"/>
          </a:solidFill>
          <a:latin typeface="Times New Roman Regular" panose="02020603050405020304" charset="0"/>
          <a:ea typeface="Microsoft YaHei" charset="0"/>
          <a:cs typeface="Times New Roman Regular" panose="02020603050405020304" charset="0"/>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b="0">
          <a:solidFill>
            <a:schemeClr val="tx1"/>
          </a:solidFill>
          <a:latin typeface="Times New Roman Regular" panose="02020603050405020304" charset="0"/>
          <a:ea typeface="Microsoft YaHei" charset="0"/>
          <a:cs typeface="Times New Roman Regular" panose="020206030504050203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b="0">
          <a:solidFill>
            <a:schemeClr val="tx1"/>
          </a:solidFill>
          <a:latin typeface="Times New Roman Regular" panose="02020603050405020304" charset="0"/>
          <a:ea typeface="Microsoft YaHei" charset="0"/>
          <a:cs typeface="Times New Roman Regular" panose="02020603050405020304" charset="0"/>
        </a:defRPr>
      </a:lvl3pPr>
      <a:lvl4pPr marL="1600200" indent="-228600" algn="l" rtl="0" eaLnBrk="1" fontAlgn="base" hangingPunct="1">
        <a:spcBef>
          <a:spcPct val="20000"/>
        </a:spcBef>
        <a:spcAft>
          <a:spcPct val="0"/>
        </a:spcAft>
        <a:buChar char="–"/>
        <a:defRPr sz="2000" b="0">
          <a:solidFill>
            <a:schemeClr val="tx1"/>
          </a:solidFill>
          <a:latin typeface="Times New Roman Regular" panose="02020603050405020304" charset="0"/>
          <a:ea typeface="Microsoft YaHei" charset="0"/>
          <a:cs typeface="Times New Roman Regular" panose="02020603050405020304" charset="0"/>
        </a:defRPr>
      </a:lvl4pPr>
      <a:lvl5pPr marL="2057400" indent="-228600" algn="l" rtl="0" eaLnBrk="1" fontAlgn="base" hangingPunct="1">
        <a:spcBef>
          <a:spcPct val="20000"/>
        </a:spcBef>
        <a:spcAft>
          <a:spcPct val="0"/>
        </a:spcAft>
        <a:buChar char="»"/>
        <a:defRPr sz="2000" b="0">
          <a:solidFill>
            <a:schemeClr val="tx1"/>
          </a:solidFill>
          <a:latin typeface="Times New Roman Regular" panose="02020603050405020304" charset="0"/>
          <a:ea typeface="Microsoft YaHei" charset="0"/>
          <a:cs typeface="Times New Roman Regular" panose="0202060305040502030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2209800" y="1708151"/>
            <a:ext cx="7772400" cy="1470025"/>
          </a:xfrm>
        </p:spPr>
        <p:txBody>
          <a:bodyPr/>
          <a:lstStyle/>
          <a:p>
            <a:pPr marL="0" indent="0"/>
            <a:r>
              <a:rPr lang="zh-CN" altLang="en-US" sz="4400" dirty="0">
                <a:cs typeface="仿宋" panose="02010609060101010101" pitchFamily="49" charset="-122"/>
              </a:rPr>
              <a:t>异常控制流：异常与进程</a:t>
            </a:r>
            <a:br>
              <a:rPr lang="en-US" dirty="0">
                <a:cs typeface="仿宋" panose="02010609060101010101" pitchFamily="49" charset="-122"/>
              </a:rPr>
            </a:br>
            <a:br>
              <a:rPr lang="en-US" sz="4000" dirty="0">
                <a:cs typeface="仿宋" panose="02010609060101010101" pitchFamily="49" charset="-122"/>
              </a:rPr>
            </a:br>
            <a:r>
              <a:rPr lang="zh-CN" altLang="en-US" sz="2800" dirty="0">
                <a:cs typeface="仿宋" panose="02010609060101010101" pitchFamily="49" charset="-122"/>
                <a:sym typeface="+mn-ea"/>
              </a:rPr>
              <a:t>计算机系统基础</a:t>
            </a:r>
            <a:endParaRPr lang="zh-CN" altLang="en-US" sz="2800" b="0" dirty="0">
              <a:cs typeface="仿宋" panose="02010609060101010101" pitchFamily="49" charset="-122"/>
              <a:sym typeface="+mn-ea"/>
            </a:endParaRPr>
          </a:p>
        </p:txBody>
      </p:sp>
      <p:sp>
        <p:nvSpPr>
          <p:cNvPr id="2" name="TextBox 1"/>
          <p:cNvSpPr txBox="1"/>
          <p:nvPr/>
        </p:nvSpPr>
        <p:spPr>
          <a:xfrm>
            <a:off x="-965200" y="825500"/>
            <a:ext cx="184666" cy="369332"/>
          </a:xfrm>
          <a:prstGeom prst="rect">
            <a:avLst/>
          </a:prstGeom>
          <a:noFill/>
        </p:spPr>
        <p:txBody>
          <a:bodyPr wrap="none" rtlCol="0">
            <a:spAutoFit/>
          </a:bodyPr>
          <a:lstStyle/>
          <a:p>
            <a:endParaRPr lang="en-US" sz="1800" dirty="0">
              <a:latin typeface="Calibri" panose="020F0502020204030204" pitchFamily="34" charset="0"/>
            </a:endParaRPr>
          </a:p>
        </p:txBody>
      </p:sp>
      <p:sp>
        <p:nvSpPr>
          <p:cNvPr id="3" name="副标题 2"/>
          <p:cNvSpPr/>
          <p:nvPr>
            <p:ph type="subTitle" idx="1"/>
          </p:nvPr>
        </p:nvSpPr>
        <p:spPr>
          <a:xfrm>
            <a:off x="914400" y="3962400"/>
            <a:ext cx="10236656" cy="1752600"/>
          </a:xfrm>
        </p:spPr>
        <p:txBody>
          <a:bodyPr/>
          <a:p>
            <a:endParaRPr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Consolas" panose="020B0609020204030204" pitchFamily="49" charset="0"/>
                <a:cs typeface="Consolas" panose="020B0609020204030204" pitchFamily="49" charset="0"/>
              </a:rPr>
              <a:t>主要内容</a:t>
            </a:r>
            <a:endParaRPr lang="zh-CN" altLang="en-US" dirty="0">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lstStyle/>
          <a:p>
            <a:pPr lvl="0"/>
            <a:r>
              <a:rPr lang="zh-CN" altLang="en-US" sz="2795" dirty="0">
                <a:solidFill>
                  <a:schemeClr val="tx1"/>
                </a:solidFill>
                <a:cs typeface="Consolas" panose="020B0609020204030204" pitchFamily="49" charset="0"/>
              </a:rPr>
              <a:t>进程的状态和终止</a:t>
            </a:r>
            <a:endParaRPr lang="zh-CN" altLang="en-US" sz="2795" dirty="0">
              <a:solidFill>
                <a:schemeClr val="tx1"/>
              </a:solidFill>
              <a:cs typeface="Consolas" panose="020B0609020204030204" pitchFamily="49" charset="0"/>
            </a:endParaRPr>
          </a:p>
          <a:p>
            <a:pPr lvl="0"/>
            <a:r>
              <a:rPr lang="zh-CN" altLang="en-US" sz="2795" dirty="0">
                <a:solidFill>
                  <a:schemeClr val="bg1">
                    <a:lumMod val="50000"/>
                  </a:schemeClr>
                </a:solidFill>
                <a:cs typeface="Consolas" panose="020B0609020204030204" pitchFamily="49" charset="0"/>
              </a:rPr>
              <a:t>进程的创建</a:t>
            </a:r>
            <a:endParaRPr lang="zh-CN" altLang="en-US" sz="2795" dirty="0">
              <a:solidFill>
                <a:schemeClr val="bg1">
                  <a:lumMod val="50000"/>
                </a:schemeClr>
              </a:solidFill>
              <a:cs typeface="Consolas" panose="020B0609020204030204" pitchFamily="49" charset="0"/>
            </a:endParaRPr>
          </a:p>
          <a:p>
            <a:pPr lvl="0"/>
            <a:r>
              <a:rPr lang="zh-CN" altLang="en-US" sz="2795" dirty="0">
                <a:solidFill>
                  <a:schemeClr val="bg1">
                    <a:lumMod val="50000"/>
                  </a:schemeClr>
                </a:solidFill>
                <a:cs typeface="Consolas" panose="020B0609020204030204" pitchFamily="49" charset="0"/>
              </a:rPr>
              <a:t>子进程的回收与同步</a:t>
            </a:r>
            <a:endParaRPr lang="zh-CN" altLang="en-US" sz="2795" dirty="0">
              <a:solidFill>
                <a:schemeClr val="bg1">
                  <a:lumMod val="50000"/>
                </a:schemeClr>
              </a:solidFill>
              <a:cs typeface="Consolas" panose="020B0609020204030204" pitchFamily="49" charset="0"/>
            </a:endParaRPr>
          </a:p>
          <a:p>
            <a:pPr lvl="0"/>
            <a:r>
              <a:rPr lang="zh-CN" altLang="en-US" sz="2795" dirty="0">
                <a:solidFill>
                  <a:schemeClr val="bg1">
                    <a:lumMod val="50000"/>
                  </a:schemeClr>
                </a:solidFill>
                <a:cs typeface="Consolas" panose="020B0609020204030204" pitchFamily="49" charset="0"/>
              </a:rPr>
              <a:t>创建不同的进程</a:t>
            </a:r>
            <a:endParaRPr lang="en-US" sz="2795" dirty="0">
              <a:solidFill>
                <a:schemeClr val="bg1">
                  <a:lumMod val="50000"/>
                </a:schemeClr>
              </a:solidFill>
              <a:cs typeface="Consolas" panose="020B0609020204030204" pitchFamily="49" charset="0"/>
            </a:endParaRPr>
          </a:p>
          <a:p>
            <a:pPr lvl="1"/>
            <a:endParaRPr lang="en-US" sz="2330" dirty="0">
              <a:solidFill>
                <a:schemeClr val="bg1">
                  <a:lumMod val="50000"/>
                </a:schemeClr>
              </a:solidFill>
              <a:cs typeface="Consolas" panose="020B0609020204030204" pitchFamily="49"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系统调用</a:t>
            </a:r>
            <a:endParaRPr lang="zh-CN" altLang="en-US" dirty="0"/>
          </a:p>
        </p:txBody>
      </p:sp>
      <p:sp>
        <p:nvSpPr>
          <p:cNvPr id="4" name="Content Placeholder 3"/>
          <p:cNvSpPr>
            <a:spLocks noGrp="1"/>
          </p:cNvSpPr>
          <p:nvPr>
            <p:ph idx="1"/>
          </p:nvPr>
        </p:nvSpPr>
        <p:spPr>
          <a:xfrm>
            <a:off x="609600" y="1362075"/>
            <a:ext cx="5486400" cy="4972050"/>
          </a:xfrm>
        </p:spPr>
        <p:txBody>
          <a:bodyPr/>
          <a:lstStyle/>
          <a:p>
            <a:pPr algn="just"/>
            <a:r>
              <a:rPr lang="zh-CN" altLang="en-US" dirty="0"/>
              <a:t>当一个程序希望产生超出自身进程范围的影响时，必须请求内核的帮助</a:t>
            </a:r>
            <a:endParaRPr lang="zh-CN" altLang="en-US" dirty="0"/>
          </a:p>
          <a:p>
            <a:pPr algn="just"/>
            <a:r>
              <a:rPr lang="zh-CN" altLang="en-US" dirty="0"/>
              <a:t>例如：</a:t>
            </a:r>
            <a:endParaRPr lang="en-US" dirty="0"/>
          </a:p>
          <a:p>
            <a:pPr lvl="1" algn="just"/>
            <a:r>
              <a:rPr lang="zh-CN" altLang="en-US" dirty="0"/>
              <a:t>读取</a:t>
            </a:r>
            <a:r>
              <a:rPr lang="en-US" altLang="zh-CN" dirty="0"/>
              <a:t>/</a:t>
            </a:r>
            <a:r>
              <a:rPr lang="zh-CN" altLang="en-US" dirty="0"/>
              <a:t>写入文件</a:t>
            </a:r>
            <a:endParaRPr lang="zh-CN" altLang="en-US" dirty="0"/>
          </a:p>
          <a:p>
            <a:pPr lvl="1" algn="just"/>
            <a:r>
              <a:rPr lang="zh-CN" altLang="en-US" dirty="0"/>
              <a:t>获取当前时间</a:t>
            </a:r>
            <a:endParaRPr lang="en-US" altLang="zh-CN" dirty="0"/>
          </a:p>
          <a:p>
            <a:pPr lvl="1" algn="just"/>
            <a:r>
              <a:rPr lang="zh-CN" altLang="en-US" dirty="0"/>
              <a:t>分配内存（</a:t>
            </a:r>
            <a:r>
              <a:rPr lang="en-US" altLang="zh-CN" dirty="0" err="1">
                <a:latin typeface="Consolas" panose="020B0609020204030204" pitchFamily="49" charset="0"/>
                <a:cs typeface="Courier New" panose="02070609020205020404" pitchFamily="49" charset="0"/>
              </a:rPr>
              <a:t>sbrk</a:t>
            </a:r>
            <a:r>
              <a:rPr lang="zh-CN" altLang="en-US" dirty="0"/>
              <a:t>）</a:t>
            </a:r>
            <a:endParaRPr lang="en-US" altLang="zh-CN" dirty="0"/>
          </a:p>
          <a:p>
            <a:pPr lvl="1" algn="just"/>
            <a:r>
              <a:rPr lang="zh-CN" altLang="en-US" dirty="0"/>
              <a:t>创建新进程</a:t>
            </a:r>
            <a:endParaRPr lang="zh-CN" altLang="en-US" dirty="0"/>
          </a:p>
        </p:txBody>
      </p:sp>
      <p:sp>
        <p:nvSpPr>
          <p:cNvPr id="6" name="Rectangle 5"/>
          <p:cNvSpPr/>
          <p:nvPr/>
        </p:nvSpPr>
        <p:spPr bwMode="auto">
          <a:xfrm>
            <a:off x="6324600" y="1143000"/>
            <a:ext cx="5257800" cy="4800600"/>
          </a:xfrm>
          <a:prstGeom prst="rect">
            <a:avLst/>
          </a:prstGeom>
          <a:solidFill>
            <a:srgbClr val="F6F5BD"/>
          </a:solidFill>
          <a:ln w="3175" cap="flat" cmpd="sng" algn="ctr">
            <a:solidFill>
              <a:schemeClr val="tx1"/>
            </a:solidFill>
            <a:prstDash val="solid"/>
            <a:round/>
            <a:headEnd type="none" w="med" len="med"/>
            <a:tailEnd type="arrow" w="med" len="med"/>
          </a:ln>
          <a:effectLst/>
        </p:spPr>
        <p:txBody>
          <a:bodyPr rtlCol="0" anchor="ctr"/>
          <a:lstStyle/>
          <a:p>
            <a:r>
              <a:rPr lang="en-US" sz="1600" dirty="0">
                <a:solidFill>
                  <a:schemeClr val="accent1">
                    <a:lumMod val="75000"/>
                  </a:schemeClr>
                </a:solidFill>
                <a:latin typeface="Courier New" panose="02070609020205020404" pitchFamily="49" charset="0"/>
                <a:cs typeface="Courier New" panose="02070609020205020404" pitchFamily="49" charset="0"/>
              </a:rPr>
              <a:t>// </a:t>
            </a:r>
            <a:r>
              <a:rPr lang="en-US" sz="1600" dirty="0" err="1">
                <a:solidFill>
                  <a:schemeClr val="accent1">
                    <a:lumMod val="75000"/>
                  </a:schemeClr>
                </a:solidFill>
                <a:latin typeface="Courier New" panose="02070609020205020404" pitchFamily="49" charset="0"/>
                <a:cs typeface="Courier New" panose="02070609020205020404" pitchFamily="49" charset="0"/>
              </a:rPr>
              <a:t>fopen.c</a:t>
            </a:r>
            <a:endParaRPr lang="en-US" sz="1600" dirty="0">
              <a:solidFill>
                <a:schemeClr val="accent1">
                  <a:lumMod val="75000"/>
                </a:schemeClr>
              </a:solidFill>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FILE *</a:t>
            </a:r>
            <a:r>
              <a:rPr lang="en-US" sz="1600" dirty="0" err="1">
                <a:latin typeface="Courier New" panose="02070609020205020404" pitchFamily="49" charset="0"/>
                <a:cs typeface="Courier New" panose="02070609020205020404" pitchFamily="49" charset="0"/>
              </a:rPr>
              <a:t>fopen</a:t>
            </a:r>
            <a:r>
              <a:rPr lang="en-US" sz="1600" dirty="0">
                <a:latin typeface="Courier New" panose="02070609020205020404" pitchFamily="49" charset="0"/>
                <a:cs typeface="Courier New" panose="02070609020205020404" pitchFamily="49" charset="0"/>
              </a:rPr>
              <a:t>(const char *</a:t>
            </a:r>
            <a:r>
              <a:rPr lang="en-US" sz="1600" dirty="0" err="1">
                <a:latin typeface="Courier New" panose="02070609020205020404" pitchFamily="49" charset="0"/>
                <a:cs typeface="Courier New" panose="02070609020205020404" pitchFamily="49" charset="0"/>
              </a:rPr>
              <a:t>fname</a:t>
            </a:r>
            <a:r>
              <a:rPr lang="en-US" sz="1600" dirty="0">
                <a:latin typeface="Courier New" panose="02070609020205020404" pitchFamily="49" charset="0"/>
                <a:cs typeface="Courier New" panose="02070609020205020404" pitchFamily="49" charset="0"/>
              </a:rPr>
              <a:t>,</a:t>
            </a:r>
            <a:br>
              <a:rPr lang="en-US" sz="1600" dirty="0">
                <a:latin typeface="Courier New" panose="02070609020205020404" pitchFamily="49" charset="0"/>
                <a:cs typeface="Courier New" panose="02070609020205020404" pitchFamily="49" charset="0"/>
              </a:rPr>
            </a:br>
            <a:r>
              <a:rPr lang="en-US" sz="1600" dirty="0">
                <a:latin typeface="Courier New" panose="02070609020205020404" pitchFamily="49" charset="0"/>
                <a:cs typeface="Courier New" panose="02070609020205020404" pitchFamily="49" charset="0"/>
              </a:rPr>
              <a:t>            const char *mode) {</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int flags = mode2flags(mode);</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if (!flags) return NULL;</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int </a:t>
            </a:r>
            <a:r>
              <a:rPr lang="en-US" sz="1600" dirty="0" err="1">
                <a:latin typeface="Courier New" panose="02070609020205020404" pitchFamily="49" charset="0"/>
                <a:cs typeface="Courier New" panose="02070609020205020404" pitchFamily="49" charset="0"/>
              </a:rPr>
              <a:t>fd</a:t>
            </a:r>
            <a:r>
              <a:rPr lang="en-US" sz="1600" dirty="0">
                <a:latin typeface="Courier New" panose="02070609020205020404" pitchFamily="49" charset="0"/>
                <a:cs typeface="Courier New" panose="02070609020205020404" pitchFamily="49" charset="0"/>
              </a:rPr>
              <a:t> = </a:t>
            </a:r>
            <a:r>
              <a:rPr lang="en-US" sz="1600" dirty="0">
                <a:solidFill>
                  <a:schemeClr val="accent2"/>
                </a:solidFill>
                <a:latin typeface="Courier New" panose="02070609020205020404" pitchFamily="49" charset="0"/>
                <a:cs typeface="Courier New" panose="02070609020205020404" pitchFamily="49" charset="0"/>
              </a:rPr>
              <a:t>open</a:t>
            </a:r>
            <a:r>
              <a:rPr lang="en-US" sz="1600" dirty="0">
                <a:latin typeface="Courier New" panose="02070609020205020404" pitchFamily="49" charset="0"/>
                <a:cs typeface="Courier New" panose="02070609020205020404" pitchFamily="49" charset="0"/>
              </a:rPr>
              <a:t>(</a:t>
            </a:r>
            <a:r>
              <a:rPr lang="en-US" sz="1600" dirty="0" err="1">
                <a:latin typeface="Courier New" panose="02070609020205020404" pitchFamily="49" charset="0"/>
                <a:cs typeface="Courier New" panose="02070609020205020404" pitchFamily="49" charset="0"/>
              </a:rPr>
              <a:t>fname</a:t>
            </a:r>
            <a:r>
              <a:rPr lang="en-US" sz="1600" dirty="0">
                <a:latin typeface="Courier New" panose="02070609020205020404" pitchFamily="49" charset="0"/>
                <a:cs typeface="Courier New" panose="02070609020205020404" pitchFamily="49" charset="0"/>
              </a:rPr>
              <a:t>, flags, DEFPERMS);</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if (</a:t>
            </a:r>
            <a:r>
              <a:rPr lang="en-US" sz="1600" dirty="0" err="1">
                <a:latin typeface="Courier New" panose="02070609020205020404" pitchFamily="49" charset="0"/>
                <a:cs typeface="Courier New" panose="02070609020205020404" pitchFamily="49" charset="0"/>
              </a:rPr>
              <a:t>fd</a:t>
            </a:r>
            <a:r>
              <a:rPr lang="en-US" sz="1600" dirty="0">
                <a:latin typeface="Courier New" panose="02070609020205020404" pitchFamily="49" charset="0"/>
                <a:cs typeface="Courier New" panose="02070609020205020404" pitchFamily="49" charset="0"/>
              </a:rPr>
              <a:t> == -1) return NULL;</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return </a:t>
            </a:r>
            <a:r>
              <a:rPr lang="en-US" sz="1600" dirty="0" err="1">
                <a:latin typeface="Courier New" panose="02070609020205020404" pitchFamily="49" charset="0"/>
                <a:cs typeface="Courier New" panose="02070609020205020404" pitchFamily="49" charset="0"/>
              </a:rPr>
              <a:t>fdopen</a:t>
            </a:r>
            <a:r>
              <a:rPr lang="en-US" sz="1600" dirty="0">
                <a:latin typeface="Courier New" panose="02070609020205020404" pitchFamily="49" charset="0"/>
                <a:cs typeface="Courier New" panose="02070609020205020404" pitchFamily="49" charset="0"/>
              </a:rPr>
              <a:t>(</a:t>
            </a:r>
            <a:r>
              <a:rPr lang="en-US" sz="1600" dirty="0" err="1">
                <a:latin typeface="Courier New" panose="02070609020205020404" pitchFamily="49" charset="0"/>
                <a:cs typeface="Courier New" panose="02070609020205020404" pitchFamily="49" charset="0"/>
              </a:rPr>
              <a:t>fd</a:t>
            </a:r>
            <a:r>
              <a:rPr lang="en-US" sz="1600" dirty="0">
                <a:latin typeface="Courier New" panose="02070609020205020404" pitchFamily="49" charset="0"/>
                <a:cs typeface="Courier New" panose="02070609020205020404" pitchFamily="49" charset="0"/>
              </a:rPr>
              <a:t>, mode);</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a:t>
            </a:r>
            <a:endParaRPr lang="en-US" sz="1600" dirty="0">
              <a:latin typeface="Courier New" panose="02070609020205020404" pitchFamily="49" charset="0"/>
              <a:cs typeface="Courier New" panose="02070609020205020404" pitchFamily="49" charset="0"/>
            </a:endParaRPr>
          </a:p>
          <a:p>
            <a:endParaRPr lang="en-US" sz="1600" dirty="0">
              <a:latin typeface="Courier New" panose="02070609020205020404" pitchFamily="49" charset="0"/>
              <a:cs typeface="Courier New" panose="02070609020205020404" pitchFamily="49" charset="0"/>
            </a:endParaRPr>
          </a:p>
          <a:p>
            <a:r>
              <a:rPr lang="en-US" sz="1600" dirty="0">
                <a:solidFill>
                  <a:schemeClr val="accent1">
                    <a:lumMod val="75000"/>
                  </a:schemeClr>
                </a:solidFill>
                <a:latin typeface="Courier New" panose="02070609020205020404" pitchFamily="49" charset="0"/>
                <a:cs typeface="Courier New" panose="02070609020205020404" pitchFamily="49" charset="0"/>
              </a:rPr>
              <a:t>// </a:t>
            </a:r>
            <a:r>
              <a:rPr lang="en-US" sz="1600" dirty="0" err="1">
                <a:solidFill>
                  <a:schemeClr val="accent1">
                    <a:lumMod val="75000"/>
                  </a:schemeClr>
                </a:solidFill>
                <a:latin typeface="Courier New" panose="02070609020205020404" pitchFamily="49" charset="0"/>
                <a:cs typeface="Courier New" panose="02070609020205020404" pitchFamily="49" charset="0"/>
              </a:rPr>
              <a:t>open.S</a:t>
            </a:r>
            <a:endParaRPr lang="en-US" sz="1600" dirty="0">
              <a:solidFill>
                <a:schemeClr val="accent1">
                  <a:lumMod val="75000"/>
                </a:schemeClr>
              </a:solidFill>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.global open</a:t>
            </a:r>
            <a:endParaRPr lang="en-US" sz="1600" dirty="0">
              <a:latin typeface="Courier New" panose="02070609020205020404" pitchFamily="49" charset="0"/>
              <a:cs typeface="Courier New" panose="02070609020205020404" pitchFamily="49" charset="0"/>
            </a:endParaRPr>
          </a:p>
          <a:p>
            <a:r>
              <a:rPr lang="en-US" sz="1600" dirty="0">
                <a:solidFill>
                  <a:schemeClr val="accent2"/>
                </a:solidFill>
                <a:latin typeface="Courier New" panose="02070609020205020404" pitchFamily="49" charset="0"/>
                <a:cs typeface="Courier New" panose="02070609020205020404" pitchFamily="49" charset="0"/>
              </a:rPr>
              <a:t>open</a:t>
            </a:r>
            <a:r>
              <a:rPr lang="en-US" sz="1600" dirty="0">
                <a:latin typeface="Courier New" panose="02070609020205020404" pitchFamily="49" charset="0"/>
                <a:cs typeface="Courier New" panose="02070609020205020404" pitchFamily="49" charset="0"/>
              </a:rPr>
              <a:t>:</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mov $</a:t>
            </a:r>
            <a:r>
              <a:rPr lang="en-US" sz="1600" dirty="0" err="1">
                <a:latin typeface="Courier New" panose="02070609020205020404" pitchFamily="49" charset="0"/>
                <a:cs typeface="Courier New" panose="02070609020205020404" pitchFamily="49" charset="0"/>
              </a:rPr>
              <a:t>SYS_open</a:t>
            </a:r>
            <a:r>
              <a:rPr lang="en-US" sz="1600" dirty="0">
                <a:latin typeface="Courier New" panose="02070609020205020404" pitchFamily="49" charset="0"/>
                <a:cs typeface="Courier New" panose="02070609020205020404" pitchFamily="49" charset="0"/>
              </a:rPr>
              <a:t>, %</a:t>
            </a:r>
            <a:r>
              <a:rPr lang="en-US" sz="1600" dirty="0" err="1">
                <a:latin typeface="Courier New" panose="02070609020205020404" pitchFamily="49" charset="0"/>
                <a:cs typeface="Courier New" panose="02070609020205020404" pitchFamily="49" charset="0"/>
              </a:rPr>
              <a:t>eax</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a:t>
            </a:r>
            <a:r>
              <a:rPr lang="en-US" sz="1600" dirty="0" err="1">
                <a:solidFill>
                  <a:srgbClr val="FF0000"/>
                </a:solidFill>
                <a:latin typeface="Courier New" panose="02070609020205020404" pitchFamily="49" charset="0"/>
                <a:cs typeface="Courier New" panose="02070609020205020404" pitchFamily="49" charset="0"/>
              </a:rPr>
              <a:t>syscall</a:t>
            </a:r>
            <a:endParaRPr lang="en-US" sz="1600" dirty="0">
              <a:solidFill>
                <a:srgbClr val="FF0000"/>
              </a:solidFill>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a:t>
            </a:r>
            <a:r>
              <a:rPr lang="en-US" sz="1600" dirty="0" err="1">
                <a:latin typeface="Courier New" panose="02070609020205020404" pitchFamily="49" charset="0"/>
                <a:cs typeface="Courier New" panose="02070609020205020404" pitchFamily="49" charset="0"/>
              </a:rPr>
              <a:t>cmp</a:t>
            </a:r>
            <a:r>
              <a:rPr lang="en-US" sz="1600" dirty="0">
                <a:latin typeface="Courier New" panose="02070609020205020404" pitchFamily="49" charset="0"/>
                <a:cs typeface="Courier New" panose="02070609020205020404" pitchFamily="49" charset="0"/>
              </a:rPr>
              <a:t> $</a:t>
            </a:r>
            <a:r>
              <a:rPr lang="en-US" sz="1600" dirty="0" err="1">
                <a:latin typeface="Courier New" panose="02070609020205020404" pitchFamily="49" charset="0"/>
                <a:cs typeface="Courier New" panose="02070609020205020404" pitchFamily="49" charset="0"/>
              </a:rPr>
              <a:t>SYS_error_thresh</a:t>
            </a:r>
            <a:r>
              <a:rPr lang="en-US" sz="1600" dirty="0">
                <a:latin typeface="Courier New" panose="02070609020205020404" pitchFamily="49" charset="0"/>
                <a:cs typeface="Courier New" panose="02070609020205020404" pitchFamily="49" charset="0"/>
              </a:rPr>
              <a:t>, %</a:t>
            </a:r>
            <a:r>
              <a:rPr lang="en-US" sz="1600" dirty="0" err="1">
                <a:latin typeface="Courier New" panose="02070609020205020404" pitchFamily="49" charset="0"/>
                <a:cs typeface="Courier New" panose="02070609020205020404" pitchFamily="49" charset="0"/>
              </a:rPr>
              <a:t>rax</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ja  __</a:t>
            </a:r>
            <a:r>
              <a:rPr lang="en-US" sz="1600" dirty="0" err="1">
                <a:latin typeface="Courier New" panose="02070609020205020404" pitchFamily="49" charset="0"/>
                <a:cs typeface="Courier New" panose="02070609020205020404" pitchFamily="49" charset="0"/>
              </a:rPr>
              <a:t>syscall_error</a:t>
            </a:r>
            <a:endParaRPr lang="en-US" sz="1600" dirty="0">
              <a:latin typeface="Courier New" panose="02070609020205020404" pitchFamily="49" charset="0"/>
              <a:cs typeface="Courier New" panose="02070609020205020404" pitchFamily="49" charset="0"/>
            </a:endParaRPr>
          </a:p>
          <a:p>
            <a:r>
              <a:rPr lang="en-US" sz="1600" dirty="0">
                <a:latin typeface="Courier New" panose="02070609020205020404" pitchFamily="49" charset="0"/>
                <a:cs typeface="Courier New" panose="02070609020205020404" pitchFamily="49" charset="0"/>
              </a:rPr>
              <a:t>    ret</a:t>
            </a:r>
            <a:endParaRPr lang="en-US" sz="1600" dirty="0">
              <a:latin typeface="Courier New" panose="02070609020205020404" pitchFamily="49" charset="0"/>
              <a:cs typeface="Courier New" panose="02070609020205020404" pitchFamily="49"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r>
              <a:rPr lang="zh-CN" altLang="en-US" dirty="0"/>
              <a:t>系统调用的错误处理</a:t>
            </a:r>
            <a:endParaRPr lang="zh-CN" altLang="en-US" dirty="0"/>
          </a:p>
        </p:txBody>
      </p:sp>
      <p:sp>
        <p:nvSpPr>
          <p:cNvPr id="487427" name="Rectangle 3"/>
          <p:cNvSpPr>
            <a:spLocks noGrp="1" noChangeArrowheads="1"/>
          </p:cNvSpPr>
          <p:nvPr>
            <p:ph idx="1"/>
          </p:nvPr>
        </p:nvSpPr>
        <p:spPr/>
        <p:txBody>
          <a:bodyPr/>
          <a:lstStyle/>
          <a:p>
            <a:r>
              <a:rPr lang="zh-CN" altLang="en-US">
                <a:latin typeface="Consolas" panose="020B0609020204030204" pitchFamily="49" charset="0"/>
                <a:cs typeface="Consolas" panose="020B0609020204030204" pitchFamily="49" charset="0"/>
              </a:rPr>
              <a:t>出错时，</a:t>
            </a:r>
            <a:r>
              <a:rPr lang="en-US" altLang="zh-CN">
                <a:latin typeface="Consolas" panose="020B0609020204030204" pitchFamily="49" charset="0"/>
                <a:cs typeface="Consolas" panose="020B0609020204030204" pitchFamily="49" charset="0"/>
              </a:rPr>
              <a:t>Linux </a:t>
            </a:r>
            <a:r>
              <a:rPr lang="zh-CN" altLang="en-US"/>
              <a:t>系统级函数通常返回</a:t>
            </a:r>
            <a:r>
              <a:rPr lang="en-US" altLang="zh-CN">
                <a:latin typeface="Consolas" panose="020B0609020204030204" pitchFamily="49" charset="0"/>
                <a:cs typeface="Consolas" panose="020B0609020204030204" pitchFamily="49" charset="0"/>
              </a:rPr>
              <a:t> -1</a:t>
            </a:r>
            <a:r>
              <a:rPr lang="zh-CN" altLang="en-US"/>
              <a:t>，并设置全局变量</a:t>
            </a:r>
            <a:r>
              <a:rPr lang="en-US" altLang="zh-CN"/>
              <a:t> </a:t>
            </a:r>
            <a:r>
              <a:rPr lang="en-US" altLang="zh-CN">
                <a:latin typeface="Courier New" panose="02070609020205020404" pitchFamily="49" charset="0"/>
                <a:cs typeface="Courier New" panose="02070609020205020404" pitchFamily="49" charset="0"/>
              </a:rPr>
              <a:t>errno</a:t>
            </a:r>
            <a:r>
              <a:rPr lang="en-US" altLang="zh-CN"/>
              <a:t> </a:t>
            </a:r>
            <a:r>
              <a:rPr lang="zh-CN" altLang="en-US"/>
              <a:t>以指示错误原因</a:t>
            </a:r>
            <a:r>
              <a:rPr lang="en-US" dirty="0"/>
              <a:t> </a:t>
            </a:r>
            <a:endParaRPr lang="en-US" dirty="0"/>
          </a:p>
          <a:p>
            <a:r>
              <a:rPr lang="zh-CN" altLang="en-US"/>
              <a:t>硬性规则：</a:t>
            </a:r>
            <a:r>
              <a:rPr lang="en-US" dirty="0"/>
              <a:t> </a:t>
            </a:r>
            <a:endParaRPr lang="en-US" dirty="0"/>
          </a:p>
          <a:p>
            <a:pPr lvl="1"/>
            <a:r>
              <a:rPr lang="zh-CN" altLang="en-US"/>
              <a:t>必须检查每个系统级函数的返回状态</a:t>
            </a:r>
            <a:endParaRPr lang="zh-CN" altLang="en-US"/>
          </a:p>
          <a:p>
            <a:pPr lvl="1"/>
            <a:r>
              <a:rPr lang="zh-CN" altLang="en-US"/>
              <a:t>唯一的例外是少数返回</a:t>
            </a:r>
            <a:r>
              <a:rPr lang="en-US" dirty="0"/>
              <a:t> </a:t>
            </a:r>
            <a:r>
              <a:rPr lang="en-US" dirty="0">
                <a:latin typeface="Courier New" panose="02070609020205020404"/>
                <a:cs typeface="Courier New" panose="02070609020205020404"/>
              </a:rPr>
              <a:t>void </a:t>
            </a:r>
            <a:r>
              <a:rPr lang="zh-CN" altLang="en-US" dirty="0">
                <a:latin typeface="Courier New" panose="02070609020205020404"/>
                <a:cs typeface="Courier New" panose="02070609020205020404"/>
              </a:rPr>
              <a:t>的函数</a:t>
            </a:r>
            <a:endParaRPr lang="en-US" dirty="0">
              <a:latin typeface="Courier New" panose="02070609020205020404"/>
              <a:cs typeface="Courier New" panose="02070609020205020404"/>
            </a:endParaRPr>
          </a:p>
          <a:p>
            <a:r>
              <a:rPr lang="zh-CN" altLang="en-US" dirty="0"/>
              <a:t>示例：</a:t>
            </a:r>
            <a:endParaRPr lang="en-US" dirty="0"/>
          </a:p>
          <a:p>
            <a:pPr marL="457200" lvl="1" indent="0">
              <a:buNone/>
            </a:pPr>
            <a:endParaRPr lang="en-US" dirty="0"/>
          </a:p>
        </p:txBody>
      </p:sp>
      <p:sp>
        <p:nvSpPr>
          <p:cNvPr id="28" name="Text Box 4"/>
          <p:cNvSpPr txBox="1">
            <a:spLocks noChangeArrowheads="1"/>
          </p:cNvSpPr>
          <p:nvPr/>
        </p:nvSpPr>
        <p:spPr bwMode="auto">
          <a:xfrm>
            <a:off x="1185757" y="4114800"/>
            <a:ext cx="9215120" cy="1198880"/>
          </a:xfrm>
          <a:prstGeom prst="rect">
            <a:avLst/>
          </a:prstGeom>
          <a:solidFill>
            <a:srgbClr val="F6F5BD"/>
          </a:solidFill>
          <a:ln w="3175">
            <a:solidFill>
              <a:schemeClr val="tx1"/>
            </a:solidFill>
            <a:miter lim="800000"/>
          </a:ln>
          <a:effectLst/>
        </p:spPr>
        <p:txBody>
          <a:bodyPr wrap="square">
            <a:spAutoFit/>
          </a:bodyPr>
          <a:lstStyle/>
          <a:p>
            <a:r>
              <a:rPr lang="nb-NO" sz="1800" dirty="0">
                <a:solidFill>
                  <a:srgbClr val="000000"/>
                </a:solidFill>
                <a:latin typeface="Menlo-Regular" panose="020B0609030804020204" charset="0"/>
                <a:cs typeface="Menlo-Regular" panose="020B0609030804020204" charset="0"/>
              </a:rPr>
              <a:t>  </a:t>
            </a:r>
            <a:r>
              <a:rPr lang="nb-NO" sz="1800" dirty="0" err="1">
                <a:solidFill>
                  <a:srgbClr val="C200FF"/>
                </a:solidFill>
                <a:latin typeface="Menlo-Regular" panose="020B0609030804020204" charset="0"/>
                <a:cs typeface="Menlo-Regular" panose="020B0609030804020204" charset="0"/>
              </a:rPr>
              <a:t>if</a:t>
            </a:r>
            <a:r>
              <a:rPr lang="nb-NO" sz="1800" dirty="0">
                <a:solidFill>
                  <a:srgbClr val="000000"/>
                </a:solidFill>
                <a:latin typeface="Menlo-Regular" panose="020B0609030804020204" charset="0"/>
                <a:cs typeface="Menlo-Regular" panose="020B0609030804020204" charset="0"/>
              </a:rPr>
              <a:t> ((</a:t>
            </a:r>
            <a:r>
              <a:rPr lang="nb-NO" sz="1800" dirty="0" err="1">
                <a:solidFill>
                  <a:srgbClr val="000000"/>
                </a:solidFill>
                <a:latin typeface="Menlo-Regular" panose="020B0609030804020204" charset="0"/>
                <a:cs typeface="Menlo-Regular" panose="020B0609030804020204" charset="0"/>
              </a:rPr>
              <a:t>pid</a:t>
            </a:r>
            <a:r>
              <a:rPr lang="nb-NO" sz="1800" dirty="0">
                <a:solidFill>
                  <a:srgbClr val="000000"/>
                </a:solidFill>
                <a:latin typeface="Menlo-Regular" panose="020B0609030804020204" charset="0"/>
                <a:cs typeface="Menlo-Regular" panose="020B0609030804020204" charset="0"/>
              </a:rPr>
              <a:t> = fork()) &lt; 0) {</a:t>
            </a:r>
            <a:endParaRPr lang="nb-NO" sz="1800" dirty="0">
              <a:solidFill>
                <a:srgbClr val="000000"/>
              </a:solidFill>
              <a:latin typeface="Menlo-Regular" panose="020B0609030804020204" charset="0"/>
              <a:cs typeface="Menlo-Regular" panose="020B0609030804020204" charset="0"/>
            </a:endParaRPr>
          </a:p>
          <a:p>
            <a:r>
              <a:rPr lang="nb-NO" sz="1800" dirty="0">
                <a:solidFill>
                  <a:srgbClr val="000000"/>
                </a:solidFill>
                <a:latin typeface="Menlo-Regular" panose="020B0609030804020204" charset="0"/>
                <a:cs typeface="Menlo-Regular" panose="020B0609030804020204" charset="0"/>
              </a:rPr>
              <a:t>      </a:t>
            </a:r>
            <a:r>
              <a:rPr lang="nb-NO" sz="1800" dirty="0" err="1">
                <a:solidFill>
                  <a:srgbClr val="000000"/>
                </a:solidFill>
                <a:latin typeface="Menlo-Regular" panose="020B0609030804020204" charset="0"/>
                <a:cs typeface="Menlo-Regular" panose="020B0609030804020204" charset="0"/>
              </a:rPr>
              <a:t>fprintf</a:t>
            </a:r>
            <a:r>
              <a:rPr lang="nb-NO" sz="1800" dirty="0">
                <a:solidFill>
                  <a:srgbClr val="000000"/>
                </a:solidFill>
                <a:latin typeface="Menlo-Regular" panose="020B0609030804020204" charset="0"/>
                <a:cs typeface="Menlo-Regular" panose="020B0609030804020204" charset="0"/>
              </a:rPr>
              <a:t>(</a:t>
            </a:r>
            <a:r>
              <a:rPr lang="nb-NO" sz="1800" dirty="0" err="1">
                <a:solidFill>
                  <a:srgbClr val="000000"/>
                </a:solidFill>
                <a:latin typeface="Menlo-Regular" panose="020B0609030804020204" charset="0"/>
                <a:cs typeface="Menlo-Regular" panose="020B0609030804020204" charset="0"/>
              </a:rPr>
              <a:t>stderr</a:t>
            </a:r>
            <a:r>
              <a:rPr lang="nb-NO" sz="1800" dirty="0">
                <a:solidFill>
                  <a:srgbClr val="000000"/>
                </a:solidFill>
                <a:latin typeface="Menlo-Regular" panose="020B0609030804020204" charset="0"/>
                <a:cs typeface="Menlo-Regular" panose="020B0609030804020204" charset="0"/>
              </a:rPr>
              <a:t>, </a:t>
            </a:r>
            <a:r>
              <a:rPr lang="nb-NO" sz="1800" dirty="0">
                <a:solidFill>
                  <a:srgbClr val="9D206F"/>
                </a:solidFill>
                <a:latin typeface="Menlo-Regular" panose="020B0609030804020204" charset="0"/>
                <a:cs typeface="Menlo-Regular" panose="020B0609030804020204" charset="0"/>
              </a:rPr>
              <a:t>"fork </a:t>
            </a:r>
            <a:r>
              <a:rPr lang="nb-NO" sz="1800" dirty="0" err="1">
                <a:solidFill>
                  <a:srgbClr val="9D206F"/>
                </a:solidFill>
                <a:latin typeface="Menlo-Regular" panose="020B0609030804020204" charset="0"/>
                <a:cs typeface="Menlo-Regular" panose="020B0609030804020204" charset="0"/>
              </a:rPr>
              <a:t>error</a:t>
            </a:r>
            <a:r>
              <a:rPr lang="nb-NO" sz="1800" dirty="0">
                <a:solidFill>
                  <a:srgbClr val="9D206F"/>
                </a:solidFill>
                <a:latin typeface="Menlo-Regular" panose="020B0609030804020204" charset="0"/>
                <a:cs typeface="Menlo-Regular" panose="020B0609030804020204" charset="0"/>
              </a:rPr>
              <a:t>: %s\n"</a:t>
            </a:r>
            <a:r>
              <a:rPr lang="nb-NO" sz="1800" dirty="0">
                <a:solidFill>
                  <a:srgbClr val="000000"/>
                </a:solidFill>
                <a:latin typeface="Menlo-Regular" panose="020B0609030804020204" charset="0"/>
                <a:cs typeface="Menlo-Regular" panose="020B0609030804020204" charset="0"/>
              </a:rPr>
              <a:t>, </a:t>
            </a:r>
            <a:r>
              <a:rPr lang="nb-NO" sz="1800" dirty="0" err="1">
                <a:solidFill>
                  <a:srgbClr val="000000"/>
                </a:solidFill>
                <a:latin typeface="Menlo-Regular" panose="020B0609030804020204" charset="0"/>
                <a:cs typeface="Menlo-Regular" panose="020B0609030804020204" charset="0"/>
              </a:rPr>
              <a:t>strerror</a:t>
            </a:r>
            <a:r>
              <a:rPr lang="nb-NO" sz="1800" dirty="0">
                <a:solidFill>
                  <a:srgbClr val="000000"/>
                </a:solidFill>
                <a:latin typeface="Menlo-Regular" panose="020B0609030804020204" charset="0"/>
                <a:cs typeface="Menlo-Regular" panose="020B0609030804020204" charset="0"/>
              </a:rPr>
              <a:t>(</a:t>
            </a:r>
            <a:r>
              <a:rPr lang="nb-NO" sz="1800" dirty="0" err="1">
                <a:solidFill>
                  <a:srgbClr val="000000"/>
                </a:solidFill>
                <a:latin typeface="Menlo-Regular" panose="020B0609030804020204" charset="0"/>
                <a:cs typeface="Menlo-Regular" panose="020B0609030804020204" charset="0"/>
              </a:rPr>
              <a:t>errno</a:t>
            </a:r>
            <a:r>
              <a:rPr lang="nb-NO" sz="1800" dirty="0">
                <a:solidFill>
                  <a:srgbClr val="000000"/>
                </a:solidFill>
                <a:latin typeface="Menlo-Regular" panose="020B0609030804020204" charset="0"/>
                <a:cs typeface="Menlo-Regular" panose="020B0609030804020204" charset="0"/>
              </a:rPr>
              <a:t>));</a:t>
            </a:r>
            <a:endParaRPr lang="nb-NO" sz="1800" dirty="0">
              <a:solidFill>
                <a:srgbClr val="000000"/>
              </a:solidFill>
              <a:latin typeface="Menlo-Regular" panose="020B0609030804020204" charset="0"/>
              <a:cs typeface="Menlo-Regular" panose="020B0609030804020204" charset="0"/>
            </a:endParaRPr>
          </a:p>
          <a:p>
            <a:r>
              <a:rPr lang="nb-NO" sz="1800" dirty="0">
                <a:solidFill>
                  <a:srgbClr val="000000"/>
                </a:solidFill>
                <a:latin typeface="Menlo-Regular" panose="020B0609030804020204" charset="0"/>
                <a:cs typeface="Menlo-Regular" panose="020B0609030804020204" charset="0"/>
              </a:rPr>
              <a:t>      exit(</a:t>
            </a:r>
            <a:r>
              <a:rPr lang="en-US" altLang="nb-NO" sz="1800" dirty="0">
                <a:solidFill>
                  <a:srgbClr val="000000"/>
                </a:solidFill>
                <a:latin typeface="Menlo-Regular" panose="020B0609030804020204" charset="0"/>
                <a:cs typeface="Menlo-Regular" panose="020B0609030804020204" charset="0"/>
              </a:rPr>
              <a:t>1</a:t>
            </a:r>
            <a:r>
              <a:rPr lang="nb-NO" sz="1800" dirty="0">
                <a:solidFill>
                  <a:srgbClr val="000000"/>
                </a:solidFill>
                <a:latin typeface="Menlo-Regular" panose="020B0609030804020204" charset="0"/>
                <a:cs typeface="Menlo-Regular" panose="020B0609030804020204" charset="0"/>
              </a:rPr>
              <a:t>);</a:t>
            </a:r>
            <a:endParaRPr lang="nb-NO" sz="1800" dirty="0">
              <a:solidFill>
                <a:srgbClr val="000000"/>
              </a:solidFill>
              <a:latin typeface="Menlo-Regular" panose="020B0609030804020204" charset="0"/>
              <a:cs typeface="Menlo-Regular" panose="020B0609030804020204" charset="0"/>
            </a:endParaRPr>
          </a:p>
          <a:p>
            <a:r>
              <a:rPr lang="nb-NO" sz="1800" dirty="0">
                <a:solidFill>
                  <a:srgbClr val="000000"/>
                </a:solidFill>
                <a:latin typeface="Menlo-Regular" panose="020B0609030804020204" charset="0"/>
                <a:cs typeface="Menlo-Regular" panose="020B0609030804020204" charset="0"/>
              </a:rPr>
              <a:t>  }</a:t>
            </a:r>
            <a:endParaRPr lang="en-US" sz="1800" dirty="0">
              <a:latin typeface="Menlo-Regular" panose="020B0609030804020204" charset="0"/>
              <a:cs typeface="Menlo-Regular" panose="020B0609030804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错误报告函数</a:t>
            </a:r>
            <a:endParaRPr lang="zh-CN" altLang="en-US" dirty="0"/>
          </a:p>
        </p:txBody>
      </p:sp>
      <p:sp>
        <p:nvSpPr>
          <p:cNvPr id="3" name="Content Placeholder 2"/>
          <p:cNvSpPr>
            <a:spLocks noGrp="1"/>
          </p:cNvSpPr>
          <p:nvPr>
            <p:ph idx="1"/>
          </p:nvPr>
        </p:nvSpPr>
        <p:spPr>
          <a:xfrm>
            <a:off x="1920876" y="1362076"/>
            <a:ext cx="7896225" cy="466725"/>
          </a:xfrm>
        </p:spPr>
        <p:txBody>
          <a:bodyPr/>
          <a:lstStyle/>
          <a:p>
            <a:r>
              <a:rPr lang="zh-CN" altLang="en-US"/>
              <a:t>可以使用</a:t>
            </a:r>
            <a:r>
              <a:rPr lang="zh-CN" altLang="en-US" i="1">
                <a:solidFill>
                  <a:srgbClr val="00B050"/>
                </a:solidFill>
              </a:rPr>
              <a:t>错误报告函数</a:t>
            </a:r>
            <a:r>
              <a:rPr lang="zh-CN" altLang="en-US"/>
              <a:t>进行一定程度的简化</a:t>
            </a:r>
            <a:endParaRPr lang="zh-CN" altLang="en-US"/>
          </a:p>
        </p:txBody>
      </p:sp>
      <p:sp>
        <p:nvSpPr>
          <p:cNvPr id="4" name="Text Box 4"/>
          <p:cNvSpPr txBox="1">
            <a:spLocks noChangeArrowheads="1"/>
          </p:cNvSpPr>
          <p:nvPr/>
        </p:nvSpPr>
        <p:spPr bwMode="auto">
          <a:xfrm>
            <a:off x="1957209" y="1981200"/>
            <a:ext cx="7936788" cy="1477328"/>
          </a:xfrm>
          <a:prstGeom prst="rect">
            <a:avLst/>
          </a:prstGeom>
          <a:solidFill>
            <a:srgbClr val="F6F5BD"/>
          </a:solidFill>
          <a:ln w="3175">
            <a:solidFill>
              <a:schemeClr val="tx1"/>
            </a:solidFill>
            <a:miter lim="800000"/>
          </a:ln>
          <a:effectLst/>
        </p:spPr>
        <p:txBody>
          <a:bodyPr wrap="none">
            <a:spAutoFit/>
          </a:bodyPr>
          <a:lstStyle/>
          <a:p>
            <a:r>
              <a:rPr lang="en-US" sz="1800" dirty="0">
                <a:solidFill>
                  <a:srgbClr val="2D961E"/>
                </a:solidFill>
                <a:latin typeface="Menlo-Regular" panose="020B0609030804020204"/>
              </a:rPr>
              <a:t>void</a:t>
            </a:r>
            <a:r>
              <a:rPr lang="en-US" sz="1800" dirty="0">
                <a:solidFill>
                  <a:srgbClr val="000000"/>
                </a:solidFill>
                <a:latin typeface="Menlo-Regular" panose="020B0609030804020204"/>
              </a:rPr>
              <a:t> </a:t>
            </a:r>
            <a:r>
              <a:rPr lang="en-US" sz="1800" dirty="0" err="1">
                <a:solidFill>
                  <a:srgbClr val="4A00FF"/>
                </a:solidFill>
                <a:latin typeface="Menlo-Regular" panose="020B0609030804020204"/>
              </a:rPr>
              <a:t>unix_error</a:t>
            </a:r>
            <a:r>
              <a:rPr lang="en-US" sz="1800" dirty="0">
                <a:solidFill>
                  <a:srgbClr val="000000"/>
                </a:solidFill>
                <a:latin typeface="Menlo-Regular" panose="020B0609030804020204"/>
              </a:rPr>
              <a:t>(</a:t>
            </a:r>
            <a:r>
              <a:rPr lang="en-US" sz="1800" dirty="0">
                <a:solidFill>
                  <a:srgbClr val="2D961E"/>
                </a:solidFill>
                <a:latin typeface="Menlo-Regular" panose="020B0609030804020204"/>
              </a:rPr>
              <a:t>char</a:t>
            </a:r>
            <a:r>
              <a:rPr lang="en-US" sz="1800" dirty="0">
                <a:solidFill>
                  <a:srgbClr val="000000"/>
                </a:solidFill>
                <a:latin typeface="Menlo-Regular" panose="020B0609030804020204"/>
              </a:rPr>
              <a:t> *</a:t>
            </a:r>
            <a:r>
              <a:rPr lang="en-US" sz="1800" dirty="0" err="1">
                <a:solidFill>
                  <a:srgbClr val="C1651C"/>
                </a:solidFill>
                <a:latin typeface="Menlo-Regular" panose="020B0609030804020204"/>
              </a:rPr>
              <a:t>msg</a:t>
            </a:r>
            <a:r>
              <a:rPr lang="en-US" sz="1800" dirty="0">
                <a:solidFill>
                  <a:srgbClr val="000000"/>
                </a:solidFill>
                <a:latin typeface="Menlo-Regular" panose="020B0609030804020204"/>
              </a:rPr>
              <a:t>) </a:t>
            </a:r>
            <a:r>
              <a:rPr lang="en-US" sz="1800" dirty="0">
                <a:solidFill>
                  <a:srgbClr val="CB2418"/>
                </a:solidFill>
                <a:latin typeface="Menlo-Regular" panose="020B0609030804020204"/>
              </a:rPr>
              <a:t>/* Unix-style error */</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err="1">
                <a:solidFill>
                  <a:srgbClr val="000000"/>
                </a:solidFill>
                <a:latin typeface="Menlo-Regular" panose="020B0609030804020204"/>
              </a:rPr>
              <a:t>fprintf</a:t>
            </a:r>
            <a:r>
              <a:rPr lang="en-US" sz="1800" dirty="0">
                <a:solidFill>
                  <a:srgbClr val="000000"/>
                </a:solidFill>
                <a:latin typeface="Menlo-Regular" panose="020B0609030804020204"/>
              </a:rPr>
              <a:t>(</a:t>
            </a:r>
            <a:r>
              <a:rPr lang="en-US" sz="1800" dirty="0" err="1">
                <a:solidFill>
                  <a:srgbClr val="000000"/>
                </a:solidFill>
                <a:latin typeface="Menlo-Regular" panose="020B0609030804020204"/>
              </a:rPr>
              <a:t>stderr</a:t>
            </a:r>
            <a:r>
              <a:rPr lang="en-US" sz="1800" dirty="0">
                <a:solidFill>
                  <a:srgbClr val="000000"/>
                </a:solidFill>
                <a:latin typeface="Menlo-Regular" panose="020B0609030804020204"/>
              </a:rPr>
              <a:t>, </a:t>
            </a:r>
            <a:r>
              <a:rPr lang="en-US" sz="1800" dirty="0">
                <a:solidFill>
                  <a:srgbClr val="9D206F"/>
                </a:solidFill>
                <a:latin typeface="Menlo-Regular" panose="020B0609030804020204"/>
              </a:rPr>
              <a:t>"%s: %s\n"</a:t>
            </a:r>
            <a:r>
              <a:rPr lang="en-US" sz="1800" dirty="0">
                <a:solidFill>
                  <a:srgbClr val="000000"/>
                </a:solidFill>
                <a:latin typeface="Menlo-Regular" panose="020B0609030804020204"/>
              </a:rPr>
              <a:t>, </a:t>
            </a:r>
            <a:r>
              <a:rPr lang="en-US" sz="1800" dirty="0" err="1">
                <a:solidFill>
                  <a:srgbClr val="000000"/>
                </a:solidFill>
                <a:latin typeface="Menlo-Regular" panose="020B0609030804020204"/>
              </a:rPr>
              <a:t>msg</a:t>
            </a:r>
            <a:r>
              <a:rPr lang="en-US" sz="1800" dirty="0">
                <a:solidFill>
                  <a:srgbClr val="000000"/>
                </a:solidFill>
                <a:latin typeface="Menlo-Regular" panose="020B0609030804020204"/>
              </a:rPr>
              <a:t>, </a:t>
            </a:r>
            <a:r>
              <a:rPr lang="en-US" sz="1800" dirty="0" err="1">
                <a:solidFill>
                  <a:srgbClr val="000000"/>
                </a:solidFill>
                <a:latin typeface="Menlo-Regular" panose="020B0609030804020204"/>
              </a:rPr>
              <a:t>strerror</a:t>
            </a:r>
            <a:r>
              <a:rPr lang="en-US" sz="1800" dirty="0">
                <a:solidFill>
                  <a:srgbClr val="000000"/>
                </a:solidFill>
                <a:latin typeface="Menlo-Regular" panose="020B0609030804020204"/>
              </a:rPr>
              <a:t>(</a:t>
            </a:r>
            <a:r>
              <a:rPr lang="en-US" sz="1800" dirty="0" err="1">
                <a:solidFill>
                  <a:srgbClr val="000000"/>
                </a:solidFill>
                <a:latin typeface="Menlo-Regular" panose="020B0609030804020204"/>
              </a:rPr>
              <a:t>errno</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    exit(1);</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latin typeface="Courier New" panose="02070609020205020404" pitchFamily="49" charset="0"/>
            </a:endParaRPr>
          </a:p>
        </p:txBody>
      </p:sp>
      <p:sp>
        <p:nvSpPr>
          <p:cNvPr id="5" name="Text Box 4"/>
          <p:cNvSpPr txBox="1">
            <a:spLocks noChangeArrowheads="1"/>
          </p:cNvSpPr>
          <p:nvPr/>
        </p:nvSpPr>
        <p:spPr bwMode="auto">
          <a:xfrm>
            <a:off x="1998117" y="4230470"/>
            <a:ext cx="4344459" cy="646331"/>
          </a:xfrm>
          <a:prstGeom prst="rect">
            <a:avLst/>
          </a:prstGeom>
          <a:solidFill>
            <a:srgbClr val="F6F5BD"/>
          </a:solidFill>
          <a:ln w="3175">
            <a:solidFill>
              <a:schemeClr val="tx1"/>
            </a:solidFill>
            <a:miter lim="800000"/>
          </a:ln>
          <a:effectLst/>
        </p:spPr>
        <p:txBody>
          <a:bodyPr wrap="none">
            <a:spAutoFit/>
          </a:bodyPr>
          <a:lstStyle/>
          <a:p>
            <a:r>
              <a:rPr lang="nb-NO" sz="1800" dirty="0">
                <a:solidFill>
                  <a:srgbClr val="000000"/>
                </a:solidFill>
                <a:latin typeface="Menlo-Regular" panose="020B0609030804020204"/>
              </a:rPr>
              <a:t> </a:t>
            </a:r>
            <a:r>
              <a:rPr lang="nb-NO" sz="1800" dirty="0" err="1">
                <a:solidFill>
                  <a:srgbClr val="C200FF"/>
                </a:solidFill>
                <a:latin typeface="Menlo-Regular" panose="020B0609030804020204"/>
              </a:rPr>
              <a:t>if</a:t>
            </a:r>
            <a:r>
              <a:rPr lang="nb-NO" sz="1800" dirty="0">
                <a:solidFill>
                  <a:srgbClr val="000000"/>
                </a:solidFill>
                <a:latin typeface="Menlo-Regular" panose="020B0609030804020204"/>
              </a:rPr>
              <a:t> ((</a:t>
            </a:r>
            <a:r>
              <a:rPr lang="nb-NO" sz="1800" dirty="0" err="1">
                <a:solidFill>
                  <a:srgbClr val="000000"/>
                </a:solidFill>
                <a:latin typeface="Menlo-Regular" panose="020B0609030804020204"/>
              </a:rPr>
              <a:t>pid</a:t>
            </a:r>
            <a:r>
              <a:rPr lang="nb-NO" sz="1800" dirty="0">
                <a:solidFill>
                  <a:srgbClr val="000000"/>
                </a:solidFill>
                <a:latin typeface="Menlo-Regular" panose="020B0609030804020204"/>
              </a:rPr>
              <a:t> = fork()) &lt; 0)</a:t>
            </a:r>
            <a:endParaRPr lang="nb-NO" sz="1800" dirty="0">
              <a:solidFill>
                <a:srgbClr val="000000"/>
              </a:solidFill>
              <a:latin typeface="Menlo-Regular" panose="020B0609030804020204"/>
            </a:endParaRPr>
          </a:p>
          <a:p>
            <a:r>
              <a:rPr lang="nb-NO" sz="1800" dirty="0">
                <a:solidFill>
                  <a:srgbClr val="000000"/>
                </a:solidFill>
                <a:latin typeface="Menlo-Regular" panose="020B0609030804020204"/>
              </a:rPr>
              <a:t>    </a:t>
            </a:r>
            <a:r>
              <a:rPr lang="nb-NO" sz="1800" dirty="0" err="1">
                <a:solidFill>
                  <a:srgbClr val="000000"/>
                </a:solidFill>
                <a:latin typeface="Menlo-Regular" panose="020B0609030804020204"/>
              </a:rPr>
              <a:t>unix_error</a:t>
            </a:r>
            <a:r>
              <a:rPr lang="nb-NO" sz="1800" dirty="0">
                <a:solidFill>
                  <a:srgbClr val="000000"/>
                </a:solidFill>
                <a:latin typeface="Menlo-Regular" panose="020B0609030804020204"/>
              </a:rPr>
              <a:t>(</a:t>
            </a:r>
            <a:r>
              <a:rPr lang="nb-NO" sz="1800" dirty="0">
                <a:solidFill>
                  <a:srgbClr val="9D206F"/>
                </a:solidFill>
                <a:latin typeface="Menlo-Regular" panose="020B0609030804020204"/>
              </a:rPr>
              <a:t>"fork </a:t>
            </a:r>
            <a:r>
              <a:rPr lang="nb-NO" sz="1800" dirty="0" err="1">
                <a:solidFill>
                  <a:srgbClr val="9D206F"/>
                </a:solidFill>
                <a:latin typeface="Menlo-Regular" panose="020B0609030804020204"/>
              </a:rPr>
              <a:t>error</a:t>
            </a:r>
            <a:r>
              <a:rPr lang="nb-NO" sz="1800" dirty="0">
                <a:solidFill>
                  <a:srgbClr val="9D206F"/>
                </a:solidFill>
                <a:latin typeface="Menlo-Regular" panose="020B0609030804020204"/>
              </a:rPr>
              <a:t>"</a:t>
            </a:r>
            <a:r>
              <a:rPr lang="nb-NO" sz="1800" dirty="0">
                <a:solidFill>
                  <a:srgbClr val="000000"/>
                </a:solidFill>
                <a:latin typeface="Menlo-Regular" panose="020B0609030804020204"/>
              </a:rPr>
              <a:t>);</a:t>
            </a:r>
            <a:endParaRPr lang="en-US" sz="1800" dirty="0">
              <a:latin typeface="Courier New" panose="02070609020205020404" pitchFamily="49" charset="0"/>
            </a:endParaRPr>
          </a:p>
        </p:txBody>
      </p:sp>
      <p:grpSp>
        <p:nvGrpSpPr>
          <p:cNvPr id="6" name="Group 5"/>
          <p:cNvGrpSpPr/>
          <p:nvPr/>
        </p:nvGrpSpPr>
        <p:grpSpPr>
          <a:xfrm>
            <a:off x="3429000" y="3164533"/>
            <a:ext cx="7010400" cy="1698486"/>
            <a:chOff x="1447800" y="3048000"/>
            <a:chExt cx="7010400" cy="1698486"/>
          </a:xfrm>
        </p:grpSpPr>
        <p:sp>
          <p:nvSpPr>
            <p:cNvPr id="7" name="TextBox 6"/>
            <p:cNvSpPr txBox="1"/>
            <p:nvPr/>
          </p:nvSpPr>
          <p:spPr>
            <a:xfrm>
              <a:off x="5410200" y="4038600"/>
              <a:ext cx="3048000" cy="707886"/>
            </a:xfrm>
            <a:prstGeom prst="rect">
              <a:avLst/>
            </a:prstGeom>
            <a:solidFill>
              <a:srgbClr val="FFC000"/>
            </a:solidFill>
          </p:spPr>
          <p:txBody>
            <a:bodyPr wrap="square" rtlCol="0">
              <a:spAutoFit/>
            </a:bodyPr>
            <a:lstStyle/>
            <a:p>
              <a:r>
                <a:rPr lang="en-US" sz="2000" dirty="0">
                  <a:latin typeface="Calibri" panose="020F0502020204030204" pitchFamily="34" charset="0"/>
                </a:rPr>
                <a:t>Note: </a:t>
              </a:r>
              <a:r>
                <a:rPr lang="en-US" sz="2000" dirty="0" err="1">
                  <a:latin typeface="Calibri" panose="020F0502020204030204" pitchFamily="34" charset="0"/>
                </a:rPr>
                <a:t>csapp.c</a:t>
              </a:r>
              <a:r>
                <a:rPr lang="en-US" sz="2000" dirty="0">
                  <a:latin typeface="Calibri" panose="020F0502020204030204" pitchFamily="34" charset="0"/>
                </a:rPr>
                <a:t> exits with 0.</a:t>
              </a:r>
              <a:r>
                <a:rPr lang="zh-CN" altLang="en-US" sz="2000" dirty="0">
                  <a:latin typeface="Calibri" panose="020F0502020204030204" pitchFamily="34" charset="0"/>
                </a:rPr>
                <a:t> </a:t>
              </a:r>
              <a:r>
                <a:rPr lang="en-US" altLang="zh-CN" sz="2000" dirty="0">
                  <a:latin typeface="Calibri" panose="020F0502020204030204" pitchFamily="34" charset="0"/>
                </a:rPr>
                <a:t>--&gt; 1.</a:t>
              </a:r>
              <a:endParaRPr lang="en-US" sz="2000" dirty="0">
                <a:latin typeface="Calibri" panose="020F0502020204030204" pitchFamily="34" charset="0"/>
              </a:endParaRPr>
            </a:p>
          </p:txBody>
        </p:sp>
        <p:cxnSp>
          <p:nvCxnSpPr>
            <p:cNvPr id="8" name="Straight Arrow Connector 7"/>
            <p:cNvCxnSpPr>
              <a:stCxn id="7" idx="1"/>
            </p:cNvCxnSpPr>
            <p:nvPr/>
          </p:nvCxnSpPr>
          <p:spPr bwMode="auto">
            <a:xfrm flipH="1" flipV="1">
              <a:off x="1447800" y="3048000"/>
              <a:ext cx="3962400" cy="1344543"/>
            </a:xfrm>
            <a:prstGeom prst="straightConnector1">
              <a:avLst/>
            </a:prstGeom>
            <a:noFill/>
            <a:ln w="25400" cap="flat" cmpd="sng" algn="ctr">
              <a:solidFill>
                <a:schemeClr val="tx1"/>
              </a:solidFill>
              <a:prstDash val="solid"/>
              <a:round/>
              <a:headEnd type="none" w="med" len="med"/>
              <a:tailEnd type="arrow"/>
            </a:ln>
            <a:effectLst/>
          </p:spPr>
        </p:cxnSp>
      </p:grpSp>
      <p:sp>
        <p:nvSpPr>
          <p:cNvPr id="9" name="Content Placeholder 2"/>
          <p:cNvSpPr txBox="1"/>
          <p:nvPr/>
        </p:nvSpPr>
        <p:spPr bwMode="auto">
          <a:xfrm>
            <a:off x="1920876" y="5262561"/>
            <a:ext cx="8677940" cy="4667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r>
              <a:rPr lang="zh-CN" altLang="en-US" dirty="0">
                <a:latin typeface="仿宋" panose="02010609060101010101" pitchFamily="49" charset="-122"/>
                <a:ea typeface="仿宋" panose="02010609060101010101" pitchFamily="49" charset="-122"/>
              </a:rPr>
              <a:t>出现问题时退出并不总是合适的</a:t>
            </a:r>
            <a:endParaRPr lang="zh-CN" altLang="en-US" dirty="0">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错误处理包装</a:t>
            </a:r>
            <a:endParaRPr lang="zh-CN" altLang="en-US" dirty="0"/>
          </a:p>
        </p:txBody>
      </p:sp>
      <p:sp>
        <p:nvSpPr>
          <p:cNvPr id="3" name="Content Placeholder 2"/>
          <p:cNvSpPr>
            <a:spLocks noGrp="1"/>
          </p:cNvSpPr>
          <p:nvPr>
            <p:ph idx="1"/>
          </p:nvPr>
        </p:nvSpPr>
        <p:spPr>
          <a:xfrm>
            <a:off x="1219200" y="1362076"/>
            <a:ext cx="9753600" cy="847725"/>
          </a:xfrm>
        </p:spPr>
        <p:txBody>
          <a:bodyPr/>
          <a:lstStyle/>
          <a:p>
            <a:r>
              <a:rPr lang="zh-CN" altLang="en-US"/>
              <a:t>使用</a:t>
            </a:r>
            <a:r>
              <a:rPr lang="en-US" altLang="zh-CN">
                <a:latin typeface="Consolas" panose="020B0609020204030204" pitchFamily="49" charset="0"/>
                <a:cs typeface="Consolas" panose="020B0609020204030204" pitchFamily="49" charset="0"/>
              </a:rPr>
              <a:t> Stevens </a:t>
            </a:r>
            <a:r>
              <a:rPr lang="zh-CN" altLang="en-US"/>
              <a:t>风格的错误处理包装函数进一步简化代码</a:t>
            </a:r>
            <a:endParaRPr lang="zh-CN" altLang="en-US"/>
          </a:p>
        </p:txBody>
      </p:sp>
      <p:sp>
        <p:nvSpPr>
          <p:cNvPr id="4" name="Text Box 4"/>
          <p:cNvSpPr txBox="1">
            <a:spLocks noChangeArrowheads="1"/>
          </p:cNvSpPr>
          <p:nvPr/>
        </p:nvSpPr>
        <p:spPr bwMode="auto">
          <a:xfrm>
            <a:off x="1957209" y="2256472"/>
            <a:ext cx="4902304" cy="2308324"/>
          </a:xfrm>
          <a:prstGeom prst="rect">
            <a:avLst/>
          </a:prstGeom>
          <a:solidFill>
            <a:srgbClr val="F6F5BD"/>
          </a:solidFill>
          <a:ln w="3175">
            <a:solidFill>
              <a:schemeClr val="tx1"/>
            </a:solidFill>
            <a:miter lim="800000"/>
          </a:ln>
          <a:effectLst/>
        </p:spPr>
        <p:txBody>
          <a:bodyPr wrap="none">
            <a:spAutoFit/>
          </a:bodyPr>
          <a:lstStyle/>
          <a:p>
            <a:r>
              <a:rPr lang="en-US" sz="1800" dirty="0" err="1">
                <a:solidFill>
                  <a:srgbClr val="2D961E"/>
                </a:solidFill>
                <a:latin typeface="Menlo-Regular" panose="020B0609030804020204"/>
              </a:rPr>
              <a:t>pid_t</a:t>
            </a:r>
            <a:r>
              <a:rPr lang="en-US" sz="1800" dirty="0">
                <a:solidFill>
                  <a:srgbClr val="000000"/>
                </a:solidFill>
                <a:latin typeface="Menlo-Regular" panose="020B0609030804020204"/>
              </a:rPr>
              <a:t> </a:t>
            </a:r>
            <a:r>
              <a:rPr lang="en-US" sz="1800" dirty="0">
                <a:solidFill>
                  <a:srgbClr val="4A00FF"/>
                </a:solidFill>
                <a:latin typeface="Menlo-Regular" panose="020B0609030804020204"/>
              </a:rPr>
              <a:t>Fork</a:t>
            </a:r>
            <a:r>
              <a:rPr lang="en-US" sz="1800" dirty="0">
                <a:solidFill>
                  <a:srgbClr val="000000"/>
                </a:solidFill>
                <a:latin typeface="Menlo-Regular" panose="020B0609030804020204"/>
              </a:rPr>
              <a:t>(</a:t>
            </a:r>
            <a:r>
              <a:rPr lang="en-US" sz="1800" dirty="0">
                <a:solidFill>
                  <a:srgbClr val="2D961E"/>
                </a:solidFill>
                <a:latin typeface="Menlo-Regular" panose="020B0609030804020204"/>
              </a:rPr>
              <a:t>void</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fi-FI" sz="1800" dirty="0">
                <a:solidFill>
                  <a:srgbClr val="000000"/>
                </a:solidFill>
                <a:latin typeface="Menlo-Regular" panose="020B0609030804020204"/>
              </a:rPr>
              <a:t>    </a:t>
            </a:r>
            <a:r>
              <a:rPr lang="fi-FI" sz="1800" dirty="0" err="1">
                <a:solidFill>
                  <a:srgbClr val="2D961E"/>
                </a:solidFill>
                <a:latin typeface="Menlo-Regular" panose="020B0609030804020204"/>
              </a:rPr>
              <a:t>pid_t</a:t>
            </a:r>
            <a:r>
              <a:rPr lang="fi-FI" sz="1800" dirty="0">
                <a:solidFill>
                  <a:srgbClr val="000000"/>
                </a:solidFill>
                <a:latin typeface="Menlo-Regular" panose="020B0609030804020204"/>
              </a:rPr>
              <a:t> </a:t>
            </a:r>
            <a:r>
              <a:rPr lang="fi-FI" sz="1800" dirty="0" err="1">
                <a:solidFill>
                  <a:srgbClr val="C1651C"/>
                </a:solidFill>
                <a:latin typeface="Menlo-Regular" panose="020B0609030804020204"/>
              </a:rPr>
              <a:t>pid</a:t>
            </a:r>
            <a:r>
              <a:rPr lang="fi-FI" sz="1800" dirty="0">
                <a:solidFill>
                  <a:srgbClr val="000000"/>
                </a:solidFill>
                <a:latin typeface="Menlo-Regular" panose="020B0609030804020204"/>
              </a:rPr>
              <a:t>;</a:t>
            </a:r>
            <a:endParaRPr lang="fi-FI" sz="1800" dirty="0">
              <a:solidFill>
                <a:srgbClr val="000000"/>
              </a:solidFill>
              <a:latin typeface="Menlo-Regular" panose="020B0609030804020204"/>
            </a:endParaRPr>
          </a:p>
          <a:p>
            <a:endParaRPr lang="fi-FI" sz="1800" dirty="0">
              <a:solidFill>
                <a:srgbClr val="000000"/>
              </a:solidFill>
              <a:latin typeface="Menlo-Regular" panose="020B0609030804020204"/>
            </a:endParaRPr>
          </a:p>
          <a:p>
            <a:r>
              <a:rPr lang="nb-NO" sz="1800" dirty="0">
                <a:solidFill>
                  <a:srgbClr val="000000"/>
                </a:solidFill>
                <a:latin typeface="Menlo-Regular" panose="020B0609030804020204"/>
              </a:rPr>
              <a:t>    </a:t>
            </a:r>
            <a:r>
              <a:rPr lang="nb-NO" sz="1800" dirty="0" err="1">
                <a:solidFill>
                  <a:srgbClr val="C200FF"/>
                </a:solidFill>
                <a:latin typeface="Menlo-Regular" panose="020B0609030804020204"/>
              </a:rPr>
              <a:t>if</a:t>
            </a:r>
            <a:r>
              <a:rPr lang="nb-NO" sz="1800" dirty="0">
                <a:solidFill>
                  <a:srgbClr val="000000"/>
                </a:solidFill>
                <a:latin typeface="Menlo-Regular" panose="020B0609030804020204"/>
              </a:rPr>
              <a:t> ((</a:t>
            </a:r>
            <a:r>
              <a:rPr lang="nb-NO" sz="1800" dirty="0" err="1">
                <a:solidFill>
                  <a:srgbClr val="000000"/>
                </a:solidFill>
                <a:latin typeface="Menlo-Regular" panose="020B0609030804020204"/>
              </a:rPr>
              <a:t>pid</a:t>
            </a:r>
            <a:r>
              <a:rPr lang="nb-NO" sz="1800" dirty="0">
                <a:solidFill>
                  <a:srgbClr val="000000"/>
                </a:solidFill>
                <a:latin typeface="Menlo-Regular" panose="020B0609030804020204"/>
              </a:rPr>
              <a:t> = fork()) &lt; 0)</a:t>
            </a:r>
            <a:endParaRPr lang="nb-NO" sz="1800" dirty="0">
              <a:solidFill>
                <a:srgbClr val="000000"/>
              </a:solidFill>
              <a:latin typeface="Menlo-Regular" panose="020B0609030804020204"/>
            </a:endParaRPr>
          </a:p>
          <a:p>
            <a:r>
              <a:rPr lang="nb-NO" sz="1800" dirty="0">
                <a:solidFill>
                  <a:srgbClr val="000000"/>
                </a:solidFill>
                <a:latin typeface="Menlo-Regular" panose="020B0609030804020204"/>
              </a:rPr>
              <a:t>        </a:t>
            </a:r>
            <a:r>
              <a:rPr lang="nb-NO" sz="1800" dirty="0" err="1">
                <a:solidFill>
                  <a:srgbClr val="000000"/>
                </a:solidFill>
                <a:latin typeface="Menlo-Regular" panose="020B0609030804020204"/>
              </a:rPr>
              <a:t>unix_error</a:t>
            </a:r>
            <a:r>
              <a:rPr lang="nb-NO" sz="1800" dirty="0">
                <a:solidFill>
                  <a:srgbClr val="000000"/>
                </a:solidFill>
                <a:latin typeface="Menlo-Regular" panose="020B0609030804020204"/>
              </a:rPr>
              <a:t>(</a:t>
            </a:r>
            <a:r>
              <a:rPr lang="nb-NO" sz="1800" dirty="0">
                <a:solidFill>
                  <a:srgbClr val="9D206F"/>
                </a:solidFill>
                <a:latin typeface="Menlo-Regular" panose="020B0609030804020204"/>
              </a:rPr>
              <a:t>"Fork </a:t>
            </a:r>
            <a:r>
              <a:rPr lang="nb-NO" sz="1800" dirty="0" err="1">
                <a:solidFill>
                  <a:srgbClr val="9D206F"/>
                </a:solidFill>
                <a:latin typeface="Menlo-Regular" panose="020B0609030804020204"/>
              </a:rPr>
              <a:t>error</a:t>
            </a:r>
            <a:r>
              <a:rPr lang="nb-NO" sz="1800" dirty="0">
                <a:solidFill>
                  <a:srgbClr val="9D206F"/>
                </a:solidFill>
                <a:latin typeface="Menlo-Regular" panose="020B0609030804020204"/>
              </a:rPr>
              <a:t>"</a:t>
            </a:r>
            <a:r>
              <a:rPr lang="nb-NO" sz="1800" dirty="0">
                <a:solidFill>
                  <a:srgbClr val="000000"/>
                </a:solidFill>
                <a:latin typeface="Menlo-Regular" panose="020B0609030804020204"/>
              </a:rPr>
              <a:t>);</a:t>
            </a:r>
            <a:endParaRPr lang="nb-NO" sz="1800" dirty="0">
              <a:solidFill>
                <a:srgbClr val="000000"/>
              </a:solidFill>
              <a:latin typeface="Menlo-Regular" panose="020B0609030804020204"/>
            </a:endParaRPr>
          </a:p>
          <a:p>
            <a:r>
              <a:rPr lang="nb-NO" sz="1800" dirty="0">
                <a:solidFill>
                  <a:srgbClr val="000000"/>
                </a:solidFill>
                <a:latin typeface="Menlo-Regular" panose="020B0609030804020204"/>
              </a:rPr>
              <a:t>    </a:t>
            </a:r>
            <a:r>
              <a:rPr lang="nb-NO" sz="1800" dirty="0" err="1">
                <a:solidFill>
                  <a:srgbClr val="C200FF"/>
                </a:solidFill>
                <a:latin typeface="Menlo-Regular" panose="020B0609030804020204"/>
              </a:rPr>
              <a:t>return</a:t>
            </a:r>
            <a:r>
              <a:rPr lang="nb-NO" sz="1800" dirty="0">
                <a:solidFill>
                  <a:srgbClr val="000000"/>
                </a:solidFill>
                <a:latin typeface="Menlo-Regular" panose="020B0609030804020204"/>
              </a:rPr>
              <a:t> </a:t>
            </a:r>
            <a:r>
              <a:rPr lang="nb-NO" sz="1800" dirty="0" err="1">
                <a:solidFill>
                  <a:srgbClr val="000000"/>
                </a:solidFill>
                <a:latin typeface="Menlo-Regular" panose="020B0609030804020204"/>
              </a:rPr>
              <a:t>pid</a:t>
            </a:r>
            <a:r>
              <a:rPr lang="nb-NO" sz="1800" dirty="0">
                <a:solidFill>
                  <a:srgbClr val="000000"/>
                </a:solidFill>
                <a:latin typeface="Menlo-Regular" panose="020B0609030804020204"/>
              </a:rPr>
              <a:t>;</a:t>
            </a:r>
            <a:endParaRPr lang="nb-NO" sz="1800" dirty="0">
              <a:solidFill>
                <a:srgbClr val="000000"/>
              </a:solidFill>
              <a:latin typeface="Menlo-Regular" panose="020B0609030804020204"/>
            </a:endParaRPr>
          </a:p>
          <a:p>
            <a:r>
              <a:rPr lang="nb-NO" sz="1800" dirty="0">
                <a:solidFill>
                  <a:srgbClr val="000000"/>
                </a:solidFill>
                <a:latin typeface="Menlo-Regular" panose="020B0609030804020204"/>
              </a:rPr>
              <a:t>}</a:t>
            </a:r>
            <a:endParaRPr lang="en-US" sz="1800" dirty="0">
              <a:latin typeface="Courier New" panose="02070609020205020404" pitchFamily="49" charset="0"/>
            </a:endParaRPr>
          </a:p>
        </p:txBody>
      </p:sp>
      <p:sp>
        <p:nvSpPr>
          <p:cNvPr id="5" name="Text Box 4"/>
          <p:cNvSpPr txBox="1">
            <a:spLocks noChangeArrowheads="1"/>
          </p:cNvSpPr>
          <p:nvPr/>
        </p:nvSpPr>
        <p:spPr bwMode="auto">
          <a:xfrm>
            <a:off x="1998116" y="5068669"/>
            <a:ext cx="6466835" cy="369332"/>
          </a:xfrm>
          <a:prstGeom prst="rect">
            <a:avLst/>
          </a:prstGeom>
          <a:solidFill>
            <a:srgbClr val="F6F5BD"/>
          </a:solidFill>
          <a:ln w="3175">
            <a:solidFill>
              <a:schemeClr val="tx1"/>
            </a:solidFill>
            <a:miter lim="800000"/>
          </a:ln>
          <a:effectLst/>
        </p:spPr>
        <p:txBody>
          <a:bodyPr wrap="none">
            <a:spAutoFit/>
          </a:bodyPr>
          <a:lstStyle/>
          <a:p>
            <a:r>
              <a:rPr lang="nb-NO" sz="1800" dirty="0">
                <a:solidFill>
                  <a:srgbClr val="000000"/>
                </a:solidFill>
                <a:latin typeface="Menlo-Regular" panose="020B0609030804020204"/>
              </a:rPr>
              <a:t> </a:t>
            </a:r>
            <a:r>
              <a:rPr lang="fi-FI" sz="1800" dirty="0">
                <a:solidFill>
                  <a:srgbClr val="000000"/>
                </a:solidFill>
                <a:latin typeface="Menlo-Regular" panose="020B0609030804020204"/>
              </a:rPr>
              <a:t> </a:t>
            </a:r>
            <a:r>
              <a:rPr lang="fi-FI" sz="1800" dirty="0" err="1">
                <a:solidFill>
                  <a:srgbClr val="000000"/>
                </a:solidFill>
                <a:latin typeface="Menlo-Regular" panose="020B0609030804020204"/>
              </a:rPr>
              <a:t>pid</a:t>
            </a:r>
            <a:r>
              <a:rPr lang="fi-FI" sz="1800" dirty="0">
                <a:solidFill>
                  <a:srgbClr val="000000"/>
                </a:solidFill>
                <a:latin typeface="Menlo-Regular" panose="020B0609030804020204"/>
              </a:rPr>
              <a:t> = </a:t>
            </a:r>
            <a:r>
              <a:rPr lang="fi-FI" sz="1800" dirty="0" err="1">
                <a:solidFill>
                  <a:srgbClr val="000000"/>
                </a:solidFill>
                <a:latin typeface="Menlo-Regular" panose="020B0609030804020204"/>
              </a:rPr>
              <a:t>Fork</a:t>
            </a:r>
            <a:r>
              <a:rPr lang="fi-FI" sz="1800" dirty="0">
                <a:solidFill>
                  <a:srgbClr val="000000"/>
                </a:solidFill>
                <a:latin typeface="Menlo-Regular" panose="020B0609030804020204"/>
              </a:rPr>
              <a:t>(); </a:t>
            </a:r>
            <a:r>
              <a:rPr lang="fi-FI" sz="1800" i="1" dirty="0">
                <a:solidFill>
                  <a:schemeClr val="accent1">
                    <a:lumMod val="75000"/>
                  </a:schemeClr>
                </a:solidFill>
                <a:latin typeface="Courier New" panose="02070609020205020404"/>
                <a:cs typeface="Courier New" panose="02070609020205020404"/>
              </a:rPr>
              <a:t>// </a:t>
            </a:r>
            <a:r>
              <a:rPr lang="fi-FI" sz="1800" i="1" dirty="0" err="1">
                <a:solidFill>
                  <a:schemeClr val="accent1">
                    <a:lumMod val="75000"/>
                  </a:schemeClr>
                </a:solidFill>
                <a:latin typeface="Courier New" panose="02070609020205020404"/>
                <a:cs typeface="Courier New" panose="02070609020205020404"/>
              </a:rPr>
              <a:t>Only</a:t>
            </a:r>
            <a:r>
              <a:rPr lang="fi-FI" sz="1800" i="1" dirty="0">
                <a:solidFill>
                  <a:schemeClr val="accent1">
                    <a:lumMod val="75000"/>
                  </a:schemeClr>
                </a:solidFill>
                <a:latin typeface="Courier New" panose="02070609020205020404"/>
                <a:cs typeface="Courier New" panose="02070609020205020404"/>
              </a:rPr>
              <a:t> </a:t>
            </a:r>
            <a:r>
              <a:rPr lang="fi-FI" sz="1800" i="1" dirty="0" err="1">
                <a:solidFill>
                  <a:schemeClr val="accent1">
                    <a:lumMod val="75000"/>
                  </a:schemeClr>
                </a:solidFill>
                <a:latin typeface="Courier New" panose="02070609020205020404"/>
                <a:cs typeface="Courier New" panose="02070609020205020404"/>
              </a:rPr>
              <a:t>returns</a:t>
            </a:r>
            <a:r>
              <a:rPr lang="fi-FI" sz="1800" i="1" dirty="0">
                <a:solidFill>
                  <a:schemeClr val="accent1">
                    <a:lumMod val="75000"/>
                  </a:schemeClr>
                </a:solidFill>
                <a:latin typeface="Courier New" panose="02070609020205020404"/>
                <a:cs typeface="Courier New" panose="02070609020205020404"/>
              </a:rPr>
              <a:t> </a:t>
            </a:r>
            <a:r>
              <a:rPr lang="fi-FI" sz="1800" i="1" dirty="0" err="1">
                <a:solidFill>
                  <a:schemeClr val="accent1">
                    <a:lumMod val="75000"/>
                  </a:schemeClr>
                </a:solidFill>
                <a:latin typeface="Courier New" panose="02070609020205020404"/>
                <a:cs typeface="Courier New" panose="02070609020205020404"/>
              </a:rPr>
              <a:t>if</a:t>
            </a:r>
            <a:r>
              <a:rPr lang="fi-FI" sz="1800" i="1" dirty="0">
                <a:solidFill>
                  <a:schemeClr val="accent1">
                    <a:lumMod val="75000"/>
                  </a:schemeClr>
                </a:solidFill>
                <a:latin typeface="Courier New" panose="02070609020205020404"/>
                <a:cs typeface="Courier New" panose="02070609020205020404"/>
              </a:rPr>
              <a:t> </a:t>
            </a:r>
            <a:r>
              <a:rPr lang="fi-FI" sz="1800" i="1" dirty="0" err="1">
                <a:solidFill>
                  <a:schemeClr val="accent1">
                    <a:lumMod val="75000"/>
                  </a:schemeClr>
                </a:solidFill>
                <a:latin typeface="Courier New" panose="02070609020205020404"/>
                <a:cs typeface="Courier New" panose="02070609020205020404"/>
              </a:rPr>
              <a:t>successful</a:t>
            </a:r>
            <a:endParaRPr lang="en-US" sz="1800" dirty="0">
              <a:latin typeface="Courier New" panose="02070609020205020404" pitchFamily="49" charset="0"/>
            </a:endParaRPr>
          </a:p>
        </p:txBody>
      </p:sp>
      <p:sp>
        <p:nvSpPr>
          <p:cNvPr id="6" name="Content Placeholder 2"/>
          <p:cNvSpPr txBox="1"/>
          <p:nvPr/>
        </p:nvSpPr>
        <p:spPr bwMode="auto">
          <a:xfrm>
            <a:off x="1219200" y="5860911"/>
            <a:ext cx="8677940" cy="4667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r>
              <a:rPr lang="zh-CN" altLang="en-US" b="0" dirty="0">
                <a:latin typeface="Microsoft YaHei" charset="0"/>
                <a:ea typeface="Microsoft YaHei" charset="0"/>
              </a:rPr>
              <a:t>这通常不是你在实际应用程序中希望采用的方法</a:t>
            </a:r>
            <a:endParaRPr lang="zh-CN" altLang="en-US" b="0" dirty="0">
              <a:latin typeface="Microsoft YaHei" charset="0"/>
              <a:ea typeface="Microsoft YaHei" charset="0"/>
            </a:endParaRPr>
          </a:p>
        </p:txBody>
      </p:sp>
      <p:sp>
        <p:nvSpPr>
          <p:cNvPr id="7" name="TextBox 6"/>
          <p:cNvSpPr txBox="1"/>
          <p:nvPr/>
        </p:nvSpPr>
        <p:spPr>
          <a:xfrm>
            <a:off x="4876800" y="6585954"/>
            <a:ext cx="6781800" cy="253916"/>
          </a:xfrm>
          <a:prstGeom prst="rect">
            <a:avLst/>
          </a:prstGeom>
          <a:noFill/>
        </p:spPr>
        <p:txBody>
          <a:bodyPr wrap="square" rtlCol="0">
            <a:spAutoFit/>
          </a:bodyPr>
          <a:lstStyle/>
          <a:p>
            <a:r>
              <a:rPr lang="en-US" altLang="zh-CN" sz="1050" baseline="30000" dirty="0">
                <a:latin typeface="Consolas" panose="020B0609020204030204" pitchFamily="49" charset="0"/>
                <a:cs typeface="Consolas" panose="020B0609020204030204" pitchFamily="49" charset="0"/>
              </a:rPr>
              <a:t>1</a:t>
            </a:r>
            <a:r>
              <a:rPr lang="en-US" altLang="zh-CN" sz="1050" dirty="0">
                <a:latin typeface="Consolas" panose="020B0609020204030204" pitchFamily="49" charset="0"/>
                <a:cs typeface="Consolas" panose="020B0609020204030204" pitchFamily="49" charset="0"/>
              </a:rPr>
              <a:t>Richard</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Stevens</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UNIX</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Networking</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Programming</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Vol</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1</a:t>
            </a:r>
            <a:r>
              <a:rPr lang="zh-CN" altLang="en-US" sz="1050" dirty="0">
                <a:latin typeface="Consolas" panose="020B0609020204030204" pitchFamily="49" charset="0"/>
                <a:cs typeface="Consolas" panose="020B0609020204030204" pitchFamily="49" charset="0"/>
              </a:rPr>
              <a:t>，</a:t>
            </a:r>
            <a:r>
              <a:rPr lang="en-US" altLang="zh-CN" sz="1050" dirty="0">
                <a:latin typeface="Consolas" panose="020B0609020204030204" pitchFamily="49" charset="0"/>
                <a:cs typeface="Consolas" panose="020B0609020204030204" pitchFamily="49" charset="0"/>
              </a:rPr>
              <a:t>2</a:t>
            </a:r>
            <a:r>
              <a:rPr lang="zh-CN" altLang="en-US" sz="1050" dirty="0">
                <a:latin typeface="Consolas" panose="020B0609020204030204" pitchFamily="49" charset="0"/>
                <a:cs typeface="Consolas" panose="020B0609020204030204" pitchFamily="49" charset="0"/>
              </a:rPr>
              <a:t>；</a:t>
            </a:r>
            <a:r>
              <a:rPr lang="en-US" altLang="zh-CN" sz="1050" dirty="0">
                <a:latin typeface="Consolas" panose="020B0609020204030204" pitchFamily="49" charset="0"/>
                <a:cs typeface="Consolas" panose="020B0609020204030204" pitchFamily="49" charset="0"/>
              </a:rPr>
              <a:t>TCP/IP</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Illustrated</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Vol</a:t>
            </a:r>
            <a:r>
              <a:rPr lang="zh-CN" altLang="en-US" sz="1050" dirty="0">
                <a:latin typeface="Consolas" panose="020B0609020204030204" pitchFamily="49" charset="0"/>
                <a:cs typeface="Consolas" panose="020B0609020204030204" pitchFamily="49" charset="0"/>
              </a:rPr>
              <a:t> </a:t>
            </a:r>
            <a:r>
              <a:rPr lang="en-US" altLang="zh-CN" sz="1050" dirty="0">
                <a:latin typeface="Consolas" panose="020B0609020204030204" pitchFamily="49" charset="0"/>
                <a:cs typeface="Consolas" panose="020B0609020204030204" pitchFamily="49" charset="0"/>
              </a:rPr>
              <a:t>1</a:t>
            </a:r>
            <a:r>
              <a:rPr lang="zh-CN" altLang="en-US" sz="1050" dirty="0">
                <a:latin typeface="Consolas" panose="020B0609020204030204" pitchFamily="49" charset="0"/>
                <a:cs typeface="Consolas" panose="020B0609020204030204" pitchFamily="49" charset="0"/>
              </a:rPr>
              <a:t>，</a:t>
            </a:r>
            <a:r>
              <a:rPr lang="en-US" altLang="zh-CN" sz="1050" dirty="0">
                <a:latin typeface="Consolas" panose="020B0609020204030204" pitchFamily="49" charset="0"/>
                <a:cs typeface="Consolas" panose="020B0609020204030204" pitchFamily="49" charset="0"/>
              </a:rPr>
              <a:t>2</a:t>
            </a:r>
            <a:r>
              <a:rPr lang="zh-CN" altLang="en-US" sz="1050" dirty="0">
                <a:latin typeface="Consolas" panose="020B0609020204030204" pitchFamily="49" charset="0"/>
                <a:cs typeface="Consolas" panose="020B0609020204030204" pitchFamily="49" charset="0"/>
              </a:rPr>
              <a:t>，</a:t>
            </a:r>
            <a:r>
              <a:rPr lang="en-US" altLang="zh-CN" sz="1050" dirty="0">
                <a:latin typeface="Consolas" panose="020B0609020204030204" pitchFamily="49" charset="0"/>
                <a:cs typeface="Consolas" panose="020B0609020204030204" pitchFamily="49" charset="0"/>
              </a:rPr>
              <a:t>3</a:t>
            </a:r>
            <a:endParaRPr lang="en-US" altLang="zh-CN" sz="1050" dirty="0">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获取进程</a:t>
            </a:r>
            <a:r>
              <a:rPr lang="en-US" altLang="zh-CN">
                <a:latin typeface="Consolas" panose="020B0609020204030204" pitchFamily="49" charset="0"/>
                <a:cs typeface="Consolas" panose="020B0609020204030204" pitchFamily="49" charset="0"/>
              </a:rPr>
              <a:t> ID</a:t>
            </a:r>
            <a:endParaRPr lang="en-US" altLang="zh-CN">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a:xfrm>
            <a:off x="1920876" y="1362076"/>
            <a:ext cx="7896225" cy="2524125"/>
          </a:xfrm>
        </p:spPr>
        <p:txBody>
          <a:bodyPr/>
          <a:lstStyle/>
          <a:p>
            <a:r>
              <a:rPr lang="en-US" dirty="0" err="1">
                <a:latin typeface="Courier New" panose="02070609020205020404"/>
                <a:cs typeface="Courier New" panose="02070609020205020404"/>
              </a:rPr>
              <a:t>pid_t</a:t>
            </a:r>
            <a:r>
              <a:rPr lang="en-US" dirty="0">
                <a:latin typeface="Courier New" panose="02070609020205020404"/>
                <a:cs typeface="Courier New" panose="02070609020205020404"/>
              </a:rPr>
              <a:t> </a:t>
            </a:r>
            <a:r>
              <a:rPr lang="en-US" dirty="0" err="1">
                <a:latin typeface="Courier New" panose="02070609020205020404"/>
                <a:cs typeface="Courier New" panose="02070609020205020404"/>
              </a:rPr>
              <a:t>getpid</a:t>
            </a:r>
            <a:r>
              <a:rPr lang="en-US" dirty="0">
                <a:latin typeface="Courier New" panose="02070609020205020404"/>
                <a:cs typeface="Courier New" panose="02070609020205020404"/>
              </a:rPr>
              <a:t>(void)</a:t>
            </a:r>
            <a:endParaRPr lang="en-US" dirty="0">
              <a:latin typeface="Courier New" panose="02070609020205020404"/>
              <a:cs typeface="Courier New" panose="02070609020205020404"/>
            </a:endParaRPr>
          </a:p>
          <a:p>
            <a:pPr lvl="1"/>
            <a:r>
              <a:rPr lang="zh-CN" altLang="en-US"/>
              <a:t>返回当前进程的</a:t>
            </a:r>
            <a:r>
              <a:rPr lang="en-US" altLang="zh-CN">
                <a:latin typeface="Consolas" panose="020B0609020204030204" pitchFamily="49" charset="0"/>
                <a:cs typeface="Consolas" panose="020B0609020204030204" pitchFamily="49" charset="0"/>
              </a:rPr>
              <a:t> PID</a:t>
            </a:r>
            <a:endParaRPr lang="en-US" altLang="zh-CN">
              <a:latin typeface="Consolas" panose="020B0609020204030204" pitchFamily="49" charset="0"/>
              <a:cs typeface="Consolas" panose="020B0609020204030204" pitchFamily="49" charset="0"/>
            </a:endParaRPr>
          </a:p>
          <a:p>
            <a:pPr lvl="1"/>
            <a:endParaRPr lang="en-US" dirty="0">
              <a:latin typeface="Calibri" panose="020F0502020204030204"/>
              <a:cs typeface="Calibri" panose="020F0502020204030204"/>
            </a:endParaRPr>
          </a:p>
          <a:p>
            <a:r>
              <a:rPr lang="en-US" dirty="0" err="1">
                <a:latin typeface="Courier New" panose="02070609020205020404"/>
                <a:cs typeface="Courier New" panose="02070609020205020404"/>
              </a:rPr>
              <a:t>pid_t</a:t>
            </a:r>
            <a:r>
              <a:rPr lang="en-US" dirty="0">
                <a:latin typeface="Courier New" panose="02070609020205020404"/>
                <a:cs typeface="Courier New" panose="02070609020205020404"/>
              </a:rPr>
              <a:t> </a:t>
            </a:r>
            <a:r>
              <a:rPr lang="en-US" dirty="0" err="1">
                <a:latin typeface="Courier New" panose="02070609020205020404"/>
                <a:cs typeface="Courier New" panose="02070609020205020404"/>
              </a:rPr>
              <a:t>getppid</a:t>
            </a:r>
            <a:r>
              <a:rPr lang="en-US" dirty="0">
                <a:latin typeface="Courier New" panose="02070609020205020404"/>
                <a:cs typeface="Courier New" panose="02070609020205020404"/>
              </a:rPr>
              <a:t>(void)</a:t>
            </a:r>
            <a:endParaRPr lang="en-US" dirty="0">
              <a:latin typeface="Courier New" panose="02070609020205020404"/>
              <a:cs typeface="Courier New" panose="02070609020205020404"/>
            </a:endParaRPr>
          </a:p>
          <a:p>
            <a:pPr lvl="1"/>
            <a:r>
              <a:rPr lang="zh-CN" altLang="en-US">
                <a:sym typeface="+mn-ea"/>
              </a:rPr>
              <a:t>返回父进程的</a:t>
            </a:r>
            <a:r>
              <a:rPr lang="en-US" altLang="zh-CN">
                <a:latin typeface="Consolas" panose="020B0609020204030204" pitchFamily="49" charset="0"/>
                <a:cs typeface="Consolas" panose="020B0609020204030204" pitchFamily="49" charset="0"/>
                <a:sym typeface="+mn-ea"/>
              </a:rPr>
              <a:t> PID</a:t>
            </a:r>
            <a:endParaRPr lang="en-US" dirty="0">
              <a:latin typeface="Calibri" panose="020F0502020204030204"/>
              <a:cs typeface="Calibri" panose="020F0502020204030204"/>
            </a:endParaRPr>
          </a:p>
          <a:p>
            <a:pPr lvl="1"/>
            <a:endParaRPr lang="en-US" dirty="0">
              <a:latin typeface="Calibri" panose="020F0502020204030204"/>
              <a:cs typeface="Calibri" panose="020F0502020204030204"/>
            </a:endParaRPr>
          </a:p>
          <a:p>
            <a:pPr lvl="1"/>
            <a:endParaRPr lang="en-US" dirty="0">
              <a:latin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进程的状态和</a:t>
            </a:r>
            <a:r>
              <a:rPr lang="zh-CN" altLang="en-US" dirty="0"/>
              <a:t>终止</a:t>
            </a:r>
            <a:endParaRPr lang="zh-CN" altLang="en-US" dirty="0"/>
          </a:p>
        </p:txBody>
      </p:sp>
      <p:sp>
        <p:nvSpPr>
          <p:cNvPr id="3" name="Content Placeholder 2"/>
          <p:cNvSpPr>
            <a:spLocks noGrp="1"/>
          </p:cNvSpPr>
          <p:nvPr>
            <p:ph idx="1"/>
          </p:nvPr>
        </p:nvSpPr>
        <p:spPr>
          <a:xfrm>
            <a:off x="990600" y="1362076"/>
            <a:ext cx="10820400" cy="5038725"/>
          </a:xfrm>
        </p:spPr>
        <p:txBody>
          <a:bodyPr/>
          <a:lstStyle/>
          <a:p>
            <a:pPr marL="0" indent="0">
              <a:buNone/>
            </a:pPr>
            <a:r>
              <a:rPr lang="zh-CN" altLang="en-US" dirty="0">
                <a:latin typeface="Calibri" panose="020F0502020204030204"/>
                <a:cs typeface="Calibri" panose="020F0502020204030204"/>
              </a:rPr>
              <a:t>从程序员的角度，我们可以认为进程总是处于下面四种状态之一：</a:t>
            </a:r>
            <a:endParaRPr lang="en-US" dirty="0">
              <a:latin typeface="Calibri" panose="020F0502020204030204"/>
              <a:cs typeface="Calibri" panose="020F0502020204030204"/>
            </a:endParaRPr>
          </a:p>
          <a:p>
            <a:pPr>
              <a:lnSpc>
                <a:spcPct val="150000"/>
              </a:lnSpc>
            </a:pPr>
            <a:r>
              <a:rPr lang="en-US" altLang="zh-CN" dirty="0">
                <a:latin typeface="Consolas" panose="020B0609020204030204" pitchFamily="49" charset="0"/>
                <a:cs typeface="Consolas" panose="020B0609020204030204" pitchFamily="49" charset="0"/>
              </a:rPr>
              <a:t>Running</a:t>
            </a:r>
            <a:endParaRPr lang="en-US" dirty="0">
              <a:latin typeface="Consolas" panose="020B0609020204030204" pitchFamily="49" charset="0"/>
              <a:cs typeface="Consolas" panose="020B0609020204030204" pitchFamily="49" charset="0"/>
            </a:endParaRPr>
          </a:p>
          <a:p>
            <a:pPr lvl="1"/>
            <a:r>
              <a:rPr lang="zh-CN" altLang="en-US" dirty="0"/>
              <a:t>进程正在执行指令，或者在有足够的</a:t>
            </a:r>
            <a:r>
              <a:rPr lang="en-US" altLang="zh-CN" dirty="0">
                <a:latin typeface="Consolas" panose="020B0609020204030204" pitchFamily="49" charset="0"/>
                <a:cs typeface="Consolas" panose="020B0609020204030204" pitchFamily="49" charset="0"/>
              </a:rPr>
              <a:t> CPU </a:t>
            </a:r>
            <a:r>
              <a:rPr lang="zh-CN" altLang="en-US" dirty="0"/>
              <a:t>核心时</a:t>
            </a:r>
            <a:r>
              <a:rPr lang="zh-CN" altLang="en-US" i="1" dirty="0"/>
              <a:t>可以</a:t>
            </a:r>
            <a:r>
              <a:rPr lang="zh-CN" altLang="en-US" dirty="0"/>
              <a:t>执行指令。</a:t>
            </a:r>
            <a:endParaRPr lang="zh-CN" altLang="en-US" dirty="0"/>
          </a:p>
          <a:p>
            <a:r>
              <a:rPr lang="en-US" altLang="zh-CN" dirty="0">
                <a:latin typeface="Consolas" panose="020B0609020204030204" pitchFamily="49" charset="0"/>
                <a:cs typeface="Consolas" panose="020B0609020204030204" pitchFamily="49" charset="0"/>
              </a:rPr>
              <a:t>Blocked</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Sleeping</a:t>
            </a:r>
            <a:endParaRPr lang="zh-CN" altLang="en-US" dirty="0">
              <a:latin typeface="Consolas" panose="020B0609020204030204" pitchFamily="49" charset="0"/>
              <a:cs typeface="Consolas" panose="020B0609020204030204" pitchFamily="49" charset="0"/>
            </a:endParaRPr>
          </a:p>
          <a:p>
            <a:pPr lvl="1"/>
            <a:r>
              <a:rPr lang="zh-CN" altLang="en-US" dirty="0"/>
              <a:t>进程无法继续执行指令，直到某些外部事件发生（通常是</a:t>
            </a:r>
            <a:r>
              <a:rPr lang="en-US" altLang="zh-CN" dirty="0">
                <a:latin typeface="Consolas" panose="020B0609020204030204" pitchFamily="49" charset="0"/>
                <a:cs typeface="Consolas" panose="020B0609020204030204" pitchFamily="49" charset="0"/>
              </a:rPr>
              <a:t> I/O </a:t>
            </a:r>
            <a:r>
              <a:rPr lang="zh-CN" altLang="en-US" dirty="0"/>
              <a:t>事件）</a:t>
            </a:r>
            <a:endParaRPr lang="zh-CN" altLang="en-US" dirty="0"/>
          </a:p>
          <a:p>
            <a:r>
              <a:rPr lang="en-US" altLang="zh-CN" dirty="0">
                <a:latin typeface="Calibri" panose="020F0502020204030204"/>
                <a:cs typeface="Calibri" panose="020F0502020204030204"/>
              </a:rPr>
              <a:t>Stopped</a:t>
            </a:r>
            <a:endParaRPr lang="en-US" dirty="0">
              <a:latin typeface="Calibri" panose="020F0502020204030204"/>
              <a:cs typeface="Calibri" panose="020F0502020204030204"/>
            </a:endParaRPr>
          </a:p>
          <a:p>
            <a:pPr lvl="1"/>
            <a:r>
              <a:rPr lang="zh-CN" altLang="en-US" dirty="0"/>
              <a:t>进程被用户操作（如按下</a:t>
            </a:r>
            <a:r>
              <a:rPr lang="en-US" altLang="zh-CN" dirty="0">
                <a:latin typeface="Consolas" panose="020B0609020204030204" pitchFamily="49" charset="0"/>
                <a:cs typeface="Consolas" panose="020B0609020204030204" pitchFamily="49" charset="0"/>
              </a:rPr>
              <a:t> Control-Z</a:t>
            </a:r>
            <a:r>
              <a:rPr lang="zh-CN" altLang="en-US" dirty="0"/>
              <a:t>）阻止执行。</a:t>
            </a:r>
            <a:endParaRPr lang="zh-CN" altLang="en-US" dirty="0"/>
          </a:p>
          <a:p>
            <a:r>
              <a:rPr lang="en-US" altLang="zh-CN" dirty="0">
                <a:latin typeface="Consolas" panose="020B0609020204030204" pitchFamily="49" charset="0"/>
                <a:cs typeface="Consolas" panose="020B0609020204030204" pitchFamily="49" charset="0"/>
              </a:rPr>
              <a:t>Terminated</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a:t>
            </a:r>
            <a:r>
              <a:rPr lang="zh-CN" altLang="en-US" dirty="0">
                <a:latin typeface="Consolas" panose="020B0609020204030204" pitchFamily="49" charset="0"/>
                <a:cs typeface="Consolas" panose="020B0609020204030204" pitchFamily="49" charset="0"/>
              </a:rPr>
              <a:t> </a:t>
            </a:r>
            <a:r>
              <a:rPr lang="en-US" altLang="zh-CN" dirty="0">
                <a:latin typeface="Consolas" panose="020B0609020204030204" pitchFamily="49" charset="0"/>
                <a:cs typeface="Consolas" panose="020B0609020204030204" pitchFamily="49" charset="0"/>
              </a:rPr>
              <a:t>Zombie</a:t>
            </a:r>
            <a:endParaRPr lang="zh-CN" altLang="en-US" dirty="0">
              <a:latin typeface="Consolas" panose="020B0609020204030204" pitchFamily="49" charset="0"/>
              <a:cs typeface="Consolas" panose="020B0609020204030204" pitchFamily="49" charset="0"/>
            </a:endParaRPr>
          </a:p>
          <a:p>
            <a:pPr lvl="1"/>
            <a:r>
              <a:rPr lang="zh-CN" altLang="en-US" dirty="0"/>
              <a:t>进程已经完成，但其父进程尚未收到通知。</a:t>
            </a:r>
            <a:endParaRPr lang="zh-CN" altLang="en-US" dirty="0"/>
          </a:p>
          <a:p>
            <a:pPr lvl="1"/>
            <a:endParaRPr lang="en-US" dirty="0">
              <a:latin typeface="Calibri" panose="020F0502020204030204"/>
              <a:cs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终止进程</a:t>
            </a:r>
            <a:endParaRPr lang="zh-CN" altLang="en-US" dirty="0"/>
          </a:p>
        </p:txBody>
      </p:sp>
      <p:sp>
        <p:nvSpPr>
          <p:cNvPr id="3" name="Content Placeholder 2"/>
          <p:cNvSpPr>
            <a:spLocks noGrp="1"/>
          </p:cNvSpPr>
          <p:nvPr>
            <p:ph idx="1"/>
          </p:nvPr>
        </p:nvSpPr>
        <p:spPr>
          <a:xfrm>
            <a:off x="1219200" y="1362076"/>
            <a:ext cx="10363200" cy="5089525"/>
          </a:xfrm>
        </p:spPr>
        <p:txBody>
          <a:bodyPr/>
          <a:lstStyle/>
          <a:p>
            <a:r>
              <a:rPr lang="zh-CN" altLang="en-US" dirty="0"/>
              <a:t>进程会因为三种原因终止：</a:t>
            </a:r>
            <a:endParaRPr lang="zh-CN" altLang="en-US" dirty="0"/>
          </a:p>
          <a:p>
            <a:pPr lvl="1"/>
            <a:r>
              <a:rPr lang="zh-CN" altLang="en-US" dirty="0">
                <a:sym typeface="+mn-ea"/>
              </a:rPr>
              <a:t>从 </a:t>
            </a:r>
            <a:r>
              <a:rPr lang="en-US" altLang="zh-CN" dirty="0">
                <a:latin typeface="Consolas" panose="020B0609020204030204" pitchFamily="49" charset="0"/>
                <a:cs typeface="Consolas" panose="020B0609020204030204" pitchFamily="49" charset="0"/>
                <a:sym typeface="+mn-ea"/>
              </a:rPr>
              <a:t>main</a:t>
            </a:r>
            <a:r>
              <a:rPr lang="zh-CN" altLang="en-US" dirty="0">
                <a:sym typeface="+mn-ea"/>
              </a:rPr>
              <a:t> 程序返回</a:t>
            </a:r>
            <a:r>
              <a:rPr lang="en-US" altLang="zh-CN" dirty="0">
                <a:sym typeface="+mn-ea"/>
              </a:rPr>
              <a:t>（</a:t>
            </a:r>
            <a:r>
              <a:rPr lang="zh-CN" altLang="en-US" b="1" dirty="0">
                <a:sym typeface="+mn-ea"/>
              </a:rPr>
              <a:t>自动调用</a:t>
            </a:r>
            <a:r>
              <a:rPr lang="en-US" altLang="zh-CN" dirty="0">
                <a:sym typeface="+mn-ea"/>
              </a:rPr>
              <a:t>exit</a:t>
            </a:r>
            <a:r>
              <a:rPr lang="zh-CN" altLang="en-US" dirty="0">
                <a:sym typeface="+mn-ea"/>
              </a:rPr>
              <a:t>函数</a:t>
            </a:r>
            <a:r>
              <a:rPr lang="en-US" altLang="zh-CN" dirty="0">
                <a:sym typeface="+mn-ea"/>
              </a:rPr>
              <a:t>）</a:t>
            </a:r>
            <a:endParaRPr lang="zh-CN" altLang="en-US" dirty="0">
              <a:sym typeface="+mn-ea"/>
            </a:endParaRPr>
          </a:p>
          <a:p>
            <a:pPr lvl="1"/>
            <a:r>
              <a:rPr lang="zh-CN" altLang="en-US" b="1" dirty="0">
                <a:sym typeface="+mn-ea"/>
              </a:rPr>
              <a:t>显示调用</a:t>
            </a:r>
            <a:r>
              <a:rPr lang="en-US" dirty="0">
                <a:sym typeface="+mn-ea"/>
              </a:rPr>
              <a:t> </a:t>
            </a:r>
            <a:r>
              <a:rPr lang="en-US" dirty="0">
                <a:latin typeface="Consolas" panose="020B0609020204030204" pitchFamily="49" charset="0"/>
                <a:cs typeface="Consolas" panose="020B0609020204030204" pitchFamily="49" charset="0"/>
                <a:sym typeface="+mn-ea"/>
              </a:rPr>
              <a:t>exit</a:t>
            </a:r>
            <a:r>
              <a:rPr lang="en-US" dirty="0">
                <a:sym typeface="+mn-ea"/>
              </a:rPr>
              <a:t> </a:t>
            </a:r>
            <a:r>
              <a:rPr lang="zh-CN" altLang="en-US" dirty="0">
                <a:sym typeface="+mn-ea"/>
              </a:rPr>
              <a:t>函数</a:t>
            </a:r>
            <a:endParaRPr lang="zh-CN" altLang="en-US" dirty="0">
              <a:sym typeface="+mn-ea"/>
            </a:endParaRPr>
          </a:p>
          <a:p>
            <a:pPr lvl="1"/>
            <a:r>
              <a:rPr lang="zh-CN" altLang="en-US" dirty="0"/>
              <a:t>收到一个信号，其默认行为是终止进程（</a:t>
            </a:r>
            <a:r>
              <a:rPr lang="zh-CN" altLang="en-US" dirty="0">
                <a:solidFill>
                  <a:srgbClr val="00B050"/>
                </a:solidFill>
              </a:rPr>
              <a:t>见下文</a:t>
            </a:r>
            <a:r>
              <a:rPr lang="zh-CN" altLang="en-US" dirty="0"/>
              <a:t>）</a:t>
            </a:r>
            <a:endParaRPr lang="en-US" dirty="0"/>
          </a:p>
          <a:p>
            <a:pPr lvl="1"/>
            <a:endParaRPr lang="en-US" dirty="0"/>
          </a:p>
          <a:p>
            <a:pPr lvl="1"/>
            <a:endParaRPr lang="en-US" dirty="0"/>
          </a:p>
          <a:p>
            <a:r>
              <a:rPr lang="en-US" dirty="0">
                <a:latin typeface="Courier New" panose="02070609020205020404"/>
                <a:cs typeface="Courier New" panose="02070609020205020404"/>
              </a:rPr>
              <a:t>void exit(</a:t>
            </a:r>
            <a:r>
              <a:rPr lang="en-US" dirty="0" err="1">
                <a:latin typeface="Courier New" panose="02070609020205020404"/>
                <a:cs typeface="Courier New" panose="02070609020205020404"/>
              </a:rPr>
              <a:t>int</a:t>
            </a:r>
            <a:r>
              <a:rPr lang="en-US" dirty="0">
                <a:latin typeface="Courier New" panose="02070609020205020404"/>
                <a:cs typeface="Courier New" panose="02070609020205020404"/>
              </a:rPr>
              <a:t> status)</a:t>
            </a:r>
            <a:endParaRPr lang="en-US" dirty="0">
              <a:latin typeface="Courier New" panose="02070609020205020404"/>
              <a:cs typeface="Courier New" panose="02070609020205020404"/>
            </a:endParaRPr>
          </a:p>
          <a:p>
            <a:pPr lvl="1"/>
            <a:r>
              <a:rPr lang="zh-CN" altLang="en-US" dirty="0"/>
              <a:t>以</a:t>
            </a:r>
            <a:r>
              <a:rPr lang="en-US" dirty="0"/>
              <a:t> </a:t>
            </a:r>
            <a:r>
              <a:rPr lang="en-US" dirty="0">
                <a:latin typeface="Consolas" panose="020B0609020204030204" pitchFamily="49" charset="0"/>
                <a:cs typeface="Consolas" panose="020B0609020204030204" pitchFamily="49" charset="0"/>
              </a:rPr>
              <a:t>status</a:t>
            </a:r>
            <a:r>
              <a:rPr lang="en-US" dirty="0">
                <a:latin typeface="Courier New" panose="02070609020205020404"/>
                <a:cs typeface="Courier New" panose="02070609020205020404"/>
              </a:rPr>
              <a:t> </a:t>
            </a:r>
            <a:r>
              <a:rPr lang="zh-CN" altLang="en-US" i="1" dirty="0">
                <a:latin typeface="Courier New" panose="02070609020205020404"/>
                <a:cs typeface="Courier New" panose="02070609020205020404"/>
              </a:rPr>
              <a:t>退出状态</a:t>
            </a:r>
            <a:r>
              <a:rPr lang="zh-CN" altLang="en-US" dirty="0">
                <a:latin typeface="Courier New" panose="02070609020205020404"/>
                <a:cs typeface="Courier New" panose="02070609020205020404"/>
              </a:rPr>
              <a:t>来终止进程</a:t>
            </a:r>
            <a:endParaRPr lang="en-US" dirty="0">
              <a:latin typeface="Courier New" panose="02070609020205020404"/>
              <a:cs typeface="Courier New" panose="02070609020205020404"/>
            </a:endParaRPr>
          </a:p>
          <a:p>
            <a:pPr lvl="1"/>
            <a:r>
              <a:rPr lang="zh-CN" altLang="en-US" dirty="0"/>
              <a:t>约定：正常返回状态为</a:t>
            </a:r>
            <a:r>
              <a:rPr lang="en-US" altLang="zh-CN" dirty="0">
                <a:latin typeface="Consolas" panose="020B0609020204030204" pitchFamily="49" charset="0"/>
                <a:cs typeface="Consolas" panose="020B0609020204030204" pitchFamily="49" charset="0"/>
              </a:rPr>
              <a:t> 0</a:t>
            </a:r>
            <a:r>
              <a:rPr lang="zh-CN" altLang="en-US" dirty="0"/>
              <a:t>，错误时为非零</a:t>
            </a:r>
            <a:endParaRPr lang="zh-CN" altLang="en-US" dirty="0"/>
          </a:p>
          <a:p>
            <a:pPr lvl="1"/>
            <a:r>
              <a:rPr lang="zh-CN" altLang="en-US" dirty="0"/>
              <a:t>另一种设置退出状态的方法是从 </a:t>
            </a:r>
            <a:r>
              <a:rPr lang="en-US" altLang="zh-CN" dirty="0">
                <a:latin typeface="Consolas" panose="020B0609020204030204" pitchFamily="49" charset="0"/>
                <a:cs typeface="Consolas" panose="020B0609020204030204" pitchFamily="49" charset="0"/>
              </a:rPr>
              <a:t>main</a:t>
            </a:r>
            <a:r>
              <a:rPr lang="zh-CN" altLang="en-US" dirty="0"/>
              <a:t> 程序中返回一个整数值</a:t>
            </a:r>
            <a:endParaRPr lang="zh-CN" altLang="en-US" dirty="0"/>
          </a:p>
          <a:p>
            <a:pPr lvl="1"/>
            <a:endParaRPr lang="en-US" dirty="0">
              <a:latin typeface="Calibri" panose="020F0502020204030204"/>
              <a:cs typeface="Calibri" panose="020F0502020204030204"/>
            </a:endParaRPr>
          </a:p>
          <a:p>
            <a:r>
              <a:rPr lang="en-US" dirty="0">
                <a:latin typeface="Courier New" panose="02070609020205020404"/>
                <a:cs typeface="Courier New" panose="02070609020205020404"/>
              </a:rPr>
              <a:t>exit </a:t>
            </a:r>
            <a:r>
              <a:rPr lang="zh-CN" altLang="en-US" dirty="0"/>
              <a:t>被调用</a:t>
            </a:r>
            <a:r>
              <a:rPr lang="en-US" dirty="0">
                <a:solidFill>
                  <a:srgbClr val="FF0000"/>
                </a:solidFill>
                <a:cs typeface="Calibri" panose="020F0502020204030204"/>
              </a:rPr>
              <a:t>一次</a:t>
            </a:r>
            <a:r>
              <a:rPr lang="zh-CN" altLang="en-US" dirty="0"/>
              <a:t>但</a:t>
            </a:r>
            <a:r>
              <a:rPr lang="en-US" dirty="0" err="1">
                <a:solidFill>
                  <a:srgbClr val="FF0000"/>
                </a:solidFill>
                <a:cs typeface="Calibri" panose="020F0502020204030204"/>
              </a:rPr>
              <a:t>从不</a:t>
            </a:r>
            <a:r>
              <a:rPr lang="zh-CN" altLang="en-US" dirty="0"/>
              <a:t>返回</a:t>
            </a:r>
            <a:endParaRPr lang="en-US" dirty="0"/>
          </a:p>
          <a:p>
            <a:endParaRPr lang="en-US" dirty="0"/>
          </a:p>
        </p:txBody>
      </p:sp>
      <p:sp>
        <p:nvSpPr>
          <p:cNvPr id="4" name="Text Box 3"/>
          <p:cNvSpPr txBox="1"/>
          <p:nvPr/>
        </p:nvSpPr>
        <p:spPr>
          <a:xfrm>
            <a:off x="7781925" y="533400"/>
            <a:ext cx="4181475" cy="4276725"/>
          </a:xfrm>
          <a:prstGeom prst="rect">
            <a:avLst/>
          </a:prstGeom>
          <a:noFill/>
          <a:ln>
            <a:solidFill>
              <a:srgbClr val="00B050"/>
            </a:solidFill>
          </a:ln>
        </p:spPr>
        <p:txBody>
          <a:bodyPr wrap="square" rtlCol="0" anchor="t">
            <a:spAutoFit/>
          </a:bodyPr>
          <a:p>
            <a:r>
              <a:rPr lang="en-US" altLang="en-US" sz="1600" b="0" dirty="0" smtClean="0">
                <a:latin typeface="Calibri" panose="020F0502020204030204" pitchFamily="34" charset="0"/>
              </a:rPr>
              <a:t>// </a:t>
            </a:r>
            <a:r>
              <a:rPr lang="zh-CN" altLang="en-US" sz="1600" b="0" dirty="0" smtClean="0">
                <a:latin typeface="Calibri" panose="020F0502020204030204" pitchFamily="34" charset="0"/>
              </a:rPr>
              <a:t>简化的</a:t>
            </a:r>
            <a:r>
              <a:rPr lang="en-US" altLang="en-US" sz="1600" b="0" dirty="0" smtClean="0">
                <a:latin typeface="Calibri" panose="020F0502020204030204" pitchFamily="34" charset="0"/>
              </a:rPr>
              <a:t> __libc_start_main </a:t>
            </a:r>
            <a:r>
              <a:rPr lang="zh-CN" altLang="en-US" sz="1600" b="0" dirty="0" smtClean="0">
                <a:latin typeface="Calibri" panose="020F0502020204030204" pitchFamily="34" charset="0"/>
              </a:rPr>
              <a:t>逻辑</a:t>
            </a:r>
            <a:endParaRPr lang="zh-CN" altLang="en-US" sz="1600" b="0" dirty="0" smtClean="0">
              <a:latin typeface="Calibri" panose="020F0502020204030204" pitchFamily="34" charset="0"/>
            </a:endParaRPr>
          </a:p>
          <a:p>
            <a:r>
              <a:rPr lang="en-US" altLang="en-US" sz="1600" b="0" dirty="0" smtClean="0">
                <a:latin typeface="Calibri" panose="020F0502020204030204" pitchFamily="34" charset="0"/>
              </a:rPr>
              <a:t>int </a:t>
            </a:r>
            <a:r>
              <a:rPr lang="en-US" altLang="en-US" sz="1600" dirty="0" smtClean="0">
                <a:latin typeface="Calibri" panose="020F0502020204030204" pitchFamily="34" charset="0"/>
              </a:rPr>
              <a:t>__libc_start_main</a:t>
            </a:r>
            <a:r>
              <a:rPr lang="en-US" altLang="en-US" sz="1600" b="0" dirty="0" smtClean="0">
                <a:latin typeface="Calibri" panose="020F0502020204030204" pitchFamily="34" charset="0"/>
              </a:rPr>
              <a:t>(</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int (*main)(int, char**, char**),</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int argc, </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char** argv,</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void (*init)(void),</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void (*fini)(void),</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void (*rtld_fini)(void),</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void* stack_end</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 ... </a:t>
            </a:r>
            <a:r>
              <a:rPr lang="zh-CN" altLang="en-US" sz="1600" b="0" dirty="0" smtClean="0">
                <a:latin typeface="Calibri" panose="020F0502020204030204" pitchFamily="34" charset="0"/>
              </a:rPr>
              <a:t>各种初始化</a:t>
            </a:r>
            <a:r>
              <a:rPr lang="en-US" altLang="en-US" sz="1600" b="0" dirty="0" smtClean="0">
                <a:latin typeface="Calibri" panose="020F0502020204030204" pitchFamily="34" charset="0"/>
              </a:rPr>
              <a:t> ...</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int result = </a:t>
            </a:r>
            <a:r>
              <a:rPr lang="en-US" altLang="en-US" sz="1600" dirty="0" smtClean="0">
                <a:latin typeface="Calibri" panose="020F0502020204030204" pitchFamily="34" charset="0"/>
              </a:rPr>
              <a:t>main(argc, argv, __environ);</a:t>
            </a:r>
            <a:r>
              <a:rPr lang="en-US" altLang="en-US" sz="1600" b="0" dirty="0" smtClean="0">
                <a:latin typeface="Calibri" panose="020F0502020204030204" pitchFamily="34" charset="0"/>
              </a:rPr>
              <a:t>      </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a:t>
            </a:r>
            <a:r>
              <a:rPr lang="en-US" altLang="en-US" sz="1600" dirty="0" smtClean="0">
                <a:latin typeface="Calibri" panose="020F0502020204030204" pitchFamily="34" charset="0"/>
              </a:rPr>
              <a:t>exit(result);</a:t>
            </a:r>
            <a:r>
              <a:rPr lang="en-US" altLang="en-US" sz="1600" b="0" dirty="0" smtClean="0">
                <a:latin typeface="Calibri" panose="020F0502020204030204" pitchFamily="34" charset="0"/>
              </a:rPr>
              <a:t>  // </a:t>
            </a:r>
            <a:r>
              <a:rPr lang="zh-CN" altLang="en-US" sz="1600" b="0" dirty="0" smtClean="0">
                <a:latin typeface="Calibri" panose="020F0502020204030204" pitchFamily="34" charset="0"/>
              </a:rPr>
              <a:t>用</a:t>
            </a:r>
            <a:r>
              <a:rPr lang="en-US" altLang="en-US" sz="1600" b="0" dirty="0" smtClean="0">
                <a:latin typeface="Calibri" panose="020F0502020204030204" pitchFamily="34" charset="0"/>
              </a:rPr>
              <a:t>main</a:t>
            </a:r>
            <a:r>
              <a:rPr lang="zh-CN" altLang="en-US" sz="1600" b="0" dirty="0" smtClean="0">
                <a:latin typeface="Calibri" panose="020F0502020204030204" pitchFamily="34" charset="0"/>
              </a:rPr>
              <a:t>的返回值调用</a:t>
            </a:r>
            <a:r>
              <a:rPr lang="en-US" altLang="en-US" sz="1600" b="0" dirty="0" smtClean="0">
                <a:latin typeface="Calibri" panose="020F0502020204030204" pitchFamily="34" charset="0"/>
              </a:rPr>
              <a:t> exit</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a:t>
            </a:r>
            <a:endParaRPr lang="en-US" altLang="en-US" sz="1600" b="0" dirty="0" smtClean="0">
              <a:latin typeface="Calibri" panose="020F0502020204030204" pitchFamily="34" charset="0"/>
            </a:endParaRPr>
          </a:p>
          <a:p>
            <a:r>
              <a:rPr lang="en-US" altLang="en-US" sz="1600" b="0" dirty="0" smtClean="0">
                <a:latin typeface="Calibri" panose="020F0502020204030204" pitchFamily="34" charset="0"/>
              </a:rPr>
              <a:t>    return result; // </a:t>
            </a:r>
            <a:r>
              <a:rPr lang="zh-CN" altLang="en-US" sz="1600" b="0" dirty="0" smtClean="0">
                <a:latin typeface="Calibri" panose="020F0502020204030204" pitchFamily="34" charset="0"/>
              </a:rPr>
              <a:t>永远不会执行到这里</a:t>
            </a:r>
            <a:endParaRPr lang="zh-CN" altLang="en-US" sz="1600" b="0" dirty="0" smtClean="0">
              <a:latin typeface="Calibri" panose="020F0502020204030204" pitchFamily="34" charset="0"/>
            </a:endParaRPr>
          </a:p>
          <a:p>
            <a:r>
              <a:rPr lang="en-US" altLang="en-US" sz="1600" b="0" dirty="0" smtClean="0">
                <a:latin typeface="Calibri" panose="020F0502020204030204" pitchFamily="34" charset="0"/>
              </a:rPr>
              <a:t>}</a:t>
            </a:r>
            <a:endParaRPr lang="en-US" sz="1600" b="0" dirty="0" smtClean="0">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exit</a:t>
            </a:r>
            <a:r>
              <a:rPr lang="zh-CN" altLang="en-US"/>
              <a:t>调用一次</a:t>
            </a:r>
            <a:r>
              <a:rPr lang="en-US" altLang="zh-CN"/>
              <a:t>，</a:t>
            </a:r>
            <a:r>
              <a:rPr lang="zh-CN" altLang="en-US"/>
              <a:t>从不</a:t>
            </a:r>
            <a:r>
              <a:rPr lang="zh-CN" altLang="en-US"/>
              <a:t>返回</a:t>
            </a:r>
            <a:endParaRPr lang="zh-CN" altLang="en-US"/>
          </a:p>
        </p:txBody>
      </p:sp>
      <p:sp>
        <p:nvSpPr>
          <p:cNvPr id="3" name="Content Placeholder 2"/>
          <p:cNvSpPr>
            <a:spLocks noGrp="1"/>
          </p:cNvSpPr>
          <p:nvPr>
            <p:ph idx="1"/>
          </p:nvPr>
        </p:nvSpPr>
        <p:spPr/>
        <p:txBody>
          <a:bodyPr/>
          <a:p>
            <a:r>
              <a:rPr lang="en-US"/>
              <a:t>exit</a:t>
            </a:r>
            <a:r>
              <a:rPr lang="zh-CN" altLang="en-US"/>
              <a:t>系统调用时</a:t>
            </a:r>
            <a:r>
              <a:rPr lang="en-US" altLang="zh-CN"/>
              <a:t>，</a:t>
            </a:r>
            <a:r>
              <a:rPr lang="zh-CN" altLang="en-US"/>
              <a:t>内核</a:t>
            </a:r>
            <a:r>
              <a:rPr lang="en-US" altLang="zh-CN"/>
              <a:t>：</a:t>
            </a:r>
            <a:endParaRPr lang="en-US" altLang="zh-CN"/>
          </a:p>
          <a:p>
            <a:pPr lvl="1"/>
            <a:r>
              <a:rPr lang="zh-CN" altLang="en-US"/>
              <a:t>立即终止该进程</a:t>
            </a:r>
            <a:endParaRPr lang="zh-CN" altLang="en-US"/>
          </a:p>
          <a:p>
            <a:pPr lvl="1"/>
            <a:r>
              <a:rPr lang="zh-CN" altLang="en-US"/>
              <a:t>通知该进程的父</a:t>
            </a:r>
            <a:r>
              <a:rPr lang="zh-CN" altLang="en-US"/>
              <a:t>进程</a:t>
            </a:r>
            <a:endParaRPr lang="zh-CN" altLang="en-US"/>
          </a:p>
          <a:p>
            <a:pPr lvl="1"/>
            <a:r>
              <a:rPr lang="zh-CN" altLang="en-US"/>
              <a:t>释放该进程占用的资源</a:t>
            </a:r>
            <a:r>
              <a:rPr lang="en-US" altLang="zh-CN"/>
              <a:t>（</a:t>
            </a:r>
            <a:r>
              <a:rPr lang="zh-CN" altLang="en-US"/>
              <a:t>文件描述符</a:t>
            </a:r>
            <a:r>
              <a:rPr lang="en-US" altLang="zh-CN"/>
              <a:t>、</a:t>
            </a:r>
            <a:r>
              <a:rPr lang="zh-CN" altLang="en-US"/>
              <a:t>内存</a:t>
            </a:r>
            <a:r>
              <a:rPr lang="en-US" altLang="zh-CN"/>
              <a:t>、</a:t>
            </a:r>
            <a:r>
              <a:rPr lang="zh-CN" altLang="en-US"/>
              <a:t>进程表项</a:t>
            </a:r>
            <a:r>
              <a:rPr lang="en-US" altLang="zh-CN"/>
              <a:t>、</a:t>
            </a:r>
            <a:r>
              <a:rPr lang="zh-CN" altLang="en-US"/>
              <a:t>信号量</a:t>
            </a:r>
            <a:r>
              <a:rPr lang="en-US" altLang="zh-CN"/>
              <a:t>、</a:t>
            </a:r>
            <a:r>
              <a:rPr lang="zh-CN" altLang="en-US"/>
              <a:t>锁</a:t>
            </a:r>
            <a:r>
              <a:rPr lang="en-US" altLang="zh-CN"/>
              <a:t>、</a:t>
            </a:r>
            <a:r>
              <a:rPr lang="zh-CN" altLang="en-US"/>
              <a:t>定时器等</a:t>
            </a:r>
            <a:r>
              <a:rPr lang="en-US" altLang="zh-CN"/>
              <a:t>）</a:t>
            </a:r>
            <a:endParaRPr lang="en-US" altLang="zh-CN"/>
          </a:p>
          <a:p>
            <a:pPr lvl="0"/>
            <a:r>
              <a:rPr lang="zh-CN" altLang="en-US"/>
              <a:t>因此</a:t>
            </a:r>
            <a:r>
              <a:rPr lang="en-US" altLang="zh-CN"/>
              <a:t>，exit()</a:t>
            </a:r>
            <a:r>
              <a:rPr lang="zh-CN" altLang="en-US"/>
              <a:t>后面的代码</a:t>
            </a:r>
            <a:r>
              <a:rPr lang="en-US" altLang="zh-CN"/>
              <a:t>，</a:t>
            </a:r>
            <a:r>
              <a:rPr lang="zh-CN" altLang="en-US"/>
              <a:t>从不执行</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Consolas" panose="020B0609020204030204" pitchFamily="49" charset="0"/>
                <a:cs typeface="Consolas" panose="020B0609020204030204" pitchFamily="49" charset="0"/>
              </a:rPr>
              <a:t>主要内容</a:t>
            </a:r>
            <a:endParaRPr lang="zh-CN" altLang="en-US" dirty="0">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lstStyle/>
          <a:p>
            <a:pPr lvl="0"/>
            <a:r>
              <a:rPr lang="zh-CN" altLang="en-US" sz="2800" dirty="0">
                <a:solidFill>
                  <a:schemeClr val="tx1"/>
                </a:solidFill>
                <a:cs typeface="Consolas" panose="020B0609020204030204" pitchFamily="49" charset="0"/>
                <a:sym typeface="+mn-ea"/>
              </a:rPr>
              <a:t>进程的状态和终止</a:t>
            </a:r>
            <a:endParaRPr lang="zh-CN" altLang="en-US" sz="2800" dirty="0">
              <a:solidFill>
                <a:schemeClr val="tx1"/>
              </a:solidFill>
              <a:cs typeface="Consolas" panose="020B0609020204030204" pitchFamily="49" charset="0"/>
            </a:endParaRPr>
          </a:p>
          <a:p>
            <a:pPr lvl="0"/>
            <a:r>
              <a:rPr lang="zh-CN" altLang="en-US" sz="2800" dirty="0">
                <a:solidFill>
                  <a:schemeClr val="tx1"/>
                </a:solidFill>
                <a:cs typeface="Consolas" panose="020B0609020204030204" pitchFamily="49" charset="0"/>
                <a:sym typeface="+mn-ea"/>
              </a:rPr>
              <a:t>进程的创建</a:t>
            </a:r>
            <a:endParaRPr lang="zh-CN" altLang="en-US" sz="2800" dirty="0">
              <a:solidFill>
                <a:schemeClr val="tx1"/>
              </a:solidFill>
              <a:cs typeface="Consolas" panose="020B0609020204030204" pitchFamily="49" charset="0"/>
            </a:endParaRPr>
          </a:p>
          <a:p>
            <a:pPr lvl="0"/>
            <a:r>
              <a:rPr lang="zh-CN" altLang="en-US" sz="2800" dirty="0">
                <a:solidFill>
                  <a:schemeClr val="bg1">
                    <a:lumMod val="50000"/>
                  </a:schemeClr>
                </a:solidFill>
                <a:cs typeface="Consolas" panose="020B0609020204030204" pitchFamily="49" charset="0"/>
                <a:sym typeface="+mn-ea"/>
              </a:rPr>
              <a:t>子进程的回收与同步</a:t>
            </a:r>
            <a:endParaRPr lang="zh-CN" altLang="en-US" sz="2800" dirty="0">
              <a:solidFill>
                <a:schemeClr val="bg1">
                  <a:lumMod val="50000"/>
                </a:schemeClr>
              </a:solidFill>
              <a:cs typeface="Consolas" panose="020B0609020204030204" pitchFamily="49" charset="0"/>
            </a:endParaRPr>
          </a:p>
          <a:p>
            <a:pPr lvl="0"/>
            <a:r>
              <a:rPr lang="zh-CN" altLang="en-US" sz="2800" dirty="0">
                <a:solidFill>
                  <a:schemeClr val="bg1">
                    <a:lumMod val="50000"/>
                  </a:schemeClr>
                </a:solidFill>
                <a:cs typeface="Consolas" panose="020B0609020204030204" pitchFamily="49" charset="0"/>
                <a:sym typeface="+mn-ea"/>
              </a:rPr>
              <a:t>创建不同的进程</a:t>
            </a:r>
            <a:endParaRPr lang="en-US" sz="2800" dirty="0">
              <a:solidFill>
                <a:schemeClr val="bg1">
                  <a:lumMod val="50000"/>
                </a:schemeClr>
              </a:solidFill>
              <a:cs typeface="Consolas" panose="020B0609020204030204" pitchFamily="49" charset="0"/>
            </a:endParaRPr>
          </a:p>
          <a:p>
            <a:pPr lvl="1"/>
            <a:endParaRPr lang="en-US" sz="2330" dirty="0">
              <a:solidFill>
                <a:schemeClr val="bg1">
                  <a:lumMod val="50000"/>
                </a:schemeClr>
              </a:solidFill>
              <a:cs typeface="Consolas" panose="020B06090202040302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r>
              <a:rPr lang="zh-CN" altLang="en-US" dirty="0">
                <a:latin typeface="Calibri" panose="020F0502020204030204"/>
                <a:cs typeface="Calibri" panose="020F0502020204030204"/>
              </a:rPr>
              <a:t>创建进程</a:t>
            </a:r>
            <a:endParaRPr lang="zh-CN" altLang="en-US" dirty="0">
              <a:latin typeface="Calibri" panose="020F0502020204030204"/>
              <a:cs typeface="Calibri" panose="020F0502020204030204"/>
            </a:endParaRPr>
          </a:p>
        </p:txBody>
      </p:sp>
      <p:sp>
        <p:nvSpPr>
          <p:cNvPr id="489475" name="Rectangle 3"/>
          <p:cNvSpPr>
            <a:spLocks noGrp="1" noChangeArrowheads="1"/>
          </p:cNvSpPr>
          <p:nvPr>
            <p:ph idx="1"/>
          </p:nvPr>
        </p:nvSpPr>
        <p:spPr/>
        <p:txBody>
          <a:bodyPr/>
          <a:lstStyle/>
          <a:p>
            <a:r>
              <a:rPr lang="zh-CN" altLang="en-US" i="1" dirty="0"/>
              <a:t>父进程</a:t>
            </a:r>
            <a:r>
              <a:rPr lang="zh-CN" altLang="en-US" dirty="0"/>
              <a:t>通过调用</a:t>
            </a:r>
            <a:r>
              <a:rPr lang="en-US" altLang="zh-CN" dirty="0"/>
              <a:t> </a:t>
            </a:r>
            <a:r>
              <a:rPr lang="en-US" dirty="0">
                <a:latin typeface="Courier New" panose="02070609020205020404"/>
                <a:cs typeface="Courier New" panose="02070609020205020404"/>
                <a:sym typeface="+mn-ea"/>
              </a:rPr>
              <a:t>fork </a:t>
            </a:r>
            <a:r>
              <a:rPr lang="zh-CN" altLang="en-US" dirty="0">
                <a:latin typeface="Courier New" panose="02070609020205020404"/>
                <a:cs typeface="Courier New" panose="02070609020205020404"/>
                <a:sym typeface="+mn-ea"/>
              </a:rPr>
              <a:t>函数</a:t>
            </a:r>
            <a:r>
              <a:rPr lang="zh-CN" altLang="en-US" dirty="0"/>
              <a:t>创建一个新的运行的</a:t>
            </a:r>
            <a:r>
              <a:rPr lang="zh-CN" altLang="en-US" i="1" dirty="0"/>
              <a:t>子进程</a:t>
            </a:r>
            <a:endParaRPr lang="en-US" dirty="0">
              <a:latin typeface="Courier New" panose="02070609020205020404"/>
              <a:cs typeface="Courier New" panose="02070609020205020404"/>
            </a:endParaRPr>
          </a:p>
          <a:p>
            <a:pPr marL="0" indent="0">
              <a:buNone/>
            </a:pPr>
            <a:endParaRPr lang="en-US" dirty="0">
              <a:latin typeface="Courier New" panose="02070609020205020404"/>
              <a:cs typeface="Courier New" panose="02070609020205020404"/>
            </a:endParaRPr>
          </a:p>
          <a:p>
            <a:r>
              <a:rPr lang="en-US" dirty="0" err="1">
                <a:latin typeface="Courier New" panose="02070609020205020404" pitchFamily="49" charset="0"/>
              </a:rPr>
              <a:t>int</a:t>
            </a:r>
            <a:r>
              <a:rPr lang="en-US" dirty="0">
                <a:latin typeface="Courier New" panose="02070609020205020404" pitchFamily="49" charset="0"/>
              </a:rPr>
              <a:t> fork(void)</a:t>
            </a:r>
            <a:endParaRPr lang="en-US" dirty="0"/>
          </a:p>
          <a:p>
            <a:pPr lvl="1"/>
            <a:r>
              <a:rPr lang="zh-CN" altLang="en-US" dirty="0"/>
              <a:t>返回</a:t>
            </a:r>
            <a:r>
              <a:rPr lang="en-US" altLang="zh-CN" dirty="0">
                <a:latin typeface="Consolas" panose="020B0609020204030204" pitchFamily="49" charset="0"/>
                <a:cs typeface="Consolas" panose="020B0609020204030204" pitchFamily="49" charset="0"/>
              </a:rPr>
              <a:t> 0 </a:t>
            </a:r>
            <a:r>
              <a:rPr lang="zh-CN" altLang="en-US" dirty="0"/>
              <a:t>给子进程，返回子进程的</a:t>
            </a:r>
            <a:r>
              <a:rPr lang="en-US" altLang="zh-CN" dirty="0">
                <a:latin typeface="Consolas" panose="020B0609020204030204" pitchFamily="49" charset="0"/>
                <a:cs typeface="Consolas" panose="020B0609020204030204" pitchFamily="49" charset="0"/>
              </a:rPr>
              <a:t> PID </a:t>
            </a:r>
            <a:r>
              <a:rPr lang="zh-CN" altLang="en-US" dirty="0"/>
              <a:t>给父进程</a:t>
            </a:r>
            <a:endParaRPr lang="zh-CN" altLang="en-US" dirty="0"/>
          </a:p>
          <a:p>
            <a:pPr lvl="1"/>
            <a:r>
              <a:rPr lang="zh-CN" altLang="en-US" dirty="0">
                <a:latin typeface="Calibri" panose="020F0502020204030204"/>
                <a:cs typeface="Calibri" panose="020F0502020204030204"/>
                <a:sym typeface="+mn-ea"/>
              </a:rPr>
              <a:t>子进程</a:t>
            </a:r>
            <a:r>
              <a:rPr lang="zh-CN" altLang="en-US" i="1" dirty="0">
                <a:latin typeface="Calibri" panose="020F0502020204030204"/>
                <a:cs typeface="Calibri" panose="020F0502020204030204"/>
                <a:sym typeface="+mn-ea"/>
              </a:rPr>
              <a:t>几乎</a:t>
            </a:r>
            <a:r>
              <a:rPr lang="zh-CN" altLang="en-US" dirty="0">
                <a:latin typeface="Calibri" panose="020F0502020204030204"/>
                <a:cs typeface="Calibri" panose="020F0502020204030204"/>
                <a:sym typeface="+mn-ea"/>
              </a:rPr>
              <a:t>和父进程一模一样</a:t>
            </a:r>
            <a:endParaRPr lang="en-US" dirty="0">
              <a:latin typeface="Calibri" panose="020F0502020204030204"/>
              <a:cs typeface="Calibri" panose="020F0502020204030204"/>
            </a:endParaRPr>
          </a:p>
          <a:p>
            <a:pPr lvl="2"/>
            <a:r>
              <a:rPr lang="zh-CN" altLang="en-US" dirty="0"/>
              <a:t>子进程获得与父进程用户级虚拟地址空间相同的（但是独立的）一份副本</a:t>
            </a:r>
            <a:endParaRPr lang="zh-CN" altLang="en-US" dirty="0"/>
          </a:p>
          <a:p>
            <a:pPr lvl="2"/>
            <a:r>
              <a:rPr lang="zh-CN" altLang="en-US" dirty="0">
                <a:latin typeface="Calibri" panose="020F0502020204030204"/>
                <a:cs typeface="Calibri" panose="020F0502020204030204"/>
              </a:rPr>
              <a:t>子进程获得与父进程打开文件描述符相同的一份副本</a:t>
            </a:r>
            <a:endParaRPr lang="en-US" dirty="0">
              <a:latin typeface="Calibri" panose="020F0502020204030204"/>
              <a:cs typeface="Calibri" panose="020F0502020204030204"/>
            </a:endParaRPr>
          </a:p>
          <a:p>
            <a:pPr lvl="2"/>
            <a:r>
              <a:rPr lang="zh-CN" altLang="en-US" dirty="0"/>
              <a:t>子进程的</a:t>
            </a:r>
            <a:r>
              <a:rPr lang="en-US" altLang="zh-CN" dirty="0">
                <a:latin typeface="Consolas" panose="020B0609020204030204" pitchFamily="49" charset="0"/>
                <a:cs typeface="Consolas" panose="020B0609020204030204" pitchFamily="49" charset="0"/>
              </a:rPr>
              <a:t> PID </a:t>
            </a:r>
            <a:r>
              <a:rPr lang="zh-CN" altLang="en-US" dirty="0"/>
              <a:t>与父进程不同</a:t>
            </a:r>
            <a:endParaRPr lang="zh-CN" altLang="en-US" dirty="0"/>
          </a:p>
          <a:p>
            <a:pPr lvl="2"/>
            <a:endParaRPr lang="en-US" dirty="0">
              <a:latin typeface="Calibri" panose="020F0502020204030204"/>
              <a:cs typeface="Calibri" panose="020F0502020204030204"/>
            </a:endParaRPr>
          </a:p>
          <a:p>
            <a:r>
              <a:rPr lang="en-US" dirty="0">
                <a:latin typeface="Courier New" panose="02070609020205020404"/>
                <a:cs typeface="Courier New" panose="02070609020205020404"/>
              </a:rPr>
              <a:t>fork</a:t>
            </a:r>
            <a:r>
              <a:rPr lang="en-US" dirty="0"/>
              <a:t> </a:t>
            </a:r>
            <a:r>
              <a:rPr lang="zh-CN" altLang="en-US" dirty="0"/>
              <a:t>函数是有趣的（也常常令人迷惑），因为它被调用</a:t>
            </a:r>
            <a:r>
              <a:rPr lang="en-US" i="1" dirty="0">
                <a:solidFill>
                  <a:srgbClr val="C00000"/>
                </a:solidFill>
              </a:rPr>
              <a:t>一次</a:t>
            </a:r>
            <a:r>
              <a:rPr lang="zh-CN" altLang="en-US" dirty="0"/>
              <a:t>，却会返回</a:t>
            </a:r>
            <a:r>
              <a:rPr lang="en-US" i="1" dirty="0">
                <a:solidFill>
                  <a:srgbClr val="C00000"/>
                </a:solidFill>
              </a:rPr>
              <a:t>两次</a:t>
            </a:r>
            <a:endParaRPr lang="en-US" i="1" dirty="0">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0" dirty="0">
                <a:latin typeface="Courier New" panose="02070609020205020404"/>
                <a:cs typeface="Courier New" panose="02070609020205020404"/>
              </a:rPr>
              <a:t>fork </a:t>
            </a:r>
            <a:r>
              <a:rPr lang="zh-CN" altLang="en-US" kern="0" dirty="0">
                <a:latin typeface="Courier New" panose="02070609020205020404"/>
                <a:cs typeface="Courier New" panose="02070609020205020404"/>
              </a:rPr>
              <a:t>的</a:t>
            </a:r>
            <a:r>
              <a:rPr lang="zh-CN" altLang="en-US" dirty="0"/>
              <a:t>概念视图</a:t>
            </a:r>
            <a:endParaRPr lang="zh-CN" altLang="en-US" dirty="0"/>
          </a:p>
        </p:txBody>
      </p:sp>
      <p:sp>
        <p:nvSpPr>
          <p:cNvPr id="5" name="Text Placeholder 3"/>
          <p:cNvSpPr>
            <a:spLocks noGrp="1"/>
          </p:cNvSpPr>
          <p:nvPr>
            <p:ph idx="1"/>
          </p:nvPr>
        </p:nvSpPr>
        <p:spPr>
          <a:xfrm>
            <a:off x="1230630" y="5119370"/>
            <a:ext cx="9827260" cy="1738630"/>
          </a:xfrm>
        </p:spPr>
        <p:txBody>
          <a:bodyPr/>
          <a:lstStyle/>
          <a:p>
            <a:r>
              <a:rPr lang="zh-CN" altLang="en-US" dirty="0"/>
              <a:t>创建执行状态的完整副本：</a:t>
            </a:r>
            <a:endParaRPr lang="zh-CN" altLang="en-US" dirty="0"/>
          </a:p>
          <a:p>
            <a:pPr lvl="1"/>
            <a:r>
              <a:rPr lang="zh-CN" altLang="en-US" dirty="0"/>
              <a:t>指定一个为父进程，一个为子进程</a:t>
            </a:r>
            <a:endParaRPr lang="zh-CN" altLang="en-US" dirty="0"/>
          </a:p>
          <a:p>
            <a:pPr lvl="1"/>
            <a:r>
              <a:rPr lang="zh-CN" altLang="en-US" dirty="0"/>
              <a:t>恢复父进程或子进程的执行</a:t>
            </a:r>
            <a:endParaRPr lang="zh-CN" altLang="en-US" dirty="0"/>
          </a:p>
          <a:p>
            <a:pPr lvl="1"/>
            <a:r>
              <a:rPr lang="zh-CN" altLang="en-US" dirty="0"/>
              <a:t>（优化：使用写时复制（</a:t>
            </a:r>
            <a:r>
              <a:rPr lang="en-US" altLang="zh-CN" dirty="0">
                <a:latin typeface="Consolas" panose="020B0609020204030204" pitchFamily="49" charset="0"/>
                <a:cs typeface="Consolas" panose="020B0609020204030204" pitchFamily="49" charset="0"/>
              </a:rPr>
              <a:t>copy-on-write</a:t>
            </a:r>
            <a:r>
              <a:rPr lang="zh-CN" altLang="en-US" dirty="0"/>
              <a:t>）避免内存拷贝）</a:t>
            </a:r>
            <a:endParaRPr lang="zh-CN" altLang="en-US" dirty="0"/>
          </a:p>
        </p:txBody>
      </p:sp>
      <p:sp>
        <p:nvSpPr>
          <p:cNvPr id="6" name="Rectangle 5"/>
          <p:cNvSpPr/>
          <p:nvPr/>
        </p:nvSpPr>
        <p:spPr bwMode="auto">
          <a:xfrm>
            <a:off x="3175712" y="15924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latin typeface="Consolas" panose="020B0609020204030204" pitchFamily="49" charset="0"/>
              <a:cs typeface="Consolas" panose="020B0609020204030204" pitchFamily="49" charset="0"/>
            </a:endParaRPr>
          </a:p>
        </p:txBody>
      </p:sp>
      <p:sp>
        <p:nvSpPr>
          <p:cNvPr id="7" name="Rectangle 6"/>
          <p:cNvSpPr/>
          <p:nvPr/>
        </p:nvSpPr>
        <p:spPr bwMode="auto">
          <a:xfrm>
            <a:off x="3251912" y="39624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onsolas" panose="020B0609020204030204" pitchFamily="49" charset="0"/>
                <a:cs typeface="Consolas" panose="020B0609020204030204" pitchFamily="49" charset="0"/>
              </a:rPr>
              <a:t>CPU</a:t>
            </a:r>
            <a:endParaRPr lang="en-US" dirty="0">
              <a:latin typeface="Consolas" panose="020B0609020204030204" pitchFamily="49" charset="0"/>
              <a:cs typeface="Consolas" panose="020B0609020204030204" pitchFamily="49" charset="0"/>
            </a:endParaRPr>
          </a:p>
        </p:txBody>
      </p:sp>
      <p:sp>
        <p:nvSpPr>
          <p:cNvPr id="8" name="Rectangle 7"/>
          <p:cNvSpPr/>
          <p:nvPr/>
        </p:nvSpPr>
        <p:spPr bwMode="auto">
          <a:xfrm>
            <a:off x="3390228" y="44196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200" dirty="0">
                <a:latin typeface="Consolas" panose="020B0609020204030204" pitchFamily="49" charset="0"/>
                <a:cs typeface="Consolas" panose="020B0609020204030204" pitchFamily="49" charset="0"/>
              </a:rPr>
              <a:t>Registers</a:t>
            </a:r>
            <a:endParaRPr lang="en-US" sz="1200" dirty="0">
              <a:latin typeface="Consolas" panose="020B0609020204030204" pitchFamily="49" charset="0"/>
              <a:cs typeface="Consolas" panose="020B0609020204030204" pitchFamily="49" charset="0"/>
            </a:endParaRPr>
          </a:p>
        </p:txBody>
      </p:sp>
      <p:sp>
        <p:nvSpPr>
          <p:cNvPr id="9" name="Rectangle 8"/>
          <p:cNvSpPr/>
          <p:nvPr/>
        </p:nvSpPr>
        <p:spPr bwMode="auto">
          <a:xfrm>
            <a:off x="1412508" y="1143000"/>
            <a:ext cx="3301288" cy="27432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onsolas" panose="020B0609020204030204" pitchFamily="49" charset="0"/>
                <a:cs typeface="Consolas" panose="020B0609020204030204" pitchFamily="49" charset="0"/>
              </a:rPr>
              <a:t>Memory</a:t>
            </a:r>
            <a:endParaRPr lang="en-US" dirty="0">
              <a:latin typeface="Consolas" panose="020B0609020204030204" pitchFamily="49" charset="0"/>
              <a:cs typeface="Consolas" panose="020B0609020204030204" pitchFamily="49" charset="0"/>
            </a:endParaRPr>
          </a:p>
        </p:txBody>
      </p:sp>
      <p:grpSp>
        <p:nvGrpSpPr>
          <p:cNvPr id="10" name="Group 9"/>
          <p:cNvGrpSpPr/>
          <p:nvPr/>
        </p:nvGrpSpPr>
        <p:grpSpPr>
          <a:xfrm>
            <a:off x="3391982" y="1949687"/>
            <a:ext cx="1066800" cy="1784110"/>
            <a:chOff x="2730870" y="1789589"/>
            <a:chExt cx="1066800" cy="1784110"/>
          </a:xfrm>
        </p:grpSpPr>
        <p:sp>
          <p:nvSpPr>
            <p:cNvPr id="11" name="Rectangle 10"/>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Stack</a:t>
              </a:r>
              <a:endParaRPr lang="en-US" sz="1800" dirty="0">
                <a:latin typeface="Consolas" panose="020B0609020204030204" pitchFamily="49" charset="0"/>
                <a:cs typeface="Consolas" panose="020B0609020204030204" pitchFamily="49" charset="0"/>
              </a:endParaRPr>
            </a:p>
          </p:txBody>
        </p:sp>
        <p:sp>
          <p:nvSpPr>
            <p:cNvPr id="12" name="Rectangle 11"/>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Heap</a:t>
              </a:r>
              <a:endParaRPr lang="en-US" sz="1800" dirty="0">
                <a:latin typeface="Consolas" panose="020B0609020204030204" pitchFamily="49" charset="0"/>
                <a:cs typeface="Consolas" panose="020B0609020204030204" pitchFamily="49" charset="0"/>
              </a:endParaRPr>
            </a:p>
          </p:txBody>
        </p:sp>
        <p:sp>
          <p:nvSpPr>
            <p:cNvPr id="13" name="Rectangle 12"/>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Code</a:t>
              </a:r>
              <a:endParaRPr lang="en-US" sz="1800" dirty="0">
                <a:latin typeface="Consolas" panose="020B0609020204030204" pitchFamily="49" charset="0"/>
                <a:cs typeface="Consolas" panose="020B0609020204030204" pitchFamily="49" charset="0"/>
              </a:endParaRPr>
            </a:p>
          </p:txBody>
        </p:sp>
        <p:sp>
          <p:nvSpPr>
            <p:cNvPr id="14" name="Rectangle 13"/>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Data</a:t>
              </a:r>
              <a:endParaRPr lang="en-US" sz="1800" dirty="0">
                <a:latin typeface="Consolas" panose="020B0609020204030204" pitchFamily="49" charset="0"/>
                <a:cs typeface="Consolas" panose="020B0609020204030204" pitchFamily="49" charset="0"/>
              </a:endParaRPr>
            </a:p>
          </p:txBody>
        </p:sp>
        <p:sp>
          <p:nvSpPr>
            <p:cNvPr id="15" name="Rectangle 14"/>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200" dirty="0">
                  <a:latin typeface="Consolas" panose="020B0609020204030204" pitchFamily="49" charset="0"/>
                  <a:cs typeface="Consolas" panose="020B0609020204030204" pitchFamily="49" charset="0"/>
                </a:rPr>
                <a:t>Saved registers</a:t>
              </a:r>
              <a:endParaRPr lang="en-US" sz="1200" dirty="0">
                <a:latin typeface="Consolas" panose="020B0609020204030204" pitchFamily="49" charset="0"/>
                <a:cs typeface="Consolas" panose="020B0609020204030204" pitchFamily="49" charset="0"/>
              </a:endParaRPr>
            </a:p>
          </p:txBody>
        </p:sp>
      </p:grpSp>
      <p:sp>
        <p:nvSpPr>
          <p:cNvPr id="16" name="Rectangle 15"/>
          <p:cNvSpPr/>
          <p:nvPr/>
        </p:nvSpPr>
        <p:spPr bwMode="auto">
          <a:xfrm>
            <a:off x="8240204" y="1592499"/>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latin typeface="Consolas" panose="020B0609020204030204" pitchFamily="49" charset="0"/>
              <a:cs typeface="Consolas" panose="020B0609020204030204" pitchFamily="49" charset="0"/>
            </a:endParaRPr>
          </a:p>
        </p:txBody>
      </p:sp>
      <p:sp>
        <p:nvSpPr>
          <p:cNvPr id="17" name="Rectangle 16"/>
          <p:cNvSpPr/>
          <p:nvPr/>
        </p:nvSpPr>
        <p:spPr bwMode="auto">
          <a:xfrm>
            <a:off x="8316404" y="3962403"/>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onsolas" panose="020B0609020204030204" pitchFamily="49" charset="0"/>
                <a:cs typeface="Consolas" panose="020B0609020204030204" pitchFamily="49" charset="0"/>
              </a:rPr>
              <a:t>CPU</a:t>
            </a:r>
            <a:endParaRPr lang="en-US" dirty="0">
              <a:latin typeface="Consolas" panose="020B0609020204030204" pitchFamily="49" charset="0"/>
              <a:cs typeface="Consolas" panose="020B0609020204030204" pitchFamily="49" charset="0"/>
            </a:endParaRPr>
          </a:p>
        </p:txBody>
      </p:sp>
      <p:sp>
        <p:nvSpPr>
          <p:cNvPr id="18" name="Rectangle 17"/>
          <p:cNvSpPr/>
          <p:nvPr/>
        </p:nvSpPr>
        <p:spPr bwMode="auto">
          <a:xfrm>
            <a:off x="8454720" y="4419603"/>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200" dirty="0">
                <a:latin typeface="Consolas" panose="020B0609020204030204" pitchFamily="49" charset="0"/>
                <a:cs typeface="Consolas" panose="020B0609020204030204" pitchFamily="49" charset="0"/>
              </a:rPr>
              <a:t>Registers</a:t>
            </a:r>
            <a:endParaRPr lang="en-US" sz="1200" dirty="0">
              <a:latin typeface="Consolas" panose="020B0609020204030204" pitchFamily="49" charset="0"/>
              <a:cs typeface="Consolas" panose="020B0609020204030204" pitchFamily="49" charset="0"/>
            </a:endParaRPr>
          </a:p>
        </p:txBody>
      </p:sp>
      <p:sp>
        <p:nvSpPr>
          <p:cNvPr id="19" name="Rectangle 18"/>
          <p:cNvSpPr/>
          <p:nvPr/>
        </p:nvSpPr>
        <p:spPr bwMode="auto">
          <a:xfrm>
            <a:off x="6477000" y="1143002"/>
            <a:ext cx="3301288" cy="2743197"/>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a:latin typeface="Consolas" panose="020B0609020204030204" pitchFamily="49" charset="0"/>
                <a:cs typeface="Consolas" panose="020B0609020204030204" pitchFamily="49" charset="0"/>
              </a:rPr>
              <a:t>Memory</a:t>
            </a:r>
            <a:endParaRPr lang="en-US" dirty="0">
              <a:latin typeface="Consolas" panose="020B0609020204030204" pitchFamily="49" charset="0"/>
              <a:cs typeface="Consolas" panose="020B0609020204030204" pitchFamily="49" charset="0"/>
            </a:endParaRPr>
          </a:p>
        </p:txBody>
      </p:sp>
      <p:grpSp>
        <p:nvGrpSpPr>
          <p:cNvPr id="20" name="Group 19"/>
          <p:cNvGrpSpPr/>
          <p:nvPr/>
        </p:nvGrpSpPr>
        <p:grpSpPr>
          <a:xfrm>
            <a:off x="6765990" y="1949688"/>
            <a:ext cx="1066800" cy="1784110"/>
            <a:chOff x="1040386" y="1789587"/>
            <a:chExt cx="1066800" cy="1784110"/>
          </a:xfrm>
        </p:grpSpPr>
        <p:sp>
          <p:nvSpPr>
            <p:cNvPr id="21" name="Rectangle 20"/>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Stack</a:t>
              </a:r>
              <a:endParaRPr lang="en-US" sz="1800" dirty="0">
                <a:latin typeface="Consolas" panose="020B0609020204030204" pitchFamily="49" charset="0"/>
                <a:cs typeface="Consolas" panose="020B0609020204030204" pitchFamily="49" charset="0"/>
              </a:endParaRPr>
            </a:p>
          </p:txBody>
        </p:sp>
        <p:sp>
          <p:nvSpPr>
            <p:cNvPr id="22" name="Rectangle 21"/>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Heap</a:t>
              </a:r>
              <a:endParaRPr lang="en-US" sz="1800" dirty="0">
                <a:latin typeface="Consolas" panose="020B0609020204030204" pitchFamily="49" charset="0"/>
                <a:cs typeface="Consolas" panose="020B0609020204030204" pitchFamily="49" charset="0"/>
              </a:endParaRPr>
            </a:p>
          </p:txBody>
        </p:sp>
        <p:sp>
          <p:nvSpPr>
            <p:cNvPr id="23" name="Rectangle 22"/>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Code</a:t>
              </a:r>
              <a:endParaRPr lang="en-US" sz="1800" dirty="0">
                <a:latin typeface="Consolas" panose="020B0609020204030204" pitchFamily="49" charset="0"/>
                <a:cs typeface="Consolas" panose="020B0609020204030204" pitchFamily="49" charset="0"/>
              </a:endParaRPr>
            </a:p>
          </p:txBody>
        </p:sp>
        <p:sp>
          <p:nvSpPr>
            <p:cNvPr id="24" name="Rectangle 23"/>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Data</a:t>
              </a:r>
              <a:endParaRPr lang="en-US" sz="1800" dirty="0">
                <a:latin typeface="Consolas" panose="020B0609020204030204" pitchFamily="49" charset="0"/>
                <a:cs typeface="Consolas" panose="020B0609020204030204" pitchFamily="49" charset="0"/>
              </a:endParaRPr>
            </a:p>
          </p:txBody>
        </p:sp>
        <p:sp>
          <p:nvSpPr>
            <p:cNvPr id="25" name="Rectangle 24"/>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200" dirty="0">
                  <a:latin typeface="Consolas" panose="020B0609020204030204" pitchFamily="49" charset="0"/>
                  <a:cs typeface="Consolas" panose="020B0609020204030204" pitchFamily="49" charset="0"/>
                </a:rPr>
                <a:t>Saved registers</a:t>
              </a:r>
              <a:endParaRPr lang="en-US" sz="1200" dirty="0">
                <a:latin typeface="Consolas" panose="020B0609020204030204" pitchFamily="49" charset="0"/>
                <a:cs typeface="Consolas" panose="020B0609020204030204" pitchFamily="49" charset="0"/>
              </a:endParaRPr>
            </a:p>
          </p:txBody>
        </p:sp>
      </p:grpSp>
      <p:grpSp>
        <p:nvGrpSpPr>
          <p:cNvPr id="26" name="Group 25"/>
          <p:cNvGrpSpPr/>
          <p:nvPr/>
        </p:nvGrpSpPr>
        <p:grpSpPr>
          <a:xfrm>
            <a:off x="8456474" y="1949690"/>
            <a:ext cx="1066800" cy="1784110"/>
            <a:chOff x="2730870" y="1789589"/>
            <a:chExt cx="1066800" cy="1784110"/>
          </a:xfrm>
        </p:grpSpPr>
        <p:sp>
          <p:nvSpPr>
            <p:cNvPr id="27" name="Rectangle 26"/>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Stack</a:t>
              </a:r>
              <a:endParaRPr lang="en-US" sz="1800" dirty="0">
                <a:latin typeface="Consolas" panose="020B0609020204030204" pitchFamily="49" charset="0"/>
                <a:cs typeface="Consolas" panose="020B0609020204030204" pitchFamily="49" charset="0"/>
              </a:endParaRPr>
            </a:p>
          </p:txBody>
        </p:sp>
        <p:sp>
          <p:nvSpPr>
            <p:cNvPr id="28" name="Rectangle 27"/>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Heap</a:t>
              </a:r>
              <a:endParaRPr lang="en-US" sz="1800" dirty="0">
                <a:latin typeface="Consolas" panose="020B0609020204030204" pitchFamily="49" charset="0"/>
                <a:cs typeface="Consolas" panose="020B0609020204030204" pitchFamily="49" charset="0"/>
              </a:endParaRPr>
            </a:p>
          </p:txBody>
        </p:sp>
        <p:sp>
          <p:nvSpPr>
            <p:cNvPr id="29" name="Rectangle 28"/>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Code</a:t>
              </a:r>
              <a:endParaRPr lang="en-US" sz="1800" dirty="0">
                <a:latin typeface="Consolas" panose="020B0609020204030204" pitchFamily="49" charset="0"/>
                <a:cs typeface="Consolas" panose="020B0609020204030204" pitchFamily="49" charset="0"/>
              </a:endParaRPr>
            </a:p>
          </p:txBody>
        </p:sp>
        <p:sp>
          <p:nvSpPr>
            <p:cNvPr id="30" name="Rectangle 29"/>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a:latin typeface="Consolas" panose="020B0609020204030204" pitchFamily="49" charset="0"/>
                  <a:cs typeface="Consolas" panose="020B0609020204030204" pitchFamily="49" charset="0"/>
                </a:rPr>
                <a:t>Data</a:t>
              </a:r>
              <a:endParaRPr lang="en-US" sz="1800" dirty="0">
                <a:latin typeface="Consolas" panose="020B0609020204030204" pitchFamily="49" charset="0"/>
                <a:cs typeface="Consolas" panose="020B0609020204030204" pitchFamily="49" charset="0"/>
              </a:endParaRPr>
            </a:p>
          </p:txBody>
        </p:sp>
        <p:sp>
          <p:nvSpPr>
            <p:cNvPr id="31" name="Rectangle 30"/>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200" dirty="0">
                  <a:latin typeface="Consolas" panose="020B0609020204030204" pitchFamily="49" charset="0"/>
                  <a:cs typeface="Consolas" panose="020B0609020204030204" pitchFamily="49" charset="0"/>
                </a:rPr>
                <a:t>Saved registers</a:t>
              </a:r>
              <a:endParaRPr lang="en-US" sz="1200" dirty="0">
                <a:latin typeface="Consolas" panose="020B0609020204030204" pitchFamily="49" charset="0"/>
                <a:cs typeface="Consolas" panose="020B0609020204030204" pitchFamily="49" charset="0"/>
              </a:endParaRPr>
            </a:p>
          </p:txBody>
        </p:sp>
      </p:grpSp>
      <p:sp>
        <p:nvSpPr>
          <p:cNvPr id="32" name="TextBox 31"/>
          <p:cNvSpPr txBox="1"/>
          <p:nvPr/>
        </p:nvSpPr>
        <p:spPr>
          <a:xfrm>
            <a:off x="6773687" y="1588822"/>
            <a:ext cx="1064491" cy="369332"/>
          </a:xfrm>
          <a:prstGeom prst="rect">
            <a:avLst/>
          </a:prstGeom>
          <a:noFill/>
        </p:spPr>
        <p:txBody>
          <a:bodyPr wrap="square" rtlCol="0">
            <a:spAutoFit/>
          </a:bodyPr>
          <a:lstStyle/>
          <a:p>
            <a:pPr algn="ctr"/>
            <a:r>
              <a:rPr lang="en-US" sz="1800" dirty="0">
                <a:latin typeface="Consolas" panose="020B0609020204030204" pitchFamily="49" charset="0"/>
                <a:cs typeface="Consolas" panose="020B0609020204030204" pitchFamily="49" charset="0"/>
              </a:rPr>
              <a:t>parent</a:t>
            </a:r>
            <a:endParaRPr lang="en-US" sz="1800" dirty="0">
              <a:latin typeface="Consolas" panose="020B0609020204030204" pitchFamily="49" charset="0"/>
              <a:cs typeface="Consolas" panose="020B0609020204030204" pitchFamily="49" charset="0"/>
            </a:endParaRPr>
          </a:p>
        </p:txBody>
      </p:sp>
      <p:sp>
        <p:nvSpPr>
          <p:cNvPr id="33" name="TextBox 32"/>
          <p:cNvSpPr txBox="1"/>
          <p:nvPr/>
        </p:nvSpPr>
        <p:spPr>
          <a:xfrm>
            <a:off x="8458783" y="1588822"/>
            <a:ext cx="1064491" cy="369332"/>
          </a:xfrm>
          <a:prstGeom prst="rect">
            <a:avLst/>
          </a:prstGeom>
          <a:noFill/>
        </p:spPr>
        <p:txBody>
          <a:bodyPr wrap="square" rtlCol="0">
            <a:spAutoFit/>
          </a:bodyPr>
          <a:lstStyle/>
          <a:p>
            <a:pPr algn="ctr"/>
            <a:r>
              <a:rPr lang="en-US" sz="1800" dirty="0">
                <a:latin typeface="Consolas" panose="020B0609020204030204" pitchFamily="49" charset="0"/>
                <a:cs typeface="Consolas" panose="020B0609020204030204" pitchFamily="49" charset="0"/>
              </a:rPr>
              <a:t>child</a:t>
            </a:r>
            <a:endParaRPr lang="en-US" sz="1800" dirty="0">
              <a:latin typeface="Consolas" panose="020B0609020204030204" pitchFamily="49" charset="0"/>
              <a:cs typeface="Consolas" panose="020B0609020204030204" pitchFamily="49" charset="0"/>
            </a:endParaRPr>
          </a:p>
        </p:txBody>
      </p:sp>
      <p:sp>
        <p:nvSpPr>
          <p:cNvPr id="34" name="TextBox 33"/>
          <p:cNvSpPr txBox="1"/>
          <p:nvPr/>
        </p:nvSpPr>
        <p:spPr>
          <a:xfrm>
            <a:off x="5400355" y="2036069"/>
            <a:ext cx="567934" cy="523220"/>
          </a:xfrm>
          <a:prstGeom prst="rect">
            <a:avLst/>
          </a:prstGeom>
          <a:noFill/>
        </p:spPr>
        <p:txBody>
          <a:bodyPr wrap="none" rtlCol="0">
            <a:spAutoFit/>
          </a:bodyPr>
          <a:lstStyle/>
          <a:p>
            <a:r>
              <a:rPr lang="en-US" sz="2800" dirty="0">
                <a:latin typeface="Wingdings" panose="05000000000000000000"/>
                <a:ea typeface="Wingdings" panose="05000000000000000000"/>
                <a:cs typeface="Consolas" panose="020B0609020204030204" pitchFamily="49" charset="0"/>
                <a:sym typeface="Wingdings" panose="05000000000000000000"/>
              </a:rPr>
              <a:t></a:t>
            </a:r>
            <a:endParaRPr lang="en-US" sz="2800" dirty="0">
              <a:latin typeface="Wingdings" panose="05000000000000000000"/>
              <a:ea typeface="Wingdings" panose="05000000000000000000"/>
              <a:cs typeface="Consolas" panose="020B0609020204030204" pitchFamily="49" charset="0"/>
              <a:sym typeface="Wingdings" panose="050000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9" name="Text Box 3"/>
          <p:cNvSpPr txBox="1">
            <a:spLocks noChangeArrowheads="1"/>
          </p:cNvSpPr>
          <p:nvPr/>
        </p:nvSpPr>
        <p:spPr bwMode="auto">
          <a:xfrm>
            <a:off x="850241" y="1516593"/>
            <a:ext cx="4998484" cy="3785652"/>
          </a:xfrm>
          <a:prstGeom prst="rect">
            <a:avLst/>
          </a:prstGeom>
          <a:solidFill>
            <a:srgbClr val="F6F5BD"/>
          </a:solidFill>
          <a:ln w="3175">
            <a:solidFill>
              <a:schemeClr val="tx1"/>
            </a:solidFill>
            <a:miter lim="800000"/>
          </a:ln>
          <a:effectLst/>
        </p:spPr>
        <p:txBody>
          <a:bodyPr wrap="none">
            <a:spAutoFit/>
          </a:bodyPr>
          <a:lstStyle/>
          <a:p>
            <a:r>
              <a:rPr lang="en-US" sz="1600" dirty="0">
                <a:solidFill>
                  <a:srgbClr val="2D961E"/>
                </a:solidFill>
                <a:latin typeface="Courier New" panose="02070609020205020404"/>
                <a:cs typeface="Courier New" panose="02070609020205020404"/>
              </a:rPr>
              <a:t>int</a:t>
            </a:r>
            <a:r>
              <a:rPr lang="en-US" sz="1600" dirty="0">
                <a:solidFill>
                  <a:srgbClr val="000000"/>
                </a:solidFill>
                <a:latin typeface="Courier New" panose="02070609020205020404"/>
                <a:cs typeface="Courier New" panose="02070609020205020404"/>
              </a:rPr>
              <a:t> </a:t>
            </a:r>
            <a:r>
              <a:rPr lang="en-US" sz="1600" dirty="0">
                <a:solidFill>
                  <a:srgbClr val="4A00FF"/>
                </a:solidFill>
                <a:latin typeface="Courier New" panose="02070609020205020404"/>
                <a:cs typeface="Courier New" panose="02070609020205020404"/>
              </a:rPr>
              <a:t>main</a:t>
            </a:r>
            <a:r>
              <a:rPr lang="en-US" sz="1600" dirty="0">
                <a:solidFill>
                  <a:srgbClr val="000000"/>
                </a:solidFill>
                <a:latin typeface="Courier New" panose="02070609020205020404"/>
                <a:cs typeface="Courier New" panose="02070609020205020404"/>
              </a:rPr>
              <a:t>(int </a:t>
            </a:r>
            <a:r>
              <a:rPr lang="en-US" sz="1600" dirty="0" err="1">
                <a:solidFill>
                  <a:srgbClr val="000000"/>
                </a:solidFill>
                <a:latin typeface="Courier New" panose="02070609020205020404"/>
                <a:cs typeface="Courier New" panose="02070609020205020404"/>
              </a:rPr>
              <a:t>argc</a:t>
            </a:r>
            <a:r>
              <a:rPr lang="en-US" sz="1600" dirty="0">
                <a:solidFill>
                  <a:srgbClr val="000000"/>
                </a:solidFill>
                <a:latin typeface="Courier New" panose="02070609020205020404"/>
                <a:cs typeface="Courier New" panose="02070609020205020404"/>
              </a:rPr>
              <a:t>, char** </a:t>
            </a:r>
            <a:r>
              <a:rPr lang="en-US" sz="1600" dirty="0" err="1">
                <a:solidFill>
                  <a:srgbClr val="000000"/>
                </a:solidFill>
                <a:latin typeface="Courier New" panose="02070609020205020404"/>
                <a:cs typeface="Courier New" panose="02070609020205020404"/>
              </a:rPr>
              <a:t>argv</a:t>
            </a:r>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a:p>
            <a:r>
              <a:rPr lang="fi-FI" sz="1600" dirty="0">
                <a:solidFill>
                  <a:srgbClr val="000000"/>
                </a:solidFill>
                <a:latin typeface="Courier New" panose="02070609020205020404"/>
                <a:cs typeface="Courier New" panose="02070609020205020404"/>
              </a:rPr>
              <a:t>    </a:t>
            </a:r>
            <a:r>
              <a:rPr lang="fi-FI" sz="1600" dirty="0" err="1">
                <a:solidFill>
                  <a:srgbClr val="2D961E"/>
                </a:solidFill>
                <a:latin typeface="Courier New" panose="02070609020205020404"/>
                <a:cs typeface="Courier New" panose="02070609020205020404"/>
              </a:rPr>
              <a:t>pid_t</a:t>
            </a:r>
            <a:r>
              <a:rPr lang="fi-FI" sz="1600" dirty="0">
                <a:solidFill>
                  <a:srgbClr val="000000"/>
                </a:solidFill>
                <a:latin typeface="Courier New" panose="02070609020205020404"/>
                <a:cs typeface="Courier New" panose="02070609020205020404"/>
              </a:rPr>
              <a:t> </a:t>
            </a:r>
            <a:r>
              <a:rPr lang="fi-FI" sz="1600" dirty="0" err="1">
                <a:solidFill>
                  <a:srgbClr val="C1651C"/>
                </a:solidFill>
                <a:latin typeface="Courier New" panose="02070609020205020404"/>
                <a:cs typeface="Courier New" panose="02070609020205020404"/>
              </a:rPr>
              <a:t>pid</a:t>
            </a:r>
            <a:r>
              <a:rPr lang="fi-FI" sz="1600" dirty="0">
                <a:solidFill>
                  <a:srgbClr val="000000"/>
                </a:solidFill>
                <a:latin typeface="Courier New" panose="02070609020205020404"/>
                <a:cs typeface="Courier New" panose="02070609020205020404"/>
              </a:rPr>
              <a:t>;</a:t>
            </a:r>
            <a:endParaRPr lang="fi-FI" sz="1600" dirty="0">
              <a:solidFill>
                <a:srgbClr val="000000"/>
              </a:solidFill>
              <a:latin typeface="Courier New" panose="02070609020205020404"/>
              <a:cs typeface="Courier New" panose="02070609020205020404"/>
            </a:endParaRPr>
          </a:p>
          <a:p>
            <a:r>
              <a:rPr lang="fr-FR" sz="1600" dirty="0">
                <a:solidFill>
                  <a:srgbClr val="000000"/>
                </a:solidFill>
                <a:latin typeface="Courier New" panose="02070609020205020404"/>
                <a:cs typeface="Courier New" panose="02070609020205020404"/>
              </a:rPr>
              <a:t>    </a:t>
            </a:r>
            <a:r>
              <a:rPr lang="fr-FR" sz="1600" dirty="0" err="1">
                <a:solidFill>
                  <a:srgbClr val="2D961E"/>
                </a:solidFill>
                <a:latin typeface="Courier New" panose="02070609020205020404"/>
                <a:cs typeface="Courier New" panose="02070609020205020404"/>
              </a:rPr>
              <a:t>int</a:t>
            </a:r>
            <a:r>
              <a:rPr lang="fr-FR" sz="1600" dirty="0">
                <a:solidFill>
                  <a:srgbClr val="000000"/>
                </a:solidFill>
                <a:latin typeface="Courier New" panose="02070609020205020404"/>
                <a:cs typeface="Courier New" panose="02070609020205020404"/>
              </a:rPr>
              <a:t> </a:t>
            </a:r>
            <a:r>
              <a:rPr lang="fr-FR" sz="1600" dirty="0">
                <a:solidFill>
                  <a:srgbClr val="C1651C"/>
                </a:solidFill>
                <a:latin typeface="Courier New" panose="02070609020205020404"/>
                <a:cs typeface="Courier New" panose="02070609020205020404"/>
              </a:rPr>
              <a:t>x</a:t>
            </a:r>
            <a:r>
              <a:rPr lang="fr-FR" sz="1600" dirty="0">
                <a:solidFill>
                  <a:srgbClr val="000000"/>
                </a:solidFill>
                <a:latin typeface="Courier New" panose="02070609020205020404"/>
                <a:cs typeface="Courier New" panose="02070609020205020404"/>
              </a:rPr>
              <a:t> = 1;</a:t>
            </a:r>
            <a:endParaRPr lang="fr-FR" sz="1600" dirty="0">
              <a:solidFill>
                <a:srgbClr val="000000"/>
              </a:solidFill>
              <a:latin typeface="Courier New" panose="02070609020205020404"/>
              <a:cs typeface="Courier New" panose="02070609020205020404"/>
            </a:endParaRPr>
          </a:p>
          <a:p>
            <a:endParaRPr lang="fr-FR" sz="1600" dirty="0">
              <a:solidFill>
                <a:srgbClr val="000000"/>
              </a:solidFill>
              <a:latin typeface="Courier New" panose="02070609020205020404"/>
              <a:cs typeface="Courier New" panose="02070609020205020404"/>
            </a:endParaRPr>
          </a:p>
          <a:p>
            <a:r>
              <a:rPr lang="fi-FI" sz="1600" dirty="0">
                <a:solidFill>
                  <a:srgbClr val="000000"/>
                </a:solidFill>
                <a:latin typeface="Courier New" panose="02070609020205020404"/>
                <a:cs typeface="Courier New" panose="02070609020205020404"/>
              </a:rPr>
              <a:t>    </a:t>
            </a:r>
            <a:r>
              <a:rPr lang="fi-FI" sz="1600" dirty="0" err="1">
                <a:solidFill>
                  <a:srgbClr val="000000"/>
                </a:solidFill>
                <a:latin typeface="Courier New" panose="02070609020205020404"/>
                <a:cs typeface="Courier New" panose="02070609020205020404"/>
              </a:rPr>
              <a:t>pid</a:t>
            </a:r>
            <a:r>
              <a:rPr lang="fi-FI" sz="1600" dirty="0">
                <a:solidFill>
                  <a:srgbClr val="000000"/>
                </a:solidFill>
                <a:latin typeface="Courier New" panose="02070609020205020404"/>
                <a:cs typeface="Courier New" panose="02070609020205020404"/>
              </a:rPr>
              <a:t> = </a:t>
            </a:r>
            <a:r>
              <a:rPr lang="fi-FI" sz="1600" dirty="0" err="1">
                <a:solidFill>
                  <a:srgbClr val="000000"/>
                </a:solidFill>
                <a:latin typeface="Courier New" panose="02070609020205020404"/>
                <a:cs typeface="Courier New" panose="02070609020205020404"/>
              </a:rPr>
              <a:t>Fork</a:t>
            </a:r>
            <a:r>
              <a:rPr lang="fi-FI" sz="1600" dirty="0">
                <a:solidFill>
                  <a:srgbClr val="000000"/>
                </a:solidFill>
                <a:latin typeface="Courier New" panose="02070609020205020404"/>
                <a:cs typeface="Courier New" panose="02070609020205020404"/>
              </a:rPr>
              <a:t>(); </a:t>
            </a:r>
            <a:endParaRPr lang="fi-FI"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a:solidFill>
                  <a:srgbClr val="C200FF"/>
                </a:solidFill>
                <a:latin typeface="Courier New" panose="02070609020205020404"/>
                <a:cs typeface="Courier New" panose="02070609020205020404"/>
              </a:rPr>
              <a:t>if</a:t>
            </a:r>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pid</a:t>
            </a:r>
            <a:r>
              <a:rPr lang="en-US" sz="1600" dirty="0">
                <a:solidFill>
                  <a:srgbClr val="000000"/>
                </a:solidFill>
                <a:latin typeface="Courier New" panose="02070609020205020404"/>
                <a:cs typeface="Courier New" panose="02070609020205020404"/>
              </a:rPr>
              <a:t> == 0) {  </a:t>
            </a:r>
            <a:r>
              <a:rPr lang="en-US" sz="1600" dirty="0">
                <a:solidFill>
                  <a:srgbClr val="CB2418"/>
                </a:solidFill>
                <a:latin typeface="Courier New" panose="02070609020205020404"/>
                <a:cs typeface="Courier New" panose="02070609020205020404"/>
              </a:rPr>
              <a:t>/* Child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printf</a:t>
            </a:r>
            <a:r>
              <a:rPr lang="en-US" sz="1600" dirty="0">
                <a:solidFill>
                  <a:srgbClr val="000000"/>
                </a:solidFill>
                <a:latin typeface="Courier New" panose="02070609020205020404"/>
                <a:cs typeface="Courier New" panose="02070609020205020404"/>
              </a:rPr>
              <a:t>(</a:t>
            </a:r>
            <a:r>
              <a:rPr lang="en-US" sz="1600" dirty="0">
                <a:solidFill>
                  <a:srgbClr val="9D206F"/>
                </a:solidFill>
                <a:latin typeface="Courier New" panose="02070609020205020404"/>
                <a:cs typeface="Courier New" panose="02070609020205020404"/>
              </a:rPr>
              <a:t>"child : x=%d\n"</a:t>
            </a:r>
            <a:r>
              <a:rPr lang="en-US" sz="1600" dirty="0">
                <a:solidFill>
                  <a:srgbClr val="000000"/>
                </a:solidFill>
                <a:latin typeface="Courier New" panose="02070609020205020404"/>
                <a:cs typeface="Courier New" panose="02070609020205020404"/>
              </a:rPr>
              <a:t>, ++x);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return 0;</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endParaRPr lang="en-US" sz="1600" dirty="0">
              <a:solidFill>
                <a:srgbClr val="000000"/>
              </a:solidFill>
              <a:latin typeface="Courier New" panose="02070609020205020404"/>
              <a:cs typeface="Courier New" panose="02070609020205020404"/>
            </a:endParaRPr>
          </a:p>
          <a:p>
            <a:endParaRPr lang="en-US" sz="1600" dirty="0">
              <a:solidFill>
                <a:srgbClr val="000000"/>
              </a:solidFill>
              <a:latin typeface="Courier New" panose="02070609020205020404"/>
              <a:cs typeface="Courier New" panose="02070609020205020404"/>
            </a:endParaRPr>
          </a:p>
          <a:p>
            <a:r>
              <a:rPr lang="fr-FR" sz="1600" dirty="0">
                <a:solidFill>
                  <a:srgbClr val="000000"/>
                </a:solidFill>
                <a:latin typeface="Courier New" panose="02070609020205020404"/>
                <a:cs typeface="Courier New" panose="02070609020205020404"/>
              </a:rPr>
              <a:t>    </a:t>
            </a:r>
            <a:r>
              <a:rPr lang="fr-FR" sz="1600" dirty="0">
                <a:solidFill>
                  <a:srgbClr val="CB2418"/>
                </a:solidFill>
                <a:latin typeface="Courier New" panose="02070609020205020404"/>
                <a:cs typeface="Courier New" panose="02070609020205020404"/>
              </a:rPr>
              <a:t>/* Parent */</a:t>
            </a:r>
            <a:endParaRPr lang="fr-FR"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printf</a:t>
            </a:r>
            <a:r>
              <a:rPr lang="en-US" sz="1600" dirty="0">
                <a:solidFill>
                  <a:srgbClr val="000000"/>
                </a:solidFill>
                <a:latin typeface="Courier New" panose="02070609020205020404"/>
                <a:cs typeface="Courier New" panose="02070609020205020404"/>
              </a:rPr>
              <a:t>(</a:t>
            </a:r>
            <a:r>
              <a:rPr lang="en-US" sz="1600" dirty="0">
                <a:solidFill>
                  <a:srgbClr val="9D206F"/>
                </a:solidFill>
                <a:latin typeface="Courier New" panose="02070609020205020404"/>
                <a:cs typeface="Courier New" panose="02070609020205020404"/>
              </a:rPr>
              <a:t>"parent: x=%d\n"</a:t>
            </a:r>
            <a:r>
              <a:rPr lang="en-US" sz="1600" dirty="0">
                <a:solidFill>
                  <a:srgbClr val="000000"/>
                </a:solidFill>
                <a:latin typeface="Courier New" panose="02070609020205020404"/>
                <a:cs typeface="Courier New" panose="02070609020205020404"/>
              </a:rPr>
              <a:t>, --x);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return 0;</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p:txBody>
      </p:sp>
      <p:sp>
        <p:nvSpPr>
          <p:cNvPr id="6" name="Text Box 4"/>
          <p:cNvSpPr txBox="1">
            <a:spLocks noChangeArrowheads="1"/>
          </p:cNvSpPr>
          <p:nvPr/>
        </p:nvSpPr>
        <p:spPr bwMode="auto">
          <a:xfrm>
            <a:off x="2560944" y="5638800"/>
            <a:ext cx="1782456" cy="791320"/>
          </a:xfrm>
          <a:prstGeom prst="rect">
            <a:avLst/>
          </a:prstGeom>
          <a:solidFill>
            <a:srgbClr val="E6E6E6"/>
          </a:solidFill>
          <a:ln w="3240">
            <a:solidFill>
              <a:schemeClr val="tx1"/>
            </a:solid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panose="02070609020205020404"/>
                <a:ea typeface="msgothic" charset="0"/>
                <a:cs typeface="Courier New" panose="02070609020205020404"/>
              </a:rPr>
              <a:t>linux</a:t>
            </a:r>
            <a:r>
              <a:rPr lang="en-GB" sz="1600" dirty="0">
                <a:latin typeface="Courier New" panose="02070609020205020404"/>
                <a:ea typeface="msgothic" charset="0"/>
                <a:cs typeface="Courier New" panose="02070609020205020404"/>
              </a:rPr>
              <a:t>&gt; ./fork</a:t>
            </a:r>
            <a:endParaRPr lang="en-GB" sz="1600" dirty="0">
              <a:latin typeface="Courier New" panose="02070609020205020404"/>
              <a:ea typeface="msgothic" charset="0"/>
              <a:cs typeface="Courier New" panose="02070609020205020404"/>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panose="02070609020205020404"/>
                <a:ea typeface="msgothic" charset="0"/>
                <a:cs typeface="Courier New" panose="02070609020205020404"/>
              </a:rPr>
              <a:t>parent: x=0</a:t>
            </a:r>
            <a:endParaRPr lang="en-GB" sz="1600" dirty="0">
              <a:latin typeface="Courier New" panose="02070609020205020404"/>
              <a:ea typeface="msgothic" charset="0"/>
              <a:cs typeface="Courier New" panose="02070609020205020404"/>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panose="02070609020205020404"/>
                <a:ea typeface="msgothic" charset="0"/>
                <a:cs typeface="Courier New" panose="02070609020205020404"/>
              </a:rPr>
              <a:t>child : x=2</a:t>
            </a:r>
            <a:endParaRPr lang="en-GB" sz="1600" dirty="0">
              <a:latin typeface="Courier New" panose="02070609020205020404"/>
              <a:ea typeface="msgothic" charset="0"/>
              <a:cs typeface="Courier New" panose="02070609020205020404"/>
            </a:endParaRPr>
          </a:p>
        </p:txBody>
      </p:sp>
      <p:sp>
        <p:nvSpPr>
          <p:cNvPr id="7" name="Rectangle 3"/>
          <p:cNvSpPr>
            <a:spLocks noChangeArrowheads="1"/>
          </p:cNvSpPr>
          <p:nvPr/>
        </p:nvSpPr>
        <p:spPr bwMode="auto">
          <a:xfrm>
            <a:off x="4809338" y="4930733"/>
            <a:ext cx="1008907"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8" name="Rectangle 3"/>
          <p:cNvSpPr txBox="1">
            <a:spLocks noChangeArrowheads="1"/>
          </p:cNvSpPr>
          <p:nvPr/>
        </p:nvSpPr>
        <p:spPr bwMode="auto">
          <a:xfrm>
            <a:off x="5958242" y="1358444"/>
            <a:ext cx="5699125" cy="5194756"/>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pPr algn="just"/>
            <a:r>
              <a:rPr lang="zh-CN" altLang="en-US" dirty="0">
                <a:solidFill>
                  <a:srgbClr val="FF0000"/>
                </a:solidFill>
                <a:latin typeface="仿宋" panose="02010609060101010101" pitchFamily="49" charset="-122"/>
                <a:ea typeface="仿宋" panose="02010609060101010101" pitchFamily="49" charset="-122"/>
                <a:cs typeface="仿宋" panose="02010609060101010101" pitchFamily="49" charset="-122"/>
              </a:rPr>
              <a:t>调用一次，返回两次</a:t>
            </a:r>
            <a:endParaRPr lang="en-US" dirty="0">
              <a:solidFill>
                <a:srgbClr val="FF0000"/>
              </a:solidFill>
              <a:latin typeface="仿宋" panose="02010609060101010101" pitchFamily="49" charset="-122"/>
              <a:ea typeface="仿宋" panose="02010609060101010101" pitchFamily="49" charset="-122"/>
              <a:cs typeface="仿宋" panose="02010609060101010101" pitchFamily="49" charset="-122"/>
            </a:endParaRPr>
          </a:p>
          <a:p>
            <a:pPr algn="just"/>
            <a:r>
              <a:rPr lang="zh-CN" altLang="en-US" dirty="0">
                <a:latin typeface="仿宋" panose="02010609060101010101" pitchFamily="49" charset="-122"/>
                <a:ea typeface="仿宋" panose="02010609060101010101" pitchFamily="49" charset="-122"/>
                <a:cs typeface="仿宋" panose="02010609060101010101" pitchFamily="49" charset="-122"/>
              </a:rPr>
              <a:t>并发执行</a:t>
            </a:r>
            <a:endParaRPr lang="en-US" dirty="0">
              <a:latin typeface="仿宋" panose="02010609060101010101" pitchFamily="49" charset="-122"/>
              <a:ea typeface="仿宋" panose="02010609060101010101" pitchFamily="49" charset="-122"/>
              <a:cs typeface="仿宋" panose="02010609060101010101" pitchFamily="49" charset="-122"/>
            </a:endParaRPr>
          </a:p>
          <a:p>
            <a:pPr lvl="1" algn="just"/>
            <a:r>
              <a:rPr lang="zh-CN" altLang="en-US" dirty="0">
                <a:latin typeface="仿宋" panose="02010609060101010101" pitchFamily="49" charset="-122"/>
                <a:ea typeface="仿宋" panose="02010609060101010101" pitchFamily="49" charset="-122"/>
                <a:cs typeface="仿宋" panose="02010609060101010101" pitchFamily="49" charset="-122"/>
              </a:rPr>
              <a:t>无法预测父子进程的执行顺序</a:t>
            </a:r>
            <a:endParaRPr lang="zh-CN" altLang="en-US" dirty="0">
              <a:latin typeface="仿宋" panose="02010609060101010101" pitchFamily="49" charset="-122"/>
              <a:ea typeface="仿宋" panose="02010609060101010101" pitchFamily="49" charset="-122"/>
              <a:cs typeface="仿宋" panose="02010609060101010101" pitchFamily="49" charset="-122"/>
            </a:endParaRPr>
          </a:p>
          <a:p>
            <a:pPr algn="just"/>
            <a:r>
              <a:rPr lang="zh-CN" altLang="en-US" dirty="0">
                <a:latin typeface="仿宋" panose="02010609060101010101" pitchFamily="49" charset="-122"/>
                <a:ea typeface="仿宋" panose="02010609060101010101" pitchFamily="49" charset="-122"/>
                <a:cs typeface="仿宋" panose="02010609060101010101" pitchFamily="49" charset="-122"/>
              </a:rPr>
              <a:t>两份同样但独立的地址空间</a:t>
            </a:r>
            <a:endParaRPr lang="zh-CN" altLang="en-US" dirty="0">
              <a:latin typeface="仿宋" panose="02010609060101010101" pitchFamily="49" charset="-122"/>
              <a:ea typeface="仿宋" panose="02010609060101010101" pitchFamily="49" charset="-122"/>
              <a:cs typeface="仿宋" panose="02010609060101010101" pitchFamily="49" charset="-122"/>
            </a:endParaRPr>
          </a:p>
          <a:p>
            <a:pPr lvl="1" algn="just"/>
            <a:r>
              <a:rPr lang="zh-CN" altLang="en-US" dirty="0">
                <a:latin typeface="仿宋" panose="02010609060101010101" pitchFamily="49" charset="-122"/>
                <a:ea typeface="仿宋" panose="02010609060101010101" pitchFamily="49" charset="-122"/>
                <a:cs typeface="仿宋" panose="02010609060101010101" pitchFamily="49" charset="-122"/>
              </a:rPr>
              <a:t>当</a:t>
            </a:r>
            <a:r>
              <a:rPr lang="en-US" altLang="zh-CN" dirty="0">
                <a:latin typeface="Courier New" panose="02070609020205020404" pitchFamily="49" charset="0"/>
                <a:ea typeface="仿宋" panose="02010609060101010101" pitchFamily="49" charset="-122"/>
                <a:cs typeface="Courier New" panose="02070609020205020404" pitchFamily="49" charset="0"/>
              </a:rPr>
              <a:t> fork </a:t>
            </a:r>
            <a:r>
              <a:rPr lang="zh-CN" altLang="en-US" dirty="0">
                <a:latin typeface="仿宋" panose="02010609060101010101" pitchFamily="49" charset="-122"/>
                <a:ea typeface="仿宋" panose="02010609060101010101" pitchFamily="49" charset="-122"/>
                <a:cs typeface="仿宋" panose="02010609060101010101" pitchFamily="49" charset="-122"/>
              </a:rPr>
              <a:t>返回时，</a:t>
            </a:r>
            <a:r>
              <a:rPr lang="en-US" altLang="zh-CN" dirty="0">
                <a:latin typeface="Courier New" panose="02070609020205020404" pitchFamily="49" charset="0"/>
                <a:ea typeface="仿宋" panose="02010609060101010101" pitchFamily="49" charset="-122"/>
                <a:cs typeface="Courier New" panose="02070609020205020404" pitchFamily="49" charset="0"/>
              </a:rPr>
              <a:t>x </a:t>
            </a:r>
            <a:r>
              <a:rPr lang="zh-CN" altLang="en-US" dirty="0">
                <a:latin typeface="Consolas" panose="020B0609020204030204" pitchFamily="49" charset="0"/>
                <a:ea typeface="仿宋" panose="02010609060101010101" pitchFamily="49" charset="-122"/>
                <a:cs typeface="Consolas" panose="020B0609020204030204" pitchFamily="49" charset="0"/>
              </a:rPr>
              <a:t>在</a:t>
            </a:r>
            <a:r>
              <a:rPr lang="zh-CN" altLang="en-US" dirty="0">
                <a:latin typeface="仿宋" panose="02010609060101010101" pitchFamily="49" charset="-122"/>
                <a:ea typeface="仿宋" panose="02010609060101010101" pitchFamily="49" charset="-122"/>
                <a:cs typeface="仿宋" panose="02010609060101010101" pitchFamily="49" charset="-122"/>
                <a:sym typeface="+mn-ea"/>
              </a:rPr>
              <a:t>父进程和子进程中都为</a:t>
            </a:r>
            <a:r>
              <a:rPr lang="en-US" altLang="zh-CN" dirty="0">
                <a:latin typeface="Consolas" panose="020B0609020204030204" pitchFamily="49" charset="0"/>
                <a:ea typeface="仿宋" panose="02010609060101010101" pitchFamily="49" charset="-122"/>
                <a:cs typeface="Consolas" panose="020B0609020204030204" pitchFamily="49" charset="0"/>
              </a:rPr>
              <a:t> 1</a:t>
            </a:r>
            <a:endParaRPr lang="en-US" altLang="zh-CN" dirty="0">
              <a:latin typeface="仿宋" panose="02010609060101010101" pitchFamily="49" charset="-122"/>
              <a:ea typeface="仿宋" panose="02010609060101010101" pitchFamily="49" charset="-122"/>
              <a:cs typeface="仿宋" panose="02010609060101010101" pitchFamily="49" charset="-122"/>
            </a:endParaRPr>
          </a:p>
          <a:p>
            <a:pPr lvl="1" algn="just"/>
            <a:r>
              <a:rPr lang="zh-CN" altLang="en-US" dirty="0">
                <a:latin typeface="仿宋" panose="02010609060101010101" pitchFamily="49" charset="-122"/>
                <a:ea typeface="仿宋" panose="02010609060101010101" pitchFamily="49" charset="-122"/>
                <a:cs typeface="仿宋" panose="02010609060101010101" pitchFamily="49" charset="-122"/>
              </a:rPr>
              <a:t>对</a:t>
            </a:r>
            <a:r>
              <a:rPr lang="en-US" altLang="zh-CN" dirty="0">
                <a:latin typeface="Courier New" panose="02070609020205020404" pitchFamily="49" charset="0"/>
                <a:ea typeface="仿宋" panose="02010609060101010101" pitchFamily="49" charset="-122"/>
                <a:cs typeface="Courier New" panose="02070609020205020404" pitchFamily="49" charset="0"/>
              </a:rPr>
              <a:t> x </a:t>
            </a:r>
            <a:r>
              <a:rPr lang="zh-CN" altLang="en-US" dirty="0">
                <a:latin typeface="仿宋" panose="02010609060101010101" pitchFamily="49" charset="-122"/>
                <a:ea typeface="仿宋" panose="02010609060101010101" pitchFamily="49" charset="-122"/>
                <a:cs typeface="仿宋" panose="02010609060101010101" pitchFamily="49" charset="-122"/>
              </a:rPr>
              <a:t>的后续更改是独立的</a:t>
            </a:r>
            <a:endParaRPr lang="zh-CN" altLang="en-US" dirty="0">
              <a:latin typeface="仿宋" panose="02010609060101010101" pitchFamily="49" charset="-122"/>
              <a:ea typeface="仿宋" panose="02010609060101010101" pitchFamily="49" charset="-122"/>
              <a:cs typeface="仿宋" panose="02010609060101010101" pitchFamily="49" charset="-122"/>
            </a:endParaRPr>
          </a:p>
          <a:p>
            <a:pPr algn="just"/>
            <a:r>
              <a:rPr lang="zh-CN" altLang="en-US" dirty="0">
                <a:latin typeface="仿宋" panose="02010609060101010101" pitchFamily="49" charset="-122"/>
                <a:ea typeface="仿宋" panose="02010609060101010101" pitchFamily="49" charset="-122"/>
                <a:cs typeface="仿宋" panose="02010609060101010101" pitchFamily="49" charset="-122"/>
              </a:rPr>
              <a:t>共享文件</a:t>
            </a:r>
            <a:endParaRPr lang="en-US" dirty="0">
              <a:latin typeface="仿宋" panose="02010609060101010101" pitchFamily="49" charset="-122"/>
              <a:ea typeface="仿宋" panose="02010609060101010101" pitchFamily="49" charset="-122"/>
              <a:cs typeface="仿宋" panose="02010609060101010101" pitchFamily="49" charset="-122"/>
            </a:endParaRPr>
          </a:p>
          <a:p>
            <a:pPr lvl="1" algn="just"/>
            <a:r>
              <a:rPr lang="en-US" dirty="0" err="1">
                <a:latin typeface="Courier New" panose="02070609020205020404" pitchFamily="49" charset="0"/>
                <a:ea typeface="仿宋" panose="02010609060101010101" pitchFamily="49" charset="-122"/>
                <a:cs typeface="Courier New" panose="02070609020205020404" pitchFamily="49" charset="0"/>
              </a:rPr>
              <a:t>stdout</a:t>
            </a:r>
            <a:r>
              <a:rPr lang="en-US" dirty="0">
                <a:latin typeface="Courier New" panose="02070609020205020404" pitchFamily="49" charset="0"/>
                <a:ea typeface="仿宋" panose="02010609060101010101" pitchFamily="49" charset="-122"/>
                <a:cs typeface="Courier New" panose="02070609020205020404" pitchFamily="49" charset="0"/>
              </a:rPr>
              <a:t> </a:t>
            </a:r>
            <a:r>
              <a:rPr lang="zh-CN" altLang="en-US" dirty="0">
                <a:latin typeface="仿宋" panose="02010609060101010101" pitchFamily="49" charset="-122"/>
                <a:ea typeface="仿宋" panose="02010609060101010101" pitchFamily="49" charset="-122"/>
                <a:cs typeface="仿宋" panose="02010609060101010101" pitchFamily="49" charset="-122"/>
              </a:rPr>
              <a:t>在父进程和子进程中都是一样的</a:t>
            </a:r>
            <a:endParaRPr lang="zh-CN" altLang="en-US" dirty="0">
              <a:latin typeface="仿宋" panose="02010609060101010101" pitchFamily="49" charset="-122"/>
              <a:ea typeface="仿宋" panose="02010609060101010101" pitchFamily="49" charset="-122"/>
              <a:cs typeface="仿宋" panose="02010609060101010101" pitchFamily="49" charset="-122"/>
            </a:endParaRPr>
          </a:p>
        </p:txBody>
      </p:sp>
      <p:sp>
        <p:nvSpPr>
          <p:cNvPr id="2" name="Title 1"/>
          <p:cNvSpPr>
            <a:spLocks noGrp="1"/>
          </p:cNvSpPr>
          <p:nvPr/>
        </p:nvSpPr>
        <p:spPr>
          <a:xfrm>
            <a:off x="476025" y="435678"/>
            <a:ext cx="10122791"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a:lstStyle>
          <a:p>
            <a:r>
              <a:rPr lang="en-US" kern="0" dirty="0">
                <a:latin typeface="Courier New" panose="02070609020205020404"/>
                <a:cs typeface="Courier New" panose="02070609020205020404"/>
              </a:rPr>
              <a:t>fork </a:t>
            </a:r>
            <a:r>
              <a:rPr lang="zh-CN" altLang="en-US"/>
              <a:t>示例</a:t>
            </a:r>
            <a:r>
              <a:rPr lang="en-US" altLang="zh-CN"/>
              <a:t>1</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fork</a:t>
            </a:r>
            <a:r>
              <a:rPr lang="zh-CN" altLang="en-US"/>
              <a:t>调用一次</a:t>
            </a:r>
            <a:r>
              <a:rPr lang="en-US" altLang="zh-CN"/>
              <a:t>，</a:t>
            </a:r>
            <a:r>
              <a:rPr lang="zh-CN" altLang="en-US"/>
              <a:t>返回</a:t>
            </a:r>
            <a:r>
              <a:rPr lang="zh-CN" altLang="en-US"/>
              <a:t>两次</a:t>
            </a:r>
            <a:endParaRPr lang="zh-CN" altLang="en-US"/>
          </a:p>
        </p:txBody>
      </p:sp>
      <p:sp>
        <p:nvSpPr>
          <p:cNvPr id="3" name="Content Placeholder 2"/>
          <p:cNvSpPr>
            <a:spLocks noGrp="1"/>
          </p:cNvSpPr>
          <p:nvPr>
            <p:ph idx="1"/>
          </p:nvPr>
        </p:nvSpPr>
        <p:spPr/>
        <p:txBody>
          <a:bodyPr/>
          <a:p>
            <a:r>
              <a:rPr lang="en-US"/>
              <a:t>fork</a:t>
            </a:r>
            <a:r>
              <a:rPr lang="zh-CN" altLang="en-US"/>
              <a:t>系统调用时</a:t>
            </a:r>
            <a:r>
              <a:rPr lang="en-US" altLang="zh-CN"/>
              <a:t>，</a:t>
            </a:r>
            <a:r>
              <a:rPr lang="zh-CN" altLang="en-US"/>
              <a:t>内核创建执行状态的完整</a:t>
            </a:r>
            <a:r>
              <a:rPr lang="zh-CN" altLang="en-US"/>
              <a:t>备份</a:t>
            </a:r>
            <a:endParaRPr lang="zh-CN" altLang="en-US"/>
          </a:p>
          <a:p>
            <a:pPr lvl="1"/>
            <a:r>
              <a:rPr lang="zh-CN" altLang="en-US"/>
              <a:t>两个备份独立维护自己的</a:t>
            </a:r>
            <a:r>
              <a:rPr lang="en-US" altLang="zh-CN"/>
              <a:t>PC</a:t>
            </a:r>
            <a:r>
              <a:rPr lang="zh-CN" altLang="en-US"/>
              <a:t>寄存器值</a:t>
            </a:r>
            <a:r>
              <a:rPr lang="en-US" altLang="zh-CN"/>
              <a:t>、</a:t>
            </a:r>
            <a:r>
              <a:rPr lang="zh-CN" altLang="en-US"/>
              <a:t>代码</a:t>
            </a:r>
            <a:r>
              <a:rPr lang="zh-CN" altLang="en-US"/>
              <a:t>块</a:t>
            </a:r>
            <a:endParaRPr lang="zh-CN" altLang="en-US"/>
          </a:p>
          <a:p>
            <a:pPr lvl="1"/>
            <a:r>
              <a:rPr lang="zh-CN" altLang="en-US"/>
              <a:t>因此</a:t>
            </a:r>
            <a:r>
              <a:rPr lang="en-US" altLang="zh-CN"/>
              <a:t>，</a:t>
            </a:r>
            <a:r>
              <a:rPr lang="zh-CN" altLang="en-US">
                <a:sym typeface="+mn-ea"/>
              </a:rPr>
              <a:t>当</a:t>
            </a:r>
            <a:r>
              <a:rPr lang="en-US" altLang="zh-CN">
                <a:sym typeface="+mn-ea"/>
              </a:rPr>
              <a:t>syscall</a:t>
            </a:r>
            <a:r>
              <a:rPr lang="zh-CN" altLang="en-US">
                <a:sym typeface="+mn-ea"/>
              </a:rPr>
              <a:t>返回用户空间时</a:t>
            </a:r>
            <a:r>
              <a:rPr lang="en-US" altLang="zh-CN">
                <a:sym typeface="+mn-ea"/>
              </a:rPr>
              <a:t>，</a:t>
            </a:r>
            <a:r>
              <a:rPr lang="zh-CN" altLang="en-US">
                <a:sym typeface="+mn-ea"/>
              </a:rPr>
              <a:t>这两个进程的后续指令会继续</a:t>
            </a:r>
            <a:r>
              <a:rPr lang="zh-CN" altLang="en-US">
                <a:sym typeface="+mn-ea"/>
              </a:rPr>
              <a:t>执行</a:t>
            </a:r>
            <a:endParaRPr lang="zh-CN" altLang="en-US">
              <a:sym typeface="+mn-ea"/>
            </a:endParaRPr>
          </a:p>
        </p:txBody>
      </p:sp>
      <p:sp>
        <p:nvSpPr>
          <p:cNvPr id="490499" name="Text Box 3"/>
          <p:cNvSpPr txBox="1">
            <a:spLocks noChangeArrowheads="1"/>
          </p:cNvSpPr>
          <p:nvPr/>
        </p:nvSpPr>
        <p:spPr bwMode="auto">
          <a:xfrm>
            <a:off x="685776" y="2514813"/>
            <a:ext cx="4998484" cy="3785652"/>
          </a:xfrm>
          <a:prstGeom prst="rect">
            <a:avLst/>
          </a:prstGeom>
          <a:solidFill>
            <a:srgbClr val="F6F5BD"/>
          </a:solidFill>
          <a:ln w="3175">
            <a:solidFill>
              <a:schemeClr val="tx1"/>
            </a:solidFill>
            <a:miter lim="800000"/>
          </a:ln>
          <a:effectLst/>
        </p:spPr>
        <p:txBody>
          <a:bodyPr wrap="none">
            <a:spAutoFit/>
          </a:bodyPr>
          <a:lstStyle/>
          <a:p>
            <a:r>
              <a:rPr lang="en-US" sz="1600" dirty="0">
                <a:solidFill>
                  <a:srgbClr val="2D961E"/>
                </a:solidFill>
                <a:latin typeface="Courier New" panose="02070609020205020404"/>
                <a:cs typeface="Courier New" panose="02070609020205020404"/>
              </a:rPr>
              <a:t>int</a:t>
            </a:r>
            <a:r>
              <a:rPr lang="en-US" sz="1600" dirty="0">
                <a:solidFill>
                  <a:srgbClr val="000000"/>
                </a:solidFill>
                <a:latin typeface="Courier New" panose="02070609020205020404"/>
                <a:cs typeface="Courier New" panose="02070609020205020404"/>
              </a:rPr>
              <a:t> </a:t>
            </a:r>
            <a:r>
              <a:rPr lang="en-US" sz="1600" dirty="0">
                <a:solidFill>
                  <a:srgbClr val="4A00FF"/>
                </a:solidFill>
                <a:latin typeface="Courier New" panose="02070609020205020404"/>
                <a:cs typeface="Courier New" panose="02070609020205020404"/>
              </a:rPr>
              <a:t>main</a:t>
            </a:r>
            <a:r>
              <a:rPr lang="en-US" sz="1600" dirty="0">
                <a:solidFill>
                  <a:srgbClr val="000000"/>
                </a:solidFill>
                <a:latin typeface="Courier New" panose="02070609020205020404"/>
                <a:cs typeface="Courier New" panose="02070609020205020404"/>
              </a:rPr>
              <a:t>(int </a:t>
            </a:r>
            <a:r>
              <a:rPr lang="en-US" sz="1600" dirty="0" err="1">
                <a:solidFill>
                  <a:srgbClr val="000000"/>
                </a:solidFill>
                <a:latin typeface="Courier New" panose="02070609020205020404"/>
                <a:cs typeface="Courier New" panose="02070609020205020404"/>
              </a:rPr>
              <a:t>argc</a:t>
            </a:r>
            <a:r>
              <a:rPr lang="en-US" sz="1600" dirty="0">
                <a:solidFill>
                  <a:srgbClr val="000000"/>
                </a:solidFill>
                <a:latin typeface="Courier New" panose="02070609020205020404"/>
                <a:cs typeface="Courier New" panose="02070609020205020404"/>
              </a:rPr>
              <a:t>, char** </a:t>
            </a:r>
            <a:r>
              <a:rPr lang="en-US" sz="1600" dirty="0" err="1">
                <a:solidFill>
                  <a:srgbClr val="000000"/>
                </a:solidFill>
                <a:latin typeface="Courier New" panose="02070609020205020404"/>
                <a:cs typeface="Courier New" panose="02070609020205020404"/>
              </a:rPr>
              <a:t>argv</a:t>
            </a:r>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a:p>
            <a:r>
              <a:rPr lang="fi-FI" sz="1600" dirty="0">
                <a:solidFill>
                  <a:srgbClr val="000000"/>
                </a:solidFill>
                <a:latin typeface="Courier New" panose="02070609020205020404"/>
                <a:cs typeface="Courier New" panose="02070609020205020404"/>
              </a:rPr>
              <a:t>    </a:t>
            </a:r>
            <a:r>
              <a:rPr lang="fi-FI" sz="1600" dirty="0" err="1">
                <a:solidFill>
                  <a:srgbClr val="2D961E"/>
                </a:solidFill>
                <a:latin typeface="Courier New" panose="02070609020205020404"/>
                <a:cs typeface="Courier New" panose="02070609020205020404"/>
              </a:rPr>
              <a:t>pid_t</a:t>
            </a:r>
            <a:r>
              <a:rPr lang="fi-FI" sz="1600" dirty="0">
                <a:solidFill>
                  <a:srgbClr val="000000"/>
                </a:solidFill>
                <a:latin typeface="Courier New" panose="02070609020205020404"/>
                <a:cs typeface="Courier New" panose="02070609020205020404"/>
              </a:rPr>
              <a:t> </a:t>
            </a:r>
            <a:r>
              <a:rPr lang="fi-FI" sz="1600" dirty="0" err="1">
                <a:solidFill>
                  <a:srgbClr val="C1651C"/>
                </a:solidFill>
                <a:latin typeface="Courier New" panose="02070609020205020404"/>
                <a:cs typeface="Courier New" panose="02070609020205020404"/>
              </a:rPr>
              <a:t>pid</a:t>
            </a:r>
            <a:r>
              <a:rPr lang="fi-FI" sz="1600" dirty="0">
                <a:solidFill>
                  <a:srgbClr val="000000"/>
                </a:solidFill>
                <a:latin typeface="Courier New" panose="02070609020205020404"/>
                <a:cs typeface="Courier New" panose="02070609020205020404"/>
              </a:rPr>
              <a:t>;</a:t>
            </a:r>
            <a:endParaRPr lang="fi-FI" sz="1600" dirty="0">
              <a:solidFill>
                <a:srgbClr val="000000"/>
              </a:solidFill>
              <a:latin typeface="Courier New" panose="02070609020205020404"/>
              <a:cs typeface="Courier New" panose="02070609020205020404"/>
            </a:endParaRPr>
          </a:p>
          <a:p>
            <a:r>
              <a:rPr lang="fr-FR" sz="1600" dirty="0">
                <a:solidFill>
                  <a:srgbClr val="000000"/>
                </a:solidFill>
                <a:latin typeface="Courier New" panose="02070609020205020404"/>
                <a:cs typeface="Courier New" panose="02070609020205020404"/>
              </a:rPr>
              <a:t>    </a:t>
            </a:r>
            <a:r>
              <a:rPr lang="fr-FR" sz="1600" dirty="0" err="1">
                <a:solidFill>
                  <a:srgbClr val="2D961E"/>
                </a:solidFill>
                <a:latin typeface="Courier New" panose="02070609020205020404"/>
                <a:cs typeface="Courier New" panose="02070609020205020404"/>
              </a:rPr>
              <a:t>int</a:t>
            </a:r>
            <a:r>
              <a:rPr lang="fr-FR" sz="1600" dirty="0">
                <a:solidFill>
                  <a:srgbClr val="000000"/>
                </a:solidFill>
                <a:latin typeface="Courier New" panose="02070609020205020404"/>
                <a:cs typeface="Courier New" panose="02070609020205020404"/>
              </a:rPr>
              <a:t> </a:t>
            </a:r>
            <a:r>
              <a:rPr lang="fr-FR" sz="1600" dirty="0">
                <a:solidFill>
                  <a:srgbClr val="C1651C"/>
                </a:solidFill>
                <a:latin typeface="Courier New" panose="02070609020205020404"/>
                <a:cs typeface="Courier New" panose="02070609020205020404"/>
              </a:rPr>
              <a:t>x</a:t>
            </a:r>
            <a:r>
              <a:rPr lang="fr-FR" sz="1600" dirty="0">
                <a:solidFill>
                  <a:srgbClr val="000000"/>
                </a:solidFill>
                <a:latin typeface="Courier New" panose="02070609020205020404"/>
                <a:cs typeface="Courier New" panose="02070609020205020404"/>
              </a:rPr>
              <a:t> = 1;</a:t>
            </a:r>
            <a:endParaRPr lang="fr-FR" sz="1600" dirty="0">
              <a:solidFill>
                <a:srgbClr val="000000"/>
              </a:solidFill>
              <a:latin typeface="Courier New" panose="02070609020205020404"/>
              <a:cs typeface="Courier New" panose="02070609020205020404"/>
            </a:endParaRPr>
          </a:p>
          <a:p>
            <a:endParaRPr lang="fr-FR" sz="1600" dirty="0">
              <a:solidFill>
                <a:srgbClr val="000000"/>
              </a:solidFill>
              <a:latin typeface="Courier New" panose="02070609020205020404"/>
              <a:cs typeface="Courier New" panose="02070609020205020404"/>
            </a:endParaRPr>
          </a:p>
          <a:p>
            <a:r>
              <a:rPr lang="fi-FI" sz="1600" dirty="0">
                <a:solidFill>
                  <a:srgbClr val="000000"/>
                </a:solidFill>
                <a:latin typeface="Courier New" panose="02070609020205020404"/>
                <a:cs typeface="Courier New" panose="02070609020205020404"/>
              </a:rPr>
              <a:t>    </a:t>
            </a:r>
            <a:r>
              <a:rPr lang="fi-FI" sz="1600" dirty="0" err="1">
                <a:solidFill>
                  <a:srgbClr val="000000"/>
                </a:solidFill>
                <a:latin typeface="Courier New" panose="02070609020205020404"/>
                <a:cs typeface="Courier New" panose="02070609020205020404"/>
              </a:rPr>
              <a:t>pid</a:t>
            </a:r>
            <a:r>
              <a:rPr lang="fi-FI" sz="1600" dirty="0">
                <a:solidFill>
                  <a:srgbClr val="000000"/>
                </a:solidFill>
                <a:latin typeface="Courier New" panose="02070609020205020404"/>
                <a:cs typeface="Courier New" panose="02070609020205020404"/>
              </a:rPr>
              <a:t> = </a:t>
            </a:r>
            <a:r>
              <a:rPr lang="fi-FI" sz="1600" dirty="0" err="1">
                <a:solidFill>
                  <a:srgbClr val="000000"/>
                </a:solidFill>
                <a:latin typeface="Courier New" panose="02070609020205020404"/>
                <a:cs typeface="Courier New" panose="02070609020205020404"/>
              </a:rPr>
              <a:t>Fork</a:t>
            </a:r>
            <a:r>
              <a:rPr lang="fi-FI" sz="1600" dirty="0">
                <a:solidFill>
                  <a:srgbClr val="000000"/>
                </a:solidFill>
                <a:latin typeface="Courier New" panose="02070609020205020404"/>
                <a:cs typeface="Courier New" panose="02070609020205020404"/>
              </a:rPr>
              <a:t>(); </a:t>
            </a:r>
            <a:endParaRPr lang="fi-FI"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a:solidFill>
                  <a:srgbClr val="C200FF"/>
                </a:solidFill>
                <a:latin typeface="Courier New" panose="02070609020205020404"/>
                <a:cs typeface="Courier New" panose="02070609020205020404"/>
              </a:rPr>
              <a:t>if</a:t>
            </a:r>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pid</a:t>
            </a:r>
            <a:r>
              <a:rPr lang="en-US" sz="1600" dirty="0">
                <a:solidFill>
                  <a:srgbClr val="000000"/>
                </a:solidFill>
                <a:latin typeface="Courier New" panose="02070609020205020404"/>
                <a:cs typeface="Courier New" panose="02070609020205020404"/>
              </a:rPr>
              <a:t> == 0) {  </a:t>
            </a:r>
            <a:r>
              <a:rPr lang="en-US" sz="1600" dirty="0">
                <a:solidFill>
                  <a:srgbClr val="CB2418"/>
                </a:solidFill>
                <a:latin typeface="Courier New" panose="02070609020205020404"/>
                <a:cs typeface="Courier New" panose="02070609020205020404"/>
              </a:rPr>
              <a:t>/* Child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printf</a:t>
            </a:r>
            <a:r>
              <a:rPr lang="en-US" sz="1600" dirty="0">
                <a:solidFill>
                  <a:srgbClr val="000000"/>
                </a:solidFill>
                <a:latin typeface="Courier New" panose="02070609020205020404"/>
                <a:cs typeface="Courier New" panose="02070609020205020404"/>
              </a:rPr>
              <a:t>(</a:t>
            </a:r>
            <a:r>
              <a:rPr lang="en-US" sz="1600" dirty="0">
                <a:solidFill>
                  <a:srgbClr val="9D206F"/>
                </a:solidFill>
                <a:latin typeface="Courier New" panose="02070609020205020404"/>
                <a:cs typeface="Courier New" panose="02070609020205020404"/>
              </a:rPr>
              <a:t>"child : x=%d\n"</a:t>
            </a:r>
            <a:r>
              <a:rPr lang="en-US" sz="1600" dirty="0">
                <a:solidFill>
                  <a:srgbClr val="000000"/>
                </a:solidFill>
                <a:latin typeface="Courier New" panose="02070609020205020404"/>
                <a:cs typeface="Courier New" panose="02070609020205020404"/>
              </a:rPr>
              <a:t>, ++x);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return 0;</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endParaRPr lang="en-US" sz="1600" dirty="0">
              <a:solidFill>
                <a:srgbClr val="000000"/>
              </a:solidFill>
              <a:latin typeface="Courier New" panose="02070609020205020404"/>
              <a:cs typeface="Courier New" panose="02070609020205020404"/>
            </a:endParaRPr>
          </a:p>
          <a:p>
            <a:endParaRPr lang="en-US" sz="1600" dirty="0">
              <a:solidFill>
                <a:srgbClr val="000000"/>
              </a:solidFill>
              <a:latin typeface="Courier New" panose="02070609020205020404"/>
              <a:cs typeface="Courier New" panose="02070609020205020404"/>
            </a:endParaRPr>
          </a:p>
          <a:p>
            <a:r>
              <a:rPr lang="fr-FR" sz="1600" dirty="0">
                <a:solidFill>
                  <a:srgbClr val="000000"/>
                </a:solidFill>
                <a:latin typeface="Courier New" panose="02070609020205020404"/>
                <a:cs typeface="Courier New" panose="02070609020205020404"/>
              </a:rPr>
              <a:t>    </a:t>
            </a:r>
            <a:r>
              <a:rPr lang="fr-FR" sz="1600" dirty="0">
                <a:solidFill>
                  <a:srgbClr val="CB2418"/>
                </a:solidFill>
                <a:latin typeface="Courier New" panose="02070609020205020404"/>
                <a:cs typeface="Courier New" panose="02070609020205020404"/>
              </a:rPr>
              <a:t>/* Parent */</a:t>
            </a:r>
            <a:endParaRPr lang="fr-FR"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printf</a:t>
            </a:r>
            <a:r>
              <a:rPr lang="en-US" sz="1600" dirty="0">
                <a:solidFill>
                  <a:srgbClr val="000000"/>
                </a:solidFill>
                <a:latin typeface="Courier New" panose="02070609020205020404"/>
                <a:cs typeface="Courier New" panose="02070609020205020404"/>
              </a:rPr>
              <a:t>(</a:t>
            </a:r>
            <a:r>
              <a:rPr lang="en-US" sz="1600" dirty="0">
                <a:solidFill>
                  <a:srgbClr val="9D206F"/>
                </a:solidFill>
                <a:latin typeface="Courier New" panose="02070609020205020404"/>
                <a:cs typeface="Courier New" panose="02070609020205020404"/>
              </a:rPr>
              <a:t>"parent: x=%d\n"</a:t>
            </a:r>
            <a:r>
              <a:rPr lang="en-US" sz="1600" dirty="0">
                <a:solidFill>
                  <a:srgbClr val="000000"/>
                </a:solidFill>
                <a:latin typeface="Courier New" panose="02070609020205020404"/>
                <a:cs typeface="Courier New" panose="02070609020205020404"/>
              </a:rPr>
              <a:t>, --x);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return 0;</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p:txBody>
      </p:sp>
      <p:sp>
        <p:nvSpPr>
          <p:cNvPr id="4" name="Text Box 3"/>
          <p:cNvSpPr txBox="1">
            <a:spLocks noChangeArrowheads="1"/>
          </p:cNvSpPr>
          <p:nvPr/>
        </p:nvSpPr>
        <p:spPr bwMode="auto">
          <a:xfrm>
            <a:off x="6172176" y="2514813"/>
            <a:ext cx="4998484" cy="3785652"/>
          </a:xfrm>
          <a:prstGeom prst="rect">
            <a:avLst/>
          </a:prstGeom>
          <a:solidFill>
            <a:srgbClr val="F6F5BD"/>
          </a:solidFill>
          <a:ln w="3175">
            <a:solidFill>
              <a:schemeClr val="tx1"/>
            </a:solidFill>
            <a:miter lim="800000"/>
          </a:ln>
          <a:effectLst/>
        </p:spPr>
        <p:txBody>
          <a:bodyPr wrap="none">
            <a:spAutoFit/>
          </a:bodyPr>
          <a:lstStyle/>
          <a:p>
            <a:r>
              <a:rPr lang="en-US" sz="1600" dirty="0">
                <a:solidFill>
                  <a:srgbClr val="2D961E"/>
                </a:solidFill>
                <a:latin typeface="Courier New" panose="02070609020205020404"/>
                <a:cs typeface="Courier New" panose="02070609020205020404"/>
              </a:rPr>
              <a:t>int</a:t>
            </a:r>
            <a:r>
              <a:rPr lang="en-US" sz="1600" dirty="0">
                <a:solidFill>
                  <a:srgbClr val="000000"/>
                </a:solidFill>
                <a:latin typeface="Courier New" panose="02070609020205020404"/>
                <a:cs typeface="Courier New" panose="02070609020205020404"/>
              </a:rPr>
              <a:t> </a:t>
            </a:r>
            <a:r>
              <a:rPr lang="en-US" sz="1600" dirty="0">
                <a:solidFill>
                  <a:srgbClr val="4A00FF"/>
                </a:solidFill>
                <a:latin typeface="Courier New" panose="02070609020205020404"/>
                <a:cs typeface="Courier New" panose="02070609020205020404"/>
              </a:rPr>
              <a:t>main</a:t>
            </a:r>
            <a:r>
              <a:rPr lang="en-US" sz="1600" dirty="0">
                <a:solidFill>
                  <a:srgbClr val="000000"/>
                </a:solidFill>
                <a:latin typeface="Courier New" panose="02070609020205020404"/>
                <a:cs typeface="Courier New" panose="02070609020205020404"/>
              </a:rPr>
              <a:t>(int </a:t>
            </a:r>
            <a:r>
              <a:rPr lang="en-US" sz="1600" dirty="0" err="1">
                <a:solidFill>
                  <a:srgbClr val="000000"/>
                </a:solidFill>
                <a:latin typeface="Courier New" panose="02070609020205020404"/>
                <a:cs typeface="Courier New" panose="02070609020205020404"/>
              </a:rPr>
              <a:t>argc</a:t>
            </a:r>
            <a:r>
              <a:rPr lang="en-US" sz="1600" dirty="0">
                <a:solidFill>
                  <a:srgbClr val="000000"/>
                </a:solidFill>
                <a:latin typeface="Courier New" panose="02070609020205020404"/>
                <a:cs typeface="Courier New" panose="02070609020205020404"/>
              </a:rPr>
              <a:t>, char** </a:t>
            </a:r>
            <a:r>
              <a:rPr lang="en-US" sz="1600" dirty="0" err="1">
                <a:solidFill>
                  <a:srgbClr val="000000"/>
                </a:solidFill>
                <a:latin typeface="Courier New" panose="02070609020205020404"/>
                <a:cs typeface="Courier New" panose="02070609020205020404"/>
              </a:rPr>
              <a:t>argv</a:t>
            </a:r>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a:p>
            <a:r>
              <a:rPr lang="fi-FI" sz="1600" dirty="0">
                <a:solidFill>
                  <a:srgbClr val="000000"/>
                </a:solidFill>
                <a:latin typeface="Courier New" panose="02070609020205020404"/>
                <a:cs typeface="Courier New" panose="02070609020205020404"/>
              </a:rPr>
              <a:t>    </a:t>
            </a:r>
            <a:r>
              <a:rPr lang="fi-FI" sz="1600" dirty="0" err="1">
                <a:solidFill>
                  <a:srgbClr val="2D961E"/>
                </a:solidFill>
                <a:latin typeface="Courier New" panose="02070609020205020404"/>
                <a:cs typeface="Courier New" panose="02070609020205020404"/>
              </a:rPr>
              <a:t>pid_t</a:t>
            </a:r>
            <a:r>
              <a:rPr lang="fi-FI" sz="1600" dirty="0">
                <a:solidFill>
                  <a:srgbClr val="000000"/>
                </a:solidFill>
                <a:latin typeface="Courier New" panose="02070609020205020404"/>
                <a:cs typeface="Courier New" panose="02070609020205020404"/>
              </a:rPr>
              <a:t> </a:t>
            </a:r>
            <a:r>
              <a:rPr lang="fi-FI" sz="1600" dirty="0" err="1">
                <a:solidFill>
                  <a:srgbClr val="C1651C"/>
                </a:solidFill>
                <a:latin typeface="Courier New" panose="02070609020205020404"/>
                <a:cs typeface="Courier New" panose="02070609020205020404"/>
              </a:rPr>
              <a:t>pid</a:t>
            </a:r>
            <a:r>
              <a:rPr lang="fi-FI" sz="1600" dirty="0">
                <a:solidFill>
                  <a:srgbClr val="000000"/>
                </a:solidFill>
                <a:latin typeface="Courier New" panose="02070609020205020404"/>
                <a:cs typeface="Courier New" panose="02070609020205020404"/>
              </a:rPr>
              <a:t>;</a:t>
            </a:r>
            <a:endParaRPr lang="fi-FI" sz="1600" dirty="0">
              <a:solidFill>
                <a:srgbClr val="000000"/>
              </a:solidFill>
              <a:latin typeface="Courier New" panose="02070609020205020404"/>
              <a:cs typeface="Courier New" panose="02070609020205020404"/>
            </a:endParaRPr>
          </a:p>
          <a:p>
            <a:r>
              <a:rPr lang="fr-FR" sz="1600" dirty="0">
                <a:solidFill>
                  <a:srgbClr val="000000"/>
                </a:solidFill>
                <a:latin typeface="Courier New" panose="02070609020205020404"/>
                <a:cs typeface="Courier New" panose="02070609020205020404"/>
              </a:rPr>
              <a:t>    </a:t>
            </a:r>
            <a:r>
              <a:rPr lang="fr-FR" sz="1600" dirty="0" err="1">
                <a:solidFill>
                  <a:srgbClr val="2D961E"/>
                </a:solidFill>
                <a:latin typeface="Courier New" panose="02070609020205020404"/>
                <a:cs typeface="Courier New" panose="02070609020205020404"/>
              </a:rPr>
              <a:t>int</a:t>
            </a:r>
            <a:r>
              <a:rPr lang="fr-FR" sz="1600" dirty="0">
                <a:solidFill>
                  <a:srgbClr val="000000"/>
                </a:solidFill>
                <a:latin typeface="Courier New" panose="02070609020205020404"/>
                <a:cs typeface="Courier New" panose="02070609020205020404"/>
              </a:rPr>
              <a:t> </a:t>
            </a:r>
            <a:r>
              <a:rPr lang="fr-FR" sz="1600" dirty="0">
                <a:solidFill>
                  <a:srgbClr val="C1651C"/>
                </a:solidFill>
                <a:latin typeface="Courier New" panose="02070609020205020404"/>
                <a:cs typeface="Courier New" panose="02070609020205020404"/>
              </a:rPr>
              <a:t>x</a:t>
            </a:r>
            <a:r>
              <a:rPr lang="fr-FR" sz="1600" dirty="0">
                <a:solidFill>
                  <a:srgbClr val="000000"/>
                </a:solidFill>
                <a:latin typeface="Courier New" panose="02070609020205020404"/>
                <a:cs typeface="Courier New" panose="02070609020205020404"/>
              </a:rPr>
              <a:t> = 1;</a:t>
            </a:r>
            <a:endParaRPr lang="fr-FR" sz="1600" dirty="0">
              <a:solidFill>
                <a:srgbClr val="000000"/>
              </a:solidFill>
              <a:latin typeface="Courier New" panose="02070609020205020404"/>
              <a:cs typeface="Courier New" panose="02070609020205020404"/>
            </a:endParaRPr>
          </a:p>
          <a:p>
            <a:endParaRPr lang="fr-FR" sz="1600" dirty="0">
              <a:solidFill>
                <a:srgbClr val="000000"/>
              </a:solidFill>
              <a:latin typeface="Courier New" panose="02070609020205020404"/>
              <a:cs typeface="Courier New" panose="02070609020205020404"/>
            </a:endParaRPr>
          </a:p>
          <a:p>
            <a:r>
              <a:rPr lang="fi-FI" sz="1600" dirty="0">
                <a:solidFill>
                  <a:srgbClr val="000000"/>
                </a:solidFill>
                <a:latin typeface="Courier New" panose="02070609020205020404"/>
                <a:cs typeface="Courier New" panose="02070609020205020404"/>
              </a:rPr>
              <a:t>    </a:t>
            </a:r>
            <a:r>
              <a:rPr lang="fi-FI" sz="1600" dirty="0" err="1">
                <a:solidFill>
                  <a:srgbClr val="000000"/>
                </a:solidFill>
                <a:latin typeface="Courier New" panose="02070609020205020404"/>
                <a:cs typeface="Courier New" panose="02070609020205020404"/>
              </a:rPr>
              <a:t>pid</a:t>
            </a:r>
            <a:r>
              <a:rPr lang="fi-FI" sz="1600" dirty="0">
                <a:solidFill>
                  <a:srgbClr val="000000"/>
                </a:solidFill>
                <a:latin typeface="Courier New" panose="02070609020205020404"/>
                <a:cs typeface="Courier New" panose="02070609020205020404"/>
              </a:rPr>
              <a:t> = </a:t>
            </a:r>
            <a:r>
              <a:rPr lang="fi-FI" sz="1600" dirty="0" err="1">
                <a:solidFill>
                  <a:srgbClr val="000000"/>
                </a:solidFill>
                <a:latin typeface="Courier New" panose="02070609020205020404"/>
                <a:cs typeface="Courier New" panose="02070609020205020404"/>
              </a:rPr>
              <a:t>Fork</a:t>
            </a:r>
            <a:r>
              <a:rPr lang="fi-FI" sz="1600" dirty="0">
                <a:solidFill>
                  <a:srgbClr val="000000"/>
                </a:solidFill>
                <a:latin typeface="Courier New" panose="02070609020205020404"/>
                <a:cs typeface="Courier New" panose="02070609020205020404"/>
              </a:rPr>
              <a:t>(); </a:t>
            </a:r>
            <a:endParaRPr lang="fi-FI"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a:solidFill>
                  <a:srgbClr val="C200FF"/>
                </a:solidFill>
                <a:latin typeface="Courier New" panose="02070609020205020404"/>
                <a:cs typeface="Courier New" panose="02070609020205020404"/>
              </a:rPr>
              <a:t>if</a:t>
            </a:r>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pid</a:t>
            </a:r>
            <a:r>
              <a:rPr lang="en-US" sz="1600" dirty="0">
                <a:solidFill>
                  <a:srgbClr val="000000"/>
                </a:solidFill>
                <a:latin typeface="Courier New" panose="02070609020205020404"/>
                <a:cs typeface="Courier New" panose="02070609020205020404"/>
              </a:rPr>
              <a:t> == 0) {  </a:t>
            </a:r>
            <a:r>
              <a:rPr lang="en-US" sz="1600" dirty="0">
                <a:solidFill>
                  <a:srgbClr val="CB2418"/>
                </a:solidFill>
                <a:latin typeface="Courier New" panose="02070609020205020404"/>
                <a:cs typeface="Courier New" panose="02070609020205020404"/>
              </a:rPr>
              <a:t>/* Child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printf</a:t>
            </a:r>
            <a:r>
              <a:rPr lang="en-US" sz="1600" dirty="0">
                <a:solidFill>
                  <a:srgbClr val="000000"/>
                </a:solidFill>
                <a:latin typeface="Courier New" panose="02070609020205020404"/>
                <a:cs typeface="Courier New" panose="02070609020205020404"/>
              </a:rPr>
              <a:t>(</a:t>
            </a:r>
            <a:r>
              <a:rPr lang="en-US" sz="1600" dirty="0">
                <a:solidFill>
                  <a:srgbClr val="9D206F"/>
                </a:solidFill>
                <a:latin typeface="Courier New" panose="02070609020205020404"/>
                <a:cs typeface="Courier New" panose="02070609020205020404"/>
              </a:rPr>
              <a:t>"child : x=%d\n"</a:t>
            </a:r>
            <a:r>
              <a:rPr lang="en-US" sz="1600" dirty="0">
                <a:solidFill>
                  <a:srgbClr val="000000"/>
                </a:solidFill>
                <a:latin typeface="Courier New" panose="02070609020205020404"/>
                <a:cs typeface="Courier New" panose="02070609020205020404"/>
              </a:rPr>
              <a:t>, ++x);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return 0;</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endParaRPr lang="en-US" sz="1600" dirty="0">
              <a:solidFill>
                <a:srgbClr val="000000"/>
              </a:solidFill>
              <a:latin typeface="Courier New" panose="02070609020205020404"/>
              <a:cs typeface="Courier New" panose="02070609020205020404"/>
            </a:endParaRPr>
          </a:p>
          <a:p>
            <a:endParaRPr lang="en-US" sz="1600" dirty="0">
              <a:solidFill>
                <a:srgbClr val="000000"/>
              </a:solidFill>
              <a:latin typeface="Courier New" panose="02070609020205020404"/>
              <a:cs typeface="Courier New" panose="02070609020205020404"/>
            </a:endParaRPr>
          </a:p>
          <a:p>
            <a:r>
              <a:rPr lang="fr-FR" sz="1600" dirty="0">
                <a:solidFill>
                  <a:srgbClr val="000000"/>
                </a:solidFill>
                <a:latin typeface="Courier New" panose="02070609020205020404"/>
                <a:cs typeface="Courier New" panose="02070609020205020404"/>
              </a:rPr>
              <a:t>    </a:t>
            </a:r>
            <a:r>
              <a:rPr lang="fr-FR" sz="1600" dirty="0">
                <a:solidFill>
                  <a:srgbClr val="CB2418"/>
                </a:solidFill>
                <a:latin typeface="Courier New" panose="02070609020205020404"/>
                <a:cs typeface="Courier New" panose="02070609020205020404"/>
              </a:rPr>
              <a:t>/* Parent */</a:t>
            </a:r>
            <a:endParaRPr lang="fr-FR"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a:t>
            </a:r>
            <a:r>
              <a:rPr lang="en-US" sz="1600" dirty="0" err="1">
                <a:solidFill>
                  <a:srgbClr val="000000"/>
                </a:solidFill>
                <a:latin typeface="Courier New" panose="02070609020205020404"/>
                <a:cs typeface="Courier New" panose="02070609020205020404"/>
              </a:rPr>
              <a:t>printf</a:t>
            </a:r>
            <a:r>
              <a:rPr lang="en-US" sz="1600" dirty="0">
                <a:solidFill>
                  <a:srgbClr val="000000"/>
                </a:solidFill>
                <a:latin typeface="Courier New" panose="02070609020205020404"/>
                <a:cs typeface="Courier New" panose="02070609020205020404"/>
              </a:rPr>
              <a:t>(</a:t>
            </a:r>
            <a:r>
              <a:rPr lang="en-US" sz="1600" dirty="0">
                <a:solidFill>
                  <a:srgbClr val="9D206F"/>
                </a:solidFill>
                <a:latin typeface="Courier New" panose="02070609020205020404"/>
                <a:cs typeface="Courier New" panose="02070609020205020404"/>
              </a:rPr>
              <a:t>"parent: x=%d\n"</a:t>
            </a:r>
            <a:r>
              <a:rPr lang="en-US" sz="1600" dirty="0">
                <a:solidFill>
                  <a:srgbClr val="000000"/>
                </a:solidFill>
                <a:latin typeface="Courier New" panose="02070609020205020404"/>
                <a:cs typeface="Courier New" panose="02070609020205020404"/>
              </a:rPr>
              <a:t>, --x); </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    return 0;</a:t>
            </a:r>
            <a:endParaRPr lang="en-US" sz="1600" dirty="0">
              <a:solidFill>
                <a:srgbClr val="000000"/>
              </a:solidFill>
              <a:latin typeface="Courier New" panose="02070609020205020404"/>
              <a:cs typeface="Courier New" panose="02070609020205020404"/>
            </a:endParaRPr>
          </a:p>
          <a:p>
            <a:r>
              <a:rPr lang="en-US" sz="1600" dirty="0">
                <a:solidFill>
                  <a:srgbClr val="000000"/>
                </a:solidFill>
                <a:latin typeface="Courier New" panose="02070609020205020404"/>
                <a:cs typeface="Courier New" panose="02070609020205020404"/>
              </a:rPr>
              <a:t>}</a:t>
            </a:r>
            <a:endParaRPr lang="en-US" sz="1600" dirty="0">
              <a:solidFill>
                <a:srgbClr val="000000"/>
              </a:solidFill>
              <a:latin typeface="Courier New" panose="02070609020205020404"/>
              <a:cs typeface="Courier New" panose="02070609020205020404"/>
            </a:endParaRPr>
          </a:p>
        </p:txBody>
      </p:sp>
      <p:sp>
        <p:nvSpPr>
          <p:cNvPr id="5" name="Right Arrow 4"/>
          <p:cNvSpPr/>
          <p:nvPr/>
        </p:nvSpPr>
        <p:spPr>
          <a:xfrm>
            <a:off x="838200" y="4114800"/>
            <a:ext cx="381000" cy="76200"/>
          </a:xfrm>
          <a:prstGeom prst="rightArrow">
            <a:avLst/>
          </a:prstGeom>
          <a:noFill/>
          <a:ln w="25400" cap="flat" cmpd="sng" algn="ctr">
            <a:solidFill>
              <a:schemeClr val="tx1"/>
            </a:solidFill>
            <a:prstDash val="solid"/>
            <a:round/>
            <a:headEnd type="none" w="med" len="med"/>
            <a:tailEnd type="arrow" w="med" len="med"/>
          </a:ln>
        </p:spPr>
        <p:txBody>
          <a:bodyPr rtlCol="0" anchor="ctr"/>
          <a:p>
            <a:pPr algn="ctr"/>
            <a:endParaRPr lang="en-US"/>
          </a:p>
        </p:txBody>
      </p:sp>
      <p:sp>
        <p:nvSpPr>
          <p:cNvPr id="6" name="Right Arrow 5"/>
          <p:cNvSpPr/>
          <p:nvPr/>
        </p:nvSpPr>
        <p:spPr>
          <a:xfrm>
            <a:off x="6324600" y="4114800"/>
            <a:ext cx="381000" cy="76200"/>
          </a:xfrm>
          <a:prstGeom prst="rightArrow">
            <a:avLst/>
          </a:prstGeom>
          <a:noFill/>
          <a:ln w="25400" cap="flat" cmpd="sng" algn="ctr">
            <a:solidFill>
              <a:schemeClr val="tx1"/>
            </a:solidFill>
            <a:prstDash val="solid"/>
            <a:round/>
            <a:headEnd type="none" w="med" len="med"/>
            <a:tailEnd type="arrow" w="med" len="med"/>
          </a:ln>
        </p:spPr>
        <p:txBody>
          <a:bodyPr rtlCol="0" anchor="ctr"/>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p>
            <a:r>
              <a:rPr lang="en-US" dirty="0">
                <a:latin typeface="Courier New" panose="02070609020205020404"/>
                <a:cs typeface="Courier New" panose="02070609020205020404"/>
                <a:sym typeface="+mn-ea"/>
              </a:rPr>
              <a:t>fork</a:t>
            </a:r>
            <a:r>
              <a:rPr lang="zh-CN" altLang="en-US">
                <a:sym typeface="+mn-ea"/>
              </a:rPr>
              <a:t>示例</a:t>
            </a:r>
            <a:r>
              <a:rPr lang="en-US" altLang="zh-CN">
                <a:sym typeface="+mn-ea"/>
              </a:rPr>
              <a:t>2</a:t>
            </a:r>
            <a:endParaRPr lang="zh-CN" altLang="en-US"/>
          </a:p>
        </p:txBody>
      </p:sp>
      <p:sp>
        <p:nvSpPr>
          <p:cNvPr id="490499" name="Text Box 3"/>
          <p:cNvSpPr txBox="1">
            <a:spLocks noChangeArrowheads="1"/>
          </p:cNvSpPr>
          <p:nvPr/>
        </p:nvSpPr>
        <p:spPr bwMode="auto">
          <a:xfrm>
            <a:off x="457176" y="1811233"/>
            <a:ext cx="6035040" cy="4769485"/>
          </a:xfrm>
          <a:prstGeom prst="rect">
            <a:avLst/>
          </a:prstGeom>
          <a:solidFill>
            <a:srgbClr val="F6F5BD"/>
          </a:solidFill>
          <a:ln w="3175">
            <a:solidFill>
              <a:schemeClr val="tx1"/>
            </a:solidFill>
            <a:miter lim="800000"/>
          </a:ln>
          <a:effectLst/>
        </p:spPr>
        <p:txBody>
          <a:bodyPr wrap="none">
            <a:spAutoFit/>
          </a:bodyPr>
          <a:lstStyle/>
          <a:p>
            <a:pPr algn="l"/>
            <a:r>
              <a:rPr lang="en-US" altLang="zh-CN" sz="1600" dirty="0">
                <a:solidFill>
                  <a:srgbClr val="000000"/>
                </a:solidFill>
                <a:latin typeface="Courier New" panose="02070609020205020404"/>
                <a:cs typeface="Courier New" panose="02070609020205020404"/>
              </a:rPr>
              <a:t>int main(int argc, char** argv)</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pid_t pid;</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int x = 1;</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 = Fork(); </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a:t>
            </a:r>
            <a:r>
              <a:rPr lang="en-US" altLang="zh-CN" sz="1600" dirty="0">
                <a:solidFill>
                  <a:srgbClr val="00B050"/>
                </a:solidFill>
                <a:latin typeface="Courier New" panose="02070609020205020404"/>
                <a:cs typeface="Courier New" panose="02070609020205020404"/>
              </a:rPr>
              <a:t>if (pid == 0) {  /* Child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printf("\t&gt;&gt; child sleeps for 1s...\n");</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sleep(1);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printf("\t&gt;&gt; child : x=%d\n", ++x);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return 0;</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a:t>
            </a:r>
            <a:endParaRPr lang="en-US" altLang="zh-CN" sz="1600" dirty="0">
              <a:solidFill>
                <a:srgbClr val="00B05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a:t>
            </a:r>
            <a:r>
              <a:rPr lang="en-US" altLang="zh-CN" sz="1600" dirty="0">
                <a:solidFill>
                  <a:srgbClr val="FF0000"/>
                </a:solidFill>
                <a:latin typeface="Courier New" panose="02070609020205020404"/>
                <a:cs typeface="Courier New" panose="02070609020205020404"/>
              </a:rPr>
              <a:t> /* Parent */</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printf("parent sleeps for 2s...\n");</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sleep(2);</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printf("parent: x=%d\n", --x); </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return 0;</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p:txBody>
      </p:sp>
      <p:sp>
        <p:nvSpPr>
          <p:cNvPr id="6" name="Text Box 4"/>
          <p:cNvSpPr txBox="1">
            <a:spLocks noChangeArrowheads="1"/>
          </p:cNvSpPr>
          <p:nvPr/>
        </p:nvSpPr>
        <p:spPr bwMode="auto">
          <a:xfrm>
            <a:off x="7238989" y="5486400"/>
            <a:ext cx="4385310" cy="1246505"/>
          </a:xfrm>
          <a:prstGeom prst="rect">
            <a:avLst/>
          </a:prstGeom>
          <a:solidFill>
            <a:srgbClr val="E6E6E6"/>
          </a:solidFill>
          <a:ln w="3240">
            <a:solidFill>
              <a:schemeClr val="tx1"/>
            </a:solidFill>
            <a:miter lim="800000"/>
          </a:ln>
          <a:effectLst/>
        </p:spPr>
        <p:txBody>
          <a:bodyPr wrap="none" lIns="90000" tIns="46800" rIns="90000" bIns="46800">
            <a:spAutoFit/>
          </a:bodyPr>
          <a:lstStyle/>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panose="02070609020205020404"/>
                <a:ea typeface="msgothic" charset="0"/>
                <a:cs typeface="Courier New" panose="02070609020205020404"/>
              </a:rPr>
              <a:t>linux</a:t>
            </a:r>
            <a:r>
              <a:rPr lang="en-GB" sz="1600" dirty="0">
                <a:latin typeface="Courier New" panose="02070609020205020404"/>
                <a:ea typeface="msgothic" charset="0"/>
                <a:cs typeface="Courier New" panose="02070609020205020404"/>
              </a:rPr>
              <a:t>&gt; ./fork</a:t>
            </a:r>
            <a:endParaRPr lang="en-GB"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sleeping for 2s...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child sleeping for 1s...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child : x=2</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x=0</a:t>
            </a:r>
            <a:endParaRPr lang="en-US" altLang="zh-CN" sz="1600" dirty="0">
              <a:latin typeface="Courier New" panose="02070609020205020404"/>
              <a:ea typeface="msgothic" charset="0"/>
              <a:cs typeface="Courier New" panose="02070609020205020404"/>
            </a:endParaRPr>
          </a:p>
        </p:txBody>
      </p:sp>
      <p:sp>
        <p:nvSpPr>
          <p:cNvPr id="7" name="Rectangle 3"/>
          <p:cNvSpPr>
            <a:spLocks noChangeArrowheads="1"/>
          </p:cNvSpPr>
          <p:nvPr/>
        </p:nvSpPr>
        <p:spPr bwMode="auto">
          <a:xfrm>
            <a:off x="10515448" y="4952958"/>
            <a:ext cx="100203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10" name="Content Placeholder 9"/>
          <p:cNvSpPr/>
          <p:nvPr>
            <p:ph idx="1"/>
          </p:nvPr>
        </p:nvSpPr>
        <p:spPr/>
        <p:txBody>
          <a:bodyPr/>
          <a:p>
            <a:r>
              <a:rPr lang="en-US"/>
              <a:t>sleep(1)</a:t>
            </a:r>
            <a:endParaRPr lang="en-US" altLang="zh-CN"/>
          </a:p>
        </p:txBody>
      </p:sp>
      <p:pic>
        <p:nvPicPr>
          <p:cNvPr id="12" name="Picture 11"/>
          <p:cNvPicPr>
            <a:picLocks noChangeAspect="1"/>
          </p:cNvPicPr>
          <p:nvPr/>
        </p:nvPicPr>
        <p:blipFill>
          <a:blip r:embed="rId1"/>
          <a:stretch>
            <a:fillRect/>
          </a:stretch>
        </p:blipFill>
        <p:spPr>
          <a:xfrm>
            <a:off x="7162800" y="762000"/>
            <a:ext cx="4477385" cy="463423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p>
            <a:endParaRPr lang="en-US"/>
          </a:p>
        </p:txBody>
      </p:sp>
      <p:sp>
        <p:nvSpPr>
          <p:cNvPr id="490499" name="Text Box 3"/>
          <p:cNvSpPr txBox="1">
            <a:spLocks noChangeArrowheads="1"/>
          </p:cNvSpPr>
          <p:nvPr/>
        </p:nvSpPr>
        <p:spPr bwMode="auto">
          <a:xfrm>
            <a:off x="152376" y="1295613"/>
            <a:ext cx="6035040" cy="4769485"/>
          </a:xfrm>
          <a:prstGeom prst="rect">
            <a:avLst/>
          </a:prstGeom>
          <a:solidFill>
            <a:srgbClr val="F6F5BD"/>
          </a:solidFill>
          <a:ln w="3175">
            <a:solidFill>
              <a:schemeClr val="tx1"/>
            </a:solidFill>
            <a:miter lim="800000"/>
          </a:ln>
          <a:effectLst/>
        </p:spPr>
        <p:txBody>
          <a:bodyPr wrap="none">
            <a:spAutoFit/>
          </a:bodyPr>
          <a:lstStyle/>
          <a:p>
            <a:pPr algn="l"/>
            <a:r>
              <a:rPr lang="en-US" altLang="zh-CN" sz="1600" dirty="0">
                <a:solidFill>
                  <a:srgbClr val="000000"/>
                </a:solidFill>
                <a:latin typeface="Courier New" panose="02070609020205020404"/>
                <a:cs typeface="Courier New" panose="02070609020205020404"/>
              </a:rPr>
              <a:t>int main(int argc, char** argv)</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pid_t pid;</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int x = 1;</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 = Fork(); </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a:t>
            </a:r>
            <a:r>
              <a:rPr lang="en-US" altLang="zh-CN" sz="1600" dirty="0">
                <a:solidFill>
                  <a:srgbClr val="00B050"/>
                </a:solidFill>
                <a:latin typeface="Courier New" panose="02070609020205020404"/>
                <a:cs typeface="Courier New" panose="02070609020205020404"/>
              </a:rPr>
              <a:t>if (pid == 0) {  /* Child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printf("\t&gt;&gt; child sleeps for 1s...\n");</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sleep(1);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printf("\t&gt;&gt; child : x=%d\n", ++x);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return 0;</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a:t>
            </a:r>
            <a:endParaRPr lang="en-US" altLang="zh-CN" sz="1600" dirty="0">
              <a:solidFill>
                <a:srgbClr val="00B05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a:t>
            </a:r>
            <a:r>
              <a:rPr lang="en-US" altLang="zh-CN" sz="1600" dirty="0">
                <a:solidFill>
                  <a:srgbClr val="FF0000"/>
                </a:solidFill>
                <a:latin typeface="Courier New" panose="02070609020205020404"/>
                <a:cs typeface="Courier New" panose="02070609020205020404"/>
              </a:rPr>
              <a:t> /* Parent */</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printf("parent sleeps for 2s...\n");</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sleep(2);</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printf("parent: x=%d\n", --x); </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return 0;</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p:txBody>
      </p:sp>
      <p:sp>
        <p:nvSpPr>
          <p:cNvPr id="6" name="Text Box 4"/>
          <p:cNvSpPr txBox="1">
            <a:spLocks noChangeArrowheads="1"/>
          </p:cNvSpPr>
          <p:nvPr/>
        </p:nvSpPr>
        <p:spPr bwMode="auto">
          <a:xfrm>
            <a:off x="6400789" y="5486400"/>
            <a:ext cx="4385310" cy="1246505"/>
          </a:xfrm>
          <a:prstGeom prst="rect">
            <a:avLst/>
          </a:prstGeom>
          <a:solidFill>
            <a:srgbClr val="E6E6E6"/>
          </a:solidFill>
          <a:ln w="3240">
            <a:solidFill>
              <a:schemeClr val="tx1"/>
            </a:solidFill>
            <a:miter lim="800000"/>
          </a:ln>
          <a:effectLst/>
        </p:spPr>
        <p:txBody>
          <a:bodyPr wrap="none" lIns="90000" tIns="46800" rIns="90000" bIns="46800">
            <a:spAutoFit/>
          </a:bodyPr>
          <a:lstStyle/>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panose="02070609020205020404"/>
                <a:ea typeface="msgothic" charset="0"/>
                <a:cs typeface="Courier New" panose="02070609020205020404"/>
              </a:rPr>
              <a:t>linux</a:t>
            </a:r>
            <a:r>
              <a:rPr lang="en-GB" sz="1600" dirty="0">
                <a:latin typeface="Courier New" panose="02070609020205020404"/>
                <a:ea typeface="msgothic" charset="0"/>
                <a:cs typeface="Courier New" panose="02070609020205020404"/>
              </a:rPr>
              <a:t>&gt; ./fork</a:t>
            </a:r>
            <a:endParaRPr lang="en-GB"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sleeping for 2s...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child sleeping for 1s...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child : x=2</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x=0</a:t>
            </a:r>
            <a:endParaRPr lang="en-US" altLang="zh-CN" sz="1600" dirty="0">
              <a:latin typeface="Courier New" panose="02070609020205020404"/>
              <a:ea typeface="msgothic" charset="0"/>
              <a:cs typeface="Courier New" panose="02070609020205020404"/>
            </a:endParaRPr>
          </a:p>
        </p:txBody>
      </p:sp>
      <p:sp>
        <p:nvSpPr>
          <p:cNvPr id="7" name="Rectangle 3"/>
          <p:cNvSpPr>
            <a:spLocks noChangeArrowheads="1"/>
          </p:cNvSpPr>
          <p:nvPr/>
        </p:nvSpPr>
        <p:spPr bwMode="auto">
          <a:xfrm>
            <a:off x="4809338" y="4930733"/>
            <a:ext cx="100203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8" name="Rectangle 3"/>
          <p:cNvSpPr txBox="1">
            <a:spLocks noChangeArrowheads="1"/>
          </p:cNvSpPr>
          <p:nvPr/>
        </p:nvSpPr>
        <p:spPr bwMode="auto">
          <a:xfrm>
            <a:off x="6215380" y="1219200"/>
            <a:ext cx="5802630" cy="37655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pPr algn="just"/>
            <a:r>
              <a:rPr lang="en-US" altLang="zh-CN" b="0" dirty="0">
                <a:latin typeface="Times New Roman Regular" panose="02020603050405020304" charset="0"/>
                <a:ea typeface="Microsoft YaHei" charset="0"/>
                <a:cs typeface="Times New Roman Regular" panose="02020603050405020304" charset="0"/>
              </a:rPr>
              <a:t>Fork</a:t>
            </a:r>
            <a:r>
              <a:rPr lang="zh-CN" altLang="en-US" b="0" dirty="0">
                <a:latin typeface="Times New Roman Regular" panose="02020603050405020304" charset="0"/>
                <a:ea typeface="Microsoft YaHei" charset="0"/>
                <a:cs typeface="Times New Roman Regular" panose="02020603050405020304" charset="0"/>
              </a:rPr>
              <a:t>从内核返回时</a:t>
            </a:r>
            <a:r>
              <a:rPr lang="en-US" altLang="zh-CN" b="0" dirty="0">
                <a:latin typeface="Times New Roman Regular" panose="02020603050405020304" charset="0"/>
                <a:ea typeface="Microsoft YaHei" charset="0"/>
                <a:cs typeface="Times New Roman Regular" panose="02020603050405020304" charset="0"/>
              </a:rPr>
              <a:t>，</a:t>
            </a:r>
            <a:endParaRPr lang="en-US" altLang="zh-CN" b="0" dirty="0">
              <a:latin typeface="Times New Roman Regular" panose="02020603050405020304" charset="0"/>
              <a:ea typeface="Microsoft YaHei" charset="0"/>
              <a:cs typeface="Times New Roman Regular" panose="02020603050405020304" charset="0"/>
            </a:endParaRPr>
          </a:p>
          <a:p>
            <a:pPr lvl="1" algn="just"/>
            <a:r>
              <a:rPr lang="zh-CN" altLang="en-US" b="0" dirty="0">
                <a:latin typeface="Times New Roman Regular" panose="02020603050405020304" charset="0"/>
                <a:ea typeface="Microsoft YaHei" charset="0"/>
                <a:cs typeface="Times New Roman Regular" panose="02020603050405020304" charset="0"/>
              </a:rPr>
              <a:t>内核恢复</a:t>
            </a:r>
            <a:r>
              <a:rPr lang="zh-CN" altLang="en-US" dirty="0">
                <a:latin typeface="Times New Roman Regular" panose="02020603050405020304" charset="0"/>
                <a:ea typeface="Microsoft YaHei" charset="0"/>
                <a:cs typeface="Times New Roman Regular" panose="02020603050405020304" charset="0"/>
              </a:rPr>
              <a:t>父进程</a:t>
            </a:r>
            <a:endParaRPr lang="zh-CN" altLang="en-US" b="0" dirty="0">
              <a:latin typeface="Times New Roman Regular" panose="02020603050405020304" charset="0"/>
              <a:ea typeface="Microsoft YaHei" charset="0"/>
              <a:cs typeface="Times New Roman Regular" panose="02020603050405020304" charset="0"/>
            </a:endParaRPr>
          </a:p>
          <a:p>
            <a:pPr lvl="2" algn="just"/>
            <a:r>
              <a:rPr lang="zh-CN" altLang="en-US" b="0" dirty="0">
                <a:latin typeface="Times New Roman Regular" panose="02020603050405020304" charset="0"/>
                <a:ea typeface="Microsoft YaHei" charset="0"/>
                <a:cs typeface="Times New Roman Regular" panose="02020603050405020304" charset="0"/>
              </a:rPr>
              <a:t>调用第一个</a:t>
            </a:r>
            <a:r>
              <a:rPr lang="en-US" altLang="zh-CN" b="0" dirty="0">
                <a:latin typeface="Times New Roman Regular" panose="02020603050405020304" charset="0"/>
                <a:ea typeface="Microsoft YaHei" charset="0"/>
                <a:cs typeface="Times New Roman Regular" panose="02020603050405020304" charset="0"/>
              </a:rPr>
              <a:t>printf；</a:t>
            </a:r>
            <a:r>
              <a:rPr lang="zh-CN" altLang="en-US" b="0" dirty="0">
                <a:latin typeface="Times New Roman Regular" panose="02020603050405020304" charset="0"/>
                <a:ea typeface="Microsoft YaHei" charset="0"/>
                <a:cs typeface="Times New Roman Regular" panose="02020603050405020304" charset="0"/>
              </a:rPr>
              <a:t>父进程进入内核态</a:t>
            </a:r>
            <a:r>
              <a:rPr lang="en-US" altLang="zh-CN" b="0" dirty="0">
                <a:latin typeface="Times New Roman Regular" panose="02020603050405020304" charset="0"/>
                <a:ea typeface="Microsoft YaHei" charset="0"/>
                <a:cs typeface="Times New Roman Regular" panose="02020603050405020304" charset="0"/>
              </a:rPr>
              <a:t>，</a:t>
            </a:r>
            <a:r>
              <a:rPr lang="zh-CN" altLang="en-US" b="0" dirty="0">
                <a:latin typeface="Times New Roman Regular" panose="02020603050405020304" charset="0"/>
                <a:ea typeface="Microsoft YaHei" charset="0"/>
                <a:cs typeface="Times New Roman Regular" panose="02020603050405020304" charset="0"/>
              </a:rPr>
              <a:t>并进入</a:t>
            </a:r>
            <a:r>
              <a:rPr lang="zh-CN" altLang="en-US" b="0" dirty="0">
                <a:latin typeface="Times New Roman Regular" panose="02020603050405020304" charset="0"/>
                <a:ea typeface="Microsoft YaHei" charset="0"/>
                <a:cs typeface="Times New Roman Regular" panose="02020603050405020304" charset="0"/>
              </a:rPr>
              <a:t>睡眠状态</a:t>
            </a:r>
            <a:r>
              <a:rPr lang="en-US" altLang="zh-CN" b="0" dirty="0">
                <a:latin typeface="Times New Roman Regular" panose="02020603050405020304" charset="0"/>
                <a:ea typeface="Microsoft YaHei" charset="0"/>
                <a:cs typeface="Times New Roman Regular" panose="02020603050405020304" charset="0"/>
              </a:rPr>
              <a:t>2</a:t>
            </a:r>
            <a:r>
              <a:rPr lang="zh-CN" altLang="en-US" b="0" dirty="0">
                <a:latin typeface="Times New Roman Regular" panose="02020603050405020304" charset="0"/>
                <a:ea typeface="Microsoft YaHei" charset="0"/>
                <a:cs typeface="Times New Roman Regular" panose="02020603050405020304" charset="0"/>
              </a:rPr>
              <a:t>秒</a:t>
            </a:r>
            <a:endParaRPr lang="zh-CN" altLang="en-US" b="0" dirty="0">
              <a:latin typeface="Times New Roman Regular" panose="02020603050405020304" charset="0"/>
              <a:ea typeface="Microsoft YaHei" charset="0"/>
              <a:cs typeface="Times New Roman Regular" panose="02020603050405020304" charset="0"/>
            </a:endParaRPr>
          </a:p>
          <a:p>
            <a:pPr lvl="1" algn="just"/>
            <a:r>
              <a:rPr lang="zh-CN" altLang="en-US" b="0" dirty="0">
                <a:latin typeface="Times New Roman Regular" panose="02020603050405020304" charset="0"/>
                <a:ea typeface="Microsoft YaHei" charset="0"/>
                <a:cs typeface="Times New Roman Regular" panose="02020603050405020304" charset="0"/>
              </a:rPr>
              <a:t>内核调度</a:t>
            </a:r>
            <a:r>
              <a:rPr lang="zh-CN" altLang="en-US" dirty="0">
                <a:latin typeface="Times New Roman Regular" panose="02020603050405020304" charset="0"/>
                <a:ea typeface="Microsoft YaHei" charset="0"/>
                <a:cs typeface="Times New Roman Regular" panose="02020603050405020304" charset="0"/>
              </a:rPr>
              <a:t>子进程</a:t>
            </a:r>
            <a:endParaRPr lang="zh-CN" altLang="en-US" b="0" dirty="0">
              <a:latin typeface="Times New Roman Regular" panose="02020603050405020304" charset="0"/>
              <a:ea typeface="Microsoft YaHei" charset="0"/>
              <a:cs typeface="Times New Roman Regular" panose="02020603050405020304" charset="0"/>
            </a:endParaRPr>
          </a:p>
          <a:p>
            <a:pPr lvl="2" algn="just"/>
            <a:r>
              <a:rPr lang="zh-CN" altLang="en-US" b="0" dirty="0">
                <a:latin typeface="Times New Roman Regular" panose="02020603050405020304" charset="0"/>
                <a:ea typeface="Microsoft YaHei" charset="0"/>
                <a:cs typeface="Times New Roman Regular" panose="02020603050405020304" charset="0"/>
              </a:rPr>
              <a:t>调用第一个</a:t>
            </a:r>
            <a:r>
              <a:rPr lang="en-US" altLang="zh-CN" b="0" dirty="0">
                <a:latin typeface="Times New Roman Regular" panose="02020603050405020304" charset="0"/>
                <a:ea typeface="Microsoft YaHei" charset="0"/>
                <a:cs typeface="Times New Roman Regular" panose="02020603050405020304" charset="0"/>
              </a:rPr>
              <a:t>printf；</a:t>
            </a:r>
            <a:r>
              <a:rPr lang="zh-CN" altLang="en-US" b="0" dirty="0">
                <a:latin typeface="Times New Roman Regular" panose="02020603050405020304" charset="0"/>
                <a:ea typeface="Microsoft YaHei" charset="0"/>
                <a:cs typeface="Times New Roman Regular" panose="02020603050405020304" charset="0"/>
              </a:rPr>
              <a:t>子进程</a:t>
            </a:r>
            <a:r>
              <a:rPr lang="en-US" altLang="zh-CN" dirty="0">
                <a:solidFill>
                  <a:srgbClr val="FF0000"/>
                </a:solidFill>
                <a:latin typeface="Times New Roman Bold" panose="02020603050405020304" charset="0"/>
                <a:ea typeface="Microsoft YaHei" charset="0"/>
                <a:cs typeface="Times New Roman Bold" panose="02020603050405020304" charset="0"/>
              </a:rPr>
              <a:t>sleep 1</a:t>
            </a:r>
            <a:r>
              <a:rPr lang="zh-CN" altLang="en-US" b="0" dirty="0">
                <a:latin typeface="Times New Roman Regular" panose="02020603050405020304" charset="0"/>
                <a:ea typeface="Microsoft YaHei" charset="0"/>
                <a:cs typeface="Times New Roman Regular" panose="02020603050405020304" charset="0"/>
              </a:rPr>
              <a:t>秒后</a:t>
            </a:r>
            <a:r>
              <a:rPr lang="en-US" altLang="zh-CN" b="0" dirty="0">
                <a:latin typeface="Times New Roman Regular" panose="02020603050405020304" charset="0"/>
                <a:ea typeface="Microsoft YaHei" charset="0"/>
                <a:cs typeface="Times New Roman Regular" panose="02020603050405020304" charset="0"/>
              </a:rPr>
              <a:t>，</a:t>
            </a:r>
            <a:r>
              <a:rPr lang="zh-CN" altLang="en-US" b="0" dirty="0">
                <a:solidFill>
                  <a:srgbClr val="FF0000"/>
                </a:solidFill>
                <a:latin typeface="Times New Roman Regular" panose="02020603050405020304" charset="0"/>
                <a:ea typeface="Microsoft YaHei" charset="0"/>
                <a:cs typeface="Times New Roman Regular" panose="02020603050405020304" charset="0"/>
              </a:rPr>
              <a:t>内核再次</a:t>
            </a:r>
            <a:r>
              <a:rPr lang="zh-CN" altLang="en-US" b="0" dirty="0">
                <a:solidFill>
                  <a:srgbClr val="FF0000"/>
                </a:solidFill>
                <a:latin typeface="Times New Roman Regular" panose="02020603050405020304" charset="0"/>
                <a:ea typeface="Microsoft YaHei" charset="0"/>
                <a:cs typeface="Times New Roman Regular" panose="02020603050405020304" charset="0"/>
              </a:rPr>
              <a:t>调度子进程</a:t>
            </a:r>
            <a:r>
              <a:rPr lang="en-US" altLang="zh-CN" b="0" dirty="0">
                <a:latin typeface="Times New Roman Regular" panose="02020603050405020304" charset="0"/>
                <a:ea typeface="Microsoft YaHei" charset="0"/>
                <a:cs typeface="Times New Roman Regular" panose="02020603050405020304" charset="0"/>
              </a:rPr>
              <a:t>，</a:t>
            </a:r>
            <a:r>
              <a:rPr lang="zh-CN" altLang="en-US" b="0" dirty="0">
                <a:latin typeface="Times New Roman Regular" panose="02020603050405020304" charset="0"/>
                <a:ea typeface="Microsoft YaHei" charset="0"/>
                <a:cs typeface="Times New Roman Regular" panose="02020603050405020304" charset="0"/>
              </a:rPr>
              <a:t>继续调用第</a:t>
            </a:r>
            <a:r>
              <a:rPr lang="en-US" altLang="zh-CN" b="0" dirty="0">
                <a:latin typeface="Times New Roman Regular" panose="02020603050405020304" charset="0"/>
                <a:ea typeface="Microsoft YaHei" charset="0"/>
                <a:cs typeface="Times New Roman Regular" panose="02020603050405020304" charset="0"/>
              </a:rPr>
              <a:t>2</a:t>
            </a:r>
            <a:r>
              <a:rPr lang="zh-CN" altLang="en-US" b="0" dirty="0">
                <a:latin typeface="Times New Roman Regular" panose="02020603050405020304" charset="0"/>
                <a:ea typeface="Microsoft YaHei" charset="0"/>
                <a:cs typeface="Times New Roman Regular" panose="02020603050405020304" charset="0"/>
              </a:rPr>
              <a:t>个</a:t>
            </a:r>
            <a:r>
              <a:rPr lang="en-US" altLang="zh-CN" b="0" dirty="0">
                <a:latin typeface="Times New Roman Regular" panose="02020603050405020304" charset="0"/>
                <a:ea typeface="Microsoft YaHei" charset="0"/>
                <a:cs typeface="Times New Roman Regular" panose="02020603050405020304" charset="0"/>
              </a:rPr>
              <a:t>printf；</a:t>
            </a:r>
            <a:r>
              <a:rPr lang="zh-CN" altLang="en-US" b="0" dirty="0">
                <a:latin typeface="Times New Roman Regular" panose="02020603050405020304" charset="0"/>
                <a:ea typeface="Microsoft YaHei" charset="0"/>
                <a:cs typeface="Times New Roman Regular" panose="02020603050405020304" charset="0"/>
              </a:rPr>
              <a:t>并结束</a:t>
            </a:r>
            <a:r>
              <a:rPr lang="zh-CN" altLang="en-US" b="0" dirty="0">
                <a:latin typeface="Times New Roman Regular" panose="02020603050405020304" charset="0"/>
                <a:ea typeface="Microsoft YaHei" charset="0"/>
                <a:cs typeface="Times New Roman Regular" panose="02020603050405020304" charset="0"/>
              </a:rPr>
              <a:t>子进程</a:t>
            </a:r>
            <a:endParaRPr lang="zh-CN" altLang="en-US" b="0" dirty="0">
              <a:latin typeface="Times New Roman Regular" panose="02020603050405020304" charset="0"/>
              <a:ea typeface="Microsoft YaHei" charset="0"/>
              <a:cs typeface="Times New Roman Regular" panose="02020603050405020304" charset="0"/>
            </a:endParaRPr>
          </a:p>
          <a:p>
            <a:pPr lvl="1" algn="just"/>
            <a:r>
              <a:rPr lang="zh-CN" altLang="en-US" b="0" dirty="0">
                <a:latin typeface="Times New Roman Regular" panose="02020603050405020304" charset="0"/>
                <a:ea typeface="Microsoft YaHei" charset="0"/>
                <a:cs typeface="Times New Roman Regular" panose="02020603050405020304" charset="0"/>
              </a:rPr>
              <a:t>内核调度</a:t>
            </a:r>
            <a:r>
              <a:rPr lang="zh-CN" altLang="en-US" b="0" dirty="0">
                <a:latin typeface="Times New Roman Regular" panose="02020603050405020304" charset="0"/>
                <a:ea typeface="Microsoft YaHei" charset="0"/>
                <a:cs typeface="Times New Roman Regular" panose="02020603050405020304" charset="0"/>
              </a:rPr>
              <a:t>父进程</a:t>
            </a:r>
            <a:endParaRPr lang="zh-CN" altLang="en-US" b="0" dirty="0">
              <a:latin typeface="Times New Roman Regular" panose="02020603050405020304" charset="0"/>
              <a:ea typeface="Microsoft YaHei" charset="0"/>
              <a:cs typeface="Times New Roman Regular" panose="02020603050405020304" charset="0"/>
            </a:endParaRPr>
          </a:p>
          <a:p>
            <a:pPr lvl="2" algn="just"/>
            <a:r>
              <a:rPr lang="zh-CN" altLang="en-US" b="0" dirty="0">
                <a:latin typeface="Times New Roman Regular" panose="02020603050405020304" charset="0"/>
                <a:ea typeface="Microsoft YaHei" charset="0"/>
                <a:cs typeface="Times New Roman Regular" panose="02020603050405020304" charset="0"/>
              </a:rPr>
              <a:t>继续调用第</a:t>
            </a:r>
            <a:r>
              <a:rPr lang="en-US" altLang="zh-CN" b="0" dirty="0">
                <a:latin typeface="Times New Roman Regular" panose="02020603050405020304" charset="0"/>
                <a:ea typeface="Microsoft YaHei" charset="0"/>
                <a:cs typeface="Times New Roman Regular" panose="02020603050405020304" charset="0"/>
              </a:rPr>
              <a:t>2</a:t>
            </a:r>
            <a:r>
              <a:rPr lang="zh-CN" altLang="en-US" b="0" dirty="0">
                <a:latin typeface="Times New Roman Regular" panose="02020603050405020304" charset="0"/>
                <a:ea typeface="Microsoft YaHei" charset="0"/>
                <a:cs typeface="Times New Roman Regular" panose="02020603050405020304" charset="0"/>
              </a:rPr>
              <a:t>个</a:t>
            </a:r>
            <a:r>
              <a:rPr lang="en-US" altLang="zh-CN" b="0" dirty="0">
                <a:latin typeface="Times New Roman Regular" panose="02020603050405020304" charset="0"/>
                <a:ea typeface="Microsoft YaHei" charset="0"/>
                <a:cs typeface="Times New Roman Regular" panose="02020603050405020304" charset="0"/>
              </a:rPr>
              <a:t>printf，</a:t>
            </a:r>
            <a:r>
              <a:rPr lang="zh-CN" altLang="en-US" b="0" dirty="0">
                <a:latin typeface="Times New Roman Regular" panose="02020603050405020304" charset="0"/>
                <a:ea typeface="Microsoft YaHei" charset="0"/>
                <a:cs typeface="Times New Roman Regular" panose="02020603050405020304" charset="0"/>
              </a:rPr>
              <a:t>并结束</a:t>
            </a:r>
            <a:r>
              <a:rPr lang="zh-CN" altLang="en-US" b="0" dirty="0">
                <a:latin typeface="Times New Roman Regular" panose="02020603050405020304" charset="0"/>
                <a:ea typeface="Microsoft YaHei" charset="0"/>
                <a:cs typeface="Times New Roman Regular" panose="02020603050405020304" charset="0"/>
              </a:rPr>
              <a:t>父进程</a:t>
            </a:r>
            <a:endParaRPr lang="zh-CN" altLang="en-US" b="0" dirty="0">
              <a:latin typeface="Times New Roman Regular" panose="02020603050405020304" charset="0"/>
              <a:ea typeface="Microsoft YaHei" charset="0"/>
              <a:cs typeface="Times New Roman Regular" panose="02020603050405020304" charset="0"/>
            </a:endParaRPr>
          </a:p>
        </p:txBody>
      </p:sp>
      <p:sp>
        <p:nvSpPr>
          <p:cNvPr id="2" name="Title 1"/>
          <p:cNvSpPr>
            <a:spLocks noGrp="1"/>
          </p:cNvSpPr>
          <p:nvPr/>
        </p:nvSpPr>
        <p:spPr>
          <a:xfrm>
            <a:off x="476025" y="435678"/>
            <a:ext cx="10122791"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a:lstStyle>
          <a:p>
            <a:r>
              <a:rPr lang="en-US" kern="0" dirty="0">
                <a:latin typeface="Courier New" panose="02070609020205020404"/>
                <a:cs typeface="Courier New" panose="02070609020205020404"/>
              </a:rPr>
              <a:t>fork</a:t>
            </a:r>
            <a:r>
              <a:rPr lang="zh-CN" altLang="en-US"/>
              <a:t>示例</a:t>
            </a:r>
            <a:r>
              <a:rPr lang="en-US" altLang="zh-CN"/>
              <a:t>2</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9" name="Text Box 3"/>
          <p:cNvSpPr txBox="1">
            <a:spLocks noChangeArrowheads="1"/>
          </p:cNvSpPr>
          <p:nvPr/>
        </p:nvSpPr>
        <p:spPr bwMode="auto">
          <a:xfrm>
            <a:off x="152376" y="1295613"/>
            <a:ext cx="6035040" cy="4769485"/>
          </a:xfrm>
          <a:prstGeom prst="rect">
            <a:avLst/>
          </a:prstGeom>
          <a:solidFill>
            <a:srgbClr val="F6F5BD"/>
          </a:solidFill>
          <a:ln w="3175">
            <a:solidFill>
              <a:schemeClr val="tx1"/>
            </a:solidFill>
            <a:miter lim="800000"/>
          </a:ln>
          <a:effectLst/>
        </p:spPr>
        <p:txBody>
          <a:bodyPr wrap="none">
            <a:spAutoFit/>
          </a:bodyPr>
          <a:lstStyle/>
          <a:p>
            <a:pPr algn="l"/>
            <a:r>
              <a:rPr lang="en-US" altLang="zh-CN" sz="1600" dirty="0">
                <a:solidFill>
                  <a:srgbClr val="000000"/>
                </a:solidFill>
                <a:latin typeface="Courier New" panose="02070609020205020404"/>
                <a:cs typeface="Courier New" panose="02070609020205020404"/>
              </a:rPr>
              <a:t>int main(int argc, char** argv)</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pid_t pid;</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int x = 1;</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 = Fork(); </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a:t>
            </a:r>
            <a:r>
              <a:rPr lang="en-US" altLang="zh-CN" sz="1600" dirty="0">
                <a:solidFill>
                  <a:srgbClr val="00B050"/>
                </a:solidFill>
                <a:latin typeface="Courier New" panose="02070609020205020404"/>
                <a:cs typeface="Courier New" panose="02070609020205020404"/>
              </a:rPr>
              <a:t>if (pid == 0) {  /* Child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printf("\t&gt;&gt; child sleeps for 2s...\n");</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sleep(2);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printf("\t&gt;&gt; child : x=%d\n", ++x); </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return 0;</a:t>
            </a:r>
            <a:endParaRPr lang="en-US" altLang="zh-CN" sz="1600" dirty="0">
              <a:solidFill>
                <a:srgbClr val="00B050"/>
              </a:solidFill>
              <a:latin typeface="Courier New" panose="02070609020205020404"/>
              <a:cs typeface="Courier New" panose="02070609020205020404"/>
            </a:endParaRPr>
          </a:p>
          <a:p>
            <a:pPr algn="l"/>
            <a:r>
              <a:rPr lang="en-US" altLang="zh-CN" sz="1600" dirty="0">
                <a:solidFill>
                  <a:srgbClr val="00B050"/>
                </a:solidFill>
                <a:latin typeface="Courier New" panose="02070609020205020404"/>
                <a:cs typeface="Courier New" panose="02070609020205020404"/>
              </a:rPr>
              <a:t>    }</a:t>
            </a:r>
            <a:endParaRPr lang="en-US" altLang="zh-CN" sz="1600" dirty="0">
              <a:solidFill>
                <a:srgbClr val="00B05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a:t>
            </a:r>
            <a:r>
              <a:rPr lang="en-US" altLang="zh-CN" sz="1600" dirty="0">
                <a:solidFill>
                  <a:srgbClr val="FF0000"/>
                </a:solidFill>
                <a:latin typeface="Courier New" panose="02070609020205020404"/>
                <a:cs typeface="Courier New" panose="02070609020205020404"/>
              </a:rPr>
              <a:t>/* Parent */</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printf("parent sleeps for 2s...\n");</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sleep(2);</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printf("parent: x=%d\n", --x); </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FF0000"/>
                </a:solidFill>
                <a:latin typeface="Courier New" panose="02070609020205020404"/>
                <a:cs typeface="Courier New" panose="02070609020205020404"/>
              </a:rPr>
              <a:t>    return 0;</a:t>
            </a:r>
            <a:endParaRPr lang="en-US" altLang="zh-CN" sz="1600" dirty="0">
              <a:solidFill>
                <a:srgbClr val="FF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p:txBody>
      </p:sp>
      <p:sp>
        <p:nvSpPr>
          <p:cNvPr id="6" name="Text Box 4"/>
          <p:cNvSpPr txBox="1">
            <a:spLocks noChangeArrowheads="1"/>
          </p:cNvSpPr>
          <p:nvPr/>
        </p:nvSpPr>
        <p:spPr bwMode="auto">
          <a:xfrm>
            <a:off x="6400789" y="5289550"/>
            <a:ext cx="4385310" cy="1246505"/>
          </a:xfrm>
          <a:prstGeom prst="rect">
            <a:avLst/>
          </a:prstGeom>
          <a:solidFill>
            <a:srgbClr val="E6E6E6"/>
          </a:solidFill>
          <a:ln w="3240">
            <a:solidFill>
              <a:schemeClr val="tx1"/>
            </a:solidFill>
            <a:miter lim="800000"/>
          </a:ln>
          <a:effectLst/>
        </p:spPr>
        <p:txBody>
          <a:bodyPr wrap="none" lIns="90000" tIns="46800" rIns="90000" bIns="46800">
            <a:spAutoFit/>
          </a:bodyPr>
          <a:lstStyle/>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panose="02070609020205020404"/>
                <a:ea typeface="msgothic" charset="0"/>
                <a:cs typeface="Courier New" panose="02070609020205020404"/>
              </a:rPr>
              <a:t>linux</a:t>
            </a:r>
            <a:r>
              <a:rPr lang="en-GB" sz="1600" dirty="0">
                <a:latin typeface="Courier New" panose="02070609020205020404"/>
                <a:ea typeface="msgothic" charset="0"/>
                <a:cs typeface="Courier New" panose="02070609020205020404"/>
              </a:rPr>
              <a:t>&gt; ./fork</a:t>
            </a:r>
            <a:endParaRPr lang="en-GB"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sleeping for 2s...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child sleeping for 2s...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x=0</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child : x=2</a:t>
            </a:r>
            <a:endParaRPr lang="en-US" altLang="zh-CN" sz="1600" dirty="0">
              <a:latin typeface="Courier New" panose="02070609020205020404"/>
              <a:ea typeface="msgothic" charset="0"/>
              <a:cs typeface="Courier New" panose="02070609020205020404"/>
            </a:endParaRPr>
          </a:p>
        </p:txBody>
      </p:sp>
      <p:sp>
        <p:nvSpPr>
          <p:cNvPr id="7" name="Rectangle 3"/>
          <p:cNvSpPr>
            <a:spLocks noChangeArrowheads="1"/>
          </p:cNvSpPr>
          <p:nvPr/>
        </p:nvSpPr>
        <p:spPr bwMode="auto">
          <a:xfrm>
            <a:off x="4809338" y="4930733"/>
            <a:ext cx="1008907"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8" name="Rectangle 3"/>
          <p:cNvSpPr txBox="1">
            <a:spLocks noChangeArrowheads="1"/>
          </p:cNvSpPr>
          <p:nvPr/>
        </p:nvSpPr>
        <p:spPr bwMode="auto">
          <a:xfrm>
            <a:off x="6400800" y="1196975"/>
            <a:ext cx="5615940" cy="378650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pPr algn="just"/>
            <a:r>
              <a:rPr lang="en-US" altLang="zh-CN" b="0" dirty="0">
                <a:latin typeface="Times New Roman Regular" panose="02020603050405020304" charset="0"/>
                <a:ea typeface="Microsoft YaHei" charset="0"/>
                <a:cs typeface="Times New Roman Regular" panose="02020603050405020304" charset="0"/>
                <a:sym typeface="+mn-ea"/>
              </a:rPr>
              <a:t>Fork</a:t>
            </a:r>
            <a:r>
              <a:rPr lang="zh-CN" altLang="en-US" b="0" dirty="0">
                <a:latin typeface="Times New Roman Regular" panose="02020603050405020304" charset="0"/>
                <a:ea typeface="Microsoft YaHei" charset="0"/>
                <a:cs typeface="Times New Roman Regular" panose="02020603050405020304" charset="0"/>
                <a:sym typeface="+mn-ea"/>
              </a:rPr>
              <a:t>从内核返回时</a:t>
            </a:r>
            <a:r>
              <a:rPr lang="en-US" altLang="zh-CN" b="0" dirty="0">
                <a:latin typeface="Times New Roman Regular" panose="02020603050405020304" charset="0"/>
                <a:ea typeface="Microsoft YaHei" charset="0"/>
                <a:cs typeface="Times New Roman Regular" panose="02020603050405020304" charset="0"/>
                <a:sym typeface="+mn-ea"/>
              </a:rPr>
              <a:t>，</a:t>
            </a:r>
            <a:endParaRPr lang="en-US" altLang="zh-CN" b="0" dirty="0">
              <a:latin typeface="Times New Roman Regular" panose="02020603050405020304" charset="0"/>
              <a:ea typeface="Microsoft YaHei" charset="0"/>
              <a:cs typeface="Times New Roman Regular" panose="02020603050405020304" charset="0"/>
            </a:endParaRPr>
          </a:p>
          <a:p>
            <a:pPr lvl="1" algn="just"/>
            <a:r>
              <a:rPr lang="zh-CN" altLang="en-US" b="0" dirty="0">
                <a:latin typeface="Times New Roman Regular" panose="02020603050405020304" charset="0"/>
                <a:ea typeface="Microsoft YaHei" charset="0"/>
                <a:cs typeface="Times New Roman Regular" panose="02020603050405020304" charset="0"/>
                <a:sym typeface="+mn-ea"/>
              </a:rPr>
              <a:t>调度父进程</a:t>
            </a:r>
            <a:r>
              <a:rPr lang="zh-CN" altLang="en-US" b="0" dirty="0">
                <a:latin typeface="Times New Roman Regular" panose="02020603050405020304" charset="0"/>
                <a:ea typeface="Microsoft YaHei" charset="0"/>
                <a:cs typeface="Times New Roman Regular" panose="02020603050405020304" charset="0"/>
                <a:sym typeface="+mn-ea"/>
              </a:rPr>
              <a:t>允许</a:t>
            </a:r>
            <a:endParaRPr lang="zh-CN" altLang="en-US" b="0" dirty="0">
              <a:latin typeface="Times New Roman Regular" panose="02020603050405020304" charset="0"/>
              <a:ea typeface="Microsoft YaHei" charset="0"/>
              <a:cs typeface="Times New Roman Regular" panose="02020603050405020304" charset="0"/>
              <a:sym typeface="+mn-ea"/>
            </a:endParaRPr>
          </a:p>
          <a:p>
            <a:pPr lvl="2" algn="just"/>
            <a:r>
              <a:rPr lang="zh-CN" altLang="en-US" b="0" dirty="0">
                <a:latin typeface="Times New Roman Regular" panose="02020603050405020304" charset="0"/>
                <a:ea typeface="Microsoft YaHei" charset="0"/>
                <a:cs typeface="Times New Roman Regular" panose="02020603050405020304" charset="0"/>
                <a:sym typeface="+mn-ea"/>
              </a:rPr>
              <a:t>调用第一个</a:t>
            </a:r>
            <a:r>
              <a:rPr lang="en-US" altLang="zh-CN" b="0" dirty="0">
                <a:latin typeface="Times New Roman Regular" panose="02020603050405020304" charset="0"/>
                <a:ea typeface="Microsoft YaHei" charset="0"/>
                <a:cs typeface="Times New Roman Regular" panose="02020603050405020304" charset="0"/>
                <a:sym typeface="+mn-ea"/>
              </a:rPr>
              <a:t>printf，</a:t>
            </a:r>
            <a:r>
              <a:rPr lang="zh-CN" altLang="en-US" b="0" dirty="0">
                <a:latin typeface="Times New Roman Regular" panose="02020603050405020304" charset="0"/>
                <a:ea typeface="Microsoft YaHei" charset="0"/>
                <a:cs typeface="Times New Roman Regular" panose="02020603050405020304" charset="0"/>
                <a:sym typeface="+mn-ea"/>
              </a:rPr>
              <a:t>主动进入</a:t>
            </a:r>
            <a:r>
              <a:rPr lang="en-US" altLang="zh-CN" b="0" dirty="0">
                <a:latin typeface="Times New Roman Regular" panose="02020603050405020304" charset="0"/>
                <a:ea typeface="Microsoft YaHei" charset="0"/>
                <a:cs typeface="Times New Roman Regular" panose="02020603050405020304" charset="0"/>
                <a:sym typeface="+mn-ea"/>
              </a:rPr>
              <a:t>sleeping</a:t>
            </a:r>
            <a:r>
              <a:rPr lang="zh-CN" altLang="en-US" b="0" dirty="0">
                <a:latin typeface="Times New Roman Regular" panose="02020603050405020304" charset="0"/>
                <a:ea typeface="Microsoft YaHei" charset="0"/>
                <a:cs typeface="Times New Roman Regular" panose="02020603050405020304" charset="0"/>
                <a:sym typeface="+mn-ea"/>
              </a:rPr>
              <a:t>状态</a:t>
            </a:r>
            <a:r>
              <a:rPr lang="en-US" altLang="zh-CN" b="0" dirty="0">
                <a:latin typeface="Times New Roman Regular" panose="02020603050405020304" charset="0"/>
                <a:ea typeface="Microsoft YaHei" charset="0"/>
                <a:cs typeface="Times New Roman Regular" panose="02020603050405020304" charset="0"/>
                <a:sym typeface="+mn-ea"/>
              </a:rPr>
              <a:t>2</a:t>
            </a:r>
            <a:r>
              <a:rPr lang="zh-CN" altLang="en-US" b="0" dirty="0">
                <a:latin typeface="Times New Roman Regular" panose="02020603050405020304" charset="0"/>
                <a:ea typeface="Microsoft YaHei" charset="0"/>
                <a:cs typeface="Times New Roman Regular" panose="02020603050405020304" charset="0"/>
                <a:sym typeface="+mn-ea"/>
              </a:rPr>
              <a:t>秒</a:t>
            </a:r>
            <a:endParaRPr lang="zh-CN" altLang="en-US" b="0" dirty="0">
              <a:latin typeface="Times New Roman Regular" panose="02020603050405020304" charset="0"/>
              <a:ea typeface="Microsoft YaHei" charset="0"/>
              <a:cs typeface="Times New Roman Regular" panose="02020603050405020304" charset="0"/>
            </a:endParaRPr>
          </a:p>
          <a:p>
            <a:pPr lvl="1" algn="just"/>
            <a:r>
              <a:rPr lang="zh-CN" altLang="en-US" b="0" dirty="0">
                <a:latin typeface="Times New Roman Regular" panose="02020603050405020304" charset="0"/>
                <a:ea typeface="Microsoft YaHei" charset="0"/>
                <a:cs typeface="Times New Roman Regular" panose="02020603050405020304" charset="0"/>
                <a:sym typeface="+mn-ea"/>
              </a:rPr>
              <a:t>内核调度子进程</a:t>
            </a:r>
            <a:endParaRPr lang="zh-CN" altLang="en-US" b="0" dirty="0">
              <a:latin typeface="Times New Roman Regular" panose="02020603050405020304" charset="0"/>
              <a:ea typeface="Microsoft YaHei" charset="0"/>
              <a:cs typeface="Times New Roman Regular" panose="02020603050405020304" charset="0"/>
              <a:sym typeface="+mn-ea"/>
            </a:endParaRPr>
          </a:p>
          <a:p>
            <a:pPr lvl="2" algn="just"/>
            <a:r>
              <a:rPr lang="zh-CN" altLang="en-US" b="0" dirty="0">
                <a:latin typeface="Times New Roman Regular" panose="02020603050405020304" charset="0"/>
                <a:ea typeface="Microsoft YaHei" charset="0"/>
                <a:cs typeface="Times New Roman Regular" panose="02020603050405020304" charset="0"/>
                <a:sym typeface="+mn-ea"/>
              </a:rPr>
              <a:t>调用第一个</a:t>
            </a:r>
            <a:r>
              <a:rPr lang="en-US" altLang="zh-CN" b="0" dirty="0">
                <a:latin typeface="Times New Roman Regular" panose="02020603050405020304" charset="0"/>
                <a:ea typeface="Microsoft YaHei" charset="0"/>
                <a:cs typeface="Times New Roman Regular" panose="02020603050405020304" charset="0"/>
                <a:sym typeface="+mn-ea"/>
              </a:rPr>
              <a:t>printf，</a:t>
            </a:r>
            <a:r>
              <a:rPr lang="zh-CN" altLang="en-US" b="0" dirty="0">
                <a:latin typeface="Times New Roman Regular" panose="02020603050405020304" charset="0"/>
                <a:ea typeface="Microsoft YaHei" charset="0"/>
                <a:cs typeface="Times New Roman Regular" panose="02020603050405020304" charset="0"/>
                <a:sym typeface="+mn-ea"/>
              </a:rPr>
              <a:t>子进程</a:t>
            </a:r>
            <a:r>
              <a:rPr lang="en-US" altLang="zh-CN" dirty="0">
                <a:solidFill>
                  <a:srgbClr val="FF0000"/>
                </a:solidFill>
                <a:latin typeface="Times New Roman Bold" panose="02020603050405020304" charset="0"/>
                <a:ea typeface="Microsoft YaHei" charset="0"/>
                <a:cs typeface="Times New Roman Bold" panose="02020603050405020304" charset="0"/>
                <a:sym typeface="+mn-ea"/>
              </a:rPr>
              <a:t>sleep</a:t>
            </a:r>
            <a:r>
              <a:rPr lang="en-US" altLang="zh-CN" b="0" dirty="0">
                <a:latin typeface="Times New Roman Regular" panose="02020603050405020304" charset="0"/>
                <a:ea typeface="Microsoft YaHei" charset="0"/>
                <a:cs typeface="Times New Roman Regular" panose="02020603050405020304" charset="0"/>
                <a:sym typeface="+mn-ea"/>
              </a:rPr>
              <a:t> </a:t>
            </a:r>
            <a:r>
              <a:rPr lang="en-US" altLang="zh-CN" dirty="0">
                <a:solidFill>
                  <a:srgbClr val="FF0000"/>
                </a:solidFill>
                <a:latin typeface="Times New Roman Bold" panose="02020603050405020304" charset="0"/>
                <a:ea typeface="Microsoft YaHei" charset="0"/>
                <a:cs typeface="Times New Roman Bold" panose="02020603050405020304" charset="0"/>
                <a:sym typeface="+mn-ea"/>
              </a:rPr>
              <a:t>2</a:t>
            </a:r>
            <a:r>
              <a:rPr lang="zh-CN" altLang="en-US" b="0" dirty="0">
                <a:latin typeface="Times New Roman Regular" panose="02020603050405020304" charset="0"/>
                <a:ea typeface="Microsoft YaHei" charset="0"/>
                <a:cs typeface="Times New Roman Regular" panose="02020603050405020304" charset="0"/>
                <a:sym typeface="+mn-ea"/>
              </a:rPr>
              <a:t>秒</a:t>
            </a:r>
            <a:endParaRPr lang="zh-CN" altLang="en-US" b="0" dirty="0">
              <a:latin typeface="Times New Roman Regular" panose="02020603050405020304" charset="0"/>
              <a:ea typeface="Microsoft YaHei" charset="0"/>
              <a:cs typeface="Times New Roman Regular" panose="02020603050405020304" charset="0"/>
              <a:sym typeface="+mn-ea"/>
            </a:endParaRPr>
          </a:p>
          <a:p>
            <a:pPr lvl="1" algn="just"/>
            <a:r>
              <a:rPr lang="zh-CN" altLang="en-US" b="0" dirty="0">
                <a:solidFill>
                  <a:srgbClr val="FF0000"/>
                </a:solidFill>
                <a:latin typeface="Times New Roman Regular" panose="02020603050405020304" charset="0"/>
                <a:ea typeface="Microsoft YaHei" charset="0"/>
                <a:cs typeface="Times New Roman Regular" panose="02020603050405020304" charset="0"/>
                <a:sym typeface="+mn-ea"/>
              </a:rPr>
              <a:t>内核调度父进程</a:t>
            </a:r>
            <a:endParaRPr lang="zh-CN" altLang="en-US" b="0" dirty="0">
              <a:latin typeface="Times New Roman Regular" panose="02020603050405020304" charset="0"/>
              <a:ea typeface="Microsoft YaHei" charset="0"/>
              <a:cs typeface="Times New Roman Regular" panose="02020603050405020304" charset="0"/>
              <a:sym typeface="+mn-ea"/>
            </a:endParaRPr>
          </a:p>
          <a:p>
            <a:pPr lvl="2" algn="just"/>
            <a:r>
              <a:rPr lang="zh-CN" altLang="en-US" b="0" dirty="0">
                <a:latin typeface="Times New Roman Regular" panose="02020603050405020304" charset="0"/>
                <a:ea typeface="Microsoft YaHei" charset="0"/>
                <a:cs typeface="Times New Roman Regular" panose="02020603050405020304" charset="0"/>
                <a:sym typeface="+mn-ea"/>
              </a:rPr>
              <a:t>调用第</a:t>
            </a:r>
            <a:r>
              <a:rPr lang="en-US" altLang="zh-CN" b="0" dirty="0">
                <a:latin typeface="Times New Roman Regular" panose="02020603050405020304" charset="0"/>
                <a:ea typeface="Microsoft YaHei" charset="0"/>
                <a:cs typeface="Times New Roman Regular" panose="02020603050405020304" charset="0"/>
                <a:sym typeface="+mn-ea"/>
              </a:rPr>
              <a:t>2</a:t>
            </a:r>
            <a:r>
              <a:rPr lang="zh-CN" altLang="en-US" b="0" dirty="0">
                <a:latin typeface="Times New Roman Regular" panose="02020603050405020304" charset="0"/>
                <a:ea typeface="Microsoft YaHei" charset="0"/>
                <a:cs typeface="Times New Roman Regular" panose="02020603050405020304" charset="0"/>
                <a:sym typeface="+mn-ea"/>
              </a:rPr>
              <a:t>个</a:t>
            </a:r>
            <a:r>
              <a:rPr lang="en-US" altLang="zh-CN" b="0" dirty="0">
                <a:latin typeface="Times New Roman Regular" panose="02020603050405020304" charset="0"/>
                <a:ea typeface="Microsoft YaHei" charset="0"/>
                <a:cs typeface="Times New Roman Regular" panose="02020603050405020304" charset="0"/>
                <a:sym typeface="+mn-ea"/>
              </a:rPr>
              <a:t>printf，</a:t>
            </a:r>
            <a:r>
              <a:rPr lang="zh-CN" altLang="en-US" b="0" dirty="0">
                <a:latin typeface="Times New Roman Regular" panose="02020603050405020304" charset="0"/>
                <a:ea typeface="Microsoft YaHei" charset="0"/>
                <a:cs typeface="Times New Roman Regular" panose="02020603050405020304" charset="0"/>
                <a:sym typeface="+mn-ea"/>
              </a:rPr>
              <a:t>并结束父</a:t>
            </a:r>
            <a:r>
              <a:rPr lang="zh-CN" altLang="en-US" b="0" dirty="0">
                <a:latin typeface="Times New Roman Regular" panose="02020603050405020304" charset="0"/>
                <a:ea typeface="Microsoft YaHei" charset="0"/>
                <a:cs typeface="Times New Roman Regular" panose="02020603050405020304" charset="0"/>
                <a:sym typeface="+mn-ea"/>
              </a:rPr>
              <a:t>进程</a:t>
            </a:r>
            <a:endParaRPr lang="zh-CN" altLang="en-US" b="0" dirty="0">
              <a:latin typeface="Times New Roman Regular" panose="02020603050405020304" charset="0"/>
              <a:ea typeface="Microsoft YaHei" charset="0"/>
              <a:cs typeface="Times New Roman Regular" panose="02020603050405020304" charset="0"/>
              <a:sym typeface="+mn-ea"/>
            </a:endParaRPr>
          </a:p>
          <a:p>
            <a:pPr lvl="1" algn="just"/>
            <a:r>
              <a:rPr lang="zh-CN" altLang="en-US" b="0" dirty="0">
                <a:latin typeface="Times New Roman Regular" panose="02020603050405020304" charset="0"/>
                <a:ea typeface="Microsoft YaHei" charset="0"/>
                <a:cs typeface="Times New Roman Regular" panose="02020603050405020304" charset="0"/>
                <a:sym typeface="+mn-ea"/>
              </a:rPr>
              <a:t>内核调度子进程</a:t>
            </a:r>
            <a:endParaRPr lang="zh-CN" altLang="en-US" b="0" dirty="0">
              <a:latin typeface="Times New Roman Regular" panose="02020603050405020304" charset="0"/>
              <a:ea typeface="Microsoft YaHei" charset="0"/>
              <a:cs typeface="Times New Roman Regular" panose="02020603050405020304" charset="0"/>
              <a:sym typeface="+mn-ea"/>
            </a:endParaRPr>
          </a:p>
          <a:p>
            <a:pPr lvl="2" algn="just"/>
            <a:r>
              <a:rPr lang="zh-CN" altLang="en-US" b="0" dirty="0">
                <a:latin typeface="Times New Roman Regular" panose="02020603050405020304" charset="0"/>
                <a:ea typeface="Microsoft YaHei" charset="0"/>
                <a:cs typeface="Times New Roman Regular" panose="02020603050405020304" charset="0"/>
                <a:sym typeface="+mn-ea"/>
              </a:rPr>
              <a:t>调用第</a:t>
            </a:r>
            <a:r>
              <a:rPr lang="en-US" altLang="zh-CN" b="0" dirty="0">
                <a:latin typeface="Times New Roman Regular" panose="02020603050405020304" charset="0"/>
                <a:ea typeface="Microsoft YaHei" charset="0"/>
                <a:cs typeface="Times New Roman Regular" panose="02020603050405020304" charset="0"/>
                <a:sym typeface="+mn-ea"/>
              </a:rPr>
              <a:t>2</a:t>
            </a:r>
            <a:r>
              <a:rPr lang="zh-CN" altLang="en-US" b="0" dirty="0">
                <a:latin typeface="Times New Roman Regular" panose="02020603050405020304" charset="0"/>
                <a:ea typeface="Microsoft YaHei" charset="0"/>
                <a:cs typeface="Times New Roman Regular" panose="02020603050405020304" charset="0"/>
                <a:sym typeface="+mn-ea"/>
              </a:rPr>
              <a:t>个</a:t>
            </a:r>
            <a:r>
              <a:rPr lang="en-US" altLang="zh-CN" b="0" dirty="0">
                <a:latin typeface="Times New Roman Regular" panose="02020603050405020304" charset="0"/>
                <a:ea typeface="Microsoft YaHei" charset="0"/>
                <a:cs typeface="Times New Roman Regular" panose="02020603050405020304" charset="0"/>
                <a:sym typeface="+mn-ea"/>
              </a:rPr>
              <a:t>printf</a:t>
            </a:r>
            <a:r>
              <a:rPr lang="zh-CN" altLang="en-US" b="0" dirty="0">
                <a:latin typeface="Times New Roman Regular" panose="02020603050405020304" charset="0"/>
                <a:ea typeface="Microsoft YaHei" charset="0"/>
                <a:cs typeface="Times New Roman Regular" panose="02020603050405020304" charset="0"/>
                <a:sym typeface="+mn-ea"/>
              </a:rPr>
              <a:t>，并</a:t>
            </a:r>
            <a:r>
              <a:rPr lang="zh-CN" altLang="en-US" b="0" dirty="0">
                <a:latin typeface="Times New Roman Regular" panose="02020603050405020304" charset="0"/>
                <a:ea typeface="Microsoft YaHei" charset="0"/>
                <a:cs typeface="Times New Roman Regular" panose="02020603050405020304" charset="0"/>
                <a:sym typeface="+mn-ea"/>
              </a:rPr>
              <a:t>结束</a:t>
            </a:r>
            <a:r>
              <a:rPr lang="zh-CN" altLang="en-US" b="0" dirty="0">
                <a:latin typeface="Times New Roman Regular" panose="02020603050405020304" charset="0"/>
                <a:ea typeface="Microsoft YaHei" charset="0"/>
                <a:cs typeface="Times New Roman Regular" panose="02020603050405020304" charset="0"/>
                <a:sym typeface="+mn-ea"/>
              </a:rPr>
              <a:t>子进程</a:t>
            </a:r>
            <a:endParaRPr lang="zh-CN" altLang="en-US" dirty="0">
              <a:latin typeface="仿宋" panose="02010609060101010101" pitchFamily="49" charset="-122"/>
              <a:ea typeface="仿宋" panose="02010609060101010101" pitchFamily="49" charset="-122"/>
              <a:cs typeface="仿宋" panose="02010609060101010101" pitchFamily="49" charset="-122"/>
            </a:endParaRPr>
          </a:p>
        </p:txBody>
      </p:sp>
      <p:sp>
        <p:nvSpPr>
          <p:cNvPr id="2" name="Title 1"/>
          <p:cNvSpPr>
            <a:spLocks noGrp="1"/>
          </p:cNvSpPr>
          <p:nvPr/>
        </p:nvSpPr>
        <p:spPr>
          <a:xfrm>
            <a:off x="476025" y="435678"/>
            <a:ext cx="10122791"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a:lstStyle>
          <a:p>
            <a:r>
              <a:rPr lang="en-US" kern="0" dirty="0">
                <a:latin typeface="Courier New" panose="02070609020205020404"/>
                <a:cs typeface="Courier New" panose="02070609020205020404"/>
              </a:rPr>
              <a:t>fork</a:t>
            </a:r>
            <a:r>
              <a:rPr lang="zh-CN" altLang="en-US"/>
              <a:t>示例</a:t>
            </a:r>
            <a:r>
              <a:rPr lang="en-US" altLang="zh-CN"/>
              <a:t>3——</a:t>
            </a:r>
            <a:r>
              <a:rPr lang="zh-CN" altLang="en-US"/>
              <a:t>多</a:t>
            </a:r>
            <a:r>
              <a:rPr lang="en-US" altLang="zh-CN"/>
              <a:t>sleep</a:t>
            </a:r>
            <a:r>
              <a:rPr lang="zh-CN" altLang="en-US"/>
              <a:t>一秒</a:t>
            </a:r>
            <a:r>
              <a:rPr lang="en-US" altLang="zh-CN"/>
              <a:t>？</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609600" y="1752600"/>
            <a:ext cx="4990465" cy="3168015"/>
          </a:xfrm>
          <a:prstGeom prst="rect">
            <a:avLst/>
          </a:prstGeom>
          <a:solidFill>
            <a:srgbClr val="E6E6E6"/>
          </a:solidFill>
          <a:ln w="3240">
            <a:solidFill>
              <a:schemeClr val="tx1"/>
            </a:solidFill>
            <a:miter lim="800000"/>
          </a:ln>
          <a:effectLst/>
        </p:spPr>
        <p:txBody>
          <a:bodyPr wrap="none" lIns="90000" tIns="46800" rIns="90000" bIns="46800">
            <a:noAutofit/>
          </a:bodyPr>
          <a:lstStyle/>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panose="02070609020205020404"/>
                <a:ea typeface="msgothic" charset="0"/>
                <a:cs typeface="Courier New" panose="02070609020205020404"/>
              </a:rPr>
              <a:t>linux</a:t>
            </a:r>
            <a:r>
              <a:rPr lang="en-GB" sz="1600" dirty="0">
                <a:latin typeface="Courier New" panose="02070609020205020404"/>
                <a:ea typeface="msgothic" charset="0"/>
                <a:cs typeface="Courier New" panose="02070609020205020404"/>
              </a:rPr>
              <a:t>&gt; </a:t>
            </a:r>
            <a:r>
              <a:rPr lang="en-US" altLang="en-GB" sz="1600" dirty="0">
                <a:latin typeface="Courier New" panose="02070609020205020404"/>
                <a:ea typeface="msgothic" charset="0"/>
                <a:cs typeface="Courier New" panose="02070609020205020404"/>
              </a:rPr>
              <a:t>gcc -g fork.c -o fork</a:t>
            </a:r>
            <a:endParaRPr lang="en-GB"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GB" sz="1600" dirty="0">
                <a:latin typeface="Courier New" panose="02070609020205020404"/>
                <a:ea typeface="msgothic" charset="0"/>
                <a:cs typeface="Courier New" panose="02070609020205020404"/>
              </a:rPr>
              <a:t>linux&gt; gdb ./fork</a:t>
            </a:r>
            <a:endParaRPr lang="en-US" altLang="en-GB"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GB" sz="1600" dirty="0">
                <a:latin typeface="Courier New" panose="02070609020205020404"/>
                <a:ea typeface="msgothic" charset="0"/>
                <a:cs typeface="Courier New" panose="02070609020205020404"/>
              </a:rPr>
              <a:t>(gdb) </a:t>
            </a:r>
            <a:r>
              <a:rPr lang="en-US" altLang="zh-CN" sz="1600" dirty="0">
                <a:latin typeface="Courier New" panose="02070609020205020404"/>
                <a:ea typeface="msgothic" charset="0"/>
                <a:cs typeface="Courier New" panose="02070609020205020404"/>
              </a:rPr>
              <a:t>set follow-fork-mode child</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(gdb) b 28  # </a:t>
            </a:r>
            <a:r>
              <a:rPr lang="zh-CN" altLang="en-US" sz="1600" dirty="0">
                <a:latin typeface="Courier New" panose="02070609020205020404"/>
                <a:ea typeface="msgothic" charset="0"/>
                <a:cs typeface="Courier New" panose="02070609020205020404"/>
              </a:rPr>
              <a:t>在</a:t>
            </a:r>
            <a:r>
              <a:rPr lang="en-US" altLang="zh-CN" sz="1600" dirty="0">
                <a:latin typeface="Courier New" panose="02070609020205020404"/>
                <a:ea typeface="msgothic" charset="0"/>
                <a:cs typeface="Courier New" panose="02070609020205020404"/>
              </a:rPr>
              <a:t>if(pid == 0)</a:t>
            </a:r>
            <a:r>
              <a:rPr lang="zh-CN" altLang="en-US" sz="1600" dirty="0">
                <a:latin typeface="Courier New" panose="02070609020205020404"/>
                <a:ea typeface="msgothic" charset="0"/>
                <a:cs typeface="Courier New" panose="02070609020205020404"/>
              </a:rPr>
              <a:t>处设置断点</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(gdb) run   # </a:t>
            </a:r>
            <a:r>
              <a:rPr lang="zh-CN" altLang="en-US" sz="1600" dirty="0">
                <a:latin typeface="Courier New" panose="02070609020205020404"/>
                <a:ea typeface="msgothic" charset="0"/>
                <a:cs typeface="Courier New" panose="02070609020205020404"/>
              </a:rPr>
              <a:t>进程运行到</a:t>
            </a:r>
            <a:r>
              <a:rPr lang="zh-CN" altLang="en-US" sz="1600" dirty="0">
                <a:latin typeface="Courier New" panose="02070609020205020404"/>
                <a:ea typeface="msgothic" charset="0"/>
                <a:cs typeface="Courier New" panose="02070609020205020404"/>
              </a:rPr>
              <a:t>断点</a:t>
            </a:r>
            <a:endParaRPr lang="zh-CN" altLang="en-US"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a:t>
            </a:r>
            <a:r>
              <a:rPr lang="zh-CN" altLang="en-US" sz="1600" dirty="0">
                <a:latin typeface="Courier New" panose="02070609020205020404"/>
                <a:ea typeface="msgothic" charset="0"/>
                <a:cs typeface="Courier New" panose="02070609020205020404"/>
              </a:rPr>
              <a:t>接下来可以单步跟踪到</a:t>
            </a:r>
            <a:r>
              <a:rPr lang="en-US" altLang="zh-CN" sz="1600" dirty="0">
                <a:latin typeface="Courier New" panose="02070609020205020404"/>
                <a:ea typeface="msgothic" charset="0"/>
                <a:cs typeface="Courier New" panose="02070609020205020404"/>
              </a:rPr>
              <a:t>child</a:t>
            </a:r>
            <a:r>
              <a:rPr lang="zh-CN" altLang="en-US" sz="1600" dirty="0">
                <a:latin typeface="Courier New" panose="02070609020205020404"/>
                <a:ea typeface="msgothic" charset="0"/>
                <a:cs typeface="Courier New" panose="02070609020205020404"/>
              </a:rPr>
              <a:t>进程</a:t>
            </a:r>
            <a:endParaRPr lang="zh-CN" altLang="en-US" sz="1600" dirty="0">
              <a:latin typeface="Courier New" panose="02070609020205020404"/>
              <a:ea typeface="msgothic" charset="0"/>
              <a:cs typeface="Courier New" panose="02070609020205020404"/>
            </a:endParaRPr>
          </a:p>
        </p:txBody>
      </p:sp>
      <p:sp>
        <p:nvSpPr>
          <p:cNvPr id="8" name="Rectangle 3"/>
          <p:cNvSpPr txBox="1">
            <a:spLocks noChangeArrowheads="1"/>
          </p:cNvSpPr>
          <p:nvPr/>
        </p:nvSpPr>
        <p:spPr bwMode="auto">
          <a:xfrm>
            <a:off x="6402070" y="1358265"/>
            <a:ext cx="5615940" cy="519493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pPr algn="just"/>
            <a:r>
              <a:rPr lang="en-US" dirty="0">
                <a:latin typeface="Microsoft YaHei" charset="0"/>
                <a:ea typeface="Microsoft YaHei" charset="0"/>
                <a:cs typeface="Microsoft YaHei" charset="0"/>
              </a:rPr>
              <a:t>gdb</a:t>
            </a:r>
            <a:r>
              <a:rPr lang="zh-CN" altLang="en-US" dirty="0">
                <a:latin typeface="Microsoft YaHei" charset="0"/>
                <a:ea typeface="Microsoft YaHei" charset="0"/>
                <a:cs typeface="Microsoft YaHei" charset="0"/>
              </a:rPr>
              <a:t>默认调试父进程</a:t>
            </a:r>
            <a:endParaRPr lang="zh-CN" altLang="en-US" dirty="0">
              <a:latin typeface="Microsoft YaHei" charset="0"/>
              <a:ea typeface="Microsoft YaHei" charset="0"/>
              <a:cs typeface="Microsoft YaHei" charset="0"/>
            </a:endParaRPr>
          </a:p>
          <a:p>
            <a:pPr algn="just"/>
            <a:r>
              <a:rPr lang="zh-CN" altLang="en-US" dirty="0">
                <a:latin typeface="Microsoft YaHei" charset="0"/>
                <a:ea typeface="Microsoft YaHei" charset="0"/>
                <a:cs typeface="Microsoft YaHei" charset="0"/>
                <a:sym typeface="+mn-ea"/>
              </a:rPr>
              <a:t>选项控制调试子进程</a:t>
            </a:r>
            <a:endParaRPr lang="zh-CN" altLang="en-US" dirty="0">
              <a:latin typeface="Microsoft YaHei" charset="0"/>
              <a:ea typeface="Microsoft YaHei" charset="0"/>
              <a:cs typeface="Microsoft YaHei" charset="0"/>
              <a:sym typeface="+mn-ea"/>
            </a:endParaRPr>
          </a:p>
          <a:p>
            <a:pPr lvl="1" algn="just"/>
            <a:r>
              <a:rPr lang="en-US" altLang="zh-CN" dirty="0">
                <a:latin typeface="Courier New" panose="02070609020205020404"/>
                <a:ea typeface="msgothic" charset="0"/>
                <a:cs typeface="Courier New" panose="02070609020205020404"/>
                <a:sym typeface="+mn-ea"/>
              </a:rPr>
              <a:t>set follow-fork-mode child</a:t>
            </a:r>
            <a:endParaRPr lang="en-US" altLang="zh-CN" dirty="0">
              <a:latin typeface="Courier New" panose="02070609020205020404"/>
              <a:ea typeface="msgothic" charset="0"/>
              <a:cs typeface="Courier New" panose="02070609020205020404"/>
              <a:sym typeface="+mn-ea"/>
            </a:endParaRPr>
          </a:p>
          <a:p>
            <a:pPr lvl="1" algn="just"/>
            <a:r>
              <a:rPr lang="zh-CN" altLang="en-US" dirty="0">
                <a:latin typeface="Microsoft YaHei" charset="0"/>
                <a:ea typeface="Microsoft YaHei" charset="0"/>
                <a:cs typeface="仿宋" panose="02010609060101010101" pitchFamily="49" charset="-122"/>
              </a:rPr>
              <a:t>调试</a:t>
            </a:r>
            <a:endParaRPr lang="en-US" altLang="zh-CN" dirty="0">
              <a:latin typeface="Microsoft YaHei" charset="0"/>
              <a:ea typeface="Microsoft YaHei" charset="0"/>
              <a:cs typeface="仿宋" panose="02010609060101010101" pitchFamily="49" charset="-122"/>
            </a:endParaRPr>
          </a:p>
        </p:txBody>
      </p:sp>
      <p:sp>
        <p:nvSpPr>
          <p:cNvPr id="2" name="Title 1"/>
          <p:cNvSpPr>
            <a:spLocks noGrp="1"/>
          </p:cNvSpPr>
          <p:nvPr/>
        </p:nvSpPr>
        <p:spPr>
          <a:xfrm>
            <a:off x="476025" y="435678"/>
            <a:ext cx="10122791"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a:lstStyle>
          <a:p>
            <a:r>
              <a:rPr lang="en-US" kern="0" dirty="0">
                <a:latin typeface="Courier New" panose="02070609020205020404"/>
                <a:cs typeface="Courier New" panose="02070609020205020404"/>
              </a:rPr>
              <a:t>gdb</a:t>
            </a:r>
            <a:r>
              <a:rPr lang="zh-CN" altLang="en-US" kern="0" dirty="0">
                <a:latin typeface="Courier New" panose="02070609020205020404"/>
                <a:cs typeface="Courier New" panose="02070609020205020404"/>
              </a:rPr>
              <a:t>调试多</a:t>
            </a:r>
            <a:r>
              <a:rPr lang="zh-CN" altLang="en-US" kern="0" dirty="0">
                <a:latin typeface="Courier New" panose="02070609020205020404"/>
                <a:cs typeface="Courier New" panose="02070609020205020404"/>
              </a:rPr>
              <a:t>进程</a:t>
            </a:r>
            <a:endParaRPr lang="zh-CN" altLang="en-US" kern="0" dirty="0">
              <a:latin typeface="Courier New" panose="02070609020205020404"/>
              <a:cs typeface="Courier New" panose="020706090202050204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使用</a:t>
            </a:r>
            <a:r>
              <a:rPr lang="zh-CN" altLang="en-US" dirty="0">
                <a:solidFill>
                  <a:srgbClr val="00B050"/>
                </a:solidFill>
              </a:rPr>
              <a:t>进程图</a:t>
            </a:r>
            <a:r>
              <a:rPr lang="zh-CN" altLang="en-US" dirty="0"/>
              <a:t>对</a:t>
            </a:r>
            <a:r>
              <a:rPr lang="en-US" dirty="0"/>
              <a:t> </a:t>
            </a:r>
            <a:r>
              <a:rPr lang="en-US" dirty="0">
                <a:latin typeface="Courier New" panose="02070609020205020404"/>
                <a:cs typeface="Courier New" panose="02070609020205020404"/>
              </a:rPr>
              <a:t>fork</a:t>
            </a:r>
            <a:r>
              <a:rPr lang="en-US" dirty="0"/>
              <a:t> </a:t>
            </a:r>
            <a:r>
              <a:rPr lang="zh-CN" altLang="en-US" dirty="0"/>
              <a:t>进行建模</a:t>
            </a:r>
            <a:endParaRPr lang="zh-CN" altLang="en-US" dirty="0"/>
          </a:p>
        </p:txBody>
      </p:sp>
      <p:sp>
        <p:nvSpPr>
          <p:cNvPr id="3" name="Content Placeholder 2"/>
          <p:cNvSpPr>
            <a:spLocks noGrp="1"/>
          </p:cNvSpPr>
          <p:nvPr>
            <p:ph idx="1"/>
          </p:nvPr>
        </p:nvSpPr>
        <p:spPr>
          <a:xfrm>
            <a:off x="1066800" y="1362076"/>
            <a:ext cx="10210800" cy="4657725"/>
          </a:xfrm>
        </p:spPr>
        <p:txBody>
          <a:bodyPr/>
          <a:lstStyle/>
          <a:p>
            <a:r>
              <a:rPr lang="zh-CN" altLang="en-US" sz="2800" i="1" dirty="0">
                <a:solidFill>
                  <a:srgbClr val="00B050"/>
                </a:solidFill>
              </a:rPr>
              <a:t>进程图</a:t>
            </a:r>
            <a:r>
              <a:rPr lang="zh-CN" altLang="en-US" sz="2800" dirty="0"/>
              <a:t>是刻画并发程序中语句的偏序关系的工具</a:t>
            </a:r>
            <a:endParaRPr lang="en-US" sz="2800" dirty="0"/>
          </a:p>
          <a:p>
            <a:pPr lvl="1"/>
            <a:r>
              <a:rPr lang="zh-CN" altLang="en-US" sz="2400" dirty="0"/>
              <a:t>每个顶点对应于一条语句的执行</a:t>
            </a:r>
            <a:endParaRPr lang="zh-CN" altLang="en-US" sz="2400" dirty="0"/>
          </a:p>
          <a:p>
            <a:pPr lvl="1"/>
            <a:r>
              <a:rPr lang="zh-CN" altLang="en-US" sz="2400" dirty="0"/>
              <a:t>有向边</a:t>
            </a:r>
            <a:r>
              <a:rPr lang="en-US" altLang="zh-CN" sz="2400" dirty="0">
                <a:latin typeface="Consolas" panose="020B0609020204030204" pitchFamily="49" charset="0"/>
                <a:cs typeface="Consolas" panose="020B0609020204030204" pitchFamily="49" charset="0"/>
              </a:rPr>
              <a:t> </a:t>
            </a:r>
            <a:r>
              <a:rPr lang="en-US" sz="2400" dirty="0">
                <a:latin typeface="Consolas" panose="020B0609020204030204" pitchFamily="49" charset="0"/>
                <a:cs typeface="Consolas" panose="020B0609020204030204" pitchFamily="49" charset="0"/>
              </a:rPr>
              <a:t>a -&gt; b </a:t>
            </a:r>
            <a:r>
              <a:rPr lang="zh-CN" altLang="en-US" sz="2400" dirty="0"/>
              <a:t>表示语句</a:t>
            </a:r>
            <a:r>
              <a:rPr lang="en-US" sz="2400" dirty="0">
                <a:latin typeface="Consolas" panose="020B0609020204030204" pitchFamily="49" charset="0"/>
                <a:cs typeface="Consolas" panose="020B0609020204030204" pitchFamily="49" charset="0"/>
              </a:rPr>
              <a:t> a </a:t>
            </a:r>
            <a:r>
              <a:rPr lang="zh-CN" altLang="en-US" sz="2400" dirty="0"/>
              <a:t>发生在语句</a:t>
            </a:r>
            <a:r>
              <a:rPr lang="en-US" sz="2400" dirty="0">
                <a:latin typeface="Consolas" panose="020B0609020204030204" pitchFamily="49" charset="0"/>
                <a:cs typeface="Consolas" panose="020B0609020204030204" pitchFamily="49" charset="0"/>
              </a:rPr>
              <a:t> b </a:t>
            </a:r>
            <a:r>
              <a:rPr lang="zh-CN" altLang="en-US" sz="2400" dirty="0"/>
              <a:t>前</a:t>
            </a:r>
            <a:endParaRPr lang="en-US" sz="2400" dirty="0"/>
          </a:p>
          <a:p>
            <a:pPr lvl="1"/>
            <a:r>
              <a:rPr lang="zh-CN" altLang="en-US" sz="2400" dirty="0"/>
              <a:t>边上可以标记变量的</a:t>
            </a:r>
            <a:r>
              <a:rPr lang="zh-CN" altLang="en-US" sz="2400" dirty="0">
                <a:sym typeface="+mn-ea"/>
              </a:rPr>
              <a:t>当前</a:t>
            </a:r>
            <a:r>
              <a:rPr lang="zh-CN" altLang="en-US" sz="2400" dirty="0"/>
              <a:t>值</a:t>
            </a:r>
            <a:endParaRPr lang="zh-CN" altLang="en-US" sz="2400" dirty="0"/>
          </a:p>
          <a:p>
            <a:pPr lvl="1"/>
            <a:r>
              <a:rPr lang="zh-CN" altLang="en-US" sz="2400" dirty="0" err="1">
                <a:latin typeface="Courier New" panose="02070609020205020404"/>
                <a:cs typeface="Courier New" panose="02070609020205020404"/>
              </a:rPr>
              <a:t>对应于</a:t>
            </a:r>
            <a:r>
              <a:rPr lang="en-US" altLang="zh-CN" sz="2400" dirty="0">
                <a:latin typeface="Courier New" panose="02070609020205020404"/>
                <a:cs typeface="Courier New" panose="02070609020205020404"/>
              </a:rPr>
              <a:t> </a:t>
            </a:r>
            <a:r>
              <a:rPr lang="en-US" sz="2400" dirty="0" err="1">
                <a:latin typeface="Courier New" panose="02070609020205020404"/>
                <a:cs typeface="Courier New" panose="02070609020205020404"/>
              </a:rPr>
              <a:t>printf</a:t>
            </a:r>
            <a:r>
              <a:rPr lang="en-US" sz="2400" dirty="0"/>
              <a:t> </a:t>
            </a:r>
            <a:r>
              <a:rPr lang="zh-CN" altLang="en-US" sz="2400" dirty="0">
                <a:cs typeface="+mn-ea"/>
              </a:rPr>
              <a:t>的顶点可以</a:t>
            </a:r>
            <a:r>
              <a:rPr lang="zh-CN" altLang="en-US" sz="2400" dirty="0">
                <a:sym typeface="+mn-ea"/>
              </a:rPr>
              <a:t>标记</a:t>
            </a:r>
            <a:r>
              <a:rPr lang="zh-CN" altLang="en-US" sz="2400" dirty="0">
                <a:cs typeface="+mn-ea"/>
              </a:rPr>
              <a:t>输出</a:t>
            </a:r>
            <a:endParaRPr lang="zh-CN" altLang="en-US" dirty="0"/>
          </a:p>
          <a:p>
            <a:pPr lvl="1"/>
            <a:r>
              <a:rPr lang="zh-CN" altLang="en-US" sz="2400" dirty="0">
                <a:cs typeface="+mn-ea"/>
              </a:rPr>
              <a:t>每个图</a:t>
            </a:r>
            <a:r>
              <a:rPr lang="zh-CN" altLang="en-US" sz="2400" dirty="0">
                <a:cs typeface="+mn-ea"/>
              </a:rPr>
              <a:t>从没有入边的顶点开始</a:t>
            </a:r>
            <a:r>
              <a:rPr lang="en-US" sz="2400" dirty="0"/>
              <a:t> </a:t>
            </a:r>
            <a:endParaRPr lang="en-US" sz="2400" dirty="0">
              <a:latin typeface="Courier New" panose="02070609020205020404"/>
              <a:cs typeface="Courier New" panose="02070609020205020404"/>
            </a:endParaRPr>
          </a:p>
          <a:p>
            <a:r>
              <a:rPr lang="zh-CN" altLang="en-US" sz="2800" dirty="0"/>
              <a:t>进程图的任何</a:t>
            </a:r>
            <a:r>
              <a:rPr lang="zh-CN" altLang="en-US" sz="2800" i="1" dirty="0"/>
              <a:t>拓扑排序</a:t>
            </a:r>
            <a:r>
              <a:rPr lang="zh-CN" altLang="en-US" sz="2800" dirty="0"/>
              <a:t>都对应一个</a:t>
            </a:r>
            <a:r>
              <a:rPr lang="zh-CN" altLang="en-US" sz="2800" b="1" dirty="0">
                <a:solidFill>
                  <a:srgbClr val="00B050"/>
                </a:solidFill>
              </a:rPr>
              <a:t>可行</a:t>
            </a:r>
            <a:r>
              <a:rPr lang="zh-CN" altLang="en-US" sz="2800" dirty="0"/>
              <a:t>的全序排列</a:t>
            </a:r>
            <a:endParaRPr lang="zh-CN" altLang="en-US" dirty="0"/>
          </a:p>
          <a:p>
            <a:pPr lvl="1"/>
            <a:r>
              <a:rPr lang="en-US" sz="2400" dirty="0">
                <a:cs typeface="+mn-ea"/>
              </a:rPr>
              <a:t>顶点的</a:t>
            </a:r>
            <a:r>
              <a:rPr lang="zh-CN" altLang="en-US" sz="2400" dirty="0">
                <a:sym typeface="+mn-ea"/>
              </a:rPr>
              <a:t>全序排列</a:t>
            </a:r>
            <a:r>
              <a:rPr lang="zh-CN" altLang="en-US" sz="2400" dirty="0">
                <a:cs typeface="+mn-ea"/>
                <a:sym typeface="+mn-ea"/>
              </a:rPr>
              <a:t>中</a:t>
            </a:r>
            <a:r>
              <a:rPr lang="en-US" sz="2400" dirty="0" err="1">
                <a:cs typeface="+mn-ea"/>
              </a:rPr>
              <a:t>所有边都是从左向右的</a:t>
            </a:r>
            <a:endParaRPr lang="en-US" sz="2400" dirty="0" err="1">
              <a:cs typeface="+mn-ea"/>
            </a:endParaRPr>
          </a:p>
          <a:p>
            <a:pPr lvl="1"/>
            <a:r>
              <a:rPr lang="zh-CN" altLang="en-US" sz="2400" dirty="0">
                <a:solidFill>
                  <a:srgbClr val="FF0000"/>
                </a:solidFill>
              </a:rPr>
              <a:t>任意一个</a:t>
            </a:r>
            <a:r>
              <a:rPr lang="zh-CN" altLang="en-US" sz="2400" b="1" dirty="0">
                <a:solidFill>
                  <a:srgbClr val="FF0000"/>
                </a:solidFill>
                <a:sym typeface="+mn-ea"/>
              </a:rPr>
              <a:t>可行</a:t>
            </a:r>
            <a:r>
              <a:rPr lang="zh-CN" altLang="en-US" sz="2400" dirty="0">
                <a:solidFill>
                  <a:srgbClr val="FF0000"/>
                </a:solidFill>
                <a:sym typeface="+mn-ea"/>
              </a:rPr>
              <a:t>的全序排列</a:t>
            </a:r>
            <a:r>
              <a:rPr lang="en-US" altLang="zh-CN" sz="2400" dirty="0">
                <a:solidFill>
                  <a:srgbClr val="FF0000"/>
                </a:solidFill>
                <a:sym typeface="+mn-ea"/>
              </a:rPr>
              <a:t>，</a:t>
            </a:r>
            <a:r>
              <a:rPr lang="zh-CN" altLang="en-US" sz="2400" dirty="0">
                <a:solidFill>
                  <a:srgbClr val="FF0000"/>
                </a:solidFill>
                <a:sym typeface="+mn-ea"/>
              </a:rPr>
              <a:t>都是可能的进程调度顺序</a:t>
            </a:r>
            <a:endParaRPr lang="zh-CN" altLang="en-US" sz="2400" dirty="0">
              <a:solidFill>
                <a:srgbClr val="FF0000"/>
              </a:solidFill>
            </a:endParaRPr>
          </a:p>
          <a:p>
            <a:endParaRPr lang="zh-CN" altLang="en-US" sz="2400" dirty="0">
              <a:solidFill>
                <a:srgbClr val="FF0000"/>
              </a:solidFill>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进程图实例</a:t>
            </a:r>
            <a:endParaRPr lang="zh-CN" altLang="en-US" dirty="0"/>
          </a:p>
        </p:txBody>
      </p:sp>
      <p:sp>
        <p:nvSpPr>
          <p:cNvPr id="26" name="Text Box 3"/>
          <p:cNvSpPr txBox="1">
            <a:spLocks noChangeArrowheads="1"/>
          </p:cNvSpPr>
          <p:nvPr/>
        </p:nvSpPr>
        <p:spPr bwMode="auto">
          <a:xfrm>
            <a:off x="1120073" y="1547001"/>
            <a:ext cx="5128327" cy="3785652"/>
          </a:xfrm>
          <a:prstGeom prst="rect">
            <a:avLst/>
          </a:prstGeom>
          <a:solidFill>
            <a:srgbClr val="F6F5BD"/>
          </a:solidFill>
          <a:ln w="3175">
            <a:solidFill>
              <a:schemeClr val="tx1"/>
            </a:solidFill>
            <a:miter lim="800000"/>
          </a:ln>
          <a:effectLst/>
        </p:spPr>
        <p:txBody>
          <a:bodyPr wrap="none">
            <a:spAutoFit/>
          </a:bodyPr>
          <a:lstStyle/>
          <a:p>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a:solidFill>
                  <a:srgbClr val="4A00FF"/>
                </a:solidFill>
                <a:latin typeface="Menlo-Regular" panose="020B0609030804020204"/>
              </a:rPr>
              <a:t>main</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err="1">
                <a:solidFill>
                  <a:srgbClr val="2D961E"/>
                </a:solidFill>
                <a:latin typeface="Menlo-Regular" panose="020B0609030804020204"/>
              </a:rPr>
              <a:t>int</a:t>
            </a:r>
            <a:r>
              <a:rPr lang="fr-FR" sz="1600" dirty="0">
                <a:solidFill>
                  <a:srgbClr val="000000"/>
                </a:solidFill>
                <a:latin typeface="Menlo-Regular" panose="020B0609030804020204"/>
              </a:rPr>
              <a:t> </a:t>
            </a:r>
            <a:r>
              <a:rPr lang="fr-FR" sz="1600" dirty="0">
                <a:solidFill>
                  <a:srgbClr val="C1651C"/>
                </a:solidFill>
                <a:latin typeface="Menlo-Regular" panose="020B0609030804020204"/>
              </a:rPr>
              <a:t>x</a:t>
            </a:r>
            <a:r>
              <a:rPr lang="fr-FR" sz="1600" dirty="0">
                <a:solidFill>
                  <a:srgbClr val="000000"/>
                </a:solidFill>
                <a:latin typeface="Menlo-Regular" panose="020B0609030804020204"/>
              </a:rPr>
              <a:t> = 1;</a:t>
            </a:r>
            <a:endParaRPr lang="fr-FR" sz="1600" dirty="0">
              <a:solidFill>
                <a:srgbClr val="000000"/>
              </a:solidFill>
              <a:latin typeface="Menlo-Regular" panose="020B0609030804020204"/>
            </a:endParaRPr>
          </a:p>
          <a:p>
            <a:endParaRPr lang="fr-FR"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000000"/>
                </a:solidFill>
                <a:latin typeface="Menlo-Regular" panose="020B0609030804020204"/>
              </a:rPr>
              <a:t>pid</a:t>
            </a:r>
            <a:r>
              <a:rPr lang="fi-FI" sz="1600" dirty="0">
                <a:solidFill>
                  <a:srgbClr val="000000"/>
                </a:solidFill>
                <a:latin typeface="Menlo-Regular" panose="020B0609030804020204"/>
              </a:rPr>
              <a:t> = </a:t>
            </a:r>
            <a:r>
              <a:rPr lang="fi-FI" sz="1600" dirty="0" err="1">
                <a:solidFill>
                  <a:srgbClr val="000000"/>
                </a:solidFill>
                <a:latin typeface="Menlo-Regular" panose="020B0609030804020204"/>
              </a:rPr>
              <a:t>Fork</a:t>
            </a:r>
            <a:r>
              <a:rPr lang="fi-FI" sz="1600" dirty="0">
                <a:solidFill>
                  <a:srgbClr val="000000"/>
                </a:solidFill>
                <a:latin typeface="Menlo-Regular" panose="020B0609030804020204"/>
              </a:rPr>
              <a:t>(); </a:t>
            </a:r>
            <a:endParaRPr lang="fi-FI"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0) {  </a:t>
            </a:r>
            <a:r>
              <a:rPr lang="en-US" sz="1600" dirty="0">
                <a:solidFill>
                  <a:srgbClr val="CB2418"/>
                </a:solidFill>
                <a:latin typeface="Menlo-Regular" panose="020B0609030804020204"/>
              </a:rPr>
              <a:t>/* Child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"child : x=%d\n"</a:t>
            </a:r>
            <a:r>
              <a:rPr lang="en-US" sz="1600" dirty="0">
                <a:solidFill>
                  <a:srgbClr val="000000"/>
                </a:solidFill>
                <a:latin typeface="Menlo-Regular" panose="020B0609030804020204"/>
              </a:rPr>
              <a:t>, ++x);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fr-FR" sz="1600" dirty="0">
                <a:solidFill>
                  <a:srgbClr val="000000"/>
                </a:solidFill>
                <a:latin typeface="Menlo-Regular" panose="020B0609030804020204"/>
              </a:rPr>
              <a:t>    </a:t>
            </a:r>
            <a:r>
              <a:rPr lang="fr-FR" sz="1600" dirty="0">
                <a:solidFill>
                  <a:srgbClr val="CB2418"/>
                </a:solidFill>
                <a:latin typeface="Menlo-Regular" panose="020B0609030804020204"/>
              </a:rPr>
              <a:t>/* Parent */</a:t>
            </a:r>
            <a:endParaRPr lang="fr-FR"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"parent: x=%d\n"</a:t>
            </a:r>
            <a:r>
              <a:rPr lang="en-US" sz="1600" dirty="0">
                <a:solidFill>
                  <a:srgbClr val="000000"/>
                </a:solidFill>
                <a:latin typeface="Menlo-Regular" panose="020B0609030804020204"/>
              </a:rPr>
              <a:t>, --x);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p:txBody>
      </p:sp>
      <p:sp>
        <p:nvSpPr>
          <p:cNvPr id="4" name="Text Box 407"/>
          <p:cNvSpPr txBox="1">
            <a:spLocks noChangeArrowheads="1"/>
          </p:cNvSpPr>
          <p:nvPr/>
        </p:nvSpPr>
        <p:spPr bwMode="auto">
          <a:xfrm>
            <a:off x="7592151" y="2514600"/>
            <a:ext cx="1834033" cy="338554"/>
          </a:xfrm>
          <a:prstGeom prst="rect">
            <a:avLst/>
          </a:prstGeom>
          <a:noFill/>
          <a:ln w="25400">
            <a:noFill/>
            <a:miter lim="800000"/>
          </a:ln>
          <a:effectLst/>
        </p:spPr>
        <p:txBody>
          <a:bodyPr wrap="square">
            <a:spAutoFit/>
          </a:bodyPr>
          <a:lstStyle/>
          <a:p>
            <a:pPr algn="ctr"/>
            <a:r>
              <a:rPr lang="en-US" sz="1600" dirty="0">
                <a:solidFill>
                  <a:srgbClr val="FF0000"/>
                </a:solidFill>
                <a:latin typeface="Courier New" panose="02070609020205020404" pitchFamily="49" charset="0"/>
              </a:rPr>
              <a:t>child: </a:t>
            </a:r>
            <a:r>
              <a:rPr lang="en-US" sz="1600" dirty="0" err="1">
                <a:solidFill>
                  <a:srgbClr val="FF0000"/>
                </a:solidFill>
                <a:latin typeface="Courier New" panose="02070609020205020404" pitchFamily="49" charset="0"/>
              </a:rPr>
              <a:t>x</a:t>
            </a:r>
            <a:r>
              <a:rPr lang="en-US" sz="1600" dirty="0">
                <a:solidFill>
                  <a:srgbClr val="FF0000"/>
                </a:solidFill>
                <a:latin typeface="Courier New" panose="02070609020205020404" pitchFamily="49" charset="0"/>
              </a:rPr>
              <a:t>=2</a:t>
            </a:r>
            <a:endParaRPr lang="en-US" sz="1600" dirty="0">
              <a:solidFill>
                <a:srgbClr val="FF0000"/>
              </a:solidFill>
              <a:latin typeface="Courier New" panose="02070609020205020404" pitchFamily="49" charset="0"/>
            </a:endParaRPr>
          </a:p>
        </p:txBody>
      </p:sp>
      <p:sp>
        <p:nvSpPr>
          <p:cNvPr id="5" name="Oval 4"/>
          <p:cNvSpPr>
            <a:spLocks noChangeAspect="1"/>
          </p:cNvSpPr>
          <p:nvPr/>
        </p:nvSpPr>
        <p:spPr>
          <a:xfrm>
            <a:off x="6716739"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6" name="TextBox 5"/>
          <p:cNvSpPr txBox="1"/>
          <p:nvPr/>
        </p:nvSpPr>
        <p:spPr>
          <a:xfrm>
            <a:off x="6455298" y="3468791"/>
            <a:ext cx="677189" cy="338554"/>
          </a:xfrm>
          <a:prstGeom prst="rect">
            <a:avLst/>
          </a:prstGeom>
          <a:noFill/>
        </p:spPr>
        <p:txBody>
          <a:bodyPr wrap="none" rtlCol="0">
            <a:spAutoFit/>
          </a:bodyPr>
          <a:lstStyle/>
          <a:p>
            <a:pPr algn="ctr"/>
            <a:r>
              <a:rPr lang="en-US" sz="1600" dirty="0">
                <a:latin typeface="Courier New" panose="02070609020205020404"/>
                <a:cs typeface="Courier New" panose="02070609020205020404"/>
              </a:rPr>
              <a:t>main</a:t>
            </a:r>
            <a:endParaRPr lang="en-US" sz="1600" dirty="0">
              <a:latin typeface="Courier New" panose="02070609020205020404"/>
              <a:cs typeface="Courier New" panose="02070609020205020404"/>
            </a:endParaRPr>
          </a:p>
        </p:txBody>
      </p:sp>
      <p:sp>
        <p:nvSpPr>
          <p:cNvPr id="7" name="Oval 6"/>
          <p:cNvSpPr>
            <a:spLocks noChangeAspect="1"/>
          </p:cNvSpPr>
          <p:nvPr/>
        </p:nvSpPr>
        <p:spPr>
          <a:xfrm>
            <a:off x="7630851"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8" name="Oval 7"/>
          <p:cNvSpPr>
            <a:spLocks noChangeAspect="1"/>
          </p:cNvSpPr>
          <p:nvPr/>
        </p:nvSpPr>
        <p:spPr>
          <a:xfrm>
            <a:off x="8561185"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 name="TextBox 8"/>
          <p:cNvSpPr txBox="1"/>
          <p:nvPr/>
        </p:nvSpPr>
        <p:spPr>
          <a:xfrm>
            <a:off x="7315201" y="3468791"/>
            <a:ext cx="731799"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fork</a:t>
            </a:r>
            <a:endParaRPr lang="en-US" sz="1600" dirty="0">
              <a:latin typeface="Courier New" panose="02070609020205020404"/>
              <a:cs typeface="Courier New" panose="02070609020205020404"/>
            </a:endParaRPr>
          </a:p>
        </p:txBody>
      </p:sp>
      <p:cxnSp>
        <p:nvCxnSpPr>
          <p:cNvPr id="10" name="Elbow Connector 35"/>
          <p:cNvCxnSpPr>
            <a:stCxn id="9" idx="0"/>
          </p:cNvCxnSpPr>
          <p:nvPr/>
        </p:nvCxnSpPr>
        <p:spPr>
          <a:xfrm rot="5400000" flipH="1" flipV="1">
            <a:off x="7776906" y="2732592"/>
            <a:ext cx="640394" cy="832007"/>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Oval 10"/>
          <p:cNvSpPr>
            <a:spLocks noChangeAspect="1"/>
          </p:cNvSpPr>
          <p:nvPr/>
        </p:nvSpPr>
        <p:spPr>
          <a:xfrm>
            <a:off x="8545652" y="2783390"/>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12" name="Straight Arrow Connector 11"/>
          <p:cNvCxnSpPr/>
          <p:nvPr/>
        </p:nvCxnSpPr>
        <p:spPr>
          <a:xfrm flipV="1">
            <a:off x="7722291" y="3472178"/>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6808179" y="3472178"/>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31830" y="3468791"/>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sp>
        <p:nvSpPr>
          <p:cNvPr id="15" name="TextBox 14"/>
          <p:cNvSpPr txBox="1"/>
          <p:nvPr/>
        </p:nvSpPr>
        <p:spPr>
          <a:xfrm>
            <a:off x="8131731" y="2811249"/>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sp>
        <p:nvSpPr>
          <p:cNvPr id="16" name="Text Box 407"/>
          <p:cNvSpPr txBox="1">
            <a:spLocks noChangeArrowheads="1"/>
          </p:cNvSpPr>
          <p:nvPr/>
        </p:nvSpPr>
        <p:spPr bwMode="auto">
          <a:xfrm>
            <a:off x="6822815" y="3156378"/>
            <a:ext cx="795337" cy="338554"/>
          </a:xfrm>
          <a:prstGeom prst="rect">
            <a:avLst/>
          </a:prstGeom>
          <a:noFill/>
          <a:ln w="25400">
            <a:noFill/>
            <a:miter lim="800000"/>
          </a:ln>
          <a:effectLst/>
        </p:spPr>
        <p:txBody>
          <a:bodyPr wrap="square">
            <a:spAutoFit/>
          </a:bodyPr>
          <a:lstStyle/>
          <a:p>
            <a:pPr algn="ctr"/>
            <a:r>
              <a:rPr lang="en-US" sz="1600" dirty="0" err="1">
                <a:latin typeface="Courier New" panose="02070609020205020404" pitchFamily="49" charset="0"/>
              </a:rPr>
              <a:t>x</a:t>
            </a:r>
            <a:r>
              <a:rPr lang="en-US" sz="1600" dirty="0">
                <a:latin typeface="Courier New" panose="02070609020205020404" pitchFamily="49" charset="0"/>
              </a:rPr>
              <a:t>==1</a:t>
            </a:r>
            <a:endParaRPr lang="en-US" sz="1600" dirty="0">
              <a:latin typeface="Courier New" panose="02070609020205020404" pitchFamily="49" charset="0"/>
            </a:endParaRPr>
          </a:p>
        </p:txBody>
      </p:sp>
      <p:cxnSp>
        <p:nvCxnSpPr>
          <p:cNvPr id="17" name="Straight Arrow Connector 16"/>
          <p:cNvCxnSpPr/>
          <p:nvPr/>
        </p:nvCxnSpPr>
        <p:spPr>
          <a:xfrm flipV="1">
            <a:off x="8627855" y="2828396"/>
            <a:ext cx="874528" cy="915"/>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Oval 17"/>
          <p:cNvSpPr>
            <a:spLocks noChangeAspect="1"/>
          </p:cNvSpPr>
          <p:nvPr/>
        </p:nvSpPr>
        <p:spPr>
          <a:xfrm>
            <a:off x="9499351" y="2783390"/>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9" name="TextBox 18"/>
          <p:cNvSpPr txBox="1"/>
          <p:nvPr/>
        </p:nvSpPr>
        <p:spPr>
          <a:xfrm>
            <a:off x="9066234" y="2811249"/>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exit</a:t>
            </a:r>
            <a:endParaRPr lang="en-US" sz="1600" dirty="0">
              <a:latin typeface="Courier New" panose="02070609020205020404"/>
              <a:cs typeface="Courier New" panose="02070609020205020404"/>
            </a:endParaRPr>
          </a:p>
        </p:txBody>
      </p:sp>
      <p:sp>
        <p:nvSpPr>
          <p:cNvPr id="20" name="Text Box 407"/>
          <p:cNvSpPr txBox="1">
            <a:spLocks noChangeArrowheads="1"/>
          </p:cNvSpPr>
          <p:nvPr/>
        </p:nvSpPr>
        <p:spPr bwMode="auto">
          <a:xfrm>
            <a:off x="7668351" y="3137103"/>
            <a:ext cx="1834033" cy="338554"/>
          </a:xfrm>
          <a:prstGeom prst="rect">
            <a:avLst/>
          </a:prstGeom>
          <a:noFill/>
          <a:ln w="25400">
            <a:noFill/>
            <a:miter lim="800000"/>
          </a:ln>
          <a:effectLst/>
        </p:spPr>
        <p:txBody>
          <a:bodyPr wrap="square">
            <a:spAutoFit/>
          </a:bodyPr>
          <a:lstStyle/>
          <a:p>
            <a:pPr algn="ctr"/>
            <a:r>
              <a:rPr lang="en-US" sz="1600" dirty="0">
                <a:solidFill>
                  <a:srgbClr val="FF0000"/>
                </a:solidFill>
                <a:latin typeface="Courier New" panose="02070609020205020404" pitchFamily="49" charset="0"/>
              </a:rPr>
              <a:t>parent: </a:t>
            </a:r>
            <a:r>
              <a:rPr lang="en-US" sz="1600" dirty="0" err="1">
                <a:solidFill>
                  <a:srgbClr val="FF0000"/>
                </a:solidFill>
                <a:latin typeface="Courier New" panose="02070609020205020404" pitchFamily="49" charset="0"/>
              </a:rPr>
              <a:t>x</a:t>
            </a:r>
            <a:r>
              <a:rPr lang="en-US" sz="1600" dirty="0">
                <a:solidFill>
                  <a:srgbClr val="FF0000"/>
                </a:solidFill>
                <a:latin typeface="Courier New" panose="02070609020205020404" pitchFamily="49" charset="0"/>
              </a:rPr>
              <a:t>=0</a:t>
            </a:r>
            <a:endParaRPr lang="en-US" sz="1600" dirty="0">
              <a:solidFill>
                <a:srgbClr val="FF0000"/>
              </a:solidFill>
              <a:latin typeface="Courier New" panose="02070609020205020404" pitchFamily="49" charset="0"/>
            </a:endParaRPr>
          </a:p>
        </p:txBody>
      </p:sp>
      <p:cxnSp>
        <p:nvCxnSpPr>
          <p:cNvPr id="21" name="Straight Arrow Connector 20"/>
          <p:cNvCxnSpPr/>
          <p:nvPr/>
        </p:nvCxnSpPr>
        <p:spPr>
          <a:xfrm flipV="1">
            <a:off x="8627855" y="3464113"/>
            <a:ext cx="874528"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p:cNvSpPr>
            <a:spLocks noChangeAspect="1"/>
          </p:cNvSpPr>
          <p:nvPr/>
        </p:nvSpPr>
        <p:spPr>
          <a:xfrm>
            <a:off x="9499351" y="3418593"/>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3" name="TextBox 22"/>
          <p:cNvSpPr txBox="1"/>
          <p:nvPr/>
        </p:nvSpPr>
        <p:spPr>
          <a:xfrm>
            <a:off x="9066234" y="3446452"/>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exit</a:t>
            </a:r>
            <a:endParaRPr lang="en-US" sz="1600" dirty="0">
              <a:latin typeface="Courier New" panose="02070609020205020404"/>
              <a:cs typeface="Courier New" panose="02070609020205020404"/>
            </a:endParaRPr>
          </a:p>
        </p:txBody>
      </p:sp>
      <p:sp>
        <p:nvSpPr>
          <p:cNvPr id="24" name="TextBox 23"/>
          <p:cNvSpPr txBox="1"/>
          <p:nvPr/>
        </p:nvSpPr>
        <p:spPr>
          <a:xfrm>
            <a:off x="9980635" y="3290992"/>
            <a:ext cx="796290" cy="337185"/>
          </a:xfrm>
          <a:prstGeom prst="rect">
            <a:avLst/>
          </a:prstGeom>
          <a:noFill/>
        </p:spPr>
        <p:txBody>
          <a:bodyPr wrap="none" rtlCol="0">
            <a:spAutoFit/>
          </a:bodyPr>
          <a:lstStyle/>
          <a:p>
            <a:r>
              <a:rPr lang="zh-CN" altLang="en-US" sz="1600" i="1" dirty="0">
                <a:latin typeface="SimHei" panose="02010600030101010101" charset="-122"/>
                <a:ea typeface="SimHei" panose="02010600030101010101" charset="-122"/>
                <a:cs typeface="Arial" panose="020B0704020202020204"/>
              </a:rPr>
              <a:t>父进程</a:t>
            </a:r>
            <a:endParaRPr lang="zh-CN" altLang="en-US" sz="1600" i="1" dirty="0">
              <a:latin typeface="SimHei" panose="02010600030101010101" charset="-122"/>
              <a:ea typeface="SimHei" panose="02010600030101010101" charset="-122"/>
              <a:cs typeface="Arial" panose="020B0704020202020204"/>
            </a:endParaRPr>
          </a:p>
        </p:txBody>
      </p:sp>
      <p:sp>
        <p:nvSpPr>
          <p:cNvPr id="25" name="TextBox 24"/>
          <p:cNvSpPr txBox="1"/>
          <p:nvPr/>
        </p:nvSpPr>
        <p:spPr>
          <a:xfrm>
            <a:off x="9972912" y="2641972"/>
            <a:ext cx="796290" cy="337185"/>
          </a:xfrm>
          <a:prstGeom prst="rect">
            <a:avLst/>
          </a:prstGeom>
          <a:noFill/>
        </p:spPr>
        <p:txBody>
          <a:bodyPr wrap="none" rtlCol="0">
            <a:spAutoFit/>
          </a:bodyPr>
          <a:lstStyle/>
          <a:p>
            <a:r>
              <a:rPr lang="zh-CN" altLang="en-US" sz="1600" i="1" dirty="0">
                <a:latin typeface="SimHei" panose="02010600030101010101" charset="-122"/>
                <a:ea typeface="SimHei" panose="02010600030101010101" charset="-122"/>
                <a:cs typeface="Arial" panose="020B0704020202020204"/>
              </a:rPr>
              <a:t>子进程</a:t>
            </a:r>
            <a:endParaRPr lang="zh-CN" altLang="en-US" sz="1600" i="1" dirty="0">
              <a:latin typeface="SimHei" panose="02010600030101010101" charset="-122"/>
              <a:ea typeface="SimHei" panose="02010600030101010101" charset="-122"/>
              <a:cs typeface="Arial" panose="020B0704020202020204"/>
            </a:endParaRPr>
          </a:p>
        </p:txBody>
      </p:sp>
      <p:sp>
        <p:nvSpPr>
          <p:cNvPr id="29" name="Rectangle 3"/>
          <p:cNvSpPr>
            <a:spLocks noChangeArrowheads="1"/>
          </p:cNvSpPr>
          <p:nvPr/>
        </p:nvSpPr>
        <p:spPr bwMode="auto">
          <a:xfrm>
            <a:off x="5007839" y="4974990"/>
            <a:ext cx="1008907"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解读进程图</a:t>
            </a:r>
            <a:endParaRPr lang="zh-CN" altLang="en-US" dirty="0"/>
          </a:p>
        </p:txBody>
      </p:sp>
      <p:sp>
        <p:nvSpPr>
          <p:cNvPr id="3" name="Content Placeholder 2"/>
          <p:cNvSpPr>
            <a:spLocks noGrp="1"/>
          </p:cNvSpPr>
          <p:nvPr>
            <p:ph idx="1"/>
          </p:nvPr>
        </p:nvSpPr>
        <p:spPr>
          <a:xfrm>
            <a:off x="1676401" y="1362076"/>
            <a:ext cx="4700023" cy="3895725"/>
          </a:xfrm>
        </p:spPr>
        <p:txBody>
          <a:bodyPr/>
          <a:lstStyle/>
          <a:p>
            <a:r>
              <a:rPr lang="zh-CN" altLang="en-US" dirty="0"/>
              <a:t>原始图：</a:t>
            </a:r>
            <a:endParaRPr lang="en-US" dirty="0"/>
          </a:p>
          <a:p>
            <a:endParaRPr lang="en-US" dirty="0"/>
          </a:p>
          <a:p>
            <a:endParaRPr lang="en-US" dirty="0"/>
          </a:p>
          <a:p>
            <a:endParaRPr lang="en-US" dirty="0"/>
          </a:p>
          <a:p>
            <a:endParaRPr lang="en-US" dirty="0"/>
          </a:p>
          <a:p>
            <a:r>
              <a:rPr lang="zh-CN" altLang="en-US" dirty="0"/>
              <a:t>重新标号的进程图：</a:t>
            </a:r>
            <a:endParaRPr lang="en-US" dirty="0"/>
          </a:p>
          <a:p>
            <a:endParaRPr lang="en-US" dirty="0"/>
          </a:p>
          <a:p>
            <a:endParaRPr lang="en-US" dirty="0"/>
          </a:p>
          <a:p>
            <a:pPr marL="0" indent="0">
              <a:buNone/>
            </a:pPr>
            <a:endParaRPr lang="en-US" dirty="0"/>
          </a:p>
        </p:txBody>
      </p:sp>
      <p:grpSp>
        <p:nvGrpSpPr>
          <p:cNvPr id="4" name="Group 3"/>
          <p:cNvGrpSpPr/>
          <p:nvPr/>
        </p:nvGrpSpPr>
        <p:grpSpPr>
          <a:xfrm>
            <a:off x="2291183" y="1831455"/>
            <a:ext cx="4085241" cy="1292745"/>
            <a:chOff x="2748382" y="2974455"/>
            <a:chExt cx="4085241" cy="1292745"/>
          </a:xfrm>
        </p:grpSpPr>
        <p:sp>
          <p:nvSpPr>
            <p:cNvPr id="5" name="Text Box 407"/>
            <p:cNvSpPr txBox="1">
              <a:spLocks noChangeArrowheads="1"/>
            </p:cNvSpPr>
            <p:nvPr/>
          </p:nvSpPr>
          <p:spPr bwMode="auto">
            <a:xfrm>
              <a:off x="3885235" y="2974455"/>
              <a:ext cx="1834033" cy="338554"/>
            </a:xfrm>
            <a:prstGeom prst="rect">
              <a:avLst/>
            </a:prstGeom>
            <a:noFill/>
            <a:ln w="25400">
              <a:noFill/>
              <a:miter lim="800000"/>
            </a:ln>
            <a:effectLst/>
          </p:spPr>
          <p:txBody>
            <a:bodyPr wrap="square">
              <a:spAutoFit/>
            </a:bodyPr>
            <a:lstStyle/>
            <a:p>
              <a:pPr algn="ctr"/>
              <a:r>
                <a:rPr lang="en-US" sz="1600" dirty="0">
                  <a:solidFill>
                    <a:srgbClr val="FF0000"/>
                  </a:solidFill>
                  <a:latin typeface="Courier New" panose="02070609020205020404" pitchFamily="49" charset="0"/>
                </a:rPr>
                <a:t>child: </a:t>
              </a:r>
              <a:r>
                <a:rPr lang="en-US" sz="1600" dirty="0" err="1">
                  <a:solidFill>
                    <a:srgbClr val="FF0000"/>
                  </a:solidFill>
                  <a:latin typeface="Courier New" panose="02070609020205020404" pitchFamily="49" charset="0"/>
                </a:rPr>
                <a:t>x</a:t>
              </a:r>
              <a:r>
                <a:rPr lang="en-US" sz="1600" dirty="0">
                  <a:solidFill>
                    <a:srgbClr val="FF0000"/>
                  </a:solidFill>
                  <a:latin typeface="Courier New" panose="02070609020205020404" pitchFamily="49" charset="0"/>
                </a:rPr>
                <a:t>=2</a:t>
              </a:r>
              <a:endParaRPr lang="en-US" sz="1600" dirty="0">
                <a:solidFill>
                  <a:srgbClr val="FF0000"/>
                </a:solidFill>
                <a:latin typeface="Courier New" panose="02070609020205020404" pitchFamily="49" charset="0"/>
              </a:endParaRPr>
            </a:p>
          </p:txBody>
        </p:sp>
        <p:sp>
          <p:nvSpPr>
            <p:cNvPr id="6" name="Oval 5"/>
            <p:cNvSpPr>
              <a:spLocks noChangeAspect="1"/>
            </p:cNvSpPr>
            <p:nvPr/>
          </p:nvSpPr>
          <p:spPr>
            <a:xfrm>
              <a:off x="3009824"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7" name="TextBox 6"/>
            <p:cNvSpPr txBox="1"/>
            <p:nvPr/>
          </p:nvSpPr>
          <p:spPr>
            <a:xfrm>
              <a:off x="2748382" y="3928646"/>
              <a:ext cx="677189" cy="338554"/>
            </a:xfrm>
            <a:prstGeom prst="rect">
              <a:avLst/>
            </a:prstGeom>
            <a:noFill/>
          </p:spPr>
          <p:txBody>
            <a:bodyPr wrap="none" rtlCol="0">
              <a:spAutoFit/>
            </a:bodyPr>
            <a:lstStyle/>
            <a:p>
              <a:pPr algn="ctr"/>
              <a:r>
                <a:rPr lang="en-US" sz="1600" dirty="0">
                  <a:latin typeface="Courier New" panose="02070609020205020404"/>
                  <a:cs typeface="Courier New" panose="02070609020205020404"/>
                </a:rPr>
                <a:t>main</a:t>
              </a:r>
              <a:endParaRPr lang="en-US" sz="1600" dirty="0">
                <a:latin typeface="Courier New" panose="02070609020205020404"/>
                <a:cs typeface="Courier New" panose="02070609020205020404"/>
              </a:endParaRPr>
            </a:p>
          </p:txBody>
        </p:sp>
        <p:sp>
          <p:nvSpPr>
            <p:cNvPr id="8" name="Oval 7"/>
            <p:cNvSpPr>
              <a:spLocks noChangeAspect="1"/>
            </p:cNvSpPr>
            <p:nvPr/>
          </p:nvSpPr>
          <p:spPr>
            <a:xfrm>
              <a:off x="3923936"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 name="Oval 8"/>
            <p:cNvSpPr>
              <a:spLocks noChangeAspect="1"/>
            </p:cNvSpPr>
            <p:nvPr/>
          </p:nvSpPr>
          <p:spPr>
            <a:xfrm>
              <a:off x="4854270"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0" name="TextBox 9"/>
            <p:cNvSpPr txBox="1"/>
            <p:nvPr/>
          </p:nvSpPr>
          <p:spPr>
            <a:xfrm>
              <a:off x="3551022" y="3928860"/>
              <a:ext cx="754380" cy="337185"/>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fork</a:t>
              </a:r>
              <a:endParaRPr lang="en-US" sz="1600" dirty="0">
                <a:latin typeface="Courier New" panose="02070609020205020404"/>
                <a:cs typeface="Courier New" panose="02070609020205020404"/>
              </a:endParaRPr>
            </a:p>
          </p:txBody>
        </p:sp>
        <p:cxnSp>
          <p:nvCxnSpPr>
            <p:cNvPr id="11" name="Elbow Connector 35"/>
            <p:cNvCxnSpPr>
              <a:stCxn id="10" idx="0"/>
            </p:cNvCxnSpPr>
            <p:nvPr/>
          </p:nvCxnSpPr>
          <p:spPr>
            <a:xfrm rot="5400000" flipH="1" flipV="1">
              <a:off x="4040195" y="3176401"/>
              <a:ext cx="640396" cy="864094"/>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Oval 11"/>
            <p:cNvSpPr>
              <a:spLocks noChangeAspect="1"/>
            </p:cNvSpPr>
            <p:nvPr/>
          </p:nvSpPr>
          <p:spPr>
            <a:xfrm>
              <a:off x="4838737" y="324324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13" name="Straight Arrow Connector 12"/>
            <p:cNvCxnSpPr/>
            <p:nvPr/>
          </p:nvCxnSpPr>
          <p:spPr>
            <a:xfrm flipV="1">
              <a:off x="4015376" y="3932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3101264" y="3932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24915" y="3928646"/>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sp>
          <p:nvSpPr>
            <p:cNvPr id="16" name="TextBox 15"/>
            <p:cNvSpPr txBox="1"/>
            <p:nvPr/>
          </p:nvSpPr>
          <p:spPr>
            <a:xfrm>
              <a:off x="4424816" y="3271104"/>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sp>
          <p:nvSpPr>
            <p:cNvPr id="17" name="Text Box 407"/>
            <p:cNvSpPr txBox="1">
              <a:spLocks noChangeArrowheads="1"/>
            </p:cNvSpPr>
            <p:nvPr/>
          </p:nvSpPr>
          <p:spPr bwMode="auto">
            <a:xfrm>
              <a:off x="3115899" y="3616233"/>
              <a:ext cx="795337" cy="338554"/>
            </a:xfrm>
            <a:prstGeom prst="rect">
              <a:avLst/>
            </a:prstGeom>
            <a:noFill/>
            <a:ln w="25400">
              <a:noFill/>
              <a:miter lim="800000"/>
            </a:ln>
            <a:effectLst/>
          </p:spPr>
          <p:txBody>
            <a:bodyPr wrap="square">
              <a:spAutoFit/>
            </a:bodyPr>
            <a:lstStyle/>
            <a:p>
              <a:pPr algn="ctr"/>
              <a:r>
                <a:rPr lang="en-US" sz="1600" dirty="0" err="1">
                  <a:latin typeface="Courier New" panose="02070609020205020404" pitchFamily="49" charset="0"/>
                </a:rPr>
                <a:t>x</a:t>
              </a:r>
              <a:r>
                <a:rPr lang="en-US" sz="1600" dirty="0">
                  <a:latin typeface="Courier New" panose="02070609020205020404" pitchFamily="49" charset="0"/>
                </a:rPr>
                <a:t>==1</a:t>
              </a:r>
              <a:endParaRPr lang="en-US" sz="1600" dirty="0">
                <a:latin typeface="Courier New" panose="02070609020205020404" pitchFamily="49" charset="0"/>
              </a:endParaRPr>
            </a:p>
          </p:txBody>
        </p:sp>
        <p:cxnSp>
          <p:nvCxnSpPr>
            <p:cNvPr id="18" name="Straight Arrow Connector 17"/>
            <p:cNvCxnSpPr/>
            <p:nvPr/>
          </p:nvCxnSpPr>
          <p:spPr>
            <a:xfrm flipV="1">
              <a:off x="4920940" y="3288765"/>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Oval 18"/>
            <p:cNvSpPr>
              <a:spLocks noChangeAspect="1"/>
            </p:cNvSpPr>
            <p:nvPr/>
          </p:nvSpPr>
          <p:spPr>
            <a:xfrm>
              <a:off x="6319518" y="324324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0" name="TextBox 19"/>
            <p:cNvSpPr txBox="1"/>
            <p:nvPr/>
          </p:nvSpPr>
          <p:spPr>
            <a:xfrm>
              <a:off x="5886401" y="3271104"/>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exit</a:t>
              </a:r>
              <a:endParaRPr lang="en-US" sz="1600" dirty="0">
                <a:latin typeface="Courier New" panose="02070609020205020404"/>
                <a:cs typeface="Courier New" panose="02070609020205020404"/>
              </a:endParaRPr>
            </a:p>
          </p:txBody>
        </p:sp>
        <p:sp>
          <p:nvSpPr>
            <p:cNvPr id="21" name="Text Box 407"/>
            <p:cNvSpPr txBox="1">
              <a:spLocks noChangeArrowheads="1"/>
            </p:cNvSpPr>
            <p:nvPr/>
          </p:nvSpPr>
          <p:spPr bwMode="auto">
            <a:xfrm>
              <a:off x="3961435" y="3596958"/>
              <a:ext cx="1834033" cy="338554"/>
            </a:xfrm>
            <a:prstGeom prst="rect">
              <a:avLst/>
            </a:prstGeom>
            <a:noFill/>
            <a:ln w="25400">
              <a:noFill/>
              <a:miter lim="800000"/>
            </a:ln>
            <a:effectLst/>
          </p:spPr>
          <p:txBody>
            <a:bodyPr wrap="square">
              <a:spAutoFit/>
            </a:bodyPr>
            <a:lstStyle/>
            <a:p>
              <a:pPr algn="ctr"/>
              <a:r>
                <a:rPr lang="en-US" sz="1600" dirty="0">
                  <a:solidFill>
                    <a:srgbClr val="FF0000"/>
                  </a:solidFill>
                  <a:latin typeface="Courier New" panose="02070609020205020404" pitchFamily="49" charset="0"/>
                </a:rPr>
                <a:t>parent: </a:t>
              </a:r>
              <a:r>
                <a:rPr lang="en-US" sz="1600" dirty="0" err="1">
                  <a:solidFill>
                    <a:srgbClr val="FF0000"/>
                  </a:solidFill>
                  <a:latin typeface="Courier New" panose="02070609020205020404" pitchFamily="49" charset="0"/>
                </a:rPr>
                <a:t>x</a:t>
              </a:r>
              <a:r>
                <a:rPr lang="en-US" sz="1600" dirty="0">
                  <a:solidFill>
                    <a:srgbClr val="FF0000"/>
                  </a:solidFill>
                  <a:latin typeface="Courier New" panose="02070609020205020404" pitchFamily="49" charset="0"/>
                </a:rPr>
                <a:t>=0</a:t>
              </a:r>
              <a:endParaRPr lang="en-US" sz="1600" dirty="0">
                <a:solidFill>
                  <a:srgbClr val="FF0000"/>
                </a:solidFill>
                <a:latin typeface="Courier New" panose="02070609020205020404" pitchFamily="49" charset="0"/>
              </a:endParaRPr>
            </a:p>
          </p:txBody>
        </p:sp>
        <p:cxnSp>
          <p:nvCxnSpPr>
            <p:cNvPr id="22" name="Straight Arrow Connector 21"/>
            <p:cNvCxnSpPr/>
            <p:nvPr/>
          </p:nvCxnSpPr>
          <p:spPr>
            <a:xfrm flipV="1">
              <a:off x="4920940" y="3923968"/>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Oval 22"/>
            <p:cNvSpPr>
              <a:spLocks noChangeAspect="1"/>
            </p:cNvSpPr>
            <p:nvPr/>
          </p:nvSpPr>
          <p:spPr>
            <a:xfrm>
              <a:off x="6319518" y="387844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4" name="TextBox 23"/>
            <p:cNvSpPr txBox="1"/>
            <p:nvPr/>
          </p:nvSpPr>
          <p:spPr>
            <a:xfrm>
              <a:off x="5886401" y="3906307"/>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exit</a:t>
              </a:r>
              <a:endParaRPr lang="en-US" sz="1600" dirty="0">
                <a:latin typeface="Courier New" panose="02070609020205020404"/>
                <a:cs typeface="Courier New" panose="02070609020205020404"/>
              </a:endParaRPr>
            </a:p>
          </p:txBody>
        </p:sp>
      </p:grpSp>
      <p:grpSp>
        <p:nvGrpSpPr>
          <p:cNvPr id="54" name="Group 53"/>
          <p:cNvGrpSpPr/>
          <p:nvPr/>
        </p:nvGrpSpPr>
        <p:grpSpPr>
          <a:xfrm>
            <a:off x="2424056" y="4035852"/>
            <a:ext cx="3900545" cy="993348"/>
            <a:chOff x="410379" y="3386287"/>
            <a:chExt cx="3900545" cy="993348"/>
          </a:xfrm>
        </p:grpSpPr>
        <p:sp>
          <p:nvSpPr>
            <p:cNvPr id="29" name="Oval 28"/>
            <p:cNvSpPr>
              <a:spLocks noChangeAspect="1"/>
            </p:cNvSpPr>
            <p:nvPr/>
          </p:nvSpPr>
          <p:spPr>
            <a:xfrm>
              <a:off x="487125" y="403667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0" name="TextBox 29"/>
            <p:cNvSpPr txBox="1"/>
            <p:nvPr/>
          </p:nvSpPr>
          <p:spPr>
            <a:xfrm>
              <a:off x="410379" y="4041081"/>
              <a:ext cx="307797" cy="338554"/>
            </a:xfrm>
            <a:prstGeom prst="rect">
              <a:avLst/>
            </a:prstGeom>
            <a:noFill/>
          </p:spPr>
          <p:txBody>
            <a:bodyPr wrap="none" rtlCol="0">
              <a:spAutoFit/>
            </a:bodyPr>
            <a:lstStyle/>
            <a:p>
              <a:pPr algn="ctr"/>
              <a:r>
                <a:rPr lang="en-US" sz="1600" dirty="0">
                  <a:latin typeface="Courier New" panose="02070609020205020404"/>
                  <a:cs typeface="Courier New" panose="02070609020205020404"/>
                </a:rPr>
                <a:t>a</a:t>
              </a:r>
              <a:endParaRPr lang="en-US" sz="1600" dirty="0">
                <a:latin typeface="Courier New" panose="02070609020205020404"/>
                <a:cs typeface="Courier New" panose="02070609020205020404"/>
              </a:endParaRPr>
            </a:p>
          </p:txBody>
        </p:sp>
        <p:sp>
          <p:nvSpPr>
            <p:cNvPr id="31" name="Oval 30"/>
            <p:cNvSpPr>
              <a:spLocks noChangeAspect="1"/>
            </p:cNvSpPr>
            <p:nvPr/>
          </p:nvSpPr>
          <p:spPr>
            <a:xfrm>
              <a:off x="1401237" y="403667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2" name="Oval 31"/>
            <p:cNvSpPr>
              <a:spLocks noChangeAspect="1"/>
            </p:cNvSpPr>
            <p:nvPr/>
          </p:nvSpPr>
          <p:spPr>
            <a:xfrm>
              <a:off x="2331571" y="403667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3" name="TextBox 32"/>
            <p:cNvSpPr txBox="1"/>
            <p:nvPr/>
          </p:nvSpPr>
          <p:spPr>
            <a:xfrm>
              <a:off x="1115015" y="4041081"/>
              <a:ext cx="667623"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b</a:t>
              </a:r>
              <a:endParaRPr lang="en-US" sz="1600" dirty="0">
                <a:latin typeface="Courier New" panose="02070609020205020404"/>
                <a:cs typeface="Courier New" panose="02070609020205020404"/>
              </a:endParaRPr>
            </a:p>
          </p:txBody>
        </p:sp>
        <p:cxnSp>
          <p:nvCxnSpPr>
            <p:cNvPr id="34" name="Elbow Connector 35"/>
            <p:cNvCxnSpPr>
              <a:stCxn id="33" idx="0"/>
            </p:cNvCxnSpPr>
            <p:nvPr/>
          </p:nvCxnSpPr>
          <p:spPr>
            <a:xfrm rot="5400000" flipH="1" flipV="1">
              <a:off x="1578795" y="3306955"/>
              <a:ext cx="604159" cy="864094"/>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Oval 34"/>
            <p:cNvSpPr>
              <a:spLocks noChangeAspect="1"/>
            </p:cNvSpPr>
            <p:nvPr/>
          </p:nvSpPr>
          <p:spPr>
            <a:xfrm>
              <a:off x="2316038" y="3391916"/>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36" name="Straight Arrow Connector 35"/>
            <p:cNvCxnSpPr/>
            <p:nvPr/>
          </p:nvCxnSpPr>
          <p:spPr>
            <a:xfrm flipV="1">
              <a:off x="1492677" y="4080704"/>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578565" y="4080704"/>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2398241" y="3437436"/>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Oval 41"/>
            <p:cNvSpPr>
              <a:spLocks noChangeAspect="1"/>
            </p:cNvSpPr>
            <p:nvPr/>
          </p:nvSpPr>
          <p:spPr>
            <a:xfrm>
              <a:off x="3796819" y="3391916"/>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43" name="TextBox 42"/>
            <p:cNvSpPr txBox="1"/>
            <p:nvPr/>
          </p:nvSpPr>
          <p:spPr>
            <a:xfrm>
              <a:off x="3363702" y="3386287"/>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f</a:t>
              </a:r>
              <a:endParaRPr lang="en-US" sz="1600" dirty="0">
                <a:latin typeface="Courier New" panose="02070609020205020404"/>
                <a:cs typeface="Courier New" panose="02070609020205020404"/>
              </a:endParaRPr>
            </a:p>
          </p:txBody>
        </p:sp>
        <p:cxnSp>
          <p:nvCxnSpPr>
            <p:cNvPr id="45" name="Straight Arrow Connector 44"/>
            <p:cNvCxnSpPr/>
            <p:nvPr/>
          </p:nvCxnSpPr>
          <p:spPr>
            <a:xfrm flipV="1">
              <a:off x="2398241" y="4072639"/>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6" name="Oval 45"/>
            <p:cNvSpPr>
              <a:spLocks noChangeAspect="1"/>
            </p:cNvSpPr>
            <p:nvPr/>
          </p:nvSpPr>
          <p:spPr>
            <a:xfrm>
              <a:off x="3796819" y="402711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47" name="TextBox 46"/>
            <p:cNvSpPr txBox="1"/>
            <p:nvPr/>
          </p:nvSpPr>
          <p:spPr>
            <a:xfrm>
              <a:off x="3363702" y="4041081"/>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d</a:t>
              </a:r>
              <a:endParaRPr lang="en-US" sz="1600" dirty="0">
                <a:latin typeface="Courier New" panose="02070609020205020404"/>
                <a:cs typeface="Courier New" panose="02070609020205020404"/>
              </a:endParaRPr>
            </a:p>
          </p:txBody>
        </p:sp>
        <p:sp>
          <p:nvSpPr>
            <p:cNvPr id="50" name="TextBox 49"/>
            <p:cNvSpPr txBox="1"/>
            <p:nvPr/>
          </p:nvSpPr>
          <p:spPr>
            <a:xfrm>
              <a:off x="2057400" y="4041081"/>
              <a:ext cx="667623"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c</a:t>
              </a:r>
              <a:endParaRPr lang="en-US" sz="1600" dirty="0">
                <a:latin typeface="Courier New" panose="02070609020205020404"/>
                <a:cs typeface="Courier New" panose="02070609020205020404"/>
              </a:endParaRPr>
            </a:p>
          </p:txBody>
        </p:sp>
        <p:sp>
          <p:nvSpPr>
            <p:cNvPr id="53" name="TextBox 52"/>
            <p:cNvSpPr txBox="1"/>
            <p:nvPr/>
          </p:nvSpPr>
          <p:spPr>
            <a:xfrm>
              <a:off x="1905000" y="3386287"/>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e</a:t>
              </a:r>
              <a:endParaRPr lang="en-US" sz="1600" dirty="0">
                <a:latin typeface="Courier New" panose="02070609020205020404"/>
                <a:cs typeface="Courier New" panose="02070609020205020404"/>
              </a:endParaRPr>
            </a:p>
          </p:txBody>
        </p:sp>
      </p:grpSp>
      <p:grpSp>
        <p:nvGrpSpPr>
          <p:cNvPr id="100" name="Group 99"/>
          <p:cNvGrpSpPr/>
          <p:nvPr/>
        </p:nvGrpSpPr>
        <p:grpSpPr>
          <a:xfrm>
            <a:off x="7529993" y="1831455"/>
            <a:ext cx="3053955" cy="1442482"/>
            <a:chOff x="5709045" y="3581400"/>
            <a:chExt cx="3053955" cy="1442482"/>
          </a:xfrm>
        </p:grpSpPr>
        <p:sp>
          <p:nvSpPr>
            <p:cNvPr id="27" name="TextBox 26"/>
            <p:cNvSpPr txBox="1"/>
            <p:nvPr/>
          </p:nvSpPr>
          <p:spPr>
            <a:xfrm>
              <a:off x="5709045" y="4654550"/>
              <a:ext cx="298617"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a</a:t>
              </a:r>
              <a:endParaRPr lang="en-US" sz="1800" dirty="0">
                <a:latin typeface="Consolas" panose="020B0609020204030204" pitchFamily="49" charset="0"/>
                <a:cs typeface="Consolas" panose="020B0609020204030204" pitchFamily="49" charset="0"/>
              </a:endParaRPr>
            </a:p>
          </p:txBody>
        </p:sp>
        <p:sp>
          <p:nvSpPr>
            <p:cNvPr id="48" name="TextBox 47"/>
            <p:cNvSpPr txBox="1"/>
            <p:nvPr/>
          </p:nvSpPr>
          <p:spPr>
            <a:xfrm>
              <a:off x="6265035" y="4654550"/>
              <a:ext cx="308535"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b</a:t>
              </a:r>
              <a:endParaRPr lang="en-US" sz="1800" dirty="0">
                <a:latin typeface="Consolas" panose="020B0609020204030204" pitchFamily="49" charset="0"/>
                <a:cs typeface="Consolas" panose="020B0609020204030204" pitchFamily="49" charset="0"/>
              </a:endParaRPr>
            </a:p>
          </p:txBody>
        </p:sp>
        <p:sp>
          <p:nvSpPr>
            <p:cNvPr id="49" name="TextBox 48"/>
            <p:cNvSpPr txBox="1"/>
            <p:nvPr/>
          </p:nvSpPr>
          <p:spPr>
            <a:xfrm>
              <a:off x="6830943" y="4654550"/>
              <a:ext cx="308535"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e</a:t>
              </a:r>
              <a:endParaRPr lang="en-US" sz="1800" dirty="0">
                <a:latin typeface="Consolas" panose="020B0609020204030204" pitchFamily="49" charset="0"/>
                <a:cs typeface="Consolas" panose="020B0609020204030204" pitchFamily="49" charset="0"/>
              </a:endParaRPr>
            </a:p>
          </p:txBody>
        </p:sp>
        <p:sp>
          <p:nvSpPr>
            <p:cNvPr id="51" name="TextBox 50"/>
            <p:cNvSpPr txBox="1"/>
            <p:nvPr/>
          </p:nvSpPr>
          <p:spPr>
            <a:xfrm>
              <a:off x="7396851" y="4654550"/>
              <a:ext cx="281259"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c</a:t>
              </a:r>
              <a:endParaRPr lang="en-US" sz="1800" dirty="0">
                <a:latin typeface="Consolas" panose="020B0609020204030204" pitchFamily="49" charset="0"/>
                <a:cs typeface="Consolas" panose="020B0609020204030204" pitchFamily="49" charset="0"/>
              </a:endParaRPr>
            </a:p>
          </p:txBody>
        </p:sp>
        <p:sp>
          <p:nvSpPr>
            <p:cNvPr id="52" name="TextBox 51"/>
            <p:cNvSpPr txBox="1"/>
            <p:nvPr/>
          </p:nvSpPr>
          <p:spPr>
            <a:xfrm>
              <a:off x="7935483" y="4654550"/>
              <a:ext cx="261610"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f</a:t>
              </a:r>
              <a:endParaRPr lang="en-US" sz="1800" dirty="0">
                <a:latin typeface="Consolas" panose="020B0609020204030204" pitchFamily="49" charset="0"/>
                <a:cs typeface="Consolas" panose="020B0609020204030204" pitchFamily="49" charset="0"/>
              </a:endParaRPr>
            </a:p>
          </p:txBody>
        </p:sp>
        <p:sp>
          <p:nvSpPr>
            <p:cNvPr id="55" name="TextBox 54"/>
            <p:cNvSpPr txBox="1"/>
            <p:nvPr/>
          </p:nvSpPr>
          <p:spPr>
            <a:xfrm>
              <a:off x="8454465" y="4654550"/>
              <a:ext cx="308535"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d</a:t>
              </a:r>
              <a:endParaRPr lang="en-US" sz="1800" dirty="0">
                <a:latin typeface="Consolas" panose="020B0609020204030204" pitchFamily="49" charset="0"/>
                <a:cs typeface="Consolas" panose="020B0609020204030204" pitchFamily="49" charset="0"/>
              </a:endParaRPr>
            </a:p>
          </p:txBody>
        </p:sp>
        <p:cxnSp>
          <p:nvCxnSpPr>
            <p:cNvPr id="38" name="Curved Connector 37"/>
            <p:cNvCxnSpPr>
              <a:stCxn id="27" idx="0"/>
              <a:endCxn id="48" idx="0"/>
            </p:cNvCxnSpPr>
            <p:nvPr/>
          </p:nvCxnSpPr>
          <p:spPr bwMode="auto">
            <a:xfrm rot="5400000" flipH="1" flipV="1">
              <a:off x="6138828" y="4374076"/>
              <a:ext cx="12700" cy="560949"/>
            </a:xfrm>
            <a:prstGeom prst="curvedConnector3">
              <a:avLst>
                <a:gd name="adj1" fmla="val 3200000"/>
              </a:avLst>
            </a:prstGeom>
            <a:noFill/>
            <a:ln w="25400" cap="flat" cmpd="sng" algn="ctr">
              <a:solidFill>
                <a:schemeClr val="tx1"/>
              </a:solidFill>
              <a:prstDash val="solid"/>
              <a:round/>
              <a:headEnd type="none" w="med" len="med"/>
              <a:tailEnd type="triangle" w="lg" len="lg"/>
            </a:ln>
            <a:effectLst/>
          </p:spPr>
        </p:cxnSp>
        <p:cxnSp>
          <p:nvCxnSpPr>
            <p:cNvPr id="40" name="Curved Connector 39"/>
            <p:cNvCxnSpPr>
              <a:stCxn id="48" idx="0"/>
              <a:endCxn id="49" idx="0"/>
            </p:cNvCxnSpPr>
            <p:nvPr/>
          </p:nvCxnSpPr>
          <p:spPr bwMode="auto">
            <a:xfrm rot="5400000" flipH="1" flipV="1">
              <a:off x="6702257" y="4371596"/>
              <a:ext cx="12700" cy="565908"/>
            </a:xfrm>
            <a:prstGeom prst="curvedConnector3">
              <a:avLst>
                <a:gd name="adj1" fmla="val 4100000"/>
              </a:avLst>
            </a:prstGeom>
            <a:noFill/>
            <a:ln w="25400" cap="flat" cmpd="sng" algn="ctr">
              <a:solidFill>
                <a:schemeClr val="tx1"/>
              </a:solidFill>
              <a:prstDash val="solid"/>
              <a:round/>
              <a:headEnd type="none" w="med" len="med"/>
              <a:tailEnd type="triangle" w="lg" len="lg"/>
            </a:ln>
            <a:effectLst/>
          </p:spPr>
        </p:cxnSp>
        <p:cxnSp>
          <p:nvCxnSpPr>
            <p:cNvPr id="56" name="Curved Connector 55"/>
            <p:cNvCxnSpPr>
              <a:stCxn id="49" idx="0"/>
              <a:endCxn id="52" idx="0"/>
            </p:cNvCxnSpPr>
            <p:nvPr/>
          </p:nvCxnSpPr>
          <p:spPr bwMode="auto">
            <a:xfrm rot="5400000" flipH="1" flipV="1">
              <a:off x="7525749" y="4114012"/>
              <a:ext cx="12700" cy="1081077"/>
            </a:xfrm>
            <a:prstGeom prst="curvedConnector3">
              <a:avLst>
                <a:gd name="adj1" fmla="val 3600000"/>
              </a:avLst>
            </a:prstGeom>
            <a:noFill/>
            <a:ln w="25400" cap="flat" cmpd="sng" algn="ctr">
              <a:solidFill>
                <a:schemeClr val="tx1"/>
              </a:solidFill>
              <a:prstDash val="solid"/>
              <a:round/>
              <a:headEnd type="none" w="med" len="med"/>
              <a:tailEnd type="triangle" w="lg" len="lg"/>
            </a:ln>
            <a:effectLst/>
          </p:spPr>
        </p:cxnSp>
        <p:cxnSp>
          <p:nvCxnSpPr>
            <p:cNvPr id="58" name="Curved Connector 57"/>
            <p:cNvCxnSpPr>
              <a:stCxn id="48" idx="0"/>
              <a:endCxn id="51" idx="0"/>
            </p:cNvCxnSpPr>
            <p:nvPr/>
          </p:nvCxnSpPr>
          <p:spPr bwMode="auto">
            <a:xfrm rot="5400000" flipH="1" flipV="1">
              <a:off x="6978392" y="4095461"/>
              <a:ext cx="12700" cy="1118178"/>
            </a:xfrm>
            <a:prstGeom prst="curvedConnector3">
              <a:avLst>
                <a:gd name="adj1" fmla="val 3700000"/>
              </a:avLst>
            </a:prstGeom>
            <a:noFill/>
            <a:ln w="25400" cap="flat" cmpd="sng" algn="ctr">
              <a:solidFill>
                <a:schemeClr val="tx1"/>
              </a:solidFill>
              <a:prstDash val="solid"/>
              <a:round/>
              <a:headEnd type="none" w="med" len="med"/>
              <a:tailEnd type="triangle" w="lg" len="lg"/>
            </a:ln>
            <a:effectLst/>
          </p:spPr>
        </p:cxnSp>
        <p:cxnSp>
          <p:nvCxnSpPr>
            <p:cNvPr id="60" name="Curved Connector 59"/>
            <p:cNvCxnSpPr>
              <a:stCxn id="51" idx="0"/>
              <a:endCxn id="55" idx="0"/>
            </p:cNvCxnSpPr>
            <p:nvPr/>
          </p:nvCxnSpPr>
          <p:spPr bwMode="auto">
            <a:xfrm rot="5400000" flipH="1" flipV="1">
              <a:off x="8073107" y="4118924"/>
              <a:ext cx="12700" cy="1071252"/>
            </a:xfrm>
            <a:prstGeom prst="curvedConnector3">
              <a:avLst>
                <a:gd name="adj1" fmla="val 3900000"/>
              </a:avLst>
            </a:prstGeom>
            <a:noFill/>
            <a:ln w="25400" cap="flat" cmpd="sng" algn="ctr">
              <a:solidFill>
                <a:schemeClr val="tx1"/>
              </a:solidFill>
              <a:prstDash val="solid"/>
              <a:round/>
              <a:headEnd type="none" w="med" len="med"/>
              <a:tailEnd type="triangle" w="lg" len="lg"/>
            </a:ln>
            <a:effectLst/>
          </p:spPr>
        </p:cxnSp>
        <p:sp>
          <p:nvSpPr>
            <p:cNvPr id="98" name="TextBox 97"/>
            <p:cNvSpPr txBox="1"/>
            <p:nvPr/>
          </p:nvSpPr>
          <p:spPr>
            <a:xfrm>
              <a:off x="5791200" y="3581400"/>
              <a:ext cx="2631440" cy="460375"/>
            </a:xfrm>
            <a:prstGeom prst="rect">
              <a:avLst/>
            </a:prstGeom>
            <a:noFill/>
          </p:spPr>
          <p:txBody>
            <a:bodyPr wrap="none" rtlCol="0">
              <a:spAutoFit/>
            </a:bodyPr>
            <a:lstStyle/>
            <a:p>
              <a:r>
                <a:rPr lang="zh-CN" altLang="en-US" dirty="0">
                  <a:latin typeface="Consolas" panose="020B0609020204030204" pitchFamily="49" charset="0"/>
                  <a:ea typeface="仿宋" panose="02010609060101010101" pitchFamily="49" charset="-122"/>
                </a:rPr>
                <a:t>可行的全序排序：</a:t>
              </a:r>
              <a:endParaRPr lang="zh-CN" altLang="en-US" dirty="0">
                <a:latin typeface="Consolas" panose="020B0609020204030204" pitchFamily="49" charset="0"/>
                <a:ea typeface="仿宋" panose="02010609060101010101" pitchFamily="49" charset="-122"/>
              </a:endParaRPr>
            </a:p>
          </p:txBody>
        </p:sp>
      </p:grpSp>
      <p:grpSp>
        <p:nvGrpSpPr>
          <p:cNvPr id="101" name="Group 100"/>
          <p:cNvGrpSpPr/>
          <p:nvPr/>
        </p:nvGrpSpPr>
        <p:grpSpPr>
          <a:xfrm>
            <a:off x="7529993" y="3578737"/>
            <a:ext cx="3053955" cy="1371600"/>
            <a:chOff x="5709045" y="5105400"/>
            <a:chExt cx="3053955" cy="1371600"/>
          </a:xfrm>
        </p:grpSpPr>
        <p:sp>
          <p:nvSpPr>
            <p:cNvPr id="74" name="TextBox 73"/>
            <p:cNvSpPr txBox="1"/>
            <p:nvPr/>
          </p:nvSpPr>
          <p:spPr>
            <a:xfrm>
              <a:off x="5709045" y="6107668"/>
              <a:ext cx="308610" cy="368300"/>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a</a:t>
              </a:r>
              <a:endParaRPr lang="en-US" sz="1800" dirty="0">
                <a:latin typeface="Consolas" panose="020B0609020204030204" pitchFamily="49" charset="0"/>
                <a:cs typeface="Consolas" panose="020B0609020204030204" pitchFamily="49" charset="0"/>
              </a:endParaRPr>
            </a:p>
          </p:txBody>
        </p:sp>
        <p:sp>
          <p:nvSpPr>
            <p:cNvPr id="75" name="TextBox 74"/>
            <p:cNvSpPr txBox="1"/>
            <p:nvPr/>
          </p:nvSpPr>
          <p:spPr>
            <a:xfrm>
              <a:off x="6265035" y="6107668"/>
              <a:ext cx="308535"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b</a:t>
              </a:r>
              <a:endParaRPr lang="en-US" sz="1800" dirty="0">
                <a:latin typeface="Consolas" panose="020B0609020204030204" pitchFamily="49" charset="0"/>
                <a:cs typeface="Consolas" panose="020B0609020204030204" pitchFamily="49" charset="0"/>
              </a:endParaRPr>
            </a:p>
          </p:txBody>
        </p:sp>
        <p:sp>
          <p:nvSpPr>
            <p:cNvPr id="76" name="TextBox 75"/>
            <p:cNvSpPr txBox="1"/>
            <p:nvPr/>
          </p:nvSpPr>
          <p:spPr>
            <a:xfrm>
              <a:off x="7991310" y="6107668"/>
              <a:ext cx="308535"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e</a:t>
              </a:r>
              <a:endParaRPr lang="en-US" sz="1800" dirty="0">
                <a:latin typeface="Consolas" panose="020B0609020204030204" pitchFamily="49" charset="0"/>
                <a:cs typeface="Consolas" panose="020B0609020204030204" pitchFamily="49" charset="0"/>
              </a:endParaRPr>
            </a:p>
          </p:txBody>
        </p:sp>
        <p:sp>
          <p:nvSpPr>
            <p:cNvPr id="77" name="TextBox 76"/>
            <p:cNvSpPr txBox="1"/>
            <p:nvPr/>
          </p:nvSpPr>
          <p:spPr>
            <a:xfrm>
              <a:off x="7485186" y="6107668"/>
              <a:ext cx="281259"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c</a:t>
              </a:r>
              <a:endParaRPr lang="en-US" sz="1800" dirty="0">
                <a:latin typeface="Consolas" panose="020B0609020204030204" pitchFamily="49" charset="0"/>
                <a:cs typeface="Consolas" panose="020B0609020204030204" pitchFamily="49" charset="0"/>
              </a:endParaRPr>
            </a:p>
          </p:txBody>
        </p:sp>
        <p:sp>
          <p:nvSpPr>
            <p:cNvPr id="78" name="TextBox 77"/>
            <p:cNvSpPr txBox="1"/>
            <p:nvPr/>
          </p:nvSpPr>
          <p:spPr>
            <a:xfrm>
              <a:off x="6928245" y="6107668"/>
              <a:ext cx="261610"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f</a:t>
              </a:r>
              <a:endParaRPr lang="en-US" sz="1800" dirty="0">
                <a:latin typeface="Consolas" panose="020B0609020204030204" pitchFamily="49" charset="0"/>
                <a:cs typeface="Consolas" panose="020B0609020204030204" pitchFamily="49" charset="0"/>
              </a:endParaRPr>
            </a:p>
          </p:txBody>
        </p:sp>
        <p:sp>
          <p:nvSpPr>
            <p:cNvPr id="79" name="TextBox 78"/>
            <p:cNvSpPr txBox="1"/>
            <p:nvPr/>
          </p:nvSpPr>
          <p:spPr>
            <a:xfrm>
              <a:off x="8454465" y="6107668"/>
              <a:ext cx="308535" cy="369332"/>
            </a:xfrm>
            <a:prstGeom prst="rect">
              <a:avLst/>
            </a:prstGeom>
            <a:noFill/>
          </p:spPr>
          <p:txBody>
            <a:bodyPr wrap="none" rtlCol="0">
              <a:spAutoFit/>
            </a:bodyPr>
            <a:lstStyle/>
            <a:p>
              <a:r>
                <a:rPr lang="en-US" sz="1800" dirty="0">
                  <a:latin typeface="Consolas" panose="020B0609020204030204" pitchFamily="49" charset="0"/>
                  <a:cs typeface="Consolas" panose="020B0609020204030204" pitchFamily="49" charset="0"/>
                </a:rPr>
                <a:t>d</a:t>
              </a:r>
              <a:endParaRPr lang="en-US" sz="1800" dirty="0">
                <a:latin typeface="Consolas" panose="020B0609020204030204" pitchFamily="49" charset="0"/>
                <a:cs typeface="Consolas" panose="020B0609020204030204" pitchFamily="49" charset="0"/>
              </a:endParaRPr>
            </a:p>
          </p:txBody>
        </p:sp>
        <p:cxnSp>
          <p:nvCxnSpPr>
            <p:cNvPr id="80" name="Curved Connector 79"/>
            <p:cNvCxnSpPr>
              <a:stCxn id="74" idx="0"/>
              <a:endCxn id="75" idx="0"/>
            </p:cNvCxnSpPr>
            <p:nvPr/>
          </p:nvCxnSpPr>
          <p:spPr bwMode="auto">
            <a:xfrm rot="16200000" flipH="1">
              <a:off x="6141402" y="5829618"/>
              <a:ext cx="3175" cy="555625"/>
            </a:xfrm>
            <a:prstGeom prst="curvedConnector3">
              <a:avLst>
                <a:gd name="adj1" fmla="val -7460000"/>
              </a:avLst>
            </a:prstGeom>
            <a:noFill/>
            <a:ln w="25400" cap="flat" cmpd="sng" algn="ctr">
              <a:solidFill>
                <a:schemeClr val="tx1"/>
              </a:solidFill>
              <a:prstDash val="solid"/>
              <a:round/>
              <a:headEnd type="none" w="med" len="med"/>
              <a:tailEnd type="triangle" w="lg" len="lg"/>
            </a:ln>
            <a:effectLst/>
          </p:spPr>
        </p:cxnSp>
        <p:cxnSp>
          <p:nvCxnSpPr>
            <p:cNvPr id="81" name="Curved Connector 80"/>
            <p:cNvCxnSpPr>
              <a:stCxn id="75" idx="0"/>
              <a:endCxn id="76" idx="0"/>
            </p:cNvCxnSpPr>
            <p:nvPr/>
          </p:nvCxnSpPr>
          <p:spPr bwMode="auto">
            <a:xfrm rot="5400000" flipH="1" flipV="1">
              <a:off x="7282440" y="5244531"/>
              <a:ext cx="12700" cy="1726275"/>
            </a:xfrm>
            <a:prstGeom prst="curvedConnector3">
              <a:avLst>
                <a:gd name="adj1" fmla="val 3500000"/>
              </a:avLst>
            </a:prstGeom>
            <a:noFill/>
            <a:ln w="25400" cap="flat" cmpd="sng" algn="ctr">
              <a:solidFill>
                <a:schemeClr val="tx1"/>
              </a:solidFill>
              <a:prstDash val="solid"/>
              <a:round/>
              <a:headEnd type="none" w="med" len="med"/>
              <a:tailEnd type="triangle" w="lg" len="lg"/>
            </a:ln>
            <a:effectLst/>
          </p:spPr>
        </p:cxnSp>
        <p:cxnSp>
          <p:nvCxnSpPr>
            <p:cNvPr id="82" name="Curved Connector 81"/>
            <p:cNvCxnSpPr>
              <a:stCxn id="76" idx="0"/>
              <a:endCxn id="78" idx="0"/>
            </p:cNvCxnSpPr>
            <p:nvPr/>
          </p:nvCxnSpPr>
          <p:spPr bwMode="auto">
            <a:xfrm rot="16200000" flipV="1">
              <a:off x="7602314" y="5564404"/>
              <a:ext cx="12700" cy="1086528"/>
            </a:xfrm>
            <a:prstGeom prst="curvedConnector3">
              <a:avLst>
                <a:gd name="adj1" fmla="val 4200000"/>
              </a:avLst>
            </a:prstGeom>
            <a:noFill/>
            <a:ln w="25400" cap="flat" cmpd="sng" algn="ctr">
              <a:solidFill>
                <a:srgbClr val="FF0000"/>
              </a:solidFill>
              <a:prstDash val="solid"/>
              <a:round/>
              <a:headEnd type="none" w="med" len="med"/>
              <a:tailEnd type="triangle" w="lg" len="lg"/>
            </a:ln>
            <a:effectLst/>
          </p:spPr>
        </p:cxnSp>
        <p:cxnSp>
          <p:nvCxnSpPr>
            <p:cNvPr id="83" name="Curved Connector 82"/>
            <p:cNvCxnSpPr>
              <a:stCxn id="75" idx="0"/>
              <a:endCxn id="77" idx="0"/>
            </p:cNvCxnSpPr>
            <p:nvPr/>
          </p:nvCxnSpPr>
          <p:spPr bwMode="auto">
            <a:xfrm rot="5400000" flipH="1" flipV="1">
              <a:off x="7022559" y="5504412"/>
              <a:ext cx="12700" cy="1206513"/>
            </a:xfrm>
            <a:prstGeom prst="curvedConnector3">
              <a:avLst>
                <a:gd name="adj1" fmla="val 3600000"/>
              </a:avLst>
            </a:prstGeom>
            <a:noFill/>
            <a:ln w="25400" cap="flat" cmpd="sng" algn="ctr">
              <a:solidFill>
                <a:schemeClr val="tx1"/>
              </a:solidFill>
              <a:prstDash val="solid"/>
              <a:round/>
              <a:headEnd type="none" w="med" len="med"/>
              <a:tailEnd type="triangle" w="lg" len="lg"/>
            </a:ln>
            <a:effectLst/>
          </p:spPr>
        </p:cxnSp>
        <p:cxnSp>
          <p:nvCxnSpPr>
            <p:cNvPr id="84" name="Curved Connector 83"/>
            <p:cNvCxnSpPr>
              <a:stCxn id="77" idx="0"/>
              <a:endCxn id="79" idx="0"/>
            </p:cNvCxnSpPr>
            <p:nvPr/>
          </p:nvCxnSpPr>
          <p:spPr bwMode="auto">
            <a:xfrm rot="5400000" flipH="1" flipV="1">
              <a:off x="8117274" y="5616210"/>
              <a:ext cx="12700" cy="982917"/>
            </a:xfrm>
            <a:prstGeom prst="curvedConnector3">
              <a:avLst>
                <a:gd name="adj1" fmla="val 3900000"/>
              </a:avLst>
            </a:prstGeom>
            <a:noFill/>
            <a:ln w="25400" cap="flat" cmpd="sng" algn="ctr">
              <a:solidFill>
                <a:schemeClr val="tx1"/>
              </a:solidFill>
              <a:prstDash val="solid"/>
              <a:round/>
              <a:headEnd type="none" w="med" len="med"/>
              <a:tailEnd type="triangle" w="lg" len="lg"/>
            </a:ln>
            <a:effectLst/>
          </p:spPr>
        </p:cxnSp>
        <p:sp>
          <p:nvSpPr>
            <p:cNvPr id="99" name="TextBox 98"/>
            <p:cNvSpPr txBox="1"/>
            <p:nvPr/>
          </p:nvSpPr>
          <p:spPr>
            <a:xfrm>
              <a:off x="5759349" y="5105400"/>
              <a:ext cx="2937510" cy="460375"/>
            </a:xfrm>
            <a:prstGeom prst="rect">
              <a:avLst/>
            </a:prstGeom>
            <a:noFill/>
          </p:spPr>
          <p:txBody>
            <a:bodyPr wrap="none" rtlCol="0">
              <a:spAutoFit/>
            </a:bodyPr>
            <a:lstStyle/>
            <a:p>
              <a:pPr algn="l"/>
              <a:r>
                <a:rPr lang="zh-CN" altLang="en-US" dirty="0">
                  <a:latin typeface="Consolas" panose="020B0609020204030204" pitchFamily="49" charset="0"/>
                  <a:ea typeface="仿宋" panose="02010609060101010101" pitchFamily="49" charset="-122"/>
                  <a:sym typeface="+mn-ea"/>
                </a:rPr>
                <a:t>不可行的全序排序：</a:t>
              </a:r>
              <a:endParaRPr lang="zh-CN" altLang="en-US" dirty="0">
                <a:latin typeface="Consolas" panose="020B0609020204030204" pitchFamily="49" charset="0"/>
                <a:ea typeface="仿宋" panose="02010609060101010101" pitchFamily="49"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3" name="Text Box 3"/>
          <p:cNvSpPr txBox="1">
            <a:spLocks noChangeArrowheads="1"/>
          </p:cNvSpPr>
          <p:nvPr/>
        </p:nvSpPr>
        <p:spPr bwMode="auto">
          <a:xfrm>
            <a:off x="1584769" y="1587183"/>
            <a:ext cx="3050835" cy="2308324"/>
          </a:xfrm>
          <a:prstGeom prst="rect">
            <a:avLst/>
          </a:prstGeom>
          <a:solidFill>
            <a:srgbClr val="F6F5BD"/>
          </a:solidFill>
          <a:ln w="3175">
            <a:solidFill>
              <a:schemeClr val="tx1"/>
            </a:solidFill>
            <a:miter lim="800000"/>
          </a:ln>
          <a:effectLst/>
        </p:spPr>
        <p:txBody>
          <a:bodyPr wrap="none">
            <a:spAutoFit/>
          </a:bodyPr>
          <a:lstStyle/>
          <a:p>
            <a:r>
              <a:rPr lang="en-US" sz="1800" dirty="0">
                <a:solidFill>
                  <a:srgbClr val="2D961E"/>
                </a:solidFill>
                <a:latin typeface="Menlo-Regular" panose="020B0609030804020204"/>
              </a:rPr>
              <a:t>void</a:t>
            </a:r>
            <a:r>
              <a:rPr lang="en-US" sz="1800" dirty="0">
                <a:solidFill>
                  <a:srgbClr val="000000"/>
                </a:solidFill>
                <a:latin typeface="Menlo-Regular" panose="020B0609030804020204"/>
              </a:rPr>
              <a:t> </a:t>
            </a:r>
            <a:r>
              <a:rPr lang="en-US" sz="1800" dirty="0">
                <a:solidFill>
                  <a:srgbClr val="4A00FF"/>
                </a:solidFill>
                <a:latin typeface="Menlo-Regular" panose="020B0609030804020204"/>
              </a:rPr>
              <a:t>fork2</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"L0\n"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da-DK" sz="1800" dirty="0">
                <a:solidFill>
                  <a:srgbClr val="000000"/>
                </a:solidFill>
                <a:latin typeface="Menlo-Regular" panose="020B0609030804020204"/>
              </a:rPr>
              <a:t>    fork();</a:t>
            </a:r>
            <a:endParaRPr lang="da-DK"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"L1\n"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da-DK" sz="1800" dirty="0">
                <a:solidFill>
                  <a:srgbClr val="000000"/>
                </a:solidFill>
                <a:latin typeface="Menlo-Regular" panose="020B0609030804020204"/>
              </a:rPr>
              <a:t>    fork();</a:t>
            </a:r>
            <a:endParaRPr lang="da-DK"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err="1">
                <a:solidFill>
                  <a:srgbClr val="000000"/>
                </a:solidFill>
                <a:latin typeface="Menlo-Regular" panose="020B0609030804020204"/>
              </a:rPr>
              <a:t>printf</a:t>
            </a:r>
            <a:r>
              <a:rPr lang="en-US" sz="1800" dirty="0">
                <a:solidFill>
                  <a:srgbClr val="000000"/>
                </a:solidFill>
                <a:latin typeface="Menlo-Regular" panose="020B0609030804020204"/>
              </a:rPr>
              <a:t>(</a:t>
            </a:r>
            <a:r>
              <a:rPr lang="en-US" sz="1800" dirty="0">
                <a:solidFill>
                  <a:srgbClr val="9D206F"/>
                </a:solidFill>
                <a:latin typeface="Menlo-Regular" panose="020B0609030804020204"/>
              </a:rPr>
              <a:t>"Bye\n"</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p:txBody>
      </p:sp>
      <p:grpSp>
        <p:nvGrpSpPr>
          <p:cNvPr id="16" name="Group 15"/>
          <p:cNvGrpSpPr/>
          <p:nvPr/>
        </p:nvGrpSpPr>
        <p:grpSpPr>
          <a:xfrm>
            <a:off x="5112922" y="1295401"/>
            <a:ext cx="4640679" cy="2667000"/>
            <a:chOff x="3124200" y="3505200"/>
            <a:chExt cx="4640679" cy="2667000"/>
          </a:xfrm>
        </p:grpSpPr>
        <p:sp>
          <p:nvSpPr>
            <p:cNvPr id="64" name="Oval 63"/>
            <p:cNvSpPr>
              <a:spLocks noChangeAspect="1"/>
            </p:cNvSpPr>
            <p:nvPr/>
          </p:nvSpPr>
          <p:spPr>
            <a:xfrm>
              <a:off x="3511276" y="57962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TextBox 64"/>
            <p:cNvSpPr txBox="1"/>
            <p:nvPr/>
          </p:nvSpPr>
          <p:spPr>
            <a:xfrm>
              <a:off x="3124200" y="5833646"/>
              <a:ext cx="928459" cy="338554"/>
            </a:xfrm>
            <a:prstGeom prst="rect">
              <a:avLst/>
            </a:prstGeom>
            <a:noFill/>
          </p:spPr>
          <p:txBody>
            <a:bodyPr wrap="non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sp>
          <p:nvSpPr>
            <p:cNvPr id="66" name="Oval 65"/>
            <p:cNvSpPr>
              <a:spLocks noChangeAspect="1"/>
            </p:cNvSpPr>
            <p:nvPr/>
          </p:nvSpPr>
          <p:spPr>
            <a:xfrm>
              <a:off x="5365188" y="57835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Oval 67"/>
            <p:cNvSpPr>
              <a:spLocks noChangeAspect="1"/>
            </p:cNvSpPr>
            <p:nvPr/>
          </p:nvSpPr>
          <p:spPr>
            <a:xfrm>
              <a:off x="6295522" y="57869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TextBox 68"/>
            <p:cNvSpPr txBox="1"/>
            <p:nvPr/>
          </p:nvSpPr>
          <p:spPr>
            <a:xfrm>
              <a:off x="4915812" y="5820946"/>
              <a:ext cx="950256"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cxnSp>
          <p:nvCxnSpPr>
            <p:cNvPr id="70" name="Elbow Connector 35"/>
            <p:cNvCxnSpPr/>
            <p:nvPr/>
          </p:nvCxnSpPr>
          <p:spPr>
            <a:xfrm rot="5400000" flipH="1" flipV="1">
              <a:off x="6465299" y="5057784"/>
              <a:ext cx="640392" cy="88593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Oval 70"/>
            <p:cNvSpPr>
              <a:spLocks noChangeAspect="1"/>
            </p:cNvSpPr>
            <p:nvPr/>
          </p:nvSpPr>
          <p:spPr>
            <a:xfrm>
              <a:off x="7244278" y="512212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2" name="Straight Arrow Connector 71"/>
            <p:cNvCxnSpPr/>
            <p:nvPr/>
          </p:nvCxnSpPr>
          <p:spPr>
            <a:xfrm flipV="1">
              <a:off x="5456628" y="58259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flipV="1">
              <a:off x="3602716" y="58352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866167" y="5820946"/>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fork</a:t>
              </a:r>
              <a:endParaRPr lang="en-US" sz="1600" dirty="0">
                <a:latin typeface="Courier New" panose="02070609020205020404"/>
                <a:cs typeface="Courier New" panose="02070609020205020404"/>
              </a:endParaRPr>
            </a:p>
          </p:txBody>
        </p:sp>
        <p:sp>
          <p:nvSpPr>
            <p:cNvPr id="75" name="TextBox 74"/>
            <p:cNvSpPr txBox="1"/>
            <p:nvPr/>
          </p:nvSpPr>
          <p:spPr>
            <a:xfrm>
              <a:off x="6817657" y="5105400"/>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cxnSp>
          <p:nvCxnSpPr>
            <p:cNvPr id="76" name="Straight Arrow Connector 75"/>
            <p:cNvCxnSpPr/>
            <p:nvPr/>
          </p:nvCxnSpPr>
          <p:spPr>
            <a:xfrm flipV="1">
              <a:off x="6381242" y="58191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Oval 78"/>
            <p:cNvSpPr>
              <a:spLocks noChangeAspect="1"/>
            </p:cNvSpPr>
            <p:nvPr/>
          </p:nvSpPr>
          <p:spPr>
            <a:xfrm>
              <a:off x="7220136" y="57670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p:cNvSpPr txBox="1"/>
            <p:nvPr/>
          </p:nvSpPr>
          <p:spPr>
            <a:xfrm>
              <a:off x="6787989" y="5820946"/>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sp>
          <p:nvSpPr>
            <p:cNvPr id="82" name="Oval 81"/>
            <p:cNvSpPr>
              <a:spLocks noChangeAspect="1"/>
            </p:cNvSpPr>
            <p:nvPr/>
          </p:nvSpPr>
          <p:spPr>
            <a:xfrm>
              <a:off x="4438088" y="57962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TextBox 82"/>
            <p:cNvSpPr txBox="1"/>
            <p:nvPr/>
          </p:nvSpPr>
          <p:spPr>
            <a:xfrm>
              <a:off x="4151630" y="5833745"/>
              <a:ext cx="717550" cy="337185"/>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fork</a:t>
              </a:r>
              <a:endParaRPr lang="en-US" sz="1600" dirty="0">
                <a:latin typeface="Courier New" panose="02070609020205020404"/>
                <a:cs typeface="Courier New" panose="02070609020205020404"/>
              </a:endParaRPr>
            </a:p>
          </p:txBody>
        </p:sp>
        <p:cxnSp>
          <p:nvCxnSpPr>
            <p:cNvPr id="84" name="Straight Arrow Connector 83"/>
            <p:cNvCxnSpPr/>
            <p:nvPr/>
          </p:nvCxnSpPr>
          <p:spPr>
            <a:xfrm flipV="1">
              <a:off x="4529528" y="58284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5" name="Elbow Connector 35"/>
            <p:cNvCxnSpPr>
              <a:endCxn id="86" idx="2"/>
            </p:cNvCxnSpPr>
            <p:nvPr/>
          </p:nvCxnSpPr>
          <p:spPr>
            <a:xfrm rot="5400000" flipH="1" flipV="1">
              <a:off x="4294242" y="4725345"/>
              <a:ext cx="1262381" cy="879511"/>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6" name="Oval 85"/>
            <p:cNvSpPr>
              <a:spLocks noChangeAspect="1"/>
            </p:cNvSpPr>
            <p:nvPr/>
          </p:nvSpPr>
          <p:spPr>
            <a:xfrm>
              <a:off x="5365188" y="44881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a:spLocks noChangeAspect="1"/>
            </p:cNvSpPr>
            <p:nvPr/>
          </p:nvSpPr>
          <p:spPr>
            <a:xfrm>
              <a:off x="6295522" y="44915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TextBox 88"/>
            <p:cNvSpPr txBox="1"/>
            <p:nvPr/>
          </p:nvSpPr>
          <p:spPr>
            <a:xfrm>
              <a:off x="4878277" y="4495800"/>
              <a:ext cx="1017034"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cxnSp>
          <p:nvCxnSpPr>
            <p:cNvPr id="90" name="Elbow Connector 35"/>
            <p:cNvCxnSpPr/>
            <p:nvPr/>
          </p:nvCxnSpPr>
          <p:spPr>
            <a:xfrm rot="5400000" flipH="1" flipV="1">
              <a:off x="6476216" y="3743554"/>
              <a:ext cx="640396" cy="8640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1" name="Oval 90"/>
            <p:cNvSpPr>
              <a:spLocks noChangeAspect="1"/>
            </p:cNvSpPr>
            <p:nvPr/>
          </p:nvSpPr>
          <p:spPr>
            <a:xfrm>
              <a:off x="7244278" y="379698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2" name="Straight Arrow Connector 91"/>
            <p:cNvCxnSpPr/>
            <p:nvPr/>
          </p:nvCxnSpPr>
          <p:spPr>
            <a:xfrm flipV="1">
              <a:off x="5456628" y="45305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866167" y="4525546"/>
              <a:ext cx="947222" cy="338554"/>
            </a:xfrm>
            <a:prstGeom prst="rect">
              <a:avLst/>
            </a:prstGeom>
            <a:noFill/>
          </p:spPr>
          <p:txBody>
            <a:bodyPr wrap="square" rtlCol="0">
              <a:spAutoFit/>
            </a:bodyPr>
            <a:lstStyle/>
            <a:p>
              <a:pPr algn="ctr"/>
              <a:r>
                <a:rPr lang="en-US" sz="1600" dirty="0">
                  <a:latin typeface="Courier New" panose="02070609020205020404"/>
                  <a:cs typeface="Courier New" panose="02070609020205020404"/>
                </a:rPr>
                <a:t>fork</a:t>
              </a:r>
              <a:endParaRPr lang="en-US" sz="1600" dirty="0">
                <a:latin typeface="Courier New" panose="02070609020205020404"/>
                <a:cs typeface="Courier New" panose="02070609020205020404"/>
              </a:endParaRPr>
            </a:p>
          </p:txBody>
        </p:sp>
        <p:sp>
          <p:nvSpPr>
            <p:cNvPr id="94" name="TextBox 93"/>
            <p:cNvSpPr txBox="1"/>
            <p:nvPr/>
          </p:nvSpPr>
          <p:spPr>
            <a:xfrm>
              <a:off x="6817657" y="3846512"/>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cxnSp>
          <p:nvCxnSpPr>
            <p:cNvPr id="95" name="Straight Arrow Connector 94"/>
            <p:cNvCxnSpPr/>
            <p:nvPr/>
          </p:nvCxnSpPr>
          <p:spPr>
            <a:xfrm flipV="1">
              <a:off x="6381242" y="45237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8" name="Oval 97"/>
            <p:cNvSpPr>
              <a:spLocks noChangeAspect="1"/>
            </p:cNvSpPr>
            <p:nvPr/>
          </p:nvSpPr>
          <p:spPr>
            <a:xfrm>
              <a:off x="7220136" y="44716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TextBox 98"/>
            <p:cNvSpPr txBox="1"/>
            <p:nvPr/>
          </p:nvSpPr>
          <p:spPr>
            <a:xfrm>
              <a:off x="6787989" y="4525546"/>
              <a:ext cx="947222" cy="338554"/>
            </a:xfrm>
            <a:prstGeom prst="rect">
              <a:avLst/>
            </a:prstGeom>
            <a:noFill/>
          </p:spPr>
          <p:txBody>
            <a:bodyPr wrap="square" rtlCol="0">
              <a:spAutoFit/>
            </a:bodyPr>
            <a:lstStyle/>
            <a:p>
              <a:pPr algn="ctr"/>
              <a:r>
                <a:rPr lang="en-US" sz="1600" dirty="0" err="1">
                  <a:latin typeface="Courier New" panose="02070609020205020404"/>
                  <a:cs typeface="Courier New" panose="02070609020205020404"/>
                </a:rPr>
                <a:t>printf</a:t>
              </a:r>
              <a:endParaRPr lang="en-US" sz="1600" dirty="0">
                <a:latin typeface="Courier New" panose="02070609020205020404"/>
                <a:cs typeface="Courier New" panose="02070609020205020404"/>
              </a:endParaRPr>
            </a:p>
          </p:txBody>
        </p:sp>
        <p:sp>
          <p:nvSpPr>
            <p:cNvPr id="102" name="Text Box 407"/>
            <p:cNvSpPr txBox="1">
              <a:spLocks noChangeArrowheads="1"/>
            </p:cNvSpPr>
            <p:nvPr/>
          </p:nvSpPr>
          <p:spPr bwMode="auto">
            <a:xfrm>
              <a:off x="6913523" y="3505200"/>
              <a:ext cx="795337" cy="338554"/>
            </a:xfrm>
            <a:prstGeom prst="rect">
              <a:avLst/>
            </a:prstGeom>
            <a:noFill/>
            <a:ln w="25400">
              <a:noFill/>
              <a:miter lim="800000"/>
            </a:ln>
            <a:effectLst/>
          </p:spPr>
          <p:txBody>
            <a:bodyPr wrap="square">
              <a:spAutoFit/>
            </a:bodyPr>
            <a:lstStyle/>
            <a:p>
              <a:pPr algn="ctr"/>
              <a:r>
                <a:rPr lang="en-US" sz="1600" dirty="0">
                  <a:solidFill>
                    <a:srgbClr val="FF0000"/>
                  </a:solidFill>
                  <a:latin typeface="Courier New" panose="02070609020205020404" pitchFamily="49" charset="0"/>
                </a:rPr>
                <a:t>Bye</a:t>
              </a:r>
              <a:endParaRPr lang="en-US" sz="1600" dirty="0">
                <a:solidFill>
                  <a:srgbClr val="FF0000"/>
                </a:solidFill>
                <a:latin typeface="Courier New" panose="02070609020205020404" pitchFamily="49" charset="0"/>
              </a:endParaRPr>
            </a:p>
          </p:txBody>
        </p:sp>
        <p:sp>
          <p:nvSpPr>
            <p:cNvPr id="103" name="TextBox 102"/>
            <p:cNvSpPr txBox="1"/>
            <p:nvPr/>
          </p:nvSpPr>
          <p:spPr>
            <a:xfrm>
              <a:off x="3379073" y="5528846"/>
              <a:ext cx="430927" cy="338554"/>
            </a:xfrm>
            <a:prstGeom prst="rect">
              <a:avLst/>
            </a:prstGeom>
            <a:noFill/>
          </p:spPr>
          <p:txBody>
            <a:bodyPr wrap="none" rtlCol="0">
              <a:spAutoFit/>
            </a:bodyPr>
            <a:lstStyle/>
            <a:p>
              <a:pPr algn="ctr"/>
              <a:r>
                <a:rPr lang="en-US" sz="1600" dirty="0">
                  <a:solidFill>
                    <a:srgbClr val="FF0000"/>
                  </a:solidFill>
                  <a:latin typeface="Courier New" panose="02070609020205020404"/>
                  <a:cs typeface="Courier New" panose="02070609020205020404"/>
                </a:rPr>
                <a:t>L0</a:t>
              </a:r>
              <a:endParaRPr lang="en-US" sz="1600" dirty="0">
                <a:solidFill>
                  <a:srgbClr val="FF0000"/>
                </a:solidFill>
                <a:latin typeface="Courier New" panose="02070609020205020404"/>
                <a:cs typeface="Courier New" panose="02070609020205020404"/>
              </a:endParaRPr>
            </a:p>
          </p:txBody>
        </p:sp>
        <p:sp>
          <p:nvSpPr>
            <p:cNvPr id="106" name="TextBox 105"/>
            <p:cNvSpPr txBox="1"/>
            <p:nvPr/>
          </p:nvSpPr>
          <p:spPr>
            <a:xfrm>
              <a:off x="7034547" y="4800600"/>
              <a:ext cx="554058" cy="338554"/>
            </a:xfrm>
            <a:prstGeom prst="rect">
              <a:avLst/>
            </a:prstGeom>
            <a:noFill/>
          </p:spPr>
          <p:txBody>
            <a:bodyPr wrap="none" rtlCol="0">
              <a:spAutoFit/>
            </a:bodyPr>
            <a:lstStyle/>
            <a:p>
              <a:pPr algn="ctr"/>
              <a:r>
                <a:rPr lang="en-US" sz="1600" dirty="0">
                  <a:solidFill>
                    <a:srgbClr val="FF0000"/>
                  </a:solidFill>
                  <a:latin typeface="Courier New" panose="02070609020205020404"/>
                  <a:cs typeface="Courier New" panose="02070609020205020404"/>
                </a:rPr>
                <a:t>Bye</a:t>
              </a:r>
              <a:endParaRPr lang="en-US" sz="1600" dirty="0">
                <a:solidFill>
                  <a:srgbClr val="FF0000"/>
                </a:solidFill>
                <a:latin typeface="Courier New" panose="02070609020205020404"/>
                <a:cs typeface="Courier New" panose="02070609020205020404"/>
              </a:endParaRPr>
            </a:p>
          </p:txBody>
        </p:sp>
        <p:sp>
          <p:nvSpPr>
            <p:cNvPr id="107" name="TextBox 106"/>
            <p:cNvSpPr txBox="1"/>
            <p:nvPr/>
          </p:nvSpPr>
          <p:spPr>
            <a:xfrm>
              <a:off x="5207873" y="5496311"/>
              <a:ext cx="430927" cy="338554"/>
            </a:xfrm>
            <a:prstGeom prst="rect">
              <a:avLst/>
            </a:prstGeom>
            <a:noFill/>
          </p:spPr>
          <p:txBody>
            <a:bodyPr wrap="none" rtlCol="0">
              <a:spAutoFit/>
            </a:bodyPr>
            <a:lstStyle/>
            <a:p>
              <a:pPr algn="ctr"/>
              <a:r>
                <a:rPr lang="en-US" sz="1600" dirty="0">
                  <a:solidFill>
                    <a:srgbClr val="FF0000"/>
                  </a:solidFill>
                  <a:latin typeface="Courier New" panose="02070609020205020404"/>
                  <a:cs typeface="Courier New" panose="02070609020205020404"/>
                </a:rPr>
                <a:t>L1</a:t>
              </a:r>
              <a:endParaRPr lang="en-US" sz="1600" dirty="0">
                <a:solidFill>
                  <a:srgbClr val="FF0000"/>
                </a:solidFill>
                <a:latin typeface="Courier New" panose="02070609020205020404"/>
                <a:cs typeface="Courier New" panose="02070609020205020404"/>
              </a:endParaRPr>
            </a:p>
          </p:txBody>
        </p:sp>
        <p:sp>
          <p:nvSpPr>
            <p:cNvPr id="116" name="TextBox 115"/>
            <p:cNvSpPr txBox="1"/>
            <p:nvPr/>
          </p:nvSpPr>
          <p:spPr>
            <a:xfrm>
              <a:off x="5207873" y="4191000"/>
              <a:ext cx="430927" cy="338554"/>
            </a:xfrm>
            <a:prstGeom prst="rect">
              <a:avLst/>
            </a:prstGeom>
            <a:noFill/>
          </p:spPr>
          <p:txBody>
            <a:bodyPr wrap="none" rtlCol="0">
              <a:spAutoFit/>
            </a:bodyPr>
            <a:lstStyle/>
            <a:p>
              <a:pPr algn="ctr"/>
              <a:r>
                <a:rPr lang="en-US" sz="1600" dirty="0">
                  <a:solidFill>
                    <a:srgbClr val="FF0000"/>
                  </a:solidFill>
                  <a:latin typeface="Courier New" panose="02070609020205020404"/>
                  <a:cs typeface="Courier New" panose="02070609020205020404"/>
                </a:rPr>
                <a:t>L1</a:t>
              </a:r>
              <a:endParaRPr lang="en-US" sz="1600" dirty="0">
                <a:solidFill>
                  <a:srgbClr val="FF0000"/>
                </a:solidFill>
                <a:latin typeface="Courier New" panose="02070609020205020404"/>
                <a:cs typeface="Courier New" panose="02070609020205020404"/>
              </a:endParaRPr>
            </a:p>
          </p:txBody>
        </p:sp>
        <p:sp>
          <p:nvSpPr>
            <p:cNvPr id="117" name="TextBox 116"/>
            <p:cNvSpPr txBox="1"/>
            <p:nvPr/>
          </p:nvSpPr>
          <p:spPr>
            <a:xfrm>
              <a:off x="7010400" y="5452646"/>
              <a:ext cx="554058" cy="338554"/>
            </a:xfrm>
            <a:prstGeom prst="rect">
              <a:avLst/>
            </a:prstGeom>
            <a:noFill/>
          </p:spPr>
          <p:txBody>
            <a:bodyPr wrap="none" rtlCol="0">
              <a:spAutoFit/>
            </a:bodyPr>
            <a:lstStyle/>
            <a:p>
              <a:pPr algn="ctr"/>
              <a:r>
                <a:rPr lang="en-US" sz="1600" dirty="0">
                  <a:solidFill>
                    <a:srgbClr val="FF0000"/>
                  </a:solidFill>
                  <a:latin typeface="Courier New" panose="02070609020205020404"/>
                  <a:cs typeface="Courier New" panose="02070609020205020404"/>
                </a:rPr>
                <a:t>Bye</a:t>
              </a:r>
              <a:endParaRPr lang="en-US" sz="1600" dirty="0">
                <a:solidFill>
                  <a:srgbClr val="FF0000"/>
                </a:solidFill>
                <a:latin typeface="Courier New" panose="02070609020205020404"/>
                <a:cs typeface="Courier New" panose="02070609020205020404"/>
              </a:endParaRPr>
            </a:p>
          </p:txBody>
        </p:sp>
        <p:sp>
          <p:nvSpPr>
            <p:cNvPr id="118" name="Text Box 407"/>
            <p:cNvSpPr txBox="1">
              <a:spLocks noChangeArrowheads="1"/>
            </p:cNvSpPr>
            <p:nvPr/>
          </p:nvSpPr>
          <p:spPr bwMode="auto">
            <a:xfrm>
              <a:off x="6858000" y="4157246"/>
              <a:ext cx="795337" cy="338554"/>
            </a:xfrm>
            <a:prstGeom prst="rect">
              <a:avLst/>
            </a:prstGeom>
            <a:noFill/>
            <a:ln w="25400">
              <a:noFill/>
              <a:miter lim="800000"/>
            </a:ln>
            <a:effectLst/>
          </p:spPr>
          <p:txBody>
            <a:bodyPr wrap="square">
              <a:spAutoFit/>
            </a:bodyPr>
            <a:lstStyle/>
            <a:p>
              <a:pPr algn="ctr"/>
              <a:r>
                <a:rPr lang="en-US" sz="1600" dirty="0">
                  <a:solidFill>
                    <a:srgbClr val="FF0000"/>
                  </a:solidFill>
                  <a:latin typeface="Courier New" panose="02070609020205020404" pitchFamily="49" charset="0"/>
                </a:rPr>
                <a:t>Bye</a:t>
              </a:r>
              <a:endParaRPr lang="en-US" sz="1600" dirty="0">
                <a:solidFill>
                  <a:srgbClr val="FF0000"/>
                </a:solidFill>
                <a:latin typeface="Courier New" panose="02070609020205020404" pitchFamily="49" charset="0"/>
              </a:endParaRPr>
            </a:p>
          </p:txBody>
        </p:sp>
      </p:grpSp>
      <p:sp>
        <p:nvSpPr>
          <p:cNvPr id="17" name="TextBox 16"/>
          <p:cNvSpPr txBox="1"/>
          <p:nvPr/>
        </p:nvSpPr>
        <p:spPr>
          <a:xfrm>
            <a:off x="5271618" y="4267200"/>
            <a:ext cx="1598515" cy="2308324"/>
          </a:xfrm>
          <a:prstGeom prst="rect">
            <a:avLst/>
          </a:prstGeom>
          <a:noFill/>
        </p:spPr>
        <p:txBody>
          <a:bodyPr wrap="none" rtlCol="0">
            <a:spAutoFit/>
          </a:bodyPr>
          <a:lstStyle/>
          <a:p>
            <a:r>
              <a:rPr lang="zh-CN" altLang="en-US" sz="1800" dirty="0">
                <a:latin typeface="FangSong" panose="02010609060101010101" pitchFamily="49" charset="-122"/>
                <a:ea typeface="FangSong" panose="02010609060101010101" pitchFamily="49" charset="-122"/>
              </a:rPr>
              <a:t>可行的输出：</a:t>
            </a:r>
            <a:endParaRPr lang="zh-CN" altLang="en-US" sz="1800" dirty="0">
              <a:latin typeface="FangSong" panose="02010609060101010101" pitchFamily="49" charset="-122"/>
              <a:ea typeface="FangSong" panose="02010609060101010101" pitchFamily="49" charset="-122"/>
            </a:endParaRPr>
          </a:p>
          <a:p>
            <a:r>
              <a:rPr lang="en-US" sz="1800" dirty="0">
                <a:solidFill>
                  <a:srgbClr val="FF0000"/>
                </a:solidFill>
                <a:latin typeface="Consolas" panose="020B0609020204030204" pitchFamily="49" charset="0"/>
                <a:cs typeface="Consolas" panose="020B0609020204030204" pitchFamily="49" charset="0"/>
              </a:rPr>
              <a:t>L0</a:t>
            </a:r>
            <a:endParaRPr lang="en-US" sz="1800" dirty="0">
              <a:solidFill>
                <a:srgbClr val="FF0000"/>
              </a:solidFill>
              <a:latin typeface="Consolas" panose="020B0609020204030204" pitchFamily="49" charset="0"/>
              <a:cs typeface="Consolas" panose="020B0609020204030204" pitchFamily="49" charset="0"/>
            </a:endParaRPr>
          </a:p>
          <a:p>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p:txBody>
      </p:sp>
      <p:sp>
        <p:nvSpPr>
          <p:cNvPr id="121" name="TextBox 120"/>
          <p:cNvSpPr txBox="1"/>
          <p:nvPr/>
        </p:nvSpPr>
        <p:spPr>
          <a:xfrm>
            <a:off x="8078050" y="4267200"/>
            <a:ext cx="1834156" cy="2308324"/>
          </a:xfrm>
          <a:prstGeom prst="rect">
            <a:avLst/>
          </a:prstGeom>
          <a:noFill/>
        </p:spPr>
        <p:txBody>
          <a:bodyPr wrap="none" rtlCol="0">
            <a:spAutoFit/>
          </a:bodyPr>
          <a:lstStyle/>
          <a:p>
            <a:pPr algn="l"/>
            <a:r>
              <a:rPr lang="zh-CN" altLang="en-US" sz="1800" dirty="0">
                <a:latin typeface="FangSong" panose="02010609060101010101" pitchFamily="49" charset="-122"/>
                <a:ea typeface="FangSong" panose="02010609060101010101" pitchFamily="49" charset="-122"/>
                <a:sym typeface="+mn-ea"/>
              </a:rPr>
              <a:t>不可行的输出：</a:t>
            </a:r>
            <a:endParaRPr lang="zh-CN" altLang="en-US" sz="1800" dirty="0">
              <a:latin typeface="FangSong" panose="02010609060101010101" pitchFamily="49" charset="-122"/>
              <a:ea typeface="FangSong" panose="02010609060101010101" pitchFamily="49" charset="-122"/>
              <a:sym typeface="+mn-ea"/>
            </a:endParaRPr>
          </a:p>
          <a:p>
            <a:pPr algn="l"/>
            <a:r>
              <a:rPr lang="en-US" sz="1800" dirty="0">
                <a:solidFill>
                  <a:srgbClr val="FF0000"/>
                </a:solidFill>
                <a:latin typeface="Consolas" panose="020B0609020204030204" pitchFamily="49" charset="0"/>
                <a:cs typeface="Consolas" panose="020B0609020204030204" pitchFamily="49" charset="0"/>
              </a:rPr>
              <a:t>L0</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p:txBody>
      </p:sp>
      <p:sp>
        <p:nvSpPr>
          <p:cNvPr id="122" name="Rectangle 3"/>
          <p:cNvSpPr>
            <a:spLocks noChangeArrowheads="1"/>
          </p:cNvSpPr>
          <p:nvPr/>
        </p:nvSpPr>
        <p:spPr bwMode="auto">
          <a:xfrm>
            <a:off x="3446646" y="3551557"/>
            <a:ext cx="1146766"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2" name="Title 1"/>
          <p:cNvSpPr>
            <a:spLocks noGrp="1"/>
          </p:cNvSpPr>
          <p:nvPr/>
        </p:nvSpPr>
        <p:spPr>
          <a:xfrm>
            <a:off x="476025" y="435678"/>
            <a:ext cx="10122791"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a:lstStyle>
          <a:p>
            <a:r>
              <a:rPr lang="en-US" dirty="0">
                <a:latin typeface="Courier New" panose="02070609020205020404"/>
                <a:cs typeface="Courier New" panose="02070609020205020404"/>
                <a:sym typeface="+mn-ea"/>
              </a:rPr>
              <a:t>fork</a:t>
            </a:r>
            <a:r>
              <a:rPr lang="en-US" dirty="0">
                <a:sym typeface="+mn-ea"/>
              </a:rPr>
              <a:t> </a:t>
            </a:r>
            <a:r>
              <a:rPr lang="zh-CN" altLang="en-US" dirty="0">
                <a:sym typeface="+mn-ea"/>
              </a:rPr>
              <a:t>示例：两个连续的</a:t>
            </a:r>
            <a:r>
              <a:rPr lang="en-US" dirty="0">
                <a:sym typeface="+mn-ea"/>
              </a:rPr>
              <a:t> </a:t>
            </a:r>
            <a:r>
              <a:rPr lang="en-US" dirty="0">
                <a:latin typeface="Courier New" panose="02070609020205020404"/>
                <a:cs typeface="Courier New" panose="02070609020205020404"/>
                <a:sym typeface="+mn-ea"/>
              </a:rPr>
              <a:t>fork</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 Box 3"/>
          <p:cNvSpPr txBox="1">
            <a:spLocks noChangeArrowheads="1"/>
          </p:cNvSpPr>
          <p:nvPr/>
        </p:nvSpPr>
        <p:spPr bwMode="auto">
          <a:xfrm>
            <a:off x="1284618" y="1690088"/>
            <a:ext cx="4022255" cy="3139321"/>
          </a:xfrm>
          <a:prstGeom prst="rect">
            <a:avLst/>
          </a:prstGeom>
          <a:solidFill>
            <a:srgbClr val="F6F5BD"/>
          </a:solidFill>
          <a:ln w="3175">
            <a:solidFill>
              <a:schemeClr val="tx1"/>
            </a:solidFill>
            <a:miter lim="800000"/>
          </a:ln>
          <a:effectLst/>
        </p:spPr>
        <p:txBody>
          <a:bodyPr wrap="none">
            <a:spAutoFit/>
          </a:bodyPr>
          <a:lstStyle/>
          <a:p>
            <a:r>
              <a:rPr lang="en-US" sz="1800" dirty="0">
                <a:solidFill>
                  <a:srgbClr val="2D961E"/>
                </a:solidFill>
                <a:latin typeface="Menlo-Regular" panose="020B0609030804020204"/>
              </a:rPr>
              <a:t>void</a:t>
            </a:r>
            <a:r>
              <a:rPr lang="en-US" sz="1800" dirty="0">
                <a:solidFill>
                  <a:srgbClr val="000000"/>
                </a:solidFill>
                <a:latin typeface="Menlo-Regular" panose="020B0609030804020204"/>
              </a:rPr>
              <a:t> </a:t>
            </a:r>
            <a:r>
              <a:rPr lang="en-US" sz="1800" dirty="0">
                <a:solidFill>
                  <a:srgbClr val="4A00FF"/>
                </a:solidFill>
                <a:latin typeface="Menlo-Regular" panose="020B0609030804020204"/>
              </a:rPr>
              <a:t>fork4</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"L0\n"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a:solidFill>
                  <a:srgbClr val="C200FF"/>
                </a:solidFill>
                <a:latin typeface="Menlo-Regular" panose="020B0609030804020204"/>
              </a:rPr>
              <a:t>if</a:t>
            </a:r>
            <a:r>
              <a:rPr lang="en-US" sz="1800" dirty="0">
                <a:solidFill>
                  <a:srgbClr val="000000"/>
                </a:solidFill>
                <a:latin typeface="Menlo-Regular" panose="020B0609030804020204"/>
              </a:rPr>
              <a:t> (fork() != 0) {</a:t>
            </a:r>
            <a:endParaRPr lang="en-US"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"L1\n"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a:solidFill>
                  <a:srgbClr val="C200FF"/>
                </a:solidFill>
                <a:latin typeface="Menlo-Regular" panose="020B0609030804020204"/>
              </a:rPr>
              <a:t>if</a:t>
            </a:r>
            <a:r>
              <a:rPr lang="en-US" sz="1800" dirty="0">
                <a:solidFill>
                  <a:srgbClr val="000000"/>
                </a:solidFill>
                <a:latin typeface="Menlo-Regular" panose="020B0609030804020204"/>
              </a:rPr>
              <a:t> (fork() != 0) {</a:t>
            </a:r>
            <a:endParaRPr lang="en-US"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"L2\n"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ro-RO" sz="1800" dirty="0">
                <a:solidFill>
                  <a:srgbClr val="000000"/>
                </a:solidFill>
                <a:latin typeface="Menlo-Regular" panose="020B0609030804020204"/>
              </a:rPr>
              <a:t>	}</a:t>
            </a:r>
            <a:endParaRPr lang="ro-RO" sz="1800" dirty="0">
              <a:solidFill>
                <a:srgbClr val="000000"/>
              </a:solidFill>
              <a:latin typeface="Menlo-Regular" panose="020B0609030804020204"/>
            </a:endParaRPr>
          </a:p>
          <a:p>
            <a:r>
              <a:rPr lang="ro-RO" sz="1800" dirty="0">
                <a:solidFill>
                  <a:srgbClr val="000000"/>
                </a:solidFill>
                <a:latin typeface="Menlo-Regular" panose="020B0609030804020204"/>
              </a:rPr>
              <a:t>    }</a:t>
            </a:r>
            <a:endParaRPr lang="ro-RO"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err="1">
                <a:solidFill>
                  <a:srgbClr val="000000"/>
                </a:solidFill>
                <a:latin typeface="Menlo-Regular" panose="020B0609030804020204"/>
              </a:rPr>
              <a:t>printf</a:t>
            </a:r>
            <a:r>
              <a:rPr lang="en-US" sz="1800" dirty="0">
                <a:solidFill>
                  <a:srgbClr val="000000"/>
                </a:solidFill>
                <a:latin typeface="Menlo-Regular" panose="020B0609030804020204"/>
              </a:rPr>
              <a:t>(</a:t>
            </a:r>
            <a:r>
              <a:rPr lang="en-US" sz="1800" dirty="0">
                <a:solidFill>
                  <a:srgbClr val="9D206F"/>
                </a:solidFill>
                <a:latin typeface="Menlo-Regular" panose="020B0609030804020204"/>
              </a:rPr>
              <a:t>"Bye\n"</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p:txBody>
      </p:sp>
      <p:grpSp>
        <p:nvGrpSpPr>
          <p:cNvPr id="2" name="Group 1"/>
          <p:cNvGrpSpPr>
            <a:grpSpLocks noChangeAspect="1"/>
          </p:cNvGrpSpPr>
          <p:nvPr/>
        </p:nvGrpSpPr>
        <p:grpSpPr>
          <a:xfrm>
            <a:off x="5614164" y="2068203"/>
            <a:ext cx="4863336" cy="1213951"/>
            <a:chOff x="2767585" y="4328459"/>
            <a:chExt cx="5721572" cy="1428183"/>
          </a:xfrm>
        </p:grpSpPr>
        <p:sp>
          <p:nvSpPr>
            <p:cNvPr id="28" name="Oval 27"/>
            <p:cNvSpPr>
              <a:spLocks noChangeAspect="1"/>
            </p:cNvSpPr>
            <p:nvPr/>
          </p:nvSpPr>
          <p:spPr>
            <a:xfrm>
              <a:off x="3206476" y="5339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TextBox 28"/>
            <p:cNvSpPr txBox="1"/>
            <p:nvPr/>
          </p:nvSpPr>
          <p:spPr>
            <a:xfrm>
              <a:off x="2767585" y="5376446"/>
              <a:ext cx="1032089" cy="380195"/>
            </a:xfrm>
            <a:prstGeom prst="rect">
              <a:avLst/>
            </a:prstGeom>
            <a:noFill/>
          </p:spPr>
          <p:txBody>
            <a:bodyPr wrap="non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30" name="Oval 29"/>
            <p:cNvSpPr>
              <a:spLocks noChangeAspect="1"/>
            </p:cNvSpPr>
            <p:nvPr/>
          </p:nvSpPr>
          <p:spPr>
            <a:xfrm>
              <a:off x="5060388" y="53263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1" name="Oval 30"/>
            <p:cNvSpPr>
              <a:spLocks noChangeAspect="1"/>
            </p:cNvSpPr>
            <p:nvPr/>
          </p:nvSpPr>
          <p:spPr>
            <a:xfrm>
              <a:off x="5990722" y="53297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2" name="TextBox 31"/>
            <p:cNvSpPr txBox="1"/>
            <p:nvPr/>
          </p:nvSpPr>
          <p:spPr>
            <a:xfrm>
              <a:off x="4611011" y="5363746"/>
              <a:ext cx="1084145" cy="380196"/>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cxnSp>
          <p:nvCxnSpPr>
            <p:cNvPr id="33" name="Elbow Connector 35"/>
            <p:cNvCxnSpPr/>
            <p:nvPr/>
          </p:nvCxnSpPr>
          <p:spPr>
            <a:xfrm rot="5400000" flipH="1" flipV="1">
              <a:off x="6160499" y="4600584"/>
              <a:ext cx="640392" cy="88593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Oval 33"/>
            <p:cNvSpPr>
              <a:spLocks noChangeAspect="1"/>
            </p:cNvSpPr>
            <p:nvPr/>
          </p:nvSpPr>
          <p:spPr>
            <a:xfrm>
              <a:off x="6939478" y="466492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cxnSp>
          <p:nvCxnSpPr>
            <p:cNvPr id="35" name="Straight Arrow Connector 34"/>
            <p:cNvCxnSpPr/>
            <p:nvPr/>
          </p:nvCxnSpPr>
          <p:spPr>
            <a:xfrm flipV="1">
              <a:off x="5151828" y="53687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V="1">
              <a:off x="3297916" y="5378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561367" y="5363746"/>
              <a:ext cx="947222" cy="380196"/>
            </a:xfrm>
            <a:prstGeom prst="rect">
              <a:avLst/>
            </a:prstGeom>
            <a:noFill/>
          </p:spPr>
          <p:txBody>
            <a:bodyPr wrap="square" rtlCol="0">
              <a:spAutoFit/>
            </a:bodyPr>
            <a:lstStyle/>
            <a:p>
              <a:pPr algn="ctr"/>
              <a:r>
                <a:rPr lang="en-US" sz="1500" dirty="0">
                  <a:latin typeface="Courier New" panose="02070609020205020404"/>
                  <a:cs typeface="Courier New" panose="02070609020205020404"/>
                </a:rPr>
                <a:t>fork</a:t>
              </a:r>
              <a:endParaRPr lang="en-US" sz="1500" dirty="0">
                <a:latin typeface="Courier New" panose="02070609020205020404"/>
                <a:cs typeface="Courier New" panose="02070609020205020404"/>
              </a:endParaRPr>
            </a:p>
          </p:txBody>
        </p:sp>
        <p:sp>
          <p:nvSpPr>
            <p:cNvPr id="38" name="TextBox 37"/>
            <p:cNvSpPr txBox="1"/>
            <p:nvPr/>
          </p:nvSpPr>
          <p:spPr>
            <a:xfrm>
              <a:off x="6512857" y="4648200"/>
              <a:ext cx="1128428" cy="380196"/>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cxnSp>
          <p:nvCxnSpPr>
            <p:cNvPr id="39" name="Straight Arrow Connector 38"/>
            <p:cNvCxnSpPr/>
            <p:nvPr/>
          </p:nvCxnSpPr>
          <p:spPr>
            <a:xfrm flipV="1">
              <a:off x="6076442" y="53619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Oval 39"/>
            <p:cNvSpPr>
              <a:spLocks noChangeAspect="1"/>
            </p:cNvSpPr>
            <p:nvPr/>
          </p:nvSpPr>
          <p:spPr>
            <a:xfrm>
              <a:off x="6915336" y="53098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1" name="TextBox 40"/>
            <p:cNvSpPr txBox="1"/>
            <p:nvPr/>
          </p:nvSpPr>
          <p:spPr>
            <a:xfrm>
              <a:off x="6435216" y="5363746"/>
              <a:ext cx="1192488" cy="380196"/>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42" name="Oval 41"/>
            <p:cNvSpPr>
              <a:spLocks noChangeAspect="1"/>
            </p:cNvSpPr>
            <p:nvPr/>
          </p:nvSpPr>
          <p:spPr>
            <a:xfrm>
              <a:off x="4133288" y="5339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3" name="TextBox 42"/>
            <p:cNvSpPr txBox="1"/>
            <p:nvPr/>
          </p:nvSpPr>
          <p:spPr>
            <a:xfrm>
              <a:off x="3847065" y="5376446"/>
              <a:ext cx="763947" cy="380196"/>
            </a:xfrm>
            <a:prstGeom prst="rect">
              <a:avLst/>
            </a:prstGeom>
            <a:noFill/>
          </p:spPr>
          <p:txBody>
            <a:bodyPr wrap="square" rtlCol="0">
              <a:spAutoFit/>
            </a:bodyPr>
            <a:lstStyle/>
            <a:p>
              <a:pPr algn="ctr"/>
              <a:r>
                <a:rPr lang="en-US" sz="1500" dirty="0">
                  <a:latin typeface="Courier New" panose="02070609020205020404"/>
                  <a:cs typeface="Courier New" panose="02070609020205020404"/>
                </a:rPr>
                <a:t>fork</a:t>
              </a:r>
              <a:endParaRPr lang="en-US" sz="1500" dirty="0">
                <a:latin typeface="Courier New" panose="02070609020205020404"/>
                <a:cs typeface="Courier New" panose="02070609020205020404"/>
              </a:endParaRPr>
            </a:p>
          </p:txBody>
        </p:sp>
        <p:cxnSp>
          <p:nvCxnSpPr>
            <p:cNvPr id="44" name="Straight Arrow Connector 43"/>
            <p:cNvCxnSpPr/>
            <p:nvPr/>
          </p:nvCxnSpPr>
          <p:spPr>
            <a:xfrm flipV="1">
              <a:off x="4224728" y="53712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Elbow Connector 35"/>
            <p:cNvCxnSpPr>
              <a:stCxn id="43" idx="0"/>
            </p:cNvCxnSpPr>
            <p:nvPr/>
          </p:nvCxnSpPr>
          <p:spPr>
            <a:xfrm rot="5400000" flipH="1" flipV="1">
              <a:off x="4307401" y="4620228"/>
              <a:ext cx="677858" cy="834582"/>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6" name="Oval 45"/>
            <p:cNvSpPr>
              <a:spLocks noChangeAspect="1"/>
            </p:cNvSpPr>
            <p:nvPr/>
          </p:nvSpPr>
          <p:spPr>
            <a:xfrm>
              <a:off x="5060388" y="46278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8" name="TextBox 47"/>
            <p:cNvSpPr txBox="1"/>
            <p:nvPr/>
          </p:nvSpPr>
          <p:spPr>
            <a:xfrm>
              <a:off x="4573477" y="4622800"/>
              <a:ext cx="1017034" cy="651765"/>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80" name="TextBox 79"/>
            <p:cNvSpPr txBox="1"/>
            <p:nvPr/>
          </p:nvSpPr>
          <p:spPr>
            <a:xfrm>
              <a:off x="3045305" y="4994354"/>
              <a:ext cx="488866" cy="38019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L0</a:t>
              </a:r>
              <a:endParaRPr lang="en-US" sz="1500" dirty="0">
                <a:solidFill>
                  <a:srgbClr val="FF0000"/>
                </a:solidFill>
                <a:latin typeface="Courier New" panose="02070609020205020404"/>
                <a:cs typeface="Courier New" panose="02070609020205020404"/>
              </a:endParaRPr>
            </a:p>
          </p:txBody>
        </p:sp>
        <p:sp>
          <p:nvSpPr>
            <p:cNvPr id="81" name="TextBox 80"/>
            <p:cNvSpPr txBox="1"/>
            <p:nvPr/>
          </p:nvSpPr>
          <p:spPr>
            <a:xfrm>
              <a:off x="6694440" y="4328459"/>
              <a:ext cx="624672" cy="38019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Bye</a:t>
              </a:r>
              <a:endParaRPr lang="en-US" sz="1500" dirty="0">
                <a:solidFill>
                  <a:srgbClr val="FF0000"/>
                </a:solidFill>
                <a:latin typeface="Courier New" panose="02070609020205020404"/>
                <a:cs typeface="Courier New" panose="02070609020205020404"/>
              </a:endParaRPr>
            </a:p>
          </p:txBody>
        </p:sp>
        <p:sp>
          <p:nvSpPr>
            <p:cNvPr id="82" name="TextBox 81"/>
            <p:cNvSpPr txBox="1"/>
            <p:nvPr/>
          </p:nvSpPr>
          <p:spPr>
            <a:xfrm>
              <a:off x="4874105" y="4994354"/>
              <a:ext cx="488866" cy="38019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L1</a:t>
              </a:r>
              <a:endParaRPr lang="en-US" sz="1500" dirty="0">
                <a:solidFill>
                  <a:srgbClr val="FF0000"/>
                </a:solidFill>
                <a:latin typeface="Courier New" panose="02070609020205020404"/>
                <a:cs typeface="Courier New" panose="02070609020205020404"/>
              </a:endParaRPr>
            </a:p>
          </p:txBody>
        </p:sp>
        <p:sp>
          <p:nvSpPr>
            <p:cNvPr id="83" name="TextBox 82"/>
            <p:cNvSpPr txBox="1"/>
            <p:nvPr/>
          </p:nvSpPr>
          <p:spPr>
            <a:xfrm>
              <a:off x="4806202" y="4328459"/>
              <a:ext cx="624672" cy="38019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Bye</a:t>
              </a:r>
              <a:endParaRPr lang="en-US" sz="1500" dirty="0">
                <a:solidFill>
                  <a:srgbClr val="FF0000"/>
                </a:solidFill>
                <a:latin typeface="Courier New" panose="02070609020205020404"/>
                <a:cs typeface="Courier New" panose="02070609020205020404"/>
              </a:endParaRPr>
            </a:p>
          </p:txBody>
        </p:sp>
        <p:sp>
          <p:nvSpPr>
            <p:cNvPr id="84" name="TextBox 83"/>
            <p:cNvSpPr txBox="1"/>
            <p:nvPr/>
          </p:nvSpPr>
          <p:spPr>
            <a:xfrm>
              <a:off x="6738196" y="4994354"/>
              <a:ext cx="488866" cy="38019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L2</a:t>
              </a:r>
              <a:endParaRPr lang="en-US" sz="1500" dirty="0">
                <a:solidFill>
                  <a:srgbClr val="FF0000"/>
                </a:solidFill>
                <a:latin typeface="Courier New" panose="02070609020205020404"/>
                <a:cs typeface="Courier New" panose="02070609020205020404"/>
              </a:endParaRPr>
            </a:p>
          </p:txBody>
        </p:sp>
        <p:cxnSp>
          <p:nvCxnSpPr>
            <p:cNvPr id="86" name="Straight Arrow Connector 85"/>
            <p:cNvCxnSpPr/>
            <p:nvPr/>
          </p:nvCxnSpPr>
          <p:spPr>
            <a:xfrm flipV="1">
              <a:off x="7009706" y="5346700"/>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7" name="Oval 86"/>
            <p:cNvSpPr>
              <a:spLocks noChangeAspect="1"/>
            </p:cNvSpPr>
            <p:nvPr/>
          </p:nvSpPr>
          <p:spPr>
            <a:xfrm>
              <a:off x="7848600" y="5289981"/>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88" name="TextBox 87"/>
            <p:cNvSpPr txBox="1"/>
            <p:nvPr/>
          </p:nvSpPr>
          <p:spPr>
            <a:xfrm>
              <a:off x="7430411" y="5350088"/>
              <a:ext cx="1058746" cy="380196"/>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89" name="TextBox 88"/>
            <p:cNvSpPr txBox="1"/>
            <p:nvPr/>
          </p:nvSpPr>
          <p:spPr>
            <a:xfrm>
              <a:off x="7627705" y="4994354"/>
              <a:ext cx="624672" cy="38019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Bye</a:t>
              </a:r>
              <a:endParaRPr lang="en-US" sz="1500" dirty="0">
                <a:solidFill>
                  <a:srgbClr val="FF0000"/>
                </a:solidFill>
                <a:latin typeface="Courier New" panose="02070609020205020404"/>
                <a:cs typeface="Courier New" panose="02070609020205020404"/>
              </a:endParaRPr>
            </a:p>
          </p:txBody>
        </p:sp>
      </p:grpSp>
      <p:sp>
        <p:nvSpPr>
          <p:cNvPr id="90" name="TextBox 89"/>
          <p:cNvSpPr txBox="1"/>
          <p:nvPr/>
        </p:nvSpPr>
        <p:spPr>
          <a:xfrm>
            <a:off x="5881218" y="4089401"/>
            <a:ext cx="1598515" cy="2031325"/>
          </a:xfrm>
          <a:prstGeom prst="rect">
            <a:avLst/>
          </a:prstGeom>
          <a:noFill/>
        </p:spPr>
        <p:txBody>
          <a:bodyPr wrap="none" rtlCol="0">
            <a:spAutoFit/>
          </a:bodyPr>
          <a:lstStyle/>
          <a:p>
            <a:pPr algn="l"/>
            <a:r>
              <a:rPr lang="zh-CN" altLang="en-US" sz="1800" dirty="0">
                <a:latin typeface="FangSong" panose="02010609060101010101" pitchFamily="49" charset="-122"/>
                <a:ea typeface="FangSong" panose="02010609060101010101" pitchFamily="49" charset="-122"/>
                <a:sym typeface="+mn-ea"/>
              </a:rPr>
              <a:t>可行的输出：</a:t>
            </a:r>
            <a:endParaRPr lang="zh-CN" altLang="en-US" sz="1800" dirty="0">
              <a:latin typeface="FangSong" panose="02010609060101010101" pitchFamily="49" charset="-122"/>
              <a:ea typeface="FangSong" panose="02010609060101010101" pitchFamily="49" charset="-122"/>
            </a:endParaRPr>
          </a:p>
          <a:p>
            <a:pPr algn="l"/>
            <a:r>
              <a:rPr lang="en-US" sz="1800" dirty="0">
                <a:solidFill>
                  <a:srgbClr val="FF0000"/>
                </a:solidFill>
                <a:latin typeface="Consolas" panose="020B0609020204030204" pitchFamily="49" charset="0"/>
                <a:cs typeface="Consolas" panose="020B0609020204030204" pitchFamily="49" charset="0"/>
              </a:rPr>
              <a:t>L0</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L2</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p:txBody>
      </p:sp>
      <p:sp>
        <p:nvSpPr>
          <p:cNvPr id="91" name="TextBox 90"/>
          <p:cNvSpPr txBox="1"/>
          <p:nvPr/>
        </p:nvSpPr>
        <p:spPr>
          <a:xfrm>
            <a:off x="8408250" y="4089401"/>
            <a:ext cx="1834156" cy="2031325"/>
          </a:xfrm>
          <a:prstGeom prst="rect">
            <a:avLst/>
          </a:prstGeom>
          <a:noFill/>
        </p:spPr>
        <p:txBody>
          <a:bodyPr wrap="none" rtlCol="0">
            <a:spAutoFit/>
          </a:bodyPr>
          <a:lstStyle/>
          <a:p>
            <a:pPr algn="l"/>
            <a:r>
              <a:rPr lang="zh-CN" altLang="en-US" sz="1800" dirty="0">
                <a:latin typeface="FangSong" panose="02010609060101010101" pitchFamily="49" charset="-122"/>
                <a:ea typeface="FangSong" panose="02010609060101010101" pitchFamily="49" charset="-122"/>
                <a:sym typeface="+mn-ea"/>
              </a:rPr>
              <a:t>不可行的输出：</a:t>
            </a:r>
            <a:endParaRPr lang="zh-CN" altLang="en-US" sz="1800" dirty="0">
              <a:latin typeface="FangSong" panose="02010609060101010101" pitchFamily="49" charset="-122"/>
              <a:ea typeface="FangSong" panose="02010609060101010101" pitchFamily="49" charset="-122"/>
            </a:endParaRPr>
          </a:p>
          <a:p>
            <a:pPr algn="l"/>
            <a:r>
              <a:rPr lang="en-US" sz="1800" dirty="0">
                <a:solidFill>
                  <a:srgbClr val="FF0000"/>
                </a:solidFill>
                <a:latin typeface="Consolas" panose="020B0609020204030204" pitchFamily="49" charset="0"/>
                <a:cs typeface="Consolas" panose="020B0609020204030204" pitchFamily="49" charset="0"/>
              </a:rPr>
              <a:t>L0</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L2</a:t>
            </a:r>
            <a:endParaRPr lang="en-US" sz="1800" dirty="0">
              <a:solidFill>
                <a:srgbClr val="FF0000"/>
              </a:solidFill>
              <a:latin typeface="Consolas" panose="020B0609020204030204" pitchFamily="49" charset="0"/>
              <a:cs typeface="Consolas" panose="020B0609020204030204" pitchFamily="49" charset="0"/>
            </a:endParaRPr>
          </a:p>
        </p:txBody>
      </p:sp>
      <p:sp>
        <p:nvSpPr>
          <p:cNvPr id="92" name="Rectangle 3"/>
          <p:cNvSpPr>
            <a:spLocks noChangeArrowheads="1"/>
          </p:cNvSpPr>
          <p:nvPr/>
        </p:nvSpPr>
        <p:spPr bwMode="auto">
          <a:xfrm>
            <a:off x="4048195" y="4467261"/>
            <a:ext cx="1146766"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3" name="标题 2"/>
          <p:cNvSpPr>
            <a:spLocks noGrp="1"/>
          </p:cNvSpPr>
          <p:nvPr>
            <p:ph type="title"/>
          </p:nvPr>
        </p:nvSpPr>
        <p:spPr/>
        <p:txBody>
          <a:bodyPr/>
          <a:lstStyle/>
          <a:p>
            <a:r>
              <a:rPr lang="en-US" dirty="0">
                <a:latin typeface="Courier New" panose="02070609020205020404"/>
                <a:cs typeface="Courier New" panose="02070609020205020404"/>
                <a:sym typeface="+mn-ea"/>
              </a:rPr>
              <a:t>fork</a:t>
            </a:r>
            <a:r>
              <a:rPr lang="en-US" dirty="0">
                <a:sym typeface="+mn-ea"/>
              </a:rPr>
              <a:t> </a:t>
            </a:r>
            <a:r>
              <a:rPr lang="zh-CN" altLang="en-US" dirty="0">
                <a:sym typeface="+mn-ea"/>
              </a:rPr>
              <a:t>示例：父进程中的嵌套</a:t>
            </a:r>
            <a:r>
              <a:rPr lang="en-US" dirty="0">
                <a:sym typeface="+mn-ea"/>
              </a:rPr>
              <a:t> </a:t>
            </a:r>
            <a:r>
              <a:rPr lang="en-US" dirty="0">
                <a:latin typeface="Courier New" panose="02070609020205020404"/>
                <a:cs typeface="Courier New" panose="02070609020205020404"/>
                <a:sym typeface="+mn-ea"/>
              </a:rPr>
              <a:t>fork</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3"/>
          <p:cNvSpPr txBox="1">
            <a:spLocks noChangeArrowheads="1"/>
          </p:cNvSpPr>
          <p:nvPr/>
        </p:nvSpPr>
        <p:spPr bwMode="auto">
          <a:xfrm>
            <a:off x="1464145" y="1536691"/>
            <a:ext cx="4022255" cy="3139321"/>
          </a:xfrm>
          <a:prstGeom prst="rect">
            <a:avLst/>
          </a:prstGeom>
          <a:solidFill>
            <a:srgbClr val="F6F5BD"/>
          </a:solidFill>
          <a:ln w="3175">
            <a:solidFill>
              <a:schemeClr val="tx1"/>
            </a:solidFill>
            <a:miter lim="800000"/>
          </a:ln>
          <a:effectLst/>
        </p:spPr>
        <p:txBody>
          <a:bodyPr wrap="none">
            <a:spAutoFit/>
          </a:bodyPr>
          <a:lstStyle/>
          <a:p>
            <a:r>
              <a:rPr lang="en-US" sz="1800" dirty="0">
                <a:solidFill>
                  <a:srgbClr val="2D961E"/>
                </a:solidFill>
                <a:latin typeface="Menlo-Regular" panose="020B0609030804020204"/>
              </a:rPr>
              <a:t>void</a:t>
            </a:r>
            <a:r>
              <a:rPr lang="en-US" sz="1800" dirty="0">
                <a:solidFill>
                  <a:srgbClr val="000000"/>
                </a:solidFill>
                <a:latin typeface="Menlo-Regular" panose="020B0609030804020204"/>
              </a:rPr>
              <a:t> </a:t>
            </a:r>
            <a:r>
              <a:rPr lang="en-US" sz="1800" dirty="0">
                <a:solidFill>
                  <a:srgbClr val="4A00FF"/>
                </a:solidFill>
                <a:latin typeface="Menlo-Regular" panose="020B0609030804020204"/>
              </a:rPr>
              <a:t>fork5</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"L0\n"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a:solidFill>
                  <a:srgbClr val="C200FF"/>
                </a:solidFill>
                <a:latin typeface="Menlo-Regular" panose="020B0609030804020204"/>
              </a:rPr>
              <a:t>if</a:t>
            </a:r>
            <a:r>
              <a:rPr lang="en-US" sz="1800" dirty="0">
                <a:solidFill>
                  <a:srgbClr val="000000"/>
                </a:solidFill>
                <a:latin typeface="Menlo-Regular" panose="020B0609030804020204"/>
              </a:rPr>
              <a:t> (fork() == 0) {</a:t>
            </a:r>
            <a:endParaRPr lang="en-US"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"L1\n"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a:solidFill>
                  <a:srgbClr val="C200FF"/>
                </a:solidFill>
                <a:latin typeface="Menlo-Regular" panose="020B0609030804020204"/>
              </a:rPr>
              <a:t>if</a:t>
            </a:r>
            <a:r>
              <a:rPr lang="en-US" sz="1800" dirty="0">
                <a:solidFill>
                  <a:srgbClr val="000000"/>
                </a:solidFill>
                <a:latin typeface="Menlo-Regular" panose="020B0609030804020204"/>
              </a:rPr>
              <a:t> (fork() == 0) {</a:t>
            </a:r>
            <a:endParaRPr lang="en-US" sz="1800" dirty="0">
              <a:solidFill>
                <a:srgbClr val="000000"/>
              </a:solidFill>
              <a:latin typeface="Menlo-Regular" panose="020B0609030804020204"/>
            </a:endParaRPr>
          </a:p>
          <a:p>
            <a:r>
              <a:rPr lang="ro-RO" sz="1800" dirty="0">
                <a:solidFill>
                  <a:srgbClr val="000000"/>
                </a:solidFill>
                <a:latin typeface="Menlo-Regular" panose="020B0609030804020204"/>
              </a:rPr>
              <a:t>            printf(</a:t>
            </a:r>
            <a:r>
              <a:rPr lang="ro-RO" sz="1800" dirty="0">
                <a:solidFill>
                  <a:srgbClr val="9D206F"/>
                </a:solidFill>
                <a:latin typeface="Menlo-Regular" panose="020B0609030804020204"/>
              </a:rPr>
              <a:t>"L2\n"</a:t>
            </a:r>
            <a:r>
              <a:rPr lang="ro-RO" sz="1800" dirty="0">
                <a:solidFill>
                  <a:srgbClr val="000000"/>
                </a:solidFill>
                <a:latin typeface="Menlo-Regular" panose="020B0609030804020204"/>
              </a:rPr>
              <a:t>);</a:t>
            </a:r>
            <a:endParaRPr lang="ro-RO" sz="1800" dirty="0">
              <a:solidFill>
                <a:srgbClr val="000000"/>
              </a:solidFill>
              <a:latin typeface="Menlo-Regular" panose="020B0609030804020204"/>
            </a:endParaRPr>
          </a:p>
          <a:p>
            <a:r>
              <a:rPr lang="ro-RO" sz="1800" dirty="0">
                <a:solidFill>
                  <a:srgbClr val="000000"/>
                </a:solidFill>
                <a:latin typeface="Menlo-Regular" panose="020B0609030804020204"/>
              </a:rPr>
              <a:t>        }</a:t>
            </a:r>
            <a:endParaRPr lang="ro-RO" sz="1800" dirty="0">
              <a:solidFill>
                <a:srgbClr val="000000"/>
              </a:solidFill>
              <a:latin typeface="Menlo-Regular" panose="020B0609030804020204"/>
            </a:endParaRPr>
          </a:p>
          <a:p>
            <a:r>
              <a:rPr lang="ro-RO" sz="1800" dirty="0">
                <a:solidFill>
                  <a:srgbClr val="000000"/>
                </a:solidFill>
                <a:latin typeface="Menlo-Regular" panose="020B0609030804020204"/>
              </a:rPr>
              <a:t>    }</a:t>
            </a:r>
            <a:endParaRPr lang="ro-RO" sz="1800" dirty="0">
              <a:solidFill>
                <a:srgbClr val="000000"/>
              </a:solidFill>
              <a:latin typeface="Menlo-Regular" panose="020B0609030804020204"/>
            </a:endParaRPr>
          </a:p>
          <a:p>
            <a:r>
              <a:rPr lang="en-US" sz="1800" dirty="0">
                <a:solidFill>
                  <a:srgbClr val="000000"/>
                </a:solidFill>
                <a:latin typeface="Menlo-Regular" panose="020B0609030804020204"/>
              </a:rPr>
              <a:t>    </a:t>
            </a:r>
            <a:r>
              <a:rPr lang="en-US" sz="1800" dirty="0" err="1">
                <a:solidFill>
                  <a:srgbClr val="000000"/>
                </a:solidFill>
                <a:latin typeface="Menlo-Regular" panose="020B0609030804020204"/>
              </a:rPr>
              <a:t>printf</a:t>
            </a:r>
            <a:r>
              <a:rPr lang="en-US" sz="1800" dirty="0">
                <a:solidFill>
                  <a:srgbClr val="000000"/>
                </a:solidFill>
                <a:latin typeface="Menlo-Regular" panose="020B0609030804020204"/>
              </a:rPr>
              <a:t>(</a:t>
            </a:r>
            <a:r>
              <a:rPr lang="en-US" sz="1800" dirty="0">
                <a:solidFill>
                  <a:srgbClr val="9D206F"/>
                </a:solidFill>
                <a:latin typeface="Menlo-Regular" panose="020B0609030804020204"/>
              </a:rPr>
              <a:t>"Bye\n"</a:t>
            </a:r>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a:p>
            <a:r>
              <a:rPr lang="en-US" sz="1800" dirty="0">
                <a:solidFill>
                  <a:srgbClr val="000000"/>
                </a:solidFill>
                <a:latin typeface="Menlo-Regular" panose="020B0609030804020204"/>
              </a:rPr>
              <a:t>}</a:t>
            </a:r>
            <a:endParaRPr lang="en-US" sz="1800" dirty="0">
              <a:solidFill>
                <a:srgbClr val="000000"/>
              </a:solidFill>
              <a:latin typeface="Menlo-Regular" panose="020B0609030804020204"/>
            </a:endParaRPr>
          </a:p>
        </p:txBody>
      </p:sp>
      <p:grpSp>
        <p:nvGrpSpPr>
          <p:cNvPr id="4" name="Group 3"/>
          <p:cNvGrpSpPr/>
          <p:nvPr/>
        </p:nvGrpSpPr>
        <p:grpSpPr>
          <a:xfrm>
            <a:off x="5677664" y="1799014"/>
            <a:ext cx="4863336" cy="1782386"/>
            <a:chOff x="4153664" y="1487067"/>
            <a:chExt cx="4863336" cy="1782386"/>
          </a:xfrm>
        </p:grpSpPr>
        <p:sp>
          <p:nvSpPr>
            <p:cNvPr id="49" name="Oval 48"/>
            <p:cNvSpPr>
              <a:spLocks noChangeAspect="1"/>
            </p:cNvSpPr>
            <p:nvPr/>
          </p:nvSpPr>
          <p:spPr>
            <a:xfrm>
              <a:off x="4526721" y="291453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0" name="TextBox 49"/>
            <p:cNvSpPr txBox="1"/>
            <p:nvPr/>
          </p:nvSpPr>
          <p:spPr>
            <a:xfrm>
              <a:off x="4153664" y="2946288"/>
              <a:ext cx="877276" cy="323165"/>
            </a:xfrm>
            <a:prstGeom prst="rect">
              <a:avLst/>
            </a:prstGeom>
            <a:noFill/>
          </p:spPr>
          <p:txBody>
            <a:bodyPr wrap="non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51" name="Oval 50"/>
            <p:cNvSpPr>
              <a:spLocks noChangeAspect="1"/>
            </p:cNvSpPr>
            <p:nvPr/>
          </p:nvSpPr>
          <p:spPr>
            <a:xfrm>
              <a:off x="6102546" y="2903739"/>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2" name="Oval 51"/>
            <p:cNvSpPr>
              <a:spLocks noChangeAspect="1"/>
            </p:cNvSpPr>
            <p:nvPr/>
          </p:nvSpPr>
          <p:spPr>
            <a:xfrm>
              <a:off x="6893330" y="233516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3" name="TextBox 52"/>
            <p:cNvSpPr txBox="1"/>
            <p:nvPr/>
          </p:nvSpPr>
          <p:spPr>
            <a:xfrm>
              <a:off x="5720576" y="2935493"/>
              <a:ext cx="921523" cy="323165"/>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cxnSp>
          <p:nvCxnSpPr>
            <p:cNvPr id="54" name="Elbow Connector 35"/>
            <p:cNvCxnSpPr/>
            <p:nvPr/>
          </p:nvCxnSpPr>
          <p:spPr>
            <a:xfrm rot="5400000" flipH="1" flipV="1">
              <a:off x="7037642" y="1715351"/>
              <a:ext cx="544331" cy="75304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Oval 54"/>
            <p:cNvSpPr>
              <a:spLocks noChangeAspect="1"/>
            </p:cNvSpPr>
            <p:nvPr/>
          </p:nvSpPr>
          <p:spPr>
            <a:xfrm>
              <a:off x="7699773" y="1770045"/>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cxnSp>
          <p:nvCxnSpPr>
            <p:cNvPr id="56" name="Straight Arrow Connector 55"/>
            <p:cNvCxnSpPr/>
            <p:nvPr/>
          </p:nvCxnSpPr>
          <p:spPr>
            <a:xfrm flipV="1">
              <a:off x="6180270" y="2368266"/>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4604445" y="294763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528379" y="2305691"/>
              <a:ext cx="805139" cy="323165"/>
            </a:xfrm>
            <a:prstGeom prst="rect">
              <a:avLst/>
            </a:prstGeom>
            <a:noFill/>
          </p:spPr>
          <p:txBody>
            <a:bodyPr wrap="square" rtlCol="0">
              <a:spAutoFit/>
            </a:bodyPr>
            <a:lstStyle/>
            <a:p>
              <a:pPr algn="ctr"/>
              <a:r>
                <a:rPr lang="en-US" sz="1500" dirty="0">
                  <a:latin typeface="Courier New" panose="02070609020205020404"/>
                  <a:cs typeface="Courier New" panose="02070609020205020404"/>
                </a:rPr>
                <a:t>fork</a:t>
              </a:r>
              <a:endParaRPr lang="en-US" sz="1500" dirty="0">
                <a:latin typeface="Courier New" panose="02070609020205020404"/>
                <a:cs typeface="Courier New" panose="02070609020205020404"/>
              </a:endParaRPr>
            </a:p>
          </p:txBody>
        </p:sp>
        <p:sp>
          <p:nvSpPr>
            <p:cNvPr id="59" name="TextBox 58"/>
            <p:cNvSpPr txBox="1"/>
            <p:nvPr/>
          </p:nvSpPr>
          <p:spPr>
            <a:xfrm>
              <a:off x="7337145" y="1755826"/>
              <a:ext cx="959164" cy="323165"/>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cxnSp>
          <p:nvCxnSpPr>
            <p:cNvPr id="60" name="Straight Arrow Connector 59"/>
            <p:cNvCxnSpPr/>
            <p:nvPr/>
          </p:nvCxnSpPr>
          <p:spPr>
            <a:xfrm flipV="1">
              <a:off x="6966192" y="236250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Oval 60"/>
            <p:cNvSpPr>
              <a:spLocks noChangeAspect="1"/>
            </p:cNvSpPr>
            <p:nvPr/>
          </p:nvSpPr>
          <p:spPr>
            <a:xfrm>
              <a:off x="7679252" y="2318247"/>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2" name="TextBox 61"/>
            <p:cNvSpPr txBox="1"/>
            <p:nvPr/>
          </p:nvSpPr>
          <p:spPr>
            <a:xfrm>
              <a:off x="7271150" y="2305691"/>
              <a:ext cx="1013615" cy="323165"/>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63" name="Oval 62"/>
            <p:cNvSpPr>
              <a:spLocks noChangeAspect="1"/>
            </p:cNvSpPr>
            <p:nvPr/>
          </p:nvSpPr>
          <p:spPr>
            <a:xfrm>
              <a:off x="5314512" y="291453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4" name="TextBox 63"/>
            <p:cNvSpPr txBox="1"/>
            <p:nvPr/>
          </p:nvSpPr>
          <p:spPr>
            <a:xfrm>
              <a:off x="5071222" y="2946288"/>
              <a:ext cx="649355" cy="323165"/>
            </a:xfrm>
            <a:prstGeom prst="rect">
              <a:avLst/>
            </a:prstGeom>
            <a:noFill/>
          </p:spPr>
          <p:txBody>
            <a:bodyPr wrap="square" rtlCol="0">
              <a:spAutoFit/>
            </a:bodyPr>
            <a:lstStyle/>
            <a:p>
              <a:pPr algn="ctr"/>
              <a:r>
                <a:rPr lang="en-US" sz="1500" dirty="0">
                  <a:latin typeface="Courier New" panose="02070609020205020404"/>
                  <a:cs typeface="Courier New" panose="02070609020205020404"/>
                </a:rPr>
                <a:t>fork</a:t>
              </a:r>
              <a:endParaRPr lang="en-US" sz="1500" dirty="0">
                <a:latin typeface="Courier New" panose="02070609020205020404"/>
                <a:cs typeface="Courier New" panose="02070609020205020404"/>
              </a:endParaRPr>
            </a:p>
          </p:txBody>
        </p:sp>
        <p:cxnSp>
          <p:nvCxnSpPr>
            <p:cNvPr id="65" name="Straight Arrow Connector 64"/>
            <p:cNvCxnSpPr/>
            <p:nvPr/>
          </p:nvCxnSpPr>
          <p:spPr>
            <a:xfrm flipV="1">
              <a:off x="5392235" y="294187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Elbow Connector 35"/>
            <p:cNvCxnSpPr>
              <a:stCxn id="64" idx="0"/>
            </p:cNvCxnSpPr>
            <p:nvPr/>
          </p:nvCxnSpPr>
          <p:spPr>
            <a:xfrm rot="5400000" flipH="1" flipV="1">
              <a:off x="5462509" y="2303503"/>
              <a:ext cx="576177" cy="7093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Oval 66"/>
            <p:cNvSpPr>
              <a:spLocks noChangeAspect="1"/>
            </p:cNvSpPr>
            <p:nvPr/>
          </p:nvSpPr>
          <p:spPr>
            <a:xfrm>
              <a:off x="6102546" y="2310017"/>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8" name="TextBox 67"/>
            <p:cNvSpPr txBox="1"/>
            <p:nvPr/>
          </p:nvSpPr>
          <p:spPr>
            <a:xfrm>
              <a:off x="5688672" y="2305691"/>
              <a:ext cx="864479" cy="553998"/>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69" name="TextBox 68"/>
            <p:cNvSpPr txBox="1"/>
            <p:nvPr/>
          </p:nvSpPr>
          <p:spPr>
            <a:xfrm>
              <a:off x="4389726" y="2621511"/>
              <a:ext cx="415536" cy="32316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L0</a:t>
              </a:r>
              <a:endParaRPr lang="en-US" sz="1500" dirty="0">
                <a:solidFill>
                  <a:srgbClr val="FF0000"/>
                </a:solidFill>
                <a:latin typeface="Courier New" panose="02070609020205020404"/>
                <a:cs typeface="Courier New" panose="02070609020205020404"/>
              </a:endParaRPr>
            </a:p>
          </p:txBody>
        </p:sp>
        <p:sp>
          <p:nvSpPr>
            <p:cNvPr id="70" name="TextBox 69"/>
            <p:cNvSpPr txBox="1"/>
            <p:nvPr/>
          </p:nvSpPr>
          <p:spPr>
            <a:xfrm>
              <a:off x="7549209" y="1487067"/>
              <a:ext cx="415536" cy="32316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L2</a:t>
              </a:r>
              <a:endParaRPr lang="en-US" sz="1500" dirty="0">
                <a:solidFill>
                  <a:srgbClr val="FF0000"/>
                </a:solidFill>
                <a:latin typeface="Courier New" panose="02070609020205020404"/>
                <a:cs typeface="Courier New" panose="02070609020205020404"/>
              </a:endParaRPr>
            </a:p>
          </p:txBody>
        </p:sp>
        <p:sp>
          <p:nvSpPr>
            <p:cNvPr id="71" name="TextBox 70"/>
            <p:cNvSpPr txBox="1"/>
            <p:nvPr/>
          </p:nvSpPr>
          <p:spPr>
            <a:xfrm>
              <a:off x="5886489" y="2621511"/>
              <a:ext cx="530971" cy="32316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Bye</a:t>
              </a:r>
              <a:endParaRPr lang="en-US" sz="1500" dirty="0">
                <a:solidFill>
                  <a:srgbClr val="FF0000"/>
                </a:solidFill>
                <a:latin typeface="Courier New" panose="02070609020205020404"/>
                <a:cs typeface="Courier New" panose="02070609020205020404"/>
              </a:endParaRPr>
            </a:p>
          </p:txBody>
        </p:sp>
        <p:sp>
          <p:nvSpPr>
            <p:cNvPr id="72" name="TextBox 71"/>
            <p:cNvSpPr txBox="1"/>
            <p:nvPr/>
          </p:nvSpPr>
          <p:spPr>
            <a:xfrm>
              <a:off x="5944206" y="2055502"/>
              <a:ext cx="415536" cy="32316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L1</a:t>
              </a:r>
              <a:endParaRPr lang="en-US" sz="1500" dirty="0">
                <a:solidFill>
                  <a:srgbClr val="FF0000"/>
                </a:solidFill>
                <a:latin typeface="Courier New" panose="02070609020205020404"/>
                <a:cs typeface="Courier New" panose="02070609020205020404"/>
              </a:endParaRPr>
            </a:p>
          </p:txBody>
        </p:sp>
        <p:sp>
          <p:nvSpPr>
            <p:cNvPr id="73" name="TextBox 72"/>
            <p:cNvSpPr txBox="1"/>
            <p:nvPr/>
          </p:nvSpPr>
          <p:spPr>
            <a:xfrm>
              <a:off x="7470966" y="2050056"/>
              <a:ext cx="530971" cy="32316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Bye</a:t>
              </a:r>
              <a:endParaRPr lang="en-US" sz="1500" dirty="0">
                <a:solidFill>
                  <a:srgbClr val="FF0000"/>
                </a:solidFill>
                <a:latin typeface="Courier New" panose="02070609020205020404"/>
                <a:cs typeface="Courier New" panose="02070609020205020404"/>
              </a:endParaRPr>
            </a:p>
          </p:txBody>
        </p:sp>
        <p:cxnSp>
          <p:nvCxnSpPr>
            <p:cNvPr id="74" name="Straight Arrow Connector 73"/>
            <p:cNvCxnSpPr/>
            <p:nvPr/>
          </p:nvCxnSpPr>
          <p:spPr>
            <a:xfrm flipV="1">
              <a:off x="7759467" y="1816191"/>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Oval 74"/>
            <p:cNvSpPr>
              <a:spLocks noChangeAspect="1"/>
            </p:cNvSpPr>
            <p:nvPr/>
          </p:nvSpPr>
          <p:spPr>
            <a:xfrm>
              <a:off x="8472527" y="1767980"/>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76" name="TextBox 75"/>
            <p:cNvSpPr txBox="1"/>
            <p:nvPr/>
          </p:nvSpPr>
          <p:spPr>
            <a:xfrm>
              <a:off x="8117066" y="1755826"/>
              <a:ext cx="899934" cy="323165"/>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77" name="TextBox 76"/>
            <p:cNvSpPr txBox="1"/>
            <p:nvPr/>
          </p:nvSpPr>
          <p:spPr>
            <a:xfrm>
              <a:off x="8284766" y="1487067"/>
              <a:ext cx="530971" cy="323165"/>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Bye</a:t>
              </a:r>
              <a:endParaRPr lang="en-US" sz="1500" dirty="0">
                <a:solidFill>
                  <a:srgbClr val="FF0000"/>
                </a:solidFill>
                <a:latin typeface="Courier New" panose="02070609020205020404"/>
                <a:cs typeface="Courier New" panose="02070609020205020404"/>
              </a:endParaRPr>
            </a:p>
          </p:txBody>
        </p:sp>
      </p:grpSp>
      <p:sp>
        <p:nvSpPr>
          <p:cNvPr id="78" name="TextBox 77"/>
          <p:cNvSpPr txBox="1"/>
          <p:nvPr/>
        </p:nvSpPr>
        <p:spPr>
          <a:xfrm>
            <a:off x="5944718" y="4089401"/>
            <a:ext cx="1598515" cy="2031325"/>
          </a:xfrm>
          <a:prstGeom prst="rect">
            <a:avLst/>
          </a:prstGeom>
          <a:noFill/>
        </p:spPr>
        <p:txBody>
          <a:bodyPr wrap="none" rtlCol="0">
            <a:spAutoFit/>
          </a:bodyPr>
          <a:lstStyle/>
          <a:p>
            <a:pPr algn="l"/>
            <a:r>
              <a:rPr lang="zh-CN" altLang="en-US" sz="1800" dirty="0">
                <a:latin typeface="FangSong" panose="02010609060101010101" pitchFamily="49" charset="-122"/>
                <a:ea typeface="FangSong" panose="02010609060101010101" pitchFamily="49" charset="-122"/>
                <a:sym typeface="+mn-ea"/>
              </a:rPr>
              <a:t>可行的输出：</a:t>
            </a:r>
            <a:endParaRPr lang="zh-CN" altLang="en-US" sz="1800" dirty="0">
              <a:latin typeface="FangSong" panose="02010609060101010101" pitchFamily="49" charset="-122"/>
              <a:ea typeface="FangSong" panose="02010609060101010101" pitchFamily="49" charset="-122"/>
            </a:endParaRPr>
          </a:p>
          <a:p>
            <a:pPr algn="l"/>
            <a:r>
              <a:rPr lang="en-US" sz="1800" dirty="0">
                <a:solidFill>
                  <a:srgbClr val="FF0000"/>
                </a:solidFill>
                <a:latin typeface="Consolas" panose="020B0609020204030204" pitchFamily="49" charset="0"/>
                <a:cs typeface="Consolas" panose="020B0609020204030204" pitchFamily="49" charset="0"/>
              </a:rPr>
              <a:t>L0</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L2</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p:txBody>
      </p:sp>
      <p:sp>
        <p:nvSpPr>
          <p:cNvPr id="79" name="TextBox 78"/>
          <p:cNvSpPr txBox="1"/>
          <p:nvPr/>
        </p:nvSpPr>
        <p:spPr>
          <a:xfrm>
            <a:off x="8471750" y="4089401"/>
            <a:ext cx="1834156" cy="2031325"/>
          </a:xfrm>
          <a:prstGeom prst="rect">
            <a:avLst/>
          </a:prstGeom>
          <a:noFill/>
        </p:spPr>
        <p:txBody>
          <a:bodyPr wrap="none" rtlCol="0">
            <a:spAutoFit/>
          </a:bodyPr>
          <a:lstStyle/>
          <a:p>
            <a:pPr algn="l"/>
            <a:r>
              <a:rPr lang="zh-CN" altLang="en-US" sz="1800" dirty="0">
                <a:latin typeface="FangSong" panose="02010609060101010101" pitchFamily="49" charset="-122"/>
                <a:ea typeface="FangSong" panose="02010609060101010101" pitchFamily="49" charset="-122"/>
                <a:sym typeface="+mn-ea"/>
              </a:rPr>
              <a:t>不可行的输出：</a:t>
            </a:r>
            <a:endParaRPr lang="zh-CN" altLang="en-US" sz="1800" dirty="0">
              <a:latin typeface="FangSong" panose="02010609060101010101" pitchFamily="49" charset="-122"/>
              <a:ea typeface="FangSong" panose="02010609060101010101" pitchFamily="49" charset="-122"/>
            </a:endParaRPr>
          </a:p>
          <a:p>
            <a:pPr algn="l"/>
            <a:r>
              <a:rPr lang="en-US" sz="1800" dirty="0">
                <a:solidFill>
                  <a:srgbClr val="FF0000"/>
                </a:solidFill>
                <a:latin typeface="Consolas" panose="020B0609020204030204" pitchFamily="49" charset="0"/>
                <a:cs typeface="Consolas" panose="020B0609020204030204" pitchFamily="49" charset="0"/>
              </a:rPr>
              <a:t>L0</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L1</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L2</a:t>
            </a:r>
            <a:endParaRPr lang="en-US" sz="1800" dirty="0">
              <a:solidFill>
                <a:srgbClr val="FF0000"/>
              </a:solidFill>
              <a:latin typeface="Consolas" panose="020B0609020204030204" pitchFamily="49" charset="0"/>
              <a:cs typeface="Consolas" panose="020B0609020204030204" pitchFamily="49" charset="0"/>
            </a:endParaRPr>
          </a:p>
        </p:txBody>
      </p:sp>
      <p:sp>
        <p:nvSpPr>
          <p:cNvPr id="80" name="Rectangle 3"/>
          <p:cNvSpPr>
            <a:spLocks noChangeArrowheads="1"/>
          </p:cNvSpPr>
          <p:nvPr/>
        </p:nvSpPr>
        <p:spPr bwMode="auto">
          <a:xfrm>
            <a:off x="4195261" y="4318348"/>
            <a:ext cx="1146766"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5" name="标题 4"/>
          <p:cNvSpPr>
            <a:spLocks noGrp="1"/>
          </p:cNvSpPr>
          <p:nvPr>
            <p:ph type="title"/>
          </p:nvPr>
        </p:nvSpPr>
        <p:spPr/>
        <p:txBody>
          <a:bodyPr/>
          <a:lstStyle/>
          <a:p>
            <a:r>
              <a:rPr lang="en-US" dirty="0">
                <a:latin typeface="Courier New" panose="02070609020205020404"/>
                <a:cs typeface="Courier New" panose="02070609020205020404"/>
                <a:sym typeface="+mn-ea"/>
              </a:rPr>
              <a:t>fork</a:t>
            </a:r>
            <a:r>
              <a:rPr lang="en-US" dirty="0">
                <a:sym typeface="+mn-ea"/>
              </a:rPr>
              <a:t> </a:t>
            </a:r>
            <a:r>
              <a:rPr lang="zh-CN" altLang="en-US" dirty="0">
                <a:sym typeface="+mn-ea"/>
              </a:rPr>
              <a:t>示例：子进程中的嵌套</a:t>
            </a:r>
            <a:r>
              <a:rPr lang="en-US" dirty="0">
                <a:sym typeface="+mn-ea"/>
              </a:rPr>
              <a:t> </a:t>
            </a:r>
            <a:r>
              <a:rPr lang="en-US" dirty="0">
                <a:latin typeface="Courier New" panose="02070609020205020404"/>
                <a:cs typeface="Courier New" panose="02070609020205020404"/>
                <a:sym typeface="+mn-ea"/>
              </a:rPr>
              <a:t>fork</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Consolas" panose="020B0609020204030204" pitchFamily="49" charset="0"/>
                <a:cs typeface="Consolas" panose="020B0609020204030204" pitchFamily="49" charset="0"/>
              </a:rPr>
              <a:t>主要内容</a:t>
            </a:r>
            <a:endParaRPr lang="zh-CN" altLang="en-US" dirty="0">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lstStyle/>
          <a:p>
            <a:pPr lvl="0"/>
            <a:r>
              <a:rPr lang="zh-CN" altLang="en-US" sz="2800" dirty="0">
                <a:cs typeface="Consolas" panose="020B0609020204030204" pitchFamily="49" charset="0"/>
                <a:sym typeface="+mn-ea"/>
              </a:rPr>
              <a:t>进程的状态和终止</a:t>
            </a:r>
            <a:endParaRPr lang="zh-CN" altLang="en-US" sz="2800" dirty="0">
              <a:solidFill>
                <a:schemeClr val="tx1"/>
              </a:solidFill>
              <a:cs typeface="Consolas" panose="020B0609020204030204" pitchFamily="49" charset="0"/>
            </a:endParaRPr>
          </a:p>
          <a:p>
            <a:pPr lvl="0"/>
            <a:r>
              <a:rPr lang="zh-CN" altLang="en-US" sz="2800" dirty="0">
                <a:cs typeface="Consolas" panose="020B0609020204030204" pitchFamily="49" charset="0"/>
                <a:sym typeface="+mn-ea"/>
              </a:rPr>
              <a:t>进程的创建</a:t>
            </a:r>
            <a:endParaRPr lang="zh-CN" altLang="en-US" sz="2800" dirty="0">
              <a:solidFill>
                <a:schemeClr val="tx1"/>
              </a:solidFill>
              <a:cs typeface="Consolas" panose="020B0609020204030204" pitchFamily="49" charset="0"/>
            </a:endParaRPr>
          </a:p>
          <a:p>
            <a:pPr lvl="0"/>
            <a:r>
              <a:rPr lang="zh-CN" altLang="en-US" sz="2800" dirty="0">
                <a:solidFill>
                  <a:schemeClr val="tx1"/>
                </a:solidFill>
                <a:cs typeface="Consolas" panose="020B0609020204030204" pitchFamily="49" charset="0"/>
                <a:sym typeface="+mn-ea"/>
              </a:rPr>
              <a:t>子进程的回收与同步</a:t>
            </a:r>
            <a:endParaRPr lang="zh-CN" altLang="en-US" sz="2800" dirty="0">
              <a:solidFill>
                <a:schemeClr val="tx1"/>
              </a:solidFill>
              <a:cs typeface="Consolas" panose="020B0609020204030204" pitchFamily="49" charset="0"/>
            </a:endParaRPr>
          </a:p>
          <a:p>
            <a:pPr lvl="0"/>
            <a:r>
              <a:rPr lang="zh-CN" altLang="en-US" sz="2800" dirty="0">
                <a:solidFill>
                  <a:schemeClr val="bg1">
                    <a:lumMod val="50000"/>
                  </a:schemeClr>
                </a:solidFill>
                <a:cs typeface="Consolas" panose="020B0609020204030204" pitchFamily="49" charset="0"/>
                <a:sym typeface="+mn-ea"/>
              </a:rPr>
              <a:t>创建不同的进程</a:t>
            </a:r>
            <a:endParaRPr lang="en-US" sz="2800" dirty="0">
              <a:solidFill>
                <a:schemeClr val="bg1">
                  <a:lumMod val="50000"/>
                </a:schemeClr>
              </a:solidFill>
              <a:cs typeface="Consolas" panose="020B0609020204030204" pitchFamily="49" charset="0"/>
            </a:endParaRPr>
          </a:p>
          <a:p>
            <a:pPr lvl="1"/>
            <a:endParaRPr lang="en-US" sz="2330" dirty="0">
              <a:solidFill>
                <a:schemeClr val="bg1">
                  <a:lumMod val="50000"/>
                </a:schemeClr>
              </a:solidFill>
              <a:cs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r>
              <a:rPr lang="zh-CN" altLang="en-US"/>
              <a:t>回收子进程</a:t>
            </a:r>
            <a:endParaRPr lang="zh-CN" altLang="en-US"/>
          </a:p>
        </p:txBody>
      </p:sp>
      <p:sp>
        <p:nvSpPr>
          <p:cNvPr id="496643" name="Rectangle 3"/>
          <p:cNvSpPr>
            <a:spLocks noGrp="1" noChangeArrowheads="1"/>
          </p:cNvSpPr>
          <p:nvPr>
            <p:ph idx="1"/>
          </p:nvPr>
        </p:nvSpPr>
        <p:spPr/>
        <p:txBody>
          <a:bodyPr/>
          <a:lstStyle/>
          <a:p>
            <a:r>
              <a:rPr lang="zh-CN" altLang="en-US"/>
              <a:t>概念</a:t>
            </a:r>
            <a:endParaRPr lang="en-US"/>
          </a:p>
          <a:p>
            <a:pPr lvl="1"/>
            <a:r>
              <a:rPr lang="zh-CN" altLang="en-US"/>
              <a:t>当进程终止时，它仍然占用系统资源</a:t>
            </a:r>
            <a:endParaRPr lang="zh-CN" altLang="en-US"/>
          </a:p>
          <a:p>
            <a:pPr lvl="2"/>
            <a:r>
              <a:rPr lang="zh-CN" altLang="en-US"/>
              <a:t>例如：退出状态、各种操作系统表</a:t>
            </a:r>
            <a:endParaRPr lang="zh-CN" altLang="en-US"/>
          </a:p>
          <a:p>
            <a:pPr lvl="1"/>
            <a:r>
              <a:rPr lang="zh-CN" altLang="en-US"/>
              <a:t>称为 </a:t>
            </a:r>
            <a:r>
              <a:rPr lang="en-US" altLang="zh-CN"/>
              <a:t>zombie</a:t>
            </a:r>
            <a:endParaRPr lang="en-US"/>
          </a:p>
          <a:p>
            <a:r>
              <a:rPr lang="zh-CN" altLang="en-US"/>
              <a:t>父进程主动回收</a:t>
            </a:r>
            <a:endParaRPr lang="en-US"/>
          </a:p>
          <a:p>
            <a:pPr lvl="1"/>
            <a:r>
              <a:rPr lang="zh-CN" altLang="en-US"/>
              <a:t>父进程对终止的子进程执行</a:t>
            </a:r>
            <a:r>
              <a:rPr lang="en-US"/>
              <a:t> (</a:t>
            </a:r>
            <a:r>
              <a:rPr lang="zh-CN" altLang="en-US"/>
              <a:t>使用</a:t>
            </a:r>
            <a:r>
              <a:rPr lang="en-US"/>
              <a:t> wait </a:t>
            </a:r>
            <a:r>
              <a:rPr lang="zh-CN" altLang="en-US"/>
              <a:t>或</a:t>
            </a:r>
            <a:r>
              <a:rPr lang="en-US"/>
              <a:t> waitpid)</a:t>
            </a:r>
            <a:endParaRPr lang="en-US"/>
          </a:p>
          <a:p>
            <a:pPr lvl="1"/>
            <a:r>
              <a:rPr lang="zh-CN" altLang="en-US"/>
              <a:t>父进程会获得子进程的退出状态信息</a:t>
            </a:r>
            <a:endParaRPr lang="zh-CN" altLang="en-US"/>
          </a:p>
          <a:p>
            <a:pPr lvl="1"/>
            <a:r>
              <a:rPr lang="zh-CN" altLang="en-US"/>
              <a:t>内核随后删除僵尸子进程</a:t>
            </a:r>
            <a:endParaRPr lang="zh-CN" altLang="en-US"/>
          </a:p>
          <a:p>
            <a:r>
              <a:rPr lang="zh-CN" altLang="en-US"/>
              <a:t>如果父进程未回收子进程？</a:t>
            </a:r>
            <a:endParaRPr lang="en-US"/>
          </a:p>
          <a:p>
            <a:pPr lvl="1"/>
            <a:r>
              <a:rPr lang="zh-CN" altLang="en-US"/>
              <a:t>如果父进程先于子进程终止而未回收子进程，孤儿进程会被</a:t>
            </a:r>
            <a:r>
              <a:rPr lang="en-US"/>
              <a:t> init </a:t>
            </a:r>
            <a:r>
              <a:rPr lang="zh-CN" altLang="en-US"/>
              <a:t>进程回收</a:t>
            </a:r>
            <a:r>
              <a:rPr lang="en-US"/>
              <a:t>(pid == 1)</a:t>
            </a:r>
            <a:endParaRPr lang="en-US"/>
          </a:p>
          <a:p>
            <a:pPr lvl="2"/>
            <a:r>
              <a:rPr lang="zh-CN" altLang="en-US"/>
              <a:t>但是回收会比较慢</a:t>
            </a:r>
            <a:r>
              <a:rPr lang="en-US" altLang="zh-CN"/>
              <a:t>，</a:t>
            </a:r>
            <a:r>
              <a:rPr lang="zh-CN" altLang="en-US"/>
              <a:t>不太及时</a:t>
            </a:r>
            <a:endParaRPr lang="en-US"/>
          </a:p>
          <a:p>
            <a:pPr lvl="1"/>
            <a:r>
              <a:rPr lang="zh-CN" altLang="en-US"/>
              <a:t>如果父进程长时间运行</a:t>
            </a:r>
            <a:r>
              <a:rPr lang="en-US" altLang="zh-CN"/>
              <a:t>，</a:t>
            </a:r>
            <a:r>
              <a:rPr lang="zh-CN" altLang="en-US"/>
              <a:t>却没有回收子进程</a:t>
            </a:r>
            <a:r>
              <a:rPr lang="en-US" altLang="zh-CN"/>
              <a:t>，</a:t>
            </a:r>
            <a:r>
              <a:rPr lang="zh-CN" altLang="en-US"/>
              <a:t>则会有系统资源泄漏</a:t>
            </a:r>
            <a:endParaRPr lang="zh-CN" altLang="en-US"/>
          </a:p>
          <a:p>
            <a:pPr lvl="2"/>
            <a:r>
              <a:rPr lang="zh-CN" altLang="en-US"/>
              <a:t>例如</a:t>
            </a:r>
            <a:r>
              <a:rPr lang="en-US" altLang="zh-CN"/>
              <a:t> </a:t>
            </a:r>
            <a:r>
              <a:rPr lang="en-US"/>
              <a:t>shell </a:t>
            </a:r>
            <a:r>
              <a:rPr lang="zh-CN" altLang="en-US"/>
              <a:t>和服务器程序</a:t>
            </a:r>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Text Box 2"/>
          <p:cNvSpPr txBox="1">
            <a:spLocks noChangeArrowheads="1"/>
          </p:cNvSpPr>
          <p:nvPr/>
        </p:nvSpPr>
        <p:spPr bwMode="auto">
          <a:xfrm>
            <a:off x="1676401" y="2438401"/>
            <a:ext cx="4951413" cy="4003675"/>
          </a:xfrm>
          <a:prstGeom prst="rect">
            <a:avLst/>
          </a:prstGeom>
          <a:solidFill>
            <a:srgbClr val="DDDDDD"/>
          </a:solidFill>
          <a:ln w="3175">
            <a:noFill/>
            <a:miter lim="800000"/>
          </a:ln>
          <a:effectLst/>
        </p:spPr>
        <p:txBody>
          <a:bodyPr wrap="none">
            <a:spAutoFit/>
          </a:bodyPr>
          <a:lstStyle/>
          <a:p>
            <a:pPr algn="l">
              <a:lnSpc>
                <a:spcPct val="100000"/>
              </a:lnSpc>
            </a:pPr>
            <a:r>
              <a:rPr lang="en-US" sz="1600" dirty="0" err="1">
                <a:latin typeface="Courier New" panose="02070609020205020404" pitchFamily="49" charset="0"/>
              </a:rPr>
              <a:t>linux</a:t>
            </a:r>
            <a:r>
              <a:rPr lang="en-US" sz="1600" dirty="0">
                <a:latin typeface="Courier New" panose="02070609020205020404" pitchFamily="49" charset="0"/>
              </a:rPr>
              <a:t>&gt; </a:t>
            </a:r>
            <a:r>
              <a:rPr lang="en-US" sz="1600" i="1" dirty="0">
                <a:latin typeface="Courier New" panose="02070609020205020404" pitchFamily="49" charset="0"/>
              </a:rPr>
              <a:t>./forks 7 &amp;</a:t>
            </a:r>
            <a:endParaRPr lang="en-US" sz="1600" i="1" dirty="0">
              <a:latin typeface="Courier New" panose="02070609020205020404" pitchFamily="49" charset="0"/>
            </a:endParaRPr>
          </a:p>
          <a:p>
            <a:pPr algn="l">
              <a:lnSpc>
                <a:spcPct val="100000"/>
              </a:lnSpc>
            </a:pPr>
            <a:r>
              <a:rPr lang="en-US" sz="1600" dirty="0">
                <a:latin typeface="Courier New" panose="02070609020205020404" pitchFamily="49" charset="0"/>
              </a:rPr>
              <a:t>[1] 6639</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Running Parent, PID = 6639</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Terminating Child, PID = 6640</a:t>
            </a:r>
            <a:endParaRPr lang="en-US" sz="1600" dirty="0">
              <a:latin typeface="Courier New" panose="02070609020205020404" pitchFamily="49" charset="0"/>
            </a:endParaRPr>
          </a:p>
          <a:p>
            <a:pPr algn="l">
              <a:lnSpc>
                <a:spcPct val="100000"/>
              </a:lnSpc>
            </a:pPr>
            <a:r>
              <a:rPr lang="en-US" sz="1600" dirty="0" err="1">
                <a:latin typeface="Courier New" panose="02070609020205020404" pitchFamily="49" charset="0"/>
              </a:rPr>
              <a:t>linux</a:t>
            </a:r>
            <a:r>
              <a:rPr lang="en-US" sz="1600" dirty="0">
                <a:latin typeface="Courier New" panose="02070609020205020404" pitchFamily="49" charset="0"/>
              </a:rPr>
              <a:t>&gt; </a:t>
            </a:r>
            <a:r>
              <a:rPr lang="en-US" sz="1600" i="1" dirty="0" err="1">
                <a:latin typeface="Courier New" panose="02070609020205020404" pitchFamily="49" charset="0"/>
              </a:rPr>
              <a:t>ps</a:t>
            </a:r>
            <a:endParaRPr lang="en-US" sz="1600" i="1" dirty="0">
              <a:latin typeface="Courier New" panose="02070609020205020404" pitchFamily="49" charset="0"/>
            </a:endParaRPr>
          </a:p>
          <a:p>
            <a:pPr algn="l">
              <a:lnSpc>
                <a:spcPct val="100000"/>
              </a:lnSpc>
            </a:pPr>
            <a:r>
              <a:rPr lang="en-US" sz="1600" dirty="0">
                <a:latin typeface="Courier New" panose="02070609020205020404" pitchFamily="49" charset="0"/>
              </a:rPr>
              <a:t>  PID TTY          TIME CMD</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6585 ttyp9    00:00:00 </a:t>
            </a:r>
            <a:r>
              <a:rPr lang="en-US" sz="1600" dirty="0" err="1">
                <a:latin typeface="Courier New" panose="02070609020205020404" pitchFamily="49" charset="0"/>
              </a:rPr>
              <a:t>tcsh</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6639 ttyp9    00:00:03 forks</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6640 ttyp9    00:00:00 forks &lt;defunct&gt;</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6641 ttyp9    00:00:00 </a:t>
            </a:r>
            <a:r>
              <a:rPr lang="en-US" sz="1600" dirty="0" err="1">
                <a:latin typeface="Courier New" panose="02070609020205020404" pitchFamily="49" charset="0"/>
              </a:rPr>
              <a:t>ps</a:t>
            </a:r>
            <a:endParaRPr lang="en-US" sz="1600" dirty="0">
              <a:latin typeface="Courier New" panose="02070609020205020404" pitchFamily="49" charset="0"/>
            </a:endParaRPr>
          </a:p>
          <a:p>
            <a:pPr algn="l">
              <a:lnSpc>
                <a:spcPct val="100000"/>
              </a:lnSpc>
            </a:pPr>
            <a:r>
              <a:rPr lang="en-US" sz="1600" dirty="0" err="1">
                <a:latin typeface="Courier New" panose="02070609020205020404" pitchFamily="49" charset="0"/>
              </a:rPr>
              <a:t>linux</a:t>
            </a:r>
            <a:r>
              <a:rPr lang="en-US" sz="1600" dirty="0">
                <a:latin typeface="Courier New" panose="02070609020205020404" pitchFamily="49" charset="0"/>
              </a:rPr>
              <a:t>&gt;</a:t>
            </a:r>
            <a:r>
              <a:rPr lang="en-US" sz="1600" i="1" dirty="0">
                <a:latin typeface="Courier New" panose="02070609020205020404" pitchFamily="49" charset="0"/>
              </a:rPr>
              <a:t> kill 6639</a:t>
            </a:r>
            <a:endParaRPr lang="en-US" sz="1600" i="1" dirty="0">
              <a:latin typeface="Courier New" panose="02070609020205020404" pitchFamily="49" charset="0"/>
            </a:endParaRPr>
          </a:p>
          <a:p>
            <a:pPr algn="l">
              <a:lnSpc>
                <a:spcPct val="100000"/>
              </a:lnSpc>
            </a:pPr>
            <a:r>
              <a:rPr lang="en-US" sz="1600" dirty="0">
                <a:latin typeface="Courier New" panose="02070609020205020404" pitchFamily="49" charset="0"/>
              </a:rPr>
              <a:t>[1]    Terminated</a:t>
            </a:r>
            <a:endParaRPr lang="en-US" sz="1600" dirty="0">
              <a:latin typeface="Courier New" panose="02070609020205020404" pitchFamily="49" charset="0"/>
            </a:endParaRPr>
          </a:p>
          <a:p>
            <a:pPr algn="l">
              <a:lnSpc>
                <a:spcPct val="100000"/>
              </a:lnSpc>
            </a:pPr>
            <a:r>
              <a:rPr lang="en-US" sz="1600" dirty="0" err="1">
                <a:latin typeface="Courier New" panose="02070609020205020404" pitchFamily="49" charset="0"/>
              </a:rPr>
              <a:t>linux</a:t>
            </a:r>
            <a:r>
              <a:rPr lang="en-US" sz="1600" dirty="0">
                <a:latin typeface="Courier New" panose="02070609020205020404" pitchFamily="49" charset="0"/>
              </a:rPr>
              <a:t>&gt; </a:t>
            </a:r>
            <a:r>
              <a:rPr lang="en-US" sz="1600" i="1" dirty="0" err="1">
                <a:latin typeface="Courier New" panose="02070609020205020404" pitchFamily="49" charset="0"/>
              </a:rPr>
              <a:t>ps</a:t>
            </a:r>
            <a:endParaRPr lang="en-US" sz="1600" i="1" dirty="0">
              <a:latin typeface="Courier New" panose="02070609020205020404" pitchFamily="49" charset="0"/>
            </a:endParaRPr>
          </a:p>
          <a:p>
            <a:pPr algn="l">
              <a:lnSpc>
                <a:spcPct val="100000"/>
              </a:lnSpc>
            </a:pPr>
            <a:r>
              <a:rPr lang="en-US" sz="1600" dirty="0">
                <a:latin typeface="Courier New" panose="02070609020205020404" pitchFamily="49" charset="0"/>
              </a:rPr>
              <a:t>  PID TTY          TIME CMD</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6585 ttyp9    00:00:00 </a:t>
            </a:r>
            <a:r>
              <a:rPr lang="en-US" sz="1600" dirty="0" err="1">
                <a:latin typeface="Courier New" panose="02070609020205020404" pitchFamily="49" charset="0"/>
              </a:rPr>
              <a:t>tcsh</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6642 ttyp9    00:00:00 </a:t>
            </a:r>
            <a:r>
              <a:rPr lang="en-US" sz="1600" dirty="0" err="1">
                <a:latin typeface="Courier New" panose="02070609020205020404" pitchFamily="49" charset="0"/>
              </a:rPr>
              <a:t>ps</a:t>
            </a:r>
            <a:endParaRPr lang="en-US" sz="1600" dirty="0">
              <a:latin typeface="Courier New" panose="02070609020205020404" pitchFamily="49" charset="0"/>
            </a:endParaRPr>
          </a:p>
        </p:txBody>
      </p:sp>
      <p:sp>
        <p:nvSpPr>
          <p:cNvPr id="497667" name="Rectangle 3"/>
          <p:cNvSpPr>
            <a:spLocks noGrp="1" noChangeArrowheads="1"/>
          </p:cNvSpPr>
          <p:nvPr>
            <p:ph type="title"/>
          </p:nvPr>
        </p:nvSpPr>
        <p:spPr>
          <a:xfrm>
            <a:off x="457200" y="304484"/>
            <a:ext cx="3733800" cy="1095375"/>
          </a:xfrm>
        </p:spPr>
        <p:txBody>
          <a:bodyPr/>
          <a:lstStyle/>
          <a:p>
            <a:pPr marL="0" indent="0"/>
            <a:r>
              <a:rPr lang="en-US" altLang="zh-CN" dirty="0">
                <a:latin typeface="Consolas" panose="020B0609020204030204" pitchFamily="49" charset="0"/>
                <a:cs typeface="Consolas" panose="020B0609020204030204" pitchFamily="49" charset="0"/>
              </a:rPr>
              <a:t>Zombie</a:t>
            </a:r>
            <a:r>
              <a:rPr lang="zh-CN" altLang="en-US" dirty="0"/>
              <a:t> 示</a:t>
            </a:r>
            <a:r>
              <a:rPr lang="zh-CN" dirty="0"/>
              <a:t>例</a:t>
            </a:r>
            <a:endParaRPr lang="zh-CN" dirty="0"/>
          </a:p>
        </p:txBody>
      </p:sp>
      <p:sp>
        <p:nvSpPr>
          <p:cNvPr id="497668" name="Rectangle 4"/>
          <p:cNvSpPr>
            <a:spLocks noGrp="1" noChangeArrowheads="1"/>
          </p:cNvSpPr>
          <p:nvPr>
            <p:ph type="body" idx="1"/>
          </p:nvPr>
        </p:nvSpPr>
        <p:spPr>
          <a:xfrm>
            <a:off x="6705600" y="3994150"/>
            <a:ext cx="5257165" cy="2426970"/>
          </a:xfrm>
        </p:spPr>
        <p:txBody>
          <a:bodyPr/>
          <a:lstStyle/>
          <a:p>
            <a:pPr marL="0" indent="0">
              <a:buNone/>
            </a:pPr>
            <a:r>
              <a:rPr lang="en-US" sz="2000" dirty="0" err="1">
                <a:latin typeface="Courier New" panose="02070609020205020404" pitchFamily="49" charset="0"/>
              </a:rPr>
              <a:t>ps</a:t>
            </a:r>
            <a:r>
              <a:rPr lang="en-US" sz="2000" b="0" dirty="0"/>
              <a:t> </a:t>
            </a:r>
            <a:r>
              <a:rPr lang="zh-CN" altLang="en-US" sz="2000" b="0" dirty="0"/>
              <a:t>命令显示子进程为</a:t>
            </a:r>
            <a:r>
              <a:rPr lang="en-US" sz="2000" b="0" dirty="0"/>
              <a:t> </a:t>
            </a:r>
            <a:r>
              <a:rPr lang="en-US" sz="2000" b="0" dirty="0">
                <a:latin typeface="Consolas" panose="020B0609020204030204" pitchFamily="49" charset="0"/>
                <a:cs typeface="Consolas" panose="020B0609020204030204" pitchFamily="49" charset="0"/>
              </a:rPr>
              <a:t>“defunct”</a:t>
            </a:r>
            <a:r>
              <a:rPr lang="en-US" sz="2000" b="0" dirty="0"/>
              <a:t> (</a:t>
            </a:r>
            <a:r>
              <a:rPr lang="zh-CN" altLang="en-US" sz="2000" b="0" dirty="0"/>
              <a:t>即</a:t>
            </a:r>
            <a:r>
              <a:rPr lang="en-US" altLang="zh-CN" sz="2000" b="0" dirty="0">
                <a:latin typeface="Consolas" panose="020B0609020204030204" pitchFamily="49" charset="0"/>
                <a:cs typeface="Consolas" panose="020B0609020204030204" pitchFamily="49" charset="0"/>
              </a:rPr>
              <a:t>zombie</a:t>
            </a:r>
            <a:r>
              <a:rPr lang="en-US" sz="2000" b="0" dirty="0"/>
              <a:t>)</a:t>
            </a:r>
            <a:endParaRPr lang="en-US" sz="2000" b="0" dirty="0"/>
          </a:p>
          <a:p>
            <a:endParaRPr lang="en-US" sz="2000" b="0" dirty="0"/>
          </a:p>
          <a:p>
            <a:endParaRPr lang="en-US" sz="2000" b="0" dirty="0"/>
          </a:p>
          <a:p>
            <a:pPr marL="0" indent="0">
              <a:buNone/>
            </a:pPr>
            <a:r>
              <a:rPr lang="zh-CN" altLang="en-US" sz="2000" b="0" dirty="0"/>
              <a:t>终止父进程使得子进程被</a:t>
            </a:r>
            <a:r>
              <a:rPr lang="en-US" sz="2000" b="0" dirty="0"/>
              <a:t> </a:t>
            </a:r>
            <a:r>
              <a:rPr lang="en-US" sz="2000" dirty="0">
                <a:latin typeface="Courier New" panose="02070609020205020404" pitchFamily="49" charset="0"/>
              </a:rPr>
              <a:t>init </a:t>
            </a:r>
            <a:r>
              <a:rPr lang="zh-CN" altLang="en-US" sz="2000" b="0" dirty="0"/>
              <a:t>回收</a:t>
            </a:r>
            <a:endParaRPr lang="zh-CN" altLang="en-US" sz="2000" b="0" dirty="0"/>
          </a:p>
        </p:txBody>
      </p:sp>
      <p:sp>
        <p:nvSpPr>
          <p:cNvPr id="497669" name="Text Box 5"/>
          <p:cNvSpPr txBox="1">
            <a:spLocks noChangeArrowheads="1"/>
          </p:cNvSpPr>
          <p:nvPr/>
        </p:nvSpPr>
        <p:spPr bwMode="auto">
          <a:xfrm>
            <a:off x="5333059" y="482165"/>
            <a:ext cx="6630341" cy="2462213"/>
          </a:xfrm>
          <a:prstGeom prst="rect">
            <a:avLst/>
          </a:prstGeom>
          <a:solidFill>
            <a:srgbClr val="F6F5BD"/>
          </a:solidFill>
          <a:ln w="3175">
            <a:solidFill>
              <a:schemeClr val="tx1"/>
            </a:solidFill>
            <a:miter lim="800000"/>
          </a:ln>
          <a:effectLst/>
        </p:spPr>
        <p:txBody>
          <a:bodyPr wrap="none">
            <a:spAutoFit/>
          </a:bodyPr>
          <a:lstStyle/>
          <a:p>
            <a:r>
              <a:rPr lang="en-US" sz="1400" dirty="0">
                <a:solidFill>
                  <a:srgbClr val="2D961E"/>
                </a:solidFill>
                <a:latin typeface="Menlo-Regular" panose="020B0609030804020204"/>
              </a:rPr>
              <a:t>void</a:t>
            </a:r>
            <a:r>
              <a:rPr lang="en-US" sz="1400" dirty="0">
                <a:solidFill>
                  <a:srgbClr val="000000"/>
                </a:solidFill>
                <a:latin typeface="Menlo-Regular" panose="020B0609030804020204"/>
              </a:rPr>
              <a:t> </a:t>
            </a:r>
            <a:r>
              <a:rPr lang="en-US" sz="1400" dirty="0">
                <a:solidFill>
                  <a:srgbClr val="4A00FF"/>
                </a:solidFill>
                <a:latin typeface="Menlo-Regular" panose="020B0609030804020204"/>
              </a:rPr>
              <a:t>fork7</a:t>
            </a:r>
            <a:r>
              <a:rPr lang="en-US" sz="1400" dirty="0">
                <a:solidFill>
                  <a:srgbClr val="000000"/>
                </a:solidFill>
                <a:latin typeface="Menlo-Regular" panose="020B0609030804020204"/>
              </a:rPr>
              <a:t>()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r>
              <a:rPr lang="en-US" sz="1400" dirty="0">
                <a:solidFill>
                  <a:srgbClr val="C200FF"/>
                </a:solidFill>
                <a:latin typeface="Menlo-Regular" panose="020B0609030804020204"/>
              </a:rPr>
              <a:t>if</a:t>
            </a:r>
            <a:r>
              <a:rPr lang="en-US" sz="1400" dirty="0">
                <a:solidFill>
                  <a:srgbClr val="000000"/>
                </a:solidFill>
                <a:latin typeface="Menlo-Regular" panose="020B0609030804020204"/>
              </a:rPr>
              <a:t> (fork() == 0)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r>
              <a:rPr lang="en-US" sz="1400" dirty="0">
                <a:solidFill>
                  <a:srgbClr val="CB2418"/>
                </a:solidFill>
                <a:latin typeface="Menlo-Regular" panose="020B0609030804020204"/>
              </a:rPr>
              <a:t>/* Child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r>
              <a:rPr lang="en-US" sz="1400" dirty="0" err="1">
                <a:solidFill>
                  <a:srgbClr val="000000"/>
                </a:solidFill>
                <a:latin typeface="Menlo-Regular" panose="020B0609030804020204"/>
              </a:rPr>
              <a:t>printf</a:t>
            </a:r>
            <a:r>
              <a:rPr lang="en-US" sz="1400" dirty="0">
                <a:solidFill>
                  <a:srgbClr val="000000"/>
                </a:solidFill>
                <a:latin typeface="Menlo-Regular" panose="020B0609030804020204"/>
              </a:rPr>
              <a:t>(</a:t>
            </a:r>
            <a:r>
              <a:rPr lang="en-US" sz="1400" dirty="0">
                <a:solidFill>
                  <a:srgbClr val="9D206F"/>
                </a:solidFill>
                <a:latin typeface="Menlo-Regular" panose="020B0609030804020204"/>
              </a:rPr>
              <a:t>"Terminating Child, PID = %d\n"</a:t>
            </a:r>
            <a:r>
              <a:rPr lang="en-US" sz="1400" dirty="0">
                <a:solidFill>
                  <a:srgbClr val="000000"/>
                </a:solidFill>
                <a:latin typeface="Menlo-Regular" panose="020B0609030804020204"/>
              </a:rPr>
              <a:t>, </a:t>
            </a:r>
            <a:r>
              <a:rPr lang="en-US" sz="1400" dirty="0" err="1">
                <a:solidFill>
                  <a:srgbClr val="000000"/>
                </a:solidFill>
                <a:latin typeface="Menlo-Regular" panose="020B0609030804020204"/>
              </a:rPr>
              <a:t>getpid</a:t>
            </a:r>
            <a:r>
              <a:rPr lang="en-US" sz="1400" dirty="0">
                <a:solidFill>
                  <a:srgbClr val="000000"/>
                </a:solidFill>
                <a:latin typeface="Menlo-Regular" panose="020B0609030804020204"/>
              </a:rPr>
              <a:t>());</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exit(0);</a:t>
            </a:r>
            <a:endParaRPr lang="en-US" sz="1400" dirty="0">
              <a:solidFill>
                <a:srgbClr val="000000"/>
              </a:solidFill>
              <a:latin typeface="Menlo-Regular" panose="020B0609030804020204"/>
            </a:endParaRPr>
          </a:p>
          <a:p>
            <a:r>
              <a:rPr lang="da-DK" sz="1400" dirty="0">
                <a:solidFill>
                  <a:srgbClr val="000000"/>
                </a:solidFill>
                <a:latin typeface="Menlo-Regular" panose="020B0609030804020204"/>
              </a:rPr>
              <a:t>    } </a:t>
            </a:r>
            <a:r>
              <a:rPr lang="da-DK" sz="1400" dirty="0" err="1">
                <a:solidFill>
                  <a:srgbClr val="C200FF"/>
                </a:solidFill>
                <a:latin typeface="Menlo-Regular" panose="020B0609030804020204"/>
              </a:rPr>
              <a:t>else</a:t>
            </a:r>
            <a:r>
              <a:rPr lang="da-DK" sz="1400" dirty="0">
                <a:solidFill>
                  <a:srgbClr val="000000"/>
                </a:solidFill>
                <a:latin typeface="Menlo-Regular" panose="020B0609030804020204"/>
              </a:rPr>
              <a:t> {</a:t>
            </a:r>
            <a:endParaRPr lang="da-DK" sz="1400" dirty="0">
              <a:solidFill>
                <a:srgbClr val="000000"/>
              </a:solidFill>
              <a:latin typeface="Menlo-Regular" panose="020B0609030804020204"/>
            </a:endParaRPr>
          </a:p>
          <a:p>
            <a:r>
              <a:rPr lang="da-DK" sz="1400" dirty="0">
                <a:solidFill>
                  <a:srgbClr val="000000"/>
                </a:solidFill>
                <a:latin typeface="Menlo-Regular" panose="020B0609030804020204"/>
              </a:rPr>
              <a:t>        </a:t>
            </a:r>
            <a:r>
              <a:rPr lang="da-DK" sz="1400" dirty="0" err="1">
                <a:solidFill>
                  <a:srgbClr val="000000"/>
                </a:solidFill>
                <a:latin typeface="Menlo-Regular" panose="020B0609030804020204"/>
              </a:rPr>
              <a:t>printf</a:t>
            </a:r>
            <a:r>
              <a:rPr lang="da-DK" sz="1400" dirty="0">
                <a:solidFill>
                  <a:srgbClr val="000000"/>
                </a:solidFill>
                <a:latin typeface="Menlo-Regular" panose="020B0609030804020204"/>
              </a:rPr>
              <a:t>(</a:t>
            </a:r>
            <a:r>
              <a:rPr lang="da-DK" sz="1400" dirty="0">
                <a:solidFill>
                  <a:srgbClr val="9D206F"/>
                </a:solidFill>
                <a:latin typeface="Menlo-Regular" panose="020B0609030804020204"/>
              </a:rPr>
              <a:t>"</a:t>
            </a:r>
            <a:r>
              <a:rPr lang="da-DK" sz="1400" dirty="0" err="1">
                <a:solidFill>
                  <a:srgbClr val="9D206F"/>
                </a:solidFill>
                <a:latin typeface="Menlo-Regular" panose="020B0609030804020204"/>
              </a:rPr>
              <a:t>Running</a:t>
            </a:r>
            <a:r>
              <a:rPr lang="da-DK" sz="1400" dirty="0">
                <a:solidFill>
                  <a:srgbClr val="9D206F"/>
                </a:solidFill>
                <a:latin typeface="Menlo-Regular" panose="020B0609030804020204"/>
              </a:rPr>
              <a:t> </a:t>
            </a:r>
            <a:r>
              <a:rPr lang="da-DK" sz="1400" dirty="0" err="1">
                <a:solidFill>
                  <a:srgbClr val="9D206F"/>
                </a:solidFill>
                <a:latin typeface="Menlo-Regular" panose="020B0609030804020204"/>
              </a:rPr>
              <a:t>Parent</a:t>
            </a:r>
            <a:r>
              <a:rPr lang="da-DK" sz="1400" dirty="0">
                <a:solidFill>
                  <a:srgbClr val="9D206F"/>
                </a:solidFill>
                <a:latin typeface="Menlo-Regular" panose="020B0609030804020204"/>
              </a:rPr>
              <a:t>, PID = %d\n"</a:t>
            </a:r>
            <a:r>
              <a:rPr lang="da-DK" sz="1400" dirty="0">
                <a:solidFill>
                  <a:srgbClr val="000000"/>
                </a:solidFill>
                <a:latin typeface="Menlo-Regular" panose="020B0609030804020204"/>
              </a:rPr>
              <a:t>, </a:t>
            </a:r>
            <a:r>
              <a:rPr lang="da-DK" sz="1400" dirty="0" err="1">
                <a:solidFill>
                  <a:srgbClr val="000000"/>
                </a:solidFill>
                <a:latin typeface="Menlo-Regular" panose="020B0609030804020204"/>
              </a:rPr>
              <a:t>getpid</a:t>
            </a:r>
            <a:r>
              <a:rPr lang="da-DK" sz="1400" dirty="0">
                <a:solidFill>
                  <a:srgbClr val="000000"/>
                </a:solidFill>
                <a:latin typeface="Menlo-Regular" panose="020B0609030804020204"/>
              </a:rPr>
              <a:t>());</a:t>
            </a:r>
            <a:endParaRPr lang="da-DK" sz="1400" dirty="0">
              <a:solidFill>
                <a:srgbClr val="000000"/>
              </a:solidFill>
              <a:latin typeface="Menlo-Regular" panose="020B0609030804020204"/>
            </a:endParaRPr>
          </a:p>
          <a:p>
            <a:r>
              <a:rPr lang="en-US" sz="1400" dirty="0">
                <a:solidFill>
                  <a:srgbClr val="000000"/>
                </a:solidFill>
                <a:latin typeface="Menlo-Regular" panose="020B0609030804020204"/>
              </a:rPr>
              <a:t>        </a:t>
            </a:r>
            <a:r>
              <a:rPr lang="en-US" sz="1400" dirty="0">
                <a:solidFill>
                  <a:srgbClr val="C200FF"/>
                </a:solidFill>
                <a:latin typeface="Menlo-Regular" panose="020B0609030804020204"/>
              </a:rPr>
              <a:t>while</a:t>
            </a:r>
            <a:r>
              <a:rPr lang="en-US" sz="1400" dirty="0">
                <a:solidFill>
                  <a:srgbClr val="000000"/>
                </a:solidFill>
                <a:latin typeface="Menlo-Regular" panose="020B0609030804020204"/>
              </a:rPr>
              <a:t> (1)</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 </a:t>
            </a:r>
            <a:r>
              <a:rPr lang="en-US" sz="1400" dirty="0">
                <a:solidFill>
                  <a:srgbClr val="CB2418"/>
                </a:solidFill>
                <a:latin typeface="Menlo-Regular" panose="020B0609030804020204"/>
              </a:rPr>
              <a:t>/* Infinite loop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    }</a:t>
            </a:r>
            <a:endParaRPr lang="en-US" sz="1400" dirty="0">
              <a:solidFill>
                <a:srgbClr val="000000"/>
              </a:solidFill>
              <a:latin typeface="Menlo-Regular" panose="020B0609030804020204"/>
            </a:endParaRPr>
          </a:p>
          <a:p>
            <a:r>
              <a:rPr lang="en-US" sz="1400" dirty="0">
                <a:solidFill>
                  <a:srgbClr val="000000"/>
                </a:solidFill>
                <a:latin typeface="Menlo-Regular" panose="020B0609030804020204"/>
              </a:rPr>
              <a:t>}</a:t>
            </a:r>
            <a:endParaRPr lang="en-US" sz="1400" dirty="0">
              <a:solidFill>
                <a:srgbClr val="000000"/>
              </a:solidFill>
              <a:latin typeface="Menlo-Regular" panose="020B0609030804020204"/>
            </a:endParaRPr>
          </a:p>
        </p:txBody>
      </p:sp>
      <p:sp>
        <p:nvSpPr>
          <p:cNvPr id="6" name="Rectangle 3"/>
          <p:cNvSpPr>
            <a:spLocks noChangeArrowheads="1"/>
          </p:cNvSpPr>
          <p:nvPr/>
        </p:nvSpPr>
        <p:spPr bwMode="auto">
          <a:xfrm>
            <a:off x="10581127" y="2586714"/>
            <a:ext cx="1146766"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cxnSp>
        <p:nvCxnSpPr>
          <p:cNvPr id="3" name="Straight Arrow Connector 2"/>
          <p:cNvCxnSpPr/>
          <p:nvPr/>
        </p:nvCxnSpPr>
        <p:spPr bwMode="auto">
          <a:xfrm flipH="1">
            <a:off x="5791201" y="4267200"/>
            <a:ext cx="990601" cy="152400"/>
          </a:xfrm>
          <a:prstGeom prst="straightConnector1">
            <a:avLst/>
          </a:prstGeom>
          <a:noFill/>
          <a:ln w="38100" cap="flat" cmpd="sng" algn="ctr">
            <a:solidFill>
              <a:srgbClr val="FF0000"/>
            </a:solidFill>
            <a:prstDash val="solid"/>
            <a:round/>
            <a:headEnd type="none" w="med" len="med"/>
            <a:tailEnd type="arrow"/>
          </a:ln>
          <a:effectLst/>
        </p:spPr>
      </p:cxnSp>
      <p:cxnSp>
        <p:nvCxnSpPr>
          <p:cNvPr id="5" name="Straight Arrow Connector 4"/>
          <p:cNvCxnSpPr/>
          <p:nvPr/>
        </p:nvCxnSpPr>
        <p:spPr bwMode="auto">
          <a:xfrm flipH="1">
            <a:off x="3124200" y="5257800"/>
            <a:ext cx="3657600" cy="304800"/>
          </a:xfrm>
          <a:prstGeom prst="straightConnector1">
            <a:avLst/>
          </a:prstGeom>
          <a:noFill/>
          <a:ln w="38100" cap="flat" cmpd="sng" algn="ctr">
            <a:solidFill>
              <a:srgbClr val="FF0000"/>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76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766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766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Text Box 2"/>
          <p:cNvSpPr txBox="1">
            <a:spLocks noChangeArrowheads="1"/>
          </p:cNvSpPr>
          <p:nvPr/>
        </p:nvSpPr>
        <p:spPr bwMode="auto">
          <a:xfrm>
            <a:off x="510436" y="3276600"/>
            <a:ext cx="3851275" cy="3270250"/>
          </a:xfrm>
          <a:prstGeom prst="rect">
            <a:avLst/>
          </a:prstGeom>
          <a:solidFill>
            <a:srgbClr val="DDDDDD"/>
          </a:solidFill>
          <a:ln w="3175">
            <a:noFill/>
            <a:miter lim="800000"/>
          </a:ln>
          <a:effectLst/>
        </p:spPr>
        <p:txBody>
          <a:bodyPr wrap="none">
            <a:spAutoFit/>
          </a:bodyPr>
          <a:lstStyle/>
          <a:p>
            <a:pPr algn="l">
              <a:lnSpc>
                <a:spcPct val="100000"/>
              </a:lnSpc>
            </a:pPr>
            <a:r>
              <a:rPr lang="en-US" sz="1600" dirty="0" err="1">
                <a:latin typeface="Courier New" panose="02070609020205020404" pitchFamily="49" charset="0"/>
              </a:rPr>
              <a:t>linux</a:t>
            </a:r>
            <a:r>
              <a:rPr lang="en-US" sz="1600" dirty="0">
                <a:latin typeface="Courier New" panose="02070609020205020404" pitchFamily="49" charset="0"/>
              </a:rPr>
              <a:t>&gt; </a:t>
            </a:r>
            <a:r>
              <a:rPr lang="en-US" sz="1600" i="1" dirty="0">
                <a:latin typeface="Courier New" panose="02070609020205020404" pitchFamily="49" charset="0"/>
              </a:rPr>
              <a:t>./forks 8</a:t>
            </a:r>
            <a:endParaRPr lang="en-US" sz="1600" i="1" dirty="0">
              <a:latin typeface="Courier New" panose="02070609020205020404" pitchFamily="49" charset="0"/>
            </a:endParaRPr>
          </a:p>
          <a:p>
            <a:pPr algn="l">
              <a:lnSpc>
                <a:spcPct val="100000"/>
              </a:lnSpc>
            </a:pPr>
            <a:r>
              <a:rPr lang="en-US" sz="1600" dirty="0">
                <a:latin typeface="Courier New" panose="02070609020205020404" pitchFamily="49" charset="0"/>
              </a:rPr>
              <a:t>Terminating Parent, PID = 6675</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Running Child, PID = 6676</a:t>
            </a:r>
            <a:endParaRPr lang="en-US" sz="1600" dirty="0">
              <a:latin typeface="Courier New" panose="02070609020205020404" pitchFamily="49" charset="0"/>
            </a:endParaRPr>
          </a:p>
          <a:p>
            <a:pPr algn="l">
              <a:lnSpc>
                <a:spcPct val="100000"/>
              </a:lnSpc>
            </a:pPr>
            <a:r>
              <a:rPr lang="en-US" sz="1600" dirty="0" err="1">
                <a:latin typeface="Courier New" panose="02070609020205020404" pitchFamily="49" charset="0"/>
              </a:rPr>
              <a:t>linux</a:t>
            </a:r>
            <a:r>
              <a:rPr lang="en-US" sz="1600" dirty="0">
                <a:latin typeface="Courier New" panose="02070609020205020404" pitchFamily="49" charset="0"/>
              </a:rPr>
              <a:t>&gt; </a:t>
            </a:r>
            <a:r>
              <a:rPr lang="en-US" sz="1600" i="1" dirty="0" err="1">
                <a:latin typeface="Courier New" panose="02070609020205020404" pitchFamily="49" charset="0"/>
              </a:rPr>
              <a:t>ps</a:t>
            </a:r>
            <a:endParaRPr lang="en-US" sz="1600" i="1" dirty="0">
              <a:latin typeface="Courier New" panose="02070609020205020404" pitchFamily="49" charset="0"/>
            </a:endParaRPr>
          </a:p>
          <a:p>
            <a:pPr algn="l">
              <a:lnSpc>
                <a:spcPct val="100000"/>
              </a:lnSpc>
            </a:pPr>
            <a:r>
              <a:rPr lang="en-US" sz="1600" dirty="0">
                <a:latin typeface="Courier New" panose="02070609020205020404" pitchFamily="49" charset="0"/>
              </a:rPr>
              <a:t>  PID TTY          TIME CMD</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6585 ttyp9    00:00:00 </a:t>
            </a:r>
            <a:r>
              <a:rPr lang="en-US" sz="1600" dirty="0" err="1">
                <a:latin typeface="Courier New" panose="02070609020205020404" pitchFamily="49" charset="0"/>
              </a:rPr>
              <a:t>tcsh</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6676 ttyp9    00:00:06 forks</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6677 ttyp9    00:00:00 </a:t>
            </a:r>
            <a:r>
              <a:rPr lang="en-US" sz="1600" dirty="0" err="1">
                <a:latin typeface="Courier New" panose="02070609020205020404" pitchFamily="49" charset="0"/>
              </a:rPr>
              <a:t>ps</a:t>
            </a:r>
            <a:endParaRPr lang="en-US" sz="1600" dirty="0">
              <a:latin typeface="Courier New" panose="02070609020205020404" pitchFamily="49" charset="0"/>
            </a:endParaRPr>
          </a:p>
          <a:p>
            <a:pPr algn="l">
              <a:lnSpc>
                <a:spcPct val="100000"/>
              </a:lnSpc>
            </a:pPr>
            <a:r>
              <a:rPr lang="en-US" sz="1600" i="1" dirty="0" err="1">
                <a:latin typeface="Courier New" panose="02070609020205020404" pitchFamily="49" charset="0"/>
              </a:rPr>
              <a:t>linux</a:t>
            </a:r>
            <a:r>
              <a:rPr lang="en-US" sz="1600" i="1" dirty="0">
                <a:latin typeface="Courier New" panose="02070609020205020404" pitchFamily="49" charset="0"/>
              </a:rPr>
              <a:t>&gt;</a:t>
            </a:r>
            <a:r>
              <a:rPr lang="en-US" sz="1600" dirty="0">
                <a:latin typeface="Courier New" panose="02070609020205020404" pitchFamily="49" charset="0"/>
              </a:rPr>
              <a:t> kill 6676</a:t>
            </a:r>
            <a:endParaRPr lang="en-US" sz="1600" dirty="0">
              <a:latin typeface="Courier New" panose="02070609020205020404" pitchFamily="49" charset="0"/>
            </a:endParaRPr>
          </a:p>
          <a:p>
            <a:pPr algn="l">
              <a:lnSpc>
                <a:spcPct val="100000"/>
              </a:lnSpc>
            </a:pPr>
            <a:r>
              <a:rPr lang="en-US" sz="1600" i="1" dirty="0" err="1">
                <a:latin typeface="Courier New" panose="02070609020205020404" pitchFamily="49" charset="0"/>
              </a:rPr>
              <a:t>linux</a:t>
            </a:r>
            <a:r>
              <a:rPr lang="en-US" sz="1600" i="1" dirty="0">
                <a:latin typeface="Courier New" panose="02070609020205020404" pitchFamily="49" charset="0"/>
              </a:rPr>
              <a:t>&gt;</a:t>
            </a:r>
            <a:r>
              <a:rPr lang="en-US" sz="1600" dirty="0">
                <a:latin typeface="Courier New" panose="02070609020205020404" pitchFamily="49" charset="0"/>
              </a:rPr>
              <a:t> </a:t>
            </a:r>
            <a:r>
              <a:rPr lang="en-US" sz="1600" dirty="0" err="1">
                <a:latin typeface="Courier New" panose="02070609020205020404" pitchFamily="49" charset="0"/>
              </a:rPr>
              <a:t>ps</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PID TTY          TIME CMD</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6585 ttyp9    00:00:00 </a:t>
            </a:r>
            <a:r>
              <a:rPr lang="en-US" sz="1600" dirty="0" err="1">
                <a:latin typeface="Courier New" panose="02070609020205020404" pitchFamily="49" charset="0"/>
              </a:rPr>
              <a:t>tcsh</a:t>
            </a:r>
            <a:endParaRPr lang="en-US" sz="1600" dirty="0">
              <a:latin typeface="Courier New" panose="02070609020205020404" pitchFamily="49" charset="0"/>
            </a:endParaRPr>
          </a:p>
          <a:p>
            <a:pPr algn="l">
              <a:lnSpc>
                <a:spcPct val="100000"/>
              </a:lnSpc>
            </a:pPr>
            <a:r>
              <a:rPr lang="en-US" sz="1600" dirty="0">
                <a:latin typeface="Courier New" panose="02070609020205020404" pitchFamily="49" charset="0"/>
              </a:rPr>
              <a:t> 6678 ttyp9    00:00:00 </a:t>
            </a:r>
            <a:r>
              <a:rPr lang="en-US" sz="1600" dirty="0" err="1">
                <a:latin typeface="Courier New" panose="02070609020205020404" pitchFamily="49" charset="0"/>
              </a:rPr>
              <a:t>ps</a:t>
            </a:r>
            <a:endParaRPr lang="en-US" sz="1600" dirty="0">
              <a:latin typeface="Courier New" panose="02070609020205020404" pitchFamily="49" charset="0"/>
            </a:endParaRPr>
          </a:p>
        </p:txBody>
      </p:sp>
      <p:sp>
        <p:nvSpPr>
          <p:cNvPr id="498691" name="Rectangle 3"/>
          <p:cNvSpPr>
            <a:spLocks noGrp="1" noChangeArrowheads="1"/>
          </p:cNvSpPr>
          <p:nvPr>
            <p:ph type="title"/>
          </p:nvPr>
        </p:nvSpPr>
        <p:spPr>
          <a:xfrm>
            <a:off x="457200" y="380695"/>
            <a:ext cx="7010400" cy="937655"/>
          </a:xfrm>
        </p:spPr>
        <p:txBody>
          <a:bodyPr/>
          <a:lstStyle/>
          <a:p>
            <a:pPr marL="0" indent="0"/>
            <a:r>
              <a:rPr lang="zh-CN" altLang="en-US" dirty="0"/>
              <a:t>非终止子进程示例</a:t>
            </a:r>
            <a:endParaRPr lang="zh-CN" altLang="en-US" dirty="0"/>
          </a:p>
        </p:txBody>
      </p:sp>
      <p:sp>
        <p:nvSpPr>
          <p:cNvPr id="498692" name="Rectangle 4"/>
          <p:cNvSpPr>
            <a:spLocks noGrp="1" noChangeArrowheads="1"/>
          </p:cNvSpPr>
          <p:nvPr>
            <p:ph type="body" idx="1"/>
          </p:nvPr>
        </p:nvSpPr>
        <p:spPr>
          <a:xfrm>
            <a:off x="5029200" y="4419600"/>
            <a:ext cx="6634480" cy="1887220"/>
          </a:xfrm>
        </p:spPr>
        <p:txBody>
          <a:bodyPr/>
          <a:lstStyle/>
          <a:p>
            <a:pPr marL="0" indent="0">
              <a:buNone/>
            </a:pPr>
            <a:r>
              <a:rPr lang="en-US" sz="2000" b="0" dirty="0" err="1"/>
              <a:t>子进程仍然活动，即使父进程已经终止</a:t>
            </a:r>
            <a:endParaRPr lang="en-US" sz="2000" b="0" dirty="0"/>
          </a:p>
          <a:p>
            <a:endParaRPr lang="en-US" sz="2000" b="0" dirty="0"/>
          </a:p>
          <a:p>
            <a:pPr marL="0" indent="0">
              <a:buNone/>
            </a:pPr>
            <a:endParaRPr lang="en-US" sz="2000" b="0" dirty="0"/>
          </a:p>
          <a:p>
            <a:pPr marL="0" indent="0">
              <a:buNone/>
            </a:pPr>
            <a:r>
              <a:rPr lang="en-US" sz="2000" b="0" dirty="0"/>
              <a:t>必须显式终止子进程，否则它将无限期运行</a:t>
            </a:r>
            <a:endParaRPr lang="en-US" sz="2000" b="0" dirty="0"/>
          </a:p>
        </p:txBody>
      </p:sp>
      <p:sp>
        <p:nvSpPr>
          <p:cNvPr id="498693" name="Text Box 5"/>
          <p:cNvSpPr txBox="1">
            <a:spLocks noChangeArrowheads="1"/>
          </p:cNvSpPr>
          <p:nvPr/>
        </p:nvSpPr>
        <p:spPr bwMode="auto">
          <a:xfrm>
            <a:off x="4620178" y="1407984"/>
            <a:ext cx="7216589" cy="2862322"/>
          </a:xfrm>
          <a:prstGeom prst="rect">
            <a:avLst/>
          </a:prstGeom>
          <a:solidFill>
            <a:srgbClr val="F6F5BD"/>
          </a:solidFill>
          <a:ln w="3175">
            <a:solidFill>
              <a:schemeClr val="tx1"/>
            </a:solidFill>
            <a:miter lim="800000"/>
          </a:ln>
          <a:effectLst/>
        </p:spPr>
        <p:txBody>
          <a:bodyPr wrap="square">
            <a:spAutoFit/>
          </a:bodyPr>
          <a:lstStyle/>
          <a:p>
            <a:r>
              <a:rPr lang="en-US" sz="1500" dirty="0">
                <a:solidFill>
                  <a:srgbClr val="2D961E"/>
                </a:solidFill>
                <a:latin typeface="Menlo-Regular" panose="020B0609030804020204"/>
              </a:rPr>
              <a:t>void</a:t>
            </a:r>
            <a:r>
              <a:rPr lang="en-US" sz="1500" dirty="0">
                <a:solidFill>
                  <a:srgbClr val="000000"/>
                </a:solidFill>
                <a:latin typeface="Menlo-Regular" panose="020B0609030804020204"/>
              </a:rPr>
              <a:t> </a:t>
            </a:r>
            <a:r>
              <a:rPr lang="en-US" sz="1500" dirty="0">
                <a:solidFill>
                  <a:srgbClr val="4A00FF"/>
                </a:solidFill>
                <a:latin typeface="Menlo-Regular" panose="020B0609030804020204"/>
              </a:rPr>
              <a:t>fork8</a:t>
            </a:r>
            <a:r>
              <a:rPr lang="en-US" sz="1500" dirty="0">
                <a:solidFill>
                  <a:srgbClr val="000000"/>
                </a:solidFill>
                <a:latin typeface="Menlo-Regular" panose="020B0609030804020204"/>
              </a:rPr>
              <a:t>()</a:t>
            </a:r>
            <a:endParaRPr lang="en-US" sz="1500" dirty="0">
              <a:solidFill>
                <a:srgbClr val="000000"/>
              </a:solidFill>
              <a:latin typeface="Menlo-Regular" panose="020B0609030804020204"/>
            </a:endParaRPr>
          </a:p>
          <a:p>
            <a:r>
              <a:rPr lang="en-US" sz="1500" dirty="0">
                <a:solidFill>
                  <a:srgbClr val="000000"/>
                </a:solidFill>
                <a:latin typeface="Menlo-Regular" panose="020B0609030804020204"/>
              </a:rPr>
              <a:t>{</a:t>
            </a:r>
            <a:endParaRPr lang="en-US" sz="1500" dirty="0">
              <a:solidFill>
                <a:srgbClr val="000000"/>
              </a:solidFill>
              <a:latin typeface="Menlo-Regular" panose="020B0609030804020204"/>
            </a:endParaRPr>
          </a:p>
          <a:p>
            <a:r>
              <a:rPr lang="en-US" sz="1500" dirty="0">
                <a:solidFill>
                  <a:srgbClr val="000000"/>
                </a:solidFill>
                <a:latin typeface="Menlo-Regular" panose="020B0609030804020204"/>
              </a:rPr>
              <a:t>    </a:t>
            </a:r>
            <a:r>
              <a:rPr lang="en-US" sz="1500" dirty="0">
                <a:solidFill>
                  <a:srgbClr val="C200FF"/>
                </a:solidFill>
                <a:latin typeface="Menlo-Regular" panose="020B0609030804020204"/>
              </a:rPr>
              <a:t>if</a:t>
            </a:r>
            <a:r>
              <a:rPr lang="en-US" sz="1500" dirty="0">
                <a:solidFill>
                  <a:srgbClr val="000000"/>
                </a:solidFill>
                <a:latin typeface="Menlo-Regular" panose="020B0609030804020204"/>
              </a:rPr>
              <a:t> (fork() == 0) {</a:t>
            </a:r>
            <a:endParaRPr lang="en-US" sz="1500" dirty="0">
              <a:solidFill>
                <a:srgbClr val="000000"/>
              </a:solidFill>
              <a:latin typeface="Menlo-Regular" panose="020B0609030804020204"/>
            </a:endParaRPr>
          </a:p>
          <a:p>
            <a:r>
              <a:rPr lang="en-US" sz="1500" dirty="0">
                <a:solidFill>
                  <a:srgbClr val="000000"/>
                </a:solidFill>
                <a:latin typeface="Menlo-Regular" panose="020B0609030804020204"/>
              </a:rPr>
              <a:t>        </a:t>
            </a:r>
            <a:r>
              <a:rPr lang="en-US" sz="1500" dirty="0">
                <a:solidFill>
                  <a:srgbClr val="CB2418"/>
                </a:solidFill>
                <a:latin typeface="Menlo-Regular" panose="020B0609030804020204"/>
              </a:rPr>
              <a:t>/* Child */</a:t>
            </a:r>
            <a:endParaRPr lang="en-US" sz="1500" dirty="0">
              <a:solidFill>
                <a:srgbClr val="000000"/>
              </a:solidFill>
              <a:latin typeface="Menlo-Regular" panose="020B0609030804020204"/>
            </a:endParaRPr>
          </a:p>
          <a:p>
            <a:r>
              <a:rPr lang="en-US" sz="1500" dirty="0">
                <a:solidFill>
                  <a:srgbClr val="000000"/>
                </a:solidFill>
                <a:latin typeface="Menlo-Regular" panose="020B0609030804020204"/>
              </a:rPr>
              <a:t>        </a:t>
            </a:r>
            <a:r>
              <a:rPr lang="en-US" sz="1500" dirty="0" err="1">
                <a:solidFill>
                  <a:srgbClr val="000000"/>
                </a:solidFill>
                <a:latin typeface="Menlo-Regular" panose="020B0609030804020204"/>
              </a:rPr>
              <a:t>printf</a:t>
            </a:r>
            <a:r>
              <a:rPr lang="en-US" sz="1500" dirty="0">
                <a:solidFill>
                  <a:srgbClr val="000000"/>
                </a:solidFill>
                <a:latin typeface="Menlo-Regular" panose="020B0609030804020204"/>
              </a:rPr>
              <a:t>(</a:t>
            </a:r>
            <a:r>
              <a:rPr lang="en-US" sz="1500" dirty="0">
                <a:solidFill>
                  <a:srgbClr val="9D206F"/>
                </a:solidFill>
                <a:latin typeface="Menlo-Regular" panose="020B0609030804020204"/>
              </a:rPr>
              <a:t>"Running Child, PID = %d\n"</a:t>
            </a:r>
            <a:r>
              <a:rPr lang="en-US" sz="1500" dirty="0">
                <a:solidFill>
                  <a:srgbClr val="000000"/>
                </a:solidFill>
                <a:latin typeface="Menlo-Regular" panose="020B0609030804020204"/>
              </a:rPr>
              <a:t>, </a:t>
            </a:r>
            <a:r>
              <a:rPr lang="is-IS" sz="1500" dirty="0">
                <a:solidFill>
                  <a:srgbClr val="000000"/>
                </a:solidFill>
                <a:latin typeface="Menlo-Regular" panose="020B0609030804020204"/>
              </a:rPr>
              <a:t>getpid());</a:t>
            </a:r>
            <a:endParaRPr lang="is-IS" sz="1500" dirty="0">
              <a:solidFill>
                <a:srgbClr val="000000"/>
              </a:solidFill>
              <a:latin typeface="Menlo-Regular" panose="020B0609030804020204"/>
            </a:endParaRPr>
          </a:p>
          <a:p>
            <a:r>
              <a:rPr lang="en-US" sz="1500" dirty="0">
                <a:solidFill>
                  <a:srgbClr val="000000"/>
                </a:solidFill>
                <a:latin typeface="Menlo-Regular" panose="020B0609030804020204"/>
              </a:rPr>
              <a:t>        </a:t>
            </a:r>
            <a:r>
              <a:rPr lang="en-US" sz="1500" dirty="0">
                <a:solidFill>
                  <a:srgbClr val="C200FF"/>
                </a:solidFill>
                <a:latin typeface="Menlo-Regular" panose="020B0609030804020204"/>
              </a:rPr>
              <a:t>while</a:t>
            </a:r>
            <a:r>
              <a:rPr lang="en-US" sz="1500" dirty="0">
                <a:solidFill>
                  <a:srgbClr val="000000"/>
                </a:solidFill>
                <a:latin typeface="Menlo-Regular" panose="020B0609030804020204"/>
              </a:rPr>
              <a:t> (1)</a:t>
            </a:r>
            <a:endParaRPr lang="en-US" sz="1500" dirty="0">
              <a:solidFill>
                <a:srgbClr val="000000"/>
              </a:solidFill>
              <a:latin typeface="Menlo-Regular" panose="020B0609030804020204"/>
            </a:endParaRPr>
          </a:p>
          <a:p>
            <a:r>
              <a:rPr lang="en-US" sz="1500" dirty="0">
                <a:solidFill>
                  <a:srgbClr val="000000"/>
                </a:solidFill>
                <a:latin typeface="Menlo-Regular" panose="020B0609030804020204"/>
              </a:rPr>
              <a:t>            ; </a:t>
            </a:r>
            <a:r>
              <a:rPr lang="en-US" sz="1500" dirty="0">
                <a:solidFill>
                  <a:srgbClr val="CB2418"/>
                </a:solidFill>
                <a:latin typeface="Menlo-Regular" panose="020B0609030804020204"/>
              </a:rPr>
              <a:t>/* Infinite loop */</a:t>
            </a:r>
            <a:endParaRPr lang="en-US" sz="1500" dirty="0">
              <a:solidFill>
                <a:srgbClr val="000000"/>
              </a:solidFill>
              <a:latin typeface="Menlo-Regular" panose="020B0609030804020204"/>
            </a:endParaRPr>
          </a:p>
          <a:p>
            <a:r>
              <a:rPr lang="da-DK" sz="1500" dirty="0">
                <a:solidFill>
                  <a:srgbClr val="000000"/>
                </a:solidFill>
                <a:latin typeface="Menlo-Regular" panose="020B0609030804020204"/>
              </a:rPr>
              <a:t>    } </a:t>
            </a:r>
            <a:r>
              <a:rPr lang="da-DK" sz="1500" dirty="0" err="1">
                <a:solidFill>
                  <a:srgbClr val="C200FF"/>
                </a:solidFill>
                <a:latin typeface="Menlo-Regular" panose="020B0609030804020204"/>
              </a:rPr>
              <a:t>else</a:t>
            </a:r>
            <a:r>
              <a:rPr lang="da-DK" sz="1500" dirty="0">
                <a:solidFill>
                  <a:srgbClr val="000000"/>
                </a:solidFill>
                <a:latin typeface="Menlo-Regular" panose="020B0609030804020204"/>
              </a:rPr>
              <a:t> {</a:t>
            </a:r>
            <a:endParaRPr lang="da-DK" sz="1500" dirty="0">
              <a:solidFill>
                <a:srgbClr val="000000"/>
              </a:solidFill>
              <a:latin typeface="Menlo-Regular" panose="020B0609030804020204"/>
            </a:endParaRPr>
          </a:p>
          <a:p>
            <a:r>
              <a:rPr lang="da-DK" sz="1500" dirty="0">
                <a:solidFill>
                  <a:srgbClr val="000000"/>
                </a:solidFill>
                <a:latin typeface="Menlo-Regular" panose="020B0609030804020204"/>
              </a:rPr>
              <a:t>        </a:t>
            </a:r>
            <a:r>
              <a:rPr lang="da-DK" sz="1500" dirty="0" err="1">
                <a:solidFill>
                  <a:srgbClr val="000000"/>
                </a:solidFill>
                <a:latin typeface="Menlo-Regular" panose="020B0609030804020204"/>
              </a:rPr>
              <a:t>printf</a:t>
            </a:r>
            <a:r>
              <a:rPr lang="da-DK" sz="1500" dirty="0">
                <a:solidFill>
                  <a:srgbClr val="000000"/>
                </a:solidFill>
                <a:latin typeface="Menlo-Regular" panose="020B0609030804020204"/>
              </a:rPr>
              <a:t>(</a:t>
            </a:r>
            <a:r>
              <a:rPr lang="da-DK" sz="1500" dirty="0">
                <a:solidFill>
                  <a:srgbClr val="9D206F"/>
                </a:solidFill>
                <a:latin typeface="Menlo-Regular" panose="020B0609030804020204"/>
              </a:rPr>
              <a:t>“</a:t>
            </a:r>
            <a:r>
              <a:rPr lang="da-DK" sz="1500" dirty="0" err="1">
                <a:solidFill>
                  <a:srgbClr val="9D206F"/>
                </a:solidFill>
                <a:latin typeface="Menlo-Regular" panose="020B0609030804020204"/>
              </a:rPr>
              <a:t>Terminating</a:t>
            </a:r>
            <a:r>
              <a:rPr lang="da-DK" sz="1500" dirty="0">
                <a:solidFill>
                  <a:srgbClr val="9D206F"/>
                </a:solidFill>
                <a:latin typeface="Menlo-Regular" panose="020B0609030804020204"/>
              </a:rPr>
              <a:t> </a:t>
            </a:r>
            <a:r>
              <a:rPr lang="da-DK" sz="1500" dirty="0" err="1">
                <a:solidFill>
                  <a:srgbClr val="9D206F"/>
                </a:solidFill>
                <a:latin typeface="Menlo-Regular" panose="020B0609030804020204"/>
              </a:rPr>
              <a:t>Parent</a:t>
            </a:r>
            <a:r>
              <a:rPr lang="da-DK" sz="1500" dirty="0">
                <a:solidFill>
                  <a:srgbClr val="9D206F"/>
                </a:solidFill>
                <a:latin typeface="Menlo-Regular" panose="020B0609030804020204"/>
              </a:rPr>
              <a:t>, PID = %d\n”</a:t>
            </a:r>
            <a:r>
              <a:rPr lang="da-DK" sz="1500" dirty="0">
                <a:solidFill>
                  <a:srgbClr val="000000"/>
                </a:solidFill>
                <a:latin typeface="Menlo-Regular" panose="020B0609030804020204"/>
              </a:rPr>
              <a:t>,</a:t>
            </a:r>
            <a:r>
              <a:rPr lang="zh-CN" altLang="en-US" sz="1500" dirty="0">
                <a:solidFill>
                  <a:srgbClr val="000000"/>
                </a:solidFill>
                <a:latin typeface="Menlo-Regular" panose="020B0609030804020204"/>
              </a:rPr>
              <a:t> </a:t>
            </a:r>
            <a:r>
              <a:rPr lang="is-IS" sz="1500" dirty="0">
                <a:solidFill>
                  <a:srgbClr val="000000"/>
                </a:solidFill>
                <a:latin typeface="Menlo-Regular" panose="020B0609030804020204"/>
              </a:rPr>
              <a:t>getpid());</a:t>
            </a:r>
            <a:endParaRPr lang="is-IS" sz="1500" dirty="0">
              <a:solidFill>
                <a:srgbClr val="000000"/>
              </a:solidFill>
              <a:latin typeface="Menlo-Regular" panose="020B0609030804020204"/>
            </a:endParaRPr>
          </a:p>
          <a:p>
            <a:r>
              <a:rPr lang="is-IS" sz="1500" dirty="0">
                <a:solidFill>
                  <a:srgbClr val="000000"/>
                </a:solidFill>
                <a:latin typeface="Menlo-Regular" panose="020B0609030804020204"/>
              </a:rPr>
              <a:t>        exit(0);</a:t>
            </a:r>
            <a:endParaRPr lang="is-IS" sz="1500" dirty="0">
              <a:solidFill>
                <a:srgbClr val="000000"/>
              </a:solidFill>
              <a:latin typeface="Menlo-Regular" panose="020B0609030804020204"/>
            </a:endParaRPr>
          </a:p>
          <a:p>
            <a:r>
              <a:rPr lang="is-IS" sz="1500" dirty="0">
                <a:solidFill>
                  <a:srgbClr val="000000"/>
                </a:solidFill>
                <a:latin typeface="Menlo-Regular" panose="020B0609030804020204"/>
              </a:rPr>
              <a:t>    }</a:t>
            </a:r>
            <a:endParaRPr lang="is-IS" sz="1500" dirty="0">
              <a:solidFill>
                <a:srgbClr val="000000"/>
              </a:solidFill>
              <a:latin typeface="Menlo-Regular" panose="020B0609030804020204"/>
            </a:endParaRPr>
          </a:p>
          <a:p>
            <a:r>
              <a:rPr lang="is-IS" sz="1500" dirty="0">
                <a:solidFill>
                  <a:srgbClr val="000000"/>
                </a:solidFill>
                <a:latin typeface="Menlo-Regular" panose="020B0609030804020204"/>
              </a:rPr>
              <a:t>}</a:t>
            </a:r>
            <a:endParaRPr lang="is-IS" sz="1500" dirty="0">
              <a:solidFill>
                <a:srgbClr val="000000"/>
              </a:solidFill>
              <a:latin typeface="Menlo-Regular" panose="020B0609030804020204"/>
            </a:endParaRPr>
          </a:p>
        </p:txBody>
      </p:sp>
      <p:sp>
        <p:nvSpPr>
          <p:cNvPr id="6" name="Rectangle 3"/>
          <p:cNvSpPr>
            <a:spLocks noChangeArrowheads="1"/>
          </p:cNvSpPr>
          <p:nvPr/>
        </p:nvSpPr>
        <p:spPr bwMode="auto">
          <a:xfrm>
            <a:off x="10690001" y="3868481"/>
            <a:ext cx="1146766" cy="359010"/>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cxnSp>
        <p:nvCxnSpPr>
          <p:cNvPr id="5" name="Straight Arrow Connector 4"/>
          <p:cNvCxnSpPr/>
          <p:nvPr/>
        </p:nvCxnSpPr>
        <p:spPr bwMode="auto">
          <a:xfrm flipH="1">
            <a:off x="4091940" y="4724517"/>
            <a:ext cx="949960" cy="152400"/>
          </a:xfrm>
          <a:prstGeom prst="straightConnector1">
            <a:avLst/>
          </a:prstGeom>
          <a:no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flipH="1" flipV="1">
            <a:off x="2643849" y="5410468"/>
            <a:ext cx="2397760" cy="304800"/>
          </a:xfrm>
          <a:prstGeom prst="straightConnector1">
            <a:avLst/>
          </a:prstGeom>
          <a:noFill/>
          <a:ln w="38100" cap="flat" cmpd="sng" algn="ctr">
            <a:solidFill>
              <a:srgbClr val="FF0000"/>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86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869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869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en-US" dirty="0">
                <a:latin typeface="Courier New" panose="02070609020205020404" pitchFamily="49" charset="0"/>
              </a:rPr>
              <a:t>wait</a:t>
            </a:r>
            <a:r>
              <a:rPr lang="zh-CN" altLang="en-US" dirty="0">
                <a:latin typeface="Courier New" panose="02070609020205020404" pitchFamily="49" charset="0"/>
              </a:rPr>
              <a:t>：</a:t>
            </a:r>
            <a:r>
              <a:rPr lang="zh-CN" altLang="en-US"/>
              <a:t>与子进程同步</a:t>
            </a:r>
            <a:endParaRPr lang="zh-CN" altLang="en-US"/>
          </a:p>
        </p:txBody>
      </p:sp>
      <p:sp>
        <p:nvSpPr>
          <p:cNvPr id="499715" name="Rectangle 3"/>
          <p:cNvSpPr>
            <a:spLocks noGrp="1" noChangeArrowheads="1"/>
          </p:cNvSpPr>
          <p:nvPr>
            <p:ph idx="1"/>
          </p:nvPr>
        </p:nvSpPr>
        <p:spPr/>
        <p:txBody>
          <a:bodyPr/>
          <a:lstStyle/>
          <a:p>
            <a:r>
              <a:rPr lang="zh-CN" altLang="en-US" dirty="0"/>
              <a:t>父进程通过这些系统调用之一回收子进程：</a:t>
            </a:r>
            <a:endParaRPr lang="zh-CN" altLang="en-US" dirty="0"/>
          </a:p>
          <a:p>
            <a:pPr>
              <a:lnSpc>
                <a:spcPct val="150000"/>
              </a:lnSpc>
            </a:pPr>
            <a:r>
              <a:rPr lang="en-US" dirty="0" err="1">
                <a:latin typeface="Courier New" panose="02070609020205020404" pitchFamily="49" charset="0"/>
              </a:rPr>
              <a:t>pid_t</a:t>
            </a:r>
            <a:r>
              <a:rPr lang="en-US" dirty="0">
                <a:latin typeface="Courier New" panose="02070609020205020404" pitchFamily="49" charset="0"/>
              </a:rPr>
              <a:t> wait(int *status)</a:t>
            </a:r>
            <a:endParaRPr lang="en-US" dirty="0"/>
          </a:p>
          <a:p>
            <a:pPr lvl="1"/>
            <a:r>
              <a:rPr lang="zh-CN" altLang="en-US" dirty="0"/>
              <a:t>挂起当前进程，直到其一个子进程终止</a:t>
            </a:r>
            <a:endParaRPr lang="zh-CN" altLang="en-US" dirty="0"/>
          </a:p>
          <a:p>
            <a:pPr lvl="1"/>
            <a:r>
              <a:rPr lang="zh-CN" altLang="en-US" dirty="0"/>
              <a:t>返回子进程的</a:t>
            </a:r>
            <a:r>
              <a:rPr lang="en-US" altLang="zh-CN" dirty="0">
                <a:latin typeface="Consolas" panose="020B0609020204030204" pitchFamily="49" charset="0"/>
                <a:cs typeface="Consolas" panose="020B0609020204030204" pitchFamily="49" charset="0"/>
              </a:rPr>
              <a:t> PID</a:t>
            </a:r>
            <a:r>
              <a:rPr lang="zh-CN" altLang="en-US" dirty="0"/>
              <a:t>，并在</a:t>
            </a:r>
            <a:r>
              <a:rPr lang="en-US" dirty="0"/>
              <a:t> </a:t>
            </a:r>
            <a:r>
              <a:rPr lang="en-US" b="1" dirty="0">
                <a:latin typeface="Courier New" panose="02070609020205020404" pitchFamily="49" charset="0"/>
                <a:cs typeface="Courier New" panose="02070609020205020404" pitchFamily="49" charset="0"/>
              </a:rPr>
              <a:t>status</a:t>
            </a:r>
            <a:r>
              <a:rPr lang="en-US" dirty="0"/>
              <a:t> </a:t>
            </a:r>
            <a:r>
              <a:rPr lang="zh-CN" altLang="en-US" dirty="0"/>
              <a:t>中记录退出状态</a:t>
            </a:r>
            <a:endParaRPr lang="zh-CN" altLang="en-US" dirty="0"/>
          </a:p>
          <a:p>
            <a:pPr>
              <a:spcBef>
                <a:spcPts val="1800"/>
              </a:spcBef>
            </a:pPr>
            <a:r>
              <a:rPr lang="en-US" dirty="0" err="1">
                <a:latin typeface="Courier New" panose="02070609020205020404" pitchFamily="49" charset="0"/>
              </a:rPr>
              <a:t>pid_t</a:t>
            </a:r>
            <a:r>
              <a:rPr lang="en-US" dirty="0">
                <a:latin typeface="Courier New" panose="02070609020205020404" pitchFamily="49" charset="0"/>
              </a:rPr>
              <a:t> </a:t>
            </a:r>
            <a:r>
              <a:rPr lang="en-US" dirty="0" err="1">
                <a:latin typeface="Courier New" panose="02070609020205020404" pitchFamily="49" charset="0"/>
              </a:rPr>
              <a:t>waitpid</a:t>
            </a:r>
            <a:r>
              <a:rPr lang="en-US" dirty="0">
                <a:latin typeface="Courier New" panose="02070609020205020404" pitchFamily="49" charset="0"/>
              </a:rPr>
              <a:t>(</a:t>
            </a:r>
            <a:r>
              <a:rPr lang="en-US" dirty="0" err="1">
                <a:latin typeface="Courier New" panose="02070609020205020404" pitchFamily="49" charset="0"/>
              </a:rPr>
              <a:t>pid_t</a:t>
            </a:r>
            <a:r>
              <a:rPr lang="en-US" dirty="0">
                <a:latin typeface="Courier New" panose="02070609020205020404" pitchFamily="49" charset="0"/>
              </a:rPr>
              <a:t> </a:t>
            </a:r>
            <a:r>
              <a:rPr lang="en-US" dirty="0" err="1">
                <a:latin typeface="Courier New" panose="02070609020205020404" pitchFamily="49" charset="0"/>
              </a:rPr>
              <a:t>pid</a:t>
            </a:r>
            <a:r>
              <a:rPr lang="en-US" dirty="0">
                <a:latin typeface="Courier New" panose="02070609020205020404" pitchFamily="49" charset="0"/>
              </a:rPr>
              <a:t>, int *status,</a:t>
            </a:r>
            <a:r>
              <a:rPr lang="zh-CN" altLang="en-US" dirty="0">
                <a:latin typeface="Courier New" panose="02070609020205020404" pitchFamily="49" charset="0"/>
              </a:rPr>
              <a:t> </a:t>
            </a:r>
            <a:r>
              <a:rPr lang="en-US" dirty="0">
                <a:latin typeface="Courier New" panose="02070609020205020404" pitchFamily="49" charset="0"/>
              </a:rPr>
              <a:t>int options)</a:t>
            </a:r>
            <a:endParaRPr lang="en-US" dirty="0"/>
          </a:p>
          <a:p>
            <a:pPr lvl="1"/>
            <a:r>
              <a:rPr lang="en-US" b="1" dirty="0">
                <a:latin typeface="Courier New" panose="02070609020205020404" pitchFamily="49" charset="0"/>
                <a:cs typeface="Courier New" panose="02070609020205020404" pitchFamily="49" charset="0"/>
              </a:rPr>
              <a:t>wait </a:t>
            </a:r>
            <a:r>
              <a:rPr lang="zh-CN" altLang="en-US" dirty="0"/>
              <a:t>的更灵活版本：</a:t>
            </a:r>
            <a:endParaRPr lang="en-US" dirty="0"/>
          </a:p>
          <a:p>
            <a:pPr lvl="1"/>
            <a:r>
              <a:rPr lang="zh-CN" altLang="en-US" dirty="0"/>
              <a:t>可以等待特定的子进程或子进程组</a:t>
            </a:r>
            <a:endParaRPr lang="zh-CN" altLang="en-US" dirty="0"/>
          </a:p>
          <a:p>
            <a:pPr lvl="1"/>
            <a:r>
              <a:rPr lang="zh-CN" altLang="en-US" dirty="0"/>
              <a:t>如果没有子进程要回收，可以立即返回</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dirty="0">
                <a:latin typeface="Courier New" panose="02070609020205020404" pitchFamily="49" charset="0"/>
              </a:rPr>
              <a:t>wait</a:t>
            </a:r>
            <a:r>
              <a:rPr lang="zh-CN" altLang="en-US" dirty="0">
                <a:latin typeface="Courier New" panose="02070609020205020404" pitchFamily="49" charset="0"/>
                <a:sym typeface="+mn-ea"/>
              </a:rPr>
              <a:t>：</a:t>
            </a:r>
            <a:r>
              <a:rPr lang="zh-CN" altLang="en-US">
                <a:sym typeface="+mn-ea"/>
              </a:rPr>
              <a:t>与子进程同步</a:t>
            </a:r>
            <a:endParaRPr lang="en-US" dirty="0"/>
          </a:p>
        </p:txBody>
      </p:sp>
      <p:sp>
        <p:nvSpPr>
          <p:cNvPr id="506884" name="Text Box 4"/>
          <p:cNvSpPr txBox="1">
            <a:spLocks noChangeArrowheads="1"/>
          </p:cNvSpPr>
          <p:nvPr/>
        </p:nvSpPr>
        <p:spPr bwMode="auto">
          <a:xfrm>
            <a:off x="708660" y="1958975"/>
            <a:ext cx="5931535" cy="3291840"/>
          </a:xfrm>
          <a:prstGeom prst="rect">
            <a:avLst/>
          </a:prstGeom>
          <a:solidFill>
            <a:srgbClr val="F6F5BD"/>
          </a:solidFill>
          <a:ln w="3175">
            <a:solidFill>
              <a:schemeClr val="tx1"/>
            </a:solidFill>
            <a:miter lim="800000"/>
          </a:ln>
          <a:effectLst/>
        </p:spPr>
        <p:txBody>
          <a:bodyPr wrap="square">
            <a:spAutoFit/>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a:solidFill>
                  <a:srgbClr val="4A00FF"/>
                </a:solidFill>
                <a:latin typeface="Menlo-Regular" panose="020B0609030804020204"/>
              </a:rPr>
              <a:t>fork9</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int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child_status</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(fork() == 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"HC: hello from child\n"</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exit(0);</a:t>
            </a:r>
            <a:endParaRPr lang="en-US" sz="1600" dirty="0">
              <a:solidFill>
                <a:srgbClr val="000000"/>
              </a:solidFill>
              <a:latin typeface="Menlo-Regular" panose="020B0609030804020204"/>
            </a:endParaRPr>
          </a:p>
          <a:p>
            <a:r>
              <a:rPr lang="da-DK" sz="1600" dirty="0">
                <a:solidFill>
                  <a:srgbClr val="000000"/>
                </a:solidFill>
                <a:latin typeface="Menlo-Regular" panose="020B0609030804020204"/>
              </a:rPr>
              <a:t>    } </a:t>
            </a:r>
            <a:r>
              <a:rPr lang="da-DK" sz="1600" dirty="0" err="1">
                <a:solidFill>
                  <a:srgbClr val="C200FF"/>
                </a:solidFill>
                <a:latin typeface="Menlo-Regular" panose="020B0609030804020204"/>
              </a:rPr>
              <a:t>else</a:t>
            </a:r>
            <a:r>
              <a:rPr lang="da-DK" sz="1600" dirty="0">
                <a:solidFill>
                  <a:srgbClr val="000000"/>
                </a:solidFill>
                <a:latin typeface="Menlo-Regular" panose="020B0609030804020204"/>
              </a:rPr>
              <a:t> {</a:t>
            </a:r>
            <a:endParaRPr lang="da-DK" sz="1600" dirty="0">
              <a:solidFill>
                <a:srgbClr val="000000"/>
              </a:solidFill>
              <a:latin typeface="Menlo-Regular" panose="020B0609030804020204"/>
            </a:endParaRPr>
          </a:p>
          <a:p>
            <a:r>
              <a:rPr lang="da-DK" sz="1600" dirty="0">
                <a:solidFill>
                  <a:srgbClr val="000000"/>
                </a:solidFill>
                <a:latin typeface="Menlo-Regular" panose="020B0609030804020204"/>
              </a:rPr>
              <a:t>        </a:t>
            </a:r>
            <a:r>
              <a:rPr lang="da-DK" sz="1600" dirty="0" err="1">
                <a:solidFill>
                  <a:srgbClr val="000000"/>
                </a:solidFill>
                <a:latin typeface="Menlo-Regular" panose="020B0609030804020204"/>
              </a:rPr>
              <a:t>printf</a:t>
            </a:r>
            <a:r>
              <a:rPr lang="da-DK" sz="1600" dirty="0">
                <a:solidFill>
                  <a:srgbClr val="000000"/>
                </a:solidFill>
                <a:latin typeface="Menlo-Regular" panose="020B0609030804020204"/>
              </a:rPr>
              <a:t>(</a:t>
            </a:r>
            <a:r>
              <a:rPr lang="da-DK" sz="1600" dirty="0">
                <a:solidFill>
                  <a:srgbClr val="9D206F"/>
                </a:solidFill>
                <a:latin typeface="Menlo-Regular" panose="020B0609030804020204"/>
              </a:rPr>
              <a:t>"HP: </a:t>
            </a:r>
            <a:r>
              <a:rPr lang="da-DK" sz="1600" dirty="0" err="1">
                <a:solidFill>
                  <a:srgbClr val="9D206F"/>
                </a:solidFill>
                <a:latin typeface="Menlo-Regular" panose="020B0609030804020204"/>
              </a:rPr>
              <a:t>hello</a:t>
            </a:r>
            <a:r>
              <a:rPr lang="da-DK" sz="1600" dirty="0">
                <a:solidFill>
                  <a:srgbClr val="9D206F"/>
                </a:solidFill>
                <a:latin typeface="Menlo-Regular" panose="020B0609030804020204"/>
              </a:rPr>
              <a:t> from </a:t>
            </a:r>
            <a:r>
              <a:rPr lang="da-DK" sz="1600" dirty="0" err="1">
                <a:solidFill>
                  <a:srgbClr val="9D206F"/>
                </a:solidFill>
                <a:latin typeface="Menlo-Regular" panose="020B0609030804020204"/>
              </a:rPr>
              <a:t>parent</a:t>
            </a:r>
            <a:r>
              <a:rPr lang="da-DK" sz="1600" dirty="0">
                <a:solidFill>
                  <a:srgbClr val="9D206F"/>
                </a:solidFill>
                <a:latin typeface="Menlo-Regular" panose="020B0609030804020204"/>
              </a:rPr>
              <a:t>\n"</a:t>
            </a:r>
            <a:r>
              <a:rPr lang="da-DK" sz="1600" dirty="0">
                <a:solidFill>
                  <a:srgbClr val="000000"/>
                </a:solidFill>
                <a:latin typeface="Menlo-Regular" panose="020B0609030804020204"/>
              </a:rPr>
              <a:t>);</a:t>
            </a:r>
            <a:endParaRPr lang="da-DK" sz="1600" dirty="0">
              <a:solidFill>
                <a:srgbClr val="000000"/>
              </a:solidFill>
              <a:latin typeface="Menlo-Regular" panose="020B0609030804020204"/>
            </a:endParaRPr>
          </a:p>
          <a:p>
            <a:r>
              <a:rPr lang="da-DK" sz="1600" dirty="0">
                <a:solidFill>
                  <a:srgbClr val="000000"/>
                </a:solidFill>
                <a:latin typeface="Menlo-Regular" panose="020B0609030804020204"/>
              </a:rPr>
              <a:t>        </a:t>
            </a:r>
            <a:r>
              <a:rPr lang="da-DK" sz="1600" dirty="0" err="1">
                <a:solidFill>
                  <a:srgbClr val="000000"/>
                </a:solidFill>
                <a:latin typeface="Menlo-Regular" panose="020B0609030804020204"/>
              </a:rPr>
              <a:t>wait</a:t>
            </a:r>
            <a:r>
              <a:rPr lang="da-DK" sz="1600" dirty="0">
                <a:solidFill>
                  <a:srgbClr val="000000"/>
                </a:solidFill>
                <a:latin typeface="Menlo-Regular" panose="020B0609030804020204"/>
              </a:rPr>
              <a:t>(&amp;</a:t>
            </a:r>
            <a:r>
              <a:rPr lang="da-DK" sz="1600" dirty="0" err="1">
                <a:solidFill>
                  <a:srgbClr val="000000"/>
                </a:solidFill>
                <a:latin typeface="Menlo-Regular" panose="020B0609030804020204"/>
              </a:rPr>
              <a:t>child_status</a:t>
            </a:r>
            <a:r>
              <a:rPr lang="da-DK" sz="1600" dirty="0">
                <a:solidFill>
                  <a:srgbClr val="000000"/>
                </a:solidFill>
                <a:latin typeface="Menlo-Regular" panose="020B0609030804020204"/>
              </a:rPr>
              <a:t>);</a:t>
            </a:r>
            <a:endParaRPr lang="da-DK" sz="1600" dirty="0">
              <a:solidFill>
                <a:srgbClr val="000000"/>
              </a:solidFill>
              <a:latin typeface="Menlo-Regular" panose="020B0609030804020204"/>
            </a:endParaRPr>
          </a:p>
          <a:p>
            <a:r>
              <a:rPr lang="da-DK" sz="1600" dirty="0">
                <a:solidFill>
                  <a:srgbClr val="000000"/>
                </a:solidFill>
                <a:latin typeface="Menlo-Regular" panose="020B0609030804020204"/>
              </a:rPr>
              <a:t>        </a:t>
            </a:r>
            <a:r>
              <a:rPr lang="da-DK" sz="1600" dirty="0" err="1">
                <a:solidFill>
                  <a:srgbClr val="000000"/>
                </a:solidFill>
                <a:latin typeface="Menlo-Regular" panose="020B0609030804020204"/>
              </a:rPr>
              <a:t>printf</a:t>
            </a:r>
            <a:r>
              <a:rPr lang="da-DK" sz="1600" dirty="0">
                <a:solidFill>
                  <a:srgbClr val="000000"/>
                </a:solidFill>
                <a:latin typeface="Menlo-Regular" panose="020B0609030804020204"/>
              </a:rPr>
              <a:t>(</a:t>
            </a:r>
            <a:r>
              <a:rPr lang="da-DK" sz="1600" dirty="0">
                <a:solidFill>
                  <a:srgbClr val="9D206F"/>
                </a:solidFill>
                <a:latin typeface="Menlo-Regular" panose="020B0609030804020204"/>
              </a:rPr>
              <a:t>"CT: </a:t>
            </a:r>
            <a:r>
              <a:rPr lang="da-DK" sz="1600" dirty="0" err="1">
                <a:solidFill>
                  <a:srgbClr val="9D206F"/>
                </a:solidFill>
                <a:latin typeface="Menlo-Regular" panose="020B0609030804020204"/>
              </a:rPr>
              <a:t>child</a:t>
            </a:r>
            <a:r>
              <a:rPr lang="da-DK" sz="1600" dirty="0">
                <a:solidFill>
                  <a:srgbClr val="9D206F"/>
                </a:solidFill>
                <a:latin typeface="Menlo-Regular" panose="020B0609030804020204"/>
              </a:rPr>
              <a:t> has </a:t>
            </a:r>
            <a:r>
              <a:rPr lang="da-DK" sz="1600" dirty="0" err="1">
                <a:solidFill>
                  <a:srgbClr val="9D206F"/>
                </a:solidFill>
                <a:latin typeface="Menlo-Regular" panose="020B0609030804020204"/>
              </a:rPr>
              <a:t>terminated</a:t>
            </a:r>
            <a:r>
              <a:rPr lang="da-DK" sz="1600" dirty="0">
                <a:solidFill>
                  <a:srgbClr val="9D206F"/>
                </a:solidFill>
                <a:latin typeface="Menlo-Regular" panose="020B0609030804020204"/>
              </a:rPr>
              <a:t>\n"</a:t>
            </a:r>
            <a:r>
              <a:rPr lang="da-DK" sz="1600" dirty="0">
                <a:solidFill>
                  <a:srgbClr val="000000"/>
                </a:solidFill>
                <a:latin typeface="Menlo-Regular" panose="020B0609030804020204"/>
              </a:rPr>
              <a:t>);</a:t>
            </a:r>
            <a:endParaRPr lang="da-DK" sz="1600" dirty="0">
              <a:solidFill>
                <a:srgbClr val="000000"/>
              </a:solidFill>
              <a:latin typeface="Menlo-Regular" panose="020B0609030804020204"/>
            </a:endParaRPr>
          </a:p>
          <a:p>
            <a:r>
              <a:rPr lang="da-DK" sz="1600" dirty="0">
                <a:solidFill>
                  <a:srgbClr val="000000"/>
                </a:solidFill>
                <a:latin typeface="Menlo-Regular" panose="020B0609030804020204"/>
              </a:rPr>
              <a:t>    }</a:t>
            </a:r>
            <a:endParaRPr lang="da-DK"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"Bye\n"</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p:txBody>
      </p:sp>
      <p:grpSp>
        <p:nvGrpSpPr>
          <p:cNvPr id="8" name="Group 7"/>
          <p:cNvGrpSpPr>
            <a:grpSpLocks noChangeAspect="1"/>
          </p:cNvGrpSpPr>
          <p:nvPr/>
        </p:nvGrpSpPr>
        <p:grpSpPr>
          <a:xfrm>
            <a:off x="7460076" y="1624846"/>
            <a:ext cx="3131724" cy="1850826"/>
            <a:chOff x="4592180" y="4635500"/>
            <a:chExt cx="3367445" cy="1990135"/>
          </a:xfrm>
        </p:grpSpPr>
        <p:sp>
          <p:nvSpPr>
            <p:cNvPr id="28" name="Oval 27"/>
            <p:cNvSpPr>
              <a:spLocks noChangeAspect="1"/>
            </p:cNvSpPr>
            <p:nvPr/>
          </p:nvSpPr>
          <p:spPr>
            <a:xfrm>
              <a:off x="5709180" y="6228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Oval 28"/>
            <p:cNvSpPr>
              <a:spLocks noChangeAspect="1"/>
            </p:cNvSpPr>
            <p:nvPr/>
          </p:nvSpPr>
          <p:spPr>
            <a:xfrm>
              <a:off x="6639514" y="62314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0" name="TextBox 29"/>
            <p:cNvSpPr txBox="1"/>
            <p:nvPr/>
          </p:nvSpPr>
          <p:spPr>
            <a:xfrm>
              <a:off x="5259804" y="6265446"/>
              <a:ext cx="950256" cy="347489"/>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cxnSp>
          <p:nvCxnSpPr>
            <p:cNvPr id="33" name="Straight Arrow Connector 32"/>
            <p:cNvCxnSpPr/>
            <p:nvPr/>
          </p:nvCxnSpPr>
          <p:spPr>
            <a:xfrm flipV="1">
              <a:off x="5800620" y="62704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10159" y="6265446"/>
              <a:ext cx="947223" cy="347489"/>
            </a:xfrm>
            <a:prstGeom prst="rect">
              <a:avLst/>
            </a:prstGeom>
            <a:noFill/>
          </p:spPr>
          <p:txBody>
            <a:bodyPr wrap="square" rtlCol="0">
              <a:spAutoFit/>
            </a:bodyPr>
            <a:lstStyle/>
            <a:p>
              <a:pPr algn="ctr"/>
              <a:r>
                <a:rPr lang="en-US" sz="1500" dirty="0">
                  <a:latin typeface="Courier New" panose="02070609020205020404"/>
                  <a:cs typeface="Courier New" panose="02070609020205020404"/>
                </a:rPr>
                <a:t>wait</a:t>
              </a:r>
              <a:endParaRPr lang="en-US" sz="1500" dirty="0">
                <a:latin typeface="Courier New" panose="02070609020205020404"/>
                <a:cs typeface="Courier New" panose="02070609020205020404"/>
              </a:endParaRPr>
            </a:p>
          </p:txBody>
        </p:sp>
        <p:cxnSp>
          <p:nvCxnSpPr>
            <p:cNvPr id="37" name="Straight Arrow Connector 36"/>
            <p:cNvCxnSpPr/>
            <p:nvPr/>
          </p:nvCxnSpPr>
          <p:spPr>
            <a:xfrm flipV="1">
              <a:off x="6725234" y="62636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Oval 37"/>
            <p:cNvSpPr>
              <a:spLocks noChangeAspect="1"/>
            </p:cNvSpPr>
            <p:nvPr/>
          </p:nvSpPr>
          <p:spPr>
            <a:xfrm>
              <a:off x="7564128" y="62115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9" name="TextBox 38"/>
            <p:cNvSpPr txBox="1"/>
            <p:nvPr/>
          </p:nvSpPr>
          <p:spPr>
            <a:xfrm>
              <a:off x="7012402" y="6265446"/>
              <a:ext cx="947223" cy="347489"/>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sp>
          <p:nvSpPr>
            <p:cNvPr id="40" name="Oval 39"/>
            <p:cNvSpPr>
              <a:spLocks noChangeAspect="1"/>
            </p:cNvSpPr>
            <p:nvPr/>
          </p:nvSpPr>
          <p:spPr>
            <a:xfrm>
              <a:off x="4782080" y="62407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1" name="TextBox 40"/>
            <p:cNvSpPr txBox="1"/>
            <p:nvPr/>
          </p:nvSpPr>
          <p:spPr>
            <a:xfrm>
              <a:off x="4592180" y="6278146"/>
              <a:ext cx="799809" cy="347489"/>
            </a:xfrm>
            <a:prstGeom prst="rect">
              <a:avLst/>
            </a:prstGeom>
            <a:noFill/>
          </p:spPr>
          <p:txBody>
            <a:bodyPr wrap="square" rtlCol="0">
              <a:spAutoFit/>
            </a:bodyPr>
            <a:lstStyle/>
            <a:p>
              <a:pPr algn="ctr"/>
              <a:r>
                <a:rPr lang="en-US" sz="1500" dirty="0">
                  <a:latin typeface="Courier New" panose="02070609020205020404"/>
                  <a:cs typeface="Courier New" panose="02070609020205020404"/>
                </a:rPr>
                <a:t>fork</a:t>
              </a:r>
              <a:endParaRPr lang="en-US" sz="1500" dirty="0">
                <a:latin typeface="Courier New" panose="02070609020205020404"/>
                <a:cs typeface="Courier New" panose="02070609020205020404"/>
              </a:endParaRPr>
            </a:p>
          </p:txBody>
        </p:sp>
        <p:cxnSp>
          <p:nvCxnSpPr>
            <p:cNvPr id="42" name="Straight Arrow Connector 41"/>
            <p:cNvCxnSpPr/>
            <p:nvPr/>
          </p:nvCxnSpPr>
          <p:spPr>
            <a:xfrm flipV="1">
              <a:off x="4873520" y="62729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Elbow Connector 35"/>
            <p:cNvCxnSpPr>
              <a:endCxn id="44" idx="2"/>
            </p:cNvCxnSpPr>
            <p:nvPr/>
          </p:nvCxnSpPr>
          <p:spPr>
            <a:xfrm rot="5400000" flipH="1" flipV="1">
              <a:off x="4638234" y="5169845"/>
              <a:ext cx="1262381" cy="879511"/>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p:cNvSpPr>
              <a:spLocks noChangeAspect="1"/>
            </p:cNvSpPr>
            <p:nvPr/>
          </p:nvSpPr>
          <p:spPr>
            <a:xfrm>
              <a:off x="5709180" y="49326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5" name="Oval 44"/>
            <p:cNvSpPr>
              <a:spLocks noChangeAspect="1"/>
            </p:cNvSpPr>
            <p:nvPr/>
          </p:nvSpPr>
          <p:spPr>
            <a:xfrm>
              <a:off x="6639514" y="49360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6" name="TextBox 45"/>
            <p:cNvSpPr txBox="1"/>
            <p:nvPr/>
          </p:nvSpPr>
          <p:spPr>
            <a:xfrm>
              <a:off x="5222269" y="4940300"/>
              <a:ext cx="1017034" cy="347489"/>
            </a:xfrm>
            <a:prstGeom prst="rect">
              <a:avLst/>
            </a:prstGeom>
            <a:noFill/>
          </p:spPr>
          <p:txBody>
            <a:bodyPr wrap="square" rtlCol="0">
              <a:spAutoFit/>
            </a:bodyPr>
            <a:lstStyle/>
            <a:p>
              <a:pPr algn="ctr"/>
              <a:r>
                <a:rPr lang="en-US" sz="1500" dirty="0" err="1">
                  <a:latin typeface="Courier New" panose="02070609020205020404"/>
                  <a:cs typeface="Courier New" panose="02070609020205020404"/>
                </a:rPr>
                <a:t>printf</a:t>
              </a:r>
              <a:endParaRPr lang="en-US" sz="1500" dirty="0">
                <a:latin typeface="Courier New" panose="02070609020205020404"/>
                <a:cs typeface="Courier New" panose="02070609020205020404"/>
              </a:endParaRPr>
            </a:p>
          </p:txBody>
        </p:sp>
        <p:cxnSp>
          <p:nvCxnSpPr>
            <p:cNvPr id="49" name="Straight Arrow Connector 48"/>
            <p:cNvCxnSpPr/>
            <p:nvPr/>
          </p:nvCxnSpPr>
          <p:spPr>
            <a:xfrm flipV="1">
              <a:off x="5800620" y="49750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endCxn id="29" idx="7"/>
            </p:cNvCxnSpPr>
            <p:nvPr/>
          </p:nvCxnSpPr>
          <p:spPr>
            <a:xfrm flipH="1">
              <a:off x="6717563" y="4971633"/>
              <a:ext cx="7671" cy="1273235"/>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42981" y="4639856"/>
              <a:ext cx="947223" cy="347489"/>
            </a:xfrm>
            <a:prstGeom prst="rect">
              <a:avLst/>
            </a:prstGeom>
            <a:noFill/>
          </p:spPr>
          <p:txBody>
            <a:bodyPr wrap="square" rtlCol="0">
              <a:spAutoFit/>
            </a:bodyPr>
            <a:lstStyle/>
            <a:p>
              <a:pPr algn="ctr"/>
              <a:r>
                <a:rPr lang="en-US" sz="1500" dirty="0">
                  <a:latin typeface="Courier New" panose="02070609020205020404"/>
                  <a:cs typeface="Courier New" panose="02070609020205020404"/>
                </a:rPr>
                <a:t>exit</a:t>
              </a:r>
              <a:endParaRPr lang="en-US" sz="1500" dirty="0">
                <a:latin typeface="Courier New" panose="02070609020205020404"/>
                <a:cs typeface="Courier New" panose="02070609020205020404"/>
              </a:endParaRPr>
            </a:p>
          </p:txBody>
        </p:sp>
        <p:sp>
          <p:nvSpPr>
            <p:cNvPr id="58" name="TextBox 57"/>
            <p:cNvSpPr txBox="1"/>
            <p:nvPr/>
          </p:nvSpPr>
          <p:spPr>
            <a:xfrm>
              <a:off x="5543922" y="5940811"/>
              <a:ext cx="446813" cy="347489"/>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HP</a:t>
              </a:r>
              <a:endParaRPr lang="en-US" sz="1500" dirty="0">
                <a:solidFill>
                  <a:srgbClr val="FF0000"/>
                </a:solidFill>
                <a:latin typeface="Courier New" panose="02070609020205020404"/>
                <a:cs typeface="Courier New" panose="02070609020205020404"/>
              </a:endParaRPr>
            </a:p>
          </p:txBody>
        </p:sp>
        <p:sp>
          <p:nvSpPr>
            <p:cNvPr id="59" name="TextBox 58"/>
            <p:cNvSpPr txBox="1"/>
            <p:nvPr/>
          </p:nvSpPr>
          <p:spPr>
            <a:xfrm>
              <a:off x="5543922" y="4635500"/>
              <a:ext cx="446813" cy="347489"/>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HC</a:t>
              </a:r>
              <a:endParaRPr lang="en-US" sz="1500" dirty="0">
                <a:solidFill>
                  <a:srgbClr val="FF0000"/>
                </a:solidFill>
                <a:latin typeface="Courier New" panose="02070609020205020404"/>
                <a:cs typeface="Courier New" panose="02070609020205020404"/>
              </a:endParaRPr>
            </a:p>
          </p:txBody>
        </p:sp>
        <p:sp>
          <p:nvSpPr>
            <p:cNvPr id="60" name="TextBox 59"/>
            <p:cNvSpPr txBox="1"/>
            <p:nvPr/>
          </p:nvSpPr>
          <p:spPr>
            <a:xfrm>
              <a:off x="7308765" y="5626100"/>
              <a:ext cx="570937" cy="595697"/>
            </a:xfrm>
            <a:prstGeom prst="rect">
              <a:avLst/>
            </a:prstGeom>
            <a:noFill/>
          </p:spPr>
          <p:txBody>
            <a:bodyPr wrap="none" rtlCol="0">
              <a:spAutoFit/>
            </a:bodyPr>
            <a:lstStyle/>
            <a:p>
              <a:pPr algn="ctr"/>
              <a:r>
                <a:rPr lang="en-US" sz="1500" dirty="0">
                  <a:solidFill>
                    <a:srgbClr val="FF0000"/>
                  </a:solidFill>
                  <a:latin typeface="Courier New" panose="02070609020205020404"/>
                  <a:cs typeface="Courier New" panose="02070609020205020404"/>
                </a:rPr>
                <a:t>CT</a:t>
              </a:r>
              <a:endParaRPr lang="en-US" sz="1500" dirty="0">
                <a:solidFill>
                  <a:srgbClr val="FF0000"/>
                </a:solidFill>
                <a:latin typeface="Courier New" panose="02070609020205020404"/>
                <a:cs typeface="Courier New" panose="02070609020205020404"/>
              </a:endParaRPr>
            </a:p>
            <a:p>
              <a:pPr algn="ctr"/>
              <a:r>
                <a:rPr lang="en-US" sz="1500" dirty="0">
                  <a:solidFill>
                    <a:srgbClr val="FF0000"/>
                  </a:solidFill>
                  <a:latin typeface="Courier New" panose="02070609020205020404"/>
                  <a:cs typeface="Courier New" panose="02070609020205020404"/>
                </a:rPr>
                <a:t>Bye</a:t>
              </a:r>
              <a:endParaRPr lang="en-US" sz="1500" dirty="0">
                <a:solidFill>
                  <a:srgbClr val="FF0000"/>
                </a:solidFill>
                <a:latin typeface="Courier New" panose="02070609020205020404"/>
                <a:cs typeface="Courier New" panose="02070609020205020404"/>
              </a:endParaRPr>
            </a:p>
          </p:txBody>
        </p:sp>
      </p:grpSp>
      <p:sp>
        <p:nvSpPr>
          <p:cNvPr id="62" name="Rectangle 3"/>
          <p:cNvSpPr>
            <a:spLocks noChangeArrowheads="1"/>
          </p:cNvSpPr>
          <p:nvPr/>
        </p:nvSpPr>
        <p:spPr bwMode="auto">
          <a:xfrm>
            <a:off x="5356718" y="4947582"/>
            <a:ext cx="113919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66" name="TextBox 65"/>
          <p:cNvSpPr txBox="1"/>
          <p:nvPr/>
        </p:nvSpPr>
        <p:spPr>
          <a:xfrm>
            <a:off x="7408096" y="4009072"/>
            <a:ext cx="1598515" cy="1477328"/>
          </a:xfrm>
          <a:prstGeom prst="rect">
            <a:avLst/>
          </a:prstGeom>
          <a:noFill/>
        </p:spPr>
        <p:txBody>
          <a:bodyPr wrap="none" rtlCol="0">
            <a:spAutoFit/>
          </a:bodyPr>
          <a:lstStyle/>
          <a:p>
            <a:pPr algn="l"/>
            <a:r>
              <a:rPr lang="zh-CN" altLang="en-US" sz="1800" dirty="0">
                <a:latin typeface="FangSong" panose="02010609060101010101" pitchFamily="49" charset="-122"/>
                <a:ea typeface="FangSong" panose="02010609060101010101" pitchFamily="49" charset="-122"/>
                <a:cs typeface="Consolas" panose="020B0609020204030204" pitchFamily="49" charset="0"/>
                <a:sym typeface="+mn-ea"/>
              </a:rPr>
              <a:t>可行的输出：</a:t>
            </a:r>
            <a:endParaRPr lang="zh-CN" altLang="en-US" sz="1800" dirty="0">
              <a:latin typeface="FangSong" panose="02010609060101010101" pitchFamily="49" charset="-122"/>
              <a:ea typeface="FangSong" panose="02010609060101010101" pitchFamily="49" charset="-122"/>
              <a:cs typeface="Consolas" panose="020B0609020204030204" pitchFamily="49" charset="0"/>
              <a:sym typeface="+mn-ea"/>
            </a:endParaRPr>
          </a:p>
          <a:p>
            <a:pPr algn="l"/>
            <a:r>
              <a:rPr lang="en-US" sz="1800" dirty="0">
                <a:solidFill>
                  <a:srgbClr val="FF0000"/>
                </a:solidFill>
                <a:latin typeface="Consolas" panose="020B0609020204030204" pitchFamily="49" charset="0"/>
                <a:cs typeface="Consolas" panose="020B0609020204030204" pitchFamily="49" charset="0"/>
              </a:rPr>
              <a:t>HC</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HP</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CT</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p:txBody>
      </p:sp>
      <p:sp>
        <p:nvSpPr>
          <p:cNvPr id="67" name="TextBox 66"/>
          <p:cNvSpPr txBox="1"/>
          <p:nvPr/>
        </p:nvSpPr>
        <p:spPr>
          <a:xfrm>
            <a:off x="9615764" y="4009072"/>
            <a:ext cx="1834156" cy="1477328"/>
          </a:xfrm>
          <a:prstGeom prst="rect">
            <a:avLst/>
          </a:prstGeom>
          <a:noFill/>
        </p:spPr>
        <p:txBody>
          <a:bodyPr wrap="none" rtlCol="0">
            <a:spAutoFit/>
          </a:bodyPr>
          <a:lstStyle/>
          <a:p>
            <a:pPr algn="l"/>
            <a:r>
              <a:rPr lang="zh-CN" altLang="en-US" sz="1800" dirty="0">
                <a:latin typeface="FangSong" panose="02010609060101010101" pitchFamily="49" charset="-122"/>
                <a:ea typeface="FangSong" panose="02010609060101010101" pitchFamily="49" charset="-122"/>
                <a:sym typeface="+mn-ea"/>
              </a:rPr>
              <a:t>不可行的输出：</a:t>
            </a:r>
            <a:endParaRPr lang="zh-CN" altLang="en-US" sz="1800" dirty="0">
              <a:latin typeface="FangSong" panose="02010609060101010101" pitchFamily="49" charset="-122"/>
              <a:ea typeface="FangSong" panose="02010609060101010101" pitchFamily="49" charset="-122"/>
              <a:sym typeface="+mn-ea"/>
            </a:endParaRPr>
          </a:p>
          <a:p>
            <a:pPr algn="l"/>
            <a:r>
              <a:rPr lang="en-US" sz="1800" dirty="0">
                <a:solidFill>
                  <a:srgbClr val="FF0000"/>
                </a:solidFill>
                <a:latin typeface="Consolas" panose="020B0609020204030204" pitchFamily="49" charset="0"/>
                <a:cs typeface="Consolas" panose="020B0609020204030204" pitchFamily="49" charset="0"/>
              </a:rPr>
              <a:t>HP</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CT</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Bye</a:t>
            </a:r>
            <a:endParaRPr lang="en-US" sz="1800" dirty="0">
              <a:solidFill>
                <a:srgbClr val="FF0000"/>
              </a:solidFill>
              <a:latin typeface="Consolas" panose="020B0609020204030204" pitchFamily="49" charset="0"/>
              <a:cs typeface="Consolas" panose="020B0609020204030204" pitchFamily="49" charset="0"/>
            </a:endParaRPr>
          </a:p>
          <a:p>
            <a:pPr algn="l"/>
            <a:r>
              <a:rPr lang="en-US" sz="1800" dirty="0">
                <a:solidFill>
                  <a:srgbClr val="FF0000"/>
                </a:solidFill>
                <a:latin typeface="Consolas" panose="020B0609020204030204" pitchFamily="49" charset="0"/>
                <a:cs typeface="Consolas" panose="020B0609020204030204" pitchFamily="49" charset="0"/>
              </a:rPr>
              <a:t>HC</a:t>
            </a:r>
            <a:endParaRPr lang="en-US" sz="1800" dirty="0">
              <a:solidFill>
                <a:srgbClr val="FF0000"/>
              </a:solidFill>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urier New" panose="02070609020205020404" pitchFamily="49" charset="0"/>
                <a:sym typeface="+mn-ea"/>
              </a:rPr>
              <a:t>wait</a:t>
            </a:r>
            <a:r>
              <a:rPr lang="zh-CN" altLang="en-US" dirty="0">
                <a:latin typeface="Courier New" panose="02070609020205020404" pitchFamily="49" charset="0"/>
                <a:sym typeface="+mn-ea"/>
              </a:rPr>
              <a:t>：</a:t>
            </a:r>
            <a:r>
              <a:rPr lang="zh-CN" altLang="en-US"/>
              <a:t>状态代码</a:t>
            </a:r>
            <a:endParaRPr lang="zh-CN" altLang="en-US"/>
          </a:p>
        </p:txBody>
      </p:sp>
      <p:sp>
        <p:nvSpPr>
          <p:cNvPr id="5" name="内容占位符 4"/>
          <p:cNvSpPr>
            <a:spLocks noGrp="1"/>
          </p:cNvSpPr>
          <p:nvPr>
            <p:ph idx="1"/>
          </p:nvPr>
        </p:nvSpPr>
        <p:spPr/>
        <p:txBody>
          <a:bodyPr/>
          <a:lstStyle/>
          <a:p>
            <a:pPr algn="just"/>
            <a:r>
              <a:rPr lang="en-US" sz="2400" dirty="0">
                <a:latin typeface="Courier New" panose="02070609020205020404" pitchFamily="49" charset="0"/>
                <a:cs typeface="Courier New" panose="02070609020205020404" pitchFamily="49" charset="0"/>
                <a:sym typeface="+mn-ea"/>
              </a:rPr>
              <a:t>wait</a:t>
            </a:r>
            <a:r>
              <a:rPr lang="en-US" sz="2400" dirty="0">
                <a:sym typeface="+mn-ea"/>
              </a:rPr>
              <a:t> </a:t>
            </a:r>
            <a:r>
              <a:rPr lang="zh-CN" altLang="en-US" dirty="0"/>
              <a:t>的返回值是终止的子进程的</a:t>
            </a:r>
            <a:r>
              <a:rPr lang="en-US" altLang="zh-CN" dirty="0">
                <a:latin typeface="Consolas" panose="020B0609020204030204" pitchFamily="49" charset="0"/>
                <a:cs typeface="Consolas" panose="020B0609020204030204" pitchFamily="49" charset="0"/>
              </a:rPr>
              <a:t> PID</a:t>
            </a:r>
            <a:endParaRPr lang="en-US" altLang="zh-CN" dirty="0">
              <a:latin typeface="Consolas" panose="020B0609020204030204" pitchFamily="49" charset="0"/>
              <a:cs typeface="Consolas" panose="020B0609020204030204" pitchFamily="49" charset="0"/>
            </a:endParaRPr>
          </a:p>
          <a:p>
            <a:pPr algn="just"/>
            <a:r>
              <a:rPr lang="zh-CN" altLang="en-US" sz="2400" dirty="0">
                <a:sym typeface="+mn-ea"/>
              </a:rPr>
              <a:t>如果</a:t>
            </a:r>
            <a:r>
              <a:rPr lang="en-US" sz="2400" dirty="0">
                <a:sym typeface="+mn-ea"/>
              </a:rPr>
              <a:t> </a:t>
            </a:r>
            <a:r>
              <a:rPr lang="en-US" sz="2400" dirty="0">
                <a:latin typeface="Courier New" panose="02070609020205020404" pitchFamily="49" charset="0"/>
                <a:cs typeface="Courier New" panose="02070609020205020404" pitchFamily="49" charset="0"/>
                <a:sym typeface="+mn-ea"/>
              </a:rPr>
              <a:t>status != NULL</a:t>
            </a:r>
            <a:r>
              <a:rPr lang="zh-CN" altLang="en-US" sz="2400" dirty="0">
                <a:latin typeface="Courier New" panose="02070609020205020404" pitchFamily="49" charset="0"/>
                <a:cs typeface="Courier New" panose="02070609020205020404" pitchFamily="49" charset="0"/>
                <a:sym typeface="+mn-ea"/>
              </a:rPr>
              <a:t>，</a:t>
            </a:r>
            <a:r>
              <a:rPr lang="zh-CN" altLang="en-US" sz="2400" dirty="0">
                <a:sym typeface="+mn-ea"/>
              </a:rPr>
              <a:t>那么</a:t>
            </a:r>
            <a:r>
              <a:rPr lang="zh-CN" altLang="en-US" dirty="0"/>
              <a:t>它指向的整数将被设置为指示退出状态的值</a:t>
            </a:r>
            <a:endParaRPr lang="zh-CN" altLang="en-US" dirty="0"/>
          </a:p>
          <a:p>
            <a:pPr lvl="1" algn="just"/>
            <a:r>
              <a:rPr lang="zh-CN" altLang="en-US" sz="2400" b="0" dirty="0">
                <a:sym typeface="+mn-ea"/>
              </a:rPr>
              <a:t>相比</a:t>
            </a:r>
            <a:r>
              <a:rPr lang="en-US" altLang="zh-CN" sz="2400" b="0" dirty="0">
                <a:sym typeface="+mn-ea"/>
              </a:rPr>
              <a:t>exit</a:t>
            </a:r>
            <a:r>
              <a:rPr lang="zh-CN" altLang="en-US" sz="2400" b="0" dirty="0">
                <a:sym typeface="+mn-ea"/>
              </a:rPr>
              <a:t>的值</a:t>
            </a:r>
            <a:r>
              <a:rPr lang="en-US" altLang="zh-CN" sz="2400" b="0" dirty="0">
                <a:sym typeface="+mn-ea"/>
              </a:rPr>
              <a:t>，</a:t>
            </a:r>
            <a:r>
              <a:rPr lang="zh-CN" altLang="en-US" sz="2400" b="0" dirty="0">
                <a:sym typeface="+mn-ea"/>
              </a:rPr>
              <a:t>可以</a:t>
            </a:r>
            <a:r>
              <a:rPr lang="en-US" sz="2400" dirty="0">
                <a:cs typeface="+mn-ea"/>
                <a:sym typeface="+mn-ea"/>
              </a:rPr>
              <a:t>传递</a:t>
            </a:r>
            <a:r>
              <a:rPr lang="en-US" sz="2400" dirty="0">
                <a:cs typeface="+mn-ea"/>
              </a:rPr>
              <a:t>值更多的信息</a:t>
            </a:r>
            <a:endParaRPr lang="en-US" sz="2400" dirty="0">
              <a:cs typeface="+mn-ea"/>
            </a:endParaRPr>
          </a:p>
          <a:p>
            <a:pPr lvl="1" algn="just"/>
            <a:r>
              <a:rPr lang="zh-CN" altLang="en-US" sz="2400" dirty="0">
                <a:sym typeface="+mn-ea"/>
              </a:rPr>
              <a:t>必须</a:t>
            </a:r>
            <a:r>
              <a:rPr lang="zh-CN" altLang="en-US" sz="2400" b="0" dirty="0">
                <a:sym typeface="+mn-ea"/>
              </a:rPr>
              <a:t>使用</a:t>
            </a:r>
            <a:r>
              <a:rPr lang="en-US" sz="2400" b="0" dirty="0">
                <a:latin typeface="Consolas" panose="020B0609020204030204" pitchFamily="49" charset="0"/>
                <a:cs typeface="Consolas" panose="020B0609020204030204" pitchFamily="49" charset="0"/>
                <a:sym typeface="+mn-ea"/>
              </a:rPr>
              <a:t> sys/</a:t>
            </a:r>
            <a:r>
              <a:rPr lang="en-US" sz="2400" b="0" dirty="0" err="1">
                <a:latin typeface="Consolas" panose="020B0609020204030204" pitchFamily="49" charset="0"/>
                <a:cs typeface="Consolas" panose="020B0609020204030204" pitchFamily="49" charset="0"/>
                <a:sym typeface="+mn-ea"/>
              </a:rPr>
              <a:t>wait.h</a:t>
            </a:r>
            <a:r>
              <a:rPr lang="en-US" sz="2400" b="0" dirty="0">
                <a:latin typeface="Consolas" panose="020B0609020204030204" pitchFamily="49" charset="0"/>
                <a:cs typeface="Consolas" panose="020B0609020204030204" pitchFamily="49" charset="0"/>
                <a:sym typeface="+mn-ea"/>
              </a:rPr>
              <a:t> </a:t>
            </a:r>
            <a:r>
              <a:rPr lang="zh-CN" altLang="en-US" sz="2400" b="0" dirty="0">
                <a:sym typeface="+mn-ea"/>
              </a:rPr>
              <a:t>中定义的宏来解读</a:t>
            </a:r>
            <a:endParaRPr lang="en-US" sz="2400" b="0" kern="0" dirty="0"/>
          </a:p>
          <a:p>
            <a:pPr lvl="2" algn="just"/>
            <a:r>
              <a:rPr lang="en-US" sz="2400" b="0" dirty="0">
                <a:latin typeface="Consolas" panose="020B0609020204030204" pitchFamily="49" charset="0"/>
                <a:cs typeface="Consolas" panose="020B0609020204030204" pitchFamily="49" charset="0"/>
                <a:sym typeface="+mn-ea"/>
              </a:rPr>
              <a:t>WIFEXITED, WEXITSTATUS, WIFSIGNALED, WTERMSIG, WIFSTOPPED, WSTOPSIG, WIFCONTINUED</a:t>
            </a:r>
            <a:endParaRPr lang="en-US" sz="2400" b="0" kern="0" dirty="0">
              <a:latin typeface="Consolas" panose="020B0609020204030204" pitchFamily="49" charset="0"/>
              <a:cs typeface="Consolas" panose="020B0609020204030204" pitchFamily="49" charset="0"/>
            </a:endParaRPr>
          </a:p>
          <a:p>
            <a:pPr lvl="2" algn="just"/>
            <a:r>
              <a:rPr lang="zh-CN" altLang="en-US" sz="2400" b="0" kern="0" dirty="0"/>
              <a:t>详见教科书</a:t>
            </a:r>
            <a:endParaRPr lang="en-US" sz="2400" b="0" kern="0" dirty="0"/>
          </a:p>
          <a:p>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r>
              <a:rPr lang="zh-CN" altLang="en-US" dirty="0">
                <a:latin typeface="Courier New" panose="02070609020205020404" pitchFamily="49" charset="0"/>
              </a:rPr>
              <a:t>另一个</a:t>
            </a:r>
            <a:r>
              <a:rPr lang="en-US" dirty="0">
                <a:latin typeface="Courier New" panose="02070609020205020404" pitchFamily="49" charset="0"/>
              </a:rPr>
              <a:t> wait </a:t>
            </a:r>
            <a:r>
              <a:rPr lang="zh-CN" altLang="en-US" dirty="0"/>
              <a:t>示例</a:t>
            </a:r>
            <a:endParaRPr lang="zh-CN" altLang="en-US" dirty="0"/>
          </a:p>
        </p:txBody>
      </p:sp>
      <p:sp>
        <p:nvSpPr>
          <p:cNvPr id="500739" name="Rectangle 3"/>
          <p:cNvSpPr>
            <a:spLocks noGrp="1" noChangeArrowheads="1"/>
          </p:cNvSpPr>
          <p:nvPr>
            <p:ph idx="1"/>
          </p:nvPr>
        </p:nvSpPr>
        <p:spPr/>
        <p:txBody>
          <a:bodyPr/>
          <a:lstStyle/>
          <a:p>
            <a:r>
              <a:rPr lang="en-US" sz="2000" b="0" dirty="0"/>
              <a:t>如果多个子进程完成，将以任意顺序处理它们</a:t>
            </a:r>
            <a:endParaRPr lang="en-US" sz="2000" b="0" dirty="0"/>
          </a:p>
          <a:p>
            <a:r>
              <a:rPr lang="zh-CN" altLang="en-US" sz="2000" b="0" dirty="0"/>
              <a:t>可以使用宏</a:t>
            </a:r>
            <a:r>
              <a:rPr lang="en-US" sz="2000" b="0" dirty="0"/>
              <a:t> </a:t>
            </a:r>
            <a:r>
              <a:rPr lang="en-US" sz="2000" b="0" dirty="0">
                <a:latin typeface="Consolas" panose="020B0609020204030204" pitchFamily="49" charset="0"/>
                <a:cs typeface="Consolas" panose="020B0609020204030204" pitchFamily="49" charset="0"/>
              </a:rPr>
              <a:t>WIFEXITED</a:t>
            </a:r>
            <a:r>
              <a:rPr lang="en-US" sz="2000" b="0" dirty="0"/>
              <a:t> </a:t>
            </a:r>
            <a:r>
              <a:rPr lang="zh-CN" altLang="en-US" sz="2000" b="0" dirty="0"/>
              <a:t>和</a:t>
            </a:r>
            <a:r>
              <a:rPr lang="en-US" sz="2000" b="0" dirty="0"/>
              <a:t> </a:t>
            </a:r>
            <a:r>
              <a:rPr lang="en-US" sz="2000" b="0" dirty="0">
                <a:latin typeface="Consolas" panose="020B0609020204030204" pitchFamily="49" charset="0"/>
                <a:cs typeface="Consolas" panose="020B0609020204030204" pitchFamily="49" charset="0"/>
              </a:rPr>
              <a:t>WEXITSTATUS</a:t>
            </a:r>
            <a:r>
              <a:rPr lang="en-US" sz="2000" b="0" dirty="0"/>
              <a:t> </a:t>
            </a:r>
            <a:r>
              <a:rPr lang="zh-CN" altLang="en-US" sz="2000" b="0" dirty="0"/>
              <a:t>获取有关退出状态的信息</a:t>
            </a:r>
            <a:endParaRPr lang="zh-CN" altLang="en-US" dirty="0"/>
          </a:p>
        </p:txBody>
      </p:sp>
      <p:sp>
        <p:nvSpPr>
          <p:cNvPr id="500740" name="Text Box 4"/>
          <p:cNvSpPr txBox="1">
            <a:spLocks noChangeArrowheads="1"/>
          </p:cNvSpPr>
          <p:nvPr/>
        </p:nvSpPr>
        <p:spPr bwMode="auto">
          <a:xfrm>
            <a:off x="762000" y="2057400"/>
            <a:ext cx="7900670" cy="4769485"/>
          </a:xfrm>
          <a:prstGeom prst="rect">
            <a:avLst/>
          </a:prstGeom>
          <a:solidFill>
            <a:srgbClr val="F6F5BD"/>
          </a:solidFill>
          <a:ln w="3175">
            <a:solidFill>
              <a:schemeClr val="tx1"/>
            </a:solidFill>
            <a:miter lim="800000"/>
          </a:ln>
          <a:effectLst/>
        </p:spPr>
        <p:txBody>
          <a:bodyPr wrap="square">
            <a:spAutoFit/>
          </a:bodyPr>
          <a:lstStyle/>
          <a:p>
            <a:r>
              <a:rPr lang="en-US" sz="1600" dirty="0">
                <a:solidFill>
                  <a:srgbClr val="2D961E"/>
                </a:solidFill>
                <a:latin typeface="Menlo-Regular" panose="020B0609030804020204"/>
              </a:rPr>
              <a:t>void</a:t>
            </a:r>
            <a:r>
              <a:rPr lang="en-US" sz="1600" dirty="0">
                <a:solidFill>
                  <a:srgbClr val="000000"/>
                </a:solidFill>
                <a:latin typeface="Menlo-Regular" panose="020B0609030804020204"/>
              </a:rPr>
              <a:t> </a:t>
            </a:r>
            <a:r>
              <a:rPr lang="en-US" sz="1600" dirty="0">
                <a:solidFill>
                  <a:srgbClr val="4A00FF"/>
                </a:solidFill>
                <a:latin typeface="Menlo-Regular" panose="020B0609030804020204"/>
              </a:rPr>
              <a:t>fork10</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pid_t</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pid</a:t>
            </a:r>
            <a:r>
              <a:rPr lang="fi-FI" sz="1600" dirty="0" err="1">
                <a:solidFill>
                  <a:srgbClr val="000000"/>
                </a:solidFill>
                <a:latin typeface="Menlo-Regular" panose="020B0609030804020204"/>
              </a:rPr>
              <a:t>[N</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r>
              <a:rPr lang="fi-FI" sz="1600" dirty="0">
                <a:solidFill>
                  <a:srgbClr val="000000"/>
                </a:solidFill>
                <a:latin typeface="Menlo-Regular" panose="020B0609030804020204"/>
              </a:rPr>
              <a:t>    </a:t>
            </a:r>
            <a:r>
              <a:rPr lang="fi-FI" sz="1600" dirty="0" err="1">
                <a:solidFill>
                  <a:srgbClr val="2D961E"/>
                </a:solidFill>
                <a:latin typeface="Menlo-Regular" panose="020B0609030804020204"/>
              </a:rPr>
              <a:t>int</a:t>
            </a:r>
            <a:r>
              <a:rPr lang="fi-FI" sz="1600" dirty="0">
                <a:solidFill>
                  <a:srgbClr val="000000"/>
                </a:solidFill>
                <a:latin typeface="Menlo-Regular" panose="020B0609030804020204"/>
              </a:rPr>
              <a:t> </a:t>
            </a:r>
            <a:r>
              <a:rPr lang="fi-FI" sz="1600" dirty="0">
                <a:solidFill>
                  <a:srgbClr val="C1651C"/>
                </a:solidFill>
                <a:latin typeface="Menlo-Regular" panose="020B0609030804020204"/>
              </a:rPr>
              <a:t>i</a:t>
            </a:r>
            <a:r>
              <a:rPr lang="fi-FI" sz="1600" dirty="0">
                <a:solidFill>
                  <a:srgbClr val="000000"/>
                </a:solidFill>
                <a:latin typeface="Menlo-Regular" panose="020B0609030804020204"/>
              </a:rPr>
              <a:t>, </a:t>
            </a:r>
            <a:r>
              <a:rPr lang="fi-FI" sz="1600" dirty="0" err="1">
                <a:solidFill>
                  <a:srgbClr val="C1651C"/>
                </a:solidFill>
                <a:latin typeface="Menlo-Regular" panose="020B0609030804020204"/>
              </a:rPr>
              <a:t>child_status</a:t>
            </a:r>
            <a:r>
              <a:rPr lang="fi-FI" sz="1600" dirty="0">
                <a:solidFill>
                  <a:srgbClr val="000000"/>
                </a:solidFill>
                <a:latin typeface="Menlo-Regular" panose="020B0609030804020204"/>
              </a:rPr>
              <a:t>;</a:t>
            </a:r>
            <a:endParaRPr lang="fi-FI" sz="1600" dirty="0">
              <a:solidFill>
                <a:srgbClr val="000000"/>
              </a:solidFill>
              <a:latin typeface="Menlo-Regular" panose="020B0609030804020204"/>
            </a:endParaRPr>
          </a:p>
          <a:p>
            <a:endParaRPr lang="fi-FI" sz="1600" dirty="0">
              <a:solidFill>
                <a:srgbClr val="000000"/>
              </a:solidFill>
              <a:latin typeface="Menlo-Regular" panose="020B0609030804020204"/>
            </a:endParaRPr>
          </a:p>
          <a:p>
            <a:r>
              <a:rPr lang="da-DK" sz="1600" dirty="0">
                <a:solidFill>
                  <a:srgbClr val="000000"/>
                </a:solidFill>
                <a:latin typeface="Menlo-Regular" panose="020B0609030804020204"/>
              </a:rPr>
              <a:t>    </a:t>
            </a:r>
            <a:r>
              <a:rPr lang="da-DK" sz="1600" dirty="0">
                <a:solidFill>
                  <a:srgbClr val="C200FF"/>
                </a:solidFill>
                <a:latin typeface="Menlo-Regular" panose="020B0609030804020204"/>
              </a:rPr>
              <a:t>for</a:t>
            </a:r>
            <a:r>
              <a:rPr lang="da-DK" sz="1600" dirty="0">
                <a:solidFill>
                  <a:srgbClr val="000000"/>
                </a:solidFill>
                <a:latin typeface="Menlo-Regular" panose="020B0609030804020204"/>
              </a:rPr>
              <a:t> (i = 0; i &lt; N; i++)</a:t>
            </a:r>
            <a:endParaRPr lang="da-DK" sz="1600" dirty="0">
              <a:solidFill>
                <a:srgbClr val="000000"/>
              </a:solidFill>
              <a:latin typeface="Menlo-Regular" panose="020B0609030804020204"/>
            </a:endParaRPr>
          </a:p>
          <a:p>
            <a:r>
              <a:rPr lang="nb-NO" sz="1600" dirty="0">
                <a:solidFill>
                  <a:srgbClr val="000000"/>
                </a:solidFill>
                <a:latin typeface="Menlo-Regular" panose="020B0609030804020204"/>
              </a:rPr>
              <a:t>        </a:t>
            </a:r>
            <a:r>
              <a:rPr lang="nb-NO" sz="1600" dirty="0" err="1">
                <a:solidFill>
                  <a:srgbClr val="C200FF"/>
                </a:solidFill>
                <a:latin typeface="Menlo-Regular" panose="020B0609030804020204"/>
              </a:rPr>
              <a:t>if</a:t>
            </a:r>
            <a:r>
              <a:rPr lang="nb-NO" sz="1600" dirty="0">
                <a:solidFill>
                  <a:srgbClr val="000000"/>
                </a:solidFill>
                <a:latin typeface="Menlo-Regular" panose="020B0609030804020204"/>
              </a:rPr>
              <a:t> ((</a:t>
            </a:r>
            <a:r>
              <a:rPr lang="nb-NO" sz="1600" dirty="0" err="1">
                <a:solidFill>
                  <a:srgbClr val="000000"/>
                </a:solidFill>
                <a:latin typeface="Menlo-Regular" panose="020B0609030804020204"/>
              </a:rPr>
              <a:t>pid</a:t>
            </a:r>
            <a:r>
              <a:rPr lang="nb-NO" sz="1600" dirty="0">
                <a:solidFill>
                  <a:srgbClr val="000000"/>
                </a:solidFill>
                <a:latin typeface="Menlo-Regular" panose="020B0609030804020204"/>
              </a:rPr>
              <a:t>[i] = fork()) == 0) {</a:t>
            </a:r>
            <a:endParaRPr lang="nb-NO" sz="1600" dirty="0">
              <a:solidFill>
                <a:srgbClr val="000000"/>
              </a:solidFill>
              <a:latin typeface="Menlo-Regular" panose="020B0609030804020204"/>
            </a:endParaRPr>
          </a:p>
          <a:p>
            <a:pPr marL="914400" lvl="2" indent="457200"/>
            <a:r>
              <a:rPr lang="en-US" altLang="nb-NO" sz="1600" dirty="0">
                <a:solidFill>
                  <a:srgbClr val="000000"/>
                </a:solidFill>
                <a:latin typeface="Menlo-Regular" panose="020B0609030804020204"/>
              </a:rPr>
              <a:t> sleep(3);</a:t>
            </a:r>
            <a:endParaRPr lang="nb-NO" sz="1600" dirty="0">
              <a:solidFill>
                <a:srgbClr val="000000"/>
              </a:solidFill>
              <a:latin typeface="Menlo-Regular" panose="020B0609030804020204"/>
            </a:endParaRPr>
          </a:p>
          <a:p>
            <a:r>
              <a:rPr lang="nb-NO" sz="1600" dirty="0">
                <a:solidFill>
                  <a:srgbClr val="000000"/>
                </a:solidFill>
                <a:latin typeface="Menlo-Regular" panose="020B0609030804020204"/>
              </a:rPr>
              <a:t>            exit(100+i); </a:t>
            </a:r>
            <a:r>
              <a:rPr lang="nb-NO" sz="1600" dirty="0">
                <a:solidFill>
                  <a:srgbClr val="CB2418"/>
                </a:solidFill>
                <a:latin typeface="Menlo-Regular" panose="020B0609030804020204"/>
              </a:rPr>
              <a:t>/* Child */</a:t>
            </a:r>
            <a:endParaRPr lang="nb-NO" sz="1600" dirty="0">
              <a:solidFill>
                <a:srgbClr val="000000"/>
              </a:solidFill>
              <a:latin typeface="Menlo-Regular" panose="020B0609030804020204"/>
            </a:endParaRPr>
          </a:p>
          <a:p>
            <a:r>
              <a:rPr lang="nb-NO" sz="1600" dirty="0">
                <a:solidFill>
                  <a:srgbClr val="000000"/>
                </a:solidFill>
                <a:latin typeface="Menlo-Regular" panose="020B0609030804020204"/>
              </a:rPr>
              <a:t>        }</a:t>
            </a:r>
            <a:endParaRPr lang="nb-NO"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for</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i</a:t>
            </a:r>
            <a:r>
              <a:rPr lang="en-US" sz="1600" dirty="0">
                <a:solidFill>
                  <a:srgbClr val="000000"/>
                </a:solidFill>
                <a:latin typeface="Menlo-Regular" panose="020B0609030804020204"/>
              </a:rPr>
              <a:t> = 0; </a:t>
            </a:r>
            <a:r>
              <a:rPr lang="en-US" sz="1600" dirty="0" err="1">
                <a:solidFill>
                  <a:srgbClr val="000000"/>
                </a:solidFill>
                <a:latin typeface="Menlo-Regular" panose="020B0609030804020204"/>
              </a:rPr>
              <a:t>i</a:t>
            </a:r>
            <a:r>
              <a:rPr lang="en-US" sz="1600" dirty="0">
                <a:solidFill>
                  <a:srgbClr val="000000"/>
                </a:solidFill>
                <a:latin typeface="Menlo-Regular" panose="020B0609030804020204"/>
              </a:rPr>
              <a:t> &lt; N; </a:t>
            </a:r>
            <a:r>
              <a:rPr lang="en-US" sz="1600" dirty="0" err="1">
                <a:solidFill>
                  <a:srgbClr val="000000"/>
                </a:solidFill>
                <a:latin typeface="Menlo-Regular" panose="020B0609030804020204"/>
              </a:rPr>
              <a:t>i</a:t>
            </a:r>
            <a:r>
              <a:rPr lang="en-US" sz="1600" dirty="0">
                <a:solidFill>
                  <a:srgbClr val="000000"/>
                </a:solidFill>
                <a:latin typeface="Menlo-Regular" panose="020B0609030804020204"/>
              </a:rPr>
              <a:t>++) { </a:t>
            </a:r>
            <a:r>
              <a:rPr lang="en-US" sz="1600" dirty="0">
                <a:solidFill>
                  <a:srgbClr val="CB2418"/>
                </a:solidFill>
                <a:latin typeface="Menlo-Regular" panose="020B0609030804020204"/>
              </a:rPr>
              <a:t>/* Parent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2D961E"/>
                </a:solidFill>
                <a:latin typeface="Menlo-Regular" panose="020B0609030804020204"/>
              </a:rPr>
              <a:t>pid_t</a:t>
            </a:r>
            <a:r>
              <a:rPr lang="en-US" sz="1600" dirty="0">
                <a:solidFill>
                  <a:srgbClr val="000000"/>
                </a:solidFill>
                <a:latin typeface="Menlo-Regular" panose="020B0609030804020204"/>
              </a:rPr>
              <a:t> </a:t>
            </a:r>
            <a:r>
              <a:rPr lang="en-US" sz="1600" dirty="0" err="1">
                <a:solidFill>
                  <a:srgbClr val="C1651C"/>
                </a:solidFill>
                <a:latin typeface="Menlo-Regular" panose="020B0609030804020204"/>
              </a:rPr>
              <a:t>wpid</a:t>
            </a:r>
            <a:r>
              <a:rPr lang="en-US" sz="1600" dirty="0">
                <a:solidFill>
                  <a:srgbClr val="000000"/>
                </a:solidFill>
                <a:latin typeface="Menlo-Regular" panose="020B0609030804020204"/>
              </a:rPr>
              <a:t> = wait(&amp;</a:t>
            </a:r>
            <a:r>
              <a:rPr lang="en-US" sz="1600" dirty="0" err="1">
                <a:solidFill>
                  <a:srgbClr val="000000"/>
                </a:solidFill>
                <a:latin typeface="Menlo-Regular" panose="020B0609030804020204"/>
              </a:rPr>
              <a:t>child_status</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C200FF"/>
                </a:solidFill>
                <a:latin typeface="Menlo-Regular" panose="020B0609030804020204"/>
              </a:rPr>
              <a:t>if</a:t>
            </a:r>
            <a:r>
              <a:rPr lang="en-US" sz="1600" dirty="0">
                <a:solidFill>
                  <a:srgbClr val="000000"/>
                </a:solidFill>
                <a:latin typeface="Menlo-Regular" panose="020B0609030804020204"/>
              </a:rPr>
              <a:t> (WIFEXITED(</a:t>
            </a:r>
            <a:r>
              <a:rPr lang="en-US" sz="1600" dirty="0" err="1">
                <a:solidFill>
                  <a:srgbClr val="000000"/>
                </a:solidFill>
                <a:latin typeface="Menlo-Regular" panose="020B0609030804020204"/>
              </a:rPr>
              <a:t>child_status</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"Child %d terminated with exit status %d\n"</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pl-PL" sz="1600" dirty="0">
                <a:solidFill>
                  <a:srgbClr val="000000"/>
                </a:solidFill>
                <a:latin typeface="Menlo-Regular" panose="020B0609030804020204"/>
              </a:rPr>
              <a:t>                   </a:t>
            </a:r>
            <a:r>
              <a:rPr lang="pl-PL" sz="1600" dirty="0" err="1">
                <a:solidFill>
                  <a:srgbClr val="000000"/>
                </a:solidFill>
                <a:latin typeface="Menlo-Regular" panose="020B0609030804020204"/>
              </a:rPr>
              <a:t>wpid</a:t>
            </a:r>
            <a:r>
              <a:rPr lang="pl-PL" sz="1600" dirty="0">
                <a:solidFill>
                  <a:srgbClr val="000000"/>
                </a:solidFill>
                <a:latin typeface="Menlo-Regular" panose="020B0609030804020204"/>
              </a:rPr>
              <a:t>, WEXITSTATUS(</a:t>
            </a:r>
            <a:r>
              <a:rPr lang="pl-PL" sz="1600" dirty="0" err="1">
                <a:solidFill>
                  <a:srgbClr val="000000"/>
                </a:solidFill>
                <a:latin typeface="Menlo-Regular" panose="020B0609030804020204"/>
              </a:rPr>
              <a:t>child_status</a:t>
            </a:r>
            <a:r>
              <a:rPr lang="pl-PL" sz="1600" dirty="0">
                <a:solidFill>
                  <a:srgbClr val="000000"/>
                </a:solidFill>
                <a:latin typeface="Menlo-Regular" panose="020B0609030804020204"/>
              </a:rPr>
              <a:t>));</a:t>
            </a:r>
            <a:endParaRPr lang="pl-PL" sz="1600" dirty="0">
              <a:solidFill>
                <a:srgbClr val="000000"/>
              </a:solidFill>
              <a:latin typeface="Menlo-Regular" panose="020B0609030804020204"/>
            </a:endParaRPr>
          </a:p>
          <a:p>
            <a:r>
              <a:rPr lang="hu-HU" sz="1600" dirty="0">
                <a:solidFill>
                  <a:srgbClr val="000000"/>
                </a:solidFill>
                <a:latin typeface="Menlo-Regular" panose="020B0609030804020204"/>
              </a:rPr>
              <a:t>        </a:t>
            </a:r>
            <a:r>
              <a:rPr lang="hu-HU" sz="1600" dirty="0">
                <a:solidFill>
                  <a:srgbClr val="C200FF"/>
                </a:solidFill>
                <a:latin typeface="Menlo-Regular" panose="020B0609030804020204"/>
              </a:rPr>
              <a:t>else</a:t>
            </a:r>
            <a:endParaRPr lang="hu-HU"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9D206F"/>
                </a:solidFill>
                <a:latin typeface="Menlo-Regular" panose="020B0609030804020204"/>
              </a:rPr>
              <a:t>"Child %d terminate abnormally\n"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wpid</a:t>
            </a:r>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a:t>
            </a:r>
            <a:endParaRPr lang="en-US" sz="1600" dirty="0">
              <a:solidFill>
                <a:srgbClr val="000000"/>
              </a:solidFill>
              <a:latin typeface="Menlo-Regular" panose="020B0609030804020204"/>
            </a:endParaRPr>
          </a:p>
        </p:txBody>
      </p:sp>
      <p:sp>
        <p:nvSpPr>
          <p:cNvPr id="5" name="Rectangle 3"/>
          <p:cNvSpPr>
            <a:spLocks noChangeArrowheads="1"/>
          </p:cNvSpPr>
          <p:nvPr/>
        </p:nvSpPr>
        <p:spPr bwMode="auto">
          <a:xfrm>
            <a:off x="7391128" y="6400642"/>
            <a:ext cx="113919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pic>
        <p:nvPicPr>
          <p:cNvPr id="2" name="图片 1"/>
          <p:cNvPicPr>
            <a:picLocks noChangeAspect="1"/>
          </p:cNvPicPr>
          <p:nvPr/>
        </p:nvPicPr>
        <p:blipFill>
          <a:blip r:embed="rId1"/>
          <a:stretch>
            <a:fillRect/>
          </a:stretch>
        </p:blipFill>
        <p:spPr>
          <a:xfrm>
            <a:off x="8229600" y="2209800"/>
            <a:ext cx="3563620" cy="36957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fork10</a:t>
            </a:r>
            <a:r>
              <a:rPr lang="zh-CN" altLang="en-US"/>
              <a:t>的进程</a:t>
            </a:r>
            <a:r>
              <a:rPr lang="zh-CN" altLang="en-US"/>
              <a:t>图</a:t>
            </a:r>
            <a:endParaRPr lang="zh-CN" altLang="en-US"/>
          </a:p>
        </p:txBody>
      </p:sp>
      <p:pic>
        <p:nvPicPr>
          <p:cNvPr id="5" name="图片 4"/>
          <p:cNvPicPr>
            <a:picLocks noChangeAspect="1"/>
          </p:cNvPicPr>
          <p:nvPr/>
        </p:nvPicPr>
        <p:blipFill>
          <a:blip r:embed="rId1"/>
          <a:stretch>
            <a:fillRect/>
          </a:stretch>
        </p:blipFill>
        <p:spPr>
          <a:xfrm>
            <a:off x="1339850" y="1593850"/>
            <a:ext cx="9512300" cy="367030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en-US" dirty="0" err="1">
                <a:latin typeface="Courier New" panose="02070609020205020404" pitchFamily="49" charset="0"/>
                <a:cs typeface="Courier New" panose="02070609020205020404" pitchFamily="49" charset="0"/>
              </a:rPr>
              <a:t>waitpid</a:t>
            </a:r>
            <a:r>
              <a:rPr lang="zh-CN" altLang="en-US" dirty="0" err="1">
                <a:latin typeface="Courier New" panose="02070609020205020404" pitchFamily="49" charset="0"/>
                <a:cs typeface="Courier New" panose="02070609020205020404" pitchFamily="49" charset="0"/>
              </a:rPr>
              <a:t>：</a:t>
            </a:r>
            <a:r>
              <a:rPr lang="zh-CN" altLang="en-US"/>
              <a:t>等待特定进程</a:t>
            </a:r>
            <a:endParaRPr lang="zh-CN" altLang="en-US"/>
          </a:p>
        </p:txBody>
      </p:sp>
      <p:sp>
        <p:nvSpPr>
          <p:cNvPr id="501763" name="Rectangle 3"/>
          <p:cNvSpPr>
            <a:spLocks noGrp="1" noChangeArrowheads="1"/>
          </p:cNvSpPr>
          <p:nvPr>
            <p:ph idx="1"/>
          </p:nvPr>
        </p:nvSpPr>
        <p:spPr>
          <a:xfrm>
            <a:off x="529167" y="1133475"/>
            <a:ext cx="10528300" cy="4972050"/>
          </a:xfrm>
        </p:spPr>
        <p:txBody>
          <a:bodyPr/>
          <a:lstStyle/>
          <a:p>
            <a:r>
              <a:rPr lang="en-US" sz="2000" dirty="0" err="1">
                <a:latin typeface="Courier New" panose="02070609020205020404" pitchFamily="49" charset="0"/>
                <a:cs typeface="Courier New" panose="02070609020205020404" pitchFamily="49" charset="0"/>
              </a:rPr>
              <a:t>pid_t</a:t>
            </a:r>
            <a:r>
              <a:rPr lang="en-US" sz="2000" dirty="0">
                <a:latin typeface="Courier New" panose="02070609020205020404" pitchFamily="49" charset="0"/>
                <a:cs typeface="Courier New" panose="02070609020205020404" pitchFamily="49" charset="0"/>
              </a:rPr>
              <a:t> </a:t>
            </a:r>
            <a:r>
              <a:rPr lang="en-US" sz="2000" dirty="0" err="1">
                <a:latin typeface="Courier New" panose="02070609020205020404" pitchFamily="49" charset="0"/>
                <a:cs typeface="Courier New" panose="02070609020205020404" pitchFamily="49" charset="0"/>
              </a:rPr>
              <a:t>waitpid</a:t>
            </a:r>
            <a:r>
              <a:rPr lang="en-US" sz="2000" dirty="0">
                <a:latin typeface="Courier New" panose="02070609020205020404" pitchFamily="49" charset="0"/>
                <a:cs typeface="Courier New" panose="02070609020205020404" pitchFamily="49" charset="0"/>
              </a:rPr>
              <a:t>(</a:t>
            </a:r>
            <a:r>
              <a:rPr lang="en-US" sz="2000" dirty="0" err="1">
                <a:latin typeface="Courier New" panose="02070609020205020404" pitchFamily="49" charset="0"/>
                <a:cs typeface="Courier New" panose="02070609020205020404" pitchFamily="49" charset="0"/>
              </a:rPr>
              <a:t>pid_t</a:t>
            </a:r>
            <a:r>
              <a:rPr lang="en-US" sz="2000" dirty="0">
                <a:latin typeface="Courier New" panose="02070609020205020404" pitchFamily="49" charset="0"/>
                <a:cs typeface="Courier New" panose="02070609020205020404" pitchFamily="49" charset="0"/>
              </a:rPr>
              <a:t> </a:t>
            </a:r>
            <a:r>
              <a:rPr lang="en-US" sz="2000" dirty="0" err="1">
                <a:latin typeface="Courier New" panose="02070609020205020404" pitchFamily="49" charset="0"/>
                <a:cs typeface="Courier New" panose="02070609020205020404" pitchFamily="49" charset="0"/>
              </a:rPr>
              <a:t>pid</a:t>
            </a:r>
            <a:r>
              <a:rPr lang="en-US" sz="2000" dirty="0">
                <a:latin typeface="Courier New" panose="02070609020205020404" pitchFamily="49" charset="0"/>
                <a:cs typeface="Courier New" panose="02070609020205020404" pitchFamily="49" charset="0"/>
              </a:rPr>
              <a:t>, </a:t>
            </a:r>
            <a:r>
              <a:rPr lang="en-US" sz="2000" dirty="0" err="1">
                <a:latin typeface="Courier New" panose="02070609020205020404" pitchFamily="49" charset="0"/>
                <a:cs typeface="Courier New" panose="02070609020205020404" pitchFamily="49" charset="0"/>
              </a:rPr>
              <a:t>int</a:t>
            </a:r>
            <a:r>
              <a:rPr lang="en-US" sz="2000" dirty="0">
                <a:latin typeface="Courier New" panose="02070609020205020404" pitchFamily="49" charset="0"/>
                <a:cs typeface="Courier New" panose="02070609020205020404" pitchFamily="49" charset="0"/>
              </a:rPr>
              <a:t> &amp;status, </a:t>
            </a:r>
            <a:r>
              <a:rPr lang="en-US" sz="2000" dirty="0" err="1">
                <a:latin typeface="Courier New" panose="02070609020205020404" pitchFamily="49" charset="0"/>
                <a:cs typeface="Courier New" panose="02070609020205020404" pitchFamily="49" charset="0"/>
              </a:rPr>
              <a:t>int</a:t>
            </a:r>
            <a:r>
              <a:rPr lang="en-US" sz="2000" dirty="0">
                <a:latin typeface="Courier New" panose="02070609020205020404" pitchFamily="49" charset="0"/>
                <a:cs typeface="Courier New" panose="02070609020205020404" pitchFamily="49" charset="0"/>
              </a:rPr>
              <a:t> options)</a:t>
            </a:r>
            <a:endParaRPr lang="en-US" sz="2000" dirty="0">
              <a:latin typeface="Courier New" panose="02070609020205020404" pitchFamily="49" charset="0"/>
              <a:cs typeface="Courier New" panose="02070609020205020404" pitchFamily="49" charset="0"/>
            </a:endParaRPr>
          </a:p>
          <a:p>
            <a:pPr lvl="1"/>
            <a:r>
              <a:rPr lang="zh-CN" altLang="en-US"/>
              <a:t>挂起当前进程，直到特定进程终止</a:t>
            </a:r>
            <a:endParaRPr lang="en-US" dirty="0">
              <a:latin typeface="Consolas" panose="020B0609020204030204" pitchFamily="49" charset="0"/>
              <a:cs typeface="Consolas" panose="020B0609020204030204" pitchFamily="49" charset="0"/>
            </a:endParaRPr>
          </a:p>
          <a:p>
            <a:pPr lvl="1"/>
            <a:r>
              <a:rPr lang="zh-CN" altLang="en-US" dirty="0">
                <a:latin typeface="Consolas" panose="020B0609020204030204" pitchFamily="49" charset="0"/>
                <a:cs typeface="Consolas" panose="020B0609020204030204" pitchFamily="49" charset="0"/>
              </a:rPr>
              <a:t>各种选项（见教科书）</a:t>
            </a:r>
            <a:endParaRPr lang="zh-CN" altLang="en-US" dirty="0">
              <a:latin typeface="Consolas" panose="020B0609020204030204" pitchFamily="49" charset="0"/>
              <a:cs typeface="Consolas" panose="020B0609020204030204" pitchFamily="49" charset="0"/>
            </a:endParaRPr>
          </a:p>
        </p:txBody>
      </p:sp>
      <p:sp>
        <p:nvSpPr>
          <p:cNvPr id="501764" name="Text Box 4"/>
          <p:cNvSpPr txBox="1">
            <a:spLocks noChangeArrowheads="1"/>
          </p:cNvSpPr>
          <p:nvPr/>
        </p:nvSpPr>
        <p:spPr bwMode="auto">
          <a:xfrm>
            <a:off x="990910" y="2287588"/>
            <a:ext cx="8132135" cy="4276725"/>
          </a:xfrm>
          <a:prstGeom prst="rect">
            <a:avLst/>
          </a:prstGeom>
          <a:solidFill>
            <a:srgbClr val="F6F5BD"/>
          </a:solidFill>
          <a:ln w="3175">
            <a:solidFill>
              <a:schemeClr val="tx1"/>
            </a:solidFill>
            <a:miter lim="800000"/>
          </a:ln>
          <a:effectLst/>
        </p:spPr>
        <p:txBody>
          <a:bodyPr wrap="square">
            <a:spAutoFit/>
          </a:bodyPr>
          <a:lstStyle/>
          <a:p>
            <a:r>
              <a:rPr lang="en-US" sz="1600" dirty="0">
                <a:solidFill>
                  <a:srgbClr val="2D961E"/>
                </a:solidFill>
                <a:latin typeface="Menlo-Regular" panose="020B0609030804020204" charset="0"/>
                <a:cs typeface="Menlo-Regular" panose="020B0609030804020204" charset="0"/>
              </a:rPr>
              <a:t>void</a:t>
            </a:r>
            <a:r>
              <a:rPr lang="en-US" sz="1600" dirty="0">
                <a:solidFill>
                  <a:srgbClr val="000000"/>
                </a:solidFill>
                <a:latin typeface="Menlo-Regular" panose="020B0609030804020204" charset="0"/>
                <a:cs typeface="Menlo-Regular" panose="020B0609030804020204" charset="0"/>
              </a:rPr>
              <a:t> </a:t>
            </a:r>
            <a:r>
              <a:rPr lang="en-US" sz="1600" dirty="0">
                <a:solidFill>
                  <a:srgbClr val="4A00FF"/>
                </a:solidFill>
                <a:latin typeface="Menlo-Regular" panose="020B0609030804020204" charset="0"/>
                <a:cs typeface="Menlo-Regular" panose="020B0609030804020204" charset="0"/>
              </a:rPr>
              <a:t>fork11</a:t>
            </a:r>
            <a:r>
              <a:rPr lang="en-US" sz="1600" dirty="0">
                <a:solidFill>
                  <a:srgbClr val="000000"/>
                </a:solidFill>
                <a:latin typeface="Menlo-Regular" panose="020B0609030804020204" charset="0"/>
                <a:cs typeface="Menlo-Regular" panose="020B0609030804020204" charset="0"/>
              </a:rPr>
              <a:t>() {</a:t>
            </a:r>
            <a:endParaRPr lang="en-US" sz="1600" dirty="0">
              <a:solidFill>
                <a:srgbClr val="000000"/>
              </a:solidFill>
              <a:latin typeface="Menlo-Regular" panose="020B0609030804020204" charset="0"/>
              <a:cs typeface="Menlo-Regular" panose="020B0609030804020204" charset="0"/>
            </a:endParaRPr>
          </a:p>
          <a:p>
            <a:r>
              <a:rPr lang="fi-FI" sz="1600" dirty="0">
                <a:solidFill>
                  <a:srgbClr val="000000"/>
                </a:solidFill>
                <a:latin typeface="Menlo-Regular" panose="020B0609030804020204" charset="0"/>
                <a:cs typeface="Menlo-Regular" panose="020B0609030804020204" charset="0"/>
              </a:rPr>
              <a:t>    </a:t>
            </a:r>
            <a:r>
              <a:rPr lang="fi-FI" sz="1600" dirty="0" err="1">
                <a:solidFill>
                  <a:srgbClr val="2D961E"/>
                </a:solidFill>
                <a:latin typeface="Menlo-Regular" panose="020B0609030804020204" charset="0"/>
                <a:cs typeface="Menlo-Regular" panose="020B0609030804020204" charset="0"/>
              </a:rPr>
              <a:t>pid_t</a:t>
            </a:r>
            <a:r>
              <a:rPr lang="fi-FI" sz="1600" dirty="0">
                <a:solidFill>
                  <a:srgbClr val="000000"/>
                </a:solidFill>
                <a:latin typeface="Menlo-Regular" panose="020B0609030804020204" charset="0"/>
                <a:cs typeface="Menlo-Regular" panose="020B0609030804020204" charset="0"/>
              </a:rPr>
              <a:t> </a:t>
            </a:r>
            <a:r>
              <a:rPr lang="fi-FI" sz="1600" dirty="0" err="1">
                <a:solidFill>
                  <a:srgbClr val="C1651C"/>
                </a:solidFill>
                <a:latin typeface="Menlo-Regular" panose="020B0609030804020204" charset="0"/>
                <a:cs typeface="Menlo-Regular" panose="020B0609030804020204" charset="0"/>
              </a:rPr>
              <a:t>pid</a:t>
            </a:r>
            <a:r>
              <a:rPr lang="fi-FI" sz="1600" dirty="0" err="1">
                <a:solidFill>
                  <a:srgbClr val="000000"/>
                </a:solidFill>
                <a:latin typeface="Menlo-Regular" panose="020B0609030804020204" charset="0"/>
                <a:cs typeface="Menlo-Regular" panose="020B0609030804020204" charset="0"/>
              </a:rPr>
              <a:t>[N</a:t>
            </a:r>
            <a:r>
              <a:rPr lang="fi-FI" sz="1600" dirty="0">
                <a:solidFill>
                  <a:srgbClr val="000000"/>
                </a:solidFill>
                <a:latin typeface="Menlo-Regular" panose="020B0609030804020204" charset="0"/>
                <a:cs typeface="Menlo-Regular" panose="020B0609030804020204" charset="0"/>
              </a:rPr>
              <a:t>];</a:t>
            </a:r>
            <a:endParaRPr lang="fi-FI" sz="1600" dirty="0">
              <a:solidFill>
                <a:srgbClr val="000000"/>
              </a:solidFill>
              <a:latin typeface="Menlo-Regular" panose="020B0609030804020204" charset="0"/>
              <a:cs typeface="Menlo-Regular" panose="020B0609030804020204" charset="0"/>
            </a:endParaRPr>
          </a:p>
          <a:p>
            <a:r>
              <a:rPr lang="fr-FR" sz="1600" dirty="0">
                <a:solidFill>
                  <a:srgbClr val="000000"/>
                </a:solidFill>
                <a:latin typeface="Menlo-Regular" panose="020B0609030804020204" charset="0"/>
                <a:cs typeface="Menlo-Regular" panose="020B0609030804020204" charset="0"/>
              </a:rPr>
              <a:t>    </a:t>
            </a:r>
            <a:r>
              <a:rPr lang="fr-FR" sz="1600" dirty="0" err="1">
                <a:solidFill>
                  <a:srgbClr val="2D961E"/>
                </a:solidFill>
                <a:latin typeface="Menlo-Regular" panose="020B0609030804020204" charset="0"/>
                <a:cs typeface="Menlo-Regular" panose="020B0609030804020204" charset="0"/>
              </a:rPr>
              <a:t>int</a:t>
            </a:r>
            <a:r>
              <a:rPr lang="fr-FR" sz="1600" dirty="0">
                <a:solidFill>
                  <a:srgbClr val="000000"/>
                </a:solidFill>
                <a:latin typeface="Menlo-Regular" panose="020B0609030804020204" charset="0"/>
                <a:cs typeface="Menlo-Regular" panose="020B0609030804020204" charset="0"/>
              </a:rPr>
              <a:t> </a:t>
            </a:r>
            <a:r>
              <a:rPr lang="fr-FR" sz="1600" dirty="0">
                <a:solidFill>
                  <a:srgbClr val="C1651C"/>
                </a:solidFill>
                <a:latin typeface="Menlo-Regular" panose="020B0609030804020204" charset="0"/>
                <a:cs typeface="Menlo-Regular" panose="020B0609030804020204" charset="0"/>
              </a:rPr>
              <a:t>i</a:t>
            </a:r>
            <a:r>
              <a:rPr lang="fr-FR" sz="1600" dirty="0">
                <a:solidFill>
                  <a:srgbClr val="000000"/>
                </a:solidFill>
                <a:latin typeface="Menlo-Regular" panose="020B0609030804020204" charset="0"/>
                <a:cs typeface="Menlo-Regular" panose="020B0609030804020204" charset="0"/>
              </a:rPr>
              <a:t>;</a:t>
            </a:r>
            <a:endParaRPr lang="fr-FR" sz="1600" dirty="0">
              <a:solidFill>
                <a:srgbClr val="000000"/>
              </a:solidFill>
              <a:latin typeface="Menlo-Regular" panose="020B0609030804020204" charset="0"/>
              <a:cs typeface="Menlo-Regular" panose="020B0609030804020204" charset="0"/>
            </a:endParaRPr>
          </a:p>
          <a:p>
            <a:r>
              <a:rPr lang="fr-FR" sz="1600" dirty="0">
                <a:solidFill>
                  <a:srgbClr val="000000"/>
                </a:solidFill>
                <a:latin typeface="Menlo-Regular" panose="020B0609030804020204" charset="0"/>
                <a:cs typeface="Menlo-Regular" panose="020B0609030804020204" charset="0"/>
              </a:rPr>
              <a:t>    </a:t>
            </a:r>
            <a:r>
              <a:rPr lang="fr-FR" sz="1600" dirty="0" err="1">
                <a:solidFill>
                  <a:srgbClr val="2D961E"/>
                </a:solidFill>
                <a:latin typeface="Menlo-Regular" panose="020B0609030804020204" charset="0"/>
                <a:cs typeface="Menlo-Regular" panose="020B0609030804020204" charset="0"/>
              </a:rPr>
              <a:t>int</a:t>
            </a:r>
            <a:r>
              <a:rPr lang="fr-FR" sz="1600" dirty="0">
                <a:solidFill>
                  <a:srgbClr val="000000"/>
                </a:solidFill>
                <a:latin typeface="Menlo-Regular" panose="020B0609030804020204" charset="0"/>
                <a:cs typeface="Menlo-Regular" panose="020B0609030804020204" charset="0"/>
              </a:rPr>
              <a:t> </a:t>
            </a:r>
            <a:r>
              <a:rPr lang="fr-FR" sz="1600" dirty="0" err="1">
                <a:solidFill>
                  <a:srgbClr val="C1651C"/>
                </a:solidFill>
                <a:latin typeface="Menlo-Regular" panose="020B0609030804020204" charset="0"/>
                <a:cs typeface="Menlo-Regular" panose="020B0609030804020204" charset="0"/>
              </a:rPr>
              <a:t>child_status</a:t>
            </a:r>
            <a:r>
              <a:rPr lang="fr-FR" sz="1600" dirty="0">
                <a:solidFill>
                  <a:srgbClr val="000000"/>
                </a:solidFill>
                <a:latin typeface="Menlo-Regular" panose="020B0609030804020204" charset="0"/>
                <a:cs typeface="Menlo-Regular" panose="020B0609030804020204" charset="0"/>
              </a:rPr>
              <a:t>;</a:t>
            </a:r>
            <a:endParaRPr lang="fr-FR" sz="1600" dirty="0">
              <a:solidFill>
                <a:srgbClr val="000000"/>
              </a:solidFill>
              <a:latin typeface="Menlo-Regular" panose="020B0609030804020204" charset="0"/>
              <a:cs typeface="Menlo-Regular" panose="020B0609030804020204" charset="0"/>
            </a:endParaRPr>
          </a:p>
          <a:p>
            <a:endParaRPr lang="fr-FR" sz="1600" dirty="0">
              <a:solidFill>
                <a:srgbClr val="000000"/>
              </a:solidFill>
              <a:latin typeface="Menlo-Regular" panose="020B0609030804020204" charset="0"/>
              <a:cs typeface="Menlo-Regular" panose="020B0609030804020204" charset="0"/>
            </a:endParaRPr>
          </a:p>
          <a:p>
            <a:r>
              <a:rPr lang="da-DK" sz="1600" dirty="0">
                <a:solidFill>
                  <a:srgbClr val="000000"/>
                </a:solidFill>
                <a:latin typeface="Menlo-Regular" panose="020B0609030804020204" charset="0"/>
                <a:cs typeface="Menlo-Regular" panose="020B0609030804020204" charset="0"/>
              </a:rPr>
              <a:t>    </a:t>
            </a:r>
            <a:r>
              <a:rPr lang="da-DK" sz="1600" dirty="0">
                <a:solidFill>
                  <a:srgbClr val="C200FF"/>
                </a:solidFill>
                <a:latin typeface="Menlo-Regular" panose="020B0609030804020204" charset="0"/>
                <a:cs typeface="Menlo-Regular" panose="020B0609030804020204" charset="0"/>
              </a:rPr>
              <a:t>for</a:t>
            </a:r>
            <a:r>
              <a:rPr lang="da-DK" sz="1600" dirty="0">
                <a:solidFill>
                  <a:srgbClr val="000000"/>
                </a:solidFill>
                <a:latin typeface="Menlo-Regular" panose="020B0609030804020204" charset="0"/>
                <a:cs typeface="Menlo-Regular" panose="020B0609030804020204" charset="0"/>
              </a:rPr>
              <a:t> (i = 0; i &lt; N; i++)</a:t>
            </a:r>
            <a:endParaRPr lang="da-DK" sz="1600" dirty="0">
              <a:solidFill>
                <a:srgbClr val="000000"/>
              </a:solidFill>
              <a:latin typeface="Menlo-Regular" panose="020B0609030804020204" charset="0"/>
              <a:cs typeface="Menlo-Regular" panose="020B0609030804020204" charset="0"/>
            </a:endParaRPr>
          </a:p>
          <a:p>
            <a:r>
              <a:rPr lang="nb-NO" sz="1600" dirty="0">
                <a:solidFill>
                  <a:srgbClr val="000000"/>
                </a:solidFill>
                <a:latin typeface="Menlo-Regular" panose="020B0609030804020204" charset="0"/>
                <a:cs typeface="Menlo-Regular" panose="020B0609030804020204" charset="0"/>
              </a:rPr>
              <a:t>        </a:t>
            </a:r>
            <a:r>
              <a:rPr lang="nb-NO" sz="1600" dirty="0" err="1">
                <a:solidFill>
                  <a:srgbClr val="C200FF"/>
                </a:solidFill>
                <a:latin typeface="Menlo-Regular" panose="020B0609030804020204" charset="0"/>
                <a:cs typeface="Menlo-Regular" panose="020B0609030804020204" charset="0"/>
              </a:rPr>
              <a:t>if</a:t>
            </a:r>
            <a:r>
              <a:rPr lang="nb-NO" sz="1600" dirty="0">
                <a:solidFill>
                  <a:srgbClr val="000000"/>
                </a:solidFill>
                <a:latin typeface="Menlo-Regular" panose="020B0609030804020204" charset="0"/>
                <a:cs typeface="Menlo-Regular" panose="020B0609030804020204" charset="0"/>
              </a:rPr>
              <a:t> ((</a:t>
            </a:r>
            <a:r>
              <a:rPr lang="nb-NO" sz="1600" dirty="0" err="1">
                <a:solidFill>
                  <a:srgbClr val="000000"/>
                </a:solidFill>
                <a:latin typeface="Menlo-Regular" panose="020B0609030804020204" charset="0"/>
                <a:cs typeface="Menlo-Regular" panose="020B0609030804020204" charset="0"/>
              </a:rPr>
              <a:t>pid</a:t>
            </a:r>
            <a:r>
              <a:rPr lang="nb-NO" sz="1600" dirty="0">
                <a:solidFill>
                  <a:srgbClr val="000000"/>
                </a:solidFill>
                <a:latin typeface="Menlo-Regular" panose="020B0609030804020204" charset="0"/>
                <a:cs typeface="Menlo-Regular" panose="020B0609030804020204" charset="0"/>
              </a:rPr>
              <a:t>[i] = fork()) == 0)</a:t>
            </a:r>
            <a:endParaRPr lang="nb-NO" sz="1600" dirty="0">
              <a:solidFill>
                <a:srgbClr val="000000"/>
              </a:solidFill>
              <a:latin typeface="Menlo-Regular" panose="020B0609030804020204" charset="0"/>
              <a:cs typeface="Menlo-Regular" panose="020B0609030804020204" charset="0"/>
            </a:endParaRPr>
          </a:p>
          <a:p>
            <a:r>
              <a:rPr lang="nb-NO" sz="1600" dirty="0">
                <a:solidFill>
                  <a:srgbClr val="000000"/>
                </a:solidFill>
                <a:latin typeface="Menlo-Regular" panose="020B0609030804020204" charset="0"/>
                <a:cs typeface="Menlo-Regular" panose="020B0609030804020204" charset="0"/>
              </a:rPr>
              <a:t>            exit(100+i); </a:t>
            </a:r>
            <a:r>
              <a:rPr lang="nb-NO" sz="1600" dirty="0">
                <a:solidFill>
                  <a:srgbClr val="CB2418"/>
                </a:solidFill>
                <a:latin typeface="Menlo-Regular" panose="020B0609030804020204" charset="0"/>
                <a:cs typeface="Menlo-Regular" panose="020B0609030804020204" charset="0"/>
              </a:rPr>
              <a:t>/* Child */</a:t>
            </a:r>
            <a:endParaRPr lang="nb-NO" sz="1600" dirty="0">
              <a:solidFill>
                <a:srgbClr val="000000"/>
              </a:solidFill>
              <a:latin typeface="Menlo-Regular" panose="020B0609030804020204" charset="0"/>
              <a:cs typeface="Menlo-Regular" panose="020B0609030804020204" charset="0"/>
            </a:endParaRPr>
          </a:p>
          <a:p>
            <a:r>
              <a:rPr lang="da-DK" sz="1600" dirty="0">
                <a:solidFill>
                  <a:srgbClr val="000000"/>
                </a:solidFill>
                <a:latin typeface="Menlo-Regular" panose="020B0609030804020204" charset="0"/>
                <a:cs typeface="Menlo-Regular" panose="020B0609030804020204" charset="0"/>
              </a:rPr>
              <a:t>    </a:t>
            </a:r>
            <a:r>
              <a:rPr lang="da-DK" sz="1600" dirty="0">
                <a:solidFill>
                  <a:srgbClr val="C200FF"/>
                </a:solidFill>
                <a:latin typeface="Menlo-Regular" panose="020B0609030804020204" charset="0"/>
                <a:cs typeface="Menlo-Regular" panose="020B0609030804020204" charset="0"/>
              </a:rPr>
              <a:t>for</a:t>
            </a:r>
            <a:r>
              <a:rPr lang="da-DK" sz="1600" dirty="0">
                <a:solidFill>
                  <a:srgbClr val="000000"/>
                </a:solidFill>
                <a:latin typeface="Menlo-Regular" panose="020B0609030804020204" charset="0"/>
                <a:cs typeface="Menlo-Regular" panose="020B0609030804020204" charset="0"/>
              </a:rPr>
              <a:t> (i = N-1; i &gt;= 0; i--) {</a:t>
            </a:r>
            <a:endParaRPr lang="da-DK" sz="1600" dirty="0">
              <a:solidFill>
                <a:srgbClr val="000000"/>
              </a:solidFill>
              <a:latin typeface="Menlo-Regular" panose="020B0609030804020204" charset="0"/>
              <a:cs typeface="Menlo-Regular" panose="020B0609030804020204" charset="0"/>
            </a:endParaRPr>
          </a:p>
          <a:p>
            <a:r>
              <a:rPr lang="da-DK" sz="1600" dirty="0">
                <a:solidFill>
                  <a:srgbClr val="000000"/>
                </a:solidFill>
                <a:latin typeface="Menlo-Regular" panose="020B0609030804020204" charset="0"/>
                <a:cs typeface="Menlo-Regular" panose="020B0609030804020204" charset="0"/>
              </a:rPr>
              <a:t>        </a:t>
            </a:r>
            <a:r>
              <a:rPr lang="da-DK" sz="1600" dirty="0" err="1">
                <a:solidFill>
                  <a:srgbClr val="2D961E"/>
                </a:solidFill>
                <a:latin typeface="Menlo-Regular" panose="020B0609030804020204" charset="0"/>
                <a:cs typeface="Menlo-Regular" panose="020B0609030804020204" charset="0"/>
              </a:rPr>
              <a:t>pid_t</a:t>
            </a:r>
            <a:r>
              <a:rPr lang="da-DK" sz="1600" dirty="0">
                <a:solidFill>
                  <a:srgbClr val="000000"/>
                </a:solidFill>
                <a:latin typeface="Menlo-Regular" panose="020B0609030804020204" charset="0"/>
                <a:cs typeface="Menlo-Regular" panose="020B0609030804020204" charset="0"/>
              </a:rPr>
              <a:t> </a:t>
            </a:r>
            <a:r>
              <a:rPr lang="da-DK" sz="1600" dirty="0" err="1">
                <a:solidFill>
                  <a:srgbClr val="C1651C"/>
                </a:solidFill>
                <a:latin typeface="Menlo-Regular" panose="020B0609030804020204" charset="0"/>
                <a:cs typeface="Menlo-Regular" panose="020B0609030804020204" charset="0"/>
              </a:rPr>
              <a:t>wpid</a:t>
            </a:r>
            <a:r>
              <a:rPr lang="da-DK" sz="1600" dirty="0">
                <a:solidFill>
                  <a:srgbClr val="000000"/>
                </a:solidFill>
                <a:latin typeface="Menlo-Regular" panose="020B0609030804020204" charset="0"/>
                <a:cs typeface="Menlo-Regular" panose="020B0609030804020204" charset="0"/>
              </a:rPr>
              <a:t> = </a:t>
            </a:r>
            <a:r>
              <a:rPr lang="da-DK" sz="1600" dirty="0" err="1">
                <a:solidFill>
                  <a:srgbClr val="000000"/>
                </a:solidFill>
                <a:latin typeface="Menlo-Regular" panose="020B0609030804020204" charset="0"/>
                <a:cs typeface="Menlo-Regular" panose="020B0609030804020204" charset="0"/>
              </a:rPr>
              <a:t>waitpid</a:t>
            </a:r>
            <a:r>
              <a:rPr lang="da-DK" sz="1600" dirty="0">
                <a:solidFill>
                  <a:srgbClr val="000000"/>
                </a:solidFill>
                <a:latin typeface="Menlo-Regular" panose="020B0609030804020204" charset="0"/>
                <a:cs typeface="Menlo-Regular" panose="020B0609030804020204" charset="0"/>
              </a:rPr>
              <a:t>(</a:t>
            </a:r>
            <a:r>
              <a:rPr lang="da-DK" sz="1600" dirty="0" err="1">
                <a:solidFill>
                  <a:srgbClr val="000000"/>
                </a:solidFill>
                <a:latin typeface="Menlo-Regular" panose="020B0609030804020204" charset="0"/>
                <a:cs typeface="Menlo-Regular" panose="020B0609030804020204" charset="0"/>
              </a:rPr>
              <a:t>pid</a:t>
            </a:r>
            <a:r>
              <a:rPr lang="da-DK" sz="1600" dirty="0">
                <a:solidFill>
                  <a:srgbClr val="000000"/>
                </a:solidFill>
                <a:latin typeface="Menlo-Regular" panose="020B0609030804020204" charset="0"/>
                <a:cs typeface="Menlo-Regular" panose="020B0609030804020204" charset="0"/>
              </a:rPr>
              <a:t>[i], &amp;</a:t>
            </a:r>
            <a:r>
              <a:rPr lang="da-DK" sz="1600" dirty="0" err="1">
                <a:solidFill>
                  <a:srgbClr val="000000"/>
                </a:solidFill>
                <a:latin typeface="Menlo-Regular" panose="020B0609030804020204" charset="0"/>
                <a:cs typeface="Menlo-Regular" panose="020B0609030804020204" charset="0"/>
              </a:rPr>
              <a:t>child_status</a:t>
            </a:r>
            <a:r>
              <a:rPr lang="da-DK" sz="1600" dirty="0">
                <a:solidFill>
                  <a:srgbClr val="000000"/>
                </a:solidFill>
                <a:latin typeface="Menlo-Regular" panose="020B0609030804020204" charset="0"/>
                <a:cs typeface="Menlo-Regular" panose="020B0609030804020204" charset="0"/>
              </a:rPr>
              <a:t>, 0);</a:t>
            </a:r>
            <a:endParaRPr lang="da-DK" sz="1600" dirty="0">
              <a:solidFill>
                <a:srgbClr val="000000"/>
              </a:solidFill>
              <a:latin typeface="Menlo-Regular" panose="020B0609030804020204" charset="0"/>
              <a:cs typeface="Menlo-Regular" panose="020B0609030804020204" charset="0"/>
            </a:endParaRPr>
          </a:p>
          <a:p>
            <a:r>
              <a:rPr lang="da-DK" sz="1600" dirty="0">
                <a:solidFill>
                  <a:srgbClr val="000000"/>
                </a:solidFill>
                <a:latin typeface="Menlo-Regular" panose="020B0609030804020204" charset="0"/>
                <a:cs typeface="Menlo-Regular" panose="020B0609030804020204" charset="0"/>
              </a:rPr>
              <a:t>        </a:t>
            </a:r>
            <a:r>
              <a:rPr lang="da-DK" sz="1600" dirty="0" err="1">
                <a:solidFill>
                  <a:srgbClr val="C200FF"/>
                </a:solidFill>
                <a:latin typeface="Menlo-Regular" panose="020B0609030804020204" charset="0"/>
                <a:cs typeface="Menlo-Regular" panose="020B0609030804020204" charset="0"/>
              </a:rPr>
              <a:t>if</a:t>
            </a:r>
            <a:r>
              <a:rPr lang="da-DK" sz="1600" dirty="0">
                <a:solidFill>
                  <a:srgbClr val="000000"/>
                </a:solidFill>
                <a:latin typeface="Menlo-Regular" panose="020B0609030804020204" charset="0"/>
                <a:cs typeface="Menlo-Regular" panose="020B0609030804020204" charset="0"/>
              </a:rPr>
              <a:t> (WIFEXITED(</a:t>
            </a:r>
            <a:r>
              <a:rPr lang="da-DK" sz="1600" dirty="0" err="1">
                <a:solidFill>
                  <a:srgbClr val="000000"/>
                </a:solidFill>
                <a:latin typeface="Menlo-Regular" panose="020B0609030804020204" charset="0"/>
                <a:cs typeface="Menlo-Regular" panose="020B0609030804020204" charset="0"/>
              </a:rPr>
              <a:t>child_status</a:t>
            </a:r>
            <a:r>
              <a:rPr lang="da-DK" sz="1600" dirty="0">
                <a:solidFill>
                  <a:srgbClr val="000000"/>
                </a:solidFill>
                <a:latin typeface="Menlo-Regular" panose="020B0609030804020204" charset="0"/>
                <a:cs typeface="Menlo-Regular" panose="020B0609030804020204" charset="0"/>
              </a:rPr>
              <a:t>))</a:t>
            </a:r>
            <a:endParaRPr lang="da-DK" sz="1600" dirty="0">
              <a:solidFill>
                <a:srgbClr val="000000"/>
              </a:solidFill>
              <a:latin typeface="Menlo-Regular" panose="020B0609030804020204" charset="0"/>
              <a:cs typeface="Menlo-Regular" panose="020B0609030804020204" charset="0"/>
            </a:endParaRPr>
          </a:p>
          <a:p>
            <a:r>
              <a:rPr lang="da-DK" sz="1600" dirty="0">
                <a:solidFill>
                  <a:srgbClr val="000000"/>
                </a:solidFill>
                <a:latin typeface="Menlo-Regular" panose="020B0609030804020204" charset="0"/>
                <a:cs typeface="Menlo-Regular" panose="020B0609030804020204" charset="0"/>
              </a:rPr>
              <a:t>            </a:t>
            </a:r>
            <a:r>
              <a:rPr lang="da-DK" sz="1600" dirty="0" err="1">
                <a:solidFill>
                  <a:srgbClr val="000000"/>
                </a:solidFill>
                <a:latin typeface="Menlo-Regular" panose="020B0609030804020204" charset="0"/>
                <a:cs typeface="Menlo-Regular" panose="020B0609030804020204" charset="0"/>
              </a:rPr>
              <a:t>printf</a:t>
            </a:r>
            <a:r>
              <a:rPr lang="da-DK" sz="1600" dirty="0">
                <a:solidFill>
                  <a:srgbClr val="000000"/>
                </a:solidFill>
                <a:latin typeface="Menlo-Regular" panose="020B0609030804020204" charset="0"/>
                <a:cs typeface="Menlo-Regular" panose="020B0609030804020204" charset="0"/>
              </a:rPr>
              <a:t>(</a:t>
            </a:r>
            <a:r>
              <a:rPr lang="da-DK" sz="1600" dirty="0">
                <a:solidFill>
                  <a:srgbClr val="9D206F"/>
                </a:solidFill>
                <a:latin typeface="Menlo-Regular" panose="020B0609030804020204" charset="0"/>
                <a:cs typeface="Menlo-Regular" panose="020B0609030804020204" charset="0"/>
              </a:rPr>
              <a:t>"Child %d </a:t>
            </a:r>
            <a:r>
              <a:rPr lang="da-DK" sz="1600" dirty="0" err="1">
                <a:solidFill>
                  <a:srgbClr val="9D206F"/>
                </a:solidFill>
                <a:latin typeface="Menlo-Regular" panose="020B0609030804020204" charset="0"/>
                <a:cs typeface="Menlo-Regular" panose="020B0609030804020204" charset="0"/>
              </a:rPr>
              <a:t>terminated</a:t>
            </a:r>
            <a:r>
              <a:rPr lang="da-DK" sz="1600" dirty="0">
                <a:solidFill>
                  <a:srgbClr val="9D206F"/>
                </a:solidFill>
                <a:latin typeface="Menlo-Regular" panose="020B0609030804020204" charset="0"/>
                <a:cs typeface="Menlo-Regular" panose="020B0609030804020204" charset="0"/>
              </a:rPr>
              <a:t> with exit status %d\n"</a:t>
            </a:r>
            <a:r>
              <a:rPr lang="da-DK" sz="1600" dirty="0">
                <a:solidFill>
                  <a:srgbClr val="000000"/>
                </a:solidFill>
                <a:latin typeface="Menlo-Regular" panose="020B0609030804020204" charset="0"/>
                <a:cs typeface="Menlo-Regular" panose="020B0609030804020204" charset="0"/>
              </a:rPr>
              <a:t>,</a:t>
            </a:r>
            <a:endParaRPr lang="da-DK" sz="1600" dirty="0">
              <a:solidFill>
                <a:srgbClr val="000000"/>
              </a:solidFill>
              <a:latin typeface="Menlo-Regular" panose="020B0609030804020204" charset="0"/>
              <a:cs typeface="Menlo-Regular" panose="020B0609030804020204" charset="0"/>
            </a:endParaRPr>
          </a:p>
          <a:p>
            <a:r>
              <a:rPr lang="pl-PL" sz="1600" dirty="0">
                <a:solidFill>
                  <a:srgbClr val="000000"/>
                </a:solidFill>
                <a:latin typeface="Menlo-Regular" panose="020B0609030804020204" charset="0"/>
                <a:cs typeface="Menlo-Regular" panose="020B0609030804020204" charset="0"/>
              </a:rPr>
              <a:t>                   </a:t>
            </a:r>
            <a:r>
              <a:rPr lang="pl-PL" sz="1600" dirty="0" err="1">
                <a:solidFill>
                  <a:srgbClr val="000000"/>
                </a:solidFill>
                <a:latin typeface="Menlo-Regular" panose="020B0609030804020204" charset="0"/>
                <a:cs typeface="Menlo-Regular" panose="020B0609030804020204" charset="0"/>
              </a:rPr>
              <a:t>wpid</a:t>
            </a:r>
            <a:r>
              <a:rPr lang="pl-PL" sz="1600" dirty="0">
                <a:solidFill>
                  <a:srgbClr val="000000"/>
                </a:solidFill>
                <a:latin typeface="Menlo-Regular" panose="020B0609030804020204" charset="0"/>
                <a:cs typeface="Menlo-Regular" panose="020B0609030804020204" charset="0"/>
              </a:rPr>
              <a:t>, WEXITSTATUS(</a:t>
            </a:r>
            <a:r>
              <a:rPr lang="pl-PL" sz="1600" dirty="0" err="1">
                <a:solidFill>
                  <a:srgbClr val="000000"/>
                </a:solidFill>
                <a:latin typeface="Menlo-Regular" panose="020B0609030804020204" charset="0"/>
                <a:cs typeface="Menlo-Regular" panose="020B0609030804020204" charset="0"/>
              </a:rPr>
              <a:t>child_status</a:t>
            </a:r>
            <a:r>
              <a:rPr lang="pl-PL" sz="1600" dirty="0">
                <a:solidFill>
                  <a:srgbClr val="000000"/>
                </a:solidFill>
                <a:latin typeface="Menlo-Regular" panose="020B0609030804020204" charset="0"/>
                <a:cs typeface="Menlo-Regular" panose="020B0609030804020204" charset="0"/>
              </a:rPr>
              <a:t>));</a:t>
            </a:r>
            <a:endParaRPr lang="pl-PL" sz="1600" dirty="0">
              <a:solidFill>
                <a:srgbClr val="000000"/>
              </a:solidFill>
              <a:latin typeface="Menlo-Regular" panose="020B0609030804020204" charset="0"/>
              <a:cs typeface="Menlo-Regular" panose="020B0609030804020204" charset="0"/>
            </a:endParaRPr>
          </a:p>
          <a:p>
            <a:r>
              <a:rPr lang="hu-HU" sz="1600" dirty="0">
                <a:solidFill>
                  <a:srgbClr val="000000"/>
                </a:solidFill>
                <a:latin typeface="Menlo-Regular" panose="020B0609030804020204" charset="0"/>
                <a:cs typeface="Menlo-Regular" panose="020B0609030804020204" charset="0"/>
              </a:rPr>
              <a:t>        </a:t>
            </a:r>
            <a:r>
              <a:rPr lang="hu-HU" sz="1600" dirty="0">
                <a:solidFill>
                  <a:srgbClr val="C200FF"/>
                </a:solidFill>
                <a:latin typeface="Menlo-Regular" panose="020B0609030804020204" charset="0"/>
                <a:cs typeface="Menlo-Regular" panose="020B0609030804020204" charset="0"/>
              </a:rPr>
              <a:t>else</a:t>
            </a:r>
            <a:endParaRPr lang="hu-HU" sz="1600" dirty="0">
              <a:solidFill>
                <a:srgbClr val="000000"/>
              </a:solidFill>
              <a:latin typeface="Menlo-Regular" panose="020B0609030804020204" charset="0"/>
              <a:cs typeface="Menlo-Regular" panose="020B0609030804020204" charset="0"/>
            </a:endParaRPr>
          </a:p>
          <a:p>
            <a:r>
              <a:rPr lang="en-US" sz="1600" dirty="0">
                <a:solidFill>
                  <a:srgbClr val="000000"/>
                </a:solidFill>
                <a:latin typeface="Menlo-Regular" panose="020B0609030804020204" charset="0"/>
                <a:cs typeface="Menlo-Regular" panose="020B0609030804020204" charset="0"/>
              </a:rPr>
              <a:t>            </a:t>
            </a:r>
            <a:r>
              <a:rPr lang="en-US" sz="1600" dirty="0" err="1">
                <a:solidFill>
                  <a:srgbClr val="000000"/>
                </a:solidFill>
                <a:latin typeface="Menlo-Regular" panose="020B0609030804020204" charset="0"/>
                <a:cs typeface="Menlo-Regular" panose="020B0609030804020204" charset="0"/>
              </a:rPr>
              <a:t>printf</a:t>
            </a:r>
            <a:r>
              <a:rPr lang="en-US" sz="1600" dirty="0">
                <a:solidFill>
                  <a:srgbClr val="000000"/>
                </a:solidFill>
                <a:latin typeface="Menlo-Regular" panose="020B0609030804020204" charset="0"/>
                <a:cs typeface="Menlo-Regular" panose="020B0609030804020204" charset="0"/>
              </a:rPr>
              <a:t>(</a:t>
            </a:r>
            <a:r>
              <a:rPr lang="en-US" sz="1600" dirty="0">
                <a:solidFill>
                  <a:srgbClr val="9D206F"/>
                </a:solidFill>
                <a:latin typeface="Menlo-Regular" panose="020B0609030804020204" charset="0"/>
                <a:cs typeface="Menlo-Regular" panose="020B0609030804020204" charset="0"/>
              </a:rPr>
              <a:t>"Child %d terminate abnormally\n"</a:t>
            </a:r>
            <a:r>
              <a:rPr lang="en-US" sz="1600" dirty="0">
                <a:solidFill>
                  <a:srgbClr val="000000"/>
                </a:solidFill>
                <a:latin typeface="Menlo-Regular" panose="020B0609030804020204" charset="0"/>
                <a:cs typeface="Menlo-Regular" panose="020B0609030804020204" charset="0"/>
              </a:rPr>
              <a:t>, </a:t>
            </a:r>
            <a:r>
              <a:rPr lang="en-US" sz="1600" dirty="0" err="1">
                <a:solidFill>
                  <a:srgbClr val="000000"/>
                </a:solidFill>
                <a:latin typeface="Menlo-Regular" panose="020B0609030804020204" charset="0"/>
                <a:cs typeface="Menlo-Regular" panose="020B0609030804020204" charset="0"/>
              </a:rPr>
              <a:t>wpid</a:t>
            </a:r>
            <a:r>
              <a:rPr lang="en-US" sz="1600" dirty="0">
                <a:solidFill>
                  <a:srgbClr val="000000"/>
                </a:solidFill>
                <a:latin typeface="Menlo-Regular" panose="020B0609030804020204" charset="0"/>
                <a:cs typeface="Menlo-Regular" panose="020B0609030804020204" charset="0"/>
              </a:rPr>
              <a:t>);</a:t>
            </a:r>
            <a:endParaRPr lang="en-US" sz="1600" dirty="0">
              <a:solidFill>
                <a:srgbClr val="000000"/>
              </a:solidFill>
              <a:latin typeface="Menlo-Regular" panose="020B0609030804020204" charset="0"/>
              <a:cs typeface="Menlo-Regular" panose="020B0609030804020204" charset="0"/>
            </a:endParaRPr>
          </a:p>
          <a:p>
            <a:r>
              <a:rPr lang="en-US" sz="1600" dirty="0">
                <a:solidFill>
                  <a:srgbClr val="000000"/>
                </a:solidFill>
                <a:latin typeface="Menlo-Regular" panose="020B0609030804020204" charset="0"/>
                <a:cs typeface="Menlo-Regular" panose="020B0609030804020204" charset="0"/>
              </a:rPr>
              <a:t>    }</a:t>
            </a:r>
            <a:endParaRPr lang="en-US" sz="1600" dirty="0">
              <a:solidFill>
                <a:srgbClr val="000000"/>
              </a:solidFill>
              <a:latin typeface="Menlo-Regular" panose="020B0609030804020204" charset="0"/>
              <a:cs typeface="Menlo-Regular" panose="020B0609030804020204" charset="0"/>
            </a:endParaRPr>
          </a:p>
          <a:p>
            <a:r>
              <a:rPr lang="en-US" sz="1600" dirty="0">
                <a:solidFill>
                  <a:srgbClr val="000000"/>
                </a:solidFill>
                <a:latin typeface="Menlo-Regular" panose="020B0609030804020204" charset="0"/>
                <a:cs typeface="Menlo-Regular" panose="020B0609030804020204" charset="0"/>
              </a:rPr>
              <a:t>}</a:t>
            </a:r>
            <a:endParaRPr lang="en-US" sz="1600" dirty="0">
              <a:solidFill>
                <a:srgbClr val="000000"/>
              </a:solidFill>
              <a:latin typeface="Menlo-Regular" panose="020B0609030804020204" charset="0"/>
              <a:cs typeface="Menlo-Regular" panose="020B0609030804020204" charset="0"/>
            </a:endParaRPr>
          </a:p>
        </p:txBody>
      </p:sp>
      <p:sp>
        <p:nvSpPr>
          <p:cNvPr id="5" name="Rectangle 3"/>
          <p:cNvSpPr>
            <a:spLocks noChangeArrowheads="1"/>
          </p:cNvSpPr>
          <p:nvPr/>
        </p:nvSpPr>
        <p:spPr bwMode="auto">
          <a:xfrm>
            <a:off x="8377857" y="6211888"/>
            <a:ext cx="1139190" cy="352425"/>
          </a:xfrm>
          <a:prstGeom prst="rect">
            <a:avLst/>
          </a:prstGeom>
          <a:noFill/>
          <a:ln w="3240">
            <a:noFill/>
            <a:miter lim="800000"/>
          </a:ln>
          <a:effectLst/>
        </p:spPr>
        <p:txBody>
          <a:bodyPr wrap="none" lIns="90000" tIns="46800" rIns="90000" bIns="46800">
            <a:spAutoFit/>
          </a:bodyPr>
          <a:lstStyle/>
          <a:p>
            <a:pPr algn="l">
              <a:lnSpc>
                <a:spcPct val="94000"/>
              </a:lnSpc>
              <a:buClrTx/>
              <a:buSz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err="1">
                <a:solidFill>
                  <a:schemeClr val="tx1">
                    <a:lumMod val="50000"/>
                    <a:lumOff val="50000"/>
                  </a:schemeClr>
                </a:solidFill>
                <a:latin typeface="Courier New" panose="02070609020205020404" pitchFamily="49" charset="0"/>
                <a:ea typeface="msgothic" charset="0"/>
                <a:cs typeface="msgothic" charset="0"/>
              </a:rPr>
              <a:t>forks.c</a:t>
            </a:r>
            <a:endParaRPr lang="en-GB" sz="1800" i="1" dirty="0" err="1">
              <a:solidFill>
                <a:schemeClr val="tx1">
                  <a:lumMod val="50000"/>
                  <a:lumOff val="50000"/>
                </a:schemeClr>
              </a:solidFill>
              <a:latin typeface="Courier New" panose="02070609020205020404" pitchFamily="49" charset="0"/>
              <a:ea typeface="msgothic" charset="0"/>
              <a:cs typeface="msgothic" charset="0"/>
            </a:endParaRPr>
          </a:p>
        </p:txBody>
      </p:sp>
      <p:pic>
        <p:nvPicPr>
          <p:cNvPr id="2" name="图片 1"/>
          <p:cNvPicPr>
            <a:picLocks noChangeAspect="1"/>
          </p:cNvPicPr>
          <p:nvPr/>
        </p:nvPicPr>
        <p:blipFill>
          <a:blip r:embed="rId1"/>
          <a:stretch>
            <a:fillRect/>
          </a:stretch>
        </p:blipFill>
        <p:spPr>
          <a:xfrm>
            <a:off x="8102600" y="1600200"/>
            <a:ext cx="4089400" cy="32766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fork11</a:t>
            </a:r>
            <a:r>
              <a:rPr lang="zh-CN" altLang="en-US"/>
              <a:t>的进程</a:t>
            </a:r>
            <a:r>
              <a:rPr lang="zh-CN" altLang="en-US"/>
              <a:t>图</a:t>
            </a:r>
            <a:endParaRPr lang="zh-CN" altLang="en-US"/>
          </a:p>
        </p:txBody>
      </p:sp>
      <p:pic>
        <p:nvPicPr>
          <p:cNvPr id="3" name="图片 2"/>
          <p:cNvPicPr>
            <a:picLocks noChangeAspect="1"/>
          </p:cNvPicPr>
          <p:nvPr/>
        </p:nvPicPr>
        <p:blipFill>
          <a:blip r:embed="rId1"/>
          <a:stretch>
            <a:fillRect/>
          </a:stretch>
        </p:blipFill>
        <p:spPr>
          <a:xfrm>
            <a:off x="1422400" y="1295400"/>
            <a:ext cx="9347200" cy="3822700"/>
          </a:xfrm>
          <a:prstGeom prst="rect">
            <a:avLst/>
          </a:prstGeom>
        </p:spPr>
      </p:pic>
      <p:sp>
        <p:nvSpPr>
          <p:cNvPr id="8" name="Rectangle 3"/>
          <p:cNvSpPr txBox="1">
            <a:spLocks noChangeArrowheads="1"/>
          </p:cNvSpPr>
          <p:nvPr/>
        </p:nvSpPr>
        <p:spPr bwMode="auto">
          <a:xfrm>
            <a:off x="3200400" y="5166360"/>
            <a:ext cx="6069965" cy="133731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pPr algn="just"/>
            <a:r>
              <a:rPr lang="en-US" altLang="zh-CN" b="0" dirty="0">
                <a:latin typeface="Microsoft YaHei" charset="0"/>
                <a:ea typeface="Microsoft YaHei" charset="0"/>
                <a:cs typeface="Microsoft YaHei" charset="0"/>
              </a:rPr>
              <a:t>wait</a:t>
            </a:r>
            <a:r>
              <a:rPr lang="zh-CN" altLang="en-US" b="0" dirty="0">
                <a:latin typeface="Microsoft YaHei" charset="0"/>
                <a:ea typeface="Microsoft YaHei" charset="0"/>
                <a:cs typeface="Microsoft YaHei" charset="0"/>
              </a:rPr>
              <a:t>的使用</a:t>
            </a:r>
            <a:endParaRPr lang="zh-CN" altLang="en-US" b="0" dirty="0">
              <a:latin typeface="Microsoft YaHei" charset="0"/>
              <a:ea typeface="Microsoft YaHei" charset="0"/>
              <a:cs typeface="Microsoft YaHei" charset="0"/>
            </a:endParaRPr>
          </a:p>
          <a:p>
            <a:pPr lvl="1" algn="just"/>
            <a:r>
              <a:rPr lang="zh-CN" altLang="en-US" b="0" dirty="0">
                <a:latin typeface="Microsoft YaHei" charset="0"/>
                <a:ea typeface="Microsoft YaHei" charset="0"/>
                <a:cs typeface="Microsoft YaHei" charset="0"/>
              </a:rPr>
              <a:t>从</a:t>
            </a:r>
            <a:r>
              <a:rPr lang="en-US" altLang="zh-CN" b="0" dirty="0">
                <a:latin typeface="Microsoft YaHei" charset="0"/>
                <a:ea typeface="Microsoft YaHei" charset="0"/>
                <a:cs typeface="Microsoft YaHei" charset="0"/>
              </a:rPr>
              <a:t>tree</a:t>
            </a:r>
            <a:r>
              <a:rPr lang="zh-CN" altLang="en-US" b="0" dirty="0">
                <a:latin typeface="Microsoft YaHei" charset="0"/>
                <a:ea typeface="Microsoft YaHei" charset="0"/>
                <a:cs typeface="Microsoft YaHei" charset="0"/>
              </a:rPr>
              <a:t>结构变成了</a:t>
            </a:r>
            <a:r>
              <a:rPr lang="en-US" altLang="zh-CN" b="0" dirty="0">
                <a:latin typeface="Microsoft YaHei" charset="0"/>
                <a:ea typeface="Microsoft YaHei" charset="0"/>
                <a:cs typeface="Microsoft YaHei" charset="0"/>
              </a:rPr>
              <a:t>graph</a:t>
            </a:r>
            <a:r>
              <a:rPr lang="zh-CN" altLang="en-US" b="0" dirty="0">
                <a:latin typeface="Microsoft YaHei" charset="0"/>
                <a:ea typeface="Microsoft YaHei" charset="0"/>
                <a:cs typeface="Microsoft YaHei" charset="0"/>
              </a:rPr>
              <a:t>结构</a:t>
            </a:r>
            <a:endParaRPr lang="zh-CN" altLang="en-US" b="0" dirty="0">
              <a:latin typeface="Microsoft YaHei" charset="0"/>
              <a:ea typeface="Microsoft YaHei" charset="0"/>
              <a:cs typeface="Microsoft YaHei" charset="0"/>
            </a:endParaRPr>
          </a:p>
          <a:p>
            <a:pPr lvl="1" algn="just"/>
            <a:r>
              <a:rPr lang="zh-CN" altLang="en-US" b="0" dirty="0">
                <a:latin typeface="Microsoft YaHei" charset="0"/>
                <a:ea typeface="Microsoft YaHei" charset="0"/>
                <a:cs typeface="Microsoft YaHei" charset="0"/>
              </a:rPr>
              <a:t>用于并发进程之间的同步</a:t>
            </a:r>
            <a:endParaRPr lang="zh-CN" altLang="en-US" b="0" dirty="0">
              <a:latin typeface="Microsoft YaHei" charset="0"/>
              <a:ea typeface="Microsoft YaHei" charset="0"/>
              <a:cs typeface="Microsoft YaHei"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r>
              <a:rPr lang="en-US" altLang="zh-CN"/>
              <a:t>：</a:t>
            </a:r>
            <a:endParaRPr lang="zh-CN" altLang="en-US"/>
          </a:p>
        </p:txBody>
      </p:sp>
      <p:sp>
        <p:nvSpPr>
          <p:cNvPr id="3" name="Content Placeholder 2"/>
          <p:cNvSpPr>
            <a:spLocks noGrp="1"/>
          </p:cNvSpPr>
          <p:nvPr>
            <p:ph idx="1"/>
          </p:nvPr>
        </p:nvSpPr>
        <p:spPr/>
        <p:txBody>
          <a:bodyPr/>
          <a:p>
            <a:r>
              <a:rPr lang="zh-CN" altLang="en-US"/>
              <a:t>根据下列代码</a:t>
            </a:r>
            <a:endParaRPr lang="zh-CN" altLang="en-US"/>
          </a:p>
          <a:p>
            <a:pPr lvl="1"/>
            <a:r>
              <a:rPr lang="zh-CN" altLang="en-US">
                <a:sym typeface="+mn-ea"/>
              </a:rPr>
              <a:t>假设子进程正常</a:t>
            </a:r>
            <a:r>
              <a:rPr lang="zh-CN" altLang="en-US">
                <a:sym typeface="+mn-ea"/>
              </a:rPr>
              <a:t>结束</a:t>
            </a:r>
            <a:endParaRPr lang="zh-CN" altLang="en-US">
              <a:sym typeface="+mn-ea"/>
            </a:endParaRPr>
          </a:p>
          <a:p>
            <a:pPr lvl="1"/>
            <a:r>
              <a:rPr lang="zh-CN" altLang="en-US">
                <a:sym typeface="+mn-ea"/>
              </a:rPr>
              <a:t>请画出对应的进程图</a:t>
            </a:r>
            <a:endParaRPr lang="zh-CN" altLang="en-US">
              <a:sym typeface="+mn-ea"/>
            </a:endParaRPr>
          </a:p>
          <a:p>
            <a:pPr lvl="1"/>
            <a:r>
              <a:rPr lang="zh-CN" altLang="en-US">
                <a:sym typeface="+mn-ea"/>
              </a:rPr>
              <a:t>并分析输出</a:t>
            </a:r>
            <a:endParaRPr lang="en-US" altLang="zh-CN"/>
          </a:p>
        </p:txBody>
      </p:sp>
      <p:sp>
        <p:nvSpPr>
          <p:cNvPr id="4" name="文本框 3"/>
          <p:cNvSpPr txBox="1"/>
          <p:nvPr/>
        </p:nvSpPr>
        <p:spPr>
          <a:xfrm>
            <a:off x="4267200" y="1524000"/>
            <a:ext cx="6517005" cy="4523105"/>
          </a:xfrm>
          <a:prstGeom prst="rect">
            <a:avLst/>
          </a:prstGeom>
          <a:noFill/>
        </p:spPr>
        <p:txBody>
          <a:bodyPr wrap="square" rtlCol="0">
            <a:spAutoFit/>
          </a:bodyPr>
          <a:p>
            <a:pPr algn="l"/>
            <a:r>
              <a:rPr lang="en-US" altLang="zh-CN" sz="1800" dirty="0" smtClean="0">
                <a:latin typeface="Calibri" panose="020F0502020204030204" pitchFamily="34" charset="0"/>
              </a:rPr>
              <a:t>int main()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int status;</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pid_t pid;</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printf("Hello\n");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pid = fork();</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printf("%d\n", !pid);</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if (pid != 0)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if (waitpid(-1, &amp;status, 0) &gt; 0)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if (WIFEXITED(status) != 0)</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printf("%d\n", WEXITSTATUS(status));</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printf("Bye\n");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exit(2);</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a:t>
            </a:r>
            <a:endParaRPr lang="en-US" altLang="zh-CN" sz="1800" dirty="0" smtClean="0">
              <a:latin typeface="Calibri" panose="020F050202020403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r>
              <a:rPr lang="en-US" altLang="zh-CN"/>
              <a:t>：</a:t>
            </a:r>
            <a:r>
              <a:rPr lang="zh-CN" altLang="en-US"/>
              <a:t>请画出对应的进程图</a:t>
            </a:r>
            <a:r>
              <a:rPr lang="en-US" altLang="zh-CN"/>
              <a:t>，</a:t>
            </a:r>
            <a:r>
              <a:rPr lang="zh-CN" altLang="en-US"/>
              <a:t>分析</a:t>
            </a:r>
            <a:r>
              <a:rPr lang="zh-CN" altLang="en-US"/>
              <a:t>输出</a:t>
            </a:r>
            <a:endParaRPr lang="zh-CN" altLang="en-US"/>
          </a:p>
        </p:txBody>
      </p:sp>
      <p:sp>
        <p:nvSpPr>
          <p:cNvPr id="4" name="文本框 3"/>
          <p:cNvSpPr txBox="1"/>
          <p:nvPr/>
        </p:nvSpPr>
        <p:spPr>
          <a:xfrm>
            <a:off x="449580" y="1447800"/>
            <a:ext cx="6517005" cy="4523105"/>
          </a:xfrm>
          <a:prstGeom prst="rect">
            <a:avLst/>
          </a:prstGeom>
          <a:noFill/>
        </p:spPr>
        <p:txBody>
          <a:bodyPr wrap="square" rtlCol="0">
            <a:spAutoFit/>
          </a:bodyPr>
          <a:p>
            <a:pPr algn="l"/>
            <a:r>
              <a:rPr lang="en-US" altLang="zh-CN" sz="1800" dirty="0" smtClean="0">
                <a:latin typeface="Calibri" panose="020F0502020204030204" pitchFamily="34" charset="0"/>
              </a:rPr>
              <a:t>int main()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int status;</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pid_t pid;</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printf("Hello\n");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pid = fork();</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printf("%d\n", !pid);</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if (pid != 0)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if (waitpid(-1, &amp;status, 0) &gt; 0)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if (WIFEXITED(status) != 0)</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printf("%d\n", WEXITSTATUS(status));</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printf("Bye\n");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exit(2);</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a:t>
            </a:r>
            <a:endParaRPr lang="en-US" altLang="zh-CN" sz="1800" dirty="0" smtClean="0">
              <a:latin typeface="Calibri" panose="020F0502020204030204" pitchFamily="34" charset="0"/>
            </a:endParaRPr>
          </a:p>
        </p:txBody>
      </p:sp>
      <p:sp>
        <p:nvSpPr>
          <p:cNvPr id="3" name="Text Box 2"/>
          <p:cNvSpPr txBox="1"/>
          <p:nvPr/>
        </p:nvSpPr>
        <p:spPr>
          <a:xfrm>
            <a:off x="8229600" y="4648200"/>
            <a:ext cx="2868930" cy="1014730"/>
          </a:xfrm>
          <a:prstGeom prst="rect">
            <a:avLst/>
          </a:prstGeom>
          <a:noFill/>
        </p:spPr>
        <p:txBody>
          <a:bodyPr wrap="square" rtlCol="0" anchor="t">
            <a:spAutoFit/>
          </a:bodyPr>
          <a:p>
            <a:r>
              <a:rPr lang="en-US" altLang="zh-CN" sz="2000">
                <a:sym typeface="+mn-ea"/>
              </a:rPr>
              <a:t>Hello,1,Bye,0,2,Bye</a:t>
            </a:r>
            <a:endParaRPr lang="en-US" altLang="zh-CN" sz="2000"/>
          </a:p>
          <a:p>
            <a:r>
              <a:rPr lang="en-US" altLang="zh-CN" sz="2000">
                <a:sym typeface="+mn-ea"/>
              </a:rPr>
              <a:t>Hello,1,0,Bye,2,Bye </a:t>
            </a:r>
            <a:endParaRPr lang="en-US" altLang="zh-CN" sz="2000"/>
          </a:p>
          <a:p>
            <a:r>
              <a:rPr lang="en-US" altLang="zh-CN" sz="2000">
                <a:sym typeface="+mn-ea"/>
              </a:rPr>
              <a:t>Hello,0,1,Bye,2,Bye</a:t>
            </a:r>
            <a:endParaRPr lang="en-US" altLang="zh-CN" sz="2000" dirty="0" smtClean="0">
              <a:latin typeface="Calibri" panose="020F0502020204030204" pitchFamily="34" charset="0"/>
              <a:sym typeface="+mn-ea"/>
            </a:endParaRPr>
          </a:p>
        </p:txBody>
      </p:sp>
      <p:pic>
        <p:nvPicPr>
          <p:cNvPr id="6" name="Picture 5"/>
          <p:cNvPicPr>
            <a:picLocks noChangeAspect="1"/>
          </p:cNvPicPr>
          <p:nvPr/>
        </p:nvPicPr>
        <p:blipFill>
          <a:blip r:embed="rId1"/>
          <a:stretch>
            <a:fillRect/>
          </a:stretch>
        </p:blipFill>
        <p:spPr>
          <a:xfrm>
            <a:off x="4267200" y="1447800"/>
            <a:ext cx="7605395" cy="213931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Consolas" panose="020B0609020204030204" pitchFamily="49" charset="0"/>
                <a:cs typeface="Consolas" panose="020B0609020204030204" pitchFamily="49" charset="0"/>
              </a:rPr>
              <a:t>主要内容</a:t>
            </a:r>
            <a:endParaRPr lang="zh-CN" altLang="en-US" dirty="0">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lstStyle/>
          <a:p>
            <a:pPr lvl="0"/>
            <a:r>
              <a:rPr lang="zh-CN" altLang="en-US" sz="2800" dirty="0">
                <a:cs typeface="Consolas" panose="020B0609020204030204" pitchFamily="49" charset="0"/>
                <a:sym typeface="+mn-ea"/>
              </a:rPr>
              <a:t>进程的状态和终止</a:t>
            </a:r>
            <a:endParaRPr lang="zh-CN" altLang="en-US" sz="2800" dirty="0">
              <a:solidFill>
                <a:schemeClr val="tx1"/>
              </a:solidFill>
              <a:cs typeface="Consolas" panose="020B0609020204030204" pitchFamily="49" charset="0"/>
            </a:endParaRPr>
          </a:p>
          <a:p>
            <a:pPr lvl="0"/>
            <a:r>
              <a:rPr lang="zh-CN" altLang="en-US" sz="2800" dirty="0">
                <a:cs typeface="Consolas" panose="020B0609020204030204" pitchFamily="49" charset="0"/>
                <a:sym typeface="+mn-ea"/>
              </a:rPr>
              <a:t>进程的创建</a:t>
            </a:r>
            <a:endParaRPr lang="zh-CN" altLang="en-US" sz="2800" dirty="0">
              <a:solidFill>
                <a:schemeClr val="tx1"/>
              </a:solidFill>
              <a:cs typeface="Consolas" panose="020B0609020204030204" pitchFamily="49" charset="0"/>
            </a:endParaRPr>
          </a:p>
          <a:p>
            <a:pPr lvl="0"/>
            <a:r>
              <a:rPr lang="zh-CN" altLang="en-US" sz="2800" dirty="0">
                <a:solidFill>
                  <a:schemeClr val="bg1">
                    <a:lumMod val="50000"/>
                  </a:schemeClr>
                </a:solidFill>
                <a:cs typeface="Consolas" panose="020B0609020204030204" pitchFamily="49" charset="0"/>
                <a:sym typeface="+mn-ea"/>
              </a:rPr>
              <a:t>子进程的回收与同步</a:t>
            </a:r>
            <a:endParaRPr lang="zh-CN" altLang="en-US" sz="2800" dirty="0">
              <a:solidFill>
                <a:schemeClr val="bg1">
                  <a:lumMod val="50000"/>
                </a:schemeClr>
              </a:solidFill>
              <a:cs typeface="Consolas" panose="020B0609020204030204" pitchFamily="49" charset="0"/>
            </a:endParaRPr>
          </a:p>
          <a:p>
            <a:pPr lvl="0"/>
            <a:r>
              <a:rPr lang="zh-CN" altLang="en-US" sz="2800" dirty="0">
                <a:solidFill>
                  <a:schemeClr val="bg1">
                    <a:lumMod val="50000"/>
                  </a:schemeClr>
                </a:solidFill>
                <a:cs typeface="Consolas" panose="020B0609020204030204" pitchFamily="49" charset="0"/>
                <a:sym typeface="+mn-ea"/>
              </a:rPr>
              <a:t>创建不同的进程</a:t>
            </a:r>
            <a:endParaRPr lang="en-US" sz="2800" dirty="0">
              <a:solidFill>
                <a:schemeClr val="bg1">
                  <a:lumMod val="50000"/>
                </a:schemeClr>
              </a:solidFill>
              <a:cs typeface="Consolas" panose="020B0609020204030204" pitchFamily="49" charset="0"/>
            </a:endParaRPr>
          </a:p>
          <a:p>
            <a:pPr lvl="1"/>
            <a:endParaRPr lang="en-US" sz="2330" dirty="0">
              <a:solidFill>
                <a:schemeClr val="tx1"/>
              </a:solidFill>
              <a:cs typeface="Consolas" panose="020B0609020204030204"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9" name="Text Box 3"/>
          <p:cNvSpPr txBox="1">
            <a:spLocks noChangeArrowheads="1"/>
          </p:cNvSpPr>
          <p:nvPr/>
        </p:nvSpPr>
        <p:spPr bwMode="auto">
          <a:xfrm>
            <a:off x="152400" y="1295400"/>
            <a:ext cx="5795010" cy="5507990"/>
          </a:xfrm>
          <a:prstGeom prst="rect">
            <a:avLst/>
          </a:prstGeom>
          <a:solidFill>
            <a:srgbClr val="F6F5BD"/>
          </a:solidFill>
          <a:ln w="3175">
            <a:solidFill>
              <a:schemeClr val="tx1"/>
            </a:solidFill>
            <a:miter lim="800000"/>
          </a:ln>
          <a:effectLst/>
        </p:spPr>
        <p:txBody>
          <a:bodyPr wrap="square">
            <a:spAutoFit/>
          </a:bodyPr>
          <a:lstStyle/>
          <a:p>
            <a:pPr algn="l"/>
            <a:r>
              <a:rPr lang="en-US" altLang="zh-CN" sz="1600" dirty="0">
                <a:solidFill>
                  <a:srgbClr val="000000"/>
                </a:solidFill>
                <a:latin typeface="Courier New" panose="02070609020205020404"/>
                <a:cs typeface="Courier New" panose="02070609020205020404"/>
              </a:rPr>
              <a:t>#include &lt;sys/types.h&gt;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#include &lt;unistd.h&gt;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#include &lt;stdio.h&gt;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#include &lt;stdlib.h&gt;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#include &lt;errno.h&gt;</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int main(int argc, char** argv)</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pid_t pid;</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int x = 1;</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indent="457200" algn="l"/>
            <a:r>
              <a:rPr lang="en-US" altLang="zh-CN" sz="1600" dirty="0">
                <a:solidFill>
                  <a:srgbClr val="000000"/>
                </a:solidFill>
                <a:latin typeface="Courier New" panose="02070609020205020404"/>
                <a:cs typeface="Courier New" panose="02070609020205020404"/>
                <a:sym typeface="+mn-ea"/>
              </a:rPr>
              <a:t> // </a:t>
            </a:r>
            <a:r>
              <a:rPr lang="zh-CN" altLang="en-US" sz="1600" dirty="0">
                <a:solidFill>
                  <a:srgbClr val="000000"/>
                </a:solidFill>
                <a:latin typeface="Courier New" panose="02070609020205020404"/>
                <a:cs typeface="Courier New" panose="02070609020205020404"/>
                <a:sym typeface="+mn-ea"/>
              </a:rPr>
              <a:t>要执行的程序路径</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char *program = "./hello"; </a:t>
            </a:r>
            <a:endParaRPr lang="zh-CN" altLang="en-US" sz="1600" dirty="0">
              <a:solidFill>
                <a:srgbClr val="000000"/>
              </a:solidFill>
              <a:latin typeface="Courier New" panose="02070609020205020404"/>
              <a:cs typeface="Courier New" panose="02070609020205020404"/>
            </a:endParaRPr>
          </a:p>
          <a:p>
            <a:pPr indent="457200" algn="l"/>
            <a:r>
              <a:rPr lang="en-US" altLang="zh-CN" sz="1600" dirty="0">
                <a:solidFill>
                  <a:srgbClr val="000000"/>
                </a:solidFill>
                <a:latin typeface="Courier New" panose="02070609020205020404"/>
                <a:cs typeface="Courier New" panose="02070609020205020404"/>
                <a:sym typeface="+mn-ea"/>
              </a:rPr>
              <a:t>// </a:t>
            </a:r>
            <a:r>
              <a:rPr lang="zh-CN" altLang="en-US" sz="1600" dirty="0">
                <a:solidFill>
                  <a:srgbClr val="000000"/>
                </a:solidFill>
                <a:latin typeface="Courier New" panose="02070609020205020404"/>
                <a:cs typeface="Courier New" panose="02070609020205020404"/>
                <a:sym typeface="+mn-ea"/>
              </a:rPr>
              <a:t>参数列表，最后一个元素必须是</a:t>
            </a:r>
            <a:r>
              <a:rPr lang="en-US" altLang="zh-CN" sz="1600" dirty="0">
                <a:solidFill>
                  <a:srgbClr val="000000"/>
                </a:solidFill>
                <a:latin typeface="Courier New" panose="02070609020205020404"/>
                <a:cs typeface="Courier New" panose="02070609020205020404"/>
                <a:sym typeface="+mn-ea"/>
              </a:rPr>
              <a:t> NULL</a:t>
            </a:r>
            <a:endParaRPr lang="zh-CN" altLang="en-US"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char *args[] = {NULL};  </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 </a:t>
            </a:r>
            <a:r>
              <a:rPr lang="zh-CN" altLang="en-US" sz="1600" dirty="0">
                <a:solidFill>
                  <a:srgbClr val="FF0000"/>
                </a:solidFill>
                <a:latin typeface="Courier New" panose="02070609020205020404"/>
                <a:cs typeface="Courier New" panose="02070609020205020404"/>
              </a:rPr>
              <a:t>使用</a:t>
            </a:r>
            <a:r>
              <a:rPr lang="en-US" altLang="zh-CN" sz="1600" dirty="0">
                <a:solidFill>
                  <a:srgbClr val="FF0000"/>
                </a:solidFill>
                <a:latin typeface="Courier New" panose="02070609020205020404"/>
                <a:cs typeface="Courier New" panose="02070609020205020404"/>
              </a:rPr>
              <a:t> execv </a:t>
            </a:r>
            <a:r>
              <a:rPr lang="zh-CN" altLang="en-US" sz="1600" dirty="0">
                <a:solidFill>
                  <a:srgbClr val="FF0000"/>
                </a:solidFill>
                <a:latin typeface="Courier New" panose="02070609020205020404"/>
                <a:cs typeface="Courier New" panose="02070609020205020404"/>
              </a:rPr>
              <a:t>替换当前进程映像</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int ret = </a:t>
            </a:r>
            <a:r>
              <a:rPr lang="en-US" altLang="zh-CN" sz="1600" dirty="0">
                <a:solidFill>
                  <a:srgbClr val="FF0000"/>
                </a:solidFill>
                <a:latin typeface="Courier New" panose="02070609020205020404"/>
                <a:cs typeface="Courier New" panose="02070609020205020404"/>
              </a:rPr>
              <a:t>execv</a:t>
            </a:r>
            <a:r>
              <a:rPr lang="en-US" altLang="zh-CN" sz="1600" dirty="0">
                <a:solidFill>
                  <a:srgbClr val="000000"/>
                </a:solidFill>
                <a:latin typeface="Courier New" panose="02070609020205020404"/>
                <a:cs typeface="Courier New" panose="02070609020205020404"/>
              </a:rPr>
              <a:t>(program, args);</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printf("Never running\n");</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return 0;</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p:txBody>
      </p:sp>
      <p:sp>
        <p:nvSpPr>
          <p:cNvPr id="7" name="Rectangle 3"/>
          <p:cNvSpPr>
            <a:spLocks noChangeArrowheads="1"/>
          </p:cNvSpPr>
          <p:nvPr/>
        </p:nvSpPr>
        <p:spPr bwMode="auto">
          <a:xfrm>
            <a:off x="4648048" y="6248358"/>
            <a:ext cx="113919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GB" sz="1800" i="1" dirty="0" err="1">
                <a:solidFill>
                  <a:schemeClr val="tx1">
                    <a:lumMod val="50000"/>
                    <a:lumOff val="50000"/>
                  </a:schemeClr>
                </a:solidFill>
                <a:latin typeface="Courier New" panose="02070609020205020404" pitchFamily="49" charset="0"/>
                <a:ea typeface="msgothic" charset="0"/>
                <a:cs typeface="msgothic" charset="0"/>
              </a:rPr>
              <a:t>execv</a:t>
            </a:r>
            <a:r>
              <a:rPr lang="en-GB" sz="1800" i="1" dirty="0" err="1">
                <a:solidFill>
                  <a:schemeClr val="tx1">
                    <a:lumMod val="50000"/>
                    <a:lumOff val="50000"/>
                  </a:schemeClr>
                </a:solidFill>
                <a:latin typeface="Courier New" panose="02070609020205020404" pitchFamily="49" charset="0"/>
                <a:ea typeface="msgothic" charset="0"/>
                <a:cs typeface="msgothic" charset="0"/>
              </a:rPr>
              <a:t>.c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8" name="Rectangle 3"/>
          <p:cNvSpPr txBox="1">
            <a:spLocks noChangeArrowheads="1"/>
          </p:cNvSpPr>
          <p:nvPr/>
        </p:nvSpPr>
        <p:spPr bwMode="auto">
          <a:xfrm>
            <a:off x="5948045" y="1358265"/>
            <a:ext cx="6069965" cy="519493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pPr algn="just"/>
            <a:r>
              <a:rPr lang="en-US" altLang="zh-CN" b="0" dirty="0">
                <a:latin typeface="Times New Roman Regular" panose="02020603050405020304" charset="0"/>
                <a:ea typeface="仿宋" panose="02010609060101010101" pitchFamily="49" charset="-122"/>
                <a:cs typeface="Times New Roman Regular" panose="02020603050405020304" charset="0"/>
              </a:rPr>
              <a:t>int execv(char *prog, char *[] args)</a:t>
            </a:r>
            <a:endParaRPr lang="en-US" altLang="zh-CN" b="0" dirty="0">
              <a:latin typeface="Times New Roman Regular" panose="02020603050405020304" charset="0"/>
              <a:ea typeface="仿宋" panose="02010609060101010101" pitchFamily="49" charset="-122"/>
              <a:cs typeface="Times New Roman Regular" panose="02020603050405020304" charset="0"/>
            </a:endParaRPr>
          </a:p>
          <a:p>
            <a:pPr lvl="1" algn="just"/>
            <a:r>
              <a:rPr lang="zh-CN" altLang="en-US" dirty="0">
                <a:latin typeface="Microsoft YaHei" charset="0"/>
                <a:ea typeface="Microsoft YaHei" charset="0"/>
                <a:cs typeface="Microsoft YaHei" charset="0"/>
              </a:rPr>
              <a:t>将</a:t>
            </a:r>
            <a:r>
              <a:rPr lang="en-US" altLang="zh-CN" dirty="0">
                <a:latin typeface="Microsoft YaHei" charset="0"/>
                <a:ea typeface="Microsoft YaHei" charset="0"/>
                <a:cs typeface="Microsoft YaHei" charset="0"/>
              </a:rPr>
              <a:t>prog</a:t>
            </a:r>
            <a:r>
              <a:rPr lang="zh-CN" altLang="en-US" dirty="0">
                <a:latin typeface="Microsoft YaHei" charset="0"/>
                <a:ea typeface="Microsoft YaHei" charset="0"/>
                <a:cs typeface="Microsoft YaHei" charset="0"/>
              </a:rPr>
              <a:t>路径文件替换当前进程的内存</a:t>
            </a:r>
            <a:r>
              <a:rPr lang="zh-CN" altLang="en-US" dirty="0">
                <a:solidFill>
                  <a:srgbClr val="000000"/>
                </a:solidFill>
                <a:latin typeface="Microsoft YaHei" charset="0"/>
                <a:ea typeface="Microsoft YaHei" charset="0"/>
                <a:cs typeface="Microsoft YaHei" charset="0"/>
                <a:sym typeface="+mn-ea"/>
              </a:rPr>
              <a:t>映像</a:t>
            </a:r>
            <a:endParaRPr lang="zh-CN" altLang="en-US" dirty="0">
              <a:latin typeface="Microsoft YaHei" charset="0"/>
              <a:ea typeface="Microsoft YaHei" charset="0"/>
              <a:cs typeface="Microsoft YaHei" charset="0"/>
            </a:endParaRPr>
          </a:p>
          <a:p>
            <a:pPr lvl="1" algn="just"/>
            <a:r>
              <a:rPr lang="zh-CN" altLang="en-US" dirty="0">
                <a:latin typeface="Microsoft YaHei" charset="0"/>
                <a:ea typeface="Microsoft YaHei" charset="0"/>
                <a:cs typeface="Microsoft YaHei" charset="0"/>
              </a:rPr>
              <a:t>使用</a:t>
            </a:r>
            <a:r>
              <a:rPr lang="en-US" altLang="zh-CN" dirty="0">
                <a:latin typeface="Microsoft YaHei" charset="0"/>
                <a:ea typeface="Microsoft YaHei" charset="0"/>
                <a:cs typeface="Microsoft YaHei" charset="0"/>
              </a:rPr>
              <a:t>args</a:t>
            </a:r>
            <a:r>
              <a:rPr lang="zh-CN" altLang="en-US" dirty="0">
                <a:latin typeface="Microsoft YaHei" charset="0"/>
                <a:ea typeface="Microsoft YaHei" charset="0"/>
                <a:cs typeface="Microsoft YaHei" charset="0"/>
              </a:rPr>
              <a:t>参数</a:t>
            </a:r>
            <a:r>
              <a:rPr lang="en-US" altLang="zh-CN" dirty="0">
                <a:latin typeface="Microsoft YaHei" charset="0"/>
                <a:ea typeface="Microsoft YaHei" charset="0"/>
                <a:cs typeface="Microsoft YaHei" charset="0"/>
              </a:rPr>
              <a:t>，</a:t>
            </a:r>
            <a:r>
              <a:rPr lang="zh-CN" altLang="en-US" dirty="0">
                <a:latin typeface="Microsoft YaHei" charset="0"/>
                <a:ea typeface="Microsoft YaHei" charset="0"/>
                <a:cs typeface="Microsoft YaHei" charset="0"/>
              </a:rPr>
              <a:t>运行当前进程</a:t>
            </a:r>
            <a:endParaRPr lang="en-US" altLang="zh-CN" dirty="0">
              <a:latin typeface="Microsoft YaHei" charset="0"/>
              <a:ea typeface="Microsoft YaHei" charset="0"/>
              <a:cs typeface="Microsoft YaHei" charset="0"/>
            </a:endParaRPr>
          </a:p>
          <a:p>
            <a:pPr algn="just"/>
            <a:endParaRPr lang="en-US" altLang="zh-CN" dirty="0">
              <a:latin typeface="Microsoft YaHei" charset="0"/>
              <a:ea typeface="Microsoft YaHei" charset="0"/>
              <a:cs typeface="Microsoft YaHei" charset="0"/>
            </a:endParaRPr>
          </a:p>
        </p:txBody>
      </p:sp>
      <p:sp>
        <p:nvSpPr>
          <p:cNvPr id="2" name="Title 1"/>
          <p:cNvSpPr>
            <a:spLocks noGrp="1"/>
          </p:cNvSpPr>
          <p:nvPr/>
        </p:nvSpPr>
        <p:spPr>
          <a:xfrm>
            <a:off x="476025" y="435678"/>
            <a:ext cx="10122791"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a:lstStyle>
          <a:p>
            <a:r>
              <a:rPr lang="zh-CN" altLang="en-US"/>
              <a:t>创建不同的进程</a:t>
            </a:r>
            <a:r>
              <a:rPr lang="en-US" altLang="zh-CN"/>
              <a:t>（</a:t>
            </a:r>
            <a:r>
              <a:rPr lang="zh-CN" altLang="en-US"/>
              <a:t>直接替换自身</a:t>
            </a:r>
            <a:r>
              <a:rPr lang="en-US" altLang="zh-CN"/>
              <a:t>）</a:t>
            </a:r>
            <a:endParaRPr lang="en-US" altLang="zh-CN"/>
          </a:p>
        </p:txBody>
      </p:sp>
      <p:sp>
        <p:nvSpPr>
          <p:cNvPr id="3" name="Text Box 4"/>
          <p:cNvSpPr txBox="1">
            <a:spLocks noChangeArrowheads="1"/>
          </p:cNvSpPr>
          <p:nvPr/>
        </p:nvSpPr>
        <p:spPr bwMode="auto">
          <a:xfrm>
            <a:off x="6324600" y="5029200"/>
            <a:ext cx="4210050" cy="784860"/>
          </a:xfrm>
          <a:prstGeom prst="rect">
            <a:avLst/>
          </a:prstGeom>
          <a:solidFill>
            <a:srgbClr val="E6E6E6"/>
          </a:solidFill>
          <a:ln w="3240">
            <a:solidFill>
              <a:schemeClr val="tx1"/>
            </a:solidFill>
            <a:miter lim="800000"/>
          </a:ln>
          <a:effectLst/>
        </p:spPr>
        <p:txBody>
          <a:bodyPr wrap="square" lIns="90000" tIns="46800" rIns="90000" bIns="46800">
            <a:spAutoFit/>
          </a:bodyPr>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panose="02070609020205020404"/>
                <a:ea typeface="msgothic" charset="0"/>
                <a:cs typeface="Courier New" panose="02070609020205020404"/>
              </a:rPr>
              <a:t>linux</a:t>
            </a:r>
            <a:r>
              <a:rPr lang="en-GB" sz="1600" dirty="0">
                <a:latin typeface="Courier New" panose="02070609020205020404"/>
                <a:ea typeface="msgothic" charset="0"/>
                <a:cs typeface="Courier New" panose="02070609020205020404"/>
              </a:rPr>
              <a:t>&gt; ./</a:t>
            </a:r>
            <a:r>
              <a:rPr lang="en-US" altLang="en-GB" sz="1600" dirty="0">
                <a:latin typeface="Courier New" panose="02070609020205020404"/>
                <a:ea typeface="msgothic" charset="0"/>
                <a:cs typeface="Courier New" panose="02070609020205020404"/>
              </a:rPr>
              <a:t>exec</a:t>
            </a:r>
            <a:endParaRPr lang="en-GB" sz="1600" dirty="0">
              <a:latin typeface="Courier New" panose="02070609020205020404"/>
              <a:ea typeface="msgothic" charset="0"/>
              <a:cs typeface="Courier New" panose="02070609020205020404"/>
            </a:endParaRPr>
          </a:p>
          <a:p>
            <a:pPr indent="457200"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&gt;&gt; hello sleeps for 2s...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hello...</a:t>
            </a:r>
            <a:endParaRPr lang="en-US" altLang="zh-CN" sz="1600" dirty="0">
              <a:latin typeface="Courier New" panose="02070609020205020404"/>
              <a:ea typeface="msgothic" charset="0"/>
              <a:cs typeface="Courier New" panose="02070609020205020404"/>
            </a:endParaRPr>
          </a:p>
        </p:txBody>
      </p:sp>
      <p:sp>
        <p:nvSpPr>
          <p:cNvPr id="4" name="文本框 3"/>
          <p:cNvSpPr txBox="1"/>
          <p:nvPr/>
        </p:nvSpPr>
        <p:spPr>
          <a:xfrm>
            <a:off x="6292215" y="2667000"/>
            <a:ext cx="4318635" cy="2306955"/>
          </a:xfrm>
          <a:prstGeom prst="rect">
            <a:avLst/>
          </a:prstGeom>
          <a:noFill/>
          <a:ln>
            <a:solidFill>
              <a:srgbClr val="00B050"/>
            </a:solidFill>
          </a:ln>
        </p:spPr>
        <p:txBody>
          <a:bodyPr wrap="none" rtlCol="0">
            <a:spAutoFit/>
          </a:bodyPr>
          <a:p>
            <a:pPr algn="l"/>
            <a:r>
              <a:rPr lang="en-US" altLang="zh-CN" sz="1800" dirty="0" smtClean="0">
                <a:latin typeface="Calibri" panose="020F0502020204030204" pitchFamily="34" charset="0"/>
              </a:rPr>
              <a:t>int main()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printf("\t&gt;&gt; hello sleeps for 2s...\n");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sleep(2);</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printf("\t&gt;&gt; hello...\n");</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fflush(stdout);</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    return 0;</a:t>
            </a:r>
            <a:endParaRPr lang="en-US" altLang="zh-CN" sz="1800" dirty="0" smtClean="0">
              <a:latin typeface="Calibri" panose="020F0502020204030204" pitchFamily="34" charset="0"/>
            </a:endParaRPr>
          </a:p>
          <a:p>
            <a:pPr algn="l"/>
            <a:r>
              <a:rPr lang="en-US" altLang="zh-CN" sz="1800" dirty="0" smtClean="0">
                <a:latin typeface="Calibri" panose="020F0502020204030204" pitchFamily="34" charset="0"/>
              </a:rPr>
              <a:t>}</a:t>
            </a:r>
            <a:endParaRPr lang="en-US" altLang="zh-CN" sz="1800" dirty="0" smtClean="0">
              <a:latin typeface="Calibri" panose="020F0502020204030204" pitchFamily="34" charset="0"/>
            </a:endParaRPr>
          </a:p>
        </p:txBody>
      </p:sp>
      <p:sp>
        <p:nvSpPr>
          <p:cNvPr id="5" name="Rectangle 3"/>
          <p:cNvSpPr>
            <a:spLocks noChangeArrowheads="1"/>
          </p:cNvSpPr>
          <p:nvPr/>
        </p:nvSpPr>
        <p:spPr bwMode="auto">
          <a:xfrm>
            <a:off x="9395188" y="4621372"/>
            <a:ext cx="113919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GB" sz="1800" i="1" dirty="0" err="1">
                <a:solidFill>
                  <a:schemeClr val="tx1">
                    <a:lumMod val="50000"/>
                    <a:lumOff val="50000"/>
                  </a:schemeClr>
                </a:solidFill>
                <a:latin typeface="Courier New" panose="02070609020205020404" pitchFamily="49" charset="0"/>
                <a:ea typeface="msgothic" charset="0"/>
                <a:cs typeface="msgothic" charset="0"/>
              </a:rPr>
              <a:t>hello</a:t>
            </a:r>
            <a:r>
              <a:rPr lang="en-GB" sz="1800" i="1" dirty="0" err="1">
                <a:solidFill>
                  <a:schemeClr val="tx1">
                    <a:lumMod val="50000"/>
                    <a:lumOff val="50000"/>
                  </a:schemeClr>
                </a:solidFill>
                <a:latin typeface="Courier New" panose="02070609020205020404" pitchFamily="49" charset="0"/>
                <a:ea typeface="msgothic" charset="0"/>
                <a:cs typeface="msgothic" charset="0"/>
              </a:rPr>
              <a:t>.c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9" name="Text Box 3"/>
          <p:cNvSpPr txBox="1">
            <a:spLocks noChangeArrowheads="1"/>
          </p:cNvSpPr>
          <p:nvPr/>
        </p:nvSpPr>
        <p:spPr bwMode="auto">
          <a:xfrm>
            <a:off x="152376" y="1295613"/>
            <a:ext cx="5059680" cy="5262245"/>
          </a:xfrm>
          <a:prstGeom prst="rect">
            <a:avLst/>
          </a:prstGeom>
          <a:solidFill>
            <a:srgbClr val="F6F5BD"/>
          </a:solidFill>
          <a:ln w="3175">
            <a:solidFill>
              <a:schemeClr val="tx1"/>
            </a:solidFill>
            <a:miter lim="800000"/>
          </a:ln>
          <a:effectLst/>
        </p:spPr>
        <p:txBody>
          <a:bodyPr wrap="none">
            <a:spAutoFit/>
          </a:bodyPr>
          <a:lstStyle/>
          <a:p>
            <a:pPr algn="l"/>
            <a:r>
              <a:rPr lang="en-US" altLang="zh-CN" sz="1600" dirty="0">
                <a:solidFill>
                  <a:srgbClr val="000000"/>
                </a:solidFill>
                <a:latin typeface="Courier New" panose="02070609020205020404"/>
                <a:cs typeface="Courier New" panose="02070609020205020404"/>
              </a:rPr>
              <a:t>int main(int argc, char** argv)</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pid_t pid;</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int x = 1;</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pid = </a:t>
            </a:r>
            <a:r>
              <a:rPr lang="en-US" altLang="zh-CN" sz="1600" dirty="0">
                <a:solidFill>
                  <a:srgbClr val="FF0000"/>
                </a:solidFill>
                <a:latin typeface="Courier New" panose="02070609020205020404"/>
                <a:cs typeface="Courier New" panose="02070609020205020404"/>
              </a:rPr>
              <a:t>Fork</a:t>
            </a:r>
            <a:r>
              <a:rPr lang="en-US" altLang="zh-CN" sz="1600" dirty="0">
                <a:solidFill>
                  <a:srgbClr val="000000"/>
                </a:solidFill>
                <a:latin typeface="Courier New" panose="02070609020205020404"/>
                <a:cs typeface="Courier New" panose="02070609020205020404"/>
              </a:rPr>
              <a:t>(); </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if (pid == 0) {  /* Child */</a:t>
            </a:r>
            <a:endParaRPr lang="en-US" altLang="zh-CN" sz="1600" dirty="0">
              <a:solidFill>
                <a:srgbClr val="000000"/>
              </a:solidFill>
              <a:latin typeface="Courier New" panose="02070609020205020404"/>
              <a:cs typeface="Courier New" panose="02070609020205020404"/>
            </a:endParaRPr>
          </a:p>
          <a:p>
            <a:pPr marL="457200" lvl="1" indent="457200" algn="l"/>
            <a:r>
              <a:rPr lang="en-US" altLang="zh-CN" sz="1600" dirty="0">
                <a:solidFill>
                  <a:srgbClr val="000000"/>
                </a:solidFill>
                <a:latin typeface="Courier New" panose="02070609020205020404"/>
                <a:cs typeface="Courier New" panose="02070609020205020404"/>
                <a:sym typeface="+mn-ea"/>
              </a:rPr>
              <a:t>// </a:t>
            </a:r>
            <a:r>
              <a:rPr lang="zh-CN" altLang="en-US" sz="1600" dirty="0">
                <a:solidFill>
                  <a:srgbClr val="000000"/>
                </a:solidFill>
                <a:latin typeface="Courier New" panose="02070609020205020404"/>
                <a:cs typeface="Courier New" panose="02070609020205020404"/>
                <a:sym typeface="+mn-ea"/>
              </a:rPr>
              <a:t>要执行的程序路径</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sym typeface="+mn-ea"/>
              </a:rPr>
              <a:t>    	char *program = "./hello"; </a:t>
            </a:r>
            <a:endParaRPr lang="zh-CN" altLang="en-US" sz="1600" dirty="0">
              <a:solidFill>
                <a:srgbClr val="000000"/>
              </a:solidFill>
              <a:latin typeface="Courier New" panose="02070609020205020404"/>
              <a:cs typeface="Courier New" panose="02070609020205020404"/>
            </a:endParaRPr>
          </a:p>
          <a:p>
            <a:pPr marL="457200" lvl="1" indent="457200" algn="l"/>
            <a:r>
              <a:rPr lang="en-US" altLang="zh-CN" sz="1600" dirty="0">
                <a:solidFill>
                  <a:srgbClr val="000000"/>
                </a:solidFill>
                <a:latin typeface="Courier New" panose="02070609020205020404"/>
                <a:cs typeface="Courier New" panose="02070609020205020404"/>
                <a:sym typeface="+mn-ea"/>
              </a:rPr>
              <a:t>// </a:t>
            </a:r>
            <a:r>
              <a:rPr lang="zh-CN" altLang="en-US" sz="1600" dirty="0">
                <a:solidFill>
                  <a:srgbClr val="000000"/>
                </a:solidFill>
                <a:latin typeface="Courier New" panose="02070609020205020404"/>
                <a:cs typeface="Courier New" panose="02070609020205020404"/>
                <a:sym typeface="+mn-ea"/>
              </a:rPr>
              <a:t>参数列表，最后一个元素必须是</a:t>
            </a:r>
            <a:r>
              <a:rPr lang="en-US" altLang="zh-CN" sz="1600" dirty="0">
                <a:solidFill>
                  <a:srgbClr val="000000"/>
                </a:solidFill>
                <a:latin typeface="Courier New" panose="02070609020205020404"/>
                <a:cs typeface="Courier New" panose="02070609020205020404"/>
                <a:sym typeface="+mn-ea"/>
              </a:rPr>
              <a:t> NULL</a:t>
            </a:r>
            <a:endParaRPr lang="zh-CN" altLang="en-US"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sym typeface="+mn-ea"/>
              </a:rPr>
              <a:t>    	char *args[] = {NULL};  </a:t>
            </a:r>
            <a:endParaRPr lang="en-US" altLang="zh-CN" sz="1600" dirty="0">
              <a:solidFill>
                <a:srgbClr val="000000"/>
              </a:solidFill>
              <a:latin typeface="Courier New" panose="02070609020205020404"/>
              <a:cs typeface="Courier New" panose="02070609020205020404"/>
            </a:endParaRPr>
          </a:p>
          <a:p>
            <a:pPr marL="457200" lvl="1" indent="457200" algn="l"/>
            <a:r>
              <a:rPr lang="en-US" altLang="zh-CN" sz="1600" dirty="0">
                <a:solidFill>
                  <a:srgbClr val="000000"/>
                </a:solidFill>
                <a:latin typeface="Courier New" panose="02070609020205020404"/>
                <a:cs typeface="Courier New" panose="02070609020205020404"/>
                <a:sym typeface="+mn-ea"/>
              </a:rPr>
              <a:t>// </a:t>
            </a:r>
            <a:r>
              <a:rPr lang="zh-CN" altLang="en-US" sz="1600" dirty="0">
                <a:solidFill>
                  <a:srgbClr val="000000"/>
                </a:solidFill>
                <a:latin typeface="Courier New" panose="02070609020205020404"/>
                <a:cs typeface="Courier New" panose="02070609020205020404"/>
                <a:sym typeface="+mn-ea"/>
              </a:rPr>
              <a:t>使用</a:t>
            </a:r>
            <a:r>
              <a:rPr lang="en-US" altLang="zh-CN" sz="1600" dirty="0">
                <a:solidFill>
                  <a:srgbClr val="000000"/>
                </a:solidFill>
                <a:latin typeface="Courier New" panose="02070609020205020404"/>
                <a:cs typeface="Courier New" panose="02070609020205020404"/>
                <a:sym typeface="+mn-ea"/>
              </a:rPr>
              <a:t> execv </a:t>
            </a:r>
            <a:r>
              <a:rPr lang="zh-CN" altLang="en-US" sz="1600" dirty="0">
                <a:solidFill>
                  <a:srgbClr val="000000"/>
                </a:solidFill>
                <a:latin typeface="Courier New" panose="02070609020205020404"/>
                <a:cs typeface="Courier New" panose="02070609020205020404"/>
                <a:sym typeface="+mn-ea"/>
              </a:rPr>
              <a:t>替换当前进程映像</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sym typeface="+mn-ea"/>
              </a:rPr>
              <a:t>    	int ret = </a:t>
            </a:r>
            <a:r>
              <a:rPr lang="en-US" altLang="zh-CN" sz="1600" dirty="0">
                <a:solidFill>
                  <a:srgbClr val="FF0000"/>
                </a:solidFill>
                <a:latin typeface="Courier New" panose="02070609020205020404"/>
                <a:cs typeface="Courier New" panose="02070609020205020404"/>
                <a:sym typeface="+mn-ea"/>
              </a:rPr>
              <a:t>execv</a:t>
            </a:r>
            <a:r>
              <a:rPr lang="en-US" altLang="zh-CN" sz="1600" dirty="0">
                <a:solidFill>
                  <a:srgbClr val="000000"/>
                </a:solidFill>
                <a:latin typeface="Courier New" panose="02070609020205020404"/>
                <a:cs typeface="Courier New" panose="02070609020205020404"/>
                <a:sym typeface="+mn-ea"/>
              </a:rPr>
              <a:t>(program, args);</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a:t>
            </a:r>
            <a:endParaRPr lang="en-US" altLang="zh-CN" sz="1600" dirty="0">
              <a:solidFill>
                <a:srgbClr val="000000"/>
              </a:solidFill>
              <a:latin typeface="Courier New" panose="02070609020205020404"/>
              <a:cs typeface="Courier New" panose="02070609020205020404"/>
            </a:endParaRPr>
          </a:p>
          <a:p>
            <a:pPr algn="l"/>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 Parent */</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printf("parent sleeps for 2s...\n");</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sleep(2);</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printf("parent: x=%d\n", --x); </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    return 0;</a:t>
            </a:r>
            <a:endParaRPr lang="en-US" altLang="zh-CN" sz="1600" dirty="0">
              <a:solidFill>
                <a:srgbClr val="000000"/>
              </a:solidFill>
              <a:latin typeface="Courier New" panose="02070609020205020404"/>
              <a:cs typeface="Courier New" panose="02070609020205020404"/>
            </a:endParaRPr>
          </a:p>
          <a:p>
            <a:pPr algn="l"/>
            <a:r>
              <a:rPr lang="en-US" altLang="zh-CN" sz="1600" dirty="0">
                <a:solidFill>
                  <a:srgbClr val="000000"/>
                </a:solidFill>
                <a:latin typeface="Courier New" panose="02070609020205020404"/>
                <a:cs typeface="Courier New" panose="02070609020205020404"/>
              </a:rPr>
              <a:t>}</a:t>
            </a:r>
            <a:endParaRPr lang="en-US" altLang="zh-CN" sz="1600" dirty="0">
              <a:solidFill>
                <a:srgbClr val="000000"/>
              </a:solidFill>
              <a:latin typeface="Courier New" panose="02070609020205020404"/>
              <a:cs typeface="Courier New" panose="02070609020205020404"/>
            </a:endParaRPr>
          </a:p>
        </p:txBody>
      </p:sp>
      <p:sp>
        <p:nvSpPr>
          <p:cNvPr id="7" name="Rectangle 3"/>
          <p:cNvSpPr>
            <a:spLocks noChangeArrowheads="1"/>
          </p:cNvSpPr>
          <p:nvPr/>
        </p:nvSpPr>
        <p:spPr bwMode="auto">
          <a:xfrm>
            <a:off x="4038448" y="6205178"/>
            <a:ext cx="1139190" cy="352425"/>
          </a:xfrm>
          <a:prstGeom prst="rect">
            <a:avLst/>
          </a:prstGeom>
          <a:noFill/>
          <a:ln w="3240">
            <a:noFill/>
            <a:miter lim="800000"/>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GB" sz="1800" i="1" dirty="0" err="1">
                <a:solidFill>
                  <a:schemeClr val="tx1">
                    <a:lumMod val="50000"/>
                    <a:lumOff val="50000"/>
                  </a:schemeClr>
                </a:solidFill>
                <a:latin typeface="Courier New" panose="02070609020205020404" pitchFamily="49" charset="0"/>
                <a:ea typeface="msgothic" charset="0"/>
                <a:cs typeface="msgothic" charset="0"/>
              </a:rPr>
              <a:t>exec1</a:t>
            </a:r>
            <a:r>
              <a:rPr lang="en-GB" sz="1800" i="1" dirty="0" err="1">
                <a:solidFill>
                  <a:schemeClr val="tx1">
                    <a:lumMod val="50000"/>
                    <a:lumOff val="50000"/>
                  </a:schemeClr>
                </a:solidFill>
                <a:latin typeface="Courier New" panose="02070609020205020404" pitchFamily="49" charset="0"/>
                <a:ea typeface="msgothic" charset="0"/>
                <a:cs typeface="msgothic" charset="0"/>
              </a:rPr>
              <a:t>.c</a:t>
            </a:r>
            <a:endParaRPr lang="en-GB" sz="1800" i="1" dirty="0">
              <a:solidFill>
                <a:schemeClr val="tx1">
                  <a:lumMod val="50000"/>
                  <a:lumOff val="50000"/>
                </a:schemeClr>
              </a:solidFill>
              <a:latin typeface="Courier New" panose="02070609020205020404" pitchFamily="49" charset="0"/>
              <a:ea typeface="msgothic" charset="0"/>
              <a:cs typeface="msgothic" charset="0"/>
            </a:endParaRPr>
          </a:p>
        </p:txBody>
      </p:sp>
      <p:sp>
        <p:nvSpPr>
          <p:cNvPr id="2" name="Title 1"/>
          <p:cNvSpPr>
            <a:spLocks noGrp="1"/>
          </p:cNvSpPr>
          <p:nvPr/>
        </p:nvSpPr>
        <p:spPr>
          <a:xfrm>
            <a:off x="476025" y="435678"/>
            <a:ext cx="10122791" cy="7620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仿宋" panose="02010609060101010101" pitchFamily="49" charset="-122"/>
                <a:ea typeface="仿宋" panose="02010609060101010101" pitchFamily="49" charset="-122"/>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a:lstStyle>
          <a:p>
            <a:r>
              <a:rPr lang="zh-CN" altLang="en-US">
                <a:sym typeface="+mn-ea"/>
              </a:rPr>
              <a:t>创建不同的进程</a:t>
            </a:r>
            <a:r>
              <a:rPr lang="en-US" altLang="zh-CN">
                <a:sym typeface="+mn-ea"/>
              </a:rPr>
              <a:t>（</a:t>
            </a:r>
            <a:r>
              <a:rPr lang="zh-CN" altLang="en-US">
                <a:sym typeface="+mn-ea"/>
              </a:rPr>
              <a:t>创建子进程</a:t>
            </a:r>
            <a:r>
              <a:rPr lang="en-US" altLang="zh-CN">
                <a:sym typeface="+mn-ea"/>
              </a:rPr>
              <a:t>）</a:t>
            </a:r>
            <a:endParaRPr lang="en-US" altLang="zh-CN"/>
          </a:p>
        </p:txBody>
      </p:sp>
      <p:sp>
        <p:nvSpPr>
          <p:cNvPr id="3" name="Text Box 4"/>
          <p:cNvSpPr txBox="1">
            <a:spLocks noChangeArrowheads="1"/>
          </p:cNvSpPr>
          <p:nvPr/>
        </p:nvSpPr>
        <p:spPr bwMode="auto">
          <a:xfrm>
            <a:off x="6324589" y="5029200"/>
            <a:ext cx="4141470" cy="1246505"/>
          </a:xfrm>
          <a:prstGeom prst="rect">
            <a:avLst/>
          </a:prstGeom>
          <a:solidFill>
            <a:srgbClr val="E6E6E6"/>
          </a:solidFill>
          <a:ln w="3240">
            <a:solidFill>
              <a:schemeClr val="tx1"/>
            </a:solidFill>
            <a:miter lim="800000"/>
          </a:ln>
          <a:effectLst/>
        </p:spPr>
        <p:txBody>
          <a:bodyPr wrap="none" lIns="90000" tIns="46800" rIns="90000" bIns="46800">
            <a:spAutoFit/>
          </a:bodyPr>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a:latin typeface="Courier New" panose="02070609020205020404"/>
                <a:ea typeface="msgothic" charset="0"/>
                <a:cs typeface="Courier New" panose="02070609020205020404"/>
              </a:rPr>
              <a:t>linux</a:t>
            </a:r>
            <a:r>
              <a:rPr lang="en-GB" sz="1600" dirty="0">
                <a:latin typeface="Courier New" panose="02070609020205020404"/>
                <a:ea typeface="msgothic" charset="0"/>
                <a:cs typeface="Courier New" panose="02070609020205020404"/>
              </a:rPr>
              <a:t>&gt; ./</a:t>
            </a:r>
            <a:r>
              <a:rPr lang="en-US" altLang="en-GB" sz="1600" dirty="0">
                <a:latin typeface="Courier New" panose="02070609020205020404"/>
                <a:ea typeface="msgothic" charset="0"/>
                <a:cs typeface="Courier New" panose="02070609020205020404"/>
              </a:rPr>
              <a:t>exec1</a:t>
            </a:r>
            <a:endParaRPr lang="en-GB"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sleeps for 2s...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hello sleeps for 2s...</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parent: x=0</a:t>
            </a:r>
            <a:endParaRPr lang="en-US" altLang="zh-CN" sz="1600" dirty="0">
              <a:latin typeface="Courier New" panose="02070609020205020404"/>
              <a:ea typeface="msgothic" charset="0"/>
              <a:cs typeface="Courier New" panose="02070609020205020404"/>
            </a:endParaRPr>
          </a:p>
          <a:p>
            <a:pPr algn="l">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600" dirty="0">
                <a:latin typeface="Courier New" panose="02070609020205020404"/>
                <a:ea typeface="msgothic" charset="0"/>
                <a:cs typeface="Courier New" panose="02070609020205020404"/>
              </a:rPr>
              <a:t>		&gt;&gt; hello...</a:t>
            </a:r>
            <a:endParaRPr lang="en-US" altLang="zh-CN" sz="1600" dirty="0">
              <a:latin typeface="Courier New" panose="02070609020205020404"/>
              <a:ea typeface="msgothic" charset="0"/>
              <a:cs typeface="Courier New" panose="02070609020205020404"/>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en-US" dirty="0" err="1">
                <a:latin typeface="Courier New" panose="02070609020205020404" pitchFamily="49" charset="0"/>
                <a:cs typeface="Courier New" panose="02070609020205020404" pitchFamily="49" charset="0"/>
              </a:rPr>
              <a:t>execve</a:t>
            </a:r>
            <a:r>
              <a:rPr lang="zh-CN" altLang="en-US" dirty="0" err="1">
                <a:latin typeface="Consolas" panose="020B0609020204030204" pitchFamily="49" charset="0"/>
                <a:cs typeface="Consolas" panose="020B0609020204030204" pitchFamily="49" charset="0"/>
              </a:rPr>
              <a:t>：</a:t>
            </a:r>
            <a:r>
              <a:rPr lang="zh-CN" altLang="en-US"/>
              <a:t>加载和运行程序</a:t>
            </a:r>
            <a:endParaRPr lang="en-US" dirty="0">
              <a:latin typeface="Consolas" panose="020B0609020204030204" pitchFamily="49" charset="0"/>
              <a:cs typeface="Consolas" panose="020B0609020204030204" pitchFamily="49" charset="0"/>
            </a:endParaRPr>
          </a:p>
        </p:txBody>
      </p:sp>
      <p:sp>
        <p:nvSpPr>
          <p:cNvPr id="503811" name="Rectangle 3"/>
          <p:cNvSpPr>
            <a:spLocks noGrp="1" noChangeArrowheads="1"/>
          </p:cNvSpPr>
          <p:nvPr>
            <p:ph idx="1"/>
          </p:nvPr>
        </p:nvSpPr>
        <p:spPr/>
        <p:txBody>
          <a:bodyPr/>
          <a:lstStyle/>
          <a:p>
            <a:r>
              <a:rPr lang="en-US" dirty="0" err="1">
                <a:latin typeface="Courier New" panose="02070609020205020404" pitchFamily="49" charset="0"/>
                <a:cs typeface="Courier New" panose="02070609020205020404" pitchFamily="49" charset="0"/>
              </a:rPr>
              <a:t>int</a:t>
            </a:r>
            <a:r>
              <a:rPr lang="en-US" dirty="0">
                <a:latin typeface="Courier New" panose="02070609020205020404" pitchFamily="49" charset="0"/>
                <a:cs typeface="Courier New" panose="02070609020205020404" pitchFamily="49" charset="0"/>
              </a:rPr>
              <a:t> </a:t>
            </a:r>
            <a:r>
              <a:rPr lang="en-US" dirty="0" err="1">
                <a:latin typeface="Courier New" panose="02070609020205020404" pitchFamily="49" charset="0"/>
                <a:cs typeface="Courier New" panose="02070609020205020404" pitchFamily="49" charset="0"/>
              </a:rPr>
              <a:t>execve</a:t>
            </a:r>
            <a:r>
              <a:rPr lang="en-US" dirty="0">
                <a:latin typeface="Courier New" panose="02070609020205020404" pitchFamily="49" charset="0"/>
                <a:cs typeface="Courier New" panose="02070609020205020404" pitchFamily="49" charset="0"/>
              </a:rPr>
              <a:t>(char *filename, char *</a:t>
            </a:r>
            <a:r>
              <a:rPr lang="en-US" dirty="0" err="1">
                <a:latin typeface="Courier New" panose="02070609020205020404" pitchFamily="49" charset="0"/>
                <a:cs typeface="Courier New" panose="02070609020205020404" pitchFamily="49" charset="0"/>
              </a:rPr>
              <a:t>argv</a:t>
            </a:r>
            <a:r>
              <a:rPr lang="en-US" dirty="0">
                <a:latin typeface="Courier New" panose="02070609020205020404" pitchFamily="49" charset="0"/>
                <a:cs typeface="Courier New" panose="02070609020205020404" pitchFamily="49" charset="0"/>
              </a:rPr>
              <a:t>[], char *</a:t>
            </a:r>
            <a:r>
              <a:rPr lang="en-US" dirty="0" err="1">
                <a:latin typeface="Courier New" panose="02070609020205020404" pitchFamily="49" charset="0"/>
                <a:cs typeface="Courier New" panose="02070609020205020404" pitchFamily="49" charset="0"/>
              </a:rPr>
              <a:t>envp</a:t>
            </a:r>
            <a:r>
              <a:rPr lang="en-US" dirty="0">
                <a:latin typeface="Courier New" panose="02070609020205020404" pitchFamily="49" charset="0"/>
                <a:cs typeface="Courier New" panose="02070609020205020404" pitchFamily="49" charset="0"/>
              </a:rPr>
              <a:t>[])</a:t>
            </a:r>
            <a:endParaRPr lang="en-US" dirty="0">
              <a:latin typeface="Courier New" panose="02070609020205020404" pitchFamily="49" charset="0"/>
              <a:cs typeface="Courier New" panose="02070609020205020404" pitchFamily="49" charset="0"/>
            </a:endParaRPr>
          </a:p>
          <a:p>
            <a:pPr lvl="1"/>
            <a:r>
              <a:rPr lang="zh-CN" altLang="en-US" dirty="0"/>
              <a:t>可执行文件</a:t>
            </a:r>
            <a:r>
              <a:rPr lang="en-US" dirty="0">
                <a:latin typeface="Courier New" panose="02070609020205020404" pitchFamily="49" charset="0"/>
                <a:cs typeface="Courier New" panose="02070609020205020404" pitchFamily="49" charset="0"/>
              </a:rPr>
              <a:t> </a:t>
            </a:r>
            <a:r>
              <a:rPr lang="en-US" b="1" dirty="0">
                <a:latin typeface="Courier New" panose="02070609020205020404" pitchFamily="49" charset="0"/>
                <a:ea typeface="+mn-ea"/>
                <a:cs typeface="Courier New" panose="02070609020205020404" pitchFamily="49" charset="0"/>
              </a:rPr>
              <a:t>filename</a:t>
            </a:r>
            <a:endParaRPr lang="en-US" b="1" dirty="0">
              <a:latin typeface="Courier New" panose="02070609020205020404" pitchFamily="49" charset="0"/>
              <a:ea typeface="+mn-ea"/>
              <a:cs typeface="Courier New" panose="02070609020205020404" pitchFamily="49" charset="0"/>
            </a:endParaRPr>
          </a:p>
          <a:p>
            <a:pPr lvl="2"/>
            <a:r>
              <a:rPr lang="zh-CN" altLang="en-US" dirty="0">
                <a:cs typeface="仿宋" panose="02010609060101010101" pitchFamily="49" charset="-122"/>
              </a:rPr>
              <a:t>可以是目标文件或以 </a:t>
            </a:r>
            <a:r>
              <a:rPr lang="en-US" dirty="0">
                <a:latin typeface="Consolas" panose="020B0609020204030204" pitchFamily="49" charset="0"/>
                <a:cs typeface="Consolas" panose="020B0609020204030204" pitchFamily="49" charset="0"/>
                <a:sym typeface="+mn-ea"/>
              </a:rPr>
              <a:t>#!</a:t>
            </a:r>
            <a:r>
              <a:rPr lang="en-US" altLang="zh-CN" dirty="0">
                <a:latin typeface="Consolas" panose="020B0609020204030204" pitchFamily="49" charset="0"/>
                <a:cs typeface="Consolas" panose="020B0609020204030204" pitchFamily="49" charset="0"/>
                <a:sym typeface="+mn-ea"/>
              </a:rPr>
              <a:t>interpreter</a:t>
            </a:r>
            <a:r>
              <a:rPr lang="zh-CN" altLang="en-US" dirty="0">
                <a:latin typeface="Consolas" panose="020B0609020204030204" pitchFamily="49" charset="0"/>
                <a:cs typeface="Consolas" panose="020B0609020204030204" pitchFamily="49" charset="0"/>
                <a:sym typeface="+mn-ea"/>
              </a:rPr>
              <a:t> </a:t>
            </a:r>
            <a:r>
              <a:rPr lang="zh-CN" altLang="en-US" dirty="0">
                <a:cs typeface="仿宋" panose="02010609060101010101" pitchFamily="49" charset="-122"/>
                <a:sym typeface="+mn-ea"/>
              </a:rPr>
              <a:t>开头的</a:t>
            </a:r>
            <a:r>
              <a:rPr lang="en-US" altLang="zh-CN" dirty="0">
                <a:cs typeface="仿宋" panose="02010609060101010101" pitchFamily="49" charset="-122"/>
                <a:sym typeface="+mn-ea"/>
              </a:rPr>
              <a:t>Shell</a:t>
            </a:r>
            <a:r>
              <a:rPr lang="zh-CN" altLang="en-US" dirty="0">
                <a:cs typeface="仿宋" panose="02010609060101010101" pitchFamily="49" charset="-122"/>
              </a:rPr>
              <a:t>脚本文件</a:t>
            </a:r>
            <a:r>
              <a:rPr lang="en-US" dirty="0">
                <a:cs typeface="仿宋" panose="02010609060101010101" pitchFamily="49" charset="-122"/>
              </a:rPr>
              <a:t>(</a:t>
            </a:r>
            <a:r>
              <a:rPr lang="zh-CN" altLang="en-US" dirty="0">
                <a:cs typeface="仿宋" panose="02010609060101010101" pitchFamily="49" charset="-122"/>
              </a:rPr>
              <a:t>例如</a:t>
            </a:r>
            <a:r>
              <a:rPr lang="en-US" dirty="0">
                <a:latin typeface="Consolas" panose="020B0609020204030204" pitchFamily="49" charset="0"/>
                <a:cs typeface="Consolas" panose="020B0609020204030204" pitchFamily="49" charset="0"/>
              </a:rPr>
              <a:t> #!/bin/bash</a:t>
            </a:r>
            <a:r>
              <a:rPr lang="en-US" dirty="0">
                <a:cs typeface="仿宋" panose="02010609060101010101" pitchFamily="49" charset="-122"/>
              </a:rPr>
              <a:t>)</a:t>
            </a:r>
            <a:endParaRPr lang="en-US" dirty="0">
              <a:cs typeface="仿宋" panose="02010609060101010101" pitchFamily="49" charset="-122"/>
            </a:endParaRPr>
          </a:p>
          <a:p>
            <a:pPr lvl="1"/>
            <a:r>
              <a:rPr lang="zh-CN" altLang="en-US" dirty="0">
                <a:latin typeface="Consolas" panose="020B0609020204030204" pitchFamily="49" charset="0"/>
                <a:cs typeface="Consolas" panose="020B0609020204030204" pitchFamily="49" charset="0"/>
              </a:rPr>
              <a:t>参数列表</a:t>
            </a:r>
            <a:r>
              <a:rPr lang="en-US" dirty="0">
                <a:latin typeface="Courier New" panose="02070609020205020404" pitchFamily="49" charset="0"/>
                <a:cs typeface="Courier New" panose="02070609020205020404" pitchFamily="49" charset="0"/>
              </a:rPr>
              <a:t> </a:t>
            </a:r>
            <a:r>
              <a:rPr lang="en-US" b="1" dirty="0" err="1">
                <a:latin typeface="Courier New" panose="02070609020205020404" pitchFamily="49" charset="0"/>
                <a:ea typeface="+mn-ea"/>
                <a:cs typeface="Courier New" panose="02070609020205020404" pitchFamily="49" charset="0"/>
              </a:rPr>
              <a:t>argv</a:t>
            </a:r>
            <a:endParaRPr lang="en-US" b="1" dirty="0">
              <a:latin typeface="Consolas" panose="020B0609020204030204" pitchFamily="49" charset="0"/>
              <a:ea typeface="+mn-ea"/>
              <a:cs typeface="Consolas" panose="020B0609020204030204" pitchFamily="49" charset="0"/>
            </a:endParaRPr>
          </a:p>
          <a:p>
            <a:pPr lvl="2"/>
            <a:r>
              <a:rPr lang="zh-CN" altLang="en-US" dirty="0"/>
              <a:t>按约定，</a:t>
            </a:r>
            <a:r>
              <a:rPr lang="en-US" b="1" dirty="0" err="1">
                <a:latin typeface="Courier New" panose="02070609020205020404" pitchFamily="49" charset="0"/>
                <a:ea typeface="+mn-ea"/>
                <a:cs typeface="Courier New" panose="02070609020205020404" pitchFamily="49" charset="0"/>
              </a:rPr>
              <a:t>argv</a:t>
            </a:r>
            <a:r>
              <a:rPr lang="en-US" b="1" dirty="0">
                <a:latin typeface="Courier New" panose="02070609020205020404" pitchFamily="49" charset="0"/>
                <a:ea typeface="+mn-ea"/>
                <a:cs typeface="Courier New" panose="02070609020205020404" pitchFamily="49" charset="0"/>
              </a:rPr>
              <a:t>[0]==filename</a:t>
            </a:r>
            <a:endParaRPr lang="en-US" b="1" dirty="0">
              <a:latin typeface="Consolas" panose="020B0609020204030204" pitchFamily="49" charset="0"/>
              <a:ea typeface="+mn-ea"/>
              <a:cs typeface="Consolas" panose="020B0609020204030204" pitchFamily="49" charset="0"/>
            </a:endParaRPr>
          </a:p>
          <a:p>
            <a:pPr lvl="1"/>
            <a:r>
              <a:rPr lang="zh-CN" altLang="en-US" dirty="0"/>
              <a:t>环境变量列表</a:t>
            </a:r>
            <a:r>
              <a:rPr lang="en-US" altLang="zh-CN" dirty="0">
                <a:latin typeface="Courier New" panose="02070609020205020404" pitchFamily="49" charset="0"/>
                <a:cs typeface="Courier New" panose="02070609020205020404" pitchFamily="49" charset="0"/>
              </a:rPr>
              <a:t> </a:t>
            </a:r>
            <a:r>
              <a:rPr lang="en-US" b="1" dirty="0" err="1">
                <a:latin typeface="Courier New" panose="02070609020205020404" pitchFamily="49" charset="0"/>
                <a:ea typeface="+mn-ea"/>
                <a:cs typeface="Courier New" panose="02070609020205020404" pitchFamily="49" charset="0"/>
              </a:rPr>
              <a:t>envp</a:t>
            </a:r>
            <a:endParaRPr lang="en-US" b="1" dirty="0">
              <a:latin typeface="Courier New" panose="02070609020205020404" pitchFamily="49" charset="0"/>
              <a:ea typeface="+mn-ea"/>
              <a:cs typeface="Courier New" panose="02070609020205020404" pitchFamily="49" charset="0"/>
            </a:endParaRPr>
          </a:p>
          <a:p>
            <a:pPr lvl="2"/>
            <a:r>
              <a:rPr lang="zh-CN" altLang="en-US" dirty="0"/>
              <a:t>格式为</a:t>
            </a:r>
            <a:r>
              <a:rPr lang="en-US" altLang="zh-CN" dirty="0"/>
              <a:t>“</a:t>
            </a:r>
            <a:r>
              <a:rPr lang="en-US" dirty="0">
                <a:latin typeface="Consolas" panose="020B0609020204030204" pitchFamily="49" charset="0"/>
                <a:cs typeface="Consolas" panose="020B0609020204030204" pitchFamily="49" charset="0"/>
              </a:rPr>
              <a:t>name=value</a:t>
            </a:r>
            <a:r>
              <a:rPr lang="en-US" dirty="0">
                <a:cs typeface="仿宋" panose="02010609060101010101" pitchFamily="49" charset="-122"/>
              </a:rPr>
              <a:t>”</a:t>
            </a:r>
            <a:r>
              <a:rPr lang="zh-CN" altLang="en-US" dirty="0">
                <a:cs typeface="仿宋" panose="02010609060101010101" pitchFamily="49" charset="-122"/>
              </a:rPr>
              <a:t>的字符串</a:t>
            </a:r>
            <a:r>
              <a:rPr lang="en-US" dirty="0">
                <a:cs typeface="仿宋" panose="02010609060101010101" pitchFamily="49" charset="-122"/>
              </a:rPr>
              <a:t>(</a:t>
            </a:r>
            <a:r>
              <a:rPr lang="zh-CN" altLang="en-US" dirty="0">
                <a:latin typeface="Consolas" panose="020B0609020204030204" pitchFamily="49" charset="0"/>
                <a:cs typeface="Consolas" panose="020B0609020204030204" pitchFamily="49" charset="0"/>
              </a:rPr>
              <a:t>例如</a:t>
            </a:r>
            <a:r>
              <a:rPr lang="en-US" dirty="0">
                <a:latin typeface="Consolas" panose="020B0609020204030204" pitchFamily="49" charset="0"/>
                <a:cs typeface="Consolas" panose="020B0609020204030204" pitchFamily="49" charset="0"/>
              </a:rPr>
              <a:t> USER=</a:t>
            </a:r>
            <a:r>
              <a:rPr lang="en-US" dirty="0" err="1">
                <a:latin typeface="Consolas" panose="020B0609020204030204" pitchFamily="49" charset="0"/>
                <a:cs typeface="Consolas" panose="020B0609020204030204" pitchFamily="49" charset="0"/>
              </a:rPr>
              <a:t>droh</a:t>
            </a:r>
            <a:r>
              <a:rPr lang="en-US" dirty="0">
                <a:cs typeface="Consolas" panose="020B0609020204030204" pitchFamily="49" charset="0"/>
              </a:rPr>
              <a:t>)</a:t>
            </a:r>
            <a:endParaRPr lang="en-US" dirty="0">
              <a:cs typeface="Consolas" panose="020B0609020204030204" pitchFamily="49" charset="0"/>
            </a:endParaRPr>
          </a:p>
          <a:p>
            <a:pPr lvl="2"/>
            <a:r>
              <a:rPr lang="en-US" dirty="0" err="1">
                <a:latin typeface="Consolas" panose="020B0609020204030204" pitchFamily="49" charset="0"/>
                <a:cs typeface="Consolas" panose="020B0609020204030204" pitchFamily="49" charset="0"/>
              </a:rPr>
              <a:t>getenv</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putenv</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printenv</a:t>
            </a:r>
            <a:endParaRPr lang="en-US" b="1" dirty="0">
              <a:latin typeface="Consolas" panose="020B0609020204030204" pitchFamily="49" charset="0"/>
              <a:ea typeface="+mn-ea"/>
              <a:cs typeface="Consolas" panose="020B0609020204030204" pitchFamily="49" charset="0"/>
            </a:endParaRPr>
          </a:p>
          <a:p>
            <a:r>
              <a:rPr lang="zh-CN" altLang="en-US" dirty="0">
                <a:sym typeface="+mn-ea"/>
              </a:rPr>
              <a:t>在当前进程中加载和运行</a:t>
            </a:r>
            <a:r>
              <a:rPr lang="en-US" altLang="zh-CN" dirty="0">
                <a:sym typeface="+mn-ea"/>
              </a:rPr>
              <a:t>，</a:t>
            </a:r>
            <a:r>
              <a:rPr lang="zh-CN" altLang="en-US" dirty="0"/>
              <a:t>覆盖代码段、数据段和栈</a:t>
            </a:r>
            <a:endParaRPr lang="zh-CN" altLang="en-US" dirty="0"/>
          </a:p>
          <a:p>
            <a:pPr lvl="1"/>
            <a:r>
              <a:rPr lang="zh-CN" altLang="en-US" dirty="0"/>
              <a:t>保留</a:t>
            </a:r>
            <a:r>
              <a:rPr lang="en-US" altLang="zh-CN" dirty="0">
                <a:latin typeface="Consolas" panose="020B0609020204030204" pitchFamily="49" charset="0"/>
                <a:cs typeface="Consolas" panose="020B0609020204030204" pitchFamily="49" charset="0"/>
              </a:rPr>
              <a:t> PID </a:t>
            </a:r>
            <a:r>
              <a:rPr lang="zh-CN" altLang="en-US" dirty="0"/>
              <a:t>、打开的文件和信号上下文</a:t>
            </a:r>
            <a:endParaRPr lang="zh-CN" altLang="en-US" dirty="0"/>
          </a:p>
          <a:p>
            <a:r>
              <a:rPr lang="zh-CN" altLang="en-US" dirty="0"/>
              <a:t>调用</a:t>
            </a:r>
            <a:r>
              <a:rPr lang="en-US" dirty="0">
                <a:solidFill>
                  <a:srgbClr val="FF0000"/>
                </a:solidFill>
                <a:cs typeface="Consolas" panose="020B0609020204030204" pitchFamily="49" charset="0"/>
              </a:rPr>
              <a:t>一次</a:t>
            </a:r>
            <a:r>
              <a:rPr lang="zh-CN" altLang="en-US" dirty="0"/>
              <a:t>，</a:t>
            </a:r>
            <a:r>
              <a:rPr lang="en-US" dirty="0">
                <a:solidFill>
                  <a:srgbClr val="FF0000"/>
                </a:solidFill>
                <a:cs typeface="Consolas" panose="020B0609020204030204" pitchFamily="49" charset="0"/>
              </a:rPr>
              <a:t>永不</a:t>
            </a:r>
            <a:r>
              <a:rPr lang="zh-CN" altLang="en-US" dirty="0"/>
              <a:t>返回</a:t>
            </a:r>
            <a:endParaRPr lang="zh-CN" altLang="en-US" dirty="0"/>
          </a:p>
          <a:p>
            <a:pPr lvl="1"/>
            <a:r>
              <a:rPr lang="zh-CN" altLang="en-US" dirty="0">
                <a:latin typeface="Consolas" panose="020B0609020204030204" pitchFamily="49" charset="0"/>
                <a:cs typeface="Consolas" panose="020B0609020204030204" pitchFamily="49" charset="0"/>
              </a:rPr>
              <a:t>除非有错误</a:t>
            </a:r>
            <a:endParaRPr lang="zh-CN" altLang="en-US" dirty="0">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038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38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38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38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38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381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3811">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381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3811">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03811">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038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en-US" dirty="0" err="1">
                <a:latin typeface="Courier New" panose="02070609020205020404" pitchFamily="49" charset="0"/>
                <a:cs typeface="Courier New" panose="02070609020205020404" pitchFamily="49" charset="0"/>
              </a:rPr>
              <a:t>execve</a:t>
            </a:r>
            <a:r>
              <a:rPr lang="en-US" dirty="0">
                <a:latin typeface="Consolas" panose="020B0609020204030204" pitchFamily="49" charset="0"/>
                <a:cs typeface="Consolas" panose="020B0609020204030204" pitchFamily="49" charset="0"/>
              </a:rPr>
              <a:t> </a:t>
            </a:r>
            <a:r>
              <a:rPr lang="zh-CN" altLang="en-US" dirty="0">
                <a:latin typeface="Consolas" panose="020B0609020204030204" pitchFamily="49" charset="0"/>
                <a:cs typeface="Consolas" panose="020B0609020204030204" pitchFamily="49" charset="0"/>
              </a:rPr>
              <a:t>示例</a:t>
            </a:r>
            <a:endParaRPr lang="zh-CN" altLang="en-US" dirty="0">
              <a:latin typeface="Consolas" panose="020B0609020204030204" pitchFamily="49" charset="0"/>
              <a:cs typeface="Consolas" panose="020B0609020204030204" pitchFamily="49" charset="0"/>
            </a:endParaRPr>
          </a:p>
        </p:txBody>
      </p:sp>
      <p:sp>
        <p:nvSpPr>
          <p:cNvPr id="13" name="Rectangle 23"/>
          <p:cNvSpPr>
            <a:spLocks noChangeArrowheads="1"/>
          </p:cNvSpPr>
          <p:nvPr/>
        </p:nvSpPr>
        <p:spPr bwMode="auto">
          <a:xfrm>
            <a:off x="4114800" y="3352800"/>
            <a:ext cx="2209800" cy="304800"/>
          </a:xfrm>
          <a:prstGeom prst="rect">
            <a:avLst/>
          </a:prstGeom>
          <a:solidFill>
            <a:srgbClr val="D5F1CF"/>
          </a:solidFill>
          <a:ln w="28575">
            <a:solidFill>
              <a:schemeClr val="tx1"/>
            </a:solidFill>
            <a:miter lim="800000"/>
          </a:ln>
          <a:effectLst/>
        </p:spPr>
        <p:txBody>
          <a:bodyPr wrap="none" anchor="ctr"/>
          <a:lstStyle/>
          <a:p>
            <a:pPr eaLnBrk="1" hangingPunct="1">
              <a:lnSpc>
                <a:spcPct val="100000"/>
              </a:lnSpc>
            </a:pPr>
            <a:r>
              <a:rPr lang="en-US" sz="1800" b="0" dirty="0" err="1">
                <a:latin typeface="Courier New" panose="02070609020205020404"/>
                <a:cs typeface="Courier New" panose="02070609020205020404"/>
              </a:rPr>
              <a:t>envp</a:t>
            </a:r>
            <a:r>
              <a:rPr lang="en-US" sz="1800" b="0" dirty="0">
                <a:latin typeface="Courier New" panose="02070609020205020404"/>
                <a:cs typeface="Courier New" panose="02070609020205020404"/>
              </a:rPr>
              <a:t>[n] = NULL</a:t>
            </a:r>
            <a:endParaRPr lang="en-US" sz="1800" dirty="0">
              <a:latin typeface="Courier New" panose="02070609020205020404"/>
              <a:cs typeface="Courier New" panose="02070609020205020404"/>
            </a:endParaRPr>
          </a:p>
        </p:txBody>
      </p:sp>
      <p:sp>
        <p:nvSpPr>
          <p:cNvPr id="15" name="Rectangle 23"/>
          <p:cNvSpPr>
            <a:spLocks noChangeArrowheads="1"/>
          </p:cNvSpPr>
          <p:nvPr/>
        </p:nvSpPr>
        <p:spPr bwMode="auto">
          <a:xfrm>
            <a:off x="4114800" y="3657600"/>
            <a:ext cx="2209800" cy="304800"/>
          </a:xfrm>
          <a:prstGeom prst="rect">
            <a:avLst/>
          </a:prstGeom>
          <a:solidFill>
            <a:srgbClr val="D5F1CF"/>
          </a:solidFill>
          <a:ln w="28575">
            <a:solidFill>
              <a:schemeClr val="tx1"/>
            </a:solidFill>
            <a:miter lim="800000"/>
          </a:ln>
          <a:effectLst/>
        </p:spPr>
        <p:txBody>
          <a:bodyPr wrap="none" anchor="ctr"/>
          <a:lstStyle/>
          <a:p>
            <a:pPr eaLnBrk="1" hangingPunct="1">
              <a:lnSpc>
                <a:spcPct val="100000"/>
              </a:lnSpc>
            </a:pPr>
            <a:r>
              <a:rPr lang="en-US" sz="1800" b="0" dirty="0" err="1">
                <a:latin typeface="Courier New" panose="02070609020205020404"/>
                <a:cs typeface="Courier New" panose="02070609020205020404"/>
              </a:rPr>
              <a:t>envp</a:t>
            </a:r>
            <a:r>
              <a:rPr lang="en-US" sz="1800" b="0" dirty="0">
                <a:latin typeface="Courier New" panose="02070609020205020404"/>
                <a:cs typeface="Courier New" panose="02070609020205020404"/>
              </a:rPr>
              <a:t>[n-1]</a:t>
            </a:r>
            <a:endParaRPr lang="en-US" sz="1800" dirty="0">
              <a:latin typeface="Courier New" panose="02070609020205020404"/>
              <a:cs typeface="Courier New" panose="02070609020205020404"/>
            </a:endParaRPr>
          </a:p>
        </p:txBody>
      </p:sp>
      <p:sp>
        <p:nvSpPr>
          <p:cNvPr id="16" name="Rectangle 23"/>
          <p:cNvSpPr>
            <a:spLocks noChangeArrowheads="1"/>
          </p:cNvSpPr>
          <p:nvPr/>
        </p:nvSpPr>
        <p:spPr bwMode="auto">
          <a:xfrm>
            <a:off x="4114800" y="4267200"/>
            <a:ext cx="2209800" cy="293132"/>
          </a:xfrm>
          <a:prstGeom prst="rect">
            <a:avLst/>
          </a:prstGeom>
          <a:solidFill>
            <a:srgbClr val="D5F1CF"/>
          </a:solidFill>
          <a:ln w="28575">
            <a:solidFill>
              <a:schemeClr val="tx1"/>
            </a:solidFill>
            <a:miter lim="800000"/>
          </a:ln>
          <a:effectLst/>
        </p:spPr>
        <p:txBody>
          <a:bodyPr wrap="none" anchor="ctr"/>
          <a:lstStyle/>
          <a:p>
            <a:pPr eaLnBrk="1" hangingPunct="1">
              <a:lnSpc>
                <a:spcPct val="100000"/>
              </a:lnSpc>
            </a:pPr>
            <a:r>
              <a:rPr lang="en-US" sz="1800" b="0" dirty="0" err="1">
                <a:latin typeface="Courier New" panose="02070609020205020404"/>
                <a:cs typeface="Courier New" panose="02070609020205020404"/>
              </a:rPr>
              <a:t>envp</a:t>
            </a:r>
            <a:r>
              <a:rPr lang="en-US" sz="1800" b="0" dirty="0">
                <a:latin typeface="Courier New" panose="02070609020205020404"/>
                <a:cs typeface="Courier New" panose="02070609020205020404"/>
              </a:rPr>
              <a:t>[0]</a:t>
            </a:r>
            <a:endParaRPr lang="en-US" sz="1800" dirty="0">
              <a:latin typeface="Courier New" panose="02070609020205020404"/>
              <a:cs typeface="Courier New" panose="02070609020205020404"/>
            </a:endParaRPr>
          </a:p>
        </p:txBody>
      </p:sp>
      <p:sp>
        <p:nvSpPr>
          <p:cNvPr id="17" name="Rectangle 23"/>
          <p:cNvSpPr>
            <a:spLocks noChangeArrowheads="1"/>
          </p:cNvSpPr>
          <p:nvPr/>
        </p:nvSpPr>
        <p:spPr bwMode="auto">
          <a:xfrm>
            <a:off x="4114800" y="3962400"/>
            <a:ext cx="2209800" cy="304800"/>
          </a:xfrm>
          <a:prstGeom prst="rect">
            <a:avLst/>
          </a:prstGeom>
          <a:solidFill>
            <a:srgbClr val="D5F1CF"/>
          </a:solidFill>
          <a:ln w="28575">
            <a:solidFill>
              <a:schemeClr val="tx1"/>
            </a:solidFill>
            <a:miter lim="800000"/>
          </a:ln>
          <a:effectLst/>
        </p:spPr>
        <p:txBody>
          <a:bodyPr wrap="none" anchor="ctr"/>
          <a:lstStyle/>
          <a:p>
            <a:pPr eaLnBrk="1" hangingPunct="1">
              <a:lnSpc>
                <a:spcPct val="100000"/>
              </a:lnSpc>
            </a:pPr>
            <a:r>
              <a:rPr lang="en-US" sz="1800" b="0" dirty="0">
                <a:latin typeface="Courier New" panose="02070609020205020404"/>
                <a:cs typeface="Courier New" panose="02070609020205020404"/>
              </a:rPr>
              <a:t>…</a:t>
            </a:r>
            <a:endParaRPr lang="en-US" sz="1800" dirty="0">
              <a:latin typeface="Courier New" panose="02070609020205020404"/>
              <a:cs typeface="Courier New" panose="02070609020205020404"/>
            </a:endParaRPr>
          </a:p>
        </p:txBody>
      </p:sp>
      <p:sp>
        <p:nvSpPr>
          <p:cNvPr id="19" name="Rectangle 23"/>
          <p:cNvSpPr>
            <a:spLocks noChangeArrowheads="1"/>
          </p:cNvSpPr>
          <p:nvPr/>
        </p:nvSpPr>
        <p:spPr bwMode="auto">
          <a:xfrm>
            <a:off x="4114800" y="2035998"/>
            <a:ext cx="2743201" cy="273338"/>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1" hangingPunct="1">
              <a:lnSpc>
                <a:spcPct val="100000"/>
              </a:lnSpc>
            </a:pPr>
            <a:r>
              <a:rPr lang="en-US" sz="1800" b="0" dirty="0" err="1">
                <a:latin typeface="Courier New" panose="02070609020205020404"/>
                <a:cs typeface="Courier New" panose="02070609020205020404"/>
              </a:rPr>
              <a:t>myargv</a:t>
            </a:r>
            <a:r>
              <a:rPr lang="en-US" sz="1800" b="0" dirty="0">
                <a:latin typeface="Courier New" panose="02070609020205020404"/>
                <a:cs typeface="Courier New" panose="02070609020205020404"/>
              </a:rPr>
              <a:t>[</a:t>
            </a:r>
            <a:r>
              <a:rPr lang="en-US" sz="1800" b="0" dirty="0" err="1">
                <a:latin typeface="Courier New" panose="02070609020205020404"/>
                <a:cs typeface="Courier New" panose="02070609020205020404"/>
              </a:rPr>
              <a:t>argc</a:t>
            </a:r>
            <a:r>
              <a:rPr lang="en-US" sz="1800" b="0" dirty="0">
                <a:latin typeface="Courier New" panose="02070609020205020404"/>
                <a:cs typeface="Courier New" panose="02070609020205020404"/>
              </a:rPr>
              <a:t>] = NULL</a:t>
            </a:r>
            <a:endParaRPr lang="en-US" sz="1800" dirty="0">
              <a:latin typeface="Courier New" panose="02070609020205020404"/>
              <a:cs typeface="Courier New" panose="02070609020205020404"/>
            </a:endParaRPr>
          </a:p>
        </p:txBody>
      </p:sp>
      <p:sp>
        <p:nvSpPr>
          <p:cNvPr id="20" name="Rectangle 23"/>
          <p:cNvSpPr>
            <a:spLocks noChangeArrowheads="1"/>
          </p:cNvSpPr>
          <p:nvPr/>
        </p:nvSpPr>
        <p:spPr bwMode="auto">
          <a:xfrm>
            <a:off x="4114800" y="2297668"/>
            <a:ext cx="2743200" cy="304800"/>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1" hangingPunct="1">
              <a:lnSpc>
                <a:spcPct val="100000"/>
              </a:lnSpc>
            </a:pPr>
            <a:r>
              <a:rPr lang="en-US" sz="1800" b="0" dirty="0" err="1">
                <a:latin typeface="Courier New" panose="02070609020205020404"/>
                <a:cs typeface="Courier New" panose="02070609020205020404"/>
              </a:rPr>
              <a:t>myargv</a:t>
            </a:r>
            <a:r>
              <a:rPr lang="en-US" sz="1800" b="0" dirty="0">
                <a:latin typeface="Courier New" panose="02070609020205020404"/>
                <a:cs typeface="Courier New" panose="02070609020205020404"/>
              </a:rPr>
              <a:t>[2]</a:t>
            </a:r>
            <a:endParaRPr lang="en-US" sz="1800" dirty="0">
              <a:latin typeface="Courier New" panose="02070609020205020404"/>
              <a:cs typeface="Courier New" panose="02070609020205020404"/>
            </a:endParaRPr>
          </a:p>
        </p:txBody>
      </p:sp>
      <p:sp>
        <p:nvSpPr>
          <p:cNvPr id="21" name="Rectangle 23"/>
          <p:cNvSpPr>
            <a:spLocks noChangeArrowheads="1"/>
          </p:cNvSpPr>
          <p:nvPr/>
        </p:nvSpPr>
        <p:spPr bwMode="auto">
          <a:xfrm>
            <a:off x="4114800" y="2831068"/>
            <a:ext cx="2743200" cy="304800"/>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1" hangingPunct="1">
              <a:lnSpc>
                <a:spcPct val="100000"/>
              </a:lnSpc>
            </a:pPr>
            <a:r>
              <a:rPr lang="en-US" sz="1800" b="0" dirty="0" err="1">
                <a:latin typeface="Courier New" panose="02070609020205020404"/>
                <a:cs typeface="Courier New" panose="02070609020205020404"/>
              </a:rPr>
              <a:t>myargv</a:t>
            </a:r>
            <a:r>
              <a:rPr lang="en-US" sz="1800" b="0" dirty="0">
                <a:latin typeface="Courier New" panose="02070609020205020404"/>
                <a:cs typeface="Courier New" panose="02070609020205020404"/>
              </a:rPr>
              <a:t>[0]</a:t>
            </a:r>
            <a:endParaRPr lang="en-US" sz="1800" dirty="0">
              <a:latin typeface="Courier New" panose="02070609020205020404"/>
              <a:cs typeface="Courier New" panose="02070609020205020404"/>
            </a:endParaRPr>
          </a:p>
        </p:txBody>
      </p:sp>
      <p:sp>
        <p:nvSpPr>
          <p:cNvPr id="22" name="Rectangle 23"/>
          <p:cNvSpPr>
            <a:spLocks noChangeArrowheads="1"/>
          </p:cNvSpPr>
          <p:nvPr/>
        </p:nvSpPr>
        <p:spPr bwMode="auto">
          <a:xfrm>
            <a:off x="4114800" y="2602468"/>
            <a:ext cx="2743200" cy="273338"/>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1" hangingPunct="1">
              <a:lnSpc>
                <a:spcPct val="100000"/>
              </a:lnSpc>
            </a:pPr>
            <a:r>
              <a:rPr lang="en-US" sz="1800" b="0" dirty="0" err="1">
                <a:latin typeface="Courier New" panose="02070609020205020404"/>
                <a:cs typeface="Courier New" panose="02070609020205020404"/>
              </a:rPr>
              <a:t>myargv</a:t>
            </a:r>
            <a:r>
              <a:rPr lang="en-US" sz="1800" b="0" dirty="0">
                <a:latin typeface="Courier New" panose="02070609020205020404"/>
                <a:cs typeface="Courier New" panose="02070609020205020404"/>
              </a:rPr>
              <a:t>[1]</a:t>
            </a:r>
            <a:endParaRPr lang="en-US" sz="1800" dirty="0">
              <a:latin typeface="Courier New" panose="02070609020205020404"/>
              <a:cs typeface="Courier New" panose="02070609020205020404"/>
            </a:endParaRPr>
          </a:p>
        </p:txBody>
      </p:sp>
      <p:sp>
        <p:nvSpPr>
          <p:cNvPr id="28" name="TextBox 27"/>
          <p:cNvSpPr txBox="1"/>
          <p:nvPr/>
        </p:nvSpPr>
        <p:spPr>
          <a:xfrm>
            <a:off x="7610905" y="2907268"/>
            <a:ext cx="1431364" cy="369332"/>
          </a:xfrm>
          <a:prstGeom prst="rect">
            <a:avLst/>
          </a:prstGeom>
          <a:noFill/>
        </p:spPr>
        <p:txBody>
          <a:bodyPr wrap="none" rtlCol="0">
            <a:spAutoFit/>
          </a:bodyPr>
          <a:lstStyle/>
          <a:p>
            <a:r>
              <a:rPr lang="en-US" sz="1800" dirty="0">
                <a:latin typeface="Courier New" panose="02070609020205020404"/>
                <a:cs typeface="Courier New" panose="02070609020205020404"/>
              </a:rPr>
              <a:t>“</a:t>
            </a:r>
            <a:r>
              <a:rPr lang="en-US" sz="1800" b="0" dirty="0">
                <a:latin typeface="Courier New" panose="02070609020205020404"/>
                <a:cs typeface="Courier New" panose="02070609020205020404"/>
              </a:rPr>
              <a:t>/bin/</a:t>
            </a:r>
            <a:r>
              <a:rPr lang="en-US" sz="1800" b="0" dirty="0" err="1">
                <a:latin typeface="Courier New" panose="02070609020205020404"/>
                <a:cs typeface="Courier New" panose="02070609020205020404"/>
              </a:rPr>
              <a:t>ls</a:t>
            </a:r>
            <a:r>
              <a:rPr lang="en-US" sz="1800" dirty="0">
                <a:latin typeface="Courier New" panose="02070609020205020404"/>
                <a:cs typeface="Courier New" panose="02070609020205020404"/>
              </a:rPr>
              <a:t>”</a:t>
            </a:r>
            <a:endParaRPr lang="en-US" sz="1800" dirty="0">
              <a:latin typeface="Courier New" panose="02070609020205020404"/>
              <a:cs typeface="Courier New" panose="02070609020205020404"/>
            </a:endParaRPr>
          </a:p>
        </p:txBody>
      </p:sp>
      <p:sp>
        <p:nvSpPr>
          <p:cNvPr id="31" name="TextBox 30"/>
          <p:cNvSpPr txBox="1"/>
          <p:nvPr/>
        </p:nvSpPr>
        <p:spPr>
          <a:xfrm>
            <a:off x="7610906" y="2598155"/>
            <a:ext cx="873957" cy="369332"/>
          </a:xfrm>
          <a:prstGeom prst="rect">
            <a:avLst/>
          </a:prstGeom>
          <a:noFill/>
        </p:spPr>
        <p:txBody>
          <a:bodyPr wrap="none" rtlCol="0">
            <a:spAutoFit/>
          </a:bodyPr>
          <a:lstStyle/>
          <a:p>
            <a:r>
              <a:rPr lang="en-US" sz="1800" dirty="0">
                <a:latin typeface="Courier New" panose="02070609020205020404"/>
                <a:cs typeface="Courier New" panose="02070609020205020404"/>
              </a:rPr>
              <a:t>“</a:t>
            </a:r>
            <a:r>
              <a:rPr lang="en-US" sz="1800" b="0" dirty="0">
                <a:latin typeface="Courier New" panose="02070609020205020404"/>
                <a:cs typeface="Courier New" panose="02070609020205020404"/>
              </a:rPr>
              <a:t>-</a:t>
            </a:r>
            <a:r>
              <a:rPr lang="en-US" sz="1800" b="0" dirty="0" err="1">
                <a:latin typeface="Courier New" panose="02070609020205020404"/>
                <a:cs typeface="Courier New" panose="02070609020205020404"/>
              </a:rPr>
              <a:t>lt</a:t>
            </a:r>
            <a:r>
              <a:rPr lang="en-US" sz="1800" dirty="0">
                <a:latin typeface="Courier New" panose="02070609020205020404"/>
                <a:cs typeface="Courier New" panose="02070609020205020404"/>
              </a:rPr>
              <a:t>”</a:t>
            </a:r>
            <a:endParaRPr lang="en-US" sz="1800" dirty="0">
              <a:latin typeface="Courier New" panose="02070609020205020404"/>
              <a:cs typeface="Courier New" panose="02070609020205020404"/>
            </a:endParaRPr>
          </a:p>
        </p:txBody>
      </p:sp>
      <p:sp>
        <p:nvSpPr>
          <p:cNvPr id="32" name="TextBox 31"/>
          <p:cNvSpPr txBox="1"/>
          <p:nvPr/>
        </p:nvSpPr>
        <p:spPr>
          <a:xfrm>
            <a:off x="7613389" y="2297668"/>
            <a:ext cx="2114681" cy="369332"/>
          </a:xfrm>
          <a:prstGeom prst="rect">
            <a:avLst/>
          </a:prstGeom>
          <a:noFill/>
        </p:spPr>
        <p:txBody>
          <a:bodyPr wrap="none" rtlCol="0">
            <a:spAutoFit/>
          </a:bodyPr>
          <a:lstStyle/>
          <a:p>
            <a:r>
              <a:rPr lang="en-US" sz="1800" dirty="0">
                <a:latin typeface="Courier New" panose="02070609020205020404"/>
                <a:cs typeface="Courier New" panose="02070609020205020404"/>
              </a:rPr>
              <a:t>“</a:t>
            </a:r>
            <a:r>
              <a:rPr lang="en-US" sz="1800" b="0" dirty="0">
                <a:latin typeface="Courier New" panose="02070609020205020404"/>
                <a:cs typeface="Courier New" panose="02070609020205020404"/>
              </a:rPr>
              <a:t>/</a:t>
            </a:r>
            <a:r>
              <a:rPr lang="en-US" sz="1800" b="0" dirty="0" err="1">
                <a:latin typeface="Courier New" panose="02070609020205020404"/>
                <a:cs typeface="Courier New" panose="02070609020205020404"/>
              </a:rPr>
              <a:t>usr</a:t>
            </a:r>
            <a:r>
              <a:rPr lang="en-US" sz="1800" b="0" dirty="0">
                <a:latin typeface="Courier New" panose="02070609020205020404"/>
                <a:cs typeface="Courier New" panose="02070609020205020404"/>
              </a:rPr>
              <a:t>/include</a:t>
            </a:r>
            <a:r>
              <a:rPr lang="en-US" sz="1800" dirty="0">
                <a:latin typeface="Courier New" panose="02070609020205020404"/>
                <a:cs typeface="Courier New" panose="02070609020205020404"/>
              </a:rPr>
              <a:t>”</a:t>
            </a:r>
            <a:endParaRPr lang="en-US" sz="1800" dirty="0">
              <a:latin typeface="Courier New" panose="02070609020205020404"/>
              <a:cs typeface="Courier New" panose="02070609020205020404"/>
            </a:endParaRPr>
          </a:p>
        </p:txBody>
      </p:sp>
      <p:sp>
        <p:nvSpPr>
          <p:cNvPr id="33" name="TextBox 32"/>
          <p:cNvSpPr txBox="1"/>
          <p:nvPr/>
        </p:nvSpPr>
        <p:spPr>
          <a:xfrm>
            <a:off x="7086601" y="4234130"/>
            <a:ext cx="1701107" cy="369332"/>
          </a:xfrm>
          <a:prstGeom prst="rect">
            <a:avLst/>
          </a:prstGeom>
          <a:noFill/>
        </p:spPr>
        <p:txBody>
          <a:bodyPr wrap="none" rtlCol="0">
            <a:spAutoFit/>
          </a:bodyPr>
          <a:lstStyle/>
          <a:p>
            <a:r>
              <a:rPr lang="en-US" sz="1800" dirty="0">
                <a:latin typeface="Courier New" panose="02070609020205020404"/>
                <a:cs typeface="Courier New" panose="02070609020205020404"/>
              </a:rPr>
              <a:t>“</a:t>
            </a:r>
            <a:r>
              <a:rPr lang="en-US" sz="1800" b="0" dirty="0">
                <a:latin typeface="Courier New" panose="02070609020205020404"/>
                <a:cs typeface="Courier New" panose="02070609020205020404"/>
              </a:rPr>
              <a:t>USER=</a:t>
            </a:r>
            <a:r>
              <a:rPr lang="en-US" sz="1800" b="0" dirty="0" err="1">
                <a:latin typeface="Courier New" panose="02070609020205020404"/>
                <a:cs typeface="Courier New" panose="02070609020205020404"/>
              </a:rPr>
              <a:t>droh</a:t>
            </a:r>
            <a:r>
              <a:rPr lang="en-US" sz="1800" dirty="0">
                <a:latin typeface="Courier New" panose="02070609020205020404"/>
                <a:cs typeface="Courier New" panose="02070609020205020404"/>
              </a:rPr>
              <a:t>”</a:t>
            </a:r>
            <a:endParaRPr lang="en-US" sz="1800" dirty="0">
              <a:latin typeface="Courier New" panose="02070609020205020404"/>
              <a:cs typeface="Courier New" panose="02070609020205020404"/>
            </a:endParaRPr>
          </a:p>
        </p:txBody>
      </p:sp>
      <p:sp>
        <p:nvSpPr>
          <p:cNvPr id="35" name="TextBox 34"/>
          <p:cNvSpPr txBox="1"/>
          <p:nvPr/>
        </p:nvSpPr>
        <p:spPr>
          <a:xfrm>
            <a:off x="7086600" y="3624074"/>
            <a:ext cx="2252540" cy="369332"/>
          </a:xfrm>
          <a:prstGeom prst="rect">
            <a:avLst/>
          </a:prstGeom>
          <a:noFill/>
        </p:spPr>
        <p:txBody>
          <a:bodyPr wrap="none" rtlCol="0">
            <a:spAutoFit/>
          </a:bodyPr>
          <a:lstStyle/>
          <a:p>
            <a:r>
              <a:rPr lang="en-US" sz="1800" dirty="0">
                <a:latin typeface="Courier New" panose="02070609020205020404"/>
                <a:cs typeface="Courier New" panose="02070609020205020404"/>
              </a:rPr>
              <a:t>“</a:t>
            </a:r>
            <a:r>
              <a:rPr lang="en-US" sz="1800" b="0" dirty="0">
                <a:latin typeface="Courier New" panose="02070609020205020404"/>
                <a:cs typeface="Courier New" panose="02070609020205020404"/>
              </a:rPr>
              <a:t>PWD=/</a:t>
            </a:r>
            <a:r>
              <a:rPr lang="en-US" sz="1800" b="0" dirty="0" err="1">
                <a:latin typeface="Courier New" panose="02070609020205020404"/>
                <a:cs typeface="Courier New" panose="02070609020205020404"/>
              </a:rPr>
              <a:t>usr</a:t>
            </a:r>
            <a:r>
              <a:rPr lang="en-US" sz="1800" b="0" dirty="0">
                <a:latin typeface="Courier New" panose="02070609020205020404"/>
                <a:cs typeface="Courier New" panose="02070609020205020404"/>
              </a:rPr>
              <a:t>/</a:t>
            </a:r>
            <a:r>
              <a:rPr lang="en-US" sz="1800" b="0" dirty="0" err="1">
                <a:latin typeface="Courier New" panose="02070609020205020404"/>
                <a:cs typeface="Courier New" panose="02070609020205020404"/>
              </a:rPr>
              <a:t>droh</a:t>
            </a:r>
            <a:r>
              <a:rPr lang="en-US" sz="1800" dirty="0">
                <a:latin typeface="Courier New" panose="02070609020205020404"/>
                <a:cs typeface="Courier New" panose="02070609020205020404"/>
              </a:rPr>
              <a:t>”</a:t>
            </a:r>
            <a:endParaRPr lang="en-US" sz="1800" dirty="0">
              <a:latin typeface="Courier New" panose="02070609020205020404"/>
              <a:cs typeface="Courier New" panose="02070609020205020404"/>
            </a:endParaRPr>
          </a:p>
        </p:txBody>
      </p:sp>
      <p:cxnSp>
        <p:nvCxnSpPr>
          <p:cNvPr id="37" name="Straight Arrow Connector 36"/>
          <p:cNvCxnSpPr/>
          <p:nvPr/>
        </p:nvCxnSpPr>
        <p:spPr bwMode="auto">
          <a:xfrm>
            <a:off x="6858000" y="3091130"/>
            <a:ext cx="717550" cy="804"/>
          </a:xfrm>
          <a:prstGeom prst="straightConnector1">
            <a:avLst/>
          </a:prstGeom>
          <a:noFill/>
          <a:ln w="25400" cap="flat" cmpd="sng" algn="ctr">
            <a:solidFill>
              <a:schemeClr val="tx1"/>
            </a:solidFill>
            <a:prstDash val="solid"/>
            <a:round/>
            <a:headEnd type="none" w="med" len="med"/>
            <a:tailEnd type="arrow"/>
          </a:ln>
          <a:effectLst/>
        </p:spPr>
      </p:cxnSp>
      <p:cxnSp>
        <p:nvCxnSpPr>
          <p:cNvPr id="39" name="Straight Arrow Connector 38"/>
          <p:cNvCxnSpPr/>
          <p:nvPr/>
        </p:nvCxnSpPr>
        <p:spPr bwMode="auto">
          <a:xfrm flipV="1">
            <a:off x="6858000" y="2782822"/>
            <a:ext cx="717550" cy="3509"/>
          </a:xfrm>
          <a:prstGeom prst="straightConnector1">
            <a:avLst/>
          </a:prstGeom>
          <a:noFill/>
          <a:ln w="25400" cap="flat" cmpd="sng" algn="ctr">
            <a:solidFill>
              <a:schemeClr val="tx1"/>
            </a:solidFill>
            <a:prstDash val="solid"/>
            <a:round/>
            <a:headEnd type="none" w="med" len="med"/>
            <a:tailEnd type="arrow"/>
          </a:ln>
          <a:effectLst/>
        </p:spPr>
      </p:cxnSp>
      <p:cxnSp>
        <p:nvCxnSpPr>
          <p:cNvPr id="41" name="Straight Arrow Connector 40"/>
          <p:cNvCxnSpPr/>
          <p:nvPr/>
        </p:nvCxnSpPr>
        <p:spPr bwMode="auto">
          <a:xfrm>
            <a:off x="6858001" y="2481530"/>
            <a:ext cx="736469" cy="804"/>
          </a:xfrm>
          <a:prstGeom prst="straightConnector1">
            <a:avLst/>
          </a:prstGeom>
          <a:noFill/>
          <a:ln w="25400" cap="flat" cmpd="sng" algn="ctr">
            <a:solidFill>
              <a:schemeClr val="tx1"/>
            </a:solidFill>
            <a:prstDash val="solid"/>
            <a:round/>
            <a:headEnd type="none" w="med" len="med"/>
            <a:tailEnd type="arrow"/>
          </a:ln>
          <a:effectLst/>
        </p:spPr>
      </p:cxnSp>
      <p:cxnSp>
        <p:nvCxnSpPr>
          <p:cNvPr id="47" name="Straight Arrow Connector 46"/>
          <p:cNvCxnSpPr>
            <a:stCxn id="16" idx="3"/>
            <a:endCxn id="33" idx="1"/>
          </p:cNvCxnSpPr>
          <p:nvPr/>
        </p:nvCxnSpPr>
        <p:spPr bwMode="auto">
          <a:xfrm>
            <a:off x="6324600" y="4413766"/>
            <a:ext cx="762000" cy="5030"/>
          </a:xfrm>
          <a:prstGeom prst="straightConnector1">
            <a:avLst/>
          </a:prstGeom>
          <a:noFill/>
          <a:ln w="25400" cap="flat" cmpd="sng" algn="ctr">
            <a:solidFill>
              <a:schemeClr val="tx1"/>
            </a:solidFill>
            <a:prstDash val="solid"/>
            <a:round/>
            <a:headEnd type="none" w="med" len="med"/>
            <a:tailEnd type="arrow"/>
          </a:ln>
          <a:effectLst/>
        </p:spPr>
      </p:cxnSp>
      <p:cxnSp>
        <p:nvCxnSpPr>
          <p:cNvPr id="53" name="Straight Arrow Connector 52"/>
          <p:cNvCxnSpPr>
            <a:stCxn id="15" idx="3"/>
            <a:endCxn id="35" idx="1"/>
          </p:cNvCxnSpPr>
          <p:nvPr/>
        </p:nvCxnSpPr>
        <p:spPr bwMode="auto">
          <a:xfrm flipV="1">
            <a:off x="6324600" y="3808740"/>
            <a:ext cx="762000" cy="1260"/>
          </a:xfrm>
          <a:prstGeom prst="straightConnector1">
            <a:avLst/>
          </a:prstGeom>
          <a:noFill/>
          <a:ln w="25400" cap="flat" cmpd="sng" algn="ctr">
            <a:solidFill>
              <a:schemeClr val="tx1"/>
            </a:solidFill>
            <a:prstDash val="solid"/>
            <a:round/>
            <a:headEnd type="none" w="med" len="med"/>
            <a:tailEnd type="arrow"/>
          </a:ln>
          <a:effectLst/>
        </p:spPr>
      </p:cxnSp>
      <p:sp>
        <p:nvSpPr>
          <p:cNvPr id="26" name="TextBox 25"/>
          <p:cNvSpPr txBox="1"/>
          <p:nvPr/>
        </p:nvSpPr>
        <p:spPr>
          <a:xfrm>
            <a:off x="2209800" y="4376470"/>
            <a:ext cx="1154320" cy="369332"/>
          </a:xfrm>
          <a:prstGeom prst="rect">
            <a:avLst/>
          </a:prstGeom>
          <a:noFill/>
        </p:spPr>
        <p:txBody>
          <a:bodyPr wrap="none" rtlCol="0">
            <a:spAutoFit/>
          </a:bodyPr>
          <a:lstStyle/>
          <a:p>
            <a:r>
              <a:rPr lang="en-US" sz="1800" b="0" dirty="0">
                <a:latin typeface="Courier New" panose="02070609020205020404"/>
                <a:cs typeface="Courier New" panose="02070609020205020404"/>
              </a:rPr>
              <a:t>environ</a:t>
            </a:r>
            <a:endParaRPr lang="en-US" sz="1800" b="0" dirty="0">
              <a:latin typeface="Courier New" panose="02070609020205020404"/>
              <a:cs typeface="Courier New" panose="02070609020205020404"/>
            </a:endParaRPr>
          </a:p>
        </p:txBody>
      </p:sp>
      <p:cxnSp>
        <p:nvCxnSpPr>
          <p:cNvPr id="30" name="Straight Arrow Connector 29"/>
          <p:cNvCxnSpPr/>
          <p:nvPr/>
        </p:nvCxnSpPr>
        <p:spPr bwMode="auto">
          <a:xfrm flipV="1">
            <a:off x="3352800" y="4560332"/>
            <a:ext cx="717550" cy="804"/>
          </a:xfrm>
          <a:prstGeom prst="straightConnector1">
            <a:avLst/>
          </a:prstGeom>
          <a:noFill/>
          <a:ln w="25400" cap="flat" cmpd="sng" algn="ctr">
            <a:solidFill>
              <a:schemeClr val="tx1"/>
            </a:solidFill>
            <a:prstDash val="solid"/>
            <a:round/>
            <a:headEnd type="none" w="med" len="med"/>
            <a:tailEnd type="arrow"/>
          </a:ln>
          <a:effectLst/>
        </p:spPr>
      </p:cxnSp>
      <p:sp>
        <p:nvSpPr>
          <p:cNvPr id="38" name="TextBox 37"/>
          <p:cNvSpPr txBox="1"/>
          <p:nvPr/>
        </p:nvSpPr>
        <p:spPr>
          <a:xfrm>
            <a:off x="2362200" y="2907268"/>
            <a:ext cx="1015798" cy="369332"/>
          </a:xfrm>
          <a:prstGeom prst="rect">
            <a:avLst/>
          </a:prstGeom>
          <a:noFill/>
        </p:spPr>
        <p:txBody>
          <a:bodyPr wrap="none" rtlCol="0">
            <a:spAutoFit/>
          </a:bodyPr>
          <a:lstStyle/>
          <a:p>
            <a:r>
              <a:rPr lang="en-US" sz="1800" b="0" dirty="0" err="1">
                <a:latin typeface="Courier New" panose="02070609020205020404"/>
                <a:cs typeface="Courier New" panose="02070609020205020404"/>
              </a:rPr>
              <a:t>myargv</a:t>
            </a:r>
            <a:endParaRPr lang="en-US" sz="1800" b="0" dirty="0">
              <a:latin typeface="Courier New" panose="02070609020205020404"/>
              <a:cs typeface="Courier New" panose="02070609020205020404"/>
            </a:endParaRPr>
          </a:p>
        </p:txBody>
      </p:sp>
      <p:cxnSp>
        <p:nvCxnSpPr>
          <p:cNvPr id="40" name="Straight Arrow Connector 39"/>
          <p:cNvCxnSpPr/>
          <p:nvPr/>
        </p:nvCxnSpPr>
        <p:spPr bwMode="auto">
          <a:xfrm flipV="1">
            <a:off x="3352800" y="3091130"/>
            <a:ext cx="717550" cy="804"/>
          </a:xfrm>
          <a:prstGeom prst="straightConnector1">
            <a:avLst/>
          </a:prstGeom>
          <a:noFill/>
          <a:ln w="25400" cap="flat" cmpd="sng" algn="ctr">
            <a:solidFill>
              <a:schemeClr val="tx1"/>
            </a:solidFill>
            <a:prstDash val="solid"/>
            <a:round/>
            <a:headEnd type="none" w="med" len="med"/>
            <a:tailEnd type="arrow"/>
          </a:ln>
          <a:effectLst/>
        </p:spPr>
      </p:cxnSp>
      <p:sp>
        <p:nvSpPr>
          <p:cNvPr id="36" name="Text Box 4"/>
          <p:cNvSpPr txBox="1">
            <a:spLocks noChangeArrowheads="1"/>
          </p:cNvSpPr>
          <p:nvPr/>
        </p:nvSpPr>
        <p:spPr bwMode="auto">
          <a:xfrm>
            <a:off x="2146643" y="4983540"/>
            <a:ext cx="7568111" cy="1569660"/>
          </a:xfrm>
          <a:prstGeom prst="rect">
            <a:avLst/>
          </a:prstGeom>
          <a:solidFill>
            <a:srgbClr val="F6F5BD"/>
          </a:solidFill>
          <a:ln w="3175">
            <a:solidFill>
              <a:schemeClr val="tx1"/>
            </a:solidFill>
            <a:miter lim="800000"/>
          </a:ln>
          <a:effectLst/>
        </p:spPr>
        <p:txBody>
          <a:bodyPr wrap="square">
            <a:spAutoFit/>
          </a:bodyPr>
          <a:lstStyle/>
          <a:p>
            <a:r>
              <a:rPr lang="en-US" sz="1600" dirty="0">
                <a:solidFill>
                  <a:srgbClr val="000000"/>
                </a:solidFill>
                <a:latin typeface="Menlo-Regular" panose="020B0609030804020204"/>
              </a:rPr>
              <a:t>  </a:t>
            </a:r>
            <a:r>
              <a:rPr lang="en-US" sz="1600" dirty="0">
                <a:solidFill>
                  <a:srgbClr val="9D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pid</a:t>
            </a:r>
            <a:r>
              <a:rPr lang="en-US" sz="1600" dirty="0">
                <a:solidFill>
                  <a:srgbClr val="000000"/>
                </a:solidFill>
                <a:latin typeface="Menlo-Regular" panose="020B0609030804020204"/>
              </a:rPr>
              <a:t> = Fork()) == 0) {   </a:t>
            </a:r>
            <a:r>
              <a:rPr lang="en-US" sz="1600" dirty="0">
                <a:solidFill>
                  <a:srgbClr val="9D0003"/>
                </a:solidFill>
                <a:latin typeface="Menlo-Regular" panose="020B0609030804020204"/>
              </a:rPr>
              <a:t>/* Child runs program */</a:t>
            </a:r>
            <a:r>
              <a:rPr lang="en-US" sz="1600" dirty="0">
                <a:solidFill>
                  <a:srgbClr val="000000"/>
                </a:solidFill>
                <a:latin typeface="Menlo-Regular" panose="020B0609030804020204"/>
              </a:rPr>
              <a:t>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a:solidFill>
                  <a:srgbClr val="9D00FF"/>
                </a:solidFill>
                <a:latin typeface="Menlo-Regular" panose="020B0609030804020204"/>
              </a:rPr>
              <a:t>if</a:t>
            </a:r>
            <a:r>
              <a:rPr lang="en-US" sz="1600" dirty="0">
                <a:solidFill>
                  <a:srgbClr val="000000"/>
                </a:solidFill>
                <a:latin typeface="Menlo-Regular" panose="020B0609030804020204"/>
              </a:rPr>
              <a:t> (</a:t>
            </a:r>
            <a:r>
              <a:rPr lang="en-US" sz="1600" dirty="0" err="1">
                <a:solidFill>
                  <a:srgbClr val="FF0000"/>
                </a:solidFill>
                <a:latin typeface="Menlo-Regular" panose="020B0609030804020204"/>
              </a:rPr>
              <a:t>execve</a:t>
            </a:r>
            <a:r>
              <a:rPr lang="en-US" sz="1600" dirty="0">
                <a:solidFill>
                  <a:srgbClr val="000000"/>
                </a:solidFill>
                <a:latin typeface="Menlo-Regular" panose="020B0609030804020204"/>
              </a:rPr>
              <a:t>(</a:t>
            </a:r>
            <a:r>
              <a:rPr lang="en-US" sz="1600" dirty="0" err="1">
                <a:solidFill>
                  <a:srgbClr val="000000"/>
                </a:solidFill>
                <a:latin typeface="Menlo-Regular" panose="020B0609030804020204"/>
              </a:rPr>
              <a:t>myargv</a:t>
            </a:r>
            <a:r>
              <a:rPr lang="en-US" sz="1600" dirty="0">
                <a:solidFill>
                  <a:srgbClr val="000000"/>
                </a:solidFill>
                <a:latin typeface="Menlo-Regular" panose="020B0609030804020204"/>
              </a:rPr>
              <a:t>[0], </a:t>
            </a:r>
            <a:r>
              <a:rPr lang="en-US" sz="1600" dirty="0" err="1">
                <a:solidFill>
                  <a:srgbClr val="000000"/>
                </a:solidFill>
                <a:latin typeface="Menlo-Regular" panose="020B0609030804020204"/>
              </a:rPr>
              <a:t>myargv</a:t>
            </a:r>
            <a:r>
              <a:rPr lang="en-US" sz="1600" dirty="0">
                <a:solidFill>
                  <a:srgbClr val="000000"/>
                </a:solidFill>
                <a:latin typeface="Menlo-Regular" panose="020B0609030804020204"/>
              </a:rPr>
              <a:t>, environ) &lt; 0) {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printf</a:t>
            </a:r>
            <a:r>
              <a:rPr lang="en-US" sz="1600" dirty="0">
                <a:solidFill>
                  <a:srgbClr val="000000"/>
                </a:solidFill>
                <a:latin typeface="Menlo-Regular" panose="020B0609030804020204"/>
              </a:rPr>
              <a:t>(</a:t>
            </a:r>
            <a:r>
              <a:rPr lang="en-US" sz="1600" dirty="0">
                <a:solidFill>
                  <a:srgbClr val="72004C"/>
                </a:solidFill>
                <a:latin typeface="Menlo-Regular" panose="020B0609030804020204"/>
              </a:rPr>
              <a:t>"%s: Command not found.\n"</a:t>
            </a:r>
            <a:r>
              <a:rPr lang="en-US" sz="1600" dirty="0">
                <a:solidFill>
                  <a:srgbClr val="000000"/>
                </a:solidFill>
                <a:latin typeface="Menlo-Regular" panose="020B0609030804020204"/>
              </a:rPr>
              <a:t>, </a:t>
            </a:r>
            <a:r>
              <a:rPr lang="en-US" sz="1600" dirty="0" err="1">
                <a:solidFill>
                  <a:srgbClr val="000000"/>
                </a:solidFill>
                <a:latin typeface="Menlo-Regular" panose="020B0609030804020204"/>
              </a:rPr>
              <a:t>myargv</a:t>
            </a:r>
            <a:r>
              <a:rPr lang="en-US" sz="1600" dirty="0">
                <a:solidFill>
                  <a:srgbClr val="000000"/>
                </a:solidFill>
                <a:latin typeface="Menlo-Regular" panose="020B0609030804020204"/>
              </a:rPr>
              <a:t>[0]);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exit(1);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                                                                                                </a:t>
            </a:r>
            <a:endParaRPr lang="en-US" sz="1600" dirty="0">
              <a:solidFill>
                <a:srgbClr val="000000"/>
              </a:solidFill>
              <a:latin typeface="Menlo-Regular" panose="020B0609030804020204"/>
            </a:endParaRPr>
          </a:p>
          <a:p>
            <a:r>
              <a:rPr lang="en-US" sz="1600" dirty="0">
                <a:solidFill>
                  <a:srgbClr val="000000"/>
                </a:solidFill>
                <a:latin typeface="Menlo-Regular" panose="020B0609030804020204"/>
              </a:rPr>
              <a:t>  }                                                                                                    </a:t>
            </a:r>
            <a:endParaRPr lang="en-US" sz="1600" dirty="0">
              <a:solidFill>
                <a:srgbClr val="000000"/>
              </a:solidFill>
              <a:latin typeface="Menlo-Regular" panose="020B0609030804020204"/>
            </a:endParaRPr>
          </a:p>
        </p:txBody>
      </p:sp>
      <p:sp>
        <p:nvSpPr>
          <p:cNvPr id="42" name="Rectangle 3"/>
          <p:cNvSpPr txBox="1">
            <a:spLocks noChangeArrowheads="1"/>
          </p:cNvSpPr>
          <p:nvPr/>
        </p:nvSpPr>
        <p:spPr bwMode="auto">
          <a:xfrm>
            <a:off x="685800" y="1262966"/>
            <a:ext cx="10515599" cy="456564"/>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r>
              <a:rPr lang="zh-CN" altLang="en-US" dirty="0">
                <a:latin typeface="仿宋" panose="02010609060101010101" pitchFamily="49" charset="-122"/>
                <a:ea typeface="仿宋" panose="02010609060101010101" pitchFamily="49" charset="-122"/>
              </a:rPr>
              <a:t>使用当前环境在子进程中执行</a:t>
            </a:r>
            <a:r>
              <a:rPr lang="en-US" dirty="0">
                <a:latin typeface="Courier New" panose="02070609020205020404" pitchFamily="49" charset="0"/>
              </a:rPr>
              <a:t> “</a:t>
            </a:r>
            <a:r>
              <a:rPr lang="en-US" b="0" dirty="0">
                <a:latin typeface="Courier New" panose="02070609020205020404"/>
                <a:cs typeface="Courier New" panose="02070609020205020404"/>
              </a:rPr>
              <a:t>/bin/</a:t>
            </a:r>
            <a:r>
              <a:rPr lang="en-US" b="0" dirty="0" err="1">
                <a:latin typeface="Courier New" panose="02070609020205020404"/>
                <a:cs typeface="Courier New" panose="02070609020205020404"/>
              </a:rPr>
              <a:t>ls</a:t>
            </a:r>
            <a:r>
              <a:rPr lang="en-US" b="0" dirty="0">
                <a:latin typeface="Courier New" panose="02070609020205020404"/>
                <a:cs typeface="Courier New" panose="02070609020205020404"/>
              </a:rPr>
              <a:t> –</a:t>
            </a:r>
            <a:r>
              <a:rPr lang="en-US" b="0" dirty="0" err="1">
                <a:latin typeface="Courier New" panose="02070609020205020404"/>
                <a:cs typeface="Courier New" panose="02070609020205020404"/>
              </a:rPr>
              <a:t>lt</a:t>
            </a:r>
            <a:r>
              <a:rPr lang="en-US" b="0" dirty="0">
                <a:latin typeface="Courier New" panose="02070609020205020404"/>
                <a:cs typeface="Courier New" panose="02070609020205020404"/>
              </a:rPr>
              <a:t> /</a:t>
            </a:r>
            <a:r>
              <a:rPr lang="en-US" b="0" dirty="0" err="1">
                <a:latin typeface="Courier New" panose="02070609020205020404"/>
                <a:cs typeface="Courier New" panose="02070609020205020404"/>
              </a:rPr>
              <a:t>usr</a:t>
            </a:r>
            <a:r>
              <a:rPr lang="en-US" b="0" dirty="0">
                <a:latin typeface="Courier New" panose="02070609020205020404"/>
                <a:cs typeface="Courier New" panose="02070609020205020404"/>
              </a:rPr>
              <a:t>/include</a:t>
            </a:r>
            <a:r>
              <a:rPr lang="en-US" dirty="0">
                <a:latin typeface="Courier New" panose="02070609020205020404" pitchFamily="49" charset="0"/>
              </a:rPr>
              <a:t>” </a:t>
            </a:r>
            <a:r>
              <a:rPr lang="zh-CN" altLang="en-US" dirty="0">
                <a:latin typeface="仿宋" panose="02010609060101010101" pitchFamily="49" charset="-122"/>
                <a:ea typeface="仿宋" panose="02010609060101010101" pitchFamily="49" charset="-122"/>
              </a:rPr>
              <a:t>：</a:t>
            </a:r>
            <a:endParaRPr lang="zh-CN" altLang="en-US" sz="2800" dirty="0">
              <a:latin typeface="Courier New" panose="02070609020205020404" pitchFamily="49" charset="0"/>
              <a:ea typeface="SimSun" pitchFamily="2" charset="-122"/>
              <a:cs typeface="Calibri" panose="020F0502020204030204"/>
            </a:endParaRPr>
          </a:p>
        </p:txBody>
      </p:sp>
      <p:sp>
        <p:nvSpPr>
          <p:cNvPr id="7" name="TextBox 6"/>
          <p:cNvSpPr txBox="1"/>
          <p:nvPr/>
        </p:nvSpPr>
        <p:spPr>
          <a:xfrm>
            <a:off x="1981200" y="2362200"/>
            <a:ext cx="1708408" cy="369332"/>
          </a:xfrm>
          <a:prstGeom prst="rect">
            <a:avLst/>
          </a:prstGeom>
          <a:noFill/>
        </p:spPr>
        <p:txBody>
          <a:bodyPr wrap="none" rtlCol="0">
            <a:spAutoFit/>
          </a:bodyPr>
          <a:lstStyle/>
          <a:p>
            <a:r>
              <a:rPr lang="en-US" sz="1800" b="0" dirty="0">
                <a:latin typeface="Courier New" panose="02070609020205020404"/>
                <a:cs typeface="Courier New" panose="02070609020205020404"/>
              </a:rPr>
              <a:t>(</a:t>
            </a:r>
            <a:r>
              <a:rPr lang="en-US" sz="1800" b="0" dirty="0" err="1">
                <a:latin typeface="Courier New" panose="02070609020205020404"/>
                <a:cs typeface="Courier New" panose="02070609020205020404"/>
              </a:rPr>
              <a:t>argc</a:t>
            </a:r>
            <a:r>
              <a:rPr lang="en-US" sz="1800" b="0" dirty="0">
                <a:latin typeface="Courier New" panose="02070609020205020404"/>
                <a:cs typeface="Courier New" panose="02070609020205020404"/>
              </a:rPr>
              <a:t> == 3)</a:t>
            </a:r>
            <a:endParaRPr lang="en-US" sz="1800" b="0" dirty="0">
              <a:latin typeface="Courier New" panose="02070609020205020404"/>
              <a:cs typeface="Courier New" panose="020706090202050204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Line 431"/>
          <p:cNvSpPr>
            <a:spLocks noChangeShapeType="1"/>
          </p:cNvSpPr>
          <p:nvPr/>
        </p:nvSpPr>
        <p:spPr bwMode="auto">
          <a:xfrm flipV="1">
            <a:off x="8335583" y="3472085"/>
            <a:ext cx="398673" cy="194247"/>
          </a:xfrm>
          <a:prstGeom prst="line">
            <a:avLst/>
          </a:prstGeom>
          <a:noFill/>
          <a:ln w="12700">
            <a:solidFill>
              <a:srgbClr val="000000"/>
            </a:solidFill>
            <a:prstDash val="dash"/>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a:xfrm>
            <a:off x="457200" y="76200"/>
            <a:ext cx="11523345" cy="792480"/>
          </a:xfrm>
        </p:spPr>
        <p:txBody>
          <a:bodyPr/>
          <a:lstStyle/>
          <a:p>
            <a:pPr marL="0"/>
            <a:r>
              <a:rPr lang="zh-CN" altLang="en-US"/>
              <a:t>新程序启动时的栈结构</a:t>
            </a:r>
            <a:endParaRPr lang="zh-CN" altLang="en-US"/>
          </a:p>
        </p:txBody>
      </p:sp>
      <p:sp>
        <p:nvSpPr>
          <p:cNvPr id="38" name="Rectangle 379"/>
          <p:cNvSpPr>
            <a:spLocks noChangeArrowheads="1"/>
          </p:cNvSpPr>
          <p:nvPr/>
        </p:nvSpPr>
        <p:spPr bwMode="auto">
          <a:xfrm>
            <a:off x="4024603" y="912723"/>
            <a:ext cx="3722855" cy="685800"/>
          </a:xfrm>
          <a:prstGeom prst="rect">
            <a:avLst/>
          </a:prstGeom>
          <a:solidFill>
            <a:srgbClr val="D5F1CF"/>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以</a:t>
            </a:r>
            <a:r>
              <a:rPr lang="en-US" altLang="zh-CN"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 null </a:t>
            </a: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结尾的环境变量字符串</a:t>
            </a:r>
            <a:endPar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39" name="Rectangle 381"/>
          <p:cNvSpPr>
            <a:spLocks noChangeArrowheads="1"/>
          </p:cNvSpPr>
          <p:nvPr/>
        </p:nvSpPr>
        <p:spPr bwMode="auto">
          <a:xfrm>
            <a:off x="4024603" y="1598523"/>
            <a:ext cx="3722847" cy="685800"/>
          </a:xfrm>
          <a:prstGeom prst="rect">
            <a:avLst/>
          </a:prstGeom>
          <a:solidFill>
            <a:srgbClr val="ADADEB"/>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以</a:t>
            </a:r>
            <a:r>
              <a:rPr lang="en-US" altLang="zh-CN"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 null </a:t>
            </a: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结尾的命令行字符串</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40" name="Rectangle 382"/>
          <p:cNvSpPr>
            <a:spLocks noChangeArrowheads="1"/>
          </p:cNvSpPr>
          <p:nvPr/>
        </p:nvSpPr>
        <p:spPr bwMode="auto">
          <a:xfrm>
            <a:off x="4024604" y="2284323"/>
            <a:ext cx="3722843" cy="304800"/>
          </a:xfrm>
          <a:prstGeom prst="rect">
            <a:avLst/>
          </a:prstGeom>
          <a:solidFill>
            <a:srgbClr val="C0C0C0"/>
          </a:solidFill>
          <a:ln w="12700">
            <a:solidFill>
              <a:srgbClr val="000000"/>
            </a:solidFill>
            <a:miter lim="800000"/>
          </a:ln>
          <a:effectLst/>
        </p:spPr>
        <p:txBody>
          <a:bodyPr wrap="none" anchor="ctr"/>
          <a:lstStyle/>
          <a:p>
            <a:pPr algn="ctr" eaLnBrk="1" fontAlgn="auto" hangingPunct="1">
              <a:spcBef>
                <a:spcPts val="0"/>
              </a:spcBef>
              <a:spcAft>
                <a:spcPts val="0"/>
              </a:spcAft>
              <a:defRPr/>
            </a:pPr>
            <a:endParaRPr lang="en-US" sz="1800" b="0" kern="0" dirty="0">
              <a:solidFill>
                <a:sysClr val="windowText" lastClr="000000"/>
              </a:solidFill>
              <a:latin typeface="Consolas" panose="020B0609020204030204" pitchFamily="49" charset="0"/>
              <a:cs typeface="Consolas" panose="020B0609020204030204" pitchFamily="49" charset="0"/>
            </a:endParaRPr>
          </a:p>
        </p:txBody>
      </p:sp>
      <p:sp>
        <p:nvSpPr>
          <p:cNvPr id="41" name="Rectangle 383"/>
          <p:cNvSpPr>
            <a:spLocks noChangeArrowheads="1"/>
          </p:cNvSpPr>
          <p:nvPr/>
        </p:nvSpPr>
        <p:spPr bwMode="auto">
          <a:xfrm>
            <a:off x="4024603" y="2589123"/>
            <a:ext cx="3722833" cy="304800"/>
          </a:xfrm>
          <a:prstGeom prst="rect">
            <a:avLst/>
          </a:prstGeom>
          <a:solidFill>
            <a:srgbClr val="D5F1CF"/>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1800" b="0" kern="0" dirty="0" err="1">
                <a:solidFill>
                  <a:sysClr val="windowText" lastClr="000000"/>
                </a:solidFill>
                <a:latin typeface="Courier New" panose="02070609020205020404" pitchFamily="49" charset="0"/>
                <a:cs typeface="Courier New" panose="02070609020205020404" pitchFamily="49" charset="0"/>
              </a:rPr>
              <a:t>envp</a:t>
            </a:r>
            <a:r>
              <a:rPr lang="en-US" sz="1800" b="0" kern="0" dirty="0">
                <a:solidFill>
                  <a:sysClr val="windowText" lastClr="000000"/>
                </a:solidFill>
                <a:latin typeface="Courier New" panose="02070609020205020404" pitchFamily="49" charset="0"/>
                <a:cs typeface="Courier New" panose="02070609020205020404" pitchFamily="49" charset="0"/>
              </a:rPr>
              <a:t>[n] == NULL</a:t>
            </a:r>
            <a:endParaRPr lang="en-US" sz="1800" b="0" kern="0" dirty="0">
              <a:solidFill>
                <a:sysClr val="windowText" lastClr="000000"/>
              </a:solidFill>
              <a:latin typeface="Courier New" panose="02070609020205020404" pitchFamily="49" charset="0"/>
              <a:cs typeface="Courier New" panose="02070609020205020404" pitchFamily="49" charset="0"/>
            </a:endParaRPr>
          </a:p>
        </p:txBody>
      </p:sp>
      <p:sp>
        <p:nvSpPr>
          <p:cNvPr id="42" name="Rectangle 384"/>
          <p:cNvSpPr>
            <a:spLocks noChangeArrowheads="1"/>
          </p:cNvSpPr>
          <p:nvPr/>
        </p:nvSpPr>
        <p:spPr bwMode="auto">
          <a:xfrm>
            <a:off x="4024603" y="2893923"/>
            <a:ext cx="3722829" cy="304800"/>
          </a:xfrm>
          <a:prstGeom prst="rect">
            <a:avLst/>
          </a:prstGeom>
          <a:solidFill>
            <a:srgbClr val="D5F1CF"/>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1800" b="0" kern="0">
                <a:solidFill>
                  <a:sysClr val="windowText" lastClr="000000"/>
                </a:solidFill>
                <a:latin typeface="Courier New" panose="02070609020205020404" pitchFamily="49" charset="0"/>
                <a:cs typeface="Courier New" panose="02070609020205020404" pitchFamily="49" charset="0"/>
              </a:rPr>
              <a:t>envp[n-1]</a:t>
            </a:r>
            <a:endParaRPr lang="en-US" sz="1800" b="0" kern="0">
              <a:solidFill>
                <a:sysClr val="windowText" lastClr="000000"/>
              </a:solidFill>
              <a:latin typeface="Courier New" panose="02070609020205020404" pitchFamily="49" charset="0"/>
              <a:cs typeface="Courier New" panose="02070609020205020404" pitchFamily="49" charset="0"/>
            </a:endParaRPr>
          </a:p>
        </p:txBody>
      </p:sp>
      <p:sp>
        <p:nvSpPr>
          <p:cNvPr id="43" name="Rectangle 385"/>
          <p:cNvSpPr>
            <a:spLocks noChangeArrowheads="1"/>
          </p:cNvSpPr>
          <p:nvPr/>
        </p:nvSpPr>
        <p:spPr bwMode="auto">
          <a:xfrm>
            <a:off x="4024603" y="3198723"/>
            <a:ext cx="3722821" cy="304800"/>
          </a:xfrm>
          <a:prstGeom prst="rect">
            <a:avLst/>
          </a:prstGeom>
          <a:solidFill>
            <a:srgbClr val="D5F1CF"/>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2000" b="0" kern="0">
                <a:solidFill>
                  <a:sysClr val="windowText" lastClr="000000"/>
                </a:solidFill>
                <a:latin typeface="Courier New" panose="02070609020205020404" pitchFamily="49" charset="0"/>
                <a:cs typeface="Courier New" panose="02070609020205020404" pitchFamily="49" charset="0"/>
              </a:rPr>
              <a:t>...</a:t>
            </a:r>
            <a:endParaRPr lang="en-US" sz="2000" b="0" kern="0">
              <a:solidFill>
                <a:sysClr val="windowText" lastClr="000000"/>
              </a:solidFill>
              <a:latin typeface="Courier New" panose="02070609020205020404" pitchFamily="49" charset="0"/>
              <a:cs typeface="Courier New" panose="02070609020205020404" pitchFamily="49" charset="0"/>
            </a:endParaRPr>
          </a:p>
        </p:txBody>
      </p:sp>
      <p:sp>
        <p:nvSpPr>
          <p:cNvPr id="44" name="Rectangle 386"/>
          <p:cNvSpPr>
            <a:spLocks noChangeArrowheads="1"/>
          </p:cNvSpPr>
          <p:nvPr/>
        </p:nvSpPr>
        <p:spPr bwMode="auto">
          <a:xfrm>
            <a:off x="4024604" y="3503523"/>
            <a:ext cx="3722820" cy="304800"/>
          </a:xfrm>
          <a:prstGeom prst="rect">
            <a:avLst/>
          </a:prstGeom>
          <a:solidFill>
            <a:srgbClr val="D5F1CF"/>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1800" b="0" kern="0">
                <a:solidFill>
                  <a:sysClr val="windowText" lastClr="000000"/>
                </a:solidFill>
                <a:latin typeface="Courier New" panose="02070609020205020404" pitchFamily="49" charset="0"/>
                <a:cs typeface="Courier New" panose="02070609020205020404" pitchFamily="49" charset="0"/>
              </a:rPr>
              <a:t>envp[0]</a:t>
            </a:r>
            <a:endParaRPr lang="en-US" sz="1800" b="0" kern="0">
              <a:solidFill>
                <a:sysClr val="windowText" lastClr="000000"/>
              </a:solidFill>
              <a:latin typeface="Courier New" panose="02070609020205020404" pitchFamily="49" charset="0"/>
              <a:cs typeface="Courier New" panose="02070609020205020404" pitchFamily="49" charset="0"/>
            </a:endParaRPr>
          </a:p>
        </p:txBody>
      </p:sp>
      <p:sp>
        <p:nvSpPr>
          <p:cNvPr id="45" name="Rectangle 387"/>
          <p:cNvSpPr>
            <a:spLocks noChangeArrowheads="1"/>
          </p:cNvSpPr>
          <p:nvPr/>
        </p:nvSpPr>
        <p:spPr bwMode="auto">
          <a:xfrm>
            <a:off x="4024603" y="3808323"/>
            <a:ext cx="3722813" cy="304800"/>
          </a:xfrm>
          <a:prstGeom prst="rect">
            <a:avLst/>
          </a:prstGeom>
          <a:solidFill>
            <a:schemeClr val="accent2">
              <a:lumMod val="40000"/>
              <a:lumOff val="60000"/>
            </a:schemeClr>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1800" b="0" kern="0" dirty="0" err="1">
                <a:solidFill>
                  <a:sysClr val="windowText" lastClr="000000"/>
                </a:solidFill>
                <a:latin typeface="Courier New" panose="02070609020205020404" pitchFamily="49" charset="0"/>
                <a:cs typeface="Courier New" panose="02070609020205020404" pitchFamily="49" charset="0"/>
              </a:rPr>
              <a:t>argv</a:t>
            </a:r>
            <a:r>
              <a:rPr lang="en-US" sz="1800" b="0" kern="0" dirty="0">
                <a:solidFill>
                  <a:sysClr val="windowText" lastClr="000000"/>
                </a:solidFill>
                <a:latin typeface="Courier New" panose="02070609020205020404" pitchFamily="49" charset="0"/>
                <a:cs typeface="Courier New" panose="02070609020205020404" pitchFamily="49" charset="0"/>
              </a:rPr>
              <a:t>[</a:t>
            </a:r>
            <a:r>
              <a:rPr lang="en-US" sz="1800" b="0" kern="0" dirty="0" err="1">
                <a:solidFill>
                  <a:sysClr val="windowText" lastClr="000000"/>
                </a:solidFill>
                <a:latin typeface="Courier New" panose="02070609020205020404" pitchFamily="49" charset="0"/>
                <a:cs typeface="Courier New" panose="02070609020205020404" pitchFamily="49" charset="0"/>
              </a:rPr>
              <a:t>argc</a:t>
            </a:r>
            <a:r>
              <a:rPr lang="en-US" sz="1800" b="0" kern="0" dirty="0">
                <a:solidFill>
                  <a:sysClr val="windowText" lastClr="000000"/>
                </a:solidFill>
                <a:latin typeface="Courier New" panose="02070609020205020404" pitchFamily="49" charset="0"/>
                <a:cs typeface="Courier New" panose="02070609020205020404" pitchFamily="49" charset="0"/>
              </a:rPr>
              <a:t>] = NULL</a:t>
            </a:r>
            <a:endParaRPr lang="en-US" sz="1800" b="0" kern="0" dirty="0">
              <a:solidFill>
                <a:sysClr val="windowText" lastClr="000000"/>
              </a:solidFill>
              <a:latin typeface="Courier New" panose="02070609020205020404" pitchFamily="49" charset="0"/>
              <a:cs typeface="Courier New" panose="02070609020205020404" pitchFamily="49" charset="0"/>
            </a:endParaRPr>
          </a:p>
        </p:txBody>
      </p:sp>
      <p:sp>
        <p:nvSpPr>
          <p:cNvPr id="46" name="Rectangle 388"/>
          <p:cNvSpPr>
            <a:spLocks noChangeArrowheads="1"/>
          </p:cNvSpPr>
          <p:nvPr/>
        </p:nvSpPr>
        <p:spPr bwMode="auto">
          <a:xfrm>
            <a:off x="4024603" y="4113123"/>
            <a:ext cx="3722803" cy="304800"/>
          </a:xfrm>
          <a:prstGeom prst="rect">
            <a:avLst/>
          </a:prstGeom>
          <a:solidFill>
            <a:srgbClr val="ADADEB"/>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1800" b="0" kern="0">
                <a:solidFill>
                  <a:sysClr val="windowText" lastClr="000000"/>
                </a:solidFill>
                <a:latin typeface="Courier New" panose="02070609020205020404" pitchFamily="49" charset="0"/>
                <a:cs typeface="Courier New" panose="02070609020205020404" pitchFamily="49" charset="0"/>
              </a:rPr>
              <a:t>argv[argc-1]</a:t>
            </a:r>
            <a:endParaRPr lang="en-US" sz="1800" b="0" kern="0">
              <a:solidFill>
                <a:sysClr val="windowText" lastClr="000000"/>
              </a:solidFill>
              <a:latin typeface="Courier New" panose="02070609020205020404" pitchFamily="49" charset="0"/>
              <a:cs typeface="Courier New" panose="02070609020205020404" pitchFamily="49" charset="0"/>
            </a:endParaRPr>
          </a:p>
        </p:txBody>
      </p:sp>
      <p:sp>
        <p:nvSpPr>
          <p:cNvPr id="47" name="Rectangle 389"/>
          <p:cNvSpPr>
            <a:spLocks noChangeArrowheads="1"/>
          </p:cNvSpPr>
          <p:nvPr/>
        </p:nvSpPr>
        <p:spPr bwMode="auto">
          <a:xfrm>
            <a:off x="4024603" y="4417923"/>
            <a:ext cx="3722795" cy="304800"/>
          </a:xfrm>
          <a:prstGeom prst="rect">
            <a:avLst/>
          </a:prstGeom>
          <a:solidFill>
            <a:srgbClr val="ADADEB"/>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2000" b="0" kern="0">
                <a:solidFill>
                  <a:sysClr val="windowText" lastClr="000000"/>
                </a:solidFill>
                <a:latin typeface="Courier New" panose="02070609020205020404" pitchFamily="49" charset="0"/>
                <a:cs typeface="Courier New" panose="02070609020205020404" pitchFamily="49" charset="0"/>
              </a:rPr>
              <a:t>...</a:t>
            </a:r>
            <a:endParaRPr lang="en-US" sz="2000" b="0" kern="0">
              <a:solidFill>
                <a:sysClr val="windowText" lastClr="000000"/>
              </a:solidFill>
              <a:latin typeface="Courier New" panose="02070609020205020404" pitchFamily="49" charset="0"/>
              <a:cs typeface="Courier New" panose="02070609020205020404" pitchFamily="49" charset="0"/>
            </a:endParaRPr>
          </a:p>
        </p:txBody>
      </p:sp>
      <p:sp>
        <p:nvSpPr>
          <p:cNvPr id="48" name="Rectangle 390"/>
          <p:cNvSpPr>
            <a:spLocks noChangeArrowheads="1"/>
          </p:cNvSpPr>
          <p:nvPr/>
        </p:nvSpPr>
        <p:spPr bwMode="auto">
          <a:xfrm>
            <a:off x="4024603" y="4722723"/>
            <a:ext cx="3722783" cy="304800"/>
          </a:xfrm>
          <a:prstGeom prst="rect">
            <a:avLst/>
          </a:prstGeom>
          <a:solidFill>
            <a:srgbClr val="ADADEB"/>
          </a:solid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1800" b="0" kern="0">
                <a:solidFill>
                  <a:sysClr val="windowText" lastClr="000000"/>
                </a:solidFill>
                <a:latin typeface="Courier New" panose="02070609020205020404" pitchFamily="49" charset="0"/>
                <a:cs typeface="Courier New" panose="02070609020205020404" pitchFamily="49" charset="0"/>
              </a:rPr>
              <a:t>argv[0]</a:t>
            </a:r>
            <a:endParaRPr lang="en-US" sz="1800" b="0" kern="0">
              <a:solidFill>
                <a:sysClr val="windowText" lastClr="000000"/>
              </a:solidFill>
              <a:latin typeface="Courier New" panose="02070609020205020404" pitchFamily="49" charset="0"/>
              <a:cs typeface="Courier New" panose="02070609020205020404" pitchFamily="49" charset="0"/>
            </a:endParaRPr>
          </a:p>
        </p:txBody>
      </p:sp>
      <p:sp>
        <p:nvSpPr>
          <p:cNvPr id="49" name="Rectangle 399"/>
          <p:cNvSpPr>
            <a:spLocks noChangeArrowheads="1"/>
          </p:cNvSpPr>
          <p:nvPr/>
        </p:nvSpPr>
        <p:spPr bwMode="auto">
          <a:xfrm>
            <a:off x="4036045" y="6019800"/>
            <a:ext cx="3719110" cy="685800"/>
          </a:xfrm>
          <a:prstGeom prst="rect">
            <a:avLst/>
          </a:prstGeom>
          <a:noFill/>
          <a:ln w="12700">
            <a:solidFill>
              <a:srgbClr val="000000"/>
            </a:solidFill>
            <a:prstDash val="sysDash"/>
            <a:miter lim="800000"/>
          </a:ln>
          <a:effectLst/>
        </p:spPr>
        <p:txBody>
          <a:bodyPr wrap="none" anchor="ctr"/>
          <a:lstStyle/>
          <a:p>
            <a:pPr algn="ctr" eaLnBrk="1" fontAlgn="auto" hangingPunct="1">
              <a:spcBef>
                <a:spcPts val="0"/>
              </a:spcBef>
              <a:spcAft>
                <a:spcPts val="0"/>
              </a:spcAft>
              <a:defRPr/>
            </a:pPr>
            <a:r>
              <a:rPr lang="en-US" sz="1800" b="0" kern="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main</a:t>
            </a:r>
            <a:r>
              <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 </a:t>
            </a:r>
            <a:r>
              <a:rPr lang="zh-CN" alt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的未来</a:t>
            </a:r>
            <a:r>
              <a:rPr lang="zh-CN" alt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的栈帧</a:t>
            </a:r>
            <a:endPar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50" name="Text Box 401"/>
          <p:cNvSpPr txBox="1">
            <a:spLocks noChangeArrowheads="1"/>
          </p:cNvSpPr>
          <p:nvPr/>
        </p:nvSpPr>
        <p:spPr bwMode="auto">
          <a:xfrm>
            <a:off x="8796020" y="2948940"/>
            <a:ext cx="2323465" cy="645160"/>
          </a:xfrm>
          <a:prstGeom prst="rect">
            <a:avLst/>
          </a:prstGeom>
          <a:solidFill>
            <a:srgbClr val="D5F1CF"/>
          </a:solidFill>
          <a:ln w="12700">
            <a:solidFill>
              <a:srgbClr val="000000"/>
            </a:solidFill>
            <a:miter lim="800000"/>
          </a:ln>
          <a:effectLst/>
        </p:spPr>
        <p:txBody>
          <a:bodyPr wrap="square" anchor="ctr">
            <a:spAutoFit/>
          </a:bodyPr>
          <a:lstStyle/>
          <a:p>
            <a:pPr algn="ctr" eaLnBrk="1" fontAlgn="auto" hangingPunct="1">
              <a:spcBef>
                <a:spcPts val="0"/>
              </a:spcBef>
              <a:spcAft>
                <a:spcPts val="0"/>
              </a:spcAft>
              <a:defRPr/>
            </a:pPr>
            <a:r>
              <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environ</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（全局变量）</a:t>
            </a:r>
            <a:endPar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51" name="Line 406"/>
          <p:cNvSpPr>
            <a:spLocks noChangeShapeType="1"/>
          </p:cNvSpPr>
          <p:nvPr/>
        </p:nvSpPr>
        <p:spPr bwMode="auto">
          <a:xfrm flipV="1">
            <a:off x="3072065" y="4967055"/>
            <a:ext cx="961021" cy="0"/>
          </a:xfrm>
          <a:prstGeom prst="line">
            <a:avLst/>
          </a:prstGeom>
          <a:noFill/>
          <a:ln w="12700">
            <a:solidFill>
              <a:srgbClr val="000000"/>
            </a:solidFill>
            <a:prstDash val="dash"/>
            <a:round/>
            <a:tailEnd type="triangle" w="med" len="me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52" name="Line 407"/>
          <p:cNvSpPr>
            <a:spLocks noChangeShapeType="1"/>
          </p:cNvSpPr>
          <p:nvPr/>
        </p:nvSpPr>
        <p:spPr bwMode="auto">
          <a:xfrm flipH="1">
            <a:off x="3643604" y="4811623"/>
            <a:ext cx="495300" cy="0"/>
          </a:xfrm>
          <a:prstGeom prst="line">
            <a:avLst/>
          </a:prstGeom>
          <a:noFill/>
          <a:ln w="12700">
            <a:solidFill>
              <a:srgbClr val="000000"/>
            </a:solidFill>
            <a:prstDash val="dash"/>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53" name="Line 408"/>
          <p:cNvSpPr>
            <a:spLocks noChangeShapeType="1"/>
          </p:cNvSpPr>
          <p:nvPr/>
        </p:nvSpPr>
        <p:spPr bwMode="auto">
          <a:xfrm flipV="1">
            <a:off x="3643604" y="2208123"/>
            <a:ext cx="0" cy="2590800"/>
          </a:xfrm>
          <a:prstGeom prst="line">
            <a:avLst/>
          </a:prstGeom>
          <a:noFill/>
          <a:ln w="12700">
            <a:solidFill>
              <a:srgbClr val="000000"/>
            </a:solidFill>
            <a:prstDash val="dash"/>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54" name="Line 409"/>
          <p:cNvSpPr>
            <a:spLocks noChangeShapeType="1"/>
          </p:cNvSpPr>
          <p:nvPr/>
        </p:nvSpPr>
        <p:spPr bwMode="auto">
          <a:xfrm>
            <a:off x="3643604" y="2208123"/>
            <a:ext cx="381000" cy="0"/>
          </a:xfrm>
          <a:prstGeom prst="line">
            <a:avLst/>
          </a:prstGeom>
          <a:noFill/>
          <a:ln w="12700">
            <a:solidFill>
              <a:srgbClr val="000000"/>
            </a:solidFill>
            <a:prstDash val="dash"/>
            <a:round/>
            <a:tailEnd type="triangle" w="med" len="me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55" name="Line 411"/>
          <p:cNvSpPr>
            <a:spLocks noChangeShapeType="1"/>
          </p:cNvSpPr>
          <p:nvPr/>
        </p:nvSpPr>
        <p:spPr bwMode="auto">
          <a:xfrm flipH="1">
            <a:off x="7617444" y="3592423"/>
            <a:ext cx="495300" cy="0"/>
          </a:xfrm>
          <a:prstGeom prst="line">
            <a:avLst/>
          </a:prstGeom>
          <a:noFill/>
          <a:ln w="12700">
            <a:solidFill>
              <a:srgbClr val="000000"/>
            </a:solidFill>
            <a:prstDash val="dash"/>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56" name="Line 412"/>
          <p:cNvSpPr>
            <a:spLocks noChangeShapeType="1"/>
          </p:cNvSpPr>
          <p:nvPr/>
        </p:nvSpPr>
        <p:spPr bwMode="auto">
          <a:xfrm flipH="1" flipV="1">
            <a:off x="8150844" y="1522323"/>
            <a:ext cx="0" cy="2057400"/>
          </a:xfrm>
          <a:prstGeom prst="line">
            <a:avLst/>
          </a:prstGeom>
          <a:noFill/>
          <a:ln w="12700">
            <a:solidFill>
              <a:srgbClr val="000000"/>
            </a:solidFill>
            <a:prstDash val="dash"/>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57" name="Line 413"/>
          <p:cNvSpPr>
            <a:spLocks noChangeShapeType="1"/>
          </p:cNvSpPr>
          <p:nvPr/>
        </p:nvSpPr>
        <p:spPr bwMode="auto">
          <a:xfrm>
            <a:off x="7731744" y="1522323"/>
            <a:ext cx="381000" cy="0"/>
          </a:xfrm>
          <a:prstGeom prst="line">
            <a:avLst/>
          </a:prstGeom>
          <a:noFill/>
          <a:ln w="12700">
            <a:solidFill>
              <a:srgbClr val="000000"/>
            </a:solidFill>
            <a:prstDash val="dash"/>
            <a:round/>
            <a:headEnd type="triangle" w="med" len="me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58" name="Oval 417"/>
          <p:cNvSpPr>
            <a:spLocks noChangeAspect="1" noChangeArrowheads="1"/>
          </p:cNvSpPr>
          <p:nvPr/>
        </p:nvSpPr>
        <p:spPr bwMode="auto">
          <a:xfrm>
            <a:off x="4138905" y="4770349"/>
            <a:ext cx="92075" cy="92075"/>
          </a:xfrm>
          <a:prstGeom prst="ellipse">
            <a:avLst/>
          </a:prstGeom>
          <a:solidFill>
            <a:srgbClr val="000000"/>
          </a:solidFill>
          <a:ln w="12700">
            <a:solidFill>
              <a:srgbClr val="000000"/>
            </a:solidFill>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urier New" panose="02070609020205020404" pitchFamily="49" charset="0"/>
              <a:cs typeface="Courier New" panose="02070609020205020404" pitchFamily="49" charset="0"/>
            </a:endParaRPr>
          </a:p>
        </p:txBody>
      </p:sp>
      <p:sp>
        <p:nvSpPr>
          <p:cNvPr id="59" name="Oval 419"/>
          <p:cNvSpPr>
            <a:spLocks noChangeAspect="1" noChangeArrowheads="1"/>
          </p:cNvSpPr>
          <p:nvPr/>
        </p:nvSpPr>
        <p:spPr bwMode="auto">
          <a:xfrm>
            <a:off x="7541245" y="3551149"/>
            <a:ext cx="92075" cy="92075"/>
          </a:xfrm>
          <a:prstGeom prst="ellipse">
            <a:avLst/>
          </a:prstGeom>
          <a:solidFill>
            <a:srgbClr val="000000"/>
          </a:solidFill>
          <a:ln w="12700">
            <a:solidFill>
              <a:srgbClr val="000000"/>
            </a:solidFill>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urier New" panose="02070609020205020404" pitchFamily="49" charset="0"/>
              <a:cs typeface="Courier New" panose="02070609020205020404" pitchFamily="49" charset="0"/>
            </a:endParaRPr>
          </a:p>
        </p:txBody>
      </p:sp>
      <p:sp>
        <p:nvSpPr>
          <p:cNvPr id="60" name="Text Box 421"/>
          <p:cNvSpPr txBox="1">
            <a:spLocks noChangeArrowheads="1"/>
          </p:cNvSpPr>
          <p:nvPr/>
        </p:nvSpPr>
        <p:spPr bwMode="auto">
          <a:xfrm>
            <a:off x="7741920" y="686028"/>
            <a:ext cx="640080" cy="368300"/>
          </a:xfrm>
          <a:prstGeom prst="rect">
            <a:avLst/>
          </a:prstGeom>
          <a:noFill/>
          <a:ln>
            <a:noFill/>
          </a:ln>
          <a:effectLst/>
        </p:spPr>
        <p:txBody>
          <a:bodyPr wrap="none" anchor="ctr">
            <a:spAutoFit/>
          </a:bodyPr>
          <a:lstStyle/>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栈底</a:t>
            </a:r>
            <a:endPar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61" name="Text Box 422"/>
          <p:cNvSpPr txBox="1">
            <a:spLocks noChangeArrowheads="1"/>
          </p:cNvSpPr>
          <p:nvPr/>
        </p:nvSpPr>
        <p:spPr bwMode="auto">
          <a:xfrm>
            <a:off x="7741920" y="5867362"/>
            <a:ext cx="640080" cy="368300"/>
          </a:xfrm>
          <a:prstGeom prst="rect">
            <a:avLst/>
          </a:prstGeom>
          <a:noFill/>
          <a:ln>
            <a:noFill/>
          </a:ln>
          <a:effectLst/>
        </p:spPr>
        <p:txBody>
          <a:bodyPr wrap="none" anchor="ctr">
            <a:spAutoFit/>
          </a:bodyPr>
          <a:lstStyle/>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栈顶</a:t>
            </a:r>
            <a:endPar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64" name="Line 431"/>
          <p:cNvSpPr>
            <a:spLocks noChangeShapeType="1"/>
          </p:cNvSpPr>
          <p:nvPr/>
        </p:nvSpPr>
        <p:spPr bwMode="auto">
          <a:xfrm>
            <a:off x="8320468" y="3685826"/>
            <a:ext cx="398673" cy="194247"/>
          </a:xfrm>
          <a:prstGeom prst="line">
            <a:avLst/>
          </a:prstGeom>
          <a:noFill/>
          <a:ln w="12700">
            <a:solidFill>
              <a:srgbClr val="000000"/>
            </a:solidFill>
            <a:prstDash val="dash"/>
            <a:roun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65" name="Line 433"/>
          <p:cNvSpPr>
            <a:spLocks noChangeShapeType="1"/>
          </p:cNvSpPr>
          <p:nvPr/>
        </p:nvSpPr>
        <p:spPr bwMode="auto">
          <a:xfrm flipH="1">
            <a:off x="7744440" y="3685561"/>
            <a:ext cx="585722" cy="16008"/>
          </a:xfrm>
          <a:prstGeom prst="line">
            <a:avLst/>
          </a:prstGeom>
          <a:noFill/>
          <a:ln w="12700">
            <a:solidFill>
              <a:srgbClr val="000000"/>
            </a:solidFill>
            <a:prstDash val="dash"/>
            <a:round/>
            <a:tailEnd type="triangle" w="med" len="med"/>
          </a:ln>
          <a:effectLst/>
        </p:spPr>
        <p:txBody>
          <a:bodyPr wrap="none" anchor="ctr"/>
          <a:lstStyle/>
          <a:p>
            <a:pPr algn="ctr" eaLnBrk="1" fontAlgn="auto" hangingPunct="1">
              <a:spcBef>
                <a:spcPts val="0"/>
              </a:spcBef>
              <a:spcAft>
                <a:spcPts val="0"/>
              </a:spcAft>
              <a:defRPr/>
            </a:pPr>
            <a:endParaRPr lang="en-US" sz="1800" b="0" kern="0">
              <a:solidFill>
                <a:sysClr val="windowText" lastClr="000000"/>
              </a:solidFill>
              <a:latin typeface="Consolas" panose="020B0609020204030204" pitchFamily="49" charset="0"/>
              <a:cs typeface="Consolas" panose="020B0609020204030204" pitchFamily="49" charset="0"/>
            </a:endParaRPr>
          </a:p>
        </p:txBody>
      </p:sp>
      <p:sp>
        <p:nvSpPr>
          <p:cNvPr id="67" name="Text Box 401"/>
          <p:cNvSpPr txBox="1">
            <a:spLocks noChangeArrowheads="1"/>
          </p:cNvSpPr>
          <p:nvPr/>
        </p:nvSpPr>
        <p:spPr bwMode="auto">
          <a:xfrm>
            <a:off x="8795385" y="3733800"/>
            <a:ext cx="2324100" cy="620395"/>
          </a:xfrm>
          <a:prstGeom prst="rect">
            <a:avLst/>
          </a:prstGeom>
          <a:solidFill>
            <a:srgbClr val="D5F1CF"/>
          </a:solidFill>
          <a:ln w="12700">
            <a:solidFill>
              <a:srgbClr val="000000"/>
            </a:solidFill>
            <a:miter lim="800000"/>
          </a:ln>
          <a:effectLst/>
        </p:spPr>
        <p:txBody>
          <a:bodyPr wrap="square" anchor="ctr">
            <a:noAutofit/>
          </a:bodyPr>
          <a:lstStyle/>
          <a:p>
            <a:pPr algn="ctr" eaLnBrk="1" fontAlgn="auto" hangingPunct="1">
              <a:spcBef>
                <a:spcPts val="0"/>
              </a:spcBef>
              <a:spcAft>
                <a:spcPts val="0"/>
              </a:spcAft>
              <a:defRPr/>
            </a:pPr>
            <a:r>
              <a:rPr 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envp</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（在寄存器</a:t>
            </a:r>
            <a:r>
              <a:rPr lang="en-US" altLang="zh-CN"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 </a:t>
            </a:r>
            <a:r>
              <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a:t>
            </a:r>
            <a:r>
              <a:rPr 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rdx </a:t>
            </a:r>
            <a:r>
              <a:rPr lang="zh-CN" alt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中）</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66" name="Text Box 401"/>
          <p:cNvSpPr txBox="1">
            <a:spLocks noChangeArrowheads="1"/>
          </p:cNvSpPr>
          <p:nvPr/>
        </p:nvSpPr>
        <p:spPr bwMode="auto">
          <a:xfrm>
            <a:off x="647700" y="4664710"/>
            <a:ext cx="2404745" cy="584835"/>
          </a:xfrm>
          <a:prstGeom prst="rect">
            <a:avLst/>
          </a:prstGeom>
          <a:solidFill>
            <a:schemeClr val="accent2">
              <a:lumMod val="40000"/>
              <a:lumOff val="60000"/>
            </a:schemeClr>
          </a:solidFill>
          <a:ln w="12700">
            <a:solidFill>
              <a:srgbClr val="000000"/>
            </a:solidFill>
            <a:miter lim="800000"/>
          </a:ln>
          <a:effectLst/>
        </p:spPr>
        <p:txBody>
          <a:bodyPr wrap="none" anchor="ctr">
            <a:noAutofit/>
          </a:bodyPr>
          <a:lstStyle/>
          <a:p>
            <a:pPr algn="ctr" eaLnBrk="1" fontAlgn="auto" hangingPunct="1">
              <a:spcBef>
                <a:spcPts val="0"/>
              </a:spcBef>
              <a:spcAft>
                <a:spcPts val="0"/>
              </a:spcAft>
              <a:defRPr/>
            </a:pPr>
            <a:r>
              <a:rPr 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argv</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（在寄存器</a:t>
            </a:r>
            <a:r>
              <a:rPr lang="en-US" altLang="zh-CN"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 </a:t>
            </a:r>
            <a:r>
              <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a:t>
            </a:r>
            <a:r>
              <a:rPr 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rsi </a:t>
            </a:r>
            <a:r>
              <a:rPr lang="zh-CN" alt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中）</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69" name="Rectangle 379"/>
          <p:cNvSpPr>
            <a:spLocks noChangeArrowheads="1"/>
          </p:cNvSpPr>
          <p:nvPr/>
        </p:nvSpPr>
        <p:spPr bwMode="auto">
          <a:xfrm>
            <a:off x="4028274" y="5332960"/>
            <a:ext cx="3719111" cy="685800"/>
          </a:xfrm>
          <a:prstGeom prst="rect">
            <a:avLst/>
          </a:prstGeom>
          <a:noFill/>
          <a:ln w="12700">
            <a:solidFill>
              <a:srgbClr val="000000"/>
            </a:solidFill>
            <a:miter lim="800000"/>
          </a:ln>
          <a:effectLst/>
        </p:spPr>
        <p:txBody>
          <a:bodyPr wrap="none" anchor="ctr"/>
          <a:lstStyle/>
          <a:p>
            <a:pPr algn="ctr" eaLnBrk="1" fontAlgn="auto" hangingPunct="1">
              <a:spcBef>
                <a:spcPts val="0"/>
              </a:spcBef>
              <a:spcAft>
                <a:spcPts val="0"/>
              </a:spcAft>
              <a:defRPr/>
            </a:pPr>
            <a:r>
              <a:rPr lang="en-US" sz="1800" b="0" kern="0">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libc_start_main</a:t>
            </a:r>
            <a:r>
              <a:rPr 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 </a:t>
            </a:r>
            <a:r>
              <a:rPr lang="zh-CN" alt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的栈帧</a:t>
            </a:r>
            <a:endParaRPr lang="zh-CN" alt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70" name="Rectangle 382"/>
          <p:cNvSpPr>
            <a:spLocks noChangeArrowheads="1"/>
          </p:cNvSpPr>
          <p:nvPr/>
        </p:nvSpPr>
        <p:spPr bwMode="auto">
          <a:xfrm>
            <a:off x="4028274" y="5034038"/>
            <a:ext cx="3719112" cy="304800"/>
          </a:xfrm>
          <a:prstGeom prst="rect">
            <a:avLst/>
          </a:prstGeom>
          <a:solidFill>
            <a:srgbClr val="C0C0C0"/>
          </a:solidFill>
          <a:ln w="12700">
            <a:solidFill>
              <a:srgbClr val="000000"/>
            </a:solidFill>
            <a:miter lim="800000"/>
          </a:ln>
          <a:effectLst/>
        </p:spPr>
        <p:txBody>
          <a:bodyPr wrap="none" anchor="ctr"/>
          <a:lstStyle/>
          <a:p>
            <a:pPr algn="ctr" eaLnBrk="1" fontAlgn="auto" hangingPunct="1">
              <a:spcBef>
                <a:spcPts val="0"/>
              </a:spcBef>
              <a:spcAft>
                <a:spcPts val="0"/>
              </a:spcAft>
              <a:defRPr/>
            </a:pPr>
            <a:endParaRPr lang="en-US" sz="1800" b="0" kern="0" dirty="0">
              <a:solidFill>
                <a:sysClr val="windowText" lastClr="000000"/>
              </a:solidFill>
              <a:latin typeface="Consolas" panose="020B0609020204030204" pitchFamily="49" charset="0"/>
              <a:cs typeface="Consolas" panose="020B0609020204030204" pitchFamily="49" charset="0"/>
            </a:endParaRPr>
          </a:p>
        </p:txBody>
      </p:sp>
      <p:sp>
        <p:nvSpPr>
          <p:cNvPr id="71" name="Text Box 401"/>
          <p:cNvSpPr txBox="1">
            <a:spLocks noChangeArrowheads="1"/>
          </p:cNvSpPr>
          <p:nvPr/>
        </p:nvSpPr>
        <p:spPr bwMode="auto">
          <a:xfrm>
            <a:off x="647700" y="5446395"/>
            <a:ext cx="2397125" cy="584835"/>
          </a:xfrm>
          <a:prstGeom prst="rect">
            <a:avLst/>
          </a:prstGeom>
          <a:solidFill>
            <a:schemeClr val="accent2">
              <a:lumMod val="40000"/>
              <a:lumOff val="60000"/>
            </a:schemeClr>
          </a:solidFill>
          <a:ln w="12700">
            <a:solidFill>
              <a:srgbClr val="000000"/>
            </a:solidFill>
            <a:miter lim="800000"/>
          </a:ln>
          <a:effectLst/>
        </p:spPr>
        <p:txBody>
          <a:bodyPr wrap="none" anchor="ctr">
            <a:noAutofit/>
          </a:bodyPr>
          <a:lstStyle/>
          <a:p>
            <a:pPr algn="ctr" eaLnBrk="1" fontAlgn="auto" hangingPunct="1">
              <a:spcBef>
                <a:spcPts val="0"/>
              </a:spcBef>
              <a:spcAft>
                <a:spcPts val="0"/>
              </a:spcAft>
              <a:defRPr/>
            </a:pPr>
            <a:r>
              <a:rPr 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rPr>
              <a:t>argc</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a:p>
            <a:pPr algn="ctr" eaLnBrk="1" fontAlgn="auto" hangingPunct="1">
              <a:spcBef>
                <a:spcPts val="0"/>
              </a:spcBef>
              <a:spcAft>
                <a:spcPts val="0"/>
              </a:spcAft>
              <a:defRPr/>
            </a:pPr>
            <a:r>
              <a:rPr lang="zh-CN" alt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（在寄存器</a:t>
            </a:r>
            <a:r>
              <a:rPr lang="en-US" altLang="zh-CN"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 </a:t>
            </a:r>
            <a:r>
              <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a:t>
            </a:r>
            <a:r>
              <a:rPr 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rdi </a:t>
            </a:r>
            <a:r>
              <a:rPr lang="zh-CN" altLang="en-US" sz="1800" b="0" kern="0" dirty="0" err="1">
                <a:solidFill>
                  <a:sysClr val="windowText" lastClr="000000"/>
                </a:solidFill>
                <a:latin typeface="Consolas" panose="020B0609020204030204" pitchFamily="49" charset="0"/>
                <a:ea typeface="FangSong" panose="02010609060101010101" pitchFamily="49" charset="-122"/>
                <a:cs typeface="Consolas" panose="020B0609020204030204" pitchFamily="49" charset="0"/>
                <a:sym typeface="+mn-ea"/>
              </a:rPr>
              <a:t>中）</a:t>
            </a:r>
            <a:endParaRPr lang="en-US" sz="1800" b="0" kern="0" dirty="0">
              <a:solidFill>
                <a:sysClr val="windowText" lastClr="000000"/>
              </a:solidFill>
              <a:latin typeface="Consolas" panose="020B0609020204030204" pitchFamily="49" charset="0"/>
              <a:ea typeface="FangSong" panose="02010609060101010101" pitchFamily="49" charset="-122"/>
              <a:cs typeface="Consolas" panose="020B06090202040302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latin typeface="Courier New" panose="02070609020205020404" pitchFamily="49" charset="0"/>
                <a:cs typeface="Courier New" panose="02070609020205020404" pitchFamily="49" charset="0"/>
              </a:rPr>
              <a:t>execve</a:t>
            </a:r>
            <a:r>
              <a:rPr lang="en-GB" dirty="0">
                <a:latin typeface="Consolas" panose="020B0609020204030204" pitchFamily="49" charset="0"/>
                <a:cs typeface="Consolas" panose="020B0609020204030204" pitchFamily="49" charset="0"/>
              </a:rPr>
              <a:t> </a:t>
            </a:r>
            <a:r>
              <a:rPr lang="zh-CN" altLang="en-US"/>
              <a:t>和进程内存布局</a:t>
            </a:r>
            <a:endParaRPr lang="zh-CN" altLang="en-US"/>
          </a:p>
        </p:txBody>
      </p:sp>
      <p:sp>
        <p:nvSpPr>
          <p:cNvPr id="4" name="Rectangle 29"/>
          <p:cNvSpPr txBox="1">
            <a:spLocks noChangeArrowheads="1"/>
          </p:cNvSpPr>
          <p:nvPr/>
        </p:nvSpPr>
        <p:spPr bwMode="auto">
          <a:xfrm>
            <a:off x="6440805" y="1612899"/>
            <a:ext cx="5141595" cy="4328477"/>
          </a:xfrm>
          <a:prstGeom prst="rect">
            <a:avLst/>
          </a:prstGeom>
          <a:noFill/>
          <a:ln w="9525">
            <a:noFill/>
            <a:miter lim="800000"/>
          </a:ln>
        </p:spPr>
        <p:txBody>
          <a:bodyPr vert="horz" wrap="square" lIns="91440" tIns="45720" rIns="91440" bIns="45720" numCol="1" anchor="t" anchorCtr="0" compatLnSpc="1">
            <a:normAutofit lnSpcReduction="10000"/>
          </a:bodyPr>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pitchFamily="3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pitchFamily="3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a:lstStyle>
          <a:p>
            <a:pPr algn="just"/>
            <a:r>
              <a:rPr lang="zh-CN" altLang="en-US" sz="2000" kern="0" dirty="0">
                <a:latin typeface="仿宋" panose="02010609060101010101" pitchFamily="49" charset="-122"/>
                <a:ea typeface="仿宋" panose="02010609060101010101" pitchFamily="49" charset="-122"/>
                <a:cs typeface="仿宋" panose="02010609060101010101" pitchFamily="49" charset="-122"/>
              </a:rPr>
              <a:t>在当前进程通过</a:t>
            </a:r>
            <a:r>
              <a:rPr lang="en-US" altLang="zh-CN" sz="2000" kern="0" dirty="0">
                <a:latin typeface="Courier New" panose="02070609020205020404" pitchFamily="49" charset="0"/>
                <a:ea typeface="仿宋" panose="02010609060101010101" pitchFamily="49" charset="-122"/>
                <a:cs typeface="Courier New" panose="02070609020205020404" pitchFamily="49" charset="0"/>
              </a:rPr>
              <a:t> </a:t>
            </a:r>
            <a:r>
              <a:rPr lang="en-GB" sz="2000" kern="0" dirty="0" err="1">
                <a:latin typeface="Courier New" panose="02070609020205020404" pitchFamily="49" charset="0"/>
                <a:ea typeface="仿宋" panose="02010609060101010101" pitchFamily="49" charset="-122"/>
                <a:cs typeface="Courier New" panose="02070609020205020404" pitchFamily="49" charset="0"/>
                <a:sym typeface="+mn-ea"/>
              </a:rPr>
              <a:t>execve</a:t>
            </a:r>
            <a:r>
              <a:rPr lang="en-US" altLang="en-GB" sz="2000" kern="0" dirty="0" err="1">
                <a:latin typeface="Courier New" panose="02070609020205020404" pitchFamily="49" charset="0"/>
                <a:ea typeface="仿宋" panose="02010609060101010101" pitchFamily="49" charset="-122"/>
                <a:cs typeface="Courier New" panose="02070609020205020404" pitchFamily="49" charset="0"/>
                <a:sym typeface="+mn-ea"/>
              </a:rPr>
              <a:t> </a:t>
            </a:r>
            <a:r>
              <a:rPr lang="zh-CN" altLang="en-US" sz="2000" kern="0" dirty="0">
                <a:latin typeface="仿宋" panose="02010609060101010101" pitchFamily="49" charset="-122"/>
                <a:ea typeface="仿宋" panose="02010609060101010101" pitchFamily="49" charset="-122"/>
                <a:cs typeface="仿宋" panose="02010609060101010101" pitchFamily="49" charset="-122"/>
              </a:rPr>
              <a:t>加载并运行新程序</a:t>
            </a:r>
            <a:r>
              <a:rPr lang="en-US" altLang="zh-CN" sz="2000" kern="0" dirty="0">
                <a:latin typeface="Courier New" panose="02070609020205020404" pitchFamily="49" charset="0"/>
                <a:ea typeface="仿宋" panose="02010609060101010101" pitchFamily="49" charset="-122"/>
                <a:cs typeface="Courier New" panose="02070609020205020404" pitchFamily="49" charset="0"/>
              </a:rPr>
              <a:t> </a:t>
            </a:r>
            <a:r>
              <a:rPr lang="en-GB" sz="2000" kern="0" dirty="0" err="1">
                <a:latin typeface="Courier New" panose="02070609020205020404" pitchFamily="49" charset="0"/>
                <a:ea typeface="仿宋" panose="02010609060101010101" pitchFamily="49" charset="-122"/>
                <a:cs typeface="Courier New" panose="02070609020205020404" pitchFamily="49" charset="0"/>
              </a:rPr>
              <a:t>a.ou</a:t>
            </a:r>
            <a:r>
              <a:rPr lang="en-US" altLang="en-GB" sz="2000" kern="0" dirty="0" err="1">
                <a:latin typeface="Courier New" panose="02070609020205020404" pitchFamily="49" charset="0"/>
                <a:ea typeface="仿宋" panose="02010609060101010101" pitchFamily="49" charset="-122"/>
                <a:cs typeface="Courier New" panose="02070609020205020404" pitchFamily="49" charset="0"/>
              </a:rPr>
              <a:t>t</a:t>
            </a:r>
            <a:r>
              <a:rPr lang="en-US" altLang="en-GB" sz="2000" kern="0" dirty="0">
                <a:latin typeface="Courier New" panose="02070609020205020404" pitchFamily="49" charset="0"/>
                <a:ea typeface="仿宋" panose="02010609060101010101" pitchFamily="49" charset="-122"/>
                <a:cs typeface="Courier New" panose="02070609020205020404" pitchFamily="49" charset="0"/>
              </a:rPr>
              <a:t>——</a:t>
            </a:r>
            <a:r>
              <a:rPr lang="zh-CN" altLang="en-US" sz="2000" kern="0" dirty="0">
                <a:solidFill>
                  <a:srgbClr val="FF0000"/>
                </a:solidFill>
                <a:latin typeface="Courier New" panose="02070609020205020404" pitchFamily="49" charset="0"/>
                <a:ea typeface="仿宋" panose="02010609060101010101" pitchFamily="49" charset="-122"/>
                <a:cs typeface="Courier New" panose="02070609020205020404" pitchFamily="49" charset="0"/>
              </a:rPr>
              <a:t>建立</a:t>
            </a:r>
            <a:r>
              <a:rPr lang="en-US" altLang="zh-CN" sz="2000" kern="0" dirty="0">
                <a:solidFill>
                  <a:srgbClr val="FF0000"/>
                </a:solidFill>
                <a:latin typeface="Courier New" panose="02070609020205020404" pitchFamily="49" charset="0"/>
                <a:ea typeface="仿宋" panose="02010609060101010101" pitchFamily="49" charset="-122"/>
                <a:cs typeface="Courier New" panose="02070609020205020404" pitchFamily="49" charset="0"/>
              </a:rPr>
              <a:t>vm_area_structs</a:t>
            </a:r>
            <a:endParaRPr lang="en-GB" sz="2000" kern="0" dirty="0">
              <a:latin typeface="仿宋" panose="02010609060101010101" pitchFamily="49" charset="-122"/>
              <a:ea typeface="仿宋" panose="02010609060101010101" pitchFamily="49" charset="-122"/>
              <a:cs typeface="仿宋" panose="02010609060101010101" pitchFamily="49" charset="-122"/>
            </a:endParaRPr>
          </a:p>
          <a:p>
            <a:pPr algn="just"/>
            <a:endParaRPr lang="en-GB" sz="2000" kern="0" dirty="0">
              <a:latin typeface="仿宋" panose="02010609060101010101" pitchFamily="49" charset="-122"/>
              <a:ea typeface="仿宋" panose="02010609060101010101" pitchFamily="49" charset="-122"/>
              <a:cs typeface="仿宋" panose="02010609060101010101" pitchFamily="49" charset="-122"/>
            </a:endParaRPr>
          </a:p>
          <a:p>
            <a:pPr algn="just"/>
            <a:r>
              <a:rPr lang="zh-CN" altLang="en-US" sz="2000" kern="0" dirty="0">
                <a:latin typeface="仿宋" panose="02010609060101010101" pitchFamily="49" charset="-122"/>
                <a:ea typeface="仿宋" panose="02010609060101010101" pitchFamily="49" charset="-122"/>
                <a:cs typeface="仿宋" panose="02010609060101010101" pitchFamily="49" charset="-122"/>
              </a:rPr>
              <a:t>释放旧区域的</a:t>
            </a:r>
            <a:r>
              <a:rPr lang="en-US" altLang="zh-CN" sz="2000" kern="0" dirty="0">
                <a:latin typeface="Consolas" panose="020B0609020204030204" pitchFamily="49" charset="0"/>
                <a:ea typeface="仿宋" panose="02010609060101010101" pitchFamily="49" charset="-122"/>
                <a:cs typeface="Consolas" panose="020B0609020204030204" pitchFamily="49" charset="0"/>
              </a:rPr>
              <a:t> vm_area_struct </a:t>
            </a:r>
            <a:r>
              <a:rPr lang="zh-CN" altLang="en-US" sz="2000" kern="0" dirty="0">
                <a:latin typeface="仿宋" panose="02010609060101010101" pitchFamily="49" charset="-122"/>
                <a:ea typeface="仿宋" panose="02010609060101010101" pitchFamily="49" charset="-122"/>
                <a:cs typeface="仿宋" panose="02010609060101010101" pitchFamily="49" charset="-122"/>
              </a:rPr>
              <a:t>和页表</a:t>
            </a:r>
            <a:endParaRPr lang="zh-CN" altLang="en-US" sz="2000" kern="0" dirty="0">
              <a:latin typeface="仿宋" panose="02010609060101010101" pitchFamily="49" charset="-122"/>
              <a:ea typeface="仿宋" panose="02010609060101010101" pitchFamily="49" charset="-122"/>
              <a:cs typeface="仿宋" panose="02010609060101010101" pitchFamily="49" charset="-122"/>
            </a:endParaRPr>
          </a:p>
          <a:p>
            <a:pPr algn="just"/>
            <a:endParaRPr lang="en-GB" sz="2000" kern="0" dirty="0">
              <a:latin typeface="仿宋" panose="02010609060101010101" pitchFamily="49" charset="-122"/>
              <a:ea typeface="仿宋" panose="02010609060101010101" pitchFamily="49" charset="-122"/>
              <a:cs typeface="仿宋" panose="02010609060101010101" pitchFamily="49" charset="-122"/>
            </a:endParaRPr>
          </a:p>
          <a:p>
            <a:pPr algn="just"/>
            <a:r>
              <a:rPr lang="zh-CN" altLang="en-US" sz="2000" kern="0" dirty="0">
                <a:latin typeface="仿宋" panose="02010609060101010101" pitchFamily="49" charset="-122"/>
                <a:ea typeface="仿宋" panose="02010609060101010101" pitchFamily="49" charset="-122"/>
                <a:cs typeface="仿宋" panose="02010609060101010101" pitchFamily="49" charset="-122"/>
              </a:rPr>
              <a:t>为新区域创建</a:t>
            </a:r>
            <a:r>
              <a:rPr lang="en-US" altLang="zh-CN" sz="2000" kern="0" dirty="0">
                <a:latin typeface="Consolas" panose="020B0609020204030204" pitchFamily="49" charset="0"/>
                <a:ea typeface="仿宋" panose="02010609060101010101" pitchFamily="49" charset="-122"/>
                <a:cs typeface="Consolas" panose="020B0609020204030204" pitchFamily="49" charset="0"/>
              </a:rPr>
              <a:t> vm_area_struct </a:t>
            </a:r>
            <a:r>
              <a:rPr lang="zh-CN" altLang="en-US" sz="2000" kern="0" dirty="0">
                <a:latin typeface="仿宋" panose="02010609060101010101" pitchFamily="49" charset="-122"/>
                <a:ea typeface="仿宋" panose="02010609060101010101" pitchFamily="49" charset="-122"/>
                <a:cs typeface="仿宋" panose="02010609060101010101" pitchFamily="49" charset="-122"/>
              </a:rPr>
              <a:t>和页表</a:t>
            </a:r>
            <a:endParaRPr lang="zh-CN" altLang="en-US" sz="2000" kern="0" dirty="0">
              <a:latin typeface="仿宋" panose="02010609060101010101" pitchFamily="49" charset="-122"/>
              <a:ea typeface="仿宋" panose="02010609060101010101" pitchFamily="49" charset="-122"/>
              <a:cs typeface="仿宋" panose="02010609060101010101" pitchFamily="49" charset="-122"/>
            </a:endParaRPr>
          </a:p>
          <a:p>
            <a:pPr lvl="1" algn="just"/>
            <a:r>
              <a:rPr lang="zh-CN" altLang="en-US" sz="1800" b="0" kern="0" dirty="0">
                <a:latin typeface="仿宋" panose="02010609060101010101" pitchFamily="49" charset="-122"/>
                <a:ea typeface="仿宋" panose="02010609060101010101" pitchFamily="49" charset="-122"/>
                <a:cs typeface="仿宋" panose="02010609060101010101" pitchFamily="49" charset="-122"/>
              </a:rPr>
              <a:t>程序和已初始化数据由目标文件</a:t>
            </a:r>
            <a:r>
              <a:rPr lang="zh-CN" altLang="en-US" sz="1800" b="0" kern="0" dirty="0">
                <a:latin typeface="仿宋" panose="02010609060101010101" pitchFamily="49" charset="-122"/>
                <a:ea typeface="仿宋" panose="02010609060101010101" pitchFamily="49" charset="-122"/>
                <a:cs typeface="仿宋" panose="02010609060101010101" pitchFamily="49" charset="-122"/>
              </a:rPr>
              <a:t>提供</a:t>
            </a:r>
            <a:endParaRPr lang="zh-CN" altLang="en-US" sz="1800" b="0" kern="0" dirty="0">
              <a:latin typeface="仿宋" panose="02010609060101010101" pitchFamily="49" charset="-122"/>
              <a:ea typeface="仿宋" panose="02010609060101010101" pitchFamily="49" charset="-122"/>
              <a:cs typeface="仿宋" panose="02010609060101010101" pitchFamily="49" charset="-122"/>
            </a:endParaRPr>
          </a:p>
          <a:p>
            <a:pPr lvl="1" algn="just"/>
            <a:r>
              <a:rPr lang="en-US" altLang="zh-CN" sz="1800" b="0" kern="0" dirty="0">
                <a:latin typeface="Courier New" panose="02070609020205020404" pitchFamily="49" charset="0"/>
                <a:ea typeface="仿宋" panose="02010609060101010101" pitchFamily="49" charset="-122"/>
                <a:cs typeface="Courier New" panose="02070609020205020404" pitchFamily="49" charset="0"/>
              </a:rPr>
              <a:t>.bss </a:t>
            </a:r>
            <a:r>
              <a:rPr lang="zh-CN" altLang="en-US" sz="1800" b="0" kern="0" dirty="0">
                <a:latin typeface="仿宋" panose="02010609060101010101" pitchFamily="49" charset="-122"/>
                <a:ea typeface="仿宋" panose="02010609060101010101" pitchFamily="49" charset="-122"/>
                <a:cs typeface="仿宋" panose="02010609060101010101" pitchFamily="49" charset="-122"/>
              </a:rPr>
              <a:t>和栈由匿名文件提供</a:t>
            </a:r>
            <a:endParaRPr lang="zh-CN" altLang="en-US" sz="1800" b="0" kern="0" dirty="0">
              <a:latin typeface="仿宋" panose="02010609060101010101" pitchFamily="49" charset="-122"/>
              <a:ea typeface="仿宋" panose="02010609060101010101" pitchFamily="49" charset="-122"/>
              <a:cs typeface="仿宋" panose="02010609060101010101" pitchFamily="49" charset="-122"/>
            </a:endParaRPr>
          </a:p>
          <a:p>
            <a:pPr algn="just"/>
            <a:endParaRPr lang="en-GB" sz="2000" kern="0" dirty="0">
              <a:latin typeface="仿宋" panose="02010609060101010101" pitchFamily="49" charset="-122"/>
              <a:ea typeface="仿宋" panose="02010609060101010101" pitchFamily="49" charset="-122"/>
              <a:cs typeface="仿宋" panose="02010609060101010101" pitchFamily="49" charset="-122"/>
            </a:endParaRPr>
          </a:p>
          <a:p>
            <a:pPr algn="just"/>
            <a:r>
              <a:rPr lang="zh-CN" altLang="en-US" sz="2000" kern="0" dirty="0">
                <a:latin typeface="仿宋" panose="02010609060101010101" pitchFamily="49" charset="-122"/>
                <a:ea typeface="仿宋" panose="02010609060101010101" pitchFamily="49" charset="-122"/>
                <a:cs typeface="仿宋" panose="02010609060101010101" pitchFamily="49" charset="-122"/>
              </a:rPr>
              <a:t>设置</a:t>
            </a:r>
            <a:r>
              <a:rPr lang="en-US" altLang="zh-CN" sz="2000" kern="0" dirty="0">
                <a:latin typeface="Consolas" panose="020B0609020204030204" pitchFamily="49" charset="0"/>
                <a:ea typeface="仿宋" panose="02010609060101010101" pitchFamily="49" charset="-122"/>
                <a:cs typeface="Consolas" panose="020B0609020204030204" pitchFamily="49" charset="0"/>
              </a:rPr>
              <a:t> PC </a:t>
            </a:r>
            <a:r>
              <a:rPr lang="zh-CN" altLang="en-US" sz="2000" kern="0" dirty="0">
                <a:latin typeface="仿宋" panose="02010609060101010101" pitchFamily="49" charset="-122"/>
                <a:ea typeface="仿宋" panose="02010609060101010101" pitchFamily="49" charset="-122"/>
                <a:cs typeface="仿宋" panose="02010609060101010101" pitchFamily="49" charset="-122"/>
              </a:rPr>
              <a:t>为</a:t>
            </a:r>
            <a:r>
              <a:rPr lang="en-US" altLang="zh-CN" sz="2000" kern="0" dirty="0">
                <a:latin typeface="Courier New" panose="02070609020205020404" pitchFamily="49" charset="0"/>
                <a:ea typeface="仿宋" panose="02010609060101010101" pitchFamily="49" charset="-122"/>
                <a:cs typeface="Courier New" panose="02070609020205020404" pitchFamily="49" charset="0"/>
              </a:rPr>
              <a:t> .text </a:t>
            </a:r>
            <a:r>
              <a:rPr lang="zh-CN" altLang="en-US" sz="2000" kern="0" dirty="0">
                <a:latin typeface="仿宋" panose="02010609060101010101" pitchFamily="49" charset="-122"/>
                <a:ea typeface="仿宋" panose="02010609060101010101" pitchFamily="49" charset="-122"/>
                <a:cs typeface="仿宋" panose="02010609060101010101" pitchFamily="49" charset="-122"/>
              </a:rPr>
              <a:t>段的入口点</a:t>
            </a:r>
            <a:endParaRPr lang="zh-CN" altLang="en-US" sz="2000" kern="0" dirty="0">
              <a:latin typeface="仿宋" panose="02010609060101010101" pitchFamily="49" charset="-122"/>
              <a:ea typeface="仿宋" panose="02010609060101010101" pitchFamily="49" charset="-122"/>
              <a:cs typeface="仿宋" panose="02010609060101010101" pitchFamily="49" charset="-122"/>
            </a:endParaRPr>
          </a:p>
          <a:p>
            <a:pPr lvl="1" algn="just"/>
            <a:r>
              <a:rPr lang="en-GB" sz="1800" b="0" kern="0" dirty="0">
                <a:latin typeface="Consolas" panose="020B0609020204030204" pitchFamily="49" charset="0"/>
                <a:ea typeface="仿宋" panose="02010609060101010101" pitchFamily="49" charset="-122"/>
                <a:cs typeface="Consolas" panose="020B0609020204030204" pitchFamily="49" charset="0"/>
              </a:rPr>
              <a:t>Linux </a:t>
            </a:r>
            <a:r>
              <a:rPr lang="zh-CN" altLang="en-US" sz="1800" b="0" kern="0" dirty="0">
                <a:latin typeface="仿宋" panose="02010609060101010101" pitchFamily="49" charset="-122"/>
                <a:ea typeface="仿宋" panose="02010609060101010101" pitchFamily="49" charset="-122"/>
                <a:cs typeface="仿宋" panose="02010609060101010101" pitchFamily="49" charset="-122"/>
              </a:rPr>
              <a:t>将根据需要访问代码和数据页面时发生缺页异常</a:t>
            </a:r>
            <a:endParaRPr lang="zh-CN" altLang="en-US" sz="1800" b="0" kern="0" dirty="0">
              <a:latin typeface="仿宋" panose="02010609060101010101" pitchFamily="49" charset="-122"/>
              <a:ea typeface="仿宋" panose="02010609060101010101" pitchFamily="49" charset="-122"/>
              <a:cs typeface="仿宋" panose="02010609060101010101" pitchFamily="49" charset="-122"/>
            </a:endParaRPr>
          </a:p>
        </p:txBody>
      </p:sp>
      <p:sp>
        <p:nvSpPr>
          <p:cNvPr id="5" name="Rectangle 380"/>
          <p:cNvSpPr>
            <a:spLocks noChangeAspect="1" noChangeArrowheads="1"/>
          </p:cNvSpPr>
          <p:nvPr/>
        </p:nvSpPr>
        <p:spPr bwMode="auto">
          <a:xfrm>
            <a:off x="1987141" y="2627312"/>
            <a:ext cx="2174875" cy="638175"/>
          </a:xfrm>
          <a:prstGeom prst="rect">
            <a:avLst/>
          </a:prstGeom>
          <a:solidFill>
            <a:srgbClr val="D5F1CF"/>
          </a:solidFill>
          <a:ln w="12700">
            <a:solidFill>
              <a:schemeClr val="tx1"/>
            </a:solidFill>
            <a:miter lim="800000"/>
          </a:ln>
          <a:effectLst/>
        </p:spPr>
        <p:txBody>
          <a:bodyPr wrap="none" anchor="ctr"/>
          <a:lstStyle/>
          <a:p>
            <a:pPr algn="ctr"/>
            <a:r>
              <a:rPr lang="zh-CN" altLang="en-US" sz="1400" dirty="0">
                <a:latin typeface="SimHei" panose="02010600030101010101" charset="-122"/>
                <a:ea typeface="SimHei" panose="02010600030101010101" charset="-122"/>
              </a:rPr>
              <a:t>共享库的内存映射区域</a:t>
            </a:r>
            <a:endParaRPr lang="zh-CN" altLang="en-US" sz="1400" dirty="0">
              <a:latin typeface="SimHei" panose="02010600030101010101" charset="-122"/>
              <a:ea typeface="SimHei" panose="02010600030101010101" charset="-122"/>
            </a:endParaRPr>
          </a:p>
        </p:txBody>
      </p:sp>
      <p:sp>
        <p:nvSpPr>
          <p:cNvPr id="6" name="Rectangle 381"/>
          <p:cNvSpPr>
            <a:spLocks noChangeAspect="1" noChangeArrowheads="1"/>
          </p:cNvSpPr>
          <p:nvPr/>
        </p:nvSpPr>
        <p:spPr bwMode="auto">
          <a:xfrm>
            <a:off x="1987141" y="3262312"/>
            <a:ext cx="2174875" cy="688975"/>
          </a:xfrm>
          <a:prstGeom prst="rect">
            <a:avLst/>
          </a:prstGeom>
          <a:solidFill>
            <a:srgbClr val="C0C0C0"/>
          </a:solidFill>
          <a:ln w="12700">
            <a:solidFill>
              <a:schemeClr val="tx1"/>
            </a:solidFill>
            <a:miter lim="800000"/>
          </a:ln>
          <a:effectLst/>
        </p:spPr>
        <p:txBody>
          <a:bodyPr wrap="none" anchor="ctr"/>
          <a:lstStyle/>
          <a:p>
            <a:pPr algn="ctr"/>
            <a:endParaRPr lang="en-US" sz="1400">
              <a:latin typeface="SimHei" panose="02010600030101010101" charset="-122"/>
              <a:ea typeface="SimHei" panose="02010600030101010101" charset="-122"/>
            </a:endParaRPr>
          </a:p>
        </p:txBody>
      </p:sp>
      <p:sp>
        <p:nvSpPr>
          <p:cNvPr id="7" name="Rectangle 382"/>
          <p:cNvSpPr>
            <a:spLocks noChangeAspect="1" noChangeArrowheads="1"/>
          </p:cNvSpPr>
          <p:nvPr/>
        </p:nvSpPr>
        <p:spPr bwMode="auto">
          <a:xfrm>
            <a:off x="1987141" y="3956050"/>
            <a:ext cx="2174875" cy="636587"/>
          </a:xfrm>
          <a:prstGeom prst="rect">
            <a:avLst/>
          </a:prstGeom>
          <a:solidFill>
            <a:srgbClr val="DEDFF5"/>
          </a:solidFill>
          <a:ln w="12700">
            <a:solidFill>
              <a:schemeClr val="tx1"/>
            </a:solidFill>
            <a:miter lim="800000"/>
          </a:ln>
          <a:effectLst/>
        </p:spPr>
        <p:txBody>
          <a:bodyPr wrap="none" anchor="ctr"/>
          <a:lstStyle/>
          <a:p>
            <a:pPr algn="ctr"/>
            <a:r>
              <a:rPr lang="zh-CN" altLang="en-US" sz="1400" dirty="0">
                <a:latin typeface="SimHei" panose="02010600030101010101" charset="-122"/>
                <a:ea typeface="SimHei" panose="02010600030101010101" charset="-122"/>
                <a:cs typeface="SimHei" panose="02010600030101010101" charset="-122"/>
              </a:rPr>
              <a:t>运行时堆（通过</a:t>
            </a:r>
            <a:r>
              <a:rPr lang="en-US" sz="1400" dirty="0">
                <a:latin typeface="SimHei" panose="02010600030101010101" charset="-122"/>
                <a:ea typeface="SimHei" panose="02010600030101010101" charset="-122"/>
                <a:cs typeface="SimHei" panose="02010600030101010101" charset="-122"/>
              </a:rPr>
              <a:t> </a:t>
            </a:r>
            <a:r>
              <a:rPr lang="en-US" sz="1400" dirty="0" err="1">
                <a:latin typeface="Courier New" panose="02070609020205020404" pitchFamily="49" charset="0"/>
                <a:ea typeface="SimHei" panose="02010600030101010101" charset="-122"/>
                <a:cs typeface="Courier New" panose="02070609020205020404" pitchFamily="49" charset="0"/>
              </a:rPr>
              <a:t>malloc</a:t>
            </a:r>
            <a:r>
              <a:rPr lang="zh-CN" altLang="en-US" sz="1400" dirty="0" err="1">
                <a:latin typeface="SimHei" panose="02010600030101010101" charset="-122"/>
                <a:ea typeface="SimHei" panose="02010600030101010101" charset="-122"/>
                <a:cs typeface="SimHei" panose="02010600030101010101" charset="-122"/>
              </a:rPr>
              <a:t>）</a:t>
            </a:r>
            <a:endParaRPr lang="zh-CN" altLang="en-US" sz="1400" dirty="0" err="1">
              <a:latin typeface="SimHei" panose="02010600030101010101" charset="-122"/>
              <a:ea typeface="SimHei" panose="02010600030101010101" charset="-122"/>
              <a:cs typeface="SimHei" panose="02010600030101010101" charset="-122"/>
            </a:endParaRPr>
          </a:p>
        </p:txBody>
      </p:sp>
      <p:sp>
        <p:nvSpPr>
          <p:cNvPr id="8" name="Rectangle 383"/>
          <p:cNvSpPr>
            <a:spLocks noChangeAspect="1" noChangeArrowheads="1"/>
          </p:cNvSpPr>
          <p:nvPr/>
        </p:nvSpPr>
        <p:spPr bwMode="auto">
          <a:xfrm>
            <a:off x="1987141" y="1770062"/>
            <a:ext cx="2174875" cy="863600"/>
          </a:xfrm>
          <a:prstGeom prst="rect">
            <a:avLst/>
          </a:prstGeom>
          <a:solidFill>
            <a:srgbClr val="C0C0C0"/>
          </a:solidFill>
          <a:ln w="12700">
            <a:solidFill>
              <a:schemeClr val="tx1"/>
            </a:solidFill>
            <a:miter lim="800000"/>
          </a:ln>
          <a:effectLst/>
        </p:spPr>
        <p:txBody>
          <a:bodyPr wrap="none" anchor="ctr"/>
          <a:lstStyle/>
          <a:p>
            <a:pPr algn="ctr"/>
            <a:endParaRPr lang="en-US" sz="1400">
              <a:latin typeface="SimHei" panose="02010600030101010101" charset="-122"/>
              <a:ea typeface="SimHei" panose="02010600030101010101" charset="-122"/>
            </a:endParaRPr>
          </a:p>
        </p:txBody>
      </p:sp>
      <p:sp>
        <p:nvSpPr>
          <p:cNvPr id="9" name="Rectangle 384"/>
          <p:cNvSpPr>
            <a:spLocks noChangeAspect="1" noChangeArrowheads="1"/>
          </p:cNvSpPr>
          <p:nvPr/>
        </p:nvSpPr>
        <p:spPr bwMode="auto">
          <a:xfrm>
            <a:off x="1987141" y="5305425"/>
            <a:ext cx="2174875" cy="379412"/>
          </a:xfrm>
          <a:prstGeom prst="rect">
            <a:avLst/>
          </a:prstGeom>
          <a:solidFill>
            <a:srgbClr val="F1C7C7"/>
          </a:solidFill>
          <a:ln w="12700">
            <a:solidFill>
              <a:schemeClr val="tx1"/>
            </a:solidFill>
            <a:miter lim="800000"/>
          </a:ln>
          <a:effectLst/>
        </p:spPr>
        <p:txBody>
          <a:bodyPr wrap="none" anchor="ctr"/>
          <a:lstStyle/>
          <a:p>
            <a:pPr algn="ctr"/>
            <a:r>
              <a:rPr lang="zh-CN" altLang="en-US" sz="1400">
                <a:latin typeface="SimHei" panose="02010600030101010101" charset="-122"/>
                <a:ea typeface="SimHei" panose="02010600030101010101" charset="-122"/>
                <a:cs typeface="SimHei" panose="02010600030101010101" charset="-122"/>
              </a:rPr>
              <a:t>程序代码段（</a:t>
            </a:r>
            <a:r>
              <a:rPr lang="en-US" sz="1400">
                <a:effectLst/>
                <a:latin typeface="Courier New" panose="02070609020205020404" pitchFamily="49" charset="0"/>
                <a:ea typeface="SimHei" panose="02010600030101010101" charset="-122"/>
                <a:cs typeface="Courier New" panose="02070609020205020404" pitchFamily="49" charset="0"/>
              </a:rPr>
              <a:t>.text</a:t>
            </a:r>
            <a:r>
              <a:rPr lang="zh-CN" altLang="en-US" sz="1400">
                <a:latin typeface="SimHei" panose="02010600030101010101" charset="-122"/>
                <a:ea typeface="SimHei" panose="02010600030101010101" charset="-122"/>
                <a:cs typeface="SimHei" panose="02010600030101010101" charset="-122"/>
              </a:rPr>
              <a:t>）</a:t>
            </a:r>
            <a:endParaRPr lang="zh-CN" altLang="en-US" sz="1400">
              <a:latin typeface="SimHei" panose="02010600030101010101" charset="-122"/>
              <a:ea typeface="SimHei" panose="02010600030101010101" charset="-122"/>
              <a:cs typeface="SimHei" panose="02010600030101010101" charset="-122"/>
            </a:endParaRPr>
          </a:p>
        </p:txBody>
      </p:sp>
      <p:sp>
        <p:nvSpPr>
          <p:cNvPr id="10" name="Rectangle 385"/>
          <p:cNvSpPr>
            <a:spLocks noChangeAspect="1" noChangeArrowheads="1"/>
          </p:cNvSpPr>
          <p:nvPr/>
        </p:nvSpPr>
        <p:spPr bwMode="auto">
          <a:xfrm>
            <a:off x="1987141" y="4943475"/>
            <a:ext cx="2174875" cy="377825"/>
          </a:xfrm>
          <a:prstGeom prst="rect">
            <a:avLst/>
          </a:prstGeom>
          <a:solidFill>
            <a:srgbClr val="F6F5BD"/>
          </a:solidFill>
          <a:ln w="12700">
            <a:solidFill>
              <a:schemeClr val="tx1"/>
            </a:solidFill>
            <a:miter lim="800000"/>
          </a:ln>
          <a:effectLst/>
        </p:spPr>
        <p:txBody>
          <a:bodyPr wrap="none" anchor="ctr"/>
          <a:lstStyle/>
          <a:p>
            <a:pPr algn="ctr"/>
            <a:r>
              <a:rPr lang="zh-CN" altLang="en-US" sz="1400">
                <a:latin typeface="SimHei" panose="02010600030101010101" charset="-122"/>
                <a:ea typeface="SimHei" panose="02010600030101010101" charset="-122"/>
                <a:cs typeface="SimHei" panose="02010600030101010101" charset="-122"/>
              </a:rPr>
              <a:t>初始化数据段（</a:t>
            </a:r>
            <a:r>
              <a:rPr lang="en-US" sz="1400">
                <a:effectLst/>
                <a:latin typeface="Courier New" panose="02070609020205020404" pitchFamily="49" charset="0"/>
                <a:ea typeface="SimHei" panose="02010600030101010101" charset="-122"/>
                <a:cs typeface="Courier New" panose="02070609020205020404" pitchFamily="49" charset="0"/>
              </a:rPr>
              <a:t>.data</a:t>
            </a:r>
            <a:r>
              <a:rPr lang="zh-CN" altLang="en-US" sz="1400">
                <a:latin typeface="SimHei" panose="02010600030101010101" charset="-122"/>
                <a:ea typeface="SimHei" panose="02010600030101010101" charset="-122"/>
                <a:cs typeface="SimHei" panose="02010600030101010101" charset="-122"/>
              </a:rPr>
              <a:t>）</a:t>
            </a:r>
            <a:endParaRPr lang="zh-CN" altLang="en-US" sz="1400">
              <a:latin typeface="SimHei" panose="02010600030101010101" charset="-122"/>
              <a:ea typeface="SimHei" panose="02010600030101010101" charset="-122"/>
              <a:cs typeface="SimHei" panose="02010600030101010101" charset="-122"/>
            </a:endParaRPr>
          </a:p>
        </p:txBody>
      </p:sp>
      <p:sp>
        <p:nvSpPr>
          <p:cNvPr id="11" name="Rectangle 386"/>
          <p:cNvSpPr>
            <a:spLocks noChangeAspect="1" noChangeArrowheads="1"/>
          </p:cNvSpPr>
          <p:nvPr/>
        </p:nvSpPr>
        <p:spPr bwMode="auto">
          <a:xfrm>
            <a:off x="1987141" y="4579937"/>
            <a:ext cx="2174875" cy="376238"/>
          </a:xfrm>
          <a:prstGeom prst="rect">
            <a:avLst/>
          </a:prstGeom>
          <a:solidFill>
            <a:srgbClr val="DEDFF5"/>
          </a:solidFill>
          <a:ln w="12700">
            <a:solidFill>
              <a:schemeClr val="tx1"/>
            </a:solidFill>
            <a:miter lim="800000"/>
          </a:ln>
          <a:effectLst/>
        </p:spPr>
        <p:txBody>
          <a:bodyPr wrap="none" anchor="ctr"/>
          <a:lstStyle/>
          <a:p>
            <a:pPr algn="ctr"/>
            <a:r>
              <a:rPr lang="zh-CN" altLang="en-US" sz="1400">
                <a:latin typeface="SimHei" panose="02010600030101010101" charset="-122"/>
                <a:ea typeface="SimHei" panose="02010600030101010101" charset="-122"/>
                <a:cs typeface="SimHei" panose="02010600030101010101" charset="-122"/>
              </a:rPr>
              <a:t>未初始化数据段（</a:t>
            </a:r>
            <a:r>
              <a:rPr lang="en-US" sz="1400">
                <a:latin typeface="Courier New" panose="02070609020205020404" pitchFamily="49" charset="0"/>
                <a:ea typeface="SimHei" panose="02010600030101010101" charset="-122"/>
                <a:cs typeface="Courier New" panose="02070609020205020404" pitchFamily="49" charset="0"/>
              </a:rPr>
              <a:t>.bss</a:t>
            </a:r>
            <a:r>
              <a:rPr lang="zh-CN" altLang="en-US" sz="1400">
                <a:latin typeface="SimHei" panose="02010600030101010101" charset="-122"/>
                <a:ea typeface="SimHei" panose="02010600030101010101" charset="-122"/>
                <a:cs typeface="SimHei" panose="02010600030101010101" charset="-122"/>
              </a:rPr>
              <a:t>）</a:t>
            </a:r>
            <a:endParaRPr lang="zh-CN" altLang="en-US" sz="1400">
              <a:latin typeface="SimHei" panose="02010600030101010101" charset="-122"/>
              <a:ea typeface="SimHei" panose="02010600030101010101" charset="-122"/>
              <a:cs typeface="SimHei" panose="02010600030101010101" charset="-122"/>
            </a:endParaRPr>
          </a:p>
        </p:txBody>
      </p:sp>
      <p:sp>
        <p:nvSpPr>
          <p:cNvPr id="12" name="Line 387"/>
          <p:cNvSpPr>
            <a:spLocks noChangeAspect="1" noChangeShapeType="1"/>
          </p:cNvSpPr>
          <p:nvPr/>
        </p:nvSpPr>
        <p:spPr bwMode="auto">
          <a:xfrm flipV="1">
            <a:off x="3012666" y="3633787"/>
            <a:ext cx="0" cy="336550"/>
          </a:xfrm>
          <a:prstGeom prst="line">
            <a:avLst/>
          </a:prstGeom>
          <a:noFill/>
          <a:ln w="38100">
            <a:solidFill>
              <a:schemeClr val="tx1"/>
            </a:solidFill>
            <a:round/>
            <a:tailEnd type="triangle" w="med" len="med"/>
          </a:ln>
          <a:effectLst/>
        </p:spPr>
        <p:txBody>
          <a:bodyPr wrap="none" anchor="ctr"/>
          <a:lstStyle/>
          <a:p>
            <a:pPr algn="ctr"/>
            <a:endParaRPr lang="en-US">
              <a:latin typeface="+mn-lt"/>
            </a:endParaRPr>
          </a:p>
        </p:txBody>
      </p:sp>
      <p:sp>
        <p:nvSpPr>
          <p:cNvPr id="13" name="Rectangle 388"/>
          <p:cNvSpPr>
            <a:spLocks noChangeAspect="1" noChangeArrowheads="1"/>
          </p:cNvSpPr>
          <p:nvPr/>
        </p:nvSpPr>
        <p:spPr bwMode="auto">
          <a:xfrm>
            <a:off x="1987141" y="1452562"/>
            <a:ext cx="2174875" cy="320675"/>
          </a:xfrm>
          <a:prstGeom prst="rect">
            <a:avLst/>
          </a:prstGeom>
          <a:solidFill>
            <a:srgbClr val="DEDFF5"/>
          </a:solidFill>
          <a:ln w="12700">
            <a:solidFill>
              <a:schemeClr val="tx1"/>
            </a:solidFill>
            <a:miter lim="800000"/>
          </a:ln>
          <a:effectLst/>
        </p:spPr>
        <p:txBody>
          <a:bodyPr wrap="none" anchor="ctr"/>
          <a:lstStyle/>
          <a:p>
            <a:pPr algn="ctr"/>
            <a:r>
              <a:rPr lang="zh-CN" altLang="en-US" sz="1400" dirty="0">
                <a:latin typeface="SimHei" panose="02010600030101010101" charset="-122"/>
                <a:ea typeface="SimHei" panose="02010600030101010101" charset="-122"/>
              </a:rPr>
              <a:t>用户栈</a:t>
            </a:r>
            <a:endParaRPr lang="zh-CN" altLang="en-US" sz="1400" dirty="0">
              <a:latin typeface="SimHei" panose="02010600030101010101" charset="-122"/>
              <a:ea typeface="SimHei" panose="02010600030101010101" charset="-122"/>
            </a:endParaRPr>
          </a:p>
        </p:txBody>
      </p:sp>
      <p:sp>
        <p:nvSpPr>
          <p:cNvPr id="14" name="Line 389"/>
          <p:cNvSpPr>
            <a:spLocks noChangeAspect="1" noChangeShapeType="1"/>
          </p:cNvSpPr>
          <p:nvPr/>
        </p:nvSpPr>
        <p:spPr bwMode="auto">
          <a:xfrm flipV="1">
            <a:off x="3023779" y="2297112"/>
            <a:ext cx="0" cy="334963"/>
          </a:xfrm>
          <a:prstGeom prst="line">
            <a:avLst/>
          </a:prstGeom>
          <a:noFill/>
          <a:ln w="38100">
            <a:solidFill>
              <a:schemeClr val="tx1"/>
            </a:solidFill>
            <a:round/>
            <a:tailEnd type="triangle" w="med" len="med"/>
          </a:ln>
          <a:effectLst/>
        </p:spPr>
        <p:txBody>
          <a:bodyPr wrap="none" anchor="ctr"/>
          <a:lstStyle/>
          <a:p>
            <a:pPr algn="ctr"/>
            <a:endParaRPr lang="en-US">
              <a:latin typeface="+mn-lt"/>
            </a:endParaRPr>
          </a:p>
        </p:txBody>
      </p:sp>
      <p:sp>
        <p:nvSpPr>
          <p:cNvPr id="15" name="Line 390"/>
          <p:cNvSpPr>
            <a:spLocks noChangeAspect="1" noChangeShapeType="1"/>
          </p:cNvSpPr>
          <p:nvPr/>
        </p:nvSpPr>
        <p:spPr bwMode="auto">
          <a:xfrm>
            <a:off x="3033304" y="1773237"/>
            <a:ext cx="0" cy="336550"/>
          </a:xfrm>
          <a:prstGeom prst="line">
            <a:avLst/>
          </a:prstGeom>
          <a:noFill/>
          <a:ln w="38100">
            <a:solidFill>
              <a:schemeClr val="tx1"/>
            </a:solidFill>
            <a:round/>
            <a:tailEnd type="triangle" w="med" len="med"/>
          </a:ln>
          <a:effectLst/>
        </p:spPr>
        <p:txBody>
          <a:bodyPr wrap="none" anchor="ctr"/>
          <a:lstStyle/>
          <a:p>
            <a:pPr algn="ctr"/>
            <a:endParaRPr lang="en-US">
              <a:latin typeface="+mn-lt"/>
            </a:endParaRPr>
          </a:p>
        </p:txBody>
      </p:sp>
      <p:sp>
        <p:nvSpPr>
          <p:cNvPr id="16" name="Rectangle 391"/>
          <p:cNvSpPr>
            <a:spLocks noChangeAspect="1" noChangeArrowheads="1"/>
          </p:cNvSpPr>
          <p:nvPr/>
        </p:nvSpPr>
        <p:spPr bwMode="auto">
          <a:xfrm>
            <a:off x="1987141" y="5668962"/>
            <a:ext cx="2174875" cy="377825"/>
          </a:xfrm>
          <a:prstGeom prst="rect">
            <a:avLst/>
          </a:prstGeom>
          <a:solidFill>
            <a:srgbClr val="C0C0C0"/>
          </a:solidFill>
          <a:ln w="12700">
            <a:solidFill>
              <a:schemeClr val="tx1"/>
            </a:solidFill>
            <a:miter lim="800000"/>
          </a:ln>
          <a:effectLst/>
        </p:spPr>
        <p:txBody>
          <a:bodyPr wrap="none" anchor="ctr"/>
          <a:lstStyle/>
          <a:p>
            <a:pPr algn="ctr"/>
            <a:endParaRPr lang="en-US" sz="1400">
              <a:latin typeface="SimHei" panose="02010600030101010101" charset="-122"/>
              <a:ea typeface="SimHei" panose="02010600030101010101" charset="-122"/>
            </a:endParaRPr>
          </a:p>
        </p:txBody>
      </p:sp>
      <p:sp>
        <p:nvSpPr>
          <p:cNvPr id="17" name="Text Box 392"/>
          <p:cNvSpPr txBox="1">
            <a:spLocks noChangeAspect="1" noChangeArrowheads="1"/>
          </p:cNvSpPr>
          <p:nvPr/>
        </p:nvSpPr>
        <p:spPr bwMode="auto">
          <a:xfrm>
            <a:off x="1784034" y="5867400"/>
            <a:ext cx="276038" cy="307777"/>
          </a:xfrm>
          <a:prstGeom prst="rect">
            <a:avLst/>
          </a:prstGeom>
          <a:noFill/>
          <a:ln w="25400">
            <a:noFill/>
            <a:miter lim="800000"/>
          </a:ln>
          <a:effectLst/>
        </p:spPr>
        <p:txBody>
          <a:bodyPr wrap="none">
            <a:spAutoFit/>
          </a:bodyPr>
          <a:lstStyle/>
          <a:p>
            <a:pPr algn="ctr"/>
            <a:r>
              <a:rPr lang="en-US" sz="1400">
                <a:latin typeface="SimHei" panose="02010600030101010101" charset="-122"/>
                <a:ea typeface="SimHei" panose="02010600030101010101" charset="-122"/>
              </a:rPr>
              <a:t>0</a:t>
            </a:r>
            <a:endParaRPr lang="en-US" sz="1400">
              <a:latin typeface="SimHei" panose="02010600030101010101" charset="-122"/>
              <a:ea typeface="SimHei" panose="02010600030101010101" charset="-122"/>
            </a:endParaRPr>
          </a:p>
        </p:txBody>
      </p:sp>
      <p:sp>
        <p:nvSpPr>
          <p:cNvPr id="18" name="AutoShape 411"/>
          <p:cNvSpPr/>
          <p:nvPr/>
        </p:nvSpPr>
        <p:spPr bwMode="auto">
          <a:xfrm>
            <a:off x="4219166" y="1439862"/>
            <a:ext cx="76200" cy="304800"/>
          </a:xfrm>
          <a:prstGeom prst="rightBrace">
            <a:avLst>
              <a:gd name="adj1" fmla="val 33333"/>
              <a:gd name="adj2" fmla="val 50000"/>
            </a:avLst>
          </a:prstGeom>
          <a:noFill/>
          <a:ln w="12700">
            <a:solidFill>
              <a:schemeClr val="tx1"/>
            </a:solidFill>
            <a:round/>
          </a:ln>
          <a:effectLst/>
        </p:spPr>
        <p:txBody>
          <a:bodyPr wrap="none" anchor="ctr"/>
          <a:lstStyle/>
          <a:p>
            <a:pPr algn="ctr"/>
            <a:endParaRPr lang="en-US">
              <a:latin typeface="SimHei" panose="02010600030101010101" charset="-122"/>
              <a:ea typeface="SimHei" panose="02010600030101010101" charset="-122"/>
            </a:endParaRPr>
          </a:p>
        </p:txBody>
      </p:sp>
      <p:sp>
        <p:nvSpPr>
          <p:cNvPr id="19" name="AutoShape 412"/>
          <p:cNvSpPr/>
          <p:nvPr/>
        </p:nvSpPr>
        <p:spPr bwMode="auto">
          <a:xfrm>
            <a:off x="4219166" y="2659062"/>
            <a:ext cx="76200" cy="609600"/>
          </a:xfrm>
          <a:prstGeom prst="rightBrace">
            <a:avLst>
              <a:gd name="adj1" fmla="val 66667"/>
              <a:gd name="adj2" fmla="val 50000"/>
            </a:avLst>
          </a:prstGeom>
          <a:noFill/>
          <a:ln w="12700">
            <a:solidFill>
              <a:schemeClr val="tx1"/>
            </a:solidFill>
            <a:round/>
          </a:ln>
          <a:effectLst/>
        </p:spPr>
        <p:txBody>
          <a:bodyPr wrap="none" anchor="ctr"/>
          <a:lstStyle/>
          <a:p>
            <a:pPr algn="ctr"/>
            <a:endParaRPr lang="en-US">
              <a:latin typeface="SimHei" panose="02010600030101010101" charset="-122"/>
              <a:ea typeface="SimHei" panose="02010600030101010101" charset="-122"/>
            </a:endParaRPr>
          </a:p>
        </p:txBody>
      </p:sp>
      <p:sp>
        <p:nvSpPr>
          <p:cNvPr id="20" name="AutoShape 415"/>
          <p:cNvSpPr/>
          <p:nvPr/>
        </p:nvSpPr>
        <p:spPr bwMode="auto">
          <a:xfrm>
            <a:off x="4219166" y="3967162"/>
            <a:ext cx="74613" cy="584200"/>
          </a:xfrm>
          <a:prstGeom prst="rightBrace">
            <a:avLst>
              <a:gd name="adj1" fmla="val 65248"/>
              <a:gd name="adj2" fmla="val 50000"/>
            </a:avLst>
          </a:prstGeom>
          <a:noFill/>
          <a:ln w="12700">
            <a:solidFill>
              <a:schemeClr val="tx1"/>
            </a:solidFill>
            <a:round/>
          </a:ln>
          <a:effectLst/>
        </p:spPr>
        <p:txBody>
          <a:bodyPr wrap="none" anchor="ctr"/>
          <a:lstStyle/>
          <a:p>
            <a:pPr algn="ctr"/>
            <a:endParaRPr lang="en-US">
              <a:latin typeface="SimHei" panose="02010600030101010101" charset="-122"/>
              <a:ea typeface="SimHei" panose="02010600030101010101" charset="-122"/>
            </a:endParaRPr>
          </a:p>
        </p:txBody>
      </p:sp>
      <p:sp>
        <p:nvSpPr>
          <p:cNvPr id="21" name="AutoShape 416"/>
          <p:cNvSpPr/>
          <p:nvPr/>
        </p:nvSpPr>
        <p:spPr bwMode="auto">
          <a:xfrm>
            <a:off x="4219166" y="4576762"/>
            <a:ext cx="76200" cy="355600"/>
          </a:xfrm>
          <a:prstGeom prst="rightBrace">
            <a:avLst>
              <a:gd name="adj1" fmla="val 38889"/>
              <a:gd name="adj2" fmla="val 50000"/>
            </a:avLst>
          </a:prstGeom>
          <a:noFill/>
          <a:ln w="12700">
            <a:solidFill>
              <a:schemeClr val="tx1"/>
            </a:solidFill>
            <a:round/>
          </a:ln>
          <a:effectLst/>
        </p:spPr>
        <p:txBody>
          <a:bodyPr wrap="none" anchor="ctr"/>
          <a:lstStyle/>
          <a:p>
            <a:pPr algn="ctr"/>
            <a:endParaRPr lang="en-US">
              <a:latin typeface="SimHei" panose="02010600030101010101" charset="-122"/>
              <a:ea typeface="SimHei" panose="02010600030101010101" charset="-122"/>
            </a:endParaRPr>
          </a:p>
        </p:txBody>
      </p:sp>
      <p:sp>
        <p:nvSpPr>
          <p:cNvPr id="22" name="AutoShape 417"/>
          <p:cNvSpPr/>
          <p:nvPr/>
        </p:nvSpPr>
        <p:spPr bwMode="auto">
          <a:xfrm>
            <a:off x="4219166" y="4983162"/>
            <a:ext cx="76200" cy="647700"/>
          </a:xfrm>
          <a:prstGeom prst="rightBrace">
            <a:avLst>
              <a:gd name="adj1" fmla="val 70833"/>
              <a:gd name="adj2" fmla="val 50000"/>
            </a:avLst>
          </a:prstGeom>
          <a:noFill/>
          <a:ln w="12700">
            <a:solidFill>
              <a:schemeClr val="tx1"/>
            </a:solidFill>
            <a:round/>
          </a:ln>
          <a:effectLst/>
        </p:spPr>
        <p:txBody>
          <a:bodyPr wrap="none" anchor="ctr"/>
          <a:lstStyle/>
          <a:p>
            <a:pPr algn="ctr"/>
            <a:endParaRPr lang="en-US">
              <a:latin typeface="SimHei" panose="02010600030101010101" charset="-122"/>
              <a:ea typeface="SimHei" panose="02010600030101010101" charset="-122"/>
            </a:endParaRPr>
          </a:p>
        </p:txBody>
      </p:sp>
      <p:sp>
        <p:nvSpPr>
          <p:cNvPr id="23" name="Text Box 420"/>
          <p:cNvSpPr txBox="1">
            <a:spLocks noChangeArrowheads="1"/>
          </p:cNvSpPr>
          <p:nvPr/>
        </p:nvSpPr>
        <p:spPr bwMode="auto">
          <a:xfrm>
            <a:off x="4295366" y="1330653"/>
            <a:ext cx="1646605" cy="523220"/>
          </a:xfrm>
          <a:prstGeom prst="rect">
            <a:avLst/>
          </a:prstGeom>
          <a:noFill/>
          <a:ln w="12700">
            <a:noFill/>
            <a:miter lim="800000"/>
          </a:ln>
          <a:effectLst/>
        </p:spPr>
        <p:txBody>
          <a:bodyPr wrap="none" anchor="ctr">
            <a:spAutoFit/>
          </a:bodyPr>
          <a:lstStyle/>
          <a:p>
            <a:pPr algn="l"/>
            <a:r>
              <a:rPr lang="zh-CN" altLang="en-US" sz="1400" i="1">
                <a:latin typeface="SimHei" panose="02010600030101010101" charset="-122"/>
                <a:ea typeface="SimHei" panose="02010600030101010101" charset="-122"/>
              </a:rPr>
              <a:t>私有，按需分配，</a:t>
            </a:r>
            <a:endParaRPr lang="zh-CN" altLang="en-US" sz="1400" i="1">
              <a:latin typeface="SimHei" panose="02010600030101010101" charset="-122"/>
              <a:ea typeface="SimHei" panose="02010600030101010101" charset="-122"/>
            </a:endParaRPr>
          </a:p>
          <a:p>
            <a:pPr algn="l"/>
            <a:r>
              <a:rPr lang="zh-CN" altLang="en-US" sz="1400" i="1">
                <a:latin typeface="SimHei" panose="02010600030101010101" charset="-122"/>
                <a:ea typeface="SimHei" panose="02010600030101010101" charset="-122"/>
              </a:rPr>
              <a:t>初始化为零</a:t>
            </a:r>
            <a:endParaRPr lang="zh-CN" altLang="en-US" sz="1400" i="1">
              <a:latin typeface="SimHei" panose="02010600030101010101" charset="-122"/>
              <a:ea typeface="SimHei" panose="02010600030101010101" charset="-122"/>
            </a:endParaRPr>
          </a:p>
        </p:txBody>
      </p:sp>
      <p:sp>
        <p:nvSpPr>
          <p:cNvPr id="24" name="Text Box 423"/>
          <p:cNvSpPr txBox="1">
            <a:spLocks noChangeArrowheads="1"/>
          </p:cNvSpPr>
          <p:nvPr/>
        </p:nvSpPr>
        <p:spPr bwMode="auto">
          <a:xfrm>
            <a:off x="544898" y="2430462"/>
            <a:ext cx="927100" cy="281940"/>
          </a:xfrm>
          <a:prstGeom prst="rect">
            <a:avLst/>
          </a:prstGeom>
          <a:noFill/>
          <a:ln w="9525">
            <a:noFill/>
            <a:miter lim="800000"/>
          </a:ln>
          <a:effectLst/>
        </p:spPr>
        <p:txBody>
          <a:bodyPr wrap="none" lIns="90487" tIns="44450" rIns="90487" bIns="44450">
            <a:spAutoFit/>
          </a:bodyPr>
          <a:lstStyle/>
          <a:p>
            <a:pPr algn="ctr">
              <a:lnSpc>
                <a:spcPct val="90000"/>
              </a:lnSpc>
              <a:spcBef>
                <a:spcPct val="30000"/>
              </a:spcBef>
            </a:pPr>
            <a:r>
              <a:rPr lang="en-US" sz="1400" b="1">
                <a:solidFill>
                  <a:schemeClr val="tx2"/>
                </a:solidFill>
                <a:latin typeface="Courier New" panose="02070609020205020404" pitchFamily="49" charset="0"/>
                <a:cs typeface="Courier New" panose="02070609020205020404" pitchFamily="49" charset="0"/>
              </a:rPr>
              <a:t>libc.so</a:t>
            </a:r>
            <a:endParaRPr lang="en-US" sz="1400" b="1">
              <a:solidFill>
                <a:schemeClr val="tx2"/>
              </a:solidFill>
              <a:latin typeface="Courier New" panose="02070609020205020404" pitchFamily="49" charset="0"/>
              <a:cs typeface="Courier New" panose="02070609020205020404" pitchFamily="49" charset="0"/>
            </a:endParaRPr>
          </a:p>
        </p:txBody>
      </p:sp>
      <p:sp>
        <p:nvSpPr>
          <p:cNvPr id="25" name="Rectangle 424"/>
          <p:cNvSpPr>
            <a:spLocks noChangeArrowheads="1"/>
          </p:cNvSpPr>
          <p:nvPr/>
        </p:nvSpPr>
        <p:spPr bwMode="auto">
          <a:xfrm>
            <a:off x="561566" y="2735262"/>
            <a:ext cx="914400" cy="228600"/>
          </a:xfrm>
          <a:prstGeom prst="rect">
            <a:avLst/>
          </a:prstGeom>
          <a:solidFill>
            <a:srgbClr val="D5F1CF"/>
          </a:solidFill>
          <a:ln w="9525">
            <a:solidFill>
              <a:srgbClr val="000000"/>
            </a:solidFill>
            <a:miter lim="800000"/>
          </a:ln>
          <a:effectLst/>
        </p:spPr>
        <p:txBody>
          <a:bodyPr wrap="none" lIns="90487" tIns="44450" rIns="90487" bIns="44450" anchor="ctr"/>
          <a:lstStyle/>
          <a:p>
            <a:pPr algn="ctr">
              <a:lnSpc>
                <a:spcPct val="90000"/>
              </a:lnSpc>
              <a:spcBef>
                <a:spcPct val="30000"/>
              </a:spcBef>
            </a:pPr>
            <a:r>
              <a:rPr lang="en-US" sz="1400" dirty="0">
                <a:solidFill>
                  <a:schemeClr val="tx2"/>
                </a:solidFill>
                <a:latin typeface="Courier New" panose="02070609020205020404" pitchFamily="49" charset="0"/>
                <a:cs typeface="Courier New" panose="02070609020205020404" pitchFamily="49" charset="0"/>
              </a:rPr>
              <a:t>.data</a:t>
            </a:r>
            <a:endParaRPr lang="en-US" sz="1400" dirty="0">
              <a:solidFill>
                <a:schemeClr val="tx2"/>
              </a:solidFill>
              <a:latin typeface="Courier New" panose="02070609020205020404" pitchFamily="49" charset="0"/>
              <a:cs typeface="Courier New" panose="02070609020205020404" pitchFamily="49" charset="0"/>
            </a:endParaRPr>
          </a:p>
        </p:txBody>
      </p:sp>
      <p:sp>
        <p:nvSpPr>
          <p:cNvPr id="26" name="Rectangle 425"/>
          <p:cNvSpPr>
            <a:spLocks noChangeArrowheads="1"/>
          </p:cNvSpPr>
          <p:nvPr/>
        </p:nvSpPr>
        <p:spPr bwMode="auto">
          <a:xfrm>
            <a:off x="561566" y="2963862"/>
            <a:ext cx="914400" cy="228600"/>
          </a:xfrm>
          <a:prstGeom prst="rect">
            <a:avLst/>
          </a:prstGeom>
          <a:solidFill>
            <a:srgbClr val="D5F1CF"/>
          </a:solidFill>
          <a:ln w="9525">
            <a:solidFill>
              <a:srgbClr val="000000"/>
            </a:solidFill>
            <a:miter lim="800000"/>
          </a:ln>
          <a:effectLst/>
        </p:spPr>
        <p:txBody>
          <a:bodyPr wrap="none" lIns="90487" tIns="44450" rIns="90487" bIns="44450" anchor="ctr"/>
          <a:lstStyle/>
          <a:p>
            <a:pPr algn="ctr">
              <a:lnSpc>
                <a:spcPct val="90000"/>
              </a:lnSpc>
              <a:spcBef>
                <a:spcPct val="30000"/>
              </a:spcBef>
            </a:pPr>
            <a:r>
              <a:rPr lang="en-US" sz="1400">
                <a:solidFill>
                  <a:schemeClr val="tx2"/>
                </a:solidFill>
                <a:latin typeface="Courier New" panose="02070609020205020404" pitchFamily="49" charset="0"/>
                <a:cs typeface="Courier New" panose="02070609020205020404" pitchFamily="49" charset="0"/>
              </a:rPr>
              <a:t>.text</a:t>
            </a:r>
            <a:endParaRPr lang="en-US" sz="1400">
              <a:solidFill>
                <a:schemeClr val="tx2"/>
              </a:solidFill>
              <a:latin typeface="Courier New" panose="02070609020205020404" pitchFamily="49" charset="0"/>
              <a:cs typeface="Courier New" panose="02070609020205020404" pitchFamily="49" charset="0"/>
            </a:endParaRPr>
          </a:p>
        </p:txBody>
      </p:sp>
      <p:sp>
        <p:nvSpPr>
          <p:cNvPr id="27" name="Line 428"/>
          <p:cNvSpPr>
            <a:spLocks noChangeShapeType="1"/>
          </p:cNvSpPr>
          <p:nvPr/>
        </p:nvSpPr>
        <p:spPr bwMode="auto">
          <a:xfrm>
            <a:off x="1475966" y="2811462"/>
            <a:ext cx="533400" cy="0"/>
          </a:xfrm>
          <a:prstGeom prst="line">
            <a:avLst/>
          </a:prstGeom>
          <a:noFill/>
          <a:ln w="12700">
            <a:solidFill>
              <a:schemeClr val="tx1"/>
            </a:solidFill>
            <a:round/>
            <a:tailEnd type="triangle" w="med" len="med"/>
          </a:ln>
          <a:effectLst/>
        </p:spPr>
        <p:txBody>
          <a:bodyPr wrap="none" anchor="ctr"/>
          <a:lstStyle/>
          <a:p>
            <a:pPr algn="ctr"/>
            <a:endParaRPr lang="en-US">
              <a:latin typeface="+mn-lt"/>
            </a:endParaRPr>
          </a:p>
        </p:txBody>
      </p:sp>
      <p:sp>
        <p:nvSpPr>
          <p:cNvPr id="28" name="Line 429"/>
          <p:cNvSpPr>
            <a:spLocks noChangeShapeType="1"/>
          </p:cNvSpPr>
          <p:nvPr/>
        </p:nvSpPr>
        <p:spPr bwMode="auto">
          <a:xfrm>
            <a:off x="1475966" y="3116262"/>
            <a:ext cx="533400" cy="0"/>
          </a:xfrm>
          <a:prstGeom prst="line">
            <a:avLst/>
          </a:prstGeom>
          <a:noFill/>
          <a:ln w="12700">
            <a:solidFill>
              <a:schemeClr val="tx1"/>
            </a:solidFill>
            <a:round/>
            <a:tailEnd type="triangle" w="med" len="med"/>
          </a:ln>
          <a:effectLst/>
        </p:spPr>
        <p:txBody>
          <a:bodyPr wrap="none" anchor="ctr"/>
          <a:lstStyle/>
          <a:p>
            <a:pPr algn="ctr"/>
            <a:endParaRPr lang="en-US">
              <a:latin typeface="+mn-lt"/>
            </a:endParaRPr>
          </a:p>
        </p:txBody>
      </p:sp>
      <p:sp>
        <p:nvSpPr>
          <p:cNvPr id="29" name="Text Box 430"/>
          <p:cNvSpPr txBox="1">
            <a:spLocks noChangeArrowheads="1"/>
          </p:cNvSpPr>
          <p:nvPr/>
        </p:nvSpPr>
        <p:spPr bwMode="auto">
          <a:xfrm>
            <a:off x="4295366" y="2809974"/>
            <a:ext cx="2012089" cy="307777"/>
          </a:xfrm>
          <a:prstGeom prst="rect">
            <a:avLst/>
          </a:prstGeom>
          <a:noFill/>
          <a:ln w="12700">
            <a:noFill/>
            <a:miter lim="800000"/>
          </a:ln>
          <a:effectLst/>
        </p:spPr>
        <p:txBody>
          <a:bodyPr wrap="none" anchor="ctr">
            <a:spAutoFit/>
          </a:bodyPr>
          <a:lstStyle/>
          <a:p>
            <a:pPr algn="l"/>
            <a:r>
              <a:rPr lang="zh-CN" altLang="en-US" sz="1400" i="1" dirty="0">
                <a:latin typeface="SimHei" panose="02010600030101010101" charset="-122"/>
                <a:ea typeface="SimHei" panose="02010600030101010101" charset="-122"/>
              </a:rPr>
              <a:t>共享，来自文件的内容</a:t>
            </a:r>
            <a:endParaRPr lang="zh-CN" altLang="en-US" sz="1400" i="1" dirty="0">
              <a:latin typeface="SimHei" panose="02010600030101010101" charset="-122"/>
              <a:ea typeface="SimHei" panose="02010600030101010101" charset="-122"/>
            </a:endParaRPr>
          </a:p>
        </p:txBody>
      </p:sp>
      <p:sp>
        <p:nvSpPr>
          <p:cNvPr id="30" name="Text Box 431"/>
          <p:cNvSpPr txBox="1">
            <a:spLocks noChangeArrowheads="1"/>
          </p:cNvSpPr>
          <p:nvPr/>
        </p:nvSpPr>
        <p:spPr bwMode="auto">
          <a:xfrm>
            <a:off x="4295366" y="3997652"/>
            <a:ext cx="1646605" cy="523220"/>
          </a:xfrm>
          <a:prstGeom prst="rect">
            <a:avLst/>
          </a:prstGeom>
          <a:noFill/>
          <a:ln w="12700">
            <a:noFill/>
            <a:miter lim="800000"/>
          </a:ln>
          <a:effectLst/>
        </p:spPr>
        <p:txBody>
          <a:bodyPr wrap="none" anchor="ctr">
            <a:spAutoFit/>
          </a:bodyPr>
          <a:lstStyle/>
          <a:p>
            <a:pPr algn="l"/>
            <a:r>
              <a:rPr lang="zh-CN" altLang="en-US" sz="1400" i="1">
                <a:latin typeface="SimHei" panose="02010600030101010101" charset="-122"/>
                <a:ea typeface="SimHei" panose="02010600030101010101" charset="-122"/>
                <a:sym typeface="+mn-ea"/>
              </a:rPr>
              <a:t>私有，按需分配，</a:t>
            </a:r>
            <a:endParaRPr lang="zh-CN" altLang="en-US" sz="1400" i="1">
              <a:latin typeface="SimHei" panose="02010600030101010101" charset="-122"/>
              <a:ea typeface="SimHei" panose="02010600030101010101" charset="-122"/>
            </a:endParaRPr>
          </a:p>
          <a:p>
            <a:pPr algn="l"/>
            <a:r>
              <a:rPr lang="zh-CN" altLang="en-US" sz="1400" i="1">
                <a:latin typeface="SimHei" panose="02010600030101010101" charset="-122"/>
                <a:ea typeface="SimHei" panose="02010600030101010101" charset="-122"/>
                <a:sym typeface="+mn-ea"/>
              </a:rPr>
              <a:t>初始化为零</a:t>
            </a:r>
            <a:endParaRPr lang="en-US" sz="1400" i="1" dirty="0">
              <a:latin typeface="SimHei" panose="02010600030101010101" charset="-122"/>
              <a:ea typeface="SimHei" panose="02010600030101010101" charset="-122"/>
            </a:endParaRPr>
          </a:p>
        </p:txBody>
      </p:sp>
      <p:sp>
        <p:nvSpPr>
          <p:cNvPr id="31" name="Text Box 432"/>
          <p:cNvSpPr txBox="1">
            <a:spLocks noChangeArrowheads="1"/>
          </p:cNvSpPr>
          <p:nvPr/>
        </p:nvSpPr>
        <p:spPr bwMode="auto">
          <a:xfrm>
            <a:off x="4295366" y="4454852"/>
            <a:ext cx="1646605" cy="523220"/>
          </a:xfrm>
          <a:prstGeom prst="rect">
            <a:avLst/>
          </a:prstGeom>
          <a:noFill/>
          <a:ln w="12700">
            <a:noFill/>
            <a:miter lim="800000"/>
          </a:ln>
          <a:effectLst/>
        </p:spPr>
        <p:txBody>
          <a:bodyPr wrap="none" anchor="ctr">
            <a:spAutoFit/>
          </a:bodyPr>
          <a:lstStyle/>
          <a:p>
            <a:pPr algn="l"/>
            <a:r>
              <a:rPr lang="zh-CN" altLang="en-US" sz="1400" i="1">
                <a:latin typeface="SimHei" panose="02010600030101010101" charset="-122"/>
                <a:ea typeface="SimHei" panose="02010600030101010101" charset="-122"/>
                <a:sym typeface="+mn-ea"/>
              </a:rPr>
              <a:t>私有，按需分配，</a:t>
            </a:r>
            <a:endParaRPr lang="zh-CN" altLang="en-US" sz="1400" i="1">
              <a:latin typeface="SimHei" panose="02010600030101010101" charset="-122"/>
              <a:ea typeface="SimHei" panose="02010600030101010101" charset="-122"/>
            </a:endParaRPr>
          </a:p>
          <a:p>
            <a:pPr algn="l"/>
            <a:r>
              <a:rPr lang="zh-CN" altLang="en-US" sz="1400" i="1">
                <a:latin typeface="SimHei" panose="02010600030101010101" charset="-122"/>
                <a:ea typeface="SimHei" panose="02010600030101010101" charset="-122"/>
                <a:sym typeface="+mn-ea"/>
              </a:rPr>
              <a:t>初始化为零</a:t>
            </a:r>
            <a:endParaRPr lang="en-US" sz="1400" i="1">
              <a:latin typeface="SimHei" panose="02010600030101010101" charset="-122"/>
              <a:ea typeface="SimHei" panose="02010600030101010101" charset="-122"/>
            </a:endParaRPr>
          </a:p>
        </p:txBody>
      </p:sp>
      <p:sp>
        <p:nvSpPr>
          <p:cNvPr id="32" name="Text Box 434"/>
          <p:cNvSpPr txBox="1">
            <a:spLocks noChangeArrowheads="1"/>
          </p:cNvSpPr>
          <p:nvPr/>
        </p:nvSpPr>
        <p:spPr bwMode="auto">
          <a:xfrm>
            <a:off x="4295366" y="5172174"/>
            <a:ext cx="2012089" cy="307777"/>
          </a:xfrm>
          <a:prstGeom prst="rect">
            <a:avLst/>
          </a:prstGeom>
          <a:noFill/>
          <a:ln w="12700">
            <a:noFill/>
            <a:miter lim="800000"/>
          </a:ln>
          <a:effectLst/>
        </p:spPr>
        <p:txBody>
          <a:bodyPr wrap="none" anchor="ctr">
            <a:spAutoFit/>
          </a:bodyPr>
          <a:lstStyle/>
          <a:p>
            <a:pPr algn="l"/>
            <a:r>
              <a:rPr lang="zh-CN" altLang="en-US" sz="1400" i="1" dirty="0">
                <a:latin typeface="SimHei" panose="02010600030101010101" charset="-122"/>
                <a:ea typeface="SimHei" panose="02010600030101010101" charset="-122"/>
              </a:rPr>
              <a:t>私有，来自文件的内容</a:t>
            </a:r>
            <a:endParaRPr lang="zh-CN" altLang="en-US" sz="1400" i="1" dirty="0">
              <a:latin typeface="SimHei" panose="02010600030101010101" charset="-122"/>
              <a:ea typeface="SimHei" panose="02010600030101010101" charset="-122"/>
            </a:endParaRPr>
          </a:p>
        </p:txBody>
      </p:sp>
      <p:sp>
        <p:nvSpPr>
          <p:cNvPr id="33" name="Text Box 435"/>
          <p:cNvSpPr txBox="1">
            <a:spLocks noChangeArrowheads="1"/>
          </p:cNvSpPr>
          <p:nvPr/>
        </p:nvSpPr>
        <p:spPr bwMode="auto">
          <a:xfrm>
            <a:off x="728654" y="4792662"/>
            <a:ext cx="573875" cy="283667"/>
          </a:xfrm>
          <a:prstGeom prst="rect">
            <a:avLst/>
          </a:prstGeom>
          <a:noFill/>
          <a:ln w="9525">
            <a:noFill/>
            <a:miter lim="800000"/>
          </a:ln>
          <a:effectLst/>
        </p:spPr>
        <p:txBody>
          <a:bodyPr wrap="none" lIns="90487" tIns="44450" rIns="90487" bIns="44450">
            <a:spAutoFit/>
          </a:bodyPr>
          <a:lstStyle/>
          <a:p>
            <a:pPr algn="ctr">
              <a:lnSpc>
                <a:spcPct val="90000"/>
              </a:lnSpc>
              <a:spcBef>
                <a:spcPct val="30000"/>
              </a:spcBef>
            </a:pPr>
            <a:r>
              <a:rPr lang="en-US" sz="1400" b="1">
                <a:solidFill>
                  <a:schemeClr val="tx2"/>
                </a:solidFill>
                <a:latin typeface="Courier New" panose="02070609020205020404" pitchFamily="49" charset="0"/>
                <a:cs typeface="Courier New" panose="02070609020205020404" pitchFamily="49" charset="0"/>
              </a:rPr>
              <a:t>a.out</a:t>
            </a:r>
            <a:endParaRPr lang="en-US" sz="1400" b="1">
              <a:solidFill>
                <a:schemeClr val="tx2"/>
              </a:solidFill>
              <a:latin typeface="Courier New" panose="02070609020205020404" pitchFamily="49" charset="0"/>
              <a:cs typeface="Courier New" panose="02070609020205020404" pitchFamily="49" charset="0"/>
            </a:endParaRPr>
          </a:p>
        </p:txBody>
      </p:sp>
      <p:sp>
        <p:nvSpPr>
          <p:cNvPr id="34" name="Rectangle 436"/>
          <p:cNvSpPr>
            <a:spLocks noChangeArrowheads="1"/>
          </p:cNvSpPr>
          <p:nvPr/>
        </p:nvSpPr>
        <p:spPr bwMode="auto">
          <a:xfrm>
            <a:off x="561566" y="5097462"/>
            <a:ext cx="914400" cy="228600"/>
          </a:xfrm>
          <a:prstGeom prst="rect">
            <a:avLst/>
          </a:prstGeom>
          <a:solidFill>
            <a:srgbClr val="F6F5BD"/>
          </a:solidFill>
          <a:ln w="9525">
            <a:solidFill>
              <a:srgbClr val="000000"/>
            </a:solidFill>
            <a:miter lim="800000"/>
          </a:ln>
          <a:effectLst/>
        </p:spPr>
        <p:txBody>
          <a:bodyPr wrap="none" lIns="90487" tIns="44450" rIns="90487" bIns="44450" anchor="ctr"/>
          <a:lstStyle/>
          <a:p>
            <a:pPr algn="ctr">
              <a:lnSpc>
                <a:spcPct val="90000"/>
              </a:lnSpc>
              <a:spcBef>
                <a:spcPct val="30000"/>
              </a:spcBef>
            </a:pPr>
            <a:r>
              <a:rPr lang="en-US" sz="1400">
                <a:solidFill>
                  <a:schemeClr val="tx2"/>
                </a:solidFill>
                <a:latin typeface="Courier New" panose="02070609020205020404" pitchFamily="49" charset="0"/>
                <a:cs typeface="Courier New" panose="02070609020205020404" pitchFamily="49" charset="0"/>
              </a:rPr>
              <a:t>.data</a:t>
            </a:r>
            <a:endParaRPr lang="en-US" sz="1400">
              <a:solidFill>
                <a:schemeClr val="tx2"/>
              </a:solidFill>
              <a:latin typeface="Courier New" panose="02070609020205020404" pitchFamily="49" charset="0"/>
              <a:cs typeface="Courier New" panose="02070609020205020404" pitchFamily="49" charset="0"/>
            </a:endParaRPr>
          </a:p>
        </p:txBody>
      </p:sp>
      <p:sp>
        <p:nvSpPr>
          <p:cNvPr id="35" name="Rectangle 437"/>
          <p:cNvSpPr>
            <a:spLocks noChangeArrowheads="1"/>
          </p:cNvSpPr>
          <p:nvPr/>
        </p:nvSpPr>
        <p:spPr bwMode="auto">
          <a:xfrm>
            <a:off x="561566" y="5326062"/>
            <a:ext cx="914400" cy="228600"/>
          </a:xfrm>
          <a:prstGeom prst="rect">
            <a:avLst/>
          </a:prstGeom>
          <a:solidFill>
            <a:srgbClr val="F1C7C7"/>
          </a:solidFill>
          <a:ln w="9525">
            <a:solidFill>
              <a:srgbClr val="000000"/>
            </a:solidFill>
            <a:miter lim="800000"/>
          </a:ln>
          <a:effectLst/>
        </p:spPr>
        <p:txBody>
          <a:bodyPr wrap="none" lIns="90487" tIns="44450" rIns="90487" bIns="44450" anchor="ctr"/>
          <a:lstStyle/>
          <a:p>
            <a:pPr algn="ctr">
              <a:lnSpc>
                <a:spcPct val="90000"/>
              </a:lnSpc>
              <a:spcBef>
                <a:spcPct val="30000"/>
              </a:spcBef>
            </a:pPr>
            <a:r>
              <a:rPr lang="en-US" sz="1400">
                <a:solidFill>
                  <a:schemeClr val="tx2"/>
                </a:solidFill>
                <a:latin typeface="Courier New" panose="02070609020205020404" pitchFamily="49" charset="0"/>
                <a:cs typeface="Courier New" panose="02070609020205020404" pitchFamily="49" charset="0"/>
              </a:rPr>
              <a:t>.text</a:t>
            </a:r>
            <a:endParaRPr lang="en-US" sz="1400">
              <a:solidFill>
                <a:schemeClr val="tx2"/>
              </a:solidFill>
              <a:latin typeface="Courier New" panose="02070609020205020404" pitchFamily="49" charset="0"/>
              <a:cs typeface="Courier New" panose="02070609020205020404" pitchFamily="49" charset="0"/>
            </a:endParaRPr>
          </a:p>
        </p:txBody>
      </p:sp>
      <p:sp>
        <p:nvSpPr>
          <p:cNvPr id="36" name="Line 438"/>
          <p:cNvSpPr>
            <a:spLocks noChangeShapeType="1"/>
          </p:cNvSpPr>
          <p:nvPr/>
        </p:nvSpPr>
        <p:spPr bwMode="auto">
          <a:xfrm>
            <a:off x="1475966" y="5173662"/>
            <a:ext cx="533400" cy="0"/>
          </a:xfrm>
          <a:prstGeom prst="line">
            <a:avLst/>
          </a:prstGeom>
          <a:noFill/>
          <a:ln w="12700">
            <a:solidFill>
              <a:schemeClr val="tx1"/>
            </a:solidFill>
            <a:round/>
            <a:tailEnd type="triangle" w="med" len="med"/>
          </a:ln>
          <a:effectLst/>
        </p:spPr>
        <p:txBody>
          <a:bodyPr wrap="none" anchor="ctr"/>
          <a:lstStyle/>
          <a:p>
            <a:pPr algn="ctr"/>
            <a:endParaRPr lang="en-US">
              <a:latin typeface="+mn-lt"/>
            </a:endParaRPr>
          </a:p>
        </p:txBody>
      </p:sp>
      <p:sp>
        <p:nvSpPr>
          <p:cNvPr id="37" name="Line 439"/>
          <p:cNvSpPr>
            <a:spLocks noChangeShapeType="1"/>
          </p:cNvSpPr>
          <p:nvPr/>
        </p:nvSpPr>
        <p:spPr bwMode="auto">
          <a:xfrm>
            <a:off x="1475966" y="5478462"/>
            <a:ext cx="533400" cy="0"/>
          </a:xfrm>
          <a:prstGeom prst="line">
            <a:avLst/>
          </a:prstGeom>
          <a:noFill/>
          <a:ln w="12700">
            <a:solidFill>
              <a:schemeClr val="tx1"/>
            </a:solidFill>
            <a:round/>
            <a:tailEnd type="triangle" w="med" len="med"/>
          </a:ln>
          <a:effectLst/>
        </p:spPr>
        <p:txBody>
          <a:bodyPr wrap="none" anchor="ctr"/>
          <a:lstStyle/>
          <a:p>
            <a:pPr algn="ctr"/>
            <a:endParaRPr lang="en-US">
              <a:latin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程序与已初始化数据（文件映射）</a:t>
            </a:r>
            <a:endParaRPr lang="en-US"/>
          </a:p>
        </p:txBody>
      </p:sp>
      <p:sp>
        <p:nvSpPr>
          <p:cNvPr id="3" name="Content Placeholder 2"/>
          <p:cNvSpPr>
            <a:spLocks noGrp="1"/>
          </p:cNvSpPr>
          <p:nvPr>
            <p:ph idx="1"/>
          </p:nvPr>
        </p:nvSpPr>
        <p:spPr/>
        <p:txBody>
          <a:bodyPr/>
          <a:p>
            <a:pPr lvl="0"/>
            <a:r>
              <a:rPr lang="zh-CN" altLang="en-US"/>
              <a:t>创建</a:t>
            </a:r>
            <a:r>
              <a:rPr lang="en-US" altLang="en-US"/>
              <a:t> vm_area_struct</a:t>
            </a:r>
            <a:r>
              <a:rPr lang="zh-CN" altLang="en-US"/>
              <a:t>：通过系统调用</a:t>
            </a:r>
            <a:r>
              <a:rPr lang="en-US" altLang="en-US"/>
              <a:t> mmap() </a:t>
            </a:r>
            <a:r>
              <a:rPr lang="zh-CN" altLang="en-US"/>
              <a:t>在内核中创建</a:t>
            </a:r>
            <a:r>
              <a:rPr lang="en-US" altLang="en-US"/>
              <a:t> </a:t>
            </a:r>
            <a:r>
              <a:rPr lang="zh-CN" altLang="en-US"/>
              <a:t>。关键字段如下：</a:t>
            </a:r>
            <a:endParaRPr lang="zh-CN" altLang="en-US"/>
          </a:p>
          <a:p>
            <a:pPr lvl="1"/>
            <a:r>
              <a:rPr lang="en-US" altLang="en-US"/>
              <a:t>vm_file</a:t>
            </a:r>
            <a:r>
              <a:rPr lang="zh-CN" altLang="en-US"/>
              <a:t>：指向目标文件的</a:t>
            </a:r>
            <a:r>
              <a:rPr lang="en-US" altLang="en-US"/>
              <a:t> struct file </a:t>
            </a:r>
            <a:r>
              <a:rPr lang="zh-CN" altLang="en-US"/>
              <a:t>对象，表示该区域的后备存储是文件</a:t>
            </a:r>
            <a:r>
              <a:rPr lang="en-US" altLang="en-US"/>
              <a:t> </a:t>
            </a:r>
            <a:r>
              <a:rPr lang="zh-CN" altLang="en-US"/>
              <a:t>。</a:t>
            </a:r>
            <a:endParaRPr lang="en-US" altLang="en-US"/>
          </a:p>
          <a:p>
            <a:pPr lvl="1"/>
            <a:r>
              <a:rPr lang="en-US" altLang="en-US"/>
              <a:t>vm_pgoff</a:t>
            </a:r>
            <a:r>
              <a:rPr lang="zh-CN" altLang="en-US"/>
              <a:t>：指明映射在文件中的偏移量。代码段通常从文件头开始，而已初始化数据段紧随其后，需设置相应的页偏移</a:t>
            </a:r>
            <a:r>
              <a:rPr lang="en-US" altLang="en-US"/>
              <a:t> </a:t>
            </a:r>
            <a:r>
              <a:rPr lang="zh-CN" altLang="en-US"/>
              <a:t>。</a:t>
            </a:r>
            <a:endParaRPr lang="en-US" altLang="en-US"/>
          </a:p>
          <a:p>
            <a:pPr lvl="1"/>
            <a:r>
              <a:rPr lang="en-US" altLang="en-US"/>
              <a:t>vm_flags</a:t>
            </a:r>
            <a:r>
              <a:rPr lang="zh-CN" altLang="en-US"/>
              <a:t>：通常设置为</a:t>
            </a:r>
            <a:r>
              <a:rPr lang="en-US" altLang="en-US"/>
              <a:t> VM_READ|VM_EXEC</a:t>
            </a:r>
            <a:r>
              <a:rPr lang="zh-CN" altLang="en-US"/>
              <a:t>（代码段）或</a:t>
            </a:r>
            <a:r>
              <a:rPr lang="en-US" altLang="en-US"/>
              <a:t> VM_READ|VM_WRITE</a:t>
            </a:r>
            <a:r>
              <a:rPr lang="zh-CN" altLang="en-US"/>
              <a:t>（数据段）。</a:t>
            </a:r>
            <a:endParaRPr lang="en-US" altLang="en-US"/>
          </a:p>
          <a:p>
            <a:pPr lvl="1"/>
            <a:r>
              <a:rPr lang="en-US" altLang="en-US"/>
              <a:t>vm_ops</a:t>
            </a:r>
            <a:r>
              <a:rPr lang="zh-CN" altLang="en-US"/>
              <a:t>：指向文件系统提供的</a:t>
            </a:r>
            <a:r>
              <a:rPr lang="en-US" altLang="en-US"/>
              <a:t> vm_operations_struct</a:t>
            </a:r>
            <a:r>
              <a:rPr lang="zh-CN" altLang="en-US"/>
              <a:t>，包含</a:t>
            </a:r>
            <a:r>
              <a:rPr lang="en-US" altLang="en-US"/>
              <a:t> fault </a:t>
            </a:r>
            <a:r>
              <a:rPr lang="zh-CN" altLang="en-US"/>
              <a:t>等回调函数，用于在缺页时从磁盘读取数据</a:t>
            </a:r>
            <a:r>
              <a:rPr lang="en-US" altLang="en-US"/>
              <a:t> </a:t>
            </a:r>
            <a:endParaRPr lang="en-US" altLang="en-US"/>
          </a:p>
          <a:p>
            <a:pPr lvl="0"/>
            <a:r>
              <a:rPr lang="zh-CN" altLang="en-US"/>
              <a:t>建立页表</a:t>
            </a:r>
            <a:endParaRPr lang="zh-CN" altLang="en-US"/>
          </a:p>
          <a:p>
            <a:pPr lvl="1"/>
            <a:r>
              <a:rPr lang="zh-CN" altLang="en-US"/>
              <a:t>在建立映射</a:t>
            </a:r>
            <a:r>
              <a:rPr lang="en-US" altLang="zh-CN"/>
              <a:t>（</a:t>
            </a:r>
            <a:r>
              <a:rPr lang="zh-CN" altLang="en-US"/>
              <a:t>预读</a:t>
            </a:r>
            <a:r>
              <a:rPr lang="en-US" altLang="zh-CN"/>
              <a:t>）</a:t>
            </a:r>
            <a:r>
              <a:rPr lang="zh-CN" altLang="en-US"/>
              <a:t>或缺页异常处理</a:t>
            </a:r>
            <a:r>
              <a:rPr lang="en-US" altLang="zh-CN"/>
              <a:t>（</a:t>
            </a:r>
            <a:r>
              <a:rPr lang="zh-CN" altLang="en-US"/>
              <a:t>按需</a:t>
            </a:r>
            <a:r>
              <a:rPr lang="en-US" altLang="zh-CN"/>
              <a:t>）</a:t>
            </a:r>
            <a:r>
              <a:rPr lang="zh-CN" altLang="en-US"/>
              <a:t>时，内核会调用文件系统的接口，将文件内容读入页缓存</a:t>
            </a:r>
            <a:r>
              <a:rPr lang="en-US" altLang="zh-CN"/>
              <a:t>。</a:t>
            </a:r>
            <a:endParaRPr lang="en-US" altLang="zh-CN"/>
          </a:p>
          <a:p>
            <a:pPr lvl="1"/>
            <a:r>
              <a:rPr lang="zh-CN" altLang="en-US"/>
              <a:t>然后将页缓存中物理页的地址填入该进程的页表条目中，并设置相应的读写执行权限。</a:t>
            </a:r>
            <a:endParaRPr lang="zh-CN" altLang="en-US"/>
          </a:p>
        </p:txBody>
      </p:sp>
      <p:sp>
        <p:nvSpPr>
          <p:cNvPr id="6" name="Cloud Callout 5"/>
          <p:cNvSpPr/>
          <p:nvPr/>
        </p:nvSpPr>
        <p:spPr>
          <a:xfrm>
            <a:off x="10408920" y="435610"/>
            <a:ext cx="944880" cy="720090"/>
          </a:xfrm>
          <a:prstGeom prst="cloudCallout">
            <a:avLst/>
          </a:prstGeom>
          <a:noFill/>
          <a:ln w="25400" cap="flat" cmpd="sng" algn="ctr">
            <a:solidFill>
              <a:srgbClr val="CC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smtClean="0">
              <a:ln>
                <a:noFill/>
              </a:ln>
              <a:solidFill>
                <a:schemeClr val="tx1"/>
              </a:solidFill>
              <a:effectLst/>
              <a:latin typeface="Arial Narrow" panose="020B070602020203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.bss 、</a:t>
            </a:r>
            <a:r>
              <a:rPr lang="zh-CN" altLang="en-US"/>
              <a:t>栈和</a:t>
            </a:r>
            <a:r>
              <a:rPr lang="zh-CN" altLang="en-US"/>
              <a:t>堆（匿名映射）</a:t>
            </a:r>
            <a:endParaRPr lang="zh-CN" altLang="en-US"/>
          </a:p>
        </p:txBody>
      </p:sp>
      <p:sp>
        <p:nvSpPr>
          <p:cNvPr id="3" name="Content Placeholder 2"/>
          <p:cNvSpPr>
            <a:spLocks noGrp="1"/>
          </p:cNvSpPr>
          <p:nvPr>
            <p:ph idx="1"/>
          </p:nvPr>
        </p:nvSpPr>
        <p:spPr/>
        <p:txBody>
          <a:bodyPr/>
          <a:p>
            <a:r>
              <a:rPr lang="en-US" altLang="en-US"/>
              <a:t>.bss </a:t>
            </a:r>
            <a:r>
              <a:rPr lang="zh-CN" altLang="en-US"/>
              <a:t>段</a:t>
            </a:r>
            <a:r>
              <a:rPr lang="en-US" altLang="zh-CN"/>
              <a:t>、</a:t>
            </a:r>
            <a:r>
              <a:rPr lang="zh-CN" altLang="en-US"/>
              <a:t>栈和</a:t>
            </a:r>
            <a:r>
              <a:rPr lang="zh-CN" altLang="en-US"/>
              <a:t>堆区域没有实际的文件作为后备，它们属于</a:t>
            </a:r>
            <a:r>
              <a:rPr lang="en-US" altLang="en-US"/>
              <a:t>“</a:t>
            </a:r>
            <a:r>
              <a:rPr lang="zh-CN" altLang="en-US"/>
              <a:t>匿名映射</a:t>
            </a:r>
            <a:r>
              <a:rPr lang="en-US" altLang="en-US"/>
              <a:t>”</a:t>
            </a:r>
            <a:r>
              <a:rPr lang="zh-CN" altLang="en-US"/>
              <a:t>，内核通过映射零页来初始化这些区域。创建</a:t>
            </a:r>
            <a:r>
              <a:rPr lang="en-US" altLang="en-US"/>
              <a:t> vm_area_struct</a:t>
            </a:r>
            <a:r>
              <a:rPr lang="zh-CN" altLang="en-US"/>
              <a:t>：</a:t>
            </a:r>
            <a:endParaRPr lang="zh-CN" altLang="en-US"/>
          </a:p>
          <a:p>
            <a:pPr lvl="1"/>
            <a:r>
              <a:rPr lang="en-US" altLang="en-US"/>
              <a:t>vm_file </a:t>
            </a:r>
            <a:r>
              <a:rPr lang="zh-CN" altLang="en-US"/>
              <a:t>字段通常为</a:t>
            </a:r>
            <a:r>
              <a:rPr lang="en-US" altLang="en-US"/>
              <a:t> NULL </a:t>
            </a:r>
            <a:endParaRPr lang="en-US" altLang="en-US"/>
          </a:p>
          <a:p>
            <a:pPr lvl="1"/>
            <a:r>
              <a:rPr lang="en-US" altLang="en-US"/>
              <a:t>vm_flags</a:t>
            </a:r>
            <a:r>
              <a:rPr lang="zh-CN" altLang="en-US"/>
              <a:t>：通常设置为</a:t>
            </a:r>
            <a:r>
              <a:rPr lang="en-US" altLang="en-US"/>
              <a:t>VM_READ|VM_WRITE</a:t>
            </a:r>
            <a:endParaRPr lang="en-US" altLang="en-US"/>
          </a:p>
          <a:p>
            <a:pPr lvl="0"/>
            <a:r>
              <a:rPr lang="zh-CN" altLang="en-US"/>
              <a:t>建立页</a:t>
            </a:r>
            <a:r>
              <a:rPr lang="zh-CN" altLang="en-US"/>
              <a:t>表</a:t>
            </a:r>
            <a:endParaRPr lang="en-US" altLang="en-US"/>
          </a:p>
          <a:p>
            <a:pPr lvl="1"/>
            <a:r>
              <a:rPr lang="zh-CN" altLang="en-US"/>
              <a:t>初次映射：</a:t>
            </a:r>
            <a:endParaRPr lang="zh-CN" altLang="en-US"/>
          </a:p>
          <a:p>
            <a:pPr lvl="2"/>
            <a:r>
              <a:rPr lang="zh-CN" altLang="en-US"/>
              <a:t>由于</a:t>
            </a:r>
            <a:r>
              <a:rPr lang="en-US" altLang="en-US"/>
              <a:t> .bss 、</a:t>
            </a:r>
            <a:r>
              <a:rPr lang="zh-CN" altLang="en-US"/>
              <a:t>栈和堆的初始内容为零，</a:t>
            </a:r>
            <a:r>
              <a:rPr lang="en-US" altLang="en-US"/>
              <a:t>Linux </a:t>
            </a:r>
            <a:r>
              <a:rPr lang="zh-CN" altLang="en-US"/>
              <a:t>内核不会立刻为其分配物理内存。相反，内核将页表中的条目指向一个全局共享的</a:t>
            </a:r>
            <a:r>
              <a:rPr lang="en-US" altLang="en-US"/>
              <a:t>“</a:t>
            </a:r>
            <a:r>
              <a:rPr lang="zh-CN" altLang="en-US"/>
              <a:t>零页</a:t>
            </a:r>
            <a:r>
              <a:rPr lang="en-US" altLang="en-US"/>
              <a:t>”</a:t>
            </a:r>
            <a:r>
              <a:rPr lang="zh-CN" altLang="en-US"/>
              <a:t>，并将该条目标记为</a:t>
            </a:r>
            <a:r>
              <a:rPr lang="zh-CN" altLang="en-US">
                <a:solidFill>
                  <a:srgbClr val="FF0000"/>
                </a:solidFill>
              </a:rPr>
              <a:t>只读</a:t>
            </a:r>
            <a:r>
              <a:rPr lang="en-US" altLang="en-US"/>
              <a:t> </a:t>
            </a:r>
            <a:r>
              <a:rPr lang="zh-CN" altLang="en-US"/>
              <a:t>。</a:t>
            </a:r>
            <a:endParaRPr lang="en-US" altLang="en-US"/>
          </a:p>
          <a:p>
            <a:pPr lvl="1"/>
            <a:r>
              <a:rPr lang="zh-CN" altLang="en-US"/>
              <a:t>写时复制</a:t>
            </a:r>
            <a:r>
              <a:rPr lang="en-US" altLang="en-US"/>
              <a:t> (Copy-on-Write)</a:t>
            </a:r>
            <a:r>
              <a:rPr lang="zh-CN" altLang="en-US"/>
              <a:t>：</a:t>
            </a:r>
            <a:endParaRPr lang="en-US" altLang="en-US"/>
          </a:p>
          <a:p>
            <a:pPr lvl="2"/>
            <a:r>
              <a:rPr lang="zh-CN" altLang="en-US"/>
              <a:t>当进程试图写入</a:t>
            </a:r>
            <a:r>
              <a:rPr lang="en-US" altLang="en-US"/>
              <a:t> .bss 、</a:t>
            </a:r>
            <a:r>
              <a:rPr lang="zh-CN" altLang="en-US"/>
              <a:t>栈区域时，</a:t>
            </a:r>
            <a:r>
              <a:rPr lang="en-US" altLang="en-US"/>
              <a:t>CPU </a:t>
            </a:r>
            <a:r>
              <a:rPr lang="zh-CN" altLang="en-US"/>
              <a:t>会触发缺页异常</a:t>
            </a:r>
            <a:endParaRPr lang="zh-CN" altLang="en-US"/>
          </a:p>
          <a:p>
            <a:pPr lvl="2"/>
            <a:r>
              <a:rPr lang="zh-CN" altLang="en-US"/>
              <a:t>内核检查到该虚拟地址对应的页表条目指向零页且为只读</a:t>
            </a:r>
            <a:r>
              <a:rPr lang="en-US" altLang="zh-CN"/>
              <a:t>（</a:t>
            </a:r>
            <a:r>
              <a:rPr lang="zh-CN" altLang="en-US"/>
              <a:t>如果发现不属于任意一个</a:t>
            </a:r>
            <a:r>
              <a:rPr lang="en-US" altLang="zh-CN"/>
              <a:t>VMA</a:t>
            </a:r>
            <a:r>
              <a:rPr lang="zh-CN" altLang="en-US"/>
              <a:t>或权限不匹配</a:t>
            </a:r>
            <a:r>
              <a:rPr lang="en-US" altLang="zh-CN"/>
              <a:t>，</a:t>
            </a:r>
            <a:r>
              <a:rPr lang="zh-CN" altLang="en-US"/>
              <a:t>则</a:t>
            </a:r>
            <a:r>
              <a:rPr lang="en-US" altLang="en-US">
                <a:solidFill>
                  <a:srgbClr val="FF0000"/>
                </a:solidFill>
              </a:rPr>
              <a:t>SIGSEGV</a:t>
            </a:r>
            <a:r>
              <a:rPr lang="zh-CN" altLang="en-US">
                <a:solidFill>
                  <a:srgbClr val="FF0000"/>
                </a:solidFill>
              </a:rPr>
              <a:t>（段错误）</a:t>
            </a:r>
            <a:r>
              <a:rPr lang="en-US" altLang="zh-CN"/>
              <a:t>。</a:t>
            </a:r>
            <a:endParaRPr lang="zh-CN" altLang="en-US"/>
          </a:p>
          <a:p>
            <a:pPr lvl="2"/>
            <a:r>
              <a:rPr lang="zh-CN" altLang="en-US"/>
              <a:t>内核随后调用</a:t>
            </a:r>
            <a:r>
              <a:rPr lang="en-US" altLang="en-US"/>
              <a:t> do_anonymous_page() </a:t>
            </a:r>
            <a:r>
              <a:rPr lang="zh-CN" altLang="en-US"/>
              <a:t>等处理函数，分配一个新的物理页框</a:t>
            </a:r>
            <a:r>
              <a:rPr lang="en-US" altLang="en-US"/>
              <a:t> </a:t>
            </a:r>
            <a:r>
              <a:rPr lang="zh-CN" altLang="en-US"/>
              <a:t>。</a:t>
            </a:r>
            <a:endParaRPr lang="zh-CN" altLang="en-US"/>
          </a:p>
          <a:p>
            <a:pPr lvl="2"/>
            <a:r>
              <a:rPr lang="zh-CN" altLang="en-US"/>
              <a:t>内核将新的物理页框地址填入页表条目，并更新权限为可读写。这样，进程就能在自己的私有物理页上进行操作了。</a:t>
            </a:r>
            <a:endParaRPr lang="zh-CN" altLang="en-US"/>
          </a:p>
        </p:txBody>
      </p:sp>
      <p:sp>
        <p:nvSpPr>
          <p:cNvPr id="6" name="Cloud Callout 5"/>
          <p:cNvSpPr/>
          <p:nvPr/>
        </p:nvSpPr>
        <p:spPr>
          <a:xfrm>
            <a:off x="10408920" y="435610"/>
            <a:ext cx="944880" cy="720090"/>
          </a:xfrm>
          <a:prstGeom prst="cloudCallout">
            <a:avLst/>
          </a:prstGeom>
          <a:noFill/>
          <a:ln w="25400" cap="flat" cmpd="sng" algn="ctr">
            <a:solidFill>
              <a:srgbClr val="CC0000"/>
            </a:solidFill>
            <a:prstDash val="solid"/>
            <a:round/>
            <a:headEnd type="none" w="med" len="med"/>
            <a:tailEnd type="triangl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smtClean="0">
              <a:ln>
                <a:noFill/>
              </a:ln>
              <a:solidFill>
                <a:schemeClr val="tx1"/>
              </a:solidFill>
              <a:effectLst/>
              <a:latin typeface="Arial Narrow" panose="020B070602020203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虚拟空间的</a:t>
            </a:r>
            <a:r>
              <a:rPr lang="zh-CN" altLang="en-US"/>
              <a:t>组织</a:t>
            </a:r>
            <a:endParaRPr lang="zh-CN" altLang="en-US"/>
          </a:p>
        </p:txBody>
      </p:sp>
      <p:sp>
        <p:nvSpPr>
          <p:cNvPr id="3" name="内容占位符 2"/>
          <p:cNvSpPr>
            <a:spLocks noGrp="1"/>
          </p:cNvSpPr>
          <p:nvPr>
            <p:ph idx="1"/>
          </p:nvPr>
        </p:nvSpPr>
        <p:spPr/>
        <p:txBody>
          <a:bodyPr/>
          <a:p>
            <a:r>
              <a:rPr lang="en-US" altLang="zh-CN"/>
              <a:t>mm_struct</a:t>
            </a:r>
            <a:r>
              <a:rPr lang="zh-CN" altLang="en-US"/>
              <a:t>由多个</a:t>
            </a:r>
            <a:r>
              <a:rPr lang="en-US" altLang="zh-CN"/>
              <a:t>vm_area_struct</a:t>
            </a:r>
            <a:r>
              <a:rPr lang="zh-CN" altLang="en-US"/>
              <a:t>组成</a:t>
            </a:r>
            <a:endParaRPr lang="zh-CN" altLang="en-US"/>
          </a:p>
        </p:txBody>
      </p:sp>
      <p:pic>
        <p:nvPicPr>
          <p:cNvPr id="4" name="图片 3"/>
          <p:cNvPicPr/>
          <p:nvPr/>
        </p:nvPicPr>
        <p:blipFill>
          <a:blip r:embed="rId1"/>
          <a:stretch>
            <a:fillRect/>
          </a:stretch>
        </p:blipFill>
        <p:spPr>
          <a:xfrm>
            <a:off x="609600" y="1980565"/>
            <a:ext cx="10528935" cy="438912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zh-CN" altLang="en-US"/>
              <a:t>总结</a:t>
            </a:r>
            <a:endParaRPr lang="zh-CN" altLang="en-US" dirty="0"/>
          </a:p>
        </p:txBody>
      </p:sp>
      <p:sp>
        <p:nvSpPr>
          <p:cNvPr id="504835" name="Rectangle 3"/>
          <p:cNvSpPr>
            <a:spLocks noGrp="1" noChangeArrowheads="1"/>
          </p:cNvSpPr>
          <p:nvPr>
            <p:ph type="body" idx="1"/>
          </p:nvPr>
        </p:nvSpPr>
        <p:spPr/>
        <p:txBody>
          <a:bodyPr/>
          <a:lstStyle/>
          <a:p>
            <a:r>
              <a:rPr lang="zh-CN" altLang="en-US" dirty="0"/>
              <a:t>异常</a:t>
            </a:r>
            <a:endParaRPr lang="en-US" dirty="0"/>
          </a:p>
          <a:p>
            <a:pPr lvl="1"/>
            <a:r>
              <a:rPr lang="zh-CN" altLang="en-US" dirty="0"/>
              <a:t>需要非标准控制流的事件</a:t>
            </a:r>
            <a:endParaRPr lang="zh-CN" altLang="en-US" dirty="0"/>
          </a:p>
          <a:p>
            <a:pPr lvl="1"/>
            <a:r>
              <a:rPr lang="zh-CN" altLang="en-US" dirty="0"/>
              <a:t>外部生成（中断）或内部生成（陷阱和故障）</a:t>
            </a:r>
            <a:endParaRPr lang="zh-CN" altLang="en-US" dirty="0"/>
          </a:p>
          <a:p>
            <a:endParaRPr lang="en-US" dirty="0"/>
          </a:p>
          <a:p>
            <a:r>
              <a:rPr lang="zh-CN" altLang="en-US" dirty="0"/>
              <a:t>进程</a:t>
            </a:r>
            <a:endParaRPr lang="en-US" dirty="0"/>
          </a:p>
          <a:p>
            <a:pPr lvl="1"/>
            <a:r>
              <a:rPr lang="zh-CN" altLang="en-US" dirty="0"/>
              <a:t>系统在任意给定时间有多个活动进程</a:t>
            </a:r>
            <a:endParaRPr lang="zh-CN" altLang="en-US" dirty="0"/>
          </a:p>
          <a:p>
            <a:pPr lvl="1"/>
            <a:r>
              <a:rPr lang="zh-CN" altLang="en-US" dirty="0"/>
              <a:t>但同一时间在单个核心上只能有一个进程执行</a:t>
            </a:r>
            <a:endParaRPr lang="zh-CN" altLang="en-US" dirty="0"/>
          </a:p>
          <a:p>
            <a:pPr lvl="1"/>
            <a:r>
              <a:rPr lang="zh-CN" altLang="en-US" dirty="0"/>
              <a:t>每个进程看起来都可以完全控制处理器和私有内存空间</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zh-CN" altLang="en-US" dirty="0"/>
              <a:t>总结（续）</a:t>
            </a:r>
            <a:endParaRPr lang="zh-CN" altLang="en-US" dirty="0"/>
          </a:p>
        </p:txBody>
      </p:sp>
      <p:sp>
        <p:nvSpPr>
          <p:cNvPr id="508931" name="Rectangle 3"/>
          <p:cNvSpPr>
            <a:spLocks noGrp="1" noChangeArrowheads="1"/>
          </p:cNvSpPr>
          <p:nvPr>
            <p:ph type="body" idx="1"/>
          </p:nvPr>
        </p:nvSpPr>
        <p:spPr/>
        <p:txBody>
          <a:bodyPr/>
          <a:lstStyle/>
          <a:p>
            <a:r>
              <a:rPr lang="zh-CN" altLang="en-US"/>
              <a:t>创建进程</a:t>
            </a:r>
            <a:endParaRPr lang="zh-CN" altLang="en-US"/>
          </a:p>
          <a:p>
            <a:pPr lvl="1"/>
            <a:r>
              <a:rPr lang="zh-CN" altLang="en-US" dirty="0"/>
              <a:t>调用</a:t>
            </a:r>
            <a:r>
              <a:rPr lang="en-US" dirty="0"/>
              <a:t> </a:t>
            </a:r>
            <a:r>
              <a:rPr lang="en-US" dirty="0">
                <a:latin typeface="Courier New" panose="02070609020205020404"/>
                <a:cs typeface="Courier New" panose="02070609020205020404"/>
              </a:rPr>
              <a:t>fork</a:t>
            </a:r>
            <a:endParaRPr lang="en-US" dirty="0">
              <a:latin typeface="Courier New" panose="02070609020205020404"/>
              <a:cs typeface="Courier New" panose="02070609020205020404"/>
            </a:endParaRPr>
          </a:p>
          <a:p>
            <a:pPr lvl="1"/>
            <a:r>
              <a:rPr lang="zh-CN" altLang="en-US" dirty="0">
                <a:solidFill>
                  <a:srgbClr val="FF0000"/>
                </a:solidFill>
              </a:rPr>
              <a:t>一次调用，两次返回</a:t>
            </a:r>
            <a:endParaRPr lang="en-US" dirty="0">
              <a:solidFill>
                <a:srgbClr val="FF0000"/>
              </a:solidFill>
            </a:endParaRPr>
          </a:p>
          <a:p>
            <a:r>
              <a:rPr lang="zh-CN" altLang="en-US"/>
              <a:t>进程完成</a:t>
            </a:r>
            <a:endParaRPr lang="zh-CN" altLang="en-US"/>
          </a:p>
          <a:p>
            <a:pPr lvl="1"/>
            <a:r>
              <a:rPr lang="zh-CN" altLang="en-US" dirty="0"/>
              <a:t>调用</a:t>
            </a:r>
            <a:r>
              <a:rPr lang="en-US" dirty="0"/>
              <a:t> </a:t>
            </a:r>
            <a:r>
              <a:rPr lang="en-US" dirty="0">
                <a:latin typeface="Courier New" panose="02070609020205020404"/>
                <a:cs typeface="Courier New" panose="02070609020205020404"/>
              </a:rPr>
              <a:t>exit</a:t>
            </a:r>
            <a:endParaRPr lang="en-US" dirty="0">
              <a:latin typeface="Courier New" panose="02070609020205020404"/>
              <a:cs typeface="Courier New" panose="02070609020205020404"/>
            </a:endParaRPr>
          </a:p>
          <a:p>
            <a:pPr lvl="1"/>
            <a:r>
              <a:rPr lang="zh-CN" altLang="en-US" dirty="0">
                <a:solidFill>
                  <a:srgbClr val="FF0000"/>
                </a:solidFill>
              </a:rPr>
              <a:t>一次调用，不返回</a:t>
            </a:r>
            <a:endParaRPr lang="en-US" dirty="0">
              <a:solidFill>
                <a:srgbClr val="FF0000"/>
              </a:solidFill>
            </a:endParaRPr>
          </a:p>
          <a:p>
            <a:r>
              <a:rPr lang="zh-CN" altLang="en-US" dirty="0"/>
              <a:t>回收</a:t>
            </a:r>
            <a:r>
              <a:rPr lang="zh-CN" altLang="en-US"/>
              <a:t>和等待进程</a:t>
            </a:r>
            <a:endParaRPr lang="zh-CN" altLang="en-US"/>
          </a:p>
          <a:p>
            <a:pPr lvl="1"/>
            <a:r>
              <a:rPr lang="zh-CN" altLang="en-US" dirty="0"/>
              <a:t>调用</a:t>
            </a:r>
            <a:r>
              <a:rPr lang="en-US" dirty="0"/>
              <a:t> </a:t>
            </a:r>
            <a:r>
              <a:rPr lang="en-US" dirty="0">
                <a:latin typeface="Courier New" panose="02070609020205020404"/>
                <a:cs typeface="Courier New" panose="02070609020205020404"/>
              </a:rPr>
              <a:t>wait</a:t>
            </a:r>
            <a:r>
              <a:rPr lang="en-US" dirty="0"/>
              <a:t> </a:t>
            </a:r>
            <a:r>
              <a:rPr lang="zh-CN" altLang="en-US" dirty="0"/>
              <a:t>或</a:t>
            </a:r>
            <a:r>
              <a:rPr lang="en-US" dirty="0"/>
              <a:t> </a:t>
            </a:r>
            <a:r>
              <a:rPr lang="en-US" dirty="0" err="1">
                <a:latin typeface="Courier New" panose="02070609020205020404"/>
                <a:cs typeface="Courier New" panose="02070609020205020404"/>
              </a:rPr>
              <a:t>waitpid</a:t>
            </a:r>
            <a:endParaRPr lang="en-US" dirty="0">
              <a:latin typeface="Courier New" panose="02070609020205020404"/>
              <a:cs typeface="Courier New" panose="02070609020205020404"/>
            </a:endParaRPr>
          </a:p>
          <a:p>
            <a:r>
              <a:rPr lang="zh-CN" altLang="en-US"/>
              <a:t>加载和运行程序</a:t>
            </a:r>
            <a:endParaRPr lang="zh-CN" altLang="en-US"/>
          </a:p>
          <a:p>
            <a:pPr lvl="1"/>
            <a:r>
              <a:rPr lang="zh-CN" altLang="en-US" dirty="0"/>
              <a:t>调用</a:t>
            </a:r>
            <a:r>
              <a:rPr lang="en-US" dirty="0"/>
              <a:t> </a:t>
            </a:r>
            <a:r>
              <a:rPr lang="en-US" dirty="0" err="1">
                <a:latin typeface="Courier New" panose="02070609020205020404"/>
                <a:cs typeface="Courier New" panose="02070609020205020404"/>
              </a:rPr>
              <a:t>execve</a:t>
            </a:r>
            <a:r>
              <a:rPr lang="en-US" dirty="0"/>
              <a:t> (</a:t>
            </a:r>
            <a:r>
              <a:rPr lang="zh-CN" altLang="en-US"/>
              <a:t>或其变体</a:t>
            </a:r>
            <a:r>
              <a:rPr lang="en-US" dirty="0"/>
              <a:t>)</a:t>
            </a:r>
            <a:endParaRPr lang="en-US" dirty="0"/>
          </a:p>
          <a:p>
            <a:pPr lvl="1"/>
            <a:r>
              <a:rPr lang="zh-CN" altLang="en-US">
                <a:solidFill>
                  <a:srgbClr val="FF0000"/>
                </a:solidFill>
              </a:rPr>
              <a:t>一次调用，（通常）不返回</a:t>
            </a:r>
            <a:endParaRPr lang="zh-CN" altLang="en-US">
              <a:solidFill>
                <a:srgbClr val="FF0000"/>
              </a:solidFill>
            </a:endParaRPr>
          </a:p>
        </p:txBody>
      </p:sp>
    </p:spTree>
  </p:cSld>
  <p:clrMapOvr>
    <a:masterClrMapping/>
  </p:clrMapOvr>
</p:sld>
</file>

<file path=ppt/tags/tag1.xml><?xml version="1.0" encoding="utf-8"?>
<p:tagLst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 name="COMMONDATA" val="eyJoZGlkIjoiMmVjYmFiNGMzNjE5YmJlMzVhMTZjYWY0ZDAxOTI0YzIifQ=="/>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lgn="ctr">
          <a:solidFill>
            <a:schemeClr val="tx1"/>
          </a:solidFill>
          <a:prstDash val="solid"/>
          <a:round/>
          <a:headEnd type="none" w="med" len="med"/>
          <a:tailEnd type="arrow" w="med" len="med"/>
        </a:ln>
      </a:spPr>
      <a:bodyPr rtlCol="0" anchor="ctr"/>
      <a:lstStyle>
        <a:defPPr algn="ctr">
          <a:defRPr/>
        </a:defPPr>
      </a:lstStyle>
    </a:spDef>
    <a:lnDef>
      <a:spPr bwMode="auto">
        <a:noFill/>
        <a:ln w="25400" cap="flat" cmpd="sng" algn="ctr">
          <a:solidFill>
            <a:schemeClr val="tx1"/>
          </a:solidFill>
          <a:prstDash val="solid"/>
          <a:round/>
          <a:headEnd type="none" w="med" len="med"/>
          <a:tailEnd type="none" w="med" len="med"/>
        </a:ln>
      </a:spPr>
      <a:bodyPr/>
      <a:lstStyle/>
    </a:lnDef>
    <a:txDef>
      <a:spPr>
        <a:noFill/>
      </a:spPr>
      <a:bodyPr wrap="none" rtlCol="0">
        <a:spAutoFit/>
      </a:bodyPr>
      <a:lstStyle>
        <a:defPPr>
          <a:defRPr sz="1800" dirty="0" smtClean="0">
            <a:latin typeface="Calibri" panose="020F0502020204030204"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template2007</Template>
  <TotalTime>0</TotalTime>
  <Words>14989</Words>
  <Application>WPS Sheets</Application>
  <PresentationFormat>Widescreen</PresentationFormat>
  <Paragraphs>1302</Paragraphs>
  <Slides>50</Slides>
  <Notes>46</Notes>
  <HiddenSlides>0</HiddenSlides>
  <MMClips>0</MMClips>
  <ScaleCrop>false</ScaleCrop>
  <HeadingPairs>
    <vt:vector size="6" baseType="variant">
      <vt:variant>
        <vt:lpstr>已用的字体</vt:lpstr>
      </vt:variant>
      <vt:variant>
        <vt:i4>36</vt:i4>
      </vt:variant>
      <vt:variant>
        <vt:lpstr>主题</vt:lpstr>
      </vt:variant>
      <vt:variant>
        <vt:i4>1</vt:i4>
      </vt:variant>
      <vt:variant>
        <vt:lpstr>幻灯片标题</vt:lpstr>
      </vt:variant>
      <vt:variant>
        <vt:i4>50</vt:i4>
      </vt:variant>
    </vt:vector>
  </HeadingPairs>
  <TitlesOfParts>
    <vt:vector size="87" baseType="lpstr">
      <vt:lpstr>Arial</vt:lpstr>
      <vt:lpstr>SimSun</vt:lpstr>
      <vt:lpstr>Wingdings</vt:lpstr>
      <vt:lpstr>Arial Narrow</vt:lpstr>
      <vt:lpstr>Calibri</vt:lpstr>
      <vt:lpstr>Helvetica Neue</vt:lpstr>
      <vt:lpstr>Times New Roman Regular</vt:lpstr>
      <vt:lpstr>Microsoft YaHei</vt:lpstr>
      <vt:lpstr>汉仪旗黑</vt:lpstr>
      <vt:lpstr>Wingdings 2</vt:lpstr>
      <vt:lpstr>仿宋</vt:lpstr>
      <vt:lpstr>方正仿宋_GBK</vt:lpstr>
      <vt:lpstr>Times New Roman</vt:lpstr>
      <vt:lpstr>Consolas</vt:lpstr>
      <vt:lpstr>苹方-简</vt:lpstr>
      <vt:lpstr>Courier New</vt:lpstr>
      <vt:lpstr>Courier New</vt:lpstr>
      <vt:lpstr>Menlo-Regular</vt:lpstr>
      <vt:lpstr>Menlo-Regular</vt:lpstr>
      <vt:lpstr>Calibri</vt:lpstr>
      <vt:lpstr>Microsoft YaHei</vt:lpstr>
      <vt:lpstr>Arial Unicode MS</vt:lpstr>
      <vt:lpstr>Wingdings</vt:lpstr>
      <vt:lpstr>msgothic</vt:lpstr>
      <vt:lpstr>Times New Roman Bold</vt:lpstr>
      <vt:lpstr>SimHei</vt:lpstr>
      <vt:lpstr>汉仪中黑KW</vt:lpstr>
      <vt:lpstr>Arial</vt:lpstr>
      <vt:lpstr>FangSong</vt:lpstr>
      <vt:lpstr>汉仪书宋二KW</vt:lpstr>
      <vt:lpstr>SimSun</vt:lpstr>
      <vt:lpstr>FangSong</vt:lpstr>
      <vt:lpstr>SimHei</vt:lpstr>
      <vt:lpstr>Wingdings</vt:lpstr>
      <vt:lpstr>仿宋</vt:lpstr>
      <vt:lpstr>SimSun</vt:lpstr>
      <vt:lpstr>template2007</vt:lpstr>
      <vt:lpstr>异常控制流：异常与进程  计算机系统基础</vt:lpstr>
      <vt:lpstr>主要内容</vt:lpstr>
      <vt:lpstr>系统调用</vt:lpstr>
      <vt:lpstr>系统调用的错误处理</vt:lpstr>
      <vt:lpstr>错误报告函数</vt:lpstr>
      <vt:lpstr>错误处理包装</vt:lpstr>
      <vt:lpstr>获取进程 ID</vt:lpstr>
      <vt:lpstr>进程的状态和终止</vt:lpstr>
      <vt:lpstr>终止进程</vt:lpstr>
      <vt:lpstr>exit调用一次，从不返回</vt:lpstr>
      <vt:lpstr>主要内容</vt:lpstr>
      <vt:lpstr>创建进程</vt:lpstr>
      <vt:lpstr>fork 的概念视图</vt:lpstr>
      <vt:lpstr>PowerPoint 演示文稿</vt:lpstr>
      <vt:lpstr>fork调用一次，返回两次</vt:lpstr>
      <vt:lpstr>fork示例2</vt:lpstr>
      <vt:lpstr>PowerPoint 演示文稿</vt:lpstr>
      <vt:lpstr>PowerPoint 演示文稿</vt:lpstr>
      <vt:lpstr>PowerPoint 演示文稿</vt:lpstr>
      <vt:lpstr>使用进程图对 fork 进行建模</vt:lpstr>
      <vt:lpstr>进程图实例</vt:lpstr>
      <vt:lpstr>解读进程图</vt:lpstr>
      <vt:lpstr>PowerPoint 演示文稿</vt:lpstr>
      <vt:lpstr>fork 示例：父进程中的嵌套 fork</vt:lpstr>
      <vt:lpstr>fork 示例：子进程中的嵌套 fork</vt:lpstr>
      <vt:lpstr>主要内容</vt:lpstr>
      <vt:lpstr>回收子进程</vt:lpstr>
      <vt:lpstr>Zombie 示例</vt:lpstr>
      <vt:lpstr>非终止子进程示例</vt:lpstr>
      <vt:lpstr>wait：与子进程同步</vt:lpstr>
      <vt:lpstr>wait：与子进程同步</vt:lpstr>
      <vt:lpstr>wait：状态代码</vt:lpstr>
      <vt:lpstr>另一个 wait 示例</vt:lpstr>
      <vt:lpstr>fork10的进程图</vt:lpstr>
      <vt:lpstr>waitpid：等待特定进程</vt:lpstr>
      <vt:lpstr>fork11的进程图</vt:lpstr>
      <vt:lpstr>练习：</vt:lpstr>
      <vt:lpstr>练习：请画出对应的进程图，分析输出</vt:lpstr>
      <vt:lpstr>主要内容</vt:lpstr>
      <vt:lpstr>PowerPoint 演示文稿</vt:lpstr>
      <vt:lpstr>PowerPoint 演示文稿</vt:lpstr>
      <vt:lpstr>execve：加载和运行程序</vt:lpstr>
      <vt:lpstr>execve 示例</vt:lpstr>
      <vt:lpstr>新程序启动时的栈结构</vt:lpstr>
      <vt:lpstr>execve 和进程内存布局</vt:lpstr>
      <vt:lpstr>程序与已初始化数据（文件映射）</vt:lpstr>
      <vt:lpstr>.bss 、栈和堆（匿名映射）</vt:lpstr>
      <vt:lpstr>虚拟空间的组织</vt:lpstr>
      <vt:lpstr>总结</vt:lpstr>
      <vt:lpstr>总结（续）</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00030832</cp:lastModifiedBy>
  <cp:revision>1128</cp:revision>
  <cp:lastPrinted>2026-05-13T00:03:00Z</cp:lastPrinted>
  <dcterms:created xsi:type="dcterms:W3CDTF">2026-05-13T00:03:00Z</dcterms:created>
  <dcterms:modified xsi:type="dcterms:W3CDTF">2026-05-13T00:03:00Z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A283B238180CB14CB3BF036A81F77276_43</vt:lpwstr>
  </property>
  <property fmtid="{D5CDD505-2E9C-101B-9397-08002B2CF9AE}" pid="3" name="KSOProductBuildVer">
    <vt:lpwstr>1033-12.1.24031.24031</vt:lpwstr>
  </property>
</Properties>
</file>