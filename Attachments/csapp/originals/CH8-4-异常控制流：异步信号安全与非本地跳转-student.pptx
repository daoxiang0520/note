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57"/>
  </p:handoutMasterIdLst>
  <p:sldIdLst>
    <p:sldId id="542" r:id="rId3"/>
    <p:sldId id="1204" r:id="rId5"/>
    <p:sldId id="1579" r:id="rId6"/>
    <p:sldId id="1230" r:id="rId7"/>
    <p:sldId id="1247" r:id="rId8"/>
    <p:sldId id="1266" r:id="rId9"/>
    <p:sldId id="1267" r:id="rId10"/>
    <p:sldId id="1462" r:id="rId11"/>
    <p:sldId id="1568" r:id="rId12"/>
    <p:sldId id="1569" r:id="rId13"/>
    <p:sldId id="1570" r:id="rId14"/>
    <p:sldId id="1572" r:id="rId15"/>
    <p:sldId id="1571" r:id="rId16"/>
    <p:sldId id="1573" r:id="rId17"/>
    <p:sldId id="1272" r:id="rId18"/>
    <p:sldId id="1574" r:id="rId19"/>
    <p:sldId id="1459" r:id="rId20"/>
    <p:sldId id="1270" r:id="rId21"/>
    <p:sldId id="1580" r:id="rId22"/>
    <p:sldId id="1575" r:id="rId23"/>
    <p:sldId id="1255" r:id="rId24"/>
    <p:sldId id="1558" r:id="rId25"/>
    <p:sldId id="1256" r:id="rId26"/>
    <p:sldId id="1559" r:id="rId27"/>
    <p:sldId id="1274" r:id="rId28"/>
    <p:sldId id="1273" r:id="rId29"/>
    <p:sldId id="1296" r:id="rId30"/>
    <p:sldId id="1275" r:id="rId31"/>
    <p:sldId id="1561" r:id="rId32"/>
    <p:sldId id="1277" r:id="rId33"/>
    <p:sldId id="1276" r:id="rId34"/>
    <p:sldId id="1278" r:id="rId35"/>
    <p:sldId id="1565" r:id="rId36"/>
    <p:sldId id="1564" r:id="rId37"/>
    <p:sldId id="1279" r:id="rId38"/>
    <p:sldId id="1280" r:id="rId39"/>
    <p:sldId id="1401" r:id="rId40"/>
    <p:sldId id="1232" r:id="rId41"/>
    <p:sldId id="1233" r:id="rId42"/>
    <p:sldId id="1281" r:id="rId43"/>
    <p:sldId id="1234" r:id="rId44"/>
    <p:sldId id="1411" r:id="rId45"/>
    <p:sldId id="1235" r:id="rId46"/>
    <p:sldId id="1236" r:id="rId47"/>
    <p:sldId id="1284" r:id="rId48"/>
    <p:sldId id="1237" r:id="rId49"/>
    <p:sldId id="1582" r:id="rId50"/>
    <p:sldId id="1454" r:id="rId51"/>
    <p:sldId id="1455" r:id="rId52"/>
    <p:sldId id="1543" r:id="rId53"/>
    <p:sldId id="1581" r:id="rId54"/>
    <p:sldId id="1456" r:id="rId55"/>
    <p:sldId id="1282" r:id="rId56"/>
  </p:sldIdLst>
  <p:sldSz cx="12192000" cy="6858000"/>
  <p:notesSz cx="7302500" cy="9586595"/>
  <p:custDataLst>
    <p:tags r:id="rId6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0000"/>
    <a:srgbClr val="BFBFBF"/>
    <a:srgbClr val="990000"/>
    <a:srgbClr val="F6F5BD"/>
    <a:srgbClr val="F1C7C7"/>
    <a:srgbClr val="D5F1CF"/>
    <a:srgbClr val="E9E1C9"/>
    <a:srgbClr val="DED8C4"/>
    <a:srgbClr val="E7DDBB"/>
    <a:srgbClr val="DDC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141" autoAdjust="0"/>
    <p:restoredTop sz="96281" autoAdjust="0"/>
  </p:normalViewPr>
  <p:slideViewPr>
    <p:cSldViewPr snapToObjects="1" showGuides="1">
      <p:cViewPr varScale="1">
        <p:scale>
          <a:sx n="112" d="100"/>
          <a:sy n="112" d="100"/>
        </p:scale>
        <p:origin x="200" y="504"/>
      </p:cViewPr>
      <p:guideLst>
        <p:guide orient="horz" pos="2424"/>
        <p:guide pos="387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3584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tags" Target="tags/tag1.xml"/><Relationship Id="rId60" Type="http://schemas.openxmlformats.org/officeDocument/2006/relationships/tableStyles" Target="tableStyles.xml"/><Relationship Id="rId6" Type="http://schemas.openxmlformats.org/officeDocument/2006/relationships/slide" Target="slides/slide3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  <a:endParaRPr lang="en-US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defTabSz="965200">
              <a:defRPr sz="12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85800"/>
            <a:ext cx="65024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65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66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#define</a:t>
            </a:r>
            <a:r>
              <a:rPr lang="en-US" baseline="0" dirty="0"/>
              <a:t> N 5</a:t>
            </a: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#define</a:t>
            </a:r>
            <a:r>
              <a:rPr lang="en-US" baseline="0" dirty="0"/>
              <a:t> N 5</a:t>
            </a: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99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99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在父进程将子进程pid加进joblist之前不能接受SIGCHLD信号</a:t>
            </a:r>
            <a:r>
              <a:rPr lang="zh-CN" altLang="en-US" dirty="0"/>
              <a:t>，那怎么做到这一点呢？要屏蔽该信号。什么时候开始？什么时候结束？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pause</a:t>
            </a:r>
            <a:r>
              <a:rPr lang="zh-CN" altLang="en-US" dirty="0"/>
              <a:t>的版本，如果在</a:t>
            </a:r>
            <a:r>
              <a:rPr lang="en-US" altLang="zh-CN" dirty="0"/>
              <a:t>while</a:t>
            </a:r>
            <a:r>
              <a:rPr lang="zh-CN" altLang="en-US" dirty="0"/>
              <a:t>判断完之后，在</a:t>
            </a:r>
            <a:r>
              <a:rPr lang="en-US" altLang="zh-CN" dirty="0"/>
              <a:t>pause</a:t>
            </a:r>
            <a:r>
              <a:rPr lang="zh-CN" altLang="en-US" dirty="0"/>
              <a:t>之前，收到</a:t>
            </a:r>
            <a:r>
              <a:rPr lang="en-US" altLang="zh-CN" dirty="0"/>
              <a:t>SIGCHLD</a:t>
            </a:r>
            <a:r>
              <a:rPr lang="zh-CN" altLang="en-US" dirty="0"/>
              <a:t>信号，那么就被</a:t>
            </a:r>
            <a:r>
              <a:rPr lang="en-US" altLang="zh-CN" dirty="0"/>
              <a:t>pause</a:t>
            </a:r>
            <a:r>
              <a:rPr lang="zh-CN" altLang="en-US" dirty="0"/>
              <a:t>，永远不会被唤醒。如果用</a:t>
            </a:r>
            <a:r>
              <a:rPr lang="en-US" altLang="zh-CN" dirty="0"/>
              <a:t>sleep</a:t>
            </a:r>
            <a:r>
              <a:rPr lang="zh-CN" altLang="en-US" dirty="0"/>
              <a:t>，那么在</a:t>
            </a:r>
            <a:r>
              <a:rPr lang="en-US" altLang="zh-CN" dirty="0"/>
              <a:t>sleep</a:t>
            </a:r>
            <a:r>
              <a:rPr lang="en-US" altLang="zh-CN" baseline="0" dirty="0"/>
              <a:t> 1</a:t>
            </a:r>
            <a:r>
              <a:rPr lang="zh-CN" altLang="en-US" baseline="0" dirty="0"/>
              <a:t>秒之后继续执行判断，但是需要等待一秒，太慢了。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pause</a:t>
            </a:r>
            <a:r>
              <a:rPr lang="zh-CN" altLang="en-US" dirty="0"/>
              <a:t>的版本，如果在</a:t>
            </a:r>
            <a:r>
              <a:rPr lang="en-US" altLang="zh-CN" dirty="0"/>
              <a:t>while</a:t>
            </a:r>
            <a:r>
              <a:rPr lang="zh-CN" altLang="en-US" dirty="0"/>
              <a:t>判断完之后，在</a:t>
            </a:r>
            <a:r>
              <a:rPr lang="en-US" altLang="zh-CN" dirty="0"/>
              <a:t>pause</a:t>
            </a:r>
            <a:r>
              <a:rPr lang="zh-CN" altLang="en-US" dirty="0"/>
              <a:t>之前，收到</a:t>
            </a:r>
            <a:r>
              <a:rPr lang="en-US" altLang="zh-CN" dirty="0"/>
              <a:t>SIGCHLD</a:t>
            </a:r>
            <a:r>
              <a:rPr lang="zh-CN" altLang="en-US" dirty="0"/>
              <a:t>信号，那么就被</a:t>
            </a:r>
            <a:r>
              <a:rPr lang="en-US" altLang="zh-CN" dirty="0"/>
              <a:t>pause</a:t>
            </a:r>
            <a:r>
              <a:rPr lang="zh-CN" altLang="en-US" dirty="0"/>
              <a:t>，永远不会被唤醒。如果用</a:t>
            </a:r>
            <a:r>
              <a:rPr lang="en-US" altLang="zh-CN" dirty="0"/>
              <a:t>sleep</a:t>
            </a:r>
            <a:r>
              <a:rPr lang="zh-CN" altLang="en-US" dirty="0"/>
              <a:t>，那么在</a:t>
            </a:r>
            <a:r>
              <a:rPr lang="en-US" altLang="zh-CN" dirty="0"/>
              <a:t>sleep</a:t>
            </a:r>
            <a:r>
              <a:rPr lang="en-US" altLang="zh-CN" baseline="0" dirty="0"/>
              <a:t> 1</a:t>
            </a:r>
            <a:r>
              <a:rPr lang="zh-CN" altLang="en-US" baseline="0" dirty="0"/>
              <a:t>秒之后继续执行判断，但是需要等待一秒，太慢了。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pause</a:t>
            </a:r>
            <a:r>
              <a:rPr lang="zh-CN" altLang="en-US" dirty="0"/>
              <a:t>的版本，如果在</a:t>
            </a:r>
            <a:r>
              <a:rPr lang="en-US" altLang="zh-CN" dirty="0"/>
              <a:t>while</a:t>
            </a:r>
            <a:r>
              <a:rPr lang="zh-CN" altLang="en-US" dirty="0"/>
              <a:t>判断完之后，在</a:t>
            </a:r>
            <a:r>
              <a:rPr lang="en-US" altLang="zh-CN" dirty="0"/>
              <a:t>pause</a:t>
            </a:r>
            <a:r>
              <a:rPr lang="zh-CN" altLang="en-US" dirty="0"/>
              <a:t>之前，收到</a:t>
            </a:r>
            <a:r>
              <a:rPr lang="en-US" altLang="zh-CN" dirty="0"/>
              <a:t>SIGCHLD</a:t>
            </a:r>
            <a:r>
              <a:rPr lang="zh-CN" altLang="en-US" dirty="0"/>
              <a:t>信号，那么就被</a:t>
            </a:r>
            <a:r>
              <a:rPr lang="en-US" altLang="zh-CN" dirty="0"/>
              <a:t>pause</a:t>
            </a:r>
            <a:r>
              <a:rPr lang="zh-CN" altLang="en-US" dirty="0"/>
              <a:t>，永远不会被唤醒。如果用</a:t>
            </a:r>
            <a:r>
              <a:rPr lang="en-US" altLang="zh-CN" dirty="0"/>
              <a:t>sleep</a:t>
            </a:r>
            <a:r>
              <a:rPr lang="zh-CN" altLang="en-US" dirty="0"/>
              <a:t>，那么在</a:t>
            </a:r>
            <a:r>
              <a:rPr lang="en-US" altLang="zh-CN" dirty="0"/>
              <a:t>sleep</a:t>
            </a:r>
            <a:r>
              <a:rPr lang="en-US" altLang="zh-CN" baseline="0" dirty="0"/>
              <a:t> 1</a:t>
            </a:r>
            <a:r>
              <a:rPr lang="zh-CN" altLang="en-US" baseline="0" dirty="0"/>
              <a:t>秒之后继续执行判断，但是需要等待一秒，太慢了。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608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08013"/>
            <a:ext cx="10363200" cy="1470025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236656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anose="020F0502020204030204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7" y="445070"/>
            <a:ext cx="10121900" cy="76200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8787" y="142582"/>
            <a:ext cx="101219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latin typeface="Calibri" panose="020F0502020204030204" pitchFamily="34" charset="0"/>
              </a:defRPr>
            </a:lvl1pPr>
            <a:lvl2pPr>
              <a:defRPr sz="2800">
                <a:latin typeface="Calibri" panose="020F0502020204030204" pitchFamily="34" charset="0"/>
              </a:defRPr>
            </a:lvl2pPr>
            <a:lvl3pPr>
              <a:defRPr sz="2400">
                <a:latin typeface="Calibri" panose="020F0502020204030204" pitchFamily="34" charset="0"/>
              </a:defRPr>
            </a:lvl3pPr>
            <a:lvl4pPr>
              <a:defRPr sz="2000">
                <a:latin typeface="Calibri" panose="020F0502020204030204" pitchFamily="34" charset="0"/>
              </a:defRPr>
            </a:lvl4pPr>
            <a:lvl5pPr>
              <a:defRPr sz="2000">
                <a:latin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2" y="228601"/>
            <a:ext cx="2914649" cy="6105525"/>
          </a:xfrm>
        </p:spPr>
        <p:txBody>
          <a:bodyPr vert="eaVert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167" y="228601"/>
            <a:ext cx="8544984" cy="6105525"/>
          </a:xfrm>
        </p:spPr>
        <p:txBody>
          <a:bodyPr vert="eaVert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6651" y="1362076"/>
            <a:ext cx="5162549" cy="2409825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6651" y="3924301"/>
            <a:ext cx="5162549" cy="2409825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8787" y="371182"/>
            <a:ext cx="101219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9167" y="1362075"/>
            <a:ext cx="10528300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10530418" y="-26987"/>
            <a:ext cx="1746249" cy="277813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Carnegie Mellon</a:t>
            </a:r>
            <a:endParaRPr lang="en-US" sz="120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1774458" y="6611780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706020202030204" pitchFamily="34" charset="0"/>
                <a:ea typeface="MS PGothic" panose="020B0600070205080204" pitchFamily="-96" charset="-128"/>
                <a:cs typeface="MS PGothic" panose="020B0600070205080204" pitchFamily="-96" charset="-128"/>
              </a:rPr>
            </a:fld>
            <a:endParaRPr lang="en-US" sz="2400" dirty="0"/>
          </a:p>
        </p:txBody>
      </p:sp>
      <p:sp>
        <p:nvSpPr>
          <p:cNvPr id="2" name="TextBox 8"/>
          <p:cNvSpPr txBox="1"/>
          <p:nvPr userDrawn="1"/>
        </p:nvSpPr>
        <p:spPr>
          <a:xfrm>
            <a:off x="215" y="6553201"/>
            <a:ext cx="34594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0">
                <a:solidFill>
                  <a:schemeClr val="tx1">
                    <a:tint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计算机系统基础-深入理解计算机系统（第三版）</a:t>
            </a:r>
            <a:endParaRPr lang="zh-CN" altLang="en-US" sz="1200" b="0" i="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仿宋" panose="02010609060101010101" pitchFamily="49" charset="-122"/>
          <a:ea typeface="仿宋" panose="02010609060101010101" pitchFamily="49" charset="-122"/>
          <a:cs typeface="+mj-cs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 b="1">
          <a:solidFill>
            <a:schemeClr val="tx1"/>
          </a:solidFill>
          <a:latin typeface="仿宋" panose="02010609060101010101" pitchFamily="49" charset="-122"/>
          <a:ea typeface="仿宋" panose="02010609060101010101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仿宋" panose="02010609060101010101" pitchFamily="49" charset="-122"/>
          <a:ea typeface="仿宋" panose="02010609060101010101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仿宋" panose="02010609060101010101" pitchFamily="49" charset="-122"/>
          <a:ea typeface="仿宋" panose="02010609060101010101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仿宋" panose="02010609060101010101" pitchFamily="49" charset="-122"/>
          <a:ea typeface="仿宋" panose="02010609060101010101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仿宋" panose="02010609060101010101" pitchFamily="49" charset="-122"/>
          <a:ea typeface="仿宋" panose="02010609060101010101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828800" y="1371600"/>
            <a:ext cx="8841105" cy="2133600"/>
          </a:xfrm>
        </p:spPr>
        <p:txBody>
          <a:bodyPr/>
          <a:lstStyle/>
          <a:p>
            <a:pPr marL="0" indent="0"/>
            <a:r>
              <a:rPr lang="zh-CN" altLang="en-US" sz="4400" dirty="0">
                <a:cs typeface="仿宋" panose="02010609060101010101" pitchFamily="49" charset="-122"/>
                <a:sym typeface="+mn-ea"/>
              </a:rPr>
              <a:t>异常控制流：信号与非本地跳转</a:t>
            </a:r>
            <a:br>
              <a:rPr lang="zh-CN" altLang="en-US" sz="4400" dirty="0">
                <a:cs typeface="仿宋" panose="02010609060101010101" pitchFamily="49" charset="-122"/>
                <a:sym typeface="+mn-ea"/>
              </a:rPr>
            </a:br>
            <a:br>
              <a:rPr lang="en-US" dirty="0">
                <a:cs typeface="仿宋" panose="02010609060101010101" pitchFamily="49" charset="-122"/>
                <a:sym typeface="+mn-ea"/>
              </a:rPr>
            </a:br>
            <a:r>
              <a:rPr lang="zh-CN" altLang="en-US" sz="2800" dirty="0">
                <a:cs typeface="仿宋" panose="02010609060101010101" pitchFamily="49" charset="-122"/>
                <a:sym typeface="+mn-ea"/>
              </a:rPr>
              <a:t>计算机系统基础</a:t>
            </a:r>
            <a:br>
              <a:rPr lang="en-US" dirty="0">
                <a:cs typeface="仿宋" panose="02010609060101010101" pitchFamily="49" charset="-122"/>
                <a:sym typeface="+mn-ea"/>
              </a:rPr>
            </a:br>
            <a:endParaRPr lang="en-US" sz="2000" b="0" dirty="0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异常控制流</a:t>
            </a:r>
            <a:r>
              <a:rPr lang="zh-CN" altLang="en-US" dirty="0">
                <a:cs typeface="Consolas" panose="020B0609020204030204" pitchFamily="49" charset="0"/>
                <a:sym typeface="+mn-ea"/>
              </a:rPr>
              <a:t>发生在</a:t>
            </a:r>
            <a:r>
              <a:rPr lang="en-US" dirty="0">
                <a:cs typeface="Consolas" panose="020B0609020204030204" pitchFamily="49" charset="0"/>
                <a:sym typeface="+mn-ea"/>
              </a:rPr>
              <a:t>计算机系统的</a:t>
            </a:r>
            <a:r>
              <a:rPr lang="zh-CN" altLang="en-US" dirty="0">
                <a:cs typeface="Consolas" panose="020B0609020204030204" pitchFamily="49" charset="0"/>
                <a:sym typeface="+mn-ea"/>
              </a:rPr>
              <a:t>各个层次</a:t>
            </a:r>
            <a:endParaRPr lang="zh-CN" altLang="en-US" dirty="0"/>
          </a:p>
        </p:txBody>
      </p:sp>
      <p:sp>
        <p:nvSpPr>
          <p:cNvPr id="54579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43000" y="1285875"/>
            <a:ext cx="8674101" cy="4972050"/>
          </a:xfrm>
        </p:spPr>
        <p:txBody>
          <a:bodyPr/>
          <a:lstStyle/>
          <a:p>
            <a:r>
              <a:rPr lang="zh-CN" altLang="en-US" sz="2800" dirty="0"/>
              <a:t>异常</a:t>
            </a:r>
            <a:endParaRPr lang="en-US" sz="2800" dirty="0"/>
          </a:p>
          <a:p>
            <a:pPr lvl="1"/>
            <a:r>
              <a:rPr lang="zh-CN" altLang="en-US" sz="2400"/>
              <a:t>硬件和操作系统内核软件</a:t>
            </a:r>
            <a:endParaRPr lang="zh-CN" altLang="en-US" sz="2400"/>
          </a:p>
          <a:p>
            <a:r>
              <a:rPr lang="zh-CN" altLang="en-US" sz="2800" dirty="0"/>
              <a:t>进程上下文切换</a:t>
            </a:r>
            <a:endParaRPr lang="en-US" sz="2800" dirty="0"/>
          </a:p>
          <a:p>
            <a:pPr lvl="1"/>
            <a:r>
              <a:rPr lang="zh-CN" altLang="en-US" sz="2400"/>
              <a:t>硬件计时器和内核软件</a:t>
            </a:r>
            <a:endParaRPr lang="zh-CN" altLang="en-US"/>
          </a:p>
          <a:p>
            <a:r>
              <a:rPr lang="zh-CN" altLang="en-US" sz="2800" dirty="0"/>
              <a:t>信号</a:t>
            </a:r>
            <a:endParaRPr lang="en-US" sz="2800" dirty="0"/>
          </a:p>
          <a:p>
            <a:pPr lvl="1"/>
            <a:r>
              <a:rPr lang="zh-CN" altLang="en-US" sz="2400"/>
              <a:t>内核软件和应用程序软件</a:t>
            </a:r>
            <a:endParaRPr lang="zh-CN" altLang="en-US" sz="2400"/>
          </a:p>
          <a:p>
            <a:r>
              <a:rPr lang="zh-CN" altLang="en-US" sz="2800" dirty="0"/>
              <a:t>非本地跳转</a:t>
            </a:r>
            <a:endParaRPr lang="en-US" sz="2800" dirty="0"/>
          </a:p>
          <a:p>
            <a:pPr lvl="1"/>
            <a:r>
              <a:rPr lang="zh-CN" altLang="en-US" sz="2400" dirty="0"/>
              <a:t>应用程序代码</a:t>
            </a:r>
            <a:endParaRPr lang="zh-CN" altLang="en-US" sz="2400" dirty="0"/>
          </a:p>
        </p:txBody>
      </p:sp>
      <p:sp>
        <p:nvSpPr>
          <p:cNvPr id="545797" name="AutoShape 1029"/>
          <p:cNvSpPr/>
          <p:nvPr/>
        </p:nvSpPr>
        <p:spPr bwMode="auto">
          <a:xfrm>
            <a:off x="8449733" y="1524000"/>
            <a:ext cx="183085" cy="1214735"/>
          </a:xfrm>
          <a:prstGeom prst="rightBrace">
            <a:avLst>
              <a:gd name="adj1" fmla="val 104167"/>
              <a:gd name="adj2" fmla="val 50000"/>
            </a:avLst>
          </a:prstGeom>
          <a:noFill/>
          <a:ln w="19050">
            <a:solidFill>
              <a:schemeClr val="tx2"/>
            </a:solidFill>
            <a:round/>
            <a:tailEnd type="none" w="sm" len="sm"/>
          </a:ln>
          <a:effectLst/>
        </p:spPr>
        <p:txBody>
          <a:bodyPr wrap="square" lIns="45720" rIns="45720" anchor="ctr">
            <a:spAutoFit/>
          </a:bodyPr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45798" name="Text Box 1030"/>
          <p:cNvSpPr txBox="1">
            <a:spLocks noChangeArrowheads="1"/>
          </p:cNvSpPr>
          <p:nvPr/>
        </p:nvSpPr>
        <p:spPr bwMode="auto">
          <a:xfrm>
            <a:off x="8690291" y="1941017"/>
            <a:ext cx="1007745" cy="460375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zh-CN" altLang="en-US" dirty="0">
                <a:latin typeface="SimHei" panose="02010600030101010101" charset="-122"/>
                <a:ea typeface="SimHei" panose="02010600030101010101" charset="-122"/>
              </a:rPr>
              <a:t>已完成</a:t>
            </a:r>
            <a:endParaRPr lang="zh-CN" altLang="en-US" dirty="0">
              <a:latin typeface="SimHei" panose="02010600030101010101" charset="-122"/>
              <a:ea typeface="SimHei" panose="02010600030101010101" charset="-122"/>
            </a:endParaRPr>
          </a:p>
        </p:txBody>
      </p:sp>
      <p:sp>
        <p:nvSpPr>
          <p:cNvPr id="8" name="AutoShape 1029"/>
          <p:cNvSpPr/>
          <p:nvPr/>
        </p:nvSpPr>
        <p:spPr bwMode="auto">
          <a:xfrm>
            <a:off x="8449733" y="3429000"/>
            <a:ext cx="183086" cy="1371599"/>
          </a:xfrm>
          <a:prstGeom prst="rightBrace">
            <a:avLst>
              <a:gd name="adj1" fmla="val 104167"/>
              <a:gd name="adj2" fmla="val 50000"/>
            </a:avLst>
          </a:prstGeom>
          <a:noFill/>
          <a:ln w="19050">
            <a:solidFill>
              <a:schemeClr val="tx2"/>
            </a:solidFill>
            <a:round/>
            <a:tailEnd type="none" w="sm" len="sm"/>
          </a:ln>
          <a:effectLst/>
        </p:spPr>
        <p:txBody>
          <a:bodyPr wrap="square" lIns="45720" rIns="45720" anchor="ctr">
            <a:spAutoFit/>
          </a:bodyPr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9" name="Text Box 1030"/>
          <p:cNvSpPr txBox="1">
            <a:spLocks noChangeArrowheads="1"/>
          </p:cNvSpPr>
          <p:nvPr/>
        </p:nvSpPr>
        <p:spPr bwMode="auto">
          <a:xfrm>
            <a:off x="8690291" y="3843784"/>
            <a:ext cx="1007745" cy="460375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zh-CN" altLang="en-US" dirty="0">
                <a:latin typeface="SimHei" panose="02010600030101010101" charset="-122"/>
                <a:ea typeface="SimHei" panose="02010600030101010101" charset="-122"/>
                <a:sym typeface="+mn-ea"/>
              </a:rPr>
              <a:t>待</a:t>
            </a:r>
            <a:r>
              <a:rPr lang="zh-CN" altLang="en-US" dirty="0">
                <a:latin typeface="SimHei" panose="02010600030101010101" charset="-122"/>
                <a:ea typeface="SimHei" panose="02010600030101010101" charset="-122"/>
                <a:sym typeface="+mn-ea"/>
              </a:rPr>
              <a:t>完成</a:t>
            </a:r>
            <a:endParaRPr lang="zh-CN" altLang="en-US" dirty="0">
              <a:latin typeface="SimHei" panose="02010600030101010101" charset="-122"/>
              <a:ea typeface="SimHei" panose="02010600030101010101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仿宋" panose="02010609060101010101" pitchFamily="49" charset="-122"/>
                <a:cs typeface="Consolas" panose="020B0609020204030204" pitchFamily="49" charset="0"/>
              </a:rPr>
              <a:t>信号</a:t>
            </a:r>
            <a:endParaRPr lang="en-US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pPr lvl="1" algn="l"/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cs typeface="Consolas" panose="020B0609020204030204" pitchFamily="49" charset="0"/>
              </a:rPr>
              <a:t>信号的发送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pPr lvl="1" algn="l"/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cs typeface="Consolas" panose="020B0609020204030204" pitchFamily="49" charset="0"/>
              </a:rPr>
              <a:t>信号的接收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pPr lvl="1" algn="l"/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cs typeface="Consolas" panose="020B0609020204030204" pitchFamily="49" charset="0"/>
              </a:rPr>
              <a:t>安全的信号处理函数</a:t>
            </a:r>
            <a:endParaRPr lang="zh-CN" altLang="en-US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pPr lvl="1" algn="l"/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cs typeface="Consolas" panose="020B0609020204030204" pitchFamily="49" charset="0"/>
              </a:rPr>
              <a:t>几个典型的例子</a:t>
            </a:r>
            <a:endParaRPr lang="en-US" dirty="0">
              <a:solidFill>
                <a:schemeClr val="bg1">
                  <a:lumMod val="65000"/>
                </a:schemeClr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</a:rPr>
              <a:t>非本地跳转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信号处理程序作为并发逻辑流</a:t>
            </a:r>
            <a:endParaRPr lang="zh-CN" altLang="en-US"/>
          </a:p>
        </p:txBody>
      </p:sp>
      <p:sp>
        <p:nvSpPr>
          <p:cNvPr id="65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信号处理程序是一个独立的逻辑流（而不是一个进程），它与主程序并发运行</a:t>
            </a:r>
            <a:endParaRPr lang="zh-CN" altLang="en-US"/>
          </a:p>
        </p:txBody>
      </p:sp>
      <p:sp>
        <p:nvSpPr>
          <p:cNvPr id="657415" name="Line 7"/>
          <p:cNvSpPr>
            <a:spLocks noChangeShapeType="1"/>
          </p:cNvSpPr>
          <p:nvPr/>
        </p:nvSpPr>
        <p:spPr bwMode="auto">
          <a:xfrm>
            <a:off x="4511675" y="4038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57416" name="Text Box 8"/>
          <p:cNvSpPr txBox="1">
            <a:spLocks noChangeArrowheads="1"/>
          </p:cNvSpPr>
          <p:nvPr/>
        </p:nvSpPr>
        <p:spPr bwMode="auto">
          <a:xfrm>
            <a:off x="3944939" y="2819401"/>
            <a:ext cx="1280160" cy="82994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anose="020F0502020204030204" pitchFamily="34" charset="0"/>
              </a:rPr>
              <a:t>Process A </a:t>
            </a:r>
            <a:endParaRPr lang="en-US" sz="1600" i="1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pPr algn="l">
              <a:lnSpc>
                <a:spcPct val="100000"/>
              </a:lnSpc>
            </a:pPr>
            <a:endParaRPr lang="en-US" sz="1600" dirty="0">
              <a:latin typeface="Calibri" panose="020F05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while(1);</a:t>
            </a:r>
            <a:endParaRPr lang="en-US" sz="1600" dirty="0">
              <a:latin typeface="Courier New" panose="02070609020205020404" charset="0"/>
            </a:endParaRPr>
          </a:p>
        </p:txBody>
      </p:sp>
      <p:sp>
        <p:nvSpPr>
          <p:cNvPr id="657417" name="Text Box 9"/>
          <p:cNvSpPr txBox="1">
            <a:spLocks noChangeArrowheads="1"/>
          </p:cNvSpPr>
          <p:nvPr/>
        </p:nvSpPr>
        <p:spPr bwMode="auto">
          <a:xfrm>
            <a:off x="5468939" y="2819400"/>
            <a:ext cx="1402080" cy="132207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anose="020F0502020204030204" pitchFamily="34" charset="0"/>
              </a:rPr>
              <a:t>Process A</a:t>
            </a:r>
            <a:endParaRPr lang="en-US" sz="1600" i="1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pPr algn="l">
              <a:lnSpc>
                <a:spcPct val="100000"/>
              </a:lnSpc>
            </a:pPr>
            <a:endParaRPr lang="en-US" sz="1600" dirty="0">
              <a:latin typeface="Calibri" panose="020F05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handler(){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    …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}</a:t>
            </a:r>
            <a:endParaRPr lang="en-US" sz="1600" dirty="0">
              <a:latin typeface="Courier New" panose="02070609020205020404" charset="0"/>
            </a:endParaRPr>
          </a:p>
        </p:txBody>
      </p:sp>
      <p:sp>
        <p:nvSpPr>
          <p:cNvPr id="657418" name="Text Box 10"/>
          <p:cNvSpPr txBox="1">
            <a:spLocks noChangeArrowheads="1"/>
          </p:cNvSpPr>
          <p:nvPr/>
        </p:nvSpPr>
        <p:spPr bwMode="auto">
          <a:xfrm>
            <a:off x="6992939" y="2819400"/>
            <a:ext cx="970915" cy="33718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anose="020F0502020204030204" pitchFamily="34" charset="0"/>
              </a:rPr>
              <a:t>Process B</a:t>
            </a:r>
            <a:endParaRPr lang="en-US" sz="1600" i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657419" name="Line 11"/>
          <p:cNvSpPr>
            <a:spLocks noChangeShapeType="1"/>
          </p:cNvSpPr>
          <p:nvPr/>
        </p:nvSpPr>
        <p:spPr bwMode="auto">
          <a:xfrm>
            <a:off x="6035675" y="46482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57420" name="Line 12"/>
          <p:cNvSpPr>
            <a:spLocks noChangeShapeType="1"/>
          </p:cNvSpPr>
          <p:nvPr/>
        </p:nvSpPr>
        <p:spPr bwMode="auto">
          <a:xfrm>
            <a:off x="7559675" y="43434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57421" name="Line 13"/>
          <p:cNvSpPr>
            <a:spLocks noChangeShapeType="1"/>
          </p:cNvSpPr>
          <p:nvPr/>
        </p:nvSpPr>
        <p:spPr bwMode="auto">
          <a:xfrm>
            <a:off x="4511675" y="4953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57422" name="Line 14"/>
          <p:cNvSpPr>
            <a:spLocks noChangeShapeType="1"/>
          </p:cNvSpPr>
          <p:nvPr/>
        </p:nvSpPr>
        <p:spPr bwMode="auto">
          <a:xfrm>
            <a:off x="7559675" y="5257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57423" name="Line 15"/>
          <p:cNvSpPr>
            <a:spLocks noChangeShapeType="1"/>
          </p:cNvSpPr>
          <p:nvPr/>
        </p:nvSpPr>
        <p:spPr bwMode="auto">
          <a:xfrm>
            <a:off x="4054475" y="43434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57424" name="Line 16"/>
          <p:cNvSpPr>
            <a:spLocks noChangeShapeType="1"/>
          </p:cNvSpPr>
          <p:nvPr/>
        </p:nvSpPr>
        <p:spPr bwMode="auto">
          <a:xfrm>
            <a:off x="4054475" y="46482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57425" name="Line 17"/>
          <p:cNvSpPr>
            <a:spLocks noChangeShapeType="1"/>
          </p:cNvSpPr>
          <p:nvPr/>
        </p:nvSpPr>
        <p:spPr bwMode="auto">
          <a:xfrm>
            <a:off x="4054475" y="49530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57426" name="Line 18"/>
          <p:cNvSpPr>
            <a:spLocks noChangeShapeType="1"/>
          </p:cNvSpPr>
          <p:nvPr/>
        </p:nvSpPr>
        <p:spPr bwMode="auto">
          <a:xfrm>
            <a:off x="4054475" y="52578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57427" name="Line 19"/>
          <p:cNvSpPr>
            <a:spLocks noChangeShapeType="1"/>
          </p:cNvSpPr>
          <p:nvPr/>
        </p:nvSpPr>
        <p:spPr bwMode="auto">
          <a:xfrm>
            <a:off x="4054475" y="55626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9" name="Text Box 1031"/>
          <p:cNvSpPr txBox="1">
            <a:spLocks noChangeArrowheads="1"/>
          </p:cNvSpPr>
          <p:nvPr/>
        </p:nvSpPr>
        <p:spPr bwMode="auto">
          <a:xfrm>
            <a:off x="2284095" y="4491355"/>
            <a:ext cx="1048385" cy="52959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</a:rPr>
              <a:t>Time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0" name="Down Arrow 19"/>
          <p:cNvSpPr/>
          <p:nvPr/>
        </p:nvSpPr>
        <p:spPr bwMode="auto">
          <a:xfrm>
            <a:off x="3256253" y="4114800"/>
            <a:ext cx="457200" cy="16002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 bwMode="auto">
          <a:xfrm>
            <a:off x="3902158" y="4724400"/>
            <a:ext cx="5147310" cy="425450"/>
          </a:xfrm>
          <a:prstGeom prst="rect">
            <a:avLst/>
          </a:prstGeom>
          <a:solidFill>
            <a:srgbClr val="F1C7C7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3902158" y="5149850"/>
            <a:ext cx="5134610" cy="4254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zh-CN" altLang="en-US"/>
              <a:t>信号处理程序作为并发逻辑流的另一视角</a:t>
            </a:r>
            <a:endParaRPr lang="zh-CN" altLang="en-US"/>
          </a:p>
        </p:txBody>
      </p:sp>
      <p:sp>
        <p:nvSpPr>
          <p:cNvPr id="658472" name="Text Box 40"/>
          <p:cNvSpPr txBox="1">
            <a:spLocks noChangeArrowheads="1"/>
          </p:cNvSpPr>
          <p:nvPr/>
        </p:nvSpPr>
        <p:spPr bwMode="auto">
          <a:xfrm>
            <a:off x="1447800" y="2667001"/>
            <a:ext cx="1977464" cy="369332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45720" rIns="45720">
            <a:spAutoFit/>
          </a:bodyPr>
          <a:lstStyle/>
          <a:p>
            <a:r>
              <a:rPr lang="zh-CN" altLang="en-US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信号</a:t>
            </a:r>
            <a:r>
              <a:rPr lang="zh-CN" altLang="en-US" sz="1800" dirty="0">
                <a:solidFill>
                  <a:srgbClr val="FF0000"/>
                </a:solidFill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发送</a:t>
            </a:r>
            <a:r>
              <a:rPr lang="zh-CN" altLang="en-US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到进程</a:t>
            </a:r>
            <a:r>
              <a:rPr lang="en-US" altLang="zh-CN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A</a:t>
            </a:r>
            <a:endParaRPr lang="en-US" altLang="zh-CN" sz="18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58473" name="Line 41"/>
          <p:cNvSpPr>
            <a:spLocks noChangeShapeType="1"/>
          </p:cNvSpPr>
          <p:nvPr/>
        </p:nvSpPr>
        <p:spPr bwMode="auto">
          <a:xfrm>
            <a:off x="3493218" y="2851666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tailEnd type="triangle" w="med" len="med"/>
          </a:ln>
          <a:effectLst/>
        </p:spPr>
        <p:txBody>
          <a:bodyPr wrap="none" lIns="45720" rIns="45720"/>
          <a:lstStyle/>
          <a:p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58474" name="Text Box 42"/>
          <p:cNvSpPr txBox="1">
            <a:spLocks noChangeArrowheads="1"/>
          </p:cNvSpPr>
          <p:nvPr/>
        </p:nvSpPr>
        <p:spPr bwMode="auto">
          <a:xfrm>
            <a:off x="1168400" y="4131945"/>
            <a:ext cx="2959735" cy="119888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45720" rIns="45720">
            <a:spAutoFit/>
          </a:bodyPr>
          <a:lstStyle/>
          <a:p>
            <a:r>
              <a:rPr lang="zh-CN" altLang="en-US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进程</a:t>
            </a:r>
            <a:r>
              <a:rPr lang="en-US" altLang="zh-CN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A </a:t>
            </a:r>
            <a:r>
              <a:rPr lang="zh-CN" altLang="en-US" sz="1800" dirty="0">
                <a:solidFill>
                  <a:srgbClr val="FF0000"/>
                </a:solidFill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接收</a:t>
            </a:r>
            <a:r>
              <a:rPr lang="zh-CN" altLang="en-US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信号</a:t>
            </a:r>
            <a:endParaRPr lang="zh-CN" altLang="en-US" sz="18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endParaRPr lang="zh-CN" altLang="en-US" sz="18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r>
              <a:rPr lang="zh-CN" altLang="en-US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接收信号的时机</a:t>
            </a:r>
            <a:r>
              <a:rPr lang="en-US" altLang="zh-CN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：</a:t>
            </a:r>
            <a:endParaRPr lang="en-US" altLang="zh-CN" sz="18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从内核返回到进程</a:t>
            </a:r>
            <a:r>
              <a:rPr lang="en-US" altLang="zh-CN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18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时</a:t>
            </a:r>
            <a:endParaRPr lang="zh-CN" altLang="en-US" sz="18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58475" name="Line 43"/>
          <p:cNvSpPr>
            <a:spLocks noChangeShapeType="1"/>
          </p:cNvSpPr>
          <p:nvPr/>
        </p:nvSpPr>
        <p:spPr bwMode="auto">
          <a:xfrm>
            <a:off x="3493218" y="4316718"/>
            <a:ext cx="381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tailEnd type="triangle" w="med" len="med"/>
          </a:ln>
          <a:effectLst/>
        </p:spPr>
        <p:txBody>
          <a:bodyPr wrap="none" lIns="45720" rIns="45720"/>
          <a:lstStyle/>
          <a:p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3902158" y="3884930"/>
            <a:ext cx="5147310" cy="425450"/>
          </a:xfrm>
          <a:prstGeom prst="rect">
            <a:avLst/>
          </a:prstGeom>
          <a:solidFill>
            <a:srgbClr val="F1C7C7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3902158" y="3459480"/>
            <a:ext cx="514731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3902158" y="4310380"/>
            <a:ext cx="5147310" cy="4254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3902158" y="3028315"/>
            <a:ext cx="5147310" cy="425450"/>
          </a:xfrm>
          <a:prstGeom prst="rect">
            <a:avLst/>
          </a:prstGeom>
          <a:solidFill>
            <a:srgbClr val="F1C7C7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3902158" y="2602865"/>
            <a:ext cx="5147310" cy="4254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6" name="Text Box 4"/>
          <p:cNvSpPr txBox="1">
            <a:spLocks noChangeArrowheads="1"/>
          </p:cNvSpPr>
          <p:nvPr/>
        </p:nvSpPr>
        <p:spPr bwMode="auto">
          <a:xfrm>
            <a:off x="4124055" y="1981200"/>
            <a:ext cx="1324402" cy="369332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i="1" dirty="0">
                <a:solidFill>
                  <a:srgbClr val="C00000"/>
                </a:solidFill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Process A</a:t>
            </a:r>
            <a:endParaRPr lang="en-US" sz="1800" i="1" dirty="0">
              <a:solidFill>
                <a:srgbClr val="C00000"/>
              </a:solidFill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7" name="Text Box 5"/>
          <p:cNvSpPr txBox="1">
            <a:spLocks noChangeArrowheads="1"/>
          </p:cNvSpPr>
          <p:nvPr/>
        </p:nvSpPr>
        <p:spPr bwMode="auto">
          <a:xfrm>
            <a:off x="5647047" y="1981200"/>
            <a:ext cx="1324402" cy="369332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i="1" dirty="0">
                <a:solidFill>
                  <a:srgbClr val="C00000"/>
                </a:solidFill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Process B</a:t>
            </a:r>
            <a:endParaRPr lang="en-US" sz="1800" i="1" dirty="0">
              <a:solidFill>
                <a:srgbClr val="C00000"/>
              </a:solidFill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8" name="Line 6"/>
          <p:cNvSpPr>
            <a:spLocks noChangeShapeType="1"/>
          </p:cNvSpPr>
          <p:nvPr/>
        </p:nvSpPr>
        <p:spPr bwMode="auto">
          <a:xfrm flipH="1">
            <a:off x="4677189" y="2606000"/>
            <a:ext cx="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9" name="Line 11"/>
          <p:cNvSpPr>
            <a:spLocks noChangeShapeType="1"/>
          </p:cNvSpPr>
          <p:nvPr/>
        </p:nvSpPr>
        <p:spPr bwMode="auto">
          <a:xfrm flipH="1">
            <a:off x="5502689" y="1981200"/>
            <a:ext cx="12700" cy="393192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0" name="Text Box 12"/>
          <p:cNvSpPr txBox="1">
            <a:spLocks noChangeArrowheads="1"/>
          </p:cNvSpPr>
          <p:nvPr/>
        </p:nvSpPr>
        <p:spPr bwMode="auto">
          <a:xfrm>
            <a:off x="6984469" y="2667000"/>
            <a:ext cx="2074607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用户代码（主程序）</a:t>
            </a: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1" name="Text Box 13"/>
          <p:cNvSpPr txBox="1">
            <a:spLocks noChangeArrowheads="1"/>
          </p:cNvSpPr>
          <p:nvPr/>
        </p:nvSpPr>
        <p:spPr bwMode="auto">
          <a:xfrm>
            <a:off x="6984470" y="3081338"/>
            <a:ext cx="1024639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内核代码</a:t>
            </a: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2" name="Text Box 14"/>
          <p:cNvSpPr txBox="1">
            <a:spLocks noChangeArrowheads="1"/>
          </p:cNvSpPr>
          <p:nvPr/>
        </p:nvSpPr>
        <p:spPr bwMode="auto">
          <a:xfrm>
            <a:off x="6984469" y="3494088"/>
            <a:ext cx="2074607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用户代码（主程序）</a:t>
            </a: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3" name="Text Box 15"/>
          <p:cNvSpPr txBox="1">
            <a:spLocks noChangeArrowheads="1"/>
          </p:cNvSpPr>
          <p:nvPr/>
        </p:nvSpPr>
        <p:spPr bwMode="auto">
          <a:xfrm>
            <a:off x="6967008" y="3930650"/>
            <a:ext cx="1024639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内核代码</a:t>
            </a: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4" name="Text Box 16"/>
          <p:cNvSpPr txBox="1">
            <a:spLocks noChangeArrowheads="1"/>
          </p:cNvSpPr>
          <p:nvPr/>
        </p:nvSpPr>
        <p:spPr bwMode="auto">
          <a:xfrm>
            <a:off x="6984470" y="4343400"/>
            <a:ext cx="2284600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用户代码（处理程序）</a:t>
            </a: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5" name="AutoShape 27"/>
          <p:cNvSpPr/>
          <p:nvPr/>
        </p:nvSpPr>
        <p:spPr bwMode="auto">
          <a:xfrm>
            <a:off x="9172989" y="3027143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6" name="Text Box 28"/>
          <p:cNvSpPr txBox="1">
            <a:spLocks noChangeArrowheads="1"/>
          </p:cNvSpPr>
          <p:nvPr/>
        </p:nvSpPr>
        <p:spPr bwMode="auto">
          <a:xfrm>
            <a:off x="9252364" y="3048366"/>
            <a:ext cx="1234633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上下文切换</a:t>
            </a: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7" name="AutoShape 29"/>
          <p:cNvSpPr/>
          <p:nvPr/>
        </p:nvSpPr>
        <p:spPr bwMode="auto">
          <a:xfrm>
            <a:off x="9172989" y="3896637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8" name="Text Box 30"/>
          <p:cNvSpPr txBox="1">
            <a:spLocks noChangeArrowheads="1"/>
          </p:cNvSpPr>
          <p:nvPr/>
        </p:nvSpPr>
        <p:spPr bwMode="auto">
          <a:xfrm>
            <a:off x="9252364" y="3917860"/>
            <a:ext cx="1234633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上下文切换</a:t>
            </a: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9" name="Line 6"/>
          <p:cNvSpPr>
            <a:spLocks noChangeShapeType="1"/>
          </p:cNvSpPr>
          <p:nvPr/>
        </p:nvSpPr>
        <p:spPr bwMode="auto">
          <a:xfrm flipH="1">
            <a:off x="4670839" y="4303776"/>
            <a:ext cx="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0" name="Line 6"/>
          <p:cNvSpPr>
            <a:spLocks noChangeShapeType="1"/>
          </p:cNvSpPr>
          <p:nvPr/>
        </p:nvSpPr>
        <p:spPr bwMode="auto">
          <a:xfrm flipH="1">
            <a:off x="6271039" y="3465576"/>
            <a:ext cx="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cxnSp>
        <p:nvCxnSpPr>
          <p:cNvPr id="61" name="Straight Arrow Connector 60"/>
          <p:cNvCxnSpPr>
            <a:stCxn id="48" idx="1"/>
            <a:endCxn id="60" idx="0"/>
          </p:cNvCxnSpPr>
          <p:nvPr/>
        </p:nvCxnSpPr>
        <p:spPr bwMode="auto">
          <a:xfrm rot="16200000" flipH="1">
            <a:off x="5254638" y="2449175"/>
            <a:ext cx="438952" cy="15938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</p:cxnSp>
      <p:cxnSp>
        <p:nvCxnSpPr>
          <p:cNvPr id="62" name="Straight Arrow Connector 61"/>
          <p:cNvCxnSpPr>
            <a:stCxn id="60" idx="1"/>
            <a:endCxn id="59" idx="0"/>
          </p:cNvCxnSpPr>
          <p:nvPr/>
        </p:nvCxnSpPr>
        <p:spPr bwMode="auto">
          <a:xfrm rot="16200000" flipH="1" flipV="1">
            <a:off x="5262151" y="3294888"/>
            <a:ext cx="417576" cy="16002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</p:cxnSp>
      <p:sp>
        <p:nvSpPr>
          <p:cNvPr id="31" name="Line 6"/>
          <p:cNvSpPr>
            <a:spLocks noChangeShapeType="1"/>
          </p:cNvSpPr>
          <p:nvPr/>
        </p:nvSpPr>
        <p:spPr bwMode="auto">
          <a:xfrm flipH="1">
            <a:off x="4669288" y="4724400"/>
            <a:ext cx="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2" name="Line 6"/>
          <p:cNvSpPr>
            <a:spLocks noChangeShapeType="1"/>
          </p:cNvSpPr>
          <p:nvPr/>
        </p:nvSpPr>
        <p:spPr bwMode="auto">
          <a:xfrm flipH="1">
            <a:off x="4669288" y="5141976"/>
            <a:ext cx="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3" name="Text Box 15"/>
          <p:cNvSpPr txBox="1">
            <a:spLocks noChangeArrowheads="1"/>
          </p:cNvSpPr>
          <p:nvPr/>
        </p:nvSpPr>
        <p:spPr bwMode="auto">
          <a:xfrm>
            <a:off x="6969560" y="4766846"/>
            <a:ext cx="1024639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内核代码</a:t>
            </a: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4" name="Text Box 14"/>
          <p:cNvSpPr txBox="1">
            <a:spLocks noChangeArrowheads="1"/>
          </p:cNvSpPr>
          <p:nvPr/>
        </p:nvSpPr>
        <p:spPr bwMode="auto">
          <a:xfrm>
            <a:off x="6986702" y="5181600"/>
            <a:ext cx="2074607" cy="338554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用户代码（主程序）</a:t>
            </a: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7" name="Text Box 36"/>
          <p:cNvSpPr txBox="1">
            <a:spLocks noChangeArrowheads="1"/>
          </p:cNvSpPr>
          <p:nvPr/>
        </p:nvSpPr>
        <p:spPr bwMode="auto">
          <a:xfrm>
            <a:off x="4109358" y="2709446"/>
            <a:ext cx="505908" cy="338554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sz="1600" baseline="-250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curr</a:t>
            </a:r>
            <a:endParaRPr lang="en-US" sz="1600" baseline="-250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4102818" y="5071646"/>
            <a:ext cx="505908" cy="338554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sz="1600" baseline="-250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next</a:t>
            </a:r>
            <a:endParaRPr lang="en-US" sz="1600" baseline="-250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9" name="Oval 38"/>
          <p:cNvSpPr/>
          <p:nvPr/>
        </p:nvSpPr>
        <p:spPr bwMode="auto">
          <a:xfrm>
            <a:off x="4636218" y="2977086"/>
            <a:ext cx="91440" cy="9144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0" name="Oval 39"/>
          <p:cNvSpPr/>
          <p:nvPr/>
        </p:nvSpPr>
        <p:spPr bwMode="auto">
          <a:xfrm>
            <a:off x="4620978" y="5122652"/>
            <a:ext cx="91440" cy="9144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嵌套信号处理程序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信号处理程序可以被其他信号处理程序中断</a:t>
            </a:r>
            <a:endParaRPr lang="zh-CN" altLang="en-US" dirty="0"/>
          </a:p>
        </p:txBody>
      </p:sp>
      <p:sp>
        <p:nvSpPr>
          <p:cNvPr id="4" name="Line 93"/>
          <p:cNvSpPr>
            <a:spLocks noChangeShapeType="1"/>
          </p:cNvSpPr>
          <p:nvPr/>
        </p:nvSpPr>
        <p:spPr bwMode="auto">
          <a:xfrm>
            <a:off x="4368290" y="2822565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6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5" name="Line 94"/>
          <p:cNvSpPr>
            <a:spLocks noChangeShapeType="1"/>
          </p:cNvSpPr>
          <p:nvPr/>
        </p:nvSpPr>
        <p:spPr bwMode="auto">
          <a:xfrm>
            <a:off x="4374640" y="3427403"/>
            <a:ext cx="240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6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" name="Line 96"/>
          <p:cNvSpPr>
            <a:spLocks noChangeShapeType="1"/>
          </p:cNvSpPr>
          <p:nvPr/>
        </p:nvSpPr>
        <p:spPr bwMode="auto">
          <a:xfrm flipH="1" flipV="1">
            <a:off x="6722533" y="4116925"/>
            <a:ext cx="2355340" cy="5317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6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7" name="Line 97"/>
          <p:cNvSpPr>
            <a:spLocks noChangeShapeType="1"/>
          </p:cNvSpPr>
          <p:nvPr/>
        </p:nvSpPr>
        <p:spPr bwMode="auto">
          <a:xfrm>
            <a:off x="4369878" y="4108440"/>
            <a:ext cx="3175" cy="876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6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" name="Rectangle 98"/>
          <p:cNvSpPr>
            <a:spLocks noChangeArrowheads="1"/>
          </p:cNvSpPr>
          <p:nvPr/>
        </p:nvSpPr>
        <p:spPr bwMode="auto">
          <a:xfrm>
            <a:off x="4419600" y="2943225"/>
            <a:ext cx="2786380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(2)</a:t>
            </a:r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控制转移到处理程序</a:t>
            </a:r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S</a:t>
            </a:r>
            <a:endParaRPr lang="en-US" sz="1600" i="1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9" name="Rectangle 99"/>
          <p:cNvSpPr>
            <a:spLocks noChangeArrowheads="1"/>
          </p:cNvSpPr>
          <p:nvPr/>
        </p:nvSpPr>
        <p:spPr bwMode="auto">
          <a:xfrm>
            <a:off x="3964940" y="2280285"/>
            <a:ext cx="813435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主程序</a:t>
            </a:r>
            <a:endParaRPr lang="zh-CN" altLang="en-US" sz="1600" i="1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0" name="Rectangle 100"/>
          <p:cNvSpPr>
            <a:spLocks noChangeArrowheads="1"/>
          </p:cNvSpPr>
          <p:nvPr/>
        </p:nvSpPr>
        <p:spPr bwMode="auto">
          <a:xfrm>
            <a:off x="7136130" y="4572000"/>
            <a:ext cx="1845945" cy="8284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(5)</a:t>
            </a:r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处理程序</a:t>
            </a:r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T </a:t>
            </a:r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返回到处理程序</a:t>
            </a:r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S</a:t>
            </a:r>
            <a:endParaRPr lang="en-US" sz="1600" i="1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1" name="Text Box 101"/>
          <p:cNvSpPr txBox="1">
            <a:spLocks noChangeArrowheads="1"/>
          </p:cNvSpPr>
          <p:nvPr/>
        </p:nvSpPr>
        <p:spPr bwMode="auto">
          <a:xfrm>
            <a:off x="3788852" y="3144828"/>
            <a:ext cx="598241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600" i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sz="1600" i="1" baseline="-2500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curr</a:t>
            </a:r>
            <a:endParaRPr lang="en-US" sz="1600" i="1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2" name="Text Box 102"/>
          <p:cNvSpPr txBox="1">
            <a:spLocks noChangeArrowheads="1"/>
          </p:cNvSpPr>
          <p:nvPr/>
        </p:nvSpPr>
        <p:spPr bwMode="auto">
          <a:xfrm>
            <a:off x="3788853" y="3849678"/>
            <a:ext cx="598241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600" i="1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sz="1600" i="1" baseline="-250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next</a:t>
            </a:r>
            <a:endParaRPr lang="en-US" sz="1600" i="1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3" name="Rectangle 105"/>
          <p:cNvSpPr>
            <a:spLocks noChangeArrowheads="1"/>
          </p:cNvSpPr>
          <p:nvPr/>
        </p:nvSpPr>
        <p:spPr bwMode="auto">
          <a:xfrm>
            <a:off x="1723390" y="3105150"/>
            <a:ext cx="2071370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(1)</a:t>
            </a:r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程序捕获信号</a:t>
            </a:r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s</a:t>
            </a:r>
            <a:endParaRPr lang="en-US" sz="1600" i="1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4" name="Rectangle 99"/>
          <p:cNvSpPr>
            <a:spLocks noChangeArrowheads="1"/>
          </p:cNvSpPr>
          <p:nvPr/>
        </p:nvSpPr>
        <p:spPr bwMode="auto">
          <a:xfrm>
            <a:off x="6119290" y="2286001"/>
            <a:ext cx="1280576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处理程序</a:t>
            </a:r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S</a:t>
            </a:r>
            <a:endParaRPr lang="en-US" sz="1600" i="1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5" name="Rectangle 99"/>
          <p:cNvSpPr>
            <a:spLocks noChangeArrowheads="1"/>
          </p:cNvSpPr>
          <p:nvPr/>
        </p:nvSpPr>
        <p:spPr bwMode="auto">
          <a:xfrm>
            <a:off x="8473024" y="2286001"/>
            <a:ext cx="1280576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处理程序</a:t>
            </a:r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T</a:t>
            </a:r>
            <a:endParaRPr lang="en-US" sz="1600" i="1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6" name="Rectangle 105"/>
          <p:cNvSpPr>
            <a:spLocks noChangeArrowheads="1"/>
          </p:cNvSpPr>
          <p:nvPr/>
        </p:nvSpPr>
        <p:spPr bwMode="auto">
          <a:xfrm>
            <a:off x="4721860" y="3853180"/>
            <a:ext cx="2033905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(3)</a:t>
            </a:r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程序捕获信号</a:t>
            </a:r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t</a:t>
            </a:r>
            <a:endParaRPr lang="en-US" sz="1600" i="1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7" name="Line 93"/>
          <p:cNvSpPr>
            <a:spLocks noChangeShapeType="1"/>
          </p:cNvSpPr>
          <p:nvPr/>
        </p:nvSpPr>
        <p:spPr bwMode="auto">
          <a:xfrm>
            <a:off x="6755890" y="3432165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6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8" name="Line 94"/>
          <p:cNvSpPr>
            <a:spLocks noChangeShapeType="1"/>
          </p:cNvSpPr>
          <p:nvPr/>
        </p:nvSpPr>
        <p:spPr bwMode="auto">
          <a:xfrm>
            <a:off x="6749540" y="4024303"/>
            <a:ext cx="240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6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9" name="Rectangle 98"/>
          <p:cNvSpPr>
            <a:spLocks noChangeArrowheads="1"/>
          </p:cNvSpPr>
          <p:nvPr/>
        </p:nvSpPr>
        <p:spPr bwMode="auto">
          <a:xfrm>
            <a:off x="6881495" y="3505200"/>
            <a:ext cx="2649220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(4)</a:t>
            </a:r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控制转移到处理程序</a:t>
            </a:r>
            <a:r>
              <a:rPr lang="en-US" altLang="zh-CN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T</a:t>
            </a:r>
            <a:endParaRPr lang="en-US" sz="1600" i="1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0" name="Line 93"/>
          <p:cNvSpPr>
            <a:spLocks noChangeShapeType="1"/>
          </p:cNvSpPr>
          <p:nvPr/>
        </p:nvSpPr>
        <p:spPr bwMode="auto">
          <a:xfrm>
            <a:off x="9130790" y="4079865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6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1" name="Line 93"/>
          <p:cNvSpPr>
            <a:spLocks noChangeShapeType="1"/>
          </p:cNvSpPr>
          <p:nvPr/>
        </p:nvSpPr>
        <p:spPr bwMode="auto">
          <a:xfrm>
            <a:off x="6755890" y="4206865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6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2" name="Line 96"/>
          <p:cNvSpPr>
            <a:spLocks noChangeShapeType="1"/>
          </p:cNvSpPr>
          <p:nvPr/>
        </p:nvSpPr>
        <p:spPr bwMode="auto">
          <a:xfrm flipH="1" flipV="1">
            <a:off x="4360333" y="4040724"/>
            <a:ext cx="2342640" cy="7095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6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3" name="Rectangle 100"/>
          <p:cNvSpPr>
            <a:spLocks noChangeArrowheads="1"/>
          </p:cNvSpPr>
          <p:nvPr/>
        </p:nvSpPr>
        <p:spPr bwMode="auto">
          <a:xfrm>
            <a:off x="4800600" y="4699000"/>
            <a:ext cx="1574800" cy="57975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(6)</a:t>
            </a:r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处理程序</a:t>
            </a:r>
            <a:r>
              <a:rPr lang="en-US" altLang="zh-CN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S </a:t>
            </a:r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返回到</a:t>
            </a:r>
            <a:r>
              <a:rPr lang="zh-CN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  <a:sym typeface="+mn-ea"/>
              </a:rPr>
              <a:t>主程序</a:t>
            </a:r>
            <a:endParaRPr lang="zh-CN" sz="1600" i="1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4" name="Rectangle 105"/>
          <p:cNvSpPr>
            <a:spLocks noChangeArrowheads="1"/>
          </p:cNvSpPr>
          <p:nvPr/>
        </p:nvSpPr>
        <p:spPr bwMode="auto">
          <a:xfrm>
            <a:off x="1723390" y="3930650"/>
            <a:ext cx="2071370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(7)</a:t>
            </a:r>
            <a:r>
              <a:rPr lang="zh-CN" altLang="en-US" sz="1600" i="1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主程序继续执行</a:t>
            </a:r>
            <a:endParaRPr lang="zh-CN" altLang="en-US" sz="1600" i="1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安全的信号处理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25" y="1362075"/>
            <a:ext cx="10953975" cy="4972050"/>
          </a:xfrm>
        </p:spPr>
        <p:txBody>
          <a:bodyPr/>
          <a:lstStyle/>
          <a:p>
            <a:r>
              <a:rPr lang="zh-CN" altLang="en-US" sz="2800" dirty="0">
                <a:sym typeface="+mn-ea"/>
              </a:rPr>
              <a:t>信号处理程序</a:t>
            </a:r>
            <a:r>
              <a:rPr lang="en-US" altLang="zh-CN" sz="2800" dirty="0">
                <a:sym typeface="+mn-ea"/>
              </a:rPr>
              <a:t>handler</a:t>
            </a:r>
            <a:r>
              <a:rPr lang="zh-CN" altLang="en-US" sz="2800" dirty="0">
                <a:sym typeface="+mn-ea"/>
              </a:rPr>
              <a:t>很麻烦，因为</a:t>
            </a:r>
            <a:endParaRPr lang="zh-CN" altLang="en-US" sz="2800" dirty="0">
              <a:sym typeface="+mn-ea"/>
            </a:endParaRPr>
          </a:p>
          <a:p>
            <a:pPr lvl="1" algn="l"/>
            <a:r>
              <a:rPr lang="en-US" altLang="zh-CN" sz="2330" dirty="0">
                <a:cs typeface="+mn-ea"/>
              </a:rPr>
              <a:t>handler</a:t>
            </a:r>
            <a:r>
              <a:rPr lang="zh-CN" altLang="en-US" sz="2330" dirty="0">
                <a:cs typeface="+mn-ea"/>
              </a:rPr>
              <a:t>和</a:t>
            </a:r>
            <a:r>
              <a:rPr lang="en-US" altLang="zh-CN" sz="2330" dirty="0">
                <a:cs typeface="+mn-ea"/>
              </a:rPr>
              <a:t>主函数</a:t>
            </a:r>
            <a:r>
              <a:rPr lang="zh-CN" altLang="en-US" sz="2330" dirty="0">
                <a:cs typeface="+mn-ea"/>
              </a:rPr>
              <a:t>存在</a:t>
            </a:r>
            <a:r>
              <a:rPr lang="en-US" altLang="zh-CN" sz="2330" dirty="0">
                <a:cs typeface="+mn-ea"/>
              </a:rPr>
              <a:t>并发</a:t>
            </a:r>
            <a:endParaRPr lang="en-US" altLang="zh-CN" sz="2330" dirty="0">
              <a:cs typeface="+mn-ea"/>
            </a:endParaRPr>
          </a:p>
          <a:p>
            <a:pPr lvl="1"/>
            <a:r>
              <a:rPr lang="en-US" altLang="zh-CN" sz="2330" dirty="0"/>
              <a:t>handler</a:t>
            </a:r>
            <a:r>
              <a:rPr lang="zh-CN" altLang="en-US" sz="2330" dirty="0"/>
              <a:t>之间</a:t>
            </a:r>
            <a:r>
              <a:rPr lang="zh-CN" altLang="en-US" sz="2330" dirty="0"/>
              <a:t>存在嵌套</a:t>
            </a:r>
            <a:r>
              <a:rPr lang="zh-CN" altLang="en-US" sz="2330" dirty="0"/>
              <a:t>并发</a:t>
            </a:r>
            <a:endParaRPr lang="zh-CN" altLang="en-US" sz="2330" dirty="0"/>
          </a:p>
          <a:p>
            <a:pPr marL="457200" lvl="1" indent="0">
              <a:buNone/>
            </a:pPr>
            <a:endParaRPr lang="zh-CN" altLang="en-US" sz="2330" dirty="0"/>
          </a:p>
          <a:p>
            <a:r>
              <a:rPr lang="zh-CN" altLang="en-US" sz="2800" dirty="0"/>
              <a:t>如果这些并发的代码</a:t>
            </a:r>
            <a:r>
              <a:rPr lang="en-US" altLang="zh-CN" sz="2800" dirty="0"/>
              <a:t>，</a:t>
            </a:r>
            <a:r>
              <a:rPr lang="zh-CN" altLang="en-US" sz="2800" dirty="0"/>
              <a:t>共享相同的全局数据结构</a:t>
            </a:r>
            <a:endParaRPr lang="zh-CN" altLang="en-US" sz="2800" dirty="0"/>
          </a:p>
          <a:p>
            <a:pPr lvl="1"/>
            <a:r>
              <a:rPr lang="zh-CN" altLang="en-US" sz="2400" dirty="0">
                <a:latin typeface="仿宋" panose="02010609060101010101" pitchFamily="49" charset="-122"/>
              </a:rPr>
              <a:t>共享的数据结构可能被破坏。</a:t>
            </a:r>
            <a:endParaRPr lang="en-US" sz="2400" dirty="0">
              <a:latin typeface="仿宋" panose="02010609060101010101" pitchFamily="49" charset="-122"/>
            </a:endParaRPr>
          </a:p>
          <a:p>
            <a:endParaRPr lang="en-US" sz="2800" dirty="0"/>
          </a:p>
          <a:p>
            <a:r>
              <a:rPr lang="zh-CN" altLang="en-US" sz="2800" dirty="0"/>
              <a:t>以下是一些帮助你避免问题的原则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并发对共享变量的破坏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并发的问题——共享变量</a:t>
            </a:r>
            <a:endParaRPr lang="zh-CN" altLang="en-US"/>
          </a:p>
          <a:p>
            <a:pPr lvl="1"/>
            <a:r>
              <a:rPr lang="zh-CN" altLang="en-US"/>
              <a:t>两个并发线程：下列</a:t>
            </a:r>
            <a:r>
              <a:rPr lang="en-US" altLang="zh-CN"/>
              <a:t>2</a:t>
            </a:r>
            <a:r>
              <a:rPr lang="zh-CN" altLang="en-US"/>
              <a:t>种情形，谁会开心？</a:t>
            </a:r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585" y="2421255"/>
            <a:ext cx="4100830" cy="19253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0" y="4386580"/>
            <a:ext cx="4100830" cy="19253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325" y="2748280"/>
            <a:ext cx="4620895" cy="30200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149715" y="2853055"/>
            <a:ext cx="1374775" cy="504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latin typeface="Arial Bold" panose="020B0704020202020204" charset="0"/>
                <a:cs typeface="Arial Bold" panose="020B0704020202020204" charset="0"/>
              </a:rPr>
              <a:t>余额：</a:t>
            </a:r>
            <a:r>
              <a:rPr lang="en-US" altLang="zh-CN" sz="1600" b="1">
                <a:latin typeface="Arial Bold" panose="020B0704020202020204" charset="0"/>
                <a:cs typeface="Arial Bold" panose="020B0704020202020204" charset="0"/>
              </a:rPr>
              <a:t>100</a:t>
            </a:r>
            <a:endParaRPr lang="en-US" altLang="zh-CN" sz="1600" b="1">
              <a:latin typeface="Arial Bold" panose="020B0704020202020204" charset="0"/>
              <a:cs typeface="Arial Bold" panose="020B0704020202020204" charset="0"/>
            </a:endParaRPr>
          </a:p>
          <a:p>
            <a:r>
              <a:rPr lang="en-US" altLang="zh-CN" sz="1600" b="1">
                <a:latin typeface="Arial Bold" panose="020B0704020202020204" charset="0"/>
                <a:cs typeface="Arial Bold" panose="020B0704020202020204" charset="0"/>
              </a:rPr>
              <a:t>100-10 = 90</a:t>
            </a:r>
            <a:endParaRPr lang="en-US" altLang="zh-CN" sz="1600" b="1">
              <a:latin typeface="Arial Bold" panose="020B0704020202020204" charset="0"/>
              <a:cs typeface="Arial Bold" panose="020B0704020202020204" charset="0"/>
            </a:endParaRPr>
          </a:p>
          <a:p>
            <a:endParaRPr lang="en-US" altLang="zh-CN" sz="1600" b="1">
              <a:latin typeface="Arial Bold" panose="020B0704020202020204" charset="0"/>
              <a:cs typeface="Arial Bold" panose="020B070402020202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9715" y="3813175"/>
            <a:ext cx="1626870" cy="968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latin typeface="Arial Bold" panose="020B0704020202020204" charset="0"/>
                <a:cs typeface="Arial Bold" panose="020B0704020202020204" charset="0"/>
                <a:sym typeface="+mn-ea"/>
              </a:rPr>
              <a:t>读余额：</a:t>
            </a:r>
            <a:r>
              <a:rPr lang="en-US" altLang="zh-CN" sz="1600" b="1">
                <a:latin typeface="Arial Bold" panose="020B0704020202020204" charset="0"/>
                <a:cs typeface="Arial Bold" panose="020B0704020202020204" charset="0"/>
              </a:rPr>
              <a:t>100</a:t>
            </a:r>
            <a:endParaRPr lang="en-US" altLang="zh-CN" sz="1600" b="1">
              <a:latin typeface="Arial Bold" panose="020B0704020202020204" charset="0"/>
              <a:cs typeface="Arial Bold" panose="020B0704020202020204" charset="0"/>
            </a:endParaRPr>
          </a:p>
          <a:p>
            <a:r>
              <a:rPr lang="en-US" altLang="zh-CN" sz="1600" b="1">
                <a:latin typeface="Arial Bold" panose="020B0704020202020204" charset="0"/>
                <a:cs typeface="Arial Bold" panose="020B0704020202020204" charset="0"/>
              </a:rPr>
              <a:t>100-10 = 90</a:t>
            </a:r>
            <a:endParaRPr lang="en-US" altLang="zh-CN" sz="1600" b="1">
              <a:latin typeface="Arial Bold" panose="020B0704020202020204" charset="0"/>
              <a:cs typeface="Arial Bold" panose="020B0704020202020204" charset="0"/>
            </a:endParaRPr>
          </a:p>
          <a:p>
            <a:r>
              <a:rPr lang="zh-CN" altLang="en-US" sz="1600" b="1">
                <a:latin typeface="Arial Bold" panose="020B0704020202020204" charset="0"/>
                <a:cs typeface="Arial Bold" panose="020B0704020202020204" charset="0"/>
              </a:rPr>
              <a:t>写余额：</a:t>
            </a:r>
            <a:r>
              <a:rPr lang="en-US" altLang="zh-CN" sz="1600" b="1">
                <a:latin typeface="Arial Bold" panose="020B0704020202020204" charset="0"/>
                <a:cs typeface="Arial Bold" panose="020B0704020202020204" charset="0"/>
              </a:rPr>
              <a:t>90</a:t>
            </a:r>
            <a:endParaRPr lang="en-US" altLang="zh-CN" sz="1600" b="1">
              <a:latin typeface="Arial Bold" panose="020B0704020202020204" charset="0"/>
              <a:cs typeface="Arial Bold" panose="020B0704020202020204" charset="0"/>
            </a:endParaRPr>
          </a:p>
          <a:p>
            <a:r>
              <a:rPr lang="zh-CN" altLang="en-US" sz="1600" b="1">
                <a:latin typeface="Arial Bold" panose="020B0704020202020204" charset="0"/>
                <a:cs typeface="Arial Bold" panose="020B0704020202020204" charset="0"/>
              </a:rPr>
              <a:t>收现金：</a:t>
            </a:r>
            <a:r>
              <a:rPr lang="en-US" altLang="zh-CN" sz="1600" b="1">
                <a:latin typeface="Arial Bold" panose="020B0704020202020204" charset="0"/>
                <a:cs typeface="Arial Bold" panose="020B0704020202020204" charset="0"/>
              </a:rPr>
              <a:t>10</a:t>
            </a:r>
            <a:endParaRPr lang="en-US" altLang="zh-CN" sz="1600" b="1">
              <a:latin typeface="Arial Bold" panose="020B0704020202020204" charset="0"/>
              <a:cs typeface="Arial Bold" panose="020B0704020202020204" charset="0"/>
            </a:endParaRPr>
          </a:p>
          <a:p>
            <a:endParaRPr lang="en-US" altLang="zh-CN" sz="1600" b="1">
              <a:latin typeface="Arial Bold" panose="020B0704020202020204" charset="0"/>
              <a:cs typeface="Arial Bold" panose="020B070402020202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50350" y="5123815"/>
            <a:ext cx="1462405" cy="504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latin typeface="Arial Bold" panose="020B0704020202020204" charset="0"/>
                <a:cs typeface="Arial Bold" panose="020B0704020202020204" charset="0"/>
                <a:sym typeface="+mn-ea"/>
              </a:rPr>
              <a:t>写余额：</a:t>
            </a:r>
            <a:r>
              <a:rPr lang="en-US" altLang="zh-CN" sz="1600" b="1">
                <a:latin typeface="Arial Bold" panose="020B0704020202020204" charset="0"/>
                <a:cs typeface="Arial Bold" panose="020B0704020202020204" charset="0"/>
                <a:sym typeface="+mn-ea"/>
              </a:rPr>
              <a:t>90</a:t>
            </a:r>
            <a:endParaRPr lang="en-US" altLang="zh-CN" sz="1600" b="1">
              <a:latin typeface="Arial Bold" panose="020B0704020202020204" charset="0"/>
              <a:cs typeface="Arial Bold" panose="020B0704020202020204" charset="0"/>
            </a:endParaRPr>
          </a:p>
          <a:p>
            <a:r>
              <a:rPr lang="zh-CN" altLang="en-US" sz="1600" b="1">
                <a:latin typeface="Arial Bold" panose="020B0704020202020204" charset="0"/>
                <a:cs typeface="Arial Bold" panose="020B0704020202020204" charset="0"/>
              </a:rPr>
              <a:t>收现金：</a:t>
            </a:r>
            <a:r>
              <a:rPr lang="en-US" altLang="zh-CN" sz="1600" b="1">
                <a:latin typeface="Arial Bold" panose="020B0704020202020204" charset="0"/>
                <a:cs typeface="Arial Bold" panose="020B0704020202020204" charset="0"/>
              </a:rPr>
              <a:t>10</a:t>
            </a:r>
            <a:endParaRPr lang="en-US" altLang="zh-CN" sz="1600" b="1">
              <a:latin typeface="Arial Bold" panose="020B0704020202020204" charset="0"/>
              <a:cs typeface="Arial Bold" panose="020B0704020202020204" charset="0"/>
            </a:endParaRPr>
          </a:p>
          <a:p>
            <a:endParaRPr lang="en-US" altLang="zh-CN" sz="1600" b="1">
              <a:latin typeface="Arial Bold" panose="020B0704020202020204" charset="0"/>
              <a:cs typeface="Arial Bold" panose="020B070402020202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71845" y="5890895"/>
            <a:ext cx="52120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FF0000"/>
                </a:solidFill>
                <a:sym typeface="+mn-ea"/>
              </a:rPr>
              <a:t>问题：没有确保“读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-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计算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-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写回”的原子性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!</a:t>
            </a:r>
            <a:endParaRPr lang="en-US" altLang="zh-CN" sz="20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安全编程原则</a:t>
            </a:r>
            <a:r>
              <a:rPr lang="en-US" altLang="zh-CN"/>
              <a:t>1：handler</a:t>
            </a:r>
            <a:r>
              <a:rPr lang="zh-CN" altLang="en-US"/>
              <a:t>尽可能简单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5096510" cy="4972050"/>
          </a:xfrm>
        </p:spPr>
        <p:txBody>
          <a:bodyPr/>
          <a:p>
            <a:r>
              <a:rPr lang="en-US" altLang="zh-CN"/>
              <a:t>handler</a:t>
            </a:r>
            <a:r>
              <a:rPr lang="zh-CN" altLang="en-US"/>
              <a:t>尽量简单</a:t>
            </a:r>
            <a:r>
              <a:rPr lang="en-US" altLang="zh-CN"/>
              <a:t>、</a:t>
            </a:r>
            <a:r>
              <a:rPr lang="zh-CN" altLang="en-US"/>
              <a:t>可控</a:t>
            </a:r>
            <a:r>
              <a:rPr lang="en-US" altLang="zh-CN"/>
              <a:t>、</a:t>
            </a:r>
            <a:r>
              <a:rPr lang="zh-CN" altLang="en-US"/>
              <a:t>安全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625465" y="1985645"/>
            <a:ext cx="6195695" cy="49390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Autofit/>
          </a:bodyPr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volatile </a:t>
            </a:r>
            <a:r>
              <a:rPr lang="en-US" altLang="en-US" sz="1800" dirty="0" smtClean="0">
                <a:latin typeface="Calibri" panose="020F0502020204030204" pitchFamily="34" charset="0"/>
                <a:sym typeface="+mn-ea"/>
              </a:rPr>
              <a:t>sig_atomic_t received_sigusr1</a:t>
            </a:r>
            <a:r>
              <a:rPr lang="en-US" altLang="en-US" sz="1800" dirty="0" smtClean="0">
                <a:latin typeface="Calibri" panose="020F0502020204030204" pitchFamily="34" charset="0"/>
              </a:rPr>
              <a:t> = 0;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void handler(int sig) {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received_sigusr1 = 1;   // </a:t>
            </a:r>
            <a:r>
              <a:rPr lang="zh-CN" altLang="en-US" sz="1800" dirty="0" smtClean="0">
                <a:latin typeface="Calibri" panose="020F0502020204030204" pitchFamily="34" charset="0"/>
              </a:rPr>
              <a:t>唯一操作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}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int main() {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// </a:t>
            </a:r>
            <a:r>
              <a:rPr lang="zh-CN" altLang="en-US" sz="1800" dirty="0" smtClean="0">
                <a:latin typeface="Calibri" panose="020F0502020204030204" pitchFamily="34" charset="0"/>
              </a:rPr>
              <a:t>在修改共享数据前屏蔽信号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sigprocmask(SIG_BLOCK, &amp;set, NULL);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modify_shared_data();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sigprocmask(SIG_UNBLOCK, &amp;set, NULL);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// </a:t>
            </a:r>
            <a:r>
              <a:rPr lang="zh-CN" altLang="en-US" sz="1800" dirty="0" smtClean="0">
                <a:latin typeface="Calibri" panose="020F0502020204030204" pitchFamily="34" charset="0"/>
              </a:rPr>
              <a:t>主程序循环检查标志，而不是</a:t>
            </a:r>
            <a:r>
              <a:rPr lang="en-US" altLang="en-US" sz="1800" dirty="0" smtClean="0">
                <a:latin typeface="Calibri" panose="020F0502020204030204" pitchFamily="34" charset="0"/>
              </a:rPr>
              <a:t> handler </a:t>
            </a:r>
            <a:r>
              <a:rPr lang="zh-CN" altLang="en-US" sz="1800" dirty="0" smtClean="0">
                <a:latin typeface="Calibri" panose="020F0502020204030204" pitchFamily="34" charset="0"/>
              </a:rPr>
              <a:t>主动做复杂事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if (received_sigusr1) {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    // </a:t>
            </a:r>
            <a:r>
              <a:rPr lang="zh-CN" altLang="en-US" sz="1800" dirty="0" smtClean="0">
                <a:latin typeface="Calibri" panose="020F0502020204030204" pitchFamily="34" charset="0"/>
              </a:rPr>
              <a:t>在这里安全地响应信号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}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}</a:t>
            </a:r>
            <a:endParaRPr lang="en-US" altLang="en-US" sz="1800" dirty="0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安全编程原则</a:t>
            </a:r>
            <a:r>
              <a:rPr lang="en-US" altLang="zh-CN"/>
              <a:t>1：handler</a:t>
            </a:r>
            <a:r>
              <a:rPr lang="zh-CN" altLang="en-US"/>
              <a:t>尽可能简单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6090285" cy="4972050"/>
          </a:xfrm>
        </p:spPr>
        <p:txBody>
          <a:bodyPr/>
          <a:p>
            <a:r>
              <a:rPr lang="zh-CN" altLang="en-US"/>
              <a:t>思路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handler</a:t>
            </a:r>
            <a:r>
              <a:rPr lang="zh-CN" altLang="en-US">
                <a:sym typeface="+mn-ea"/>
              </a:rPr>
              <a:t>中只是记录一个全局的标记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并通过该标记通知主函数</a:t>
            </a:r>
            <a:endParaRPr lang="zh-CN" altLang="en-US"/>
          </a:p>
          <a:p>
            <a:pPr lvl="1"/>
            <a:r>
              <a:rPr lang="zh-CN" altLang="en-US"/>
              <a:t>将对信号的处理工作放在主函数</a:t>
            </a:r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zh-CN" altLang="en-US"/>
              <a:t>好</a:t>
            </a:r>
            <a:r>
              <a:rPr lang="zh-CN" altLang="en-US"/>
              <a:t>处</a:t>
            </a:r>
            <a:endParaRPr lang="zh-CN" altLang="en-US"/>
          </a:p>
          <a:p>
            <a:pPr lvl="1"/>
            <a:r>
              <a:rPr lang="en-US" altLang="zh-CN"/>
              <a:t>handler</a:t>
            </a:r>
            <a:r>
              <a:rPr lang="zh-CN" altLang="en-US"/>
              <a:t>代码尽可能简单</a:t>
            </a:r>
            <a:r>
              <a:rPr lang="en-US" altLang="zh-CN"/>
              <a:t>、</a:t>
            </a:r>
            <a:r>
              <a:rPr lang="zh-CN" altLang="en-US"/>
              <a:t>可控</a:t>
            </a:r>
            <a:endParaRPr lang="zh-CN" altLang="en-US"/>
          </a:p>
          <a:p>
            <a:pPr lvl="1"/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0" y="1985645"/>
            <a:ext cx="4963160" cy="377698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Autofit/>
          </a:bodyPr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int flag = 0;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void handler(int sig) {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flag = 1;   // </a:t>
            </a:r>
            <a:r>
              <a:rPr lang="zh-CN" altLang="en-US" sz="1800" dirty="0" smtClean="0">
                <a:latin typeface="Calibri" panose="020F0502020204030204" pitchFamily="34" charset="0"/>
              </a:rPr>
              <a:t>唯一操作</a:t>
            </a:r>
            <a:r>
              <a:rPr lang="en-US" altLang="zh-CN" sz="1800" dirty="0" smtClean="0">
                <a:latin typeface="Calibri" panose="020F0502020204030204" pitchFamily="34" charset="0"/>
              </a:rPr>
              <a:t>，</a:t>
            </a:r>
            <a:r>
              <a:rPr lang="zh-CN" altLang="en-US" sz="1800" dirty="0" smtClean="0">
                <a:latin typeface="Calibri" panose="020F0502020204030204" pitchFamily="34" charset="0"/>
                <a:sym typeface="+mn-ea"/>
              </a:rPr>
              <a:t>复杂任务交给主函数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}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int main() {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// </a:t>
            </a:r>
            <a:r>
              <a:rPr lang="zh-CN" altLang="en-US" sz="1800" dirty="0" smtClean="0">
                <a:latin typeface="Calibri" panose="020F0502020204030204" pitchFamily="34" charset="0"/>
              </a:rPr>
              <a:t>主程序循环检查标志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</a:t>
            </a:r>
            <a:r>
              <a:rPr lang="en-US" altLang="en-US" sz="1800" dirty="0" smtClean="0">
                <a:latin typeface="Calibri" panose="020F0502020204030204" pitchFamily="34" charset="0"/>
              </a:rPr>
              <a:t>while (flag) {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    // </a:t>
            </a:r>
            <a:r>
              <a:rPr lang="zh-CN" altLang="en-US" sz="1800" dirty="0" smtClean="0">
                <a:latin typeface="Calibri" panose="020F0502020204030204" pitchFamily="34" charset="0"/>
              </a:rPr>
              <a:t>在这里安全地响应信号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indent="457200" algn="l"/>
            <a:r>
              <a:rPr lang="en-US" altLang="zh-CN" sz="1800" dirty="0" smtClean="0">
                <a:latin typeface="Calibri" panose="020F0502020204030204" pitchFamily="34" charset="0"/>
              </a:rPr>
              <a:t>...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}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}</a:t>
            </a:r>
            <a:endParaRPr lang="en-US" altLang="en-US" sz="1800" dirty="0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安全编程原则</a:t>
            </a:r>
            <a:r>
              <a:rPr lang="en-US" altLang="zh-CN"/>
              <a:t>2：</a:t>
            </a:r>
            <a:r>
              <a:rPr lang="zh-CN" altLang="en-US"/>
              <a:t>共享变量访问的</a:t>
            </a:r>
            <a:r>
              <a:rPr lang="zh-CN" altLang="en-US"/>
              <a:t>原子性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5770880" cy="4972050"/>
          </a:xfrm>
        </p:spPr>
        <p:txBody>
          <a:bodyPr/>
          <a:p>
            <a:r>
              <a:rPr lang="zh-CN" altLang="en-US"/>
              <a:t>将共享变量声明成原子</a:t>
            </a:r>
            <a:r>
              <a:rPr lang="zh-CN" altLang="en-US"/>
              <a:t>变量</a:t>
            </a:r>
            <a:endParaRPr lang="zh-CN" altLang="en-US"/>
          </a:p>
          <a:p>
            <a:pPr lvl="1"/>
            <a:r>
              <a:rPr lang="en-US" altLang="en-US" dirty="0" smtClean="0">
                <a:sym typeface="+mn-ea"/>
              </a:rPr>
              <a:t>volatile：</a:t>
            </a:r>
            <a:r>
              <a:rPr lang="zh-CN" altLang="en-US" dirty="0" smtClean="0">
                <a:sym typeface="+mn-ea"/>
              </a:rPr>
              <a:t>避免编译器优化将</a:t>
            </a:r>
            <a:r>
              <a:rPr lang="en-US" altLang="zh-CN" dirty="0" smtClean="0">
                <a:sym typeface="+mn-ea"/>
              </a:rPr>
              <a:t>flag</a:t>
            </a:r>
            <a:r>
              <a:rPr lang="zh-CN" altLang="en-US" dirty="0" smtClean="0">
                <a:sym typeface="+mn-ea"/>
              </a:rPr>
              <a:t>放在寄存器</a:t>
            </a:r>
            <a:r>
              <a:rPr lang="en-US" altLang="zh-CN" dirty="0" smtClean="0">
                <a:sym typeface="+mn-ea"/>
              </a:rPr>
              <a:t>（</a:t>
            </a:r>
            <a:r>
              <a:rPr lang="zh-CN" altLang="en-US" dirty="0" smtClean="0">
                <a:sym typeface="+mn-ea"/>
              </a:rPr>
              <a:t>没法检查</a:t>
            </a:r>
            <a:r>
              <a:rPr lang="en-US" altLang="zh-CN" dirty="0" smtClean="0">
                <a:sym typeface="+mn-ea"/>
              </a:rPr>
              <a:t>handler</a:t>
            </a:r>
            <a:r>
              <a:rPr lang="zh-CN" altLang="en-US" dirty="0" smtClean="0">
                <a:sym typeface="+mn-ea"/>
              </a:rPr>
              <a:t>修改的新值</a:t>
            </a:r>
            <a:r>
              <a:rPr lang="en-US" altLang="zh-CN" dirty="0" smtClean="0">
                <a:sym typeface="+mn-ea"/>
              </a:rPr>
              <a:t>）</a:t>
            </a:r>
            <a:endParaRPr lang="en-US" altLang="zh-CN" dirty="0" smtClean="0">
              <a:sym typeface="+mn-ea"/>
            </a:endParaRPr>
          </a:p>
          <a:p>
            <a:pPr lvl="1"/>
            <a:r>
              <a:rPr lang="en-US" altLang="en-US" dirty="0" smtClean="0">
                <a:latin typeface="Calibri" panose="020F0502020204030204" pitchFamily="34" charset="0"/>
              </a:rPr>
              <a:t>sig_atomic_t：</a:t>
            </a:r>
            <a:r>
              <a:rPr lang="zh-CN" altLang="en-US" dirty="0" smtClean="0">
                <a:latin typeface="Calibri" panose="020F0502020204030204" pitchFamily="34" charset="0"/>
              </a:rPr>
              <a:t>确保</a:t>
            </a:r>
            <a:r>
              <a:rPr lang="en-US" altLang="zh-CN" dirty="0" smtClean="0">
                <a:latin typeface="Calibri" panose="020F0502020204030204" pitchFamily="34" charset="0"/>
              </a:rPr>
              <a:t>flag</a:t>
            </a:r>
            <a:r>
              <a:rPr lang="zh-CN" altLang="en-US" dirty="0" smtClean="0">
                <a:latin typeface="Calibri" panose="020F0502020204030204" pitchFamily="34" charset="0"/>
              </a:rPr>
              <a:t>的读</a:t>
            </a:r>
            <a:r>
              <a:rPr lang="en-US" altLang="zh-CN" dirty="0" smtClean="0">
                <a:latin typeface="Calibri" panose="020F0502020204030204" pitchFamily="34" charset="0"/>
              </a:rPr>
              <a:t>/</a:t>
            </a:r>
            <a:r>
              <a:rPr lang="zh-CN" altLang="en-US" dirty="0" smtClean="0">
                <a:latin typeface="Calibri" panose="020F0502020204030204" pitchFamily="34" charset="0"/>
              </a:rPr>
              <a:t>写是原子的</a:t>
            </a:r>
            <a:endParaRPr lang="en-US" altLang="en-US" dirty="0" smtClean="0">
              <a:latin typeface="Calibri" panose="020F0502020204030204" pitchFamily="34" charset="0"/>
            </a:endParaRPr>
          </a:p>
          <a:p>
            <a:pPr lvl="1"/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6553200" y="2286000"/>
            <a:ext cx="4963160" cy="377698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Autofit/>
          </a:bodyPr>
          <a:p>
            <a:pPr algn="l"/>
            <a:r>
              <a:rPr lang="en-US" altLang="en-US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volatile sig_atomic_t flag</a:t>
            </a:r>
            <a:r>
              <a:rPr lang="en-US" altLang="en-US" sz="1800" dirty="0" smtClean="0">
                <a:latin typeface="Calibri" panose="020F0502020204030204" pitchFamily="34" charset="0"/>
              </a:rPr>
              <a:t> = 0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void handler(int sig) {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flag = 1;   // </a:t>
            </a:r>
            <a:r>
              <a:rPr lang="zh-CN" altLang="en-US" sz="1800" dirty="0" smtClean="0">
                <a:latin typeface="Calibri" panose="020F0502020204030204" pitchFamily="34" charset="0"/>
              </a:rPr>
              <a:t>唯一操作</a:t>
            </a:r>
            <a:r>
              <a:rPr lang="en-US" altLang="zh-CN" sz="1800" dirty="0" smtClean="0">
                <a:latin typeface="Calibri" panose="020F0502020204030204" pitchFamily="34" charset="0"/>
              </a:rPr>
              <a:t>，</a:t>
            </a:r>
            <a:r>
              <a:rPr lang="zh-CN" altLang="en-US" sz="1800" dirty="0" smtClean="0">
                <a:latin typeface="Calibri" panose="020F0502020204030204" pitchFamily="34" charset="0"/>
                <a:sym typeface="+mn-ea"/>
              </a:rPr>
              <a:t>复杂任务交给主函数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}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int main() {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// </a:t>
            </a:r>
            <a:r>
              <a:rPr lang="zh-CN" altLang="en-US" sz="1800" dirty="0" smtClean="0">
                <a:latin typeface="Calibri" panose="020F0502020204030204" pitchFamily="34" charset="0"/>
              </a:rPr>
              <a:t>主程序循环检查标志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</a:t>
            </a:r>
            <a:r>
              <a:rPr lang="en-US" altLang="en-US" sz="1800" dirty="0" smtClean="0">
                <a:latin typeface="Calibri" panose="020F0502020204030204" pitchFamily="34" charset="0"/>
              </a:rPr>
              <a:t>while (flag) {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    // </a:t>
            </a:r>
            <a:r>
              <a:rPr lang="zh-CN" altLang="en-US" sz="1800" dirty="0" smtClean="0">
                <a:latin typeface="Calibri" panose="020F0502020204030204" pitchFamily="34" charset="0"/>
              </a:rPr>
              <a:t>在这里安全地响应信号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indent="457200" algn="l"/>
            <a:r>
              <a:rPr lang="en-US" altLang="zh-CN" sz="1800" dirty="0" smtClean="0">
                <a:latin typeface="Calibri" panose="020F0502020204030204" pitchFamily="34" charset="0"/>
              </a:rPr>
              <a:t>...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}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}</a:t>
            </a:r>
            <a:endParaRPr lang="en-US" altLang="en-US" sz="1800" dirty="0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安全编程规则</a:t>
            </a:r>
            <a:r>
              <a:rPr lang="en-US" altLang="zh-CN"/>
              <a:t>3：</a:t>
            </a:r>
            <a:r>
              <a:rPr lang="zh-CN" altLang="en-US"/>
              <a:t>共享数据结构的</a:t>
            </a:r>
            <a:r>
              <a:rPr lang="zh-CN" altLang="en-US"/>
              <a:t>原子性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4888865" cy="4972050"/>
          </a:xfrm>
        </p:spPr>
        <p:txBody>
          <a:bodyPr/>
          <a:p>
            <a:pPr lvl="0"/>
            <a:r>
              <a:rPr lang="zh-CN" altLang="en-US"/>
              <a:t>能不</a:t>
            </a:r>
            <a:r>
              <a:rPr lang="zh-CN" altLang="en-US"/>
              <a:t>能用互斥锁</a:t>
            </a:r>
            <a:r>
              <a:rPr lang="en-US" altLang="zh-CN"/>
              <a:t>？</a:t>
            </a:r>
            <a:endParaRPr lang="zh-CN" altLang="en-US"/>
          </a:p>
          <a:p>
            <a:pPr lvl="0"/>
            <a:endParaRPr lang="zh-CN" altLang="en-US"/>
          </a:p>
          <a:p>
            <a:pPr lvl="0"/>
            <a:endParaRPr lang="zh-CN" altLang="en-US"/>
          </a:p>
          <a:p>
            <a:pPr lvl="0"/>
            <a:endParaRPr lang="zh-CN" altLang="en-US"/>
          </a:p>
          <a:p>
            <a:pPr lvl="0"/>
            <a:endParaRPr lang="zh-CN" altLang="en-US"/>
          </a:p>
          <a:p>
            <a:pPr lvl="0"/>
            <a:endParaRPr lang="zh-CN" altLang="en-US"/>
          </a:p>
          <a:p>
            <a:pPr lvl="0"/>
            <a:endParaRPr lang="zh-CN" altLang="en-US"/>
          </a:p>
          <a:p>
            <a:pPr lvl="0"/>
            <a:endParaRPr lang="zh-CN" altLang="en-US"/>
          </a:p>
          <a:p>
            <a:pPr lvl="0"/>
            <a:r>
              <a:rPr lang="zh-CN" altLang="en-US"/>
              <a:t>不推荐</a:t>
            </a:r>
            <a:endParaRPr lang="zh-CN" altLang="en-US"/>
          </a:p>
          <a:p>
            <a:pPr lvl="1"/>
            <a:r>
              <a:rPr lang="zh-CN" altLang="en-US"/>
              <a:t>可能</a:t>
            </a:r>
            <a:r>
              <a:rPr lang="zh-CN" altLang="en-US"/>
              <a:t>死锁</a:t>
            </a:r>
            <a:endParaRPr lang="zh-CN" altLang="en-US"/>
          </a:p>
          <a:p>
            <a:pPr lvl="1"/>
            <a:r>
              <a:rPr lang="en-US" altLang="en-US"/>
              <a:t>pthread_mutex_lock</a:t>
            </a:r>
            <a:r>
              <a:rPr lang="zh-CN" altLang="en-US"/>
              <a:t>不是</a:t>
            </a:r>
            <a:r>
              <a:rPr lang="zh-CN" altLang="en-US">
                <a:solidFill>
                  <a:srgbClr val="FF0000"/>
                </a:solidFill>
              </a:rPr>
              <a:t>异步信号安全的函数</a:t>
            </a:r>
            <a:endParaRPr lang="en-US" altLang="en-US">
              <a:solidFill>
                <a:srgbClr val="FF0000"/>
              </a:solidFill>
            </a:endParaRPr>
          </a:p>
          <a:p>
            <a:pPr lvl="0"/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417820" y="1600200"/>
            <a:ext cx="6416040" cy="45231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pthread_mutex_t lock = PTHREAD_MUTEX_INITIALIZER;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int shared_data = 0;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void handler(int sig) {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pthread_mutex_lock(&amp;lock);  // </a:t>
            </a:r>
            <a:r>
              <a:rPr lang="zh-CN" altLang="en-US" sz="1800" dirty="0" smtClean="0">
                <a:latin typeface="Calibri" panose="020F0502020204030204" pitchFamily="34" charset="0"/>
              </a:rPr>
              <a:t>危险！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shared_data++;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pthread_mutex_unlock(&amp;lock);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}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void main() {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pthread_mutex_lock(&amp;lock);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// ... </a:t>
            </a:r>
            <a:r>
              <a:rPr lang="zh-CN" altLang="en-US" sz="1800" dirty="0" smtClean="0">
                <a:latin typeface="Calibri" panose="020F0502020204030204" pitchFamily="34" charset="0"/>
              </a:rPr>
              <a:t>主程序正在修改共享数据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// </a:t>
            </a:r>
            <a:r>
              <a:rPr lang="zh-CN" altLang="en-US" sz="1800" dirty="0" smtClean="0">
                <a:latin typeface="Calibri" panose="020F0502020204030204" pitchFamily="34" charset="0"/>
              </a:rPr>
              <a:t>信号在此到达！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</a:t>
            </a:r>
            <a:r>
              <a:rPr lang="en-US" altLang="en-US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// </a:t>
            </a:r>
            <a:r>
              <a:rPr lang="zh-CN" altLang="en-US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信号处理函数尝试获取同一个锁</a:t>
            </a:r>
            <a:r>
              <a:rPr lang="en-US" altLang="en-US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 → </a:t>
            </a:r>
            <a:r>
              <a:rPr lang="zh-CN" altLang="en-US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死锁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pthread_mutex_unlock(&amp;lock);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}</a:t>
            </a:r>
            <a:endParaRPr lang="en-US" altLang="en-US" sz="1800" dirty="0" smtClean="0">
              <a:latin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981200"/>
            <a:ext cx="2092960" cy="2736850"/>
          </a:xfrm>
          <a:prstGeom prst="rect">
            <a:avLst/>
          </a:prstGeom>
        </p:spPr>
      </p:pic>
      <p:sp>
        <p:nvSpPr>
          <p:cNvPr id="6" name="Cloud Callout 5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安全编程规则</a:t>
            </a:r>
            <a:r>
              <a:rPr lang="en-US" altLang="zh-CN"/>
              <a:t>3：</a:t>
            </a:r>
            <a:r>
              <a:rPr lang="zh-CN" altLang="en-US"/>
              <a:t>共享数据结构的原子性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5615305" cy="4972050"/>
          </a:xfrm>
        </p:spPr>
        <p:txBody>
          <a:bodyPr/>
          <a:p>
            <a:r>
              <a:rPr lang="zh-CN" altLang="en-US"/>
              <a:t>思路</a:t>
            </a:r>
            <a:endParaRPr lang="zh-CN" altLang="en-US"/>
          </a:p>
          <a:p>
            <a:pPr lvl="1"/>
            <a:r>
              <a:rPr lang="zh-CN" altLang="en-US"/>
              <a:t>共享数据结构需要多条指令</a:t>
            </a:r>
            <a:r>
              <a:rPr lang="en-US" altLang="zh-CN"/>
              <a:t>，</a:t>
            </a:r>
            <a:r>
              <a:rPr lang="zh-CN" altLang="en-US"/>
              <a:t>可以借助信号屏蔽来避免信号处理函数的并发</a:t>
            </a:r>
            <a:endParaRPr lang="zh-CN" altLang="en-US"/>
          </a:p>
          <a:p>
            <a:pPr lvl="1"/>
            <a:r>
              <a:rPr lang="zh-CN" altLang="en-US"/>
              <a:t>不让信号处理函数在临界区内执行</a:t>
            </a:r>
            <a:endParaRPr lang="zh-CN" altLang="en-US"/>
          </a:p>
          <a:p>
            <a:pPr lvl="1"/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943600" y="2286000"/>
            <a:ext cx="5297805" cy="230695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// </a:t>
            </a:r>
            <a:r>
              <a:rPr lang="zh-CN" altLang="en-US" sz="1800" dirty="0" smtClean="0">
                <a:latin typeface="Calibri" panose="020F0502020204030204" pitchFamily="34" charset="0"/>
              </a:rPr>
              <a:t>在访问共享数据前阻塞信号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pthread_sigmask(SIG_BLOCK, &amp;mask, &amp;old);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// </a:t>
            </a:r>
            <a:r>
              <a:rPr lang="zh-CN" altLang="en-US" sz="1800" dirty="0" smtClean="0">
                <a:latin typeface="Calibri" panose="020F0502020204030204" pitchFamily="34" charset="0"/>
              </a:rPr>
              <a:t>现在安全了</a:t>
            </a:r>
            <a:r>
              <a:rPr lang="en-US" altLang="en-US" sz="1800" dirty="0" smtClean="0">
                <a:latin typeface="Calibri" panose="020F0502020204030204" pitchFamily="34" charset="0"/>
              </a:rPr>
              <a:t>,</a:t>
            </a:r>
            <a:r>
              <a:rPr lang="zh-CN" altLang="en-US" sz="1800" dirty="0" smtClean="0">
                <a:latin typeface="Calibri" panose="020F0502020204030204" pitchFamily="34" charset="0"/>
              </a:rPr>
              <a:t>信号处理函数不会执行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foo( &amp;shared_data);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   </a:t>
            </a:r>
            <a:endParaRPr lang="en-US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// </a:t>
            </a:r>
            <a:r>
              <a:rPr lang="zh-CN" altLang="en-US" sz="1800" dirty="0" smtClean="0">
                <a:latin typeface="Calibri" panose="020F0502020204030204" pitchFamily="34" charset="0"/>
              </a:rPr>
              <a:t>恢复信号掩码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en-US" sz="1800" dirty="0" smtClean="0">
                <a:latin typeface="Calibri" panose="020F0502020204030204" pitchFamily="34" charset="0"/>
              </a:rPr>
              <a:t> pthread_sigmask(SIG_SETMASK, &amp;old, NULL);</a:t>
            </a:r>
            <a:endParaRPr lang="en-US" altLang="en-US" sz="1800" dirty="0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安全编程规则</a:t>
            </a:r>
            <a:r>
              <a:rPr lang="en-US" altLang="zh-CN"/>
              <a:t>4：</a:t>
            </a:r>
            <a:r>
              <a:rPr lang="zh-CN" altLang="en-US"/>
              <a:t>函数调用的</a:t>
            </a:r>
            <a:r>
              <a:rPr lang="zh-CN" altLang="en-US"/>
              <a:t>原子性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400" i="1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handler</a:t>
            </a:r>
            <a:r>
              <a:rPr lang="zh-CN" altLang="en-US" sz="2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只应该调用</a:t>
            </a:r>
            <a:r>
              <a:rPr lang="zh-CN" altLang="en-US" sz="24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异步信号安全</a:t>
            </a:r>
            <a:r>
              <a:rPr lang="zh-CN" altLang="en-US" sz="24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的函数</a:t>
            </a:r>
            <a:endParaRPr lang="zh-CN" altLang="en-US" sz="2400" i="1" dirty="0">
              <a:solidFill>
                <a:srgbClr val="990000"/>
              </a:solidFill>
              <a:latin typeface="Calibri" panose="020F0502020204030204"/>
              <a:cs typeface="Calibri" panose="020F0502020204030204"/>
              <a:sym typeface="+mn-ea"/>
            </a:endParaRPr>
          </a:p>
          <a:p>
            <a:r>
              <a:rPr lang="zh-CN" altLang="en-US" sz="2400" i="1" dirty="0">
                <a:solidFill>
                  <a:srgbClr val="990000"/>
                </a:solidFill>
                <a:latin typeface="Calibri" panose="020F0502020204030204"/>
                <a:cs typeface="Calibri" panose="020F0502020204030204"/>
                <a:sym typeface="+mn-ea"/>
              </a:rPr>
              <a:t>异步信号安全</a:t>
            </a:r>
            <a:r>
              <a:rPr lang="zh-CN" altLang="en-US" sz="2400" dirty="0">
                <a:latin typeface="Calibri" panose="020F0502020204030204"/>
                <a:cs typeface="Calibri" panose="020F0502020204030204"/>
                <a:sym typeface="+mn-ea"/>
              </a:rPr>
              <a:t>的函数要么是可重入的（例如，所有变量都存储在栈帧中，见</a:t>
            </a:r>
            <a:r>
              <a:rPr lang="en-US" altLang="zh-CN" sz="24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zh-CN" altLang="en-US" sz="24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12.7.2</a:t>
            </a:r>
            <a:r>
              <a:rPr lang="en-US" altLang="zh-CN" sz="24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zh-CN" altLang="en-US" sz="2400" dirty="0">
                <a:latin typeface="Calibri" panose="020F0502020204030204"/>
                <a:cs typeface="Calibri" panose="020F0502020204030204"/>
                <a:sym typeface="+mn-ea"/>
              </a:rPr>
              <a:t>节），要么它不能被信号处理程序中断。</a:t>
            </a:r>
            <a:endParaRPr lang="en-US" altLang="zh-CN" sz="2400" dirty="0">
              <a:latin typeface="Calibri" panose="020F0502020204030204"/>
              <a:cs typeface="Calibri" panose="020F0502020204030204"/>
            </a:endParaRPr>
          </a:p>
          <a:p>
            <a:endParaRPr lang="zh-CN" altLang="en-US" sz="2400" dirty="0">
              <a:latin typeface="Calibri" panose="020F0502020204030204"/>
              <a:cs typeface="Calibri" panose="020F0502020204030204"/>
            </a:endParaRPr>
          </a:p>
          <a:p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Posix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zh-CN" altLang="en-US" sz="2400" dirty="0">
                <a:sym typeface="+mn-ea"/>
              </a:rPr>
              <a:t>保证了</a:t>
            </a:r>
            <a:r>
              <a:rPr lang="en-US" altLang="zh-CN" sz="24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117 </a:t>
            </a:r>
            <a:r>
              <a:rPr lang="zh-CN" altLang="en-US" sz="2400" dirty="0">
                <a:sym typeface="+mn-ea"/>
              </a:rPr>
              <a:t>个函数是异步信号安全的</a:t>
            </a:r>
            <a:r>
              <a:rPr lang="en-US" sz="240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endParaRPr lang="en-US" sz="2400" dirty="0">
              <a:latin typeface="Calibri" panose="020F0502020204030204"/>
              <a:cs typeface="Calibri" panose="020F0502020204030204"/>
            </a:endParaRPr>
          </a:p>
          <a:p>
            <a:pPr lvl="1"/>
            <a:r>
              <a:rPr lang="zh-CN" altLang="en-US" sz="2400" dirty="0">
                <a:latin typeface="Calibri" panose="020F0502020204030204"/>
                <a:cs typeface="Calibri" panose="020F0502020204030204"/>
                <a:sym typeface="+mn-ea"/>
              </a:rPr>
              <a:t>来源：</a:t>
            </a:r>
            <a:r>
              <a:rPr lang="en-US" sz="2400" dirty="0">
                <a:latin typeface="Courier New" panose="02070609020205020404" charset="0"/>
                <a:cs typeface="Courier New" panose="02070609020205020404" charset="0"/>
                <a:sym typeface="+mn-ea"/>
              </a:rPr>
              <a:t>”man 7 signal”</a:t>
            </a:r>
            <a:endParaRPr lang="en-US" sz="2400" dirty="0">
              <a:latin typeface="Courier New" panose="02070609020205020404" charset="0"/>
              <a:cs typeface="Courier New" panose="02070609020205020404" charset="0"/>
            </a:endParaRPr>
          </a:p>
          <a:p>
            <a:pPr lvl="1"/>
            <a:r>
              <a:rPr lang="zh-CN" altLang="en-US" sz="2400" dirty="0">
                <a:sym typeface="+mn-ea"/>
              </a:rPr>
              <a:t>常用的、异步信号安全函数：</a:t>
            </a:r>
            <a:endParaRPr lang="zh-CN" altLang="en-US" sz="2400" dirty="0"/>
          </a:p>
          <a:p>
            <a:pPr lvl="2"/>
            <a:r>
              <a:rPr lang="en-US" sz="2400" dirty="0">
                <a:latin typeface="Courier New" panose="02070609020205020404"/>
                <a:cs typeface="Courier New" panose="02070609020205020404"/>
                <a:sym typeface="+mn-ea"/>
              </a:rPr>
              <a:t>_exit, write, wait, </a:t>
            </a:r>
            <a:r>
              <a:rPr lang="en-US" sz="2400" dirty="0" err="1">
                <a:latin typeface="Courier New" panose="02070609020205020404"/>
                <a:cs typeface="Courier New" panose="02070609020205020404"/>
                <a:sym typeface="+mn-ea"/>
              </a:rPr>
              <a:t>waitpid</a:t>
            </a:r>
            <a:r>
              <a:rPr lang="en-US" sz="2400" dirty="0">
                <a:latin typeface="Courier New" panose="02070609020205020404"/>
                <a:cs typeface="Courier New" panose="02070609020205020404"/>
                <a:sym typeface="+mn-ea"/>
              </a:rPr>
              <a:t>, sleep, kill</a:t>
            </a:r>
            <a:endParaRPr lang="en-US" sz="2400" dirty="0">
              <a:latin typeface="Courier New" panose="02070609020205020404"/>
              <a:cs typeface="Courier New" panose="02070609020205020404"/>
            </a:endParaRPr>
          </a:p>
          <a:p>
            <a:pPr lvl="1"/>
            <a:r>
              <a:rPr lang="zh-CN" altLang="en-US" sz="2400" dirty="0">
                <a:sym typeface="+mn-ea"/>
              </a:rPr>
              <a:t>常用的、不在异步信号安全列表中的函数：</a:t>
            </a:r>
            <a:endParaRPr lang="en-US" sz="2400" dirty="0">
              <a:latin typeface="+mn-lt"/>
              <a:cs typeface="Courier New" panose="02070609020205020404"/>
            </a:endParaRPr>
          </a:p>
          <a:p>
            <a:pPr lvl="2"/>
            <a:r>
              <a:rPr lang="en-US" sz="2400" dirty="0" err="1">
                <a:latin typeface="Courier New" panose="02070609020205020404"/>
                <a:cs typeface="Courier New" panose="02070609020205020404"/>
                <a:sym typeface="+mn-ea"/>
              </a:rPr>
              <a:t>printf</a:t>
            </a:r>
            <a:r>
              <a:rPr lang="en-US" sz="2400" dirty="0">
                <a:latin typeface="+mn-lt"/>
                <a:cs typeface="Courier New" panose="02070609020205020404"/>
                <a:sym typeface="+mn-ea"/>
              </a:rPr>
              <a:t>,  </a:t>
            </a:r>
            <a:r>
              <a:rPr lang="en-US" sz="2400" dirty="0" err="1">
                <a:latin typeface="Courier New" panose="02070609020205020404"/>
                <a:cs typeface="Courier New" panose="02070609020205020404"/>
                <a:sym typeface="+mn-ea"/>
              </a:rPr>
              <a:t>sprintf</a:t>
            </a:r>
            <a:r>
              <a:rPr lang="en-US" sz="2400" dirty="0">
                <a:latin typeface="+mn-lt"/>
                <a:cs typeface="Courier New" panose="02070609020205020404"/>
                <a:sym typeface="+mn-ea"/>
              </a:rPr>
              <a:t>,</a:t>
            </a:r>
            <a:r>
              <a:rPr lang="en-US" sz="2400" dirty="0">
                <a:latin typeface="Courier New" panose="02070609020205020404"/>
                <a:cs typeface="Courier New" panose="02070609020205020404"/>
                <a:sym typeface="+mn-ea"/>
              </a:rPr>
              <a:t> </a:t>
            </a:r>
            <a:r>
              <a:rPr lang="en-US" sz="2400" dirty="0" err="1">
                <a:latin typeface="Courier New" panose="02070609020205020404"/>
                <a:cs typeface="Courier New" panose="02070609020205020404"/>
                <a:sym typeface="+mn-ea"/>
              </a:rPr>
              <a:t>malloc</a:t>
            </a:r>
            <a:r>
              <a:rPr lang="en-US" sz="2400" dirty="0">
                <a:latin typeface="Courier New" panose="02070609020205020404"/>
                <a:cs typeface="Courier New" panose="02070609020205020404"/>
                <a:sym typeface="+mn-ea"/>
              </a:rPr>
              <a:t>, exit </a:t>
            </a:r>
            <a:endParaRPr lang="en-US" sz="2400" dirty="0">
              <a:latin typeface="Courier New" panose="02070609020205020404"/>
              <a:cs typeface="Courier New" panose="02070609020205020404"/>
            </a:endParaRPr>
          </a:p>
          <a:p>
            <a:pPr lvl="2"/>
            <a:r>
              <a:rPr lang="zh-CN" altLang="en-US" sz="2400" dirty="0">
                <a:sym typeface="+mn-ea"/>
              </a:rPr>
              <a:t>遗憾的事实：</a:t>
            </a:r>
            <a:r>
              <a:rPr lang="en-US" sz="2400" dirty="0">
                <a:solidFill>
                  <a:srgbClr val="FF0000"/>
                </a:solidFill>
                <a:latin typeface="Courier New Bold" panose="02070609020205020404" charset="0"/>
                <a:cs typeface="Courier New Bold" panose="02070609020205020404" charset="0"/>
                <a:sym typeface="+mn-ea"/>
              </a:rPr>
              <a:t>write 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是唯一的异步信号安全的输出函数</a:t>
            </a:r>
            <a:endParaRPr lang="zh-CN" altLang="en-US" sz="2400" dirty="0">
              <a:solidFill>
                <a:srgbClr val="FF0000"/>
              </a:solidFill>
            </a:endParaRPr>
          </a:p>
          <a:p>
            <a:endParaRPr lang="en-US" sz="2400"/>
          </a:p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安全的格式化输出</a:t>
            </a:r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在处理程序中使用</a:t>
            </a:r>
            <a:r>
              <a:rPr lang="en-US"/>
              <a:t> csapp.c </a:t>
            </a:r>
            <a:r>
              <a:rPr lang="zh-CN" altLang="en-US"/>
              <a:t>中的可重入</a:t>
            </a:r>
            <a:r>
              <a:rPr lang="en-US"/>
              <a:t> SIO (Safe I/O library) </a:t>
            </a:r>
            <a:endParaRPr lang="en-US"/>
          </a:p>
          <a:p>
            <a:pPr lvl="1"/>
            <a:r>
              <a:rPr lang="en-US"/>
              <a:t>ssize_t sio_puts(char s[]) /* Put string */</a:t>
            </a:r>
            <a:endParaRPr lang="en-US"/>
          </a:p>
          <a:p>
            <a:pPr lvl="1"/>
            <a:r>
              <a:rPr lang="en-US"/>
              <a:t>ssize_t sio_putl(long v)   /* Put long */</a:t>
            </a:r>
            <a:endParaRPr lang="en-US"/>
          </a:p>
          <a:p>
            <a:pPr lvl="1"/>
            <a:r>
              <a:rPr lang="en-US"/>
              <a:t>void sio_error(char s[])   /* Put msg</a:t>
            </a:r>
            <a:r>
              <a:rPr lang="en-US"/>
              <a:t> &amp; exit */</a:t>
            </a:r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02285" y="3276600"/>
            <a:ext cx="10560050" cy="2819400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noAutofit/>
          </a:bodyPr>
          <a:lstStyle/>
          <a:p>
            <a:r>
              <a:rPr lang="en-US" sz="18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0" err="1">
                <a:solidFill>
                  <a:srgbClr val="4A00FF"/>
                </a:solidFill>
                <a:latin typeface="Menlo-Regular" panose="020B0609030804020204"/>
              </a:rPr>
              <a:t>sigint_handler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0">
                <a:solidFill>
                  <a:srgbClr val="C1651C"/>
                </a:solidFill>
                <a:latin typeface="Menlo-Regular" panose="020B0609030804020204"/>
              </a:rPr>
              <a:t>sig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 </a:t>
            </a:r>
            <a:r>
              <a:rPr lang="en-US" sz="1800" dirty="0">
                <a:solidFill>
                  <a:srgbClr val="CB2418"/>
                </a:solidFill>
                <a:latin typeface="Menlo-Regular" panose="020B0609030804020204"/>
              </a:rPr>
              <a:t>/* Safe SIGINT handler */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Sio_puts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Menlo-Regular" panose="020B0609030804020204"/>
              </a:rPr>
              <a:t>"So you think you can stop the bomb with ctrl-c, do you?\n"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800" dirty="0">
                <a:solidFill>
                  <a:srgbClr val="000000"/>
                </a:solidFill>
                <a:latin typeface="Menlo-Regular" panose="020B0609030804020204"/>
              </a:rPr>
              <a:t>    sleep(2);</a:t>
            </a:r>
            <a:endParaRPr lang="nl-NL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de-DE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de-DE" sz="1800" dirty="0" err="1">
                <a:solidFill>
                  <a:srgbClr val="000000"/>
                </a:solidFill>
                <a:latin typeface="Menlo-Regular" panose="020B0609030804020204"/>
              </a:rPr>
              <a:t>Sio_puts</a:t>
            </a:r>
            <a:r>
              <a:rPr lang="de-DE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de-DE" sz="18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de-DE" sz="1800" dirty="0" err="1">
                <a:solidFill>
                  <a:srgbClr val="9D206F"/>
                </a:solidFill>
                <a:latin typeface="Menlo-Regular" panose="020B0609030804020204"/>
              </a:rPr>
              <a:t>Well</a:t>
            </a:r>
            <a:r>
              <a:rPr lang="de-DE" sz="1800" dirty="0">
                <a:solidFill>
                  <a:srgbClr val="9D206F"/>
                </a:solidFill>
                <a:latin typeface="Menlo-Regular" panose="020B0609030804020204"/>
              </a:rPr>
              <a:t>..."</a:t>
            </a:r>
            <a:r>
              <a:rPr lang="de-DE" sz="18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de-DE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800" dirty="0">
                <a:solidFill>
                  <a:srgbClr val="000000"/>
                </a:solidFill>
                <a:latin typeface="Menlo-Regular" panose="020B0609030804020204"/>
              </a:rPr>
              <a:t>    sleep(1);</a:t>
            </a:r>
            <a:endParaRPr lang="nl-NL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nl-NL" sz="1800" dirty="0" err="1">
                <a:solidFill>
                  <a:srgbClr val="000000"/>
                </a:solidFill>
                <a:latin typeface="Menlo-Regular" panose="020B0609030804020204"/>
              </a:rPr>
              <a:t>Sio_puts</a:t>
            </a:r>
            <a:r>
              <a:rPr lang="nl-NL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nl-NL" sz="1800" dirty="0">
                <a:solidFill>
                  <a:srgbClr val="9D206F"/>
                </a:solidFill>
                <a:latin typeface="Menlo-Regular" panose="020B0609030804020204"/>
              </a:rPr>
              <a:t>"OK. :-)\n"</a:t>
            </a:r>
            <a:r>
              <a:rPr lang="nl-NL" sz="18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nl-NL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800" dirty="0">
                <a:solidFill>
                  <a:srgbClr val="000000"/>
                </a:solidFill>
                <a:latin typeface="Menlo-Regular" panose="020B0609030804020204"/>
              </a:rPr>
              <a:t>    _exit(0);</a:t>
            </a:r>
            <a:endParaRPr lang="nl-NL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8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nl-NL" sz="18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8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15700" y="5715238"/>
            <a:ext cx="1236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anose="020F0502020204030204" pitchFamily="34" charset="0"/>
              </a:rPr>
              <a:t>sigintsafe.c</a:t>
            </a:r>
            <a:endParaRPr lang="en-US" sz="1800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安全的格式化输出函数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4464050" cy="4972050"/>
          </a:xfrm>
        </p:spPr>
        <p:txBody>
          <a:bodyPr/>
          <a:p>
            <a:r>
              <a:rPr lang="en-US" altLang="zh-CN"/>
              <a:t>write</a:t>
            </a:r>
            <a:r>
              <a:rPr lang="zh-CN" altLang="en-US"/>
              <a:t>是异步信号安全</a:t>
            </a:r>
            <a:r>
              <a:rPr lang="zh-CN" altLang="en-US"/>
              <a:t>的</a:t>
            </a:r>
            <a:endParaRPr lang="zh-CN" altLang="en-US"/>
          </a:p>
          <a:p>
            <a:r>
              <a:rPr lang="en-US" altLang="zh-CN"/>
              <a:t>sio_ltoa</a:t>
            </a:r>
            <a:r>
              <a:rPr lang="zh-CN" altLang="en-US"/>
              <a:t>和</a:t>
            </a:r>
            <a:r>
              <a:rPr lang="en-US" altLang="zh-CN"/>
              <a:t>sio_strlen</a:t>
            </a:r>
            <a:r>
              <a:rPr lang="zh-CN" altLang="en-US"/>
              <a:t>都是可重入</a:t>
            </a:r>
            <a:r>
              <a:rPr lang="zh-CN" altLang="en-US"/>
              <a:t>函数</a:t>
            </a:r>
            <a:endParaRPr lang="zh-CN" altLang="en-US"/>
          </a:p>
          <a:p>
            <a:r>
              <a:rPr lang="en-US" altLang="zh-CN"/>
              <a:t>_exit</a:t>
            </a:r>
            <a:r>
              <a:rPr lang="zh-CN" altLang="en-US"/>
              <a:t>是</a:t>
            </a:r>
            <a:r>
              <a:rPr lang="en-US" altLang="zh-CN"/>
              <a:t>exit</a:t>
            </a:r>
            <a:r>
              <a:rPr lang="zh-CN" altLang="en-US"/>
              <a:t>的安全</a:t>
            </a:r>
            <a:r>
              <a:rPr lang="zh-CN" altLang="en-US"/>
              <a:t>版本</a:t>
            </a:r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524000"/>
            <a:ext cx="6896100" cy="4790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使用安全输出函数的例子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095" y="2971800"/>
            <a:ext cx="4732020" cy="1807210"/>
          </a:xfrm>
          <a:prstGeom prst="rect">
            <a:avLst/>
          </a:prstGeom>
        </p:spPr>
      </p:pic>
      <p:sp>
        <p:nvSpPr>
          <p:cNvPr id="8" name="Content Placeholder 7"/>
          <p:cNvSpPr/>
          <p:nvPr>
            <p:ph idx="1"/>
          </p:nvPr>
        </p:nvSpPr>
        <p:spPr/>
        <p:txBody>
          <a:bodyPr/>
          <a:p>
            <a:r>
              <a:rPr lang="zh-CN" altLang="en-US"/>
              <a:t>例子</a:t>
            </a:r>
            <a:endParaRPr lang="zh-CN" altLang="en-US"/>
          </a:p>
          <a:p>
            <a:pPr lvl="1"/>
            <a:r>
              <a:rPr lang="en-US" altLang="zh-CN"/>
              <a:t>SIGINT</a:t>
            </a:r>
            <a:r>
              <a:rPr lang="zh-CN" altLang="en-US"/>
              <a:t>信号</a:t>
            </a:r>
            <a:r>
              <a:rPr lang="zh-CN" altLang="en-US"/>
              <a:t>处理</a:t>
            </a:r>
            <a:endParaRPr lang="zh-CN" altLang="en-US"/>
          </a:p>
        </p:txBody>
      </p:sp>
      <p:pic>
        <p:nvPicPr>
          <p:cNvPr id="9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96975"/>
            <a:ext cx="6461760" cy="4971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编写安全的</a:t>
            </a:r>
            <a:r>
              <a:rPr lang="zh-CN" altLang="en-US"/>
              <a:t>信号处理程序的原则</a:t>
            </a:r>
            <a:r>
              <a:rPr lang="en-US" altLang="zh-CN"/>
              <a:t>（</a:t>
            </a:r>
            <a:r>
              <a:rPr lang="zh-CN" altLang="en-US"/>
              <a:t>教材</a:t>
            </a:r>
            <a:r>
              <a:rPr lang="en-US" altLang="zh-CN"/>
              <a:t>8.5.5）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atinLnBrk="0">
              <a:lnSpc>
                <a:spcPct val="130000"/>
              </a:lnSpc>
              <a:spcBef>
                <a:spcPts val="0"/>
              </a:spcBef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G0: </a:t>
            </a:r>
            <a:r>
              <a:rPr lang="zh-CN" altLang="en-US" dirty="0"/>
              <a:t>处理程序要尽可能简单</a:t>
            </a:r>
            <a:endParaRPr lang="en-US" dirty="0"/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例如，</a:t>
            </a:r>
            <a:r>
              <a:rPr lang="en-US" altLang="zh-CN" dirty="0"/>
              <a:t>handler</a:t>
            </a:r>
            <a:r>
              <a:rPr lang="zh-CN" altLang="en-US" dirty="0"/>
              <a:t>设置全局标志并立即返回</a:t>
            </a:r>
            <a:endParaRPr lang="en-US" dirty="0"/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G1: </a:t>
            </a:r>
            <a:r>
              <a:rPr lang="zh-CN" altLang="en-US" dirty="0"/>
              <a:t>在处理程序中只调用异步信号安全的函数</a:t>
            </a:r>
            <a:endParaRPr lang="en-US" dirty="0"/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en-US" dirty="0" err="1">
                <a:latin typeface="Courier New" panose="02070609020205020404"/>
                <a:cs typeface="Courier New" panose="02070609020205020404"/>
              </a:rPr>
              <a:t>printf, sprintf, malloc </a:t>
            </a:r>
            <a:r>
              <a:rPr lang="zh-CN" altLang="en-US" dirty="0"/>
              <a:t>和</a:t>
            </a:r>
            <a:r>
              <a:rPr lang="en-US" altLang="zh-CN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en-US" dirty="0">
                <a:latin typeface="Courier New" panose="02070609020205020404" charset="0"/>
                <a:cs typeface="Courier New" panose="02070609020205020404" charset="0"/>
              </a:rPr>
              <a:t>exit </a:t>
            </a:r>
            <a:r>
              <a:rPr lang="zh-CN" altLang="en-US" dirty="0"/>
              <a:t>都不安全</a:t>
            </a:r>
            <a:endParaRPr lang="en-US" dirty="0"/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G2: </a:t>
            </a:r>
            <a:r>
              <a:rPr lang="zh-CN" altLang="en-US" dirty="0"/>
              <a:t>保存和恢复</a:t>
            </a:r>
            <a:r>
              <a:rPr lang="en-US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en-US" dirty="0" err="1">
                <a:latin typeface="Courier New" panose="02070609020205020404" charset="0"/>
                <a:cs typeface="Courier New" panose="02070609020205020404" charset="0"/>
              </a:rPr>
              <a:t>errno</a:t>
            </a:r>
            <a:endParaRPr lang="en-US" dirty="0">
              <a:latin typeface="Courier New" panose="02070609020205020404" charset="0"/>
              <a:cs typeface="Courier New" panose="02070609020205020404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这样其他处理程序就不会覆盖你的</a:t>
            </a:r>
            <a:r>
              <a:rPr lang="en-US" altLang="zh-CN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en-US" dirty="0" err="1">
                <a:latin typeface="Courier New" panose="02070609020205020404" charset="0"/>
                <a:cs typeface="Courier New" panose="02070609020205020404" charset="0"/>
              </a:rPr>
              <a:t>errno</a:t>
            </a:r>
            <a:r>
              <a:rPr lang="en-US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zh-CN" altLang="en-US" dirty="0"/>
              <a:t>值</a:t>
            </a:r>
            <a:endParaRPr lang="en-US" dirty="0"/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G3: </a:t>
            </a:r>
            <a:r>
              <a:rPr lang="zh-CN" altLang="en-US" dirty="0"/>
              <a:t>阻塞所有的信号，保护对共享全局数据结构的访问</a:t>
            </a:r>
            <a:endParaRPr lang="en-US" dirty="0"/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防止可能的损坏</a:t>
            </a:r>
            <a:endParaRPr lang="en-US" dirty="0"/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G4: </a:t>
            </a:r>
            <a:r>
              <a:rPr lang="zh-CN" altLang="en-US" dirty="0"/>
              <a:t>用</a:t>
            </a:r>
            <a:r>
              <a:rPr lang="en-US" dirty="0">
                <a:latin typeface="Courier New" panose="02070609020205020404" charset="0"/>
                <a:cs typeface="Courier New" panose="02070609020205020404" charset="0"/>
              </a:rPr>
              <a:t> volatile </a:t>
            </a:r>
            <a:r>
              <a:rPr lang="zh-CN" altLang="en-US" dirty="0">
                <a:latin typeface="Courier New" panose="02070609020205020404"/>
                <a:cs typeface="Courier New" panose="02070609020205020404"/>
              </a:rPr>
              <a:t>声明全局变量</a:t>
            </a:r>
            <a:endParaRPr lang="en-US" dirty="0">
              <a:latin typeface="Courier New" panose="02070609020205020404"/>
              <a:cs typeface="Courier New" panose="02070609020205020404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latin typeface="+mn-lt"/>
                <a:cs typeface="Courier New" panose="02070609020205020404"/>
              </a:rPr>
              <a:t>防止错误</a:t>
            </a:r>
            <a:r>
              <a:rPr lang="zh-CN" altLang="en-US" dirty="0">
                <a:latin typeface="+mn-lt"/>
                <a:cs typeface="Courier New" panose="02070609020205020404"/>
              </a:rPr>
              <a:t>的编译器优化</a:t>
            </a:r>
            <a:endParaRPr lang="en-US" dirty="0">
              <a:latin typeface="+mn-lt"/>
              <a:cs typeface="Courier New" panose="02070609020205020404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G5: </a:t>
            </a:r>
            <a:r>
              <a:rPr lang="zh-CN" altLang="en-US" dirty="0">
                <a:latin typeface="+mn-lt"/>
                <a:cs typeface="Courier New" panose="02070609020205020404"/>
              </a:rPr>
              <a:t>用</a:t>
            </a:r>
            <a:r>
              <a:rPr lang="en-US" dirty="0">
                <a:latin typeface="Courier New" panose="02070609020205020404" charset="0"/>
                <a:cs typeface="Courier New" panose="02070609020205020404" charset="0"/>
              </a:rPr>
              <a:t> volatile </a:t>
            </a:r>
            <a:r>
              <a:rPr lang="en-US" dirty="0" err="1">
                <a:latin typeface="Courier New" panose="02070609020205020404" charset="0"/>
                <a:cs typeface="Courier New" panose="02070609020205020404" charset="0"/>
              </a:rPr>
              <a:t>sig_atomic_t </a:t>
            </a:r>
            <a:r>
              <a:rPr lang="zh-CN" altLang="en-US" dirty="0" err="1">
                <a:latin typeface="Courier New" panose="02070609020205020404"/>
                <a:cs typeface="Courier New" panose="02070609020205020404"/>
              </a:rPr>
              <a:t>声明标志</a:t>
            </a:r>
            <a:endParaRPr lang="en-US" dirty="0">
              <a:latin typeface="Courier New" panose="02070609020205020404"/>
              <a:cs typeface="Courier New" panose="02070609020205020404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i="1" dirty="0">
                <a:latin typeface="+mn-lt"/>
                <a:cs typeface="Courier New" panose="02070609020205020404"/>
              </a:rPr>
              <a:t>flag</a:t>
            </a:r>
            <a:r>
              <a:rPr lang="zh-CN" altLang="en-US" i="1" dirty="0">
                <a:latin typeface="+mn-lt"/>
                <a:cs typeface="Courier New" panose="02070609020205020404"/>
              </a:rPr>
              <a:t>：</a:t>
            </a:r>
            <a:r>
              <a:rPr lang="zh-CN" altLang="en-US" dirty="0"/>
              <a:t>仅被单独读取或</a:t>
            </a:r>
            <a:r>
              <a:rPr lang="zh-CN" altLang="en-US" dirty="0"/>
              <a:t>单独写入的变量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(e.g. flag = 1, not flag++)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以这种方式声明的标志不需要像其他全局变量那样受到保护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仿宋" panose="02010609060101010101" pitchFamily="49" charset="-122"/>
                <a:cs typeface="Consolas" panose="020B0609020204030204" pitchFamily="49" charset="0"/>
              </a:rPr>
              <a:t>信号</a:t>
            </a:r>
            <a:endParaRPr lang="en-US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pPr lvl="1" algn="l"/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cs typeface="Consolas" panose="020B0609020204030204" pitchFamily="49" charset="0"/>
              </a:rPr>
              <a:t>信号的发送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pPr lvl="1" algn="l"/>
            <a:r>
              <a:rPr lang="zh-CN" altLang="en-US" sz="2000" dirty="0">
                <a:solidFill>
                  <a:schemeClr val="tx1"/>
                </a:solidFill>
                <a:latin typeface="仿宋" panose="02010609060101010101" pitchFamily="49" charset="-122"/>
                <a:cs typeface="Consolas" panose="020B0609020204030204" pitchFamily="49" charset="0"/>
              </a:rPr>
              <a:t>信号的接收</a:t>
            </a:r>
            <a:endParaRPr lang="zh-CN" altLang="en-US" sz="2000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pPr lvl="1" algn="l"/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cs typeface="Consolas" panose="020B0609020204030204" pitchFamily="49" charset="0"/>
              </a:rPr>
              <a:t>安全的信号处理函数</a:t>
            </a:r>
            <a:endParaRPr lang="zh-CN" altLang="en-US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pPr lvl="1" algn="l"/>
            <a:r>
              <a:rPr lang="zh-CN" altLang="en-US" dirty="0">
                <a:solidFill>
                  <a:schemeClr val="tx1"/>
                </a:solidFill>
                <a:latin typeface="仿宋" panose="02010609060101010101" pitchFamily="49" charset="-122"/>
                <a:cs typeface="Consolas" panose="020B0609020204030204" pitchFamily="49" charset="0"/>
              </a:rPr>
              <a:t>几个典型的例子</a:t>
            </a:r>
            <a:endParaRPr lang="en-US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</a:rPr>
              <a:t>非本地跳转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可移植的信号处理</a:t>
            </a:r>
            <a:endParaRPr lang="zh-CN" altLang="en-US" dirty="0"/>
          </a:p>
        </p:txBody>
      </p:sp>
      <p:sp>
        <p:nvSpPr>
          <p:cNvPr id="565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signal() vs sigaction()</a:t>
            </a:r>
            <a:endParaRPr lang="en-US" altLang="en-US" dirty="0"/>
          </a:p>
          <a:p>
            <a:pPr lvl="1"/>
            <a:r>
              <a:rPr lang="en-US" altLang="en-US" dirty="0"/>
              <a:t>signal() </a:t>
            </a:r>
            <a:r>
              <a:rPr lang="zh-CN" altLang="en-US" dirty="0"/>
              <a:t>是过时的简易接口，行为因系统而异且功能有限；</a:t>
            </a:r>
            <a:endParaRPr lang="zh-CN" altLang="en-US" dirty="0"/>
          </a:p>
          <a:p>
            <a:pPr lvl="1"/>
            <a:r>
              <a:rPr lang="en-US" altLang="en-US" dirty="0"/>
              <a:t>sigaction() </a:t>
            </a:r>
            <a:r>
              <a:rPr lang="zh-CN" altLang="en-US" dirty="0"/>
              <a:t>是</a:t>
            </a:r>
            <a:r>
              <a:rPr lang="en-US" altLang="en-US" dirty="0"/>
              <a:t> POSIX </a:t>
            </a:r>
            <a:r>
              <a:rPr lang="zh-CN" altLang="en-US" dirty="0"/>
              <a:t>标准的强大替代品，提供信号掩码控制、系统调用重启控制、详细信息来源等关键特性，是所有生产</a:t>
            </a:r>
            <a:r>
              <a:rPr lang="zh-CN" altLang="en-US" dirty="0"/>
              <a:t>代码的选择。</a:t>
            </a:r>
            <a:endParaRPr lang="zh-CN" altLang="en-US" dirty="0"/>
          </a:p>
          <a:p>
            <a:r>
              <a:rPr lang="zh-CN" altLang="en-US" dirty="0"/>
              <a:t>解决方案：基于</a:t>
            </a:r>
            <a:r>
              <a:rPr lang="en-US" dirty="0" err="1">
                <a:latin typeface="Courier New" panose="02070609020205020404"/>
                <a:cs typeface="Courier New" panose="02070609020205020404"/>
              </a:rPr>
              <a:t>sigaction</a:t>
            </a:r>
            <a:r>
              <a:rPr lang="zh-CN" altLang="en-US" dirty="0" err="1">
                <a:latin typeface="Courier New" panose="02070609020205020404"/>
                <a:cs typeface="Courier New" panose="02070609020205020404"/>
              </a:rPr>
              <a:t>封装</a:t>
            </a:r>
            <a:r>
              <a:rPr lang="en-US" altLang="zh-CN" dirty="0" err="1">
                <a:latin typeface="Courier New" panose="02070609020205020404"/>
                <a:cs typeface="Courier New" panose="02070609020205020404"/>
              </a:rPr>
              <a:t>Signal()</a:t>
            </a:r>
            <a:endParaRPr lang="en-US" altLang="zh-CN" dirty="0" err="1"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764030" y="3581400"/>
            <a:ext cx="8834755" cy="2861310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handler_t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500" dirty="0">
                <a:solidFill>
                  <a:srgbClr val="4A00FF"/>
                </a:solidFill>
                <a:latin typeface="Menlo-Regular" panose="020B0609030804020204"/>
              </a:rPr>
              <a:t>Signal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 panose="020B0609030804020204"/>
              </a:rPr>
              <a:t>signum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handler_t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500" dirty="0">
                <a:solidFill>
                  <a:srgbClr val="C1651C"/>
                </a:solidFill>
                <a:latin typeface="Menlo-Regular" panose="020B0609030804020204"/>
              </a:rPr>
              <a:t>handler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0" err="1">
                <a:solidFill>
                  <a:srgbClr val="C200FF"/>
                </a:solidFill>
                <a:latin typeface="Menlo-Regular" panose="020B0609030804020204"/>
              </a:rPr>
              <a:t>struct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sigaction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 panose="020B0609030804020204"/>
              </a:rPr>
              <a:t>action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500" dirty="0" err="1">
                <a:solidFill>
                  <a:srgbClr val="C1651C"/>
                </a:solidFill>
                <a:latin typeface="Menlo-Regular" panose="020B0609030804020204"/>
              </a:rPr>
              <a:t>old_action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action.sa_handler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= handler;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sigemptyset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(&amp;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action.sa_mask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); </a:t>
            </a:r>
            <a:r>
              <a:rPr lang="en-US" sz="1500" dirty="0">
                <a:solidFill>
                  <a:srgbClr val="CB2418"/>
                </a:solidFill>
                <a:latin typeface="Menlo-Regular" panose="020B0609030804020204"/>
              </a:rPr>
              <a:t>/* Block sigs of type being handled */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action.sa_flags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= SA_RESTART; </a:t>
            </a:r>
            <a:r>
              <a:rPr lang="en-US" sz="1500" dirty="0">
                <a:solidFill>
                  <a:srgbClr val="CB2418"/>
                </a:solidFill>
                <a:latin typeface="Menlo-Regular" panose="020B0609030804020204"/>
              </a:rPr>
              <a:t>/* Restart </a:t>
            </a:r>
            <a:r>
              <a:rPr lang="en-US" sz="1500" dirty="0" err="1">
                <a:solidFill>
                  <a:srgbClr val="CB2418"/>
                </a:solidFill>
                <a:latin typeface="Menlo-Regular" panose="020B0609030804020204"/>
              </a:rPr>
              <a:t>syscalls</a:t>
            </a:r>
            <a:r>
              <a:rPr lang="en-US" sz="1500" dirty="0">
                <a:solidFill>
                  <a:srgbClr val="CB2418"/>
                </a:solidFill>
                <a:latin typeface="Menlo-Regular" panose="020B0609030804020204"/>
              </a:rPr>
              <a:t> if possible */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(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sigaction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signum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, &amp;action, &amp;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old_action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 &lt; 0)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unix_error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500" dirty="0">
                <a:solidFill>
                  <a:srgbClr val="9D206F"/>
                </a:solidFill>
                <a:latin typeface="Menlo-Regular" panose="020B0609030804020204"/>
              </a:rPr>
              <a:t>"Signal error"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0">
                <a:solidFill>
                  <a:srgbClr val="C200FF"/>
                </a:solidFill>
                <a:latin typeface="Menlo-Regular" panose="020B0609030804020204"/>
              </a:rPr>
              <a:t>return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(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old_action.sa_handler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98519" y="6107668"/>
            <a:ext cx="8851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anose="020F0502020204030204" pitchFamily="34" charset="0"/>
              </a:rPr>
              <a:t>csapp.c</a:t>
            </a:r>
            <a:endParaRPr lang="en-US" sz="1800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不正确的信号</a:t>
            </a:r>
            <a:r>
              <a:rPr lang="zh-CN" altLang="en-US"/>
              <a:t>处理</a:t>
            </a:r>
            <a:endParaRPr lang="zh-CN" alt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28955" y="1362075"/>
            <a:ext cx="3891280" cy="4972050"/>
          </a:xfrm>
        </p:spPr>
        <p:txBody>
          <a:bodyPr/>
          <a:p>
            <a:r>
              <a:rPr lang="en-US"/>
              <a:t>SIGCHLD</a:t>
            </a:r>
            <a:r>
              <a:rPr lang="zh-CN" altLang="en-US"/>
              <a:t>信号</a:t>
            </a:r>
            <a:endParaRPr lang="zh-CN" altLang="en-US"/>
          </a:p>
          <a:p>
            <a:pPr lvl="1"/>
            <a:r>
              <a:rPr lang="zh-CN" altLang="en-US"/>
              <a:t>子进程停止或终止时</a:t>
            </a:r>
            <a:r>
              <a:rPr lang="en-US" altLang="zh-CN"/>
              <a:t>，</a:t>
            </a:r>
            <a:r>
              <a:rPr lang="zh-CN" altLang="en-US"/>
              <a:t>向父进程发送的</a:t>
            </a:r>
            <a:r>
              <a:rPr lang="zh-CN" altLang="en-US"/>
              <a:t>信号</a:t>
            </a:r>
            <a:endParaRPr lang="zh-CN" altLang="en-US"/>
          </a:p>
          <a:p>
            <a:pPr lvl="1"/>
            <a:r>
              <a:rPr lang="zh-CN" altLang="en-US"/>
              <a:t>默认行为</a:t>
            </a:r>
            <a:r>
              <a:rPr lang="en-US" altLang="zh-CN"/>
              <a:t>：</a:t>
            </a:r>
            <a:r>
              <a:rPr lang="zh-CN" altLang="en-US"/>
              <a:t>忽略</a:t>
            </a:r>
            <a:endParaRPr lang="zh-CN" altLang="en-US"/>
          </a:p>
          <a:p>
            <a:pPr lvl="0"/>
            <a:r>
              <a:rPr lang="zh-CN" altLang="en-US"/>
              <a:t>例子</a:t>
            </a:r>
            <a:endParaRPr lang="zh-CN" altLang="en-US"/>
          </a:p>
          <a:p>
            <a:pPr lvl="1"/>
            <a:r>
              <a:rPr lang="zh-CN" altLang="en-US" dirty="0" smtClean="0">
                <a:sym typeface="+mn-ea"/>
              </a:rPr>
              <a:t>这里</a:t>
            </a:r>
            <a:r>
              <a:rPr lang="en-US" altLang="zh-CN" dirty="0" smtClean="0">
                <a:sym typeface="+mn-ea"/>
              </a:rPr>
              <a:t>N=5，</a:t>
            </a:r>
            <a:r>
              <a:rPr lang="zh-CN" altLang="en-US" dirty="0" smtClean="0">
                <a:sym typeface="+mn-ea"/>
              </a:rPr>
              <a:t>却只回收了</a:t>
            </a:r>
            <a:r>
              <a:rPr lang="en-US" altLang="zh-CN" dirty="0" smtClean="0">
                <a:sym typeface="+mn-ea"/>
              </a:rPr>
              <a:t>2</a:t>
            </a:r>
            <a:r>
              <a:rPr lang="zh-CN" altLang="en-US" dirty="0" smtClean="0">
                <a:sym typeface="+mn-ea"/>
              </a:rPr>
              <a:t>个子进程</a:t>
            </a:r>
            <a:endParaRPr lang="zh-CN" altLang="en-US" dirty="0" smtClean="0">
              <a:sym typeface="+mn-ea"/>
            </a:endParaRPr>
          </a:p>
          <a:p>
            <a:pPr lvl="1"/>
            <a:r>
              <a:rPr lang="zh-CN" altLang="en-US" dirty="0" smtClean="0">
                <a:sym typeface="+mn-ea"/>
              </a:rPr>
              <a:t>为什么</a:t>
            </a:r>
            <a:r>
              <a:rPr lang="en-US" altLang="zh-CN" dirty="0" smtClean="0">
                <a:sym typeface="+mn-ea"/>
              </a:rPr>
              <a:t>？</a:t>
            </a:r>
            <a:endParaRPr lang="en-US" altLang="zh-CN" dirty="0" smtClean="0">
              <a:latin typeface="Calibri" panose="020F0502020204030204" pitchFamily="34" charset="0"/>
              <a:sym typeface="+mn-ea"/>
            </a:endParaRPr>
          </a:p>
          <a:p>
            <a:pPr lvl="1"/>
            <a:endParaRPr lang="zh-CN" altLang="en-US"/>
          </a:p>
        </p:txBody>
      </p:sp>
      <p:sp>
        <p:nvSpPr>
          <p:cNvPr id="525316" name="Text Box 4"/>
          <p:cNvSpPr txBox="1">
            <a:spLocks noChangeArrowheads="1"/>
          </p:cNvSpPr>
          <p:nvPr/>
        </p:nvSpPr>
        <p:spPr bwMode="auto">
          <a:xfrm>
            <a:off x="4419600" y="381000"/>
            <a:ext cx="7509510" cy="6259195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noAutofit/>
          </a:bodyPr>
          <a:lstStyle/>
          <a:p>
            <a:r>
              <a:rPr lang="en-US" sz="14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 err="1">
                <a:solidFill>
                  <a:srgbClr val="C1651C"/>
                </a:solidFill>
                <a:latin typeface="Menlo-Regular" panose="020B0609030804020204"/>
              </a:rPr>
              <a:t>ccount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= 0;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 err="1">
                <a:solidFill>
                  <a:srgbClr val="4A00FF"/>
                </a:solidFill>
                <a:latin typeface="Menlo-Regular" panose="020B0609030804020204"/>
              </a:rPr>
              <a:t>child_handler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4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>
                <a:solidFill>
                  <a:srgbClr val="C1651C"/>
                </a:solidFill>
                <a:latin typeface="Menlo-Regular" panose="020B0609030804020204"/>
              </a:rPr>
              <a:t>sig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) {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 err="1">
                <a:solidFill>
                  <a:srgbClr val="C1651C"/>
                </a:solidFill>
                <a:latin typeface="Menlo-Regular" panose="020B0609030804020204"/>
              </a:rPr>
              <a:t>olderrno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400" dirty="0" err="1">
                <a:solidFill>
                  <a:srgbClr val="2D961E"/>
                </a:solidFill>
                <a:latin typeface="Menlo-Regular" panose="020B0609030804020204"/>
              </a:rPr>
              <a:t>pid_t</a:t>
            </a:r>
            <a:r>
              <a:rPr lang="fi-FI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400" dirty="0" err="1">
                <a:solidFill>
                  <a:srgbClr val="C1651C"/>
                </a:solidFill>
                <a:latin typeface="Menlo-Regular" panose="020B0609030804020204"/>
              </a:rPr>
              <a:t>pid</a:t>
            </a:r>
            <a:r>
              <a:rPr lang="fi-FI" sz="14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((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= wait(</a:t>
            </a:r>
            <a:r>
              <a:rPr lang="en-US" sz="14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)) &lt; 0)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Sio_error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400" dirty="0">
                <a:solidFill>
                  <a:srgbClr val="9D206F"/>
                </a:solidFill>
                <a:latin typeface="Menlo-Regular" panose="020B0609030804020204"/>
              </a:rPr>
              <a:t>"wait error"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ccount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--;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Sio_puts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400" dirty="0">
                <a:solidFill>
                  <a:srgbClr val="9D206F"/>
                </a:solidFill>
                <a:latin typeface="Menlo-Regular" panose="020B0609030804020204"/>
              </a:rPr>
              <a:t>"Handler reaped child "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Sio_putl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((</a:t>
            </a:r>
            <a:r>
              <a:rPr lang="en-US" sz="1400" dirty="0">
                <a:solidFill>
                  <a:srgbClr val="2D961E"/>
                </a:solidFill>
                <a:latin typeface="Menlo-Regular" panose="020B0609030804020204"/>
              </a:rPr>
              <a:t>long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Sio_puts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400" dirty="0">
                <a:solidFill>
                  <a:srgbClr val="9D206F"/>
                </a:solidFill>
                <a:latin typeface="Menlo-Regular" panose="020B0609030804020204"/>
              </a:rPr>
              <a:t>" \n"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   sleep(1);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nl-NL" sz="14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nl-NL" sz="1400" dirty="0" err="1">
                <a:solidFill>
                  <a:srgbClr val="000000"/>
                </a:solidFill>
                <a:latin typeface="Menlo-Regular" panose="020B0609030804020204"/>
              </a:rPr>
              <a:t>olderrno</a:t>
            </a:r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>
                <a:solidFill>
                  <a:srgbClr val="4A00FF"/>
                </a:solidFill>
                <a:latin typeface="Menlo-Regular" panose="020B0609030804020204"/>
              </a:rPr>
              <a:t>fork14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() {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400" dirty="0" err="1">
                <a:solidFill>
                  <a:srgbClr val="2D961E"/>
                </a:solidFill>
                <a:latin typeface="Menlo-Regular" panose="020B0609030804020204"/>
              </a:rPr>
              <a:t>pid_t</a:t>
            </a:r>
            <a:r>
              <a:rPr lang="fi-FI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400" dirty="0" err="1">
                <a:solidFill>
                  <a:srgbClr val="C1651C"/>
                </a:solidFill>
                <a:latin typeface="Menlo-Regular" panose="020B0609030804020204"/>
              </a:rPr>
              <a:t>pid</a:t>
            </a:r>
            <a:r>
              <a:rPr lang="fi-FI" sz="1400" dirty="0" err="1">
                <a:solidFill>
                  <a:srgbClr val="000000"/>
                </a:solidFill>
                <a:latin typeface="Menlo-Regular" panose="020B0609030804020204"/>
              </a:rPr>
              <a:t>[N</a:t>
            </a:r>
            <a:r>
              <a:rPr lang="fi-FI" sz="1400" dirty="0">
                <a:solidFill>
                  <a:srgbClr val="000000"/>
                </a:solidFill>
                <a:latin typeface="Menlo-Regular" panose="020B0609030804020204"/>
              </a:rPr>
              <a:t>];</a:t>
            </a:r>
            <a:endParaRPr lang="fi-FI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r-FR" sz="14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400" dirty="0">
                <a:solidFill>
                  <a:srgbClr val="C1651C"/>
                </a:solidFill>
                <a:latin typeface="Menlo-Regular" panose="020B0609030804020204"/>
              </a:rPr>
              <a:t>i</a:t>
            </a:r>
            <a:r>
              <a:rPr lang="fr-FR" sz="14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r-FR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ccount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= N;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>
                <a:solidFill>
                  <a:srgbClr val="FF0000"/>
                </a:solidFill>
                <a:latin typeface="Menlo-Regular" panose="020B0609030804020204"/>
              </a:rPr>
              <a:t>Signal(SIGCHLD, </a:t>
            </a:r>
            <a:r>
              <a:rPr lang="en-US" sz="1400" dirty="0" err="1">
                <a:solidFill>
                  <a:srgbClr val="FF0000"/>
                </a:solidFill>
                <a:latin typeface="Menlo-Regular" panose="020B0609030804020204"/>
              </a:rPr>
              <a:t>child_handler</a:t>
            </a:r>
            <a:r>
              <a:rPr lang="en-US" sz="1400" dirty="0">
                <a:solidFill>
                  <a:srgbClr val="FF0000"/>
                </a:solidFill>
                <a:latin typeface="Menlo-Regular" panose="020B0609030804020204"/>
              </a:rPr>
              <a:t>);	//</a:t>
            </a:r>
            <a:r>
              <a:rPr lang="zh-CN" altLang="en-US" sz="1400" dirty="0">
                <a:solidFill>
                  <a:srgbClr val="FF0000"/>
                </a:solidFill>
                <a:latin typeface="Menlo-Regular" panose="020B0609030804020204"/>
              </a:rPr>
              <a:t>注册信号处理函数</a:t>
            </a:r>
            <a:endParaRPr lang="en-US" sz="1400" dirty="0">
              <a:solidFill>
                <a:srgbClr val="00B050"/>
              </a:solidFill>
              <a:latin typeface="Menlo-Regular" panose="020B0609030804020204"/>
            </a:endParaRPr>
          </a:p>
          <a:p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da-DK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da-DK" sz="1400" dirty="0">
                <a:solidFill>
                  <a:srgbClr val="C200FF"/>
                </a:solidFill>
                <a:latin typeface="Menlo-Regular" panose="020B0609030804020204"/>
              </a:rPr>
              <a:t>for</a:t>
            </a:r>
            <a:r>
              <a:rPr lang="da-DK" sz="1400" dirty="0">
                <a:solidFill>
                  <a:srgbClr val="000000"/>
                </a:solidFill>
                <a:latin typeface="Menlo-Regular" panose="020B0609030804020204"/>
              </a:rPr>
              <a:t> (i = 0; i &lt; N; i++) {</a:t>
            </a:r>
            <a:r>
              <a:rPr lang="en-US" altLang="da-DK" sz="1400" dirty="0">
                <a:solidFill>
                  <a:srgbClr val="000000"/>
                </a:solidFill>
                <a:latin typeface="Menlo-Regular" panose="020B0609030804020204"/>
              </a:rPr>
              <a:t>		// </a:t>
            </a:r>
            <a:r>
              <a:rPr lang="zh-CN" altLang="en-US" sz="1400" dirty="0">
                <a:solidFill>
                  <a:srgbClr val="000000"/>
                </a:solidFill>
                <a:latin typeface="Menlo-Regular" panose="020B0609030804020204"/>
              </a:rPr>
              <a:t>创建</a:t>
            </a:r>
            <a:r>
              <a:rPr lang="en-US" altLang="zh-CN" sz="1400" dirty="0">
                <a:solidFill>
                  <a:srgbClr val="000000"/>
                </a:solidFill>
                <a:latin typeface="Menlo-Regular" panose="020B0609030804020204"/>
              </a:rPr>
              <a:t>N</a:t>
            </a:r>
            <a:r>
              <a:rPr lang="zh-CN" altLang="en-US" sz="1400" dirty="0">
                <a:solidFill>
                  <a:srgbClr val="000000"/>
                </a:solidFill>
                <a:latin typeface="Menlo-Regular" panose="020B0609030804020204"/>
              </a:rPr>
              <a:t>个子进程</a:t>
            </a:r>
            <a:endParaRPr lang="da-DK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4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((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] = Fork()) == 0) {	// </a:t>
            </a:r>
            <a:r>
              <a:rPr lang="zh-CN" altLang="en-US" sz="1400" dirty="0">
                <a:solidFill>
                  <a:srgbClr val="000000"/>
                </a:solidFill>
                <a:latin typeface="Menlo-Regular" panose="020B0609030804020204"/>
              </a:rPr>
              <a:t>子进程休眠</a:t>
            </a:r>
            <a:r>
              <a:rPr lang="en-US" altLang="zh-CN" sz="1400" dirty="0">
                <a:solidFill>
                  <a:srgbClr val="000000"/>
                </a:solidFill>
                <a:latin typeface="Menlo-Regular" panose="020B0609030804020204"/>
              </a:rPr>
              <a:t>1</a:t>
            </a:r>
            <a:r>
              <a:rPr lang="zh-CN" altLang="en-US" sz="1400" dirty="0">
                <a:solidFill>
                  <a:srgbClr val="000000"/>
                </a:solidFill>
                <a:latin typeface="Menlo-Regular" panose="020B0609030804020204"/>
              </a:rPr>
              <a:t>秒后</a:t>
            </a:r>
            <a:r>
              <a:rPr lang="en-US" altLang="zh-CN" sz="1400" dirty="0">
                <a:solidFill>
                  <a:srgbClr val="000000"/>
                </a:solidFill>
                <a:latin typeface="Menlo-Regular" panose="020B0609030804020204"/>
              </a:rPr>
              <a:t>，</a:t>
            </a:r>
            <a:r>
              <a:rPr lang="zh-CN" altLang="en-US" sz="1400" dirty="0">
                <a:solidFill>
                  <a:srgbClr val="000000"/>
                </a:solidFill>
                <a:latin typeface="Menlo-Regular" panose="020B0609030804020204"/>
              </a:rPr>
              <a:t>就会终止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           Sleep(1);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        exit(0);  </a:t>
            </a:r>
            <a:r>
              <a:rPr lang="en-US" sz="1400" dirty="0">
                <a:solidFill>
                  <a:srgbClr val="CB2418"/>
                </a:solidFill>
                <a:latin typeface="Menlo-Regular" panose="020B0609030804020204"/>
              </a:rPr>
              <a:t>/* Child exits */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    }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>
                <a:solidFill>
                  <a:srgbClr val="C200FF"/>
                </a:solidFill>
                <a:latin typeface="Menlo-Regular" panose="020B0609030804020204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ccount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&gt; 0) </a:t>
            </a:r>
            <a:r>
              <a:rPr lang="en-US" sz="1400" dirty="0">
                <a:solidFill>
                  <a:srgbClr val="CB2418"/>
                </a:solidFill>
                <a:latin typeface="Menlo-Regular" panose="020B0609030804020204"/>
              </a:rPr>
              <a:t>/* Parent spins */	// </a:t>
            </a:r>
            <a:r>
              <a:rPr lang="zh-CN" altLang="en-US" sz="1400" dirty="0">
                <a:solidFill>
                  <a:srgbClr val="CB2418"/>
                </a:solidFill>
                <a:latin typeface="Menlo-Regular" panose="020B0609030804020204"/>
              </a:rPr>
              <a:t>父进程不会终止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    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687" y="6194755"/>
            <a:ext cx="9366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anose="020F0502020204030204" pitchFamily="34" charset="0"/>
              </a:rPr>
              <a:t>forks.c</a:t>
            </a:r>
            <a:endParaRPr lang="en-US" sz="1800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3895" y="4952822"/>
            <a:ext cx="3581400" cy="829945"/>
          </a:xfrm>
          <a:prstGeom prst="rect">
            <a:avLst/>
          </a:prstGeom>
          <a:solidFill>
            <a:srgbClr val="E0E0E0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3913A8"/>
                </a:solidFill>
                <a:latin typeface="Menlo-Regular" panose="020B0609030804020204"/>
              </a:rPr>
              <a:t>whaleshark</a:t>
            </a:r>
            <a:r>
              <a:rPr lang="en-US" sz="1600" dirty="0">
                <a:solidFill>
                  <a:srgbClr val="3913A8"/>
                </a:solidFill>
                <a:latin typeface="Menlo-Regular" panose="020B0609030804020204"/>
              </a:rPr>
              <a:t>&gt; </a:t>
            </a:r>
            <a:r>
              <a:rPr lang="en-US" sz="1600" dirty="0">
                <a:solidFill>
                  <a:srgbClr val="000000"/>
                </a:solidFill>
                <a:latin typeface="Menlo-Bold" panose="020B0609030804020204"/>
              </a:rPr>
              <a:t>./forks 14</a:t>
            </a:r>
            <a:endParaRPr lang="en-US" sz="1600" b="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b="0" dirty="0">
                <a:solidFill>
                  <a:srgbClr val="000000"/>
                </a:solidFill>
                <a:latin typeface="Menlo-Regular" panose="020B0609030804020204"/>
              </a:rPr>
              <a:t>Handler reaped child 23240</a:t>
            </a:r>
            <a:endParaRPr lang="en-US" sz="1600" b="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b="0" dirty="0">
                <a:solidFill>
                  <a:srgbClr val="000000"/>
                </a:solidFill>
                <a:latin typeface="Menlo-Regular" panose="020B0609030804020204"/>
              </a:rPr>
              <a:t>Handler reaped child 23241</a:t>
            </a:r>
            <a:endParaRPr lang="en-US" sz="1600" dirty="0">
              <a:latin typeface="Courier New" panose="02070609020205020404"/>
              <a:cs typeface="Courier New" panose="020706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8955" y="1362075"/>
            <a:ext cx="9776460" cy="4972050"/>
          </a:xfrm>
        </p:spPr>
        <p:txBody>
          <a:bodyPr/>
          <a:lstStyle/>
          <a:p>
            <a:r>
              <a:rPr lang="zh-CN" altLang="en-US"/>
              <a:t>未处理的信号是不排队的</a:t>
            </a:r>
            <a:endParaRPr lang="en-US"/>
          </a:p>
          <a:p>
            <a:pPr lvl="1"/>
            <a:r>
              <a:rPr lang="en-US"/>
              <a:t> pending </a:t>
            </a:r>
            <a:r>
              <a:rPr lang="zh-CN" altLang="en-US"/>
              <a:t>位向量中每种类型的信号只对应有一位</a:t>
            </a:r>
            <a:endParaRPr lang="zh-CN" altLang="en-US"/>
          </a:p>
          <a:p>
            <a:pPr lvl="1"/>
            <a:r>
              <a:rPr lang="zh-CN" altLang="en-US"/>
              <a:t>所以每种类型最多只能有一个</a:t>
            </a:r>
            <a:r>
              <a:rPr lang="zh-CN" altLang="en-US" b="1"/>
              <a:t>未处理信号</a:t>
            </a:r>
            <a:endParaRPr lang="zh-CN" altLang="en-US"/>
          </a:p>
          <a:p>
            <a:pPr lvl="2"/>
            <a:r>
              <a:rPr lang="zh-CN" altLang="en-US"/>
              <a:t>同时发送的多个同类信号</a:t>
            </a:r>
            <a:r>
              <a:rPr lang="en-US" altLang="zh-CN"/>
              <a:t>，</a:t>
            </a:r>
            <a:r>
              <a:rPr lang="zh-CN" altLang="en-US"/>
              <a:t>只会保留一个未处理信号</a:t>
            </a:r>
            <a:r>
              <a:rPr lang="en-US" altLang="zh-CN"/>
              <a:t>，</a:t>
            </a:r>
            <a:r>
              <a:rPr lang="zh-CN" altLang="en-US"/>
              <a:t>后续的会被</a:t>
            </a:r>
            <a:r>
              <a:rPr lang="zh-CN" altLang="en-US"/>
              <a:t>丢掉</a:t>
            </a:r>
            <a:endParaRPr lang="zh-CN" altLang="en-US"/>
          </a:p>
          <a:p>
            <a:r>
              <a:rPr lang="en-US"/>
              <a:t> </a:t>
            </a:r>
            <a:r>
              <a:rPr lang="zh-CN" altLang="en-US"/>
              <a:t>不可以用信号来对其他进程发生的事件计数</a:t>
            </a:r>
            <a:endParaRPr lang="zh-CN" altLang="en-US"/>
          </a:p>
          <a:p>
            <a:pPr lvl="1"/>
            <a:r>
              <a:rPr lang="zh-CN" altLang="en-US"/>
              <a:t>例如子进程终止的次数</a:t>
            </a:r>
            <a:endParaRPr lang="zh-CN" altLang="en-US"/>
          </a:p>
        </p:txBody>
      </p: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正确的信号处理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正确的信号处理</a:t>
            </a:r>
            <a:endParaRPr lang="zh-CN" altLang="en-US"/>
          </a:p>
        </p:txBody>
      </p:sp>
      <p:sp>
        <p:nvSpPr>
          <p:cNvPr id="526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必须等待所有终止的子进程</a:t>
            </a:r>
            <a:endParaRPr lang="zh-CN" altLang="en-US"/>
          </a:p>
          <a:p>
            <a:pPr lvl="1"/>
            <a:r>
              <a:rPr lang="zh-CN" altLang="en-US"/>
              <a:t>将</a:t>
            </a:r>
            <a:r>
              <a:rPr lang="en-US"/>
              <a:t> wait </a:t>
            </a:r>
            <a:r>
              <a:rPr lang="zh-CN" altLang="en-US"/>
              <a:t>放在循环中，以收割所有已终止的子进程</a:t>
            </a:r>
            <a:endParaRPr lang="zh-CN" altLang="en-US"/>
          </a:p>
          <a:p>
            <a:pPr lvl="2"/>
            <a:r>
              <a:rPr lang="zh-CN" altLang="en-US"/>
              <a:t>返回值</a:t>
            </a:r>
            <a:r>
              <a:rPr lang="en-US" altLang="zh-CN"/>
              <a:t>&gt;0：</a:t>
            </a:r>
            <a:r>
              <a:rPr lang="zh-CN" altLang="en-US"/>
              <a:t>成功回收一个子进程</a:t>
            </a:r>
            <a:r>
              <a:rPr lang="en-US" altLang="zh-CN"/>
              <a:t>，</a:t>
            </a:r>
            <a:r>
              <a:rPr lang="zh-CN" altLang="en-US"/>
              <a:t>返回值位该子进程的</a:t>
            </a:r>
            <a:r>
              <a:rPr lang="en-US" altLang="zh-CN"/>
              <a:t>PID</a:t>
            </a:r>
            <a:endParaRPr lang="en-US" altLang="zh-CN"/>
          </a:p>
          <a:p>
            <a:pPr lvl="2"/>
            <a:r>
              <a:rPr lang="zh-CN" altLang="en-US"/>
              <a:t>返回值</a:t>
            </a:r>
            <a:r>
              <a:rPr lang="en-US" altLang="zh-CN"/>
              <a:t>&lt;0：</a:t>
            </a:r>
            <a:r>
              <a:rPr lang="zh-CN" altLang="en-US"/>
              <a:t>调用失败</a:t>
            </a:r>
            <a:r>
              <a:rPr lang="en-US" altLang="zh-CN"/>
              <a:t>（</a:t>
            </a:r>
            <a:r>
              <a:rPr lang="zh-CN" altLang="en-US"/>
              <a:t>比如</a:t>
            </a:r>
            <a:r>
              <a:rPr lang="en-US" altLang="zh-CN"/>
              <a:t>，</a:t>
            </a:r>
            <a:r>
              <a:rPr lang="zh-CN" altLang="en-US"/>
              <a:t>没有子进程可等待</a:t>
            </a:r>
            <a:r>
              <a:rPr lang="en-US" altLang="zh-CN"/>
              <a:t>；</a:t>
            </a:r>
            <a:r>
              <a:rPr lang="zh-CN" altLang="en-US"/>
              <a:t>或者被中断</a:t>
            </a:r>
            <a:r>
              <a:rPr lang="en-US" altLang="zh-CN"/>
              <a:t>）</a:t>
            </a:r>
            <a:endParaRPr lang="en-US" altLang="zh-CN"/>
          </a:p>
        </p:txBody>
      </p:sp>
      <p:sp>
        <p:nvSpPr>
          <p:cNvPr id="526340" name="Text Box 4"/>
          <p:cNvSpPr txBox="1">
            <a:spLocks noChangeArrowheads="1"/>
          </p:cNvSpPr>
          <p:nvPr/>
        </p:nvSpPr>
        <p:spPr bwMode="auto">
          <a:xfrm>
            <a:off x="1295400" y="3048000"/>
            <a:ext cx="8263467" cy="3124200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normAutofit fontScale="92500" lnSpcReduction="20000"/>
          </a:bodyPr>
          <a:lstStyle/>
          <a:p>
            <a:r>
              <a:rPr lang="en-US" sz="18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Menlo-Regular" panose="020B0609030804020204"/>
              </a:rPr>
              <a:t>child_handler2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0">
                <a:solidFill>
                  <a:srgbClr val="C1651C"/>
                </a:solidFill>
                <a:latin typeface="Menlo-Regular" panose="020B0609030804020204"/>
              </a:rPr>
              <a:t>sig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0" err="1">
                <a:solidFill>
                  <a:srgbClr val="C1651C"/>
                </a:solidFill>
                <a:latin typeface="Menlo-Regular" panose="020B0609030804020204"/>
              </a:rPr>
              <a:t>olderrno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800" dirty="0" err="1">
                <a:solidFill>
                  <a:srgbClr val="2D961E"/>
                </a:solidFill>
                <a:latin typeface="Menlo-Regular" panose="020B0609030804020204"/>
              </a:rPr>
              <a:t>pid_t</a:t>
            </a:r>
            <a:r>
              <a:rPr lang="fi-FI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800" dirty="0" err="1">
                <a:solidFill>
                  <a:srgbClr val="C1651C"/>
                </a:solidFill>
                <a:latin typeface="Menlo-Regular" panose="020B0609030804020204"/>
              </a:rPr>
              <a:t>pid</a:t>
            </a:r>
            <a:r>
              <a:rPr lang="fi-FI" sz="18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800" dirty="0">
                <a:solidFill>
                  <a:srgbClr val="C200FF"/>
                </a:solidFill>
                <a:latin typeface="Menlo-Regular" panose="020B0609030804020204"/>
              </a:rPr>
              <a:t>while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((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= wait(</a:t>
            </a:r>
            <a:r>
              <a:rPr lang="en-US" sz="18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)) &gt; 0) {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ccount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--;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Sio_puts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Menlo-Regular" panose="020B0609030804020204"/>
              </a:rPr>
              <a:t>"Handler reaped child "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Sio_putl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((</a:t>
            </a:r>
            <a:r>
              <a:rPr lang="en-US" sz="1800" dirty="0">
                <a:solidFill>
                  <a:srgbClr val="2D961E"/>
                </a:solidFill>
                <a:latin typeface="Menlo-Regular" panose="020B0609030804020204"/>
              </a:rPr>
              <a:t>long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Sio_puts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Menlo-Regular" panose="020B0609030804020204"/>
              </a:rPr>
              <a:t>" \n"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8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!= ECHILD)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Sio_error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Menlo-Regular" panose="020B0609030804020204"/>
              </a:rPr>
              <a:t>"wait error"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olderrno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29399" y="4572000"/>
            <a:ext cx="4495800" cy="1814830"/>
          </a:xfrm>
          <a:prstGeom prst="rect">
            <a:avLst/>
          </a:prstGeom>
          <a:solidFill>
            <a:srgbClr val="E0E0E0"/>
          </a:solidFill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3913A8"/>
                </a:solidFill>
                <a:latin typeface="Menlo-Regular" panose="020B0609030804020204"/>
              </a:rPr>
              <a:t>whaleshark</a:t>
            </a:r>
            <a:r>
              <a:rPr lang="en-US" sz="1600" dirty="0">
                <a:solidFill>
                  <a:srgbClr val="3913A8"/>
                </a:solidFill>
                <a:latin typeface="Menlo-Regular" panose="020B0609030804020204"/>
              </a:rPr>
              <a:t>&gt; </a:t>
            </a:r>
            <a:r>
              <a:rPr lang="en-US" sz="1600" dirty="0">
                <a:solidFill>
                  <a:srgbClr val="000000"/>
                </a:solidFill>
                <a:latin typeface="Menlo-Bold" panose="020B0609030804020204"/>
              </a:rPr>
              <a:t>./forks 15</a:t>
            </a:r>
            <a:endParaRPr lang="en-US" sz="1600" b="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b="0" dirty="0">
                <a:solidFill>
                  <a:srgbClr val="000000"/>
                </a:solidFill>
                <a:latin typeface="Menlo-Regular" panose="020B0609030804020204"/>
              </a:rPr>
              <a:t>Handler reaped child 23246</a:t>
            </a:r>
            <a:endParaRPr lang="en-US" sz="1600" b="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b="0" dirty="0">
                <a:solidFill>
                  <a:srgbClr val="000000"/>
                </a:solidFill>
                <a:latin typeface="Menlo-Regular" panose="020B0609030804020204"/>
              </a:rPr>
              <a:t>Handler reaped child 23247</a:t>
            </a:r>
            <a:endParaRPr lang="en-US" sz="1600" b="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b="0" dirty="0">
                <a:solidFill>
                  <a:srgbClr val="000000"/>
                </a:solidFill>
                <a:latin typeface="Menlo-Regular" panose="020B0609030804020204"/>
              </a:rPr>
              <a:t>Handler reaped child 23248</a:t>
            </a:r>
            <a:endParaRPr lang="en-US" sz="1600" b="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b="0" dirty="0">
                <a:solidFill>
                  <a:srgbClr val="000000"/>
                </a:solidFill>
                <a:latin typeface="Menlo-Regular" panose="020B0609030804020204"/>
              </a:rPr>
              <a:t>Handler reaped child 23249</a:t>
            </a:r>
            <a:endParaRPr lang="en-US" sz="1600" b="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b="0" dirty="0">
                <a:solidFill>
                  <a:srgbClr val="000000"/>
                </a:solidFill>
                <a:latin typeface="Menlo-Regular" panose="020B0609030804020204"/>
              </a:rPr>
              <a:t>Handler reaped child 23250</a:t>
            </a:r>
            <a:endParaRPr lang="en-US" sz="1600" b="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b="0" dirty="0" err="1">
                <a:solidFill>
                  <a:srgbClr val="3913A8"/>
                </a:solidFill>
                <a:latin typeface="Menlo-Regular" panose="020B0609030804020204"/>
              </a:rPr>
              <a:t>whaleshark</a:t>
            </a:r>
            <a:r>
              <a:rPr lang="en-US" sz="1600" b="0" dirty="0">
                <a:solidFill>
                  <a:srgbClr val="3913A8"/>
                </a:solidFill>
                <a:latin typeface="Menlo-Regular" panose="020B0609030804020204"/>
              </a:rPr>
              <a:t>&gt;</a:t>
            </a:r>
            <a:endParaRPr lang="en-US" sz="1600" dirty="0"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01000" y="3886200"/>
            <a:ext cx="37719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dirty="0" smtClean="0">
                <a:latin typeface="Calibri" panose="020F0502020204030204" pitchFamily="34" charset="0"/>
                <a:sym typeface="+mn-ea"/>
              </a:rPr>
              <a:t>这里</a:t>
            </a:r>
            <a:r>
              <a:rPr lang="en-US" altLang="zh-CN" sz="1800" dirty="0" smtClean="0">
                <a:latin typeface="Calibri" panose="020F0502020204030204" pitchFamily="34" charset="0"/>
                <a:sym typeface="+mn-ea"/>
              </a:rPr>
              <a:t>N=5，</a:t>
            </a:r>
            <a:r>
              <a:rPr lang="zh-CN" altLang="en-US" sz="1800" dirty="0" smtClean="0">
                <a:latin typeface="Calibri" panose="020F0502020204030204" pitchFamily="34" charset="0"/>
                <a:sym typeface="+mn-ea"/>
              </a:rPr>
              <a:t>回收了</a:t>
            </a:r>
            <a:r>
              <a:rPr lang="en-US" altLang="zh-CN" sz="1800" dirty="0" smtClean="0">
                <a:latin typeface="Calibri" panose="020F0502020204030204" pitchFamily="34" charset="0"/>
                <a:sym typeface="+mn-ea"/>
              </a:rPr>
              <a:t>5</a:t>
            </a:r>
            <a:r>
              <a:rPr lang="zh-CN" altLang="en-US" sz="1800" dirty="0" smtClean="0">
                <a:latin typeface="Calibri" panose="020F0502020204030204" pitchFamily="34" charset="0"/>
                <a:sym typeface="+mn-ea"/>
              </a:rPr>
              <a:t>个</a:t>
            </a:r>
            <a:r>
              <a:rPr lang="zh-CN" altLang="en-US" sz="1800" dirty="0" smtClean="0">
                <a:latin typeface="Calibri" panose="020F0502020204030204" pitchFamily="34" charset="0"/>
                <a:sym typeface="+mn-ea"/>
              </a:rPr>
              <a:t>子进程</a:t>
            </a:r>
            <a:endParaRPr lang="zh-CN" altLang="en-US" sz="1800" dirty="0" smtClean="0">
              <a:latin typeface="Calibri" panose="020F050202020403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0" y="457200"/>
            <a:ext cx="4939030" cy="1308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正确的信号处理</a:t>
            </a:r>
            <a:endParaRPr lang="zh-CN" altLang="en-US" dirty="0"/>
          </a:p>
        </p:txBody>
      </p:sp>
      <p:sp>
        <p:nvSpPr>
          <p:cNvPr id="526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使用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printf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的不安全版本</a:t>
            </a: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：</a:t>
            </a:r>
            <a:endParaRPr lang="zh-CN" altLang="en-US"/>
          </a:p>
          <a:p>
            <a:pPr lvl="1"/>
            <a:r>
              <a:rPr lang="zh-CN" altLang="en-US"/>
              <a:t>主进程的单次</a:t>
            </a:r>
            <a:r>
              <a:rPr lang="en-US" altLang="zh-CN"/>
              <a:t>printf，</a:t>
            </a:r>
            <a:r>
              <a:rPr lang="zh-CN" altLang="en-US"/>
              <a:t>可能跟信号处理中的单次</a:t>
            </a:r>
            <a:r>
              <a:rPr lang="en-US" altLang="zh-CN"/>
              <a:t>printf</a:t>
            </a:r>
            <a:r>
              <a:rPr lang="zh-CN" altLang="en-US"/>
              <a:t>交替</a:t>
            </a:r>
            <a:r>
              <a:rPr lang="zh-CN" altLang="en-US"/>
              <a:t>输出</a:t>
            </a:r>
            <a:endParaRPr lang="zh-CN" altLang="en-US"/>
          </a:p>
        </p:txBody>
      </p:sp>
      <p:sp>
        <p:nvSpPr>
          <p:cNvPr id="526340" name="Text Box 4"/>
          <p:cNvSpPr txBox="1">
            <a:spLocks noChangeArrowheads="1"/>
          </p:cNvSpPr>
          <p:nvPr/>
        </p:nvSpPr>
        <p:spPr bwMode="auto">
          <a:xfrm>
            <a:off x="1295400" y="2641600"/>
            <a:ext cx="8263467" cy="3124200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normAutofit fontScale="92500" lnSpcReduction="20000"/>
          </a:bodyPr>
          <a:lstStyle/>
          <a:p>
            <a:r>
              <a:rPr lang="en-US" sz="18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Menlo-Regular" panose="020B0609030804020204"/>
              </a:rPr>
              <a:t>child_handler2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0">
                <a:solidFill>
                  <a:srgbClr val="C1651C"/>
                </a:solidFill>
                <a:latin typeface="Menlo-Regular" panose="020B0609030804020204"/>
              </a:rPr>
              <a:t>sig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0" err="1">
                <a:solidFill>
                  <a:srgbClr val="C1651C"/>
                </a:solidFill>
                <a:latin typeface="Menlo-Regular" panose="020B0609030804020204"/>
              </a:rPr>
              <a:t>olderrno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800" dirty="0" err="1">
                <a:solidFill>
                  <a:srgbClr val="2D961E"/>
                </a:solidFill>
                <a:latin typeface="Menlo-Regular" panose="020B0609030804020204"/>
              </a:rPr>
              <a:t>pid_t</a:t>
            </a:r>
            <a:r>
              <a:rPr lang="fi-FI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800" dirty="0" err="1">
                <a:solidFill>
                  <a:srgbClr val="C1651C"/>
                </a:solidFill>
                <a:latin typeface="Menlo-Regular" panose="020B0609030804020204"/>
              </a:rPr>
              <a:t>pid</a:t>
            </a:r>
            <a:r>
              <a:rPr lang="fi-FI" sz="18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800" dirty="0">
                <a:solidFill>
                  <a:srgbClr val="C200FF"/>
                </a:solidFill>
                <a:latin typeface="Menlo-Regular" panose="020B0609030804020204"/>
              </a:rPr>
              <a:t>while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((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= wait(</a:t>
            </a:r>
            <a:r>
              <a:rPr lang="en-US" sz="18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)) &gt; 0) {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ccount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--;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800" dirty="0" err="1">
                <a:solidFill>
                  <a:srgbClr val="FF0000"/>
                </a:solidFill>
                <a:latin typeface="Menlo-Regular" panose="020B0609030804020204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Menlo-Regular" panose="020B0609030804020204"/>
              </a:rPr>
              <a:t>"Handler reaped child "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800" dirty="0" err="1">
                <a:solidFill>
                  <a:srgbClr val="FF0000"/>
                </a:solidFill>
                <a:latin typeface="Menlo-Regular" panose="020B0609030804020204"/>
                <a:sym typeface="+mn-ea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(“%ld”, (</a:t>
            </a:r>
            <a:r>
              <a:rPr lang="en-US" sz="1800" dirty="0">
                <a:solidFill>
                  <a:srgbClr val="2D961E"/>
                </a:solidFill>
                <a:latin typeface="Menlo-Regular" panose="020B0609030804020204"/>
              </a:rPr>
              <a:t>long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800" dirty="0" err="1">
                <a:solidFill>
                  <a:srgbClr val="FF0000"/>
                </a:solidFill>
                <a:latin typeface="Menlo-Regular" panose="020B0609030804020204"/>
                <a:sym typeface="+mn-ea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Menlo-Regular" panose="020B0609030804020204"/>
              </a:rPr>
              <a:t>" \n"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8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!= ECHILD)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Sio_error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Menlo-Regular" panose="020B0609030804020204"/>
              </a:rPr>
              <a:t>"wait error"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Menlo-Regular" panose="020B0609030804020204"/>
              </a:rPr>
              <a:t>olderrno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191000"/>
            <a:ext cx="4397375" cy="1743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通过同步控制流来避免并发错误</a:t>
            </a:r>
            <a:r>
              <a:rPr lang="en-US" altLang="zh-CN"/>
              <a:t>（</a:t>
            </a:r>
            <a:r>
              <a:rPr lang="zh-CN" altLang="en-US"/>
              <a:t>教材</a:t>
            </a:r>
            <a:r>
              <a:rPr lang="en-US" altLang="zh-CN"/>
              <a:t>8.5.6）</a:t>
            </a:r>
            <a:br>
              <a:rPr lang="en-US" altLang="zh-CN"/>
            </a:br>
            <a:r>
              <a:rPr lang="en-US" altLang="zh-CN"/>
              <a:t>——</a:t>
            </a:r>
            <a:r>
              <a:rPr lang="zh-CN" altLang="en-US"/>
              <a:t>同步</a:t>
            </a:r>
            <a:r>
              <a:rPr lang="en-US" altLang="zh-CN"/>
              <a:t>1：</a:t>
            </a:r>
            <a:r>
              <a:rPr lang="zh-CN" altLang="en-US"/>
              <a:t>等待主函数先</a:t>
            </a:r>
            <a:r>
              <a:rPr lang="zh-CN" altLang="en-US"/>
              <a:t>完成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8955" y="1362075"/>
            <a:ext cx="4231640" cy="4972050"/>
          </a:xfrm>
        </p:spPr>
        <p:txBody>
          <a:bodyPr/>
          <a:p>
            <a:r>
              <a:rPr lang="zh-CN" altLang="en-US"/>
              <a:t>介绍</a:t>
            </a:r>
            <a:endParaRPr lang="zh-CN" altLang="en-US"/>
          </a:p>
          <a:p>
            <a:pPr lvl="1"/>
            <a:r>
              <a:rPr lang="en-US" altLang="fi-FI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Shell</a:t>
            </a:r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利用</a:t>
            </a:r>
            <a:r>
              <a:rPr lang="en-US" altLang="zh-CN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addjob和deletejob</a:t>
            </a:r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来管理</a:t>
            </a:r>
            <a:r>
              <a:rPr lang="en-US" altLang="zh-CN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jobs</a:t>
            </a:r>
            <a:endParaRPr lang="en-US" altLang="zh-CN" dirty="0" err="1">
              <a:solidFill>
                <a:srgbClr val="000000"/>
              </a:solidFill>
              <a:latin typeface="Menlo-Regular" panose="020B0609030804020204"/>
              <a:sym typeface="+mn-ea"/>
            </a:endParaRPr>
          </a:p>
          <a:p>
            <a:pPr lvl="1"/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每创建一个子进程</a:t>
            </a:r>
            <a:r>
              <a:rPr lang="en-US" altLang="zh-CN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，</a:t>
            </a:r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就调用</a:t>
            </a:r>
            <a:r>
              <a:rPr lang="en-US" altLang="zh-CN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addjob</a:t>
            </a:r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来</a:t>
            </a:r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加入任务队列</a:t>
            </a:r>
            <a:endParaRPr lang="zh-CN" altLang="en-US" dirty="0" err="1">
              <a:solidFill>
                <a:srgbClr val="000000"/>
              </a:solidFill>
              <a:latin typeface="Menlo-Regular" panose="020B0609030804020204"/>
              <a:sym typeface="+mn-ea"/>
            </a:endParaRPr>
          </a:p>
          <a:p>
            <a:pPr lvl="1"/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每结束一个子进程</a:t>
            </a:r>
            <a:r>
              <a:rPr lang="en-US" altLang="zh-CN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，</a:t>
            </a:r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就调用信号处理代码</a:t>
            </a:r>
            <a:r>
              <a:rPr lang="en-US" altLang="zh-CN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——deletejob</a:t>
            </a:r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来</a:t>
            </a:r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清理任务</a:t>
            </a:r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队列</a:t>
            </a:r>
            <a:endParaRPr lang="zh-CN" altLang="en-US" dirty="0" err="1">
              <a:solidFill>
                <a:srgbClr val="000000"/>
              </a:solidFill>
              <a:latin typeface="Menlo-Regular" panose="020B0609030804020204"/>
              <a:sym typeface="+mn-ea"/>
            </a:endParaRPr>
          </a:p>
          <a:p>
            <a:pPr lvl="0"/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说明</a:t>
            </a:r>
            <a:endParaRPr lang="en-US" altLang="zh-CN" dirty="0" err="1">
              <a:solidFill>
                <a:srgbClr val="000000"/>
              </a:solidFill>
              <a:latin typeface="Menlo-Regular" panose="020B0609030804020204"/>
              <a:sym typeface="+mn-ea"/>
            </a:endParaRPr>
          </a:p>
          <a:p>
            <a:pPr lvl="1"/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在</a:t>
            </a:r>
            <a:r>
              <a:rPr lang="en-US" altLang="zh-CN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addjob</a:t>
            </a:r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前阻塞所有信号</a:t>
            </a:r>
            <a:r>
              <a:rPr lang="en-US" altLang="zh-CN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，</a:t>
            </a:r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避免异步的信号处理代码</a:t>
            </a:r>
            <a:r>
              <a:rPr lang="zh-CN" altLang="en-US" b="1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并发操作</a:t>
            </a:r>
            <a:r>
              <a:rPr lang="en-US" altLang="zh-CN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jobs</a:t>
            </a:r>
            <a:r>
              <a:rPr lang="zh-CN" altLang="en-US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队列</a:t>
            </a:r>
            <a:r>
              <a:rPr lang="en-US" altLang="zh-CN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——</a:t>
            </a:r>
            <a:r>
              <a:rPr lang="zh-CN" altLang="en-US" b="1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目的是实现</a:t>
            </a:r>
            <a:r>
              <a:rPr lang="en-US" altLang="zh-CN" b="1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addjob</a:t>
            </a:r>
            <a:r>
              <a:rPr lang="zh-CN" altLang="en-US" b="1" dirty="0" err="1">
                <a:solidFill>
                  <a:srgbClr val="000000"/>
                </a:solidFill>
                <a:latin typeface="Menlo-Regular" panose="020B0609030804020204"/>
                <a:sym typeface="+mn-ea"/>
              </a:rPr>
              <a:t>的信号安全</a:t>
            </a:r>
            <a:endParaRPr lang="en-US" altLang="zh-CN" dirty="0" err="1">
              <a:solidFill>
                <a:srgbClr val="000000"/>
              </a:solidFill>
              <a:latin typeface="Menlo-Regular" panose="020B0609030804020204"/>
              <a:sym typeface="+mn-ea"/>
            </a:endParaRPr>
          </a:p>
          <a:p>
            <a:pPr lvl="1"/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648012" y="1371600"/>
            <a:ext cx="7168515" cy="5262245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Menlo-Regular" panose="020B0609030804020204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 panose="020B0609030804020204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Menlo-Regular" panose="020B0609030804020204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**</a:t>
            </a:r>
            <a:r>
              <a:rPr lang="en-US" sz="1600" dirty="0" err="1">
                <a:solidFill>
                  <a:srgbClr val="C1651C"/>
                </a:solidFill>
                <a:latin typeface="Menlo-Regular" panose="020B0609030804020204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Menlo-Regular" panose="020B0609030804020204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Menlo-Regular" panose="020B0609030804020204"/>
              </a:rPr>
              <a:t>sigset_t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Menlo-Regular" panose="020B0609030804020204"/>
              </a:rPr>
              <a:t>mask_all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fi-FI" sz="1600" dirty="0" err="1">
                <a:solidFill>
                  <a:srgbClr val="C1651C"/>
                </a:solidFill>
                <a:latin typeface="Menlo-Regular" panose="020B0609030804020204"/>
              </a:rPr>
              <a:t>prev_all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Menlo-Regular" panose="020B0609030804020204"/>
              </a:rPr>
              <a:t>Sigfillset(&amp;mask_all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r>
              <a:rPr lang="en-US" altLang="fi-FI" sz="1600" dirty="0">
                <a:solidFill>
                  <a:srgbClr val="000000"/>
                </a:solidFill>
                <a:latin typeface="Menlo-Regular" panose="020B0609030804020204"/>
              </a:rPr>
              <a:t>	// </a:t>
            </a:r>
            <a:r>
              <a:rPr lang="zh-CN" altLang="en-US" sz="1600" dirty="0">
                <a:solidFill>
                  <a:srgbClr val="000000"/>
                </a:solidFill>
                <a:latin typeface="Menlo-Regular" panose="020B0609030804020204"/>
              </a:rPr>
              <a:t>准备阻塞所有信号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Menlo-Regular" panose="020B0609030804020204"/>
              </a:rPr>
              <a:t>Signal(SIGCHLD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fi-FI" sz="1600" dirty="0" err="1">
                <a:solidFill>
                  <a:srgbClr val="000000"/>
                </a:solidFill>
                <a:latin typeface="Menlo-Regular" panose="020B0609030804020204"/>
              </a:rPr>
              <a:t>handler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r>
              <a:rPr lang="en-US" altLang="fi-FI" sz="1600" dirty="0">
                <a:solidFill>
                  <a:srgbClr val="000000"/>
                </a:solidFill>
                <a:latin typeface="Menlo-Regular" panose="020B0609030804020204"/>
              </a:rPr>
              <a:t> // </a:t>
            </a:r>
            <a:r>
              <a:rPr lang="zh-CN" altLang="en-US" sz="1600" dirty="0">
                <a:solidFill>
                  <a:srgbClr val="000000"/>
                </a:solidFill>
                <a:latin typeface="Menlo-Regular" panose="020B0609030804020204"/>
              </a:rPr>
              <a:t>注册信号处理函数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Menlo-Regular" panose="020B0609030804020204"/>
              </a:rPr>
              <a:t>initjobs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(); </a:t>
            </a:r>
            <a:r>
              <a:rPr lang="fi-FI" sz="1600" dirty="0">
                <a:solidFill>
                  <a:srgbClr val="CB2418"/>
                </a:solidFill>
                <a:latin typeface="Menlo-Regular" panose="020B0609030804020204"/>
              </a:rPr>
              <a:t>/* </a:t>
            </a:r>
            <a:r>
              <a:rPr lang="fi-FI" sz="1600" dirty="0" err="1">
                <a:solidFill>
                  <a:srgbClr val="CB2418"/>
                </a:solidFill>
                <a:latin typeface="Menlo-Regular" panose="020B0609030804020204"/>
              </a:rPr>
              <a:t>Initialize</a:t>
            </a:r>
            <a:r>
              <a:rPr lang="fi-FI" sz="1600" dirty="0">
                <a:solidFill>
                  <a:srgbClr val="CB2418"/>
                </a:solidFill>
                <a:latin typeface="Menlo-Regular" panose="020B0609030804020204"/>
              </a:rPr>
              <a:t> the </a:t>
            </a:r>
            <a:r>
              <a:rPr lang="fi-FI" sz="1600" dirty="0" err="1">
                <a:solidFill>
                  <a:srgbClr val="CB2418"/>
                </a:solidFill>
                <a:latin typeface="Menlo-Regular" panose="020B0609030804020204"/>
              </a:rPr>
              <a:t>job</a:t>
            </a:r>
            <a:r>
              <a:rPr lang="fi-FI" sz="1600" dirty="0">
                <a:solidFill>
                  <a:srgbClr val="CB2418"/>
                </a:solidFill>
                <a:latin typeface="Menlo-Regular" panose="020B0609030804020204"/>
              </a:rPr>
              <a:t> </a:t>
            </a:r>
            <a:r>
              <a:rPr lang="fi-FI" sz="1600" dirty="0" err="1">
                <a:solidFill>
                  <a:srgbClr val="CB2418"/>
                </a:solidFill>
                <a:latin typeface="Menlo-Regular" panose="020B0609030804020204"/>
              </a:rPr>
              <a:t>list</a:t>
            </a:r>
            <a:r>
              <a:rPr lang="fi-FI" sz="160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(1) {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((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= Fork()) == 0) { </a:t>
            </a:r>
            <a:r>
              <a:rPr lang="en-US" sz="1600" dirty="0">
                <a:solidFill>
                  <a:srgbClr val="CB2418"/>
                </a:solidFill>
                <a:latin typeface="Menlo-Regular" panose="020B0609030804020204"/>
              </a:rPr>
              <a:t>/* Child */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Execve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"/bin/date"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6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}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457200" lvl="1" indent="457200" algn="l"/>
            <a:r>
              <a:rPr lang="en-US" sz="1600" dirty="0">
                <a:solidFill>
                  <a:srgbClr val="CB2418"/>
                </a:solidFill>
                <a:latin typeface="Menlo-Regular" panose="020B0609030804020204"/>
                <a:sym typeface="+mn-ea"/>
              </a:rPr>
              <a:t>/* Parent */</a:t>
            </a:r>
            <a:endParaRPr lang="en-US" sz="1600" dirty="0">
              <a:solidFill>
                <a:srgbClr val="CB2418"/>
              </a:solidFill>
              <a:latin typeface="Menlo-Regular" panose="020B0609030804020204"/>
              <a:sym typeface="+mn-ea"/>
            </a:endParaRPr>
          </a:p>
          <a:p>
            <a:pPr marL="457200" lvl="1" indent="457200"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// </a:t>
            </a:r>
            <a:r>
              <a:rPr lang="zh-CN" altLang="en-US" sz="1600" dirty="0">
                <a:solidFill>
                  <a:srgbClr val="000000"/>
                </a:solidFill>
                <a:latin typeface="Menlo-Regular" panose="020B0609030804020204"/>
              </a:rPr>
              <a:t>阻塞所有信号</a:t>
            </a:r>
            <a:r>
              <a:rPr lang="en-US" altLang="zh-CN" sz="1600" dirty="0">
                <a:solidFill>
                  <a:srgbClr val="000000"/>
                </a:solidFill>
                <a:latin typeface="Menlo-Regular" panose="020B0609030804020204"/>
              </a:rPr>
              <a:t>，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Sigprocmask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(SIG_BLOCK, &amp;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mask_all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&amp;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prev_all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 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addjob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  </a:t>
            </a:r>
            <a:r>
              <a:rPr lang="en-US" sz="1600" dirty="0">
                <a:solidFill>
                  <a:srgbClr val="CB2418"/>
                </a:solidFill>
                <a:latin typeface="Menlo-Regular" panose="020B0609030804020204"/>
              </a:rPr>
              <a:t>/* Add the child to the job list */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Sigprocmask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(SIG_SETMASK, &amp;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prev_all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6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exit(0);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095781"/>
            <a:ext cx="15970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7F7F7F"/>
                </a:solidFill>
                <a:latin typeface="Calibri" panose="020F0502020204030204" pitchFamily="34" charset="0"/>
              </a:rPr>
              <a:t>procmask1.c</a:t>
            </a:r>
            <a:endParaRPr lang="en-US" sz="1800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4892040" cy="4972050"/>
          </a:xfrm>
        </p:spPr>
        <p:txBody>
          <a:bodyPr/>
          <a:lstStyle/>
          <a:p>
            <a:r>
              <a:rPr lang="en-US"/>
              <a:t> Shell </a:t>
            </a:r>
            <a:r>
              <a:rPr lang="zh-CN" altLang="en-US"/>
              <a:t>的</a:t>
            </a:r>
            <a:r>
              <a:rPr lang="en-US" altLang="zh-CN"/>
              <a:t> </a:t>
            </a:r>
            <a:r>
              <a:rPr lang="en-US"/>
              <a:t>SIGCHLD</a:t>
            </a:r>
            <a:r>
              <a:rPr lang="en-US" altLang="zh-CN"/>
              <a:t> </a:t>
            </a:r>
            <a:r>
              <a:rPr lang="zh-CN" altLang="en-US"/>
              <a:t>处理程序</a:t>
            </a:r>
            <a:endParaRPr lang="zh-CN" altLang="en-US"/>
          </a:p>
          <a:p>
            <a:pPr lvl="1"/>
            <a:r>
              <a:rPr lang="zh-CN" altLang="en-US"/>
              <a:t>信号处理程序中</a:t>
            </a:r>
            <a:r>
              <a:rPr lang="en-US" altLang="zh-CN"/>
              <a:t>，</a:t>
            </a:r>
            <a:r>
              <a:rPr lang="zh-CN" altLang="en-US"/>
              <a:t>每结束一个子进程</a:t>
            </a:r>
            <a:r>
              <a:rPr lang="en-US" altLang="zh-CN"/>
              <a:t>，</a:t>
            </a:r>
            <a:r>
              <a:rPr lang="zh-CN" altLang="en-US"/>
              <a:t>就调用</a:t>
            </a:r>
            <a:r>
              <a:rPr lang="en-US" altLang="zh-CN"/>
              <a:t>deletejob</a:t>
            </a:r>
            <a:r>
              <a:rPr lang="zh-CN" altLang="en-US"/>
              <a:t>清理任务队列</a:t>
            </a:r>
            <a:endParaRPr lang="zh-CN" altLang="en-US"/>
          </a:p>
          <a:p>
            <a:pPr lvl="0"/>
            <a:r>
              <a:rPr lang="zh-CN" altLang="en-US"/>
              <a:t>说明</a:t>
            </a:r>
            <a:endParaRPr lang="zh-CN" altLang="en-US"/>
          </a:p>
          <a:p>
            <a:pPr lvl="1"/>
            <a:r>
              <a:rPr lang="zh-CN" altLang="en-US"/>
              <a:t>在</a:t>
            </a:r>
            <a:r>
              <a:rPr lang="en-US" altLang="zh-CN"/>
              <a:t>deletejob</a:t>
            </a:r>
            <a:r>
              <a:rPr lang="zh-CN" altLang="en-US"/>
              <a:t>前阻塞所有信号</a:t>
            </a:r>
            <a:r>
              <a:rPr lang="en-US" altLang="zh-CN"/>
              <a:t>，</a:t>
            </a:r>
            <a:r>
              <a:rPr lang="zh-CN" altLang="en-US"/>
              <a:t>避免异步的</a:t>
            </a:r>
            <a:r>
              <a:rPr lang="en-US" altLang="zh-CN"/>
              <a:t>、</a:t>
            </a:r>
            <a:r>
              <a:rPr lang="zh-CN" altLang="en-US"/>
              <a:t>嵌套的信号处理代码</a:t>
            </a:r>
            <a:r>
              <a:rPr lang="zh-CN" altLang="en-US" b="1"/>
              <a:t>并发操作</a:t>
            </a:r>
            <a:r>
              <a:rPr lang="en-US" altLang="zh-CN"/>
              <a:t>jobs</a:t>
            </a:r>
            <a:r>
              <a:rPr lang="zh-CN" altLang="en-US"/>
              <a:t>队列</a:t>
            </a:r>
            <a:endParaRPr lang="zh-CN" altLang="en-US"/>
          </a:p>
          <a:p>
            <a:pPr lvl="1"/>
            <a:r>
              <a:rPr lang="zh-CN" altLang="en-US" b="1"/>
              <a:t>目的是实现</a:t>
            </a:r>
            <a:r>
              <a:rPr lang="en-US" altLang="zh-CN" b="1"/>
              <a:t>deletejob</a:t>
            </a:r>
            <a:r>
              <a:rPr lang="zh-CN" altLang="en-US" b="1"/>
              <a:t>的异步信号安全</a:t>
            </a:r>
            <a:endParaRPr lang="zh-CN" altLang="en-US" b="1"/>
          </a:p>
          <a:p>
            <a:pPr lvl="0"/>
            <a:r>
              <a:rPr lang="zh-CN" altLang="en-US" sz="2400" b="1"/>
              <a:t>这样的</a:t>
            </a:r>
            <a:r>
              <a:rPr lang="en-US" altLang="zh-CN" sz="2400" b="1"/>
              <a:t>main+handler，</a:t>
            </a:r>
            <a:r>
              <a:rPr lang="zh-CN" altLang="en-US" sz="2400" b="1"/>
              <a:t>有没有问题</a:t>
            </a:r>
            <a:r>
              <a:rPr lang="en-US" altLang="zh-CN" sz="2400" b="1"/>
              <a:t>？</a:t>
            </a:r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同步流来避免</a:t>
            </a:r>
            <a:r>
              <a:rPr lang="zh-CN" altLang="en-US">
                <a:sym typeface="+mn-ea"/>
              </a:rPr>
              <a:t>并发错误</a:t>
            </a:r>
            <a:endParaRPr lang="en-US" altLang="zh-CN">
              <a:sym typeface="+mn-ea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333859" y="1447801"/>
            <a:ext cx="6678295" cy="5015865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6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Menlo-Regular" panose="020B0609030804020204"/>
              </a:rPr>
              <a:t>handler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>
                <a:solidFill>
                  <a:srgbClr val="C1651C"/>
                </a:solidFill>
                <a:latin typeface="Menlo-Regular" panose="020B0609030804020204"/>
              </a:rPr>
              <a:t>sig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 panose="020B0609030804020204"/>
              </a:rPr>
              <a:t>olderrno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Menlo-Regular" panose="020B0609030804020204"/>
              </a:rPr>
              <a:t>sigset_t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 panose="020B0609030804020204"/>
              </a:rPr>
              <a:t>mask_all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600" dirty="0" err="1">
                <a:solidFill>
                  <a:srgbClr val="C1651C"/>
                </a:solidFill>
                <a:latin typeface="Menlo-Regular" panose="020B0609030804020204"/>
              </a:rPr>
              <a:t>prev_all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Menlo-Regular" panose="020B0609030804020204"/>
              </a:rPr>
              <a:t>pid_t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Menlo-Regular" panose="020B0609030804020204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Menlo-Regular" panose="020B0609030804020204"/>
              </a:rPr>
              <a:t>Sigfillset(&amp;mask_all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r>
              <a:rPr lang="en-US" altLang="fi-FI" sz="1600" dirty="0">
                <a:solidFill>
                  <a:srgbClr val="000000"/>
                </a:solidFill>
                <a:latin typeface="Menlo-Regular" panose="020B0609030804020204"/>
              </a:rPr>
              <a:t>	// </a:t>
            </a:r>
            <a:r>
              <a:rPr lang="zh-CN" altLang="en-US" sz="1600" dirty="0">
                <a:solidFill>
                  <a:srgbClr val="000000"/>
                </a:solidFill>
                <a:latin typeface="Menlo-Regular" panose="020B0609030804020204"/>
              </a:rPr>
              <a:t>准备屏蔽所有信号</a:t>
            </a:r>
            <a:endParaRPr lang="zh-CN" alt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indent="457200" algn="l"/>
            <a:r>
              <a:rPr lang="en-US" altLang="zh-CN" sz="1600" dirty="0">
                <a:solidFill>
                  <a:srgbClr val="000000"/>
                </a:solidFill>
                <a:latin typeface="Menlo-Regular" panose="020B0609030804020204"/>
              </a:rPr>
              <a:t>// </a:t>
            </a:r>
            <a:r>
              <a:rPr lang="zh-CN" altLang="en-US" sz="1600" dirty="0">
                <a:solidFill>
                  <a:srgbClr val="000000"/>
                </a:solidFill>
                <a:latin typeface="Menlo-Regular" panose="020B0609030804020204"/>
              </a:rPr>
              <a:t>在信号处理函数中</a:t>
            </a:r>
            <a:r>
              <a:rPr lang="en-US" altLang="zh-CN" sz="1600" dirty="0">
                <a:solidFill>
                  <a:srgbClr val="000000"/>
                </a:solidFill>
                <a:latin typeface="Menlo-Regular" panose="020B0609030804020204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Menlo-Regular" panose="020B0609030804020204"/>
              </a:rPr>
              <a:t>循环调用</a:t>
            </a:r>
            <a:r>
              <a:rPr lang="en-US" altLang="zh-CN" sz="1600" dirty="0">
                <a:solidFill>
                  <a:srgbClr val="000000"/>
                </a:solidFill>
                <a:latin typeface="Menlo-Regular" panose="020B0609030804020204"/>
              </a:rPr>
              <a:t>waitpid</a:t>
            </a:r>
            <a:r>
              <a:rPr lang="zh-CN" altLang="en-US" sz="1600" dirty="0">
                <a:solidFill>
                  <a:srgbClr val="000000"/>
                </a:solidFill>
                <a:latin typeface="Menlo-Regular" panose="020B0609030804020204"/>
              </a:rPr>
              <a:t>来回收所有子进程</a:t>
            </a:r>
            <a:endParaRPr lang="zh-CN" alt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indent="457200" algn="l"/>
            <a:r>
              <a:rPr lang="en-US" sz="1600" dirty="0">
                <a:solidFill>
                  <a:srgbClr val="CB2418"/>
                </a:solidFill>
                <a:latin typeface="Menlo-Regular" panose="020B0609030804020204"/>
                <a:sym typeface="+mn-ea"/>
              </a:rPr>
              <a:t>/* Reap child */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((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waitpid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(-1, </a:t>
            </a:r>
            <a:r>
              <a:rPr lang="en-US" sz="16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0)) &gt; 0) { 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457200" lvl="1" indent="457200"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  <a:sym typeface="+mn-ea"/>
              </a:rPr>
              <a:t>// </a:t>
            </a:r>
            <a:r>
              <a:rPr lang="zh-CN" altLang="en-US" sz="1600" dirty="0">
                <a:solidFill>
                  <a:srgbClr val="000000"/>
                </a:solidFill>
                <a:latin typeface="Menlo-Regular" panose="020B0609030804020204"/>
                <a:sym typeface="+mn-ea"/>
              </a:rPr>
              <a:t>屏蔽信号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Sigprocmask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(SIG_BLOCK, &amp;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mask_all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&amp;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prev_all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457200" lvl="1" indent="457200" algn="l"/>
            <a:r>
              <a:rPr lang="en-US" sz="1600" dirty="0">
                <a:solidFill>
                  <a:srgbClr val="CB2418"/>
                </a:solidFill>
                <a:latin typeface="Menlo-Regular" panose="020B0609030804020204"/>
                <a:sym typeface="+mn-ea"/>
              </a:rPr>
              <a:t>/* Delete the child from the job list */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deletejob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 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Sigprocmask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(SIG_SETMASK, &amp;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prev_all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6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 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!= ECHILD)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Sio_error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en-US" sz="1600" dirty="0" err="1">
                <a:solidFill>
                  <a:srgbClr val="9D206F"/>
                </a:solidFill>
                <a:latin typeface="Menlo-Regular" panose="020B0609030804020204"/>
              </a:rPr>
              <a:t>waitpid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 error"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olderrno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96559" y="5791200"/>
            <a:ext cx="1391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7F7F7F"/>
                </a:solidFill>
                <a:latin typeface="Calibri" panose="020F0502020204030204" pitchFamily="34" charset="0"/>
              </a:rPr>
              <a:t>procmask1.c</a:t>
            </a:r>
            <a:endParaRPr lang="en-US" sz="1800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同步流来避免</a:t>
            </a:r>
            <a:r>
              <a:rPr lang="zh-CN" altLang="en-US">
                <a:sym typeface="+mn-ea"/>
              </a:rPr>
              <a:t>并发错误</a:t>
            </a:r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4118610" cy="4972050"/>
          </a:xfrm>
        </p:spPr>
        <p:txBody>
          <a:bodyPr/>
          <a:lstStyle/>
          <a:p>
            <a:r>
              <a:rPr lang="zh-CN" altLang="en-US"/>
              <a:t>风险</a:t>
            </a:r>
            <a:endParaRPr lang="zh-CN" altLang="en-US"/>
          </a:p>
          <a:p>
            <a:pPr lvl="1"/>
            <a:r>
              <a:rPr lang="zh-CN" altLang="en-US"/>
              <a:t>这个简单</a:t>
            </a:r>
            <a:r>
              <a:rPr lang="en-US" altLang="zh-CN"/>
              <a:t> </a:t>
            </a:r>
            <a:r>
              <a:rPr lang="en-US"/>
              <a:t>S</a:t>
            </a:r>
            <a:r>
              <a:rPr lang="en-US" altLang="zh-CN"/>
              <a:t>hell </a:t>
            </a:r>
            <a:r>
              <a:rPr lang="zh-CN" altLang="en-US"/>
              <a:t>有不易察觉的同步错误</a:t>
            </a:r>
            <a:r>
              <a:rPr lang="en-US" altLang="zh-CN"/>
              <a:t>：</a:t>
            </a:r>
            <a:r>
              <a:rPr lang="zh-CN" altLang="en-US">
                <a:solidFill>
                  <a:srgbClr val="FF0000"/>
                </a:solidFill>
              </a:rPr>
              <a:t>它</a:t>
            </a:r>
            <a:r>
              <a:rPr lang="zh-CN" altLang="en-US">
                <a:solidFill>
                  <a:srgbClr val="FF0000"/>
                </a:solidFill>
              </a:rPr>
              <a:t>要求父进程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行在子进程</a:t>
            </a:r>
            <a:r>
              <a:rPr lang="zh-CN" altLang="en-US">
                <a:solidFill>
                  <a:srgbClr val="FF0000"/>
                </a:solidFill>
              </a:rPr>
              <a:t>结束之前运行</a:t>
            </a:r>
            <a:endParaRPr lang="zh-CN" altLang="en-US"/>
          </a:p>
          <a:p>
            <a:pPr lvl="0"/>
            <a:r>
              <a:rPr lang="zh-CN" altLang="en-US"/>
              <a:t>例子</a:t>
            </a:r>
            <a:endParaRPr lang="zh-CN" altLang="en-US"/>
          </a:p>
          <a:p>
            <a:pPr lvl="1"/>
            <a:r>
              <a:rPr lang="zh-CN" altLang="en-US"/>
              <a:t>如果子进程在父进程</a:t>
            </a:r>
            <a:r>
              <a:rPr lang="en-US" altLang="zh-CN"/>
              <a:t>12</a:t>
            </a:r>
            <a:r>
              <a:rPr lang="zh-CN" altLang="en-US"/>
              <a:t>行前</a:t>
            </a:r>
            <a:r>
              <a:rPr lang="zh-CN" altLang="en-US"/>
              <a:t>已经结束</a:t>
            </a:r>
            <a:r>
              <a:rPr lang="en-US" altLang="zh-CN"/>
              <a:t>，</a:t>
            </a:r>
            <a:r>
              <a:rPr lang="zh-CN" altLang="en-US"/>
              <a:t>则父进程会触发信号处理</a:t>
            </a:r>
            <a:endParaRPr lang="en-US" altLang="zh-CN"/>
          </a:p>
          <a:p>
            <a:pPr lvl="1"/>
            <a:r>
              <a:rPr lang="zh-CN" altLang="en-US"/>
              <a:t>在</a:t>
            </a:r>
            <a:r>
              <a:rPr lang="en-US" altLang="zh-CN"/>
              <a:t>13</a:t>
            </a:r>
            <a:r>
              <a:rPr lang="zh-CN" altLang="en-US"/>
              <a:t>行</a:t>
            </a:r>
            <a:r>
              <a:rPr lang="en-US" altLang="zh-CN"/>
              <a:t>addjob</a:t>
            </a:r>
            <a:r>
              <a:rPr lang="zh-CN" altLang="en-US"/>
              <a:t>之前</a:t>
            </a:r>
            <a:r>
              <a:rPr lang="en-US" altLang="zh-CN"/>
              <a:t>deletejob，</a:t>
            </a:r>
            <a:r>
              <a:rPr lang="zh-CN" altLang="en-US">
                <a:solidFill>
                  <a:srgbClr val="FF0000"/>
                </a:solidFill>
              </a:rPr>
              <a:t>导致列表操作错误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15400" y="6218555"/>
            <a:ext cx="13754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7F7F7F"/>
                </a:solidFill>
                <a:latin typeface="Calibri" panose="020F0502020204030204" pitchFamily="34" charset="0"/>
              </a:rPr>
              <a:t>procmask1.c</a:t>
            </a:r>
            <a:endParaRPr lang="en-US" sz="1800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648012" y="1447800"/>
            <a:ext cx="7168515" cy="5262245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p>
            <a:pPr marL="342900" indent="-342900" algn="l">
              <a:buAutoNum type="arabicPeriod"/>
            </a:pPr>
            <a:r>
              <a:rPr lang="en-US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Menlo-Regular" panose="020B0609030804020204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 panose="020B0609030804020204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Menlo-Regular" panose="020B0609030804020204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**</a:t>
            </a:r>
            <a:r>
              <a:rPr lang="en-US" sz="1600" dirty="0" err="1">
                <a:solidFill>
                  <a:srgbClr val="C1651C"/>
                </a:solidFill>
                <a:latin typeface="Menlo-Regular" panose="020B0609030804020204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Menlo-Regular" panose="020B0609030804020204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Menlo-Regular" panose="020B0609030804020204"/>
              </a:rPr>
              <a:t>sigset_t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Menlo-Regular" panose="020B0609030804020204"/>
              </a:rPr>
              <a:t>mask_all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fi-FI" sz="1600" dirty="0" err="1">
                <a:solidFill>
                  <a:srgbClr val="C1651C"/>
                </a:solidFill>
                <a:latin typeface="Menlo-Regular" panose="020B0609030804020204"/>
              </a:rPr>
              <a:t>prev_all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Menlo-Regular" panose="020B0609030804020204"/>
              </a:rPr>
              <a:t>Sigfillset(&amp;mask_all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Menlo-Regular" panose="020B0609030804020204"/>
              </a:rPr>
              <a:t>Signal(SIGCHLD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fi-FI" sz="1600" dirty="0" err="1">
                <a:solidFill>
                  <a:srgbClr val="000000"/>
                </a:solidFill>
                <a:latin typeface="Menlo-Regular" panose="020B0609030804020204"/>
              </a:rPr>
              <a:t>handler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Menlo-Regular" panose="020B0609030804020204"/>
              </a:rPr>
              <a:t>initjobs</a:t>
            </a:r>
            <a:r>
              <a:rPr lang="fi-FI" sz="1600" dirty="0">
                <a:solidFill>
                  <a:srgbClr val="000000"/>
                </a:solidFill>
                <a:latin typeface="Menlo-Regular" panose="020B0609030804020204"/>
              </a:rPr>
              <a:t>(); </a:t>
            </a:r>
            <a:r>
              <a:rPr lang="fi-FI" sz="1600" dirty="0">
                <a:solidFill>
                  <a:srgbClr val="CB2418"/>
                </a:solidFill>
                <a:latin typeface="Menlo-Regular" panose="020B0609030804020204"/>
              </a:rPr>
              <a:t>/* </a:t>
            </a:r>
            <a:r>
              <a:rPr lang="fi-FI" sz="1600" dirty="0" err="1">
                <a:solidFill>
                  <a:srgbClr val="CB2418"/>
                </a:solidFill>
                <a:latin typeface="Menlo-Regular" panose="020B0609030804020204"/>
              </a:rPr>
              <a:t>Initialize</a:t>
            </a:r>
            <a:r>
              <a:rPr lang="fi-FI" sz="1600" dirty="0">
                <a:solidFill>
                  <a:srgbClr val="CB2418"/>
                </a:solidFill>
                <a:latin typeface="Menlo-Regular" panose="020B0609030804020204"/>
              </a:rPr>
              <a:t> the </a:t>
            </a:r>
            <a:r>
              <a:rPr lang="fi-FI" sz="1600" dirty="0" err="1">
                <a:solidFill>
                  <a:srgbClr val="CB2418"/>
                </a:solidFill>
                <a:latin typeface="Menlo-Regular" panose="020B0609030804020204"/>
              </a:rPr>
              <a:t>job</a:t>
            </a:r>
            <a:r>
              <a:rPr lang="fi-FI" sz="1600" dirty="0">
                <a:solidFill>
                  <a:srgbClr val="CB2418"/>
                </a:solidFill>
                <a:latin typeface="Menlo-Regular" panose="020B0609030804020204"/>
              </a:rPr>
              <a:t> </a:t>
            </a:r>
            <a:r>
              <a:rPr lang="fi-FI" sz="1600" dirty="0" err="1">
                <a:solidFill>
                  <a:srgbClr val="CB2418"/>
                </a:solidFill>
                <a:latin typeface="Menlo-Regular" panose="020B0609030804020204"/>
              </a:rPr>
              <a:t>list</a:t>
            </a:r>
            <a:r>
              <a:rPr lang="fi-FI" sz="160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endParaRPr lang="fi-FI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(1) {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((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= Fork()) == 0) { </a:t>
            </a:r>
            <a:r>
              <a:rPr lang="en-US" sz="1600" dirty="0">
                <a:solidFill>
                  <a:srgbClr val="CB2418"/>
                </a:solidFill>
                <a:latin typeface="Menlo-Regular" panose="020B0609030804020204"/>
              </a:rPr>
              <a:t>/* Child */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Execve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"/bin/date"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6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}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lvl="1" indent="0" algn="l">
              <a:buNone/>
            </a:pPr>
            <a:r>
              <a:rPr lang="en-US" sz="1600" dirty="0">
                <a:solidFill>
                  <a:srgbClr val="CB2418"/>
                </a:solidFill>
                <a:latin typeface="Menlo-Regular" panose="020B0609030804020204"/>
                <a:sym typeface="+mn-ea"/>
              </a:rPr>
              <a:t>       /* Parent */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Sigprocmask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(SIG_BLOCK, &amp;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mask_all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&amp;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prev_all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 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addjob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  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CB2418"/>
                </a:solidFill>
                <a:latin typeface="Menlo-Regular" panose="020B0609030804020204"/>
              </a:rPr>
              <a:t>           /* Add the child to the job list */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Font typeface="+mj-lt"/>
              <a:buAutoNum type="arabicPeriod" startAt="14"/>
            </a:pP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Sigprocmask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(SIG_SETMASK, &amp;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prev_all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6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 startAt="14"/>
            </a:pP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 startAt="14"/>
            </a:pP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exit(0);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 algn="l">
              <a:buAutoNum type="arabicPeriod" startAt="14"/>
            </a:pP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885" y="445135"/>
            <a:ext cx="10532745" cy="762000"/>
          </a:xfrm>
        </p:spPr>
        <p:txBody>
          <a:bodyPr/>
          <a:lstStyle/>
          <a:p>
            <a:r>
              <a:rPr lang="zh-CN" altLang="en-US">
                <a:sym typeface="+mn-ea"/>
              </a:rPr>
              <a:t>同步控制流来避免并发错误</a:t>
            </a:r>
            <a:r>
              <a:rPr lang="en-US" altLang="zh-CN"/>
              <a:t>——</a:t>
            </a:r>
            <a:r>
              <a:rPr lang="zh-CN" altLang="en-US"/>
              <a:t>信号阻塞的</a:t>
            </a:r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52830" y="1197610"/>
            <a:ext cx="9992360" cy="5631180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>
                <a:solidFill>
                  <a:srgbClr val="4A00FF"/>
                </a:solidFill>
                <a:latin typeface="Menlo-Regular" panose="020B0609030804020204"/>
              </a:rPr>
              <a:t>main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 panose="020B0609030804020204"/>
              </a:rPr>
              <a:t>argc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500" dirty="0">
                <a:solidFill>
                  <a:srgbClr val="2D961E"/>
                </a:solidFill>
                <a:latin typeface="Menlo-Regular" panose="020B0609030804020204"/>
              </a:rPr>
              <a:t>char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**</a:t>
            </a:r>
            <a:r>
              <a:rPr lang="en-US" sz="1500" dirty="0" err="1">
                <a:solidFill>
                  <a:srgbClr val="C1651C"/>
                </a:solidFill>
                <a:latin typeface="Menlo-Regular" panose="020B0609030804020204"/>
              </a:rPr>
              <a:t>argv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5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500" dirty="0" err="1">
                <a:solidFill>
                  <a:srgbClr val="C1651C"/>
                </a:solidFill>
                <a:latin typeface="Menlo-Regular" panose="020B0609030804020204"/>
              </a:rPr>
              <a:t>pid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500" dirty="0" err="1">
                <a:solidFill>
                  <a:srgbClr val="2D961E"/>
                </a:solidFill>
                <a:latin typeface="Menlo-Regular" panose="020B0609030804020204"/>
              </a:rPr>
              <a:t>sigset_t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500" dirty="0" err="1">
                <a:solidFill>
                  <a:srgbClr val="C1651C"/>
                </a:solidFill>
                <a:latin typeface="Menlo-Regular" panose="020B0609030804020204"/>
              </a:rPr>
              <a:t>mask_all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fi-FI" sz="1500" dirty="0" err="1">
                <a:solidFill>
                  <a:srgbClr val="C1651C"/>
                </a:solidFill>
                <a:latin typeface="Menlo-Regular" panose="020B0609030804020204"/>
              </a:rPr>
              <a:t>mask_one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fi-FI" sz="1500" dirty="0" err="1">
                <a:solidFill>
                  <a:srgbClr val="C1651C"/>
                </a:solidFill>
                <a:latin typeface="Menlo-Regular" panose="020B0609030804020204"/>
              </a:rPr>
              <a:t>prev_one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500" dirty="0" err="1">
                <a:solidFill>
                  <a:srgbClr val="000000"/>
                </a:solidFill>
                <a:latin typeface="Menlo-Regular" panose="020B0609030804020204"/>
              </a:rPr>
              <a:t>Sigfillset(&amp;mask_all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500" u="sng" dirty="0" err="1">
                <a:solidFill>
                  <a:srgbClr val="000000"/>
                </a:solidFill>
                <a:latin typeface="Menlo-Regular" panose="020B0609030804020204"/>
              </a:rPr>
              <a:t>Sigemptyset(&amp;mask_one</a:t>
            </a:r>
            <a:r>
              <a:rPr lang="fi-FI" sz="1500" u="sng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500" u="sng" dirty="0" err="1">
                <a:solidFill>
                  <a:srgbClr val="000000"/>
                </a:solidFill>
                <a:latin typeface="Menlo-Regular" panose="020B0609030804020204"/>
              </a:rPr>
              <a:t>Sigaddset(&amp;mask_one</a:t>
            </a:r>
            <a:r>
              <a:rPr lang="fi-FI" sz="1500" u="sng" dirty="0">
                <a:solidFill>
                  <a:srgbClr val="000000"/>
                </a:solidFill>
                <a:latin typeface="Menlo-Regular" panose="020B0609030804020204"/>
              </a:rPr>
              <a:t>, SIGCHLD);</a:t>
            </a:r>
            <a:r>
              <a:rPr lang="en-US" altLang="fi-FI" sz="1500" dirty="0">
                <a:solidFill>
                  <a:srgbClr val="000000"/>
                </a:solidFill>
                <a:latin typeface="Menlo-Regular" panose="020B0609030804020204"/>
              </a:rPr>
              <a:t> // </a:t>
            </a:r>
            <a:r>
              <a:rPr lang="zh-CN" altLang="en-US" sz="1500" dirty="0">
                <a:solidFill>
                  <a:srgbClr val="000000"/>
                </a:solidFill>
                <a:latin typeface="Menlo-Regular" panose="020B0609030804020204"/>
              </a:rPr>
              <a:t>准备屏蔽子进程结束信号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500" dirty="0" err="1">
                <a:solidFill>
                  <a:srgbClr val="000000"/>
                </a:solidFill>
                <a:latin typeface="Menlo-Regular" panose="020B0609030804020204"/>
              </a:rPr>
              <a:t>Signal(SIGCHLD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fi-FI" sz="1500" dirty="0" err="1">
                <a:solidFill>
                  <a:srgbClr val="000000"/>
                </a:solidFill>
                <a:latin typeface="Menlo-Regular" panose="020B0609030804020204"/>
              </a:rPr>
              <a:t>handler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500" dirty="0" err="1">
                <a:solidFill>
                  <a:srgbClr val="000000"/>
                </a:solidFill>
                <a:latin typeface="Menlo-Regular" panose="020B0609030804020204"/>
              </a:rPr>
              <a:t>initjobs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(); </a:t>
            </a:r>
            <a:r>
              <a:rPr lang="fi-FI" sz="1500" dirty="0">
                <a:solidFill>
                  <a:srgbClr val="CB2418"/>
                </a:solidFill>
                <a:latin typeface="Menlo-Regular" panose="020B0609030804020204"/>
              </a:rPr>
              <a:t>/* </a:t>
            </a:r>
            <a:r>
              <a:rPr lang="fi-FI" sz="1500" dirty="0" err="1">
                <a:solidFill>
                  <a:srgbClr val="CB2418"/>
                </a:solidFill>
                <a:latin typeface="Menlo-Regular" panose="020B0609030804020204"/>
              </a:rPr>
              <a:t>Initialize</a:t>
            </a:r>
            <a:r>
              <a:rPr lang="fi-FI" sz="1500" dirty="0">
                <a:solidFill>
                  <a:srgbClr val="CB2418"/>
                </a:solidFill>
                <a:latin typeface="Menlo-Regular" panose="020B0609030804020204"/>
              </a:rPr>
              <a:t> the </a:t>
            </a:r>
            <a:r>
              <a:rPr lang="fi-FI" sz="1500" dirty="0" err="1">
                <a:solidFill>
                  <a:srgbClr val="CB2418"/>
                </a:solidFill>
                <a:latin typeface="Menlo-Regular" panose="020B0609030804020204"/>
              </a:rPr>
              <a:t>job</a:t>
            </a:r>
            <a:r>
              <a:rPr lang="fi-FI" sz="1500" dirty="0">
                <a:solidFill>
                  <a:srgbClr val="CB2418"/>
                </a:solidFill>
                <a:latin typeface="Menlo-Regular" panose="020B0609030804020204"/>
              </a:rPr>
              <a:t> </a:t>
            </a:r>
            <a:r>
              <a:rPr lang="fi-FI" sz="1500" dirty="0" err="1">
                <a:solidFill>
                  <a:srgbClr val="CB2418"/>
                </a:solidFill>
                <a:latin typeface="Menlo-Regular" panose="020B0609030804020204"/>
              </a:rPr>
              <a:t>list</a:t>
            </a:r>
            <a:r>
              <a:rPr lang="fi-FI" sz="150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0">
                <a:solidFill>
                  <a:srgbClr val="C200FF"/>
                </a:solidFill>
                <a:latin typeface="Menlo-Regular" panose="020B0609030804020204"/>
              </a:rPr>
              <a:t>while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(1) {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500" u="sng" dirty="0" err="1">
                <a:solidFill>
                  <a:srgbClr val="000000"/>
                </a:solidFill>
                <a:latin typeface="Menlo-Regular" panose="020B0609030804020204"/>
              </a:rPr>
              <a:t>Sigprocmask</a:t>
            </a:r>
            <a:r>
              <a:rPr lang="en-US" sz="1500" u="sng" dirty="0">
                <a:solidFill>
                  <a:srgbClr val="000000"/>
                </a:solidFill>
                <a:latin typeface="Menlo-Regular" panose="020B0609030804020204"/>
              </a:rPr>
              <a:t>(SIG_BLOCK, &amp;</a:t>
            </a:r>
            <a:r>
              <a:rPr lang="en-US" sz="1500" u="sng" dirty="0" err="1">
                <a:solidFill>
                  <a:schemeClr val="accent2"/>
                </a:solidFill>
                <a:latin typeface="Menlo Bold" panose="020B0609030804020204" charset="0"/>
                <a:cs typeface="Menlo Bold" panose="020B0609030804020204" charset="0"/>
              </a:rPr>
              <a:t>mask_one</a:t>
            </a:r>
            <a:r>
              <a:rPr lang="en-US" sz="1500" u="sng" dirty="0">
                <a:solidFill>
                  <a:srgbClr val="000000"/>
                </a:solidFill>
                <a:latin typeface="Menlo-Regular" panose="020B0609030804020204"/>
              </a:rPr>
              <a:t>, &amp;</a:t>
            </a:r>
            <a:r>
              <a:rPr lang="en-US" sz="1500" u="sng" dirty="0" err="1">
                <a:solidFill>
                  <a:srgbClr val="000000"/>
                </a:solidFill>
                <a:latin typeface="Menlo-Regular" panose="020B0609030804020204"/>
              </a:rPr>
              <a:t>prev_one</a:t>
            </a:r>
            <a:r>
              <a:rPr lang="en-US" sz="1500" u="sng" dirty="0">
                <a:solidFill>
                  <a:srgbClr val="000000"/>
                </a:solidFill>
                <a:latin typeface="Menlo-Regular" panose="020B0609030804020204"/>
              </a:rPr>
              <a:t>); </a:t>
            </a:r>
            <a:r>
              <a:rPr lang="en-US" sz="1500" dirty="0">
                <a:solidFill>
                  <a:srgbClr val="CB2418"/>
                </a:solidFill>
                <a:latin typeface="Menlo-Regular" panose="020B0609030804020204"/>
              </a:rPr>
              <a:t>/* Block SIGCHLD */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5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((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= Fork()) == 0) { </a:t>
            </a:r>
            <a:r>
              <a:rPr lang="en-US" sz="1500" dirty="0">
                <a:solidFill>
                  <a:srgbClr val="CB2418"/>
                </a:solidFill>
                <a:latin typeface="Menlo-Regular" panose="020B0609030804020204"/>
              </a:rPr>
              <a:t>/* Child process */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        </a:t>
            </a:r>
            <a:r>
              <a:rPr lang="en-US" sz="1500" u="sng" dirty="0" err="1">
                <a:solidFill>
                  <a:srgbClr val="000000"/>
                </a:solidFill>
                <a:latin typeface="Menlo-Regular" panose="020B0609030804020204"/>
              </a:rPr>
              <a:t>Sigprocmask</a:t>
            </a:r>
            <a:r>
              <a:rPr lang="en-US" sz="1500" u="sng" dirty="0">
                <a:solidFill>
                  <a:srgbClr val="000000"/>
                </a:solidFill>
                <a:latin typeface="Menlo-Regular" panose="020B0609030804020204"/>
              </a:rPr>
              <a:t>(SIG_SETMASK, &amp;</a:t>
            </a:r>
            <a:r>
              <a:rPr lang="en-US" sz="1500" u="sng" dirty="0" err="1">
                <a:solidFill>
                  <a:srgbClr val="000000"/>
                </a:solidFill>
                <a:latin typeface="Menlo-Regular" panose="020B0609030804020204"/>
              </a:rPr>
              <a:t>prev_one</a:t>
            </a:r>
            <a:r>
              <a:rPr lang="en-US" sz="1500" u="sng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500" u="sng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500" u="sng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>
                <a:solidFill>
                  <a:srgbClr val="CB2418"/>
                </a:solidFill>
                <a:latin typeface="Menlo-Regular" panose="020B0609030804020204"/>
              </a:rPr>
              <a:t>/* Unblock SIGCHLD */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       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Execve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500" dirty="0">
                <a:solidFill>
                  <a:srgbClr val="9D206F"/>
                </a:solidFill>
                <a:latin typeface="Menlo-Regular" panose="020B0609030804020204"/>
              </a:rPr>
              <a:t>"/bin/date"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argv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5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    }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Sigprocmask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(SIG_BLOCK, &amp;</a:t>
            </a:r>
            <a:r>
              <a:rPr lang="en-US" sz="1500" dirty="0" err="1">
                <a:solidFill>
                  <a:schemeClr val="accent2"/>
                </a:solidFill>
                <a:latin typeface="Menlo Bold" panose="020B0609030804020204" charset="0"/>
                <a:cs typeface="Menlo Bold" panose="020B0609030804020204" charset="0"/>
              </a:rPr>
              <a:t>mask_all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5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); </a:t>
            </a:r>
            <a:r>
              <a:rPr lang="en-US" sz="1500" dirty="0">
                <a:solidFill>
                  <a:srgbClr val="CB2418"/>
                </a:solidFill>
                <a:latin typeface="Menlo-Regular" panose="020B0609030804020204"/>
              </a:rPr>
              <a:t>/* Parent process */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	  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addjob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);  </a:t>
            </a:r>
            <a:r>
              <a:rPr lang="en-US" sz="1500" dirty="0">
                <a:solidFill>
                  <a:srgbClr val="CB2418"/>
                </a:solidFill>
                <a:latin typeface="Menlo-Regular" panose="020B0609030804020204"/>
              </a:rPr>
              <a:t>/* Add the child to the job list */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500" u="sng" dirty="0" err="1">
                <a:solidFill>
                  <a:srgbClr val="000000"/>
                </a:solidFill>
                <a:latin typeface="Menlo-Regular" panose="020B0609030804020204"/>
              </a:rPr>
              <a:t>Sigprocmask</a:t>
            </a:r>
            <a:r>
              <a:rPr lang="en-US" sz="1500" u="sng" dirty="0">
                <a:solidFill>
                  <a:srgbClr val="000000"/>
                </a:solidFill>
                <a:latin typeface="Menlo-Regular" panose="020B0609030804020204"/>
              </a:rPr>
              <a:t>(SIG_SETMASK, &amp;</a:t>
            </a:r>
            <a:r>
              <a:rPr lang="en-US" sz="1500" u="sng" dirty="0" err="1">
                <a:solidFill>
                  <a:srgbClr val="000000"/>
                </a:solidFill>
                <a:latin typeface="Menlo-Regular" panose="020B0609030804020204"/>
              </a:rPr>
              <a:t>prev_one</a:t>
            </a:r>
            <a:r>
              <a:rPr lang="en-US" sz="1500" u="sng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500" u="sng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en-US" sz="1500" u="sng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</a:t>
            </a:r>
            <a:r>
              <a:rPr lang="en-US" sz="1500" dirty="0">
                <a:solidFill>
                  <a:srgbClr val="CB2418"/>
                </a:solidFill>
                <a:latin typeface="Menlo-Regular" panose="020B0609030804020204"/>
              </a:rPr>
              <a:t>/* Restore signal processing */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exit(0);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57874" y="6248400"/>
            <a:ext cx="13754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7F7F7F"/>
                </a:solidFill>
                <a:latin typeface="Calibri" panose="020F0502020204030204" pitchFamily="34" charset="0"/>
              </a:rPr>
              <a:t>procmask2.c</a:t>
            </a:r>
            <a:endParaRPr lang="en-US" sz="1800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24600" y="1283335"/>
            <a:ext cx="5813425" cy="15284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no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阻塞信号处理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：</a:t>
            </a:r>
            <a:endParaRPr lang="zh-CN" altLang="en-US" sz="1600" dirty="0" smtClean="0">
              <a:solidFill>
                <a:schemeClr val="accent2"/>
              </a:solidFill>
              <a:latin typeface="Calibri" panose="020F0502020204030204" pitchFamily="34" charset="0"/>
            </a:endParaRPr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第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11</a:t>
            </a: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行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，</a:t>
            </a: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创建子进程之前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，</a:t>
            </a: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阻塞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sigchld</a:t>
            </a:r>
            <a:r>
              <a:rPr 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；</a:t>
            </a:r>
            <a:endParaRPr lang="en-US" sz="1600" dirty="0" smtClean="0">
              <a:solidFill>
                <a:schemeClr val="accent2"/>
              </a:solidFill>
              <a:latin typeface="Calibri" panose="020F0502020204030204" pitchFamily="34" charset="0"/>
            </a:endParaRPr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第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18</a:t>
            </a: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行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，</a:t>
            </a: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在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addjob</a:t>
            </a: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之后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，</a:t>
            </a: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才恢复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sigchld</a:t>
            </a:r>
            <a:endParaRPr lang="en-US" altLang="zh-CN" sz="1600" dirty="0" smtClean="0">
              <a:solidFill>
                <a:schemeClr val="accent2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zh-CN" sz="1600" dirty="0" smtClean="0">
              <a:solidFill>
                <a:schemeClr val="accent2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这样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，</a:t>
            </a: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只有在父进程完成第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18</a:t>
            </a: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行后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，</a:t>
            </a: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才会处理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sigchld</a:t>
            </a: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信号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，</a:t>
            </a:r>
            <a:endParaRPr lang="en-US" altLang="zh-CN" sz="1600" dirty="0" smtClean="0">
              <a:solidFill>
                <a:schemeClr val="accent2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和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delete</a:t>
            </a:r>
            <a:r>
              <a:rPr lang="en-US" altLang="zh-CN" sz="1600" dirty="0" smtClean="0">
                <a:solidFill>
                  <a:schemeClr val="accent2"/>
                </a:solidFill>
                <a:latin typeface="Calibri" panose="020F0502020204030204" pitchFamily="34" charset="0"/>
              </a:rPr>
              <a:t>job</a:t>
            </a:r>
            <a:endParaRPr lang="en-US" altLang="zh-CN" sz="1600" dirty="0" smtClean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</a:t>
            </a:r>
            <a:r>
              <a:rPr lang="en-US" altLang="zh-CN"/>
              <a:t>：</a:t>
            </a:r>
            <a:endParaRPr lang="en-US" altLang="zh-C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8955" y="1362075"/>
            <a:ext cx="6963410" cy="4972050"/>
          </a:xfrm>
        </p:spPr>
        <p:txBody>
          <a:bodyPr/>
          <a:p>
            <a:r>
              <a:rPr lang="zh-CN" altLang="en-US"/>
              <a:t>问题</a:t>
            </a:r>
            <a:r>
              <a:rPr lang="en-US" altLang="zh-CN"/>
              <a:t>1</a:t>
            </a:r>
            <a:endParaRPr lang="en-US" altLang="zh-CN"/>
          </a:p>
          <a:p>
            <a:pPr lvl="1"/>
            <a:r>
              <a:rPr lang="zh-CN" altLang="en-US" dirty="0" smtClean="0">
                <a:sym typeface="+mn-ea"/>
              </a:rPr>
              <a:t>如果程序执行过程中</a:t>
            </a:r>
            <a:r>
              <a:rPr lang="en-US" altLang="zh-CN" dirty="0" smtClean="0">
                <a:sym typeface="+mn-ea"/>
              </a:rPr>
              <a:t>，</a:t>
            </a:r>
            <a:r>
              <a:rPr lang="zh-CN" altLang="en-US" dirty="0" smtClean="0">
                <a:sym typeface="+mn-ea"/>
              </a:rPr>
              <a:t>没有收到</a:t>
            </a:r>
            <a:r>
              <a:rPr lang="en-US" altLang="zh-CN" dirty="0" smtClean="0">
                <a:sym typeface="+mn-ea"/>
              </a:rPr>
              <a:t>SIGINT</a:t>
            </a:r>
            <a:r>
              <a:rPr lang="zh-CN" altLang="en-US" dirty="0" smtClean="0">
                <a:sym typeface="+mn-ea"/>
              </a:rPr>
              <a:t>信号</a:t>
            </a:r>
            <a:r>
              <a:rPr lang="en-US" altLang="zh-CN" dirty="0" smtClean="0">
                <a:sym typeface="+mn-ea"/>
              </a:rPr>
              <a:t>，</a:t>
            </a:r>
            <a:r>
              <a:rPr lang="zh-CN" altLang="en-US" dirty="0" smtClean="0">
                <a:sym typeface="+mn-ea"/>
              </a:rPr>
              <a:t>则</a:t>
            </a:r>
            <a:r>
              <a:rPr lang="en-US" altLang="zh-CN" dirty="0" smtClean="0">
                <a:sym typeface="+mn-ea"/>
              </a:rPr>
              <a:t>printf</a:t>
            </a:r>
            <a:r>
              <a:rPr lang="zh-CN" altLang="en-US" dirty="0" smtClean="0">
                <a:sym typeface="+mn-ea"/>
              </a:rPr>
              <a:t>在最后的输出</a:t>
            </a:r>
            <a:r>
              <a:rPr lang="en-US" altLang="zh-CN" dirty="0" smtClean="0">
                <a:sym typeface="+mn-ea"/>
              </a:rPr>
              <a:t>i</a:t>
            </a:r>
            <a:r>
              <a:rPr lang="zh-CN" altLang="en-US" dirty="0" smtClean="0">
                <a:sym typeface="+mn-ea"/>
              </a:rPr>
              <a:t>为多少</a:t>
            </a:r>
            <a:r>
              <a:rPr lang="en-US" altLang="zh-CN" dirty="0" smtClean="0">
                <a:sym typeface="+mn-ea"/>
              </a:rPr>
              <a:t>？</a:t>
            </a:r>
            <a:endParaRPr lang="en-US" altLang="zh-CN" dirty="0" smtClean="0">
              <a:latin typeface="Calibri" panose="020F0502020204030204" pitchFamily="34" charset="0"/>
            </a:endParaRPr>
          </a:p>
          <a:p>
            <a:pPr lvl="0"/>
            <a:r>
              <a:rPr lang="zh-CN" altLang="en-US" dirty="0" smtClean="0">
                <a:latin typeface="Calibri" panose="020F0502020204030204" pitchFamily="34" charset="0"/>
              </a:rPr>
              <a:t>问题</a:t>
            </a:r>
            <a:r>
              <a:rPr lang="en-US" altLang="zh-CN" dirty="0" smtClean="0">
                <a:latin typeface="Calibri" panose="020F0502020204030204" pitchFamily="34" charset="0"/>
              </a:rPr>
              <a:t>2</a:t>
            </a:r>
            <a:endParaRPr lang="en-US" altLang="zh-CN" dirty="0" smtClean="0">
              <a:latin typeface="Calibri" panose="020F0502020204030204" pitchFamily="34" charset="0"/>
            </a:endParaRPr>
          </a:p>
          <a:p>
            <a:pPr lvl="1"/>
            <a:r>
              <a:rPr lang="zh-CN" altLang="en-US" dirty="0" smtClean="0">
                <a:sym typeface="+mn-ea"/>
              </a:rPr>
              <a:t>如果想让程序执行过程中</a:t>
            </a:r>
            <a:r>
              <a:rPr lang="en-US" altLang="zh-CN" dirty="0" smtClean="0">
                <a:sym typeface="+mn-ea"/>
              </a:rPr>
              <a:t>，</a:t>
            </a:r>
            <a:r>
              <a:rPr lang="zh-CN" altLang="en-US" dirty="0" smtClean="0">
                <a:sym typeface="+mn-ea"/>
              </a:rPr>
              <a:t>输出的</a:t>
            </a:r>
            <a:r>
              <a:rPr lang="en-US" altLang="zh-CN" dirty="0" smtClean="0">
                <a:sym typeface="+mn-ea"/>
              </a:rPr>
              <a:t>i</a:t>
            </a:r>
            <a:r>
              <a:rPr lang="zh-CN" altLang="en-US" dirty="0" smtClean="0">
                <a:sym typeface="+mn-ea"/>
              </a:rPr>
              <a:t>的值智能是</a:t>
            </a:r>
            <a:r>
              <a:rPr lang="en-US" altLang="zh-CN" dirty="0" smtClean="0">
                <a:sym typeface="+mn-ea"/>
              </a:rPr>
              <a:t>0</a:t>
            </a:r>
            <a:r>
              <a:rPr lang="zh-CN" altLang="en-US" dirty="0" smtClean="0">
                <a:sym typeface="+mn-ea"/>
              </a:rPr>
              <a:t>或者</a:t>
            </a:r>
            <a:r>
              <a:rPr lang="en-US" altLang="zh-CN" dirty="0" smtClean="0">
                <a:sym typeface="+mn-ea"/>
              </a:rPr>
              <a:t>101，</a:t>
            </a:r>
            <a:r>
              <a:rPr lang="zh-CN" altLang="en-US" dirty="0" smtClean="0">
                <a:sym typeface="+mn-ea"/>
              </a:rPr>
              <a:t>不能是其他任何值</a:t>
            </a:r>
            <a:r>
              <a:rPr lang="en-US" altLang="zh-CN" dirty="0" smtClean="0">
                <a:sym typeface="+mn-ea"/>
              </a:rPr>
              <a:t>，</a:t>
            </a:r>
            <a:r>
              <a:rPr lang="zh-CN" altLang="en-US" dirty="0" smtClean="0">
                <a:sym typeface="+mn-ea"/>
              </a:rPr>
              <a:t>则需要使用</a:t>
            </a:r>
            <a:r>
              <a:rPr lang="en-US" altLang="zh-CN" dirty="0" smtClean="0">
                <a:sym typeface="+mn-ea"/>
              </a:rPr>
              <a:t>sigprocmask</a:t>
            </a:r>
            <a:r>
              <a:rPr lang="zh-CN" altLang="en-US" dirty="0" smtClean="0">
                <a:sym typeface="+mn-ea"/>
              </a:rPr>
              <a:t>语句</a:t>
            </a:r>
            <a:r>
              <a:rPr lang="en-US" altLang="zh-CN" dirty="0" smtClean="0">
                <a:sym typeface="+mn-ea"/>
              </a:rPr>
              <a:t>。</a:t>
            </a:r>
            <a:r>
              <a:rPr lang="zh-CN" altLang="en-US" dirty="0" smtClean="0">
                <a:sym typeface="+mn-ea"/>
              </a:rPr>
              <a:t>请问</a:t>
            </a:r>
            <a:r>
              <a:rPr lang="en-US" altLang="zh-CN" dirty="0" smtClean="0">
                <a:sym typeface="+mn-ea"/>
              </a:rPr>
              <a:t>，</a:t>
            </a:r>
            <a:r>
              <a:rPr lang="zh-CN" altLang="en-US" dirty="0" smtClean="0">
                <a:sym typeface="+mn-ea"/>
              </a:rPr>
              <a:t>需要在第</a:t>
            </a:r>
            <a:r>
              <a:rPr lang="zh-CN" altLang="en-US" u="sng" dirty="0" smtClean="0">
                <a:sym typeface="+mn-ea"/>
              </a:rPr>
              <a:t> </a:t>
            </a:r>
            <a:r>
              <a:rPr lang="en-US" altLang="zh-CN" u="sng" dirty="0" smtClean="0">
                <a:sym typeface="+mn-ea"/>
              </a:rPr>
              <a:t>   </a:t>
            </a:r>
            <a:r>
              <a:rPr lang="zh-CN" altLang="en-US" dirty="0" smtClean="0">
                <a:sym typeface="+mn-ea"/>
              </a:rPr>
              <a:t>行后</a:t>
            </a:r>
            <a:r>
              <a:rPr lang="en-US" altLang="zh-CN" dirty="0" smtClean="0">
                <a:sym typeface="+mn-ea"/>
              </a:rPr>
              <a:t>block</a:t>
            </a:r>
            <a:r>
              <a:rPr lang="zh-CN" altLang="en-US" dirty="0" smtClean="0">
                <a:sym typeface="+mn-ea"/>
              </a:rPr>
              <a:t>信号</a:t>
            </a:r>
            <a:r>
              <a:rPr lang="en-US" altLang="zh-CN" dirty="0" smtClean="0">
                <a:sym typeface="+mn-ea"/>
              </a:rPr>
              <a:t>，</a:t>
            </a:r>
            <a:r>
              <a:rPr lang="zh-CN" altLang="en-US" dirty="0" smtClean="0">
                <a:sym typeface="+mn-ea"/>
              </a:rPr>
              <a:t>在第</a:t>
            </a:r>
            <a:r>
              <a:rPr lang="en-US" altLang="zh-CN" u="sng" dirty="0" smtClean="0">
                <a:sym typeface="+mn-ea"/>
              </a:rPr>
              <a:t>     </a:t>
            </a:r>
            <a:r>
              <a:rPr lang="zh-CN" altLang="en-US" dirty="0" smtClean="0">
                <a:sym typeface="+mn-ea"/>
              </a:rPr>
              <a:t>行后</a:t>
            </a:r>
            <a:r>
              <a:rPr lang="en-US" altLang="zh-CN" dirty="0" smtClean="0">
                <a:sym typeface="+mn-ea"/>
              </a:rPr>
              <a:t>unblock</a:t>
            </a:r>
            <a:r>
              <a:rPr lang="zh-CN" altLang="en-US" dirty="0" smtClean="0">
                <a:sym typeface="+mn-ea"/>
              </a:rPr>
              <a:t>信号</a:t>
            </a:r>
            <a:r>
              <a:rPr lang="en-US" altLang="zh-CN" dirty="0" smtClean="0">
                <a:sym typeface="+mn-ea"/>
              </a:rPr>
              <a:t>？</a:t>
            </a:r>
            <a:endParaRPr lang="en-US" altLang="zh-CN" dirty="0" smtClean="0">
              <a:latin typeface="Calibri" panose="020F0502020204030204" pitchFamily="34" charset="0"/>
            </a:endParaRPr>
          </a:p>
          <a:p>
            <a:pPr lvl="1"/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8077200" y="990600"/>
            <a:ext cx="369125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1 int i = 1;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2 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3 void handler(int sig)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4     i = 0;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5 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6 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7 int main()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8      int j;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9      sigset_t s;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10    sigemptyset(&amp;s);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11    sigaddset(&amp;s, SIGINT);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12    signal(SIGINT, handler);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13    for (j = 0; j &lt; 100; j++)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14        i++;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15    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16    printf("i = %d\n", i);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17    exit(0);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pPr algn="l"/>
            <a:r>
              <a:rPr lang="en-US" altLang="zh-CN" sz="1800" dirty="0" smtClean="0">
                <a:latin typeface="Calibri" panose="020F0502020204030204" pitchFamily="34" charset="0"/>
              </a:rPr>
              <a:t>18 }</a:t>
            </a:r>
            <a:endParaRPr lang="en-US" altLang="zh-CN" sz="1800" dirty="0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处理程序需要</a:t>
            </a:r>
            <a:r>
              <a:rPr lang="zh-CN" altLang="en-US"/>
              <a:t>显式等待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SIGCHLD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的</a:t>
            </a:r>
            <a:r>
              <a:rPr lang="zh-CN" altLang="en-US" dirty="0"/>
              <a:t>到来</a:t>
            </a:r>
            <a:endParaRPr lang="zh-CN" altLang="en-US" dirty="0"/>
          </a:p>
          <a:p>
            <a:pPr lvl="1"/>
            <a:r>
              <a:rPr lang="zh-CN" altLang="en-US" dirty="0"/>
              <a:t>比如</a:t>
            </a:r>
            <a:r>
              <a:rPr lang="en-US" altLang="zh-CN" dirty="0"/>
              <a:t>，shell</a:t>
            </a:r>
            <a:r>
              <a:rPr lang="zh-CN" altLang="en-US" dirty="0"/>
              <a:t>要等待前台</a:t>
            </a:r>
            <a:r>
              <a:rPr lang="zh-CN" altLang="en-US" dirty="0"/>
              <a:t>子进程</a:t>
            </a:r>
            <a:r>
              <a:rPr lang="zh-CN" altLang="en-US" dirty="0"/>
              <a:t>结束</a:t>
            </a:r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显式地等待信号</a:t>
            </a:r>
            <a:r>
              <a:rPr lang="en-US" altLang="zh-CN" dirty="0"/>
              <a:t>（</a:t>
            </a:r>
            <a:r>
              <a:rPr lang="zh-CN" altLang="en-US" dirty="0"/>
              <a:t>教材</a:t>
            </a:r>
            <a:r>
              <a:rPr lang="en-US" altLang="zh-CN" dirty="0"/>
              <a:t>8.5.7）</a:t>
            </a:r>
            <a:br>
              <a:rPr lang="en-US" altLang="zh-CN" dirty="0"/>
            </a:b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同步</a:t>
            </a:r>
            <a:r>
              <a:rPr lang="en-US" altLang="zh-CN" dirty="0">
                <a:sym typeface="+mn-ea"/>
              </a:rPr>
              <a:t>2：</a:t>
            </a:r>
            <a:r>
              <a:rPr lang="zh-CN" altLang="en-US" dirty="0">
                <a:sym typeface="+mn-ea"/>
              </a:rPr>
              <a:t>等待信号</a:t>
            </a:r>
            <a:r>
              <a:rPr lang="zh-CN" altLang="en-US" dirty="0">
                <a:sym typeface="+mn-ea"/>
              </a:rPr>
              <a:t>处理函数先完成</a:t>
            </a:r>
            <a:endParaRPr lang="en-US" altLang="zh-CN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76400" y="2286000"/>
            <a:ext cx="8839200" cy="3312160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noAutofit/>
          </a:bodyPr>
          <a:lstStyle/>
          <a:p>
            <a:r>
              <a:rPr lang="en-US" sz="1500" dirty="0">
                <a:solidFill>
                  <a:srgbClr val="C200FF"/>
                </a:solidFill>
                <a:latin typeface="Menlo-Regular" panose="020B0609030804020204"/>
              </a:rPr>
              <a:t>volatile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sig_atomic_t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 panose="020B0609030804020204"/>
              </a:rPr>
              <a:t>pid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 err="1">
                <a:solidFill>
                  <a:srgbClr val="4A00FF"/>
                </a:solidFill>
                <a:latin typeface="Menlo-Regular" panose="020B0609030804020204"/>
              </a:rPr>
              <a:t>sigchld_handler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 panose="020B0609030804020204"/>
              </a:rPr>
              <a:t>s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 panose="020B0609030804020204"/>
              </a:rPr>
              <a:t>olderrno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indent="457200"/>
            <a:r>
              <a:rPr lang="fi-FI" sz="1500" dirty="0">
                <a:solidFill>
                  <a:srgbClr val="FF0000"/>
                </a:solidFill>
                <a:latin typeface="Menlo-Regular" panose="020B0609030804020204"/>
                <a:sym typeface="+mn-ea"/>
              </a:rPr>
              <a:t>/* Main is </a:t>
            </a:r>
            <a:r>
              <a:rPr lang="fi-FI" sz="1500" dirty="0" err="1">
                <a:solidFill>
                  <a:srgbClr val="FF0000"/>
                </a:solidFill>
                <a:latin typeface="Menlo-Regular" panose="020B0609030804020204"/>
                <a:sym typeface="+mn-ea"/>
              </a:rPr>
              <a:t>waiting</a:t>
            </a:r>
            <a:r>
              <a:rPr lang="fi-FI" sz="1500" dirty="0">
                <a:solidFill>
                  <a:srgbClr val="FF0000"/>
                </a:solidFill>
                <a:latin typeface="Menlo-Regular" panose="020B0609030804020204"/>
                <a:sym typeface="+mn-ea"/>
              </a:rPr>
              <a:t> for </a:t>
            </a:r>
            <a:r>
              <a:rPr lang="fi-FI" sz="1500" dirty="0" err="1">
                <a:solidFill>
                  <a:srgbClr val="FF0000"/>
                </a:solidFill>
                <a:latin typeface="Menlo-Regular" panose="020B0609030804020204"/>
                <a:sym typeface="+mn-ea"/>
              </a:rPr>
              <a:t>nonzero</a:t>
            </a:r>
            <a:r>
              <a:rPr lang="fi-FI" sz="1500" dirty="0">
                <a:solidFill>
                  <a:srgbClr val="FF0000"/>
                </a:solidFill>
                <a:latin typeface="Menlo-Regular" panose="020B0609030804020204"/>
                <a:sym typeface="+mn-ea"/>
              </a:rPr>
              <a:t> </a:t>
            </a:r>
            <a:r>
              <a:rPr lang="fi-FI" sz="1500" dirty="0" err="1">
                <a:solidFill>
                  <a:srgbClr val="FF0000"/>
                </a:solidFill>
                <a:latin typeface="Menlo-Regular" panose="020B0609030804020204"/>
                <a:sym typeface="+mn-ea"/>
              </a:rPr>
              <a:t>pid</a:t>
            </a:r>
            <a:r>
              <a:rPr lang="fi-FI" sz="1500" dirty="0">
                <a:solidFill>
                  <a:srgbClr val="FF0000"/>
                </a:solidFill>
                <a:latin typeface="Menlo-Regular" panose="020B0609030804020204"/>
                <a:sym typeface="+mn-ea"/>
              </a:rPr>
              <a:t> */</a:t>
            </a:r>
            <a:endParaRPr lang="fi-FI" sz="1500" dirty="0">
              <a:solidFill>
                <a:srgbClr val="FF0000"/>
              </a:solidFill>
              <a:latin typeface="Menlo-Regular" panose="020B0609030804020204"/>
            </a:endParaRPr>
          </a:p>
          <a:p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5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= Waitpid(-1, </a:t>
            </a:r>
            <a:r>
              <a:rPr lang="fi-FI" sz="15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, 0);     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indent="457200"/>
            <a:r>
              <a:rPr lang="fi-FI" sz="15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fi-FI" sz="1500" dirty="0" err="1">
                <a:solidFill>
                  <a:srgbClr val="000000"/>
                </a:solidFill>
                <a:latin typeface="Menlo-Regular" panose="020B0609030804020204"/>
              </a:rPr>
              <a:t>olderrno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500" dirty="0" err="1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500" dirty="0" err="1">
                <a:solidFill>
                  <a:srgbClr val="4A00FF"/>
                </a:solidFill>
                <a:latin typeface="Menlo-Regular" panose="020B0609030804020204"/>
              </a:rPr>
              <a:t>sigint_handler</a:t>
            </a:r>
            <a:r>
              <a:rPr lang="fi-FI" sz="1500" dirty="0" err="1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fi-FI" sz="15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500" dirty="0">
                <a:solidFill>
                  <a:srgbClr val="C1651C"/>
                </a:solidFill>
                <a:latin typeface="Menlo-Regular" panose="020B0609030804020204"/>
              </a:rPr>
              <a:t>s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ro-RO" sz="15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2688" y="5240655"/>
            <a:ext cx="1572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anose="020F0502020204030204" pitchFamily="34" charset="0"/>
              </a:rPr>
              <a:t>waitforsignal.c</a:t>
            </a:r>
            <a:endParaRPr lang="en-US" sz="1800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显式地等待信号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99615" y="1304290"/>
            <a:ext cx="8235950" cy="5400675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>
                <a:solidFill>
                  <a:srgbClr val="4A00FF"/>
                </a:solidFill>
                <a:latin typeface="Menlo-Regular" panose="020B0609030804020204"/>
              </a:rPr>
              <a:t>main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 panose="020B0609030804020204"/>
              </a:rPr>
              <a:t>argc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500" dirty="0">
                <a:solidFill>
                  <a:srgbClr val="2D961E"/>
                </a:solidFill>
                <a:latin typeface="Menlo-Regular" panose="020B0609030804020204"/>
              </a:rPr>
              <a:t>char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**</a:t>
            </a:r>
            <a:r>
              <a:rPr lang="en-US" sz="1500" dirty="0" err="1">
                <a:solidFill>
                  <a:srgbClr val="C1651C"/>
                </a:solidFill>
                <a:latin typeface="Menlo-Regular" panose="020B0609030804020204"/>
              </a:rPr>
              <a:t>argv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 {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sigset_t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 panose="020B0609030804020204"/>
              </a:rPr>
              <a:t>mask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500" dirty="0" err="1">
                <a:solidFill>
                  <a:srgbClr val="C1651C"/>
                </a:solidFill>
                <a:latin typeface="Menlo-Regular" panose="020B0609030804020204"/>
              </a:rPr>
              <a:t>prev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Signal(SIGCHLD,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sigchld_handler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Signal(SIGINT,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sigint_handler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Sigemptyset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(&amp;mask);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Sigaddset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(&amp;mask, SIGCHLD);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0">
                <a:solidFill>
                  <a:srgbClr val="C200FF"/>
                </a:solidFill>
                <a:latin typeface="Menlo-Regular" panose="020B0609030804020204"/>
              </a:rPr>
              <a:t>while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(1) {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Sigprocmask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(SIG_BLOCK, &amp;mask, &amp;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prev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); </a:t>
            </a:r>
            <a:r>
              <a:rPr lang="en-US" sz="1500" dirty="0">
                <a:solidFill>
                  <a:srgbClr val="CB2418"/>
                </a:solidFill>
                <a:latin typeface="Menlo-Regular" panose="020B0609030804020204"/>
              </a:rPr>
              <a:t>/* Block SIGCHLD */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	</a:t>
            </a:r>
            <a:r>
              <a:rPr lang="en-US" sz="15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(Fork() == 0) </a:t>
            </a:r>
            <a:r>
              <a:rPr lang="en-US" sz="1500" dirty="0">
                <a:solidFill>
                  <a:srgbClr val="CB2418"/>
                </a:solidFill>
                <a:latin typeface="Menlo-Regular" panose="020B0609030804020204"/>
              </a:rPr>
              <a:t>/* Child */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        exit(0);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500" dirty="0">
                <a:solidFill>
                  <a:srgbClr val="000000"/>
                </a:solidFill>
                <a:latin typeface="Menlo-Regular" panose="020B0609030804020204"/>
              </a:rPr>
              <a:t>	</a:t>
            </a:r>
            <a:r>
              <a:rPr lang="fr-FR" sz="1500" dirty="0">
                <a:solidFill>
                  <a:srgbClr val="CB2418"/>
                </a:solidFill>
                <a:latin typeface="Menlo-Regular" panose="020B0609030804020204"/>
              </a:rPr>
              <a:t>/* Parent */</a:t>
            </a:r>
            <a:endParaRPr lang="fr-FR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500" dirty="0">
                <a:solidFill>
                  <a:srgbClr val="000000"/>
                </a:solidFill>
                <a:latin typeface="Menlo-Regular" panose="020B0609030804020204"/>
              </a:rPr>
              <a:t>	</a:t>
            </a:r>
            <a:r>
              <a:rPr lang="fr-FR" sz="15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fr-FR" sz="1500" dirty="0">
                <a:solidFill>
                  <a:srgbClr val="000000"/>
                </a:solidFill>
                <a:latin typeface="Menlo-Regular" panose="020B0609030804020204"/>
              </a:rPr>
              <a:t> = 0;</a:t>
            </a:r>
            <a:endParaRPr lang="fr-FR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500" dirty="0">
                <a:solidFill>
                  <a:srgbClr val="000000"/>
                </a:solidFill>
                <a:latin typeface="Menlo-Regular" panose="020B0609030804020204"/>
              </a:rPr>
              <a:t>	</a:t>
            </a:r>
            <a:r>
              <a:rPr lang="fr-FR" sz="1500" dirty="0" err="1">
                <a:solidFill>
                  <a:srgbClr val="000000"/>
                </a:solidFill>
                <a:latin typeface="Menlo-Regular" panose="020B0609030804020204"/>
              </a:rPr>
              <a:t>Sigprocmask</a:t>
            </a:r>
            <a:r>
              <a:rPr lang="fr-FR" sz="1500" dirty="0">
                <a:solidFill>
                  <a:srgbClr val="000000"/>
                </a:solidFill>
                <a:latin typeface="Menlo-Regular" panose="020B0609030804020204"/>
              </a:rPr>
              <a:t>(SIG_SETMASK, &amp;</a:t>
            </a:r>
            <a:r>
              <a:rPr lang="fr-FR" sz="1500" dirty="0" err="1">
                <a:solidFill>
                  <a:srgbClr val="000000"/>
                </a:solidFill>
                <a:latin typeface="Menlo-Regular" panose="020B0609030804020204"/>
              </a:rPr>
              <a:t>prev</a:t>
            </a:r>
            <a:r>
              <a:rPr lang="fr-FR" sz="15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fr-FR" sz="15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fr-FR" sz="1500" dirty="0">
                <a:solidFill>
                  <a:srgbClr val="000000"/>
                </a:solidFill>
                <a:latin typeface="Menlo-Regular" panose="020B0609030804020204"/>
              </a:rPr>
              <a:t>); </a:t>
            </a:r>
            <a:r>
              <a:rPr lang="fr-FR" sz="1500" dirty="0">
                <a:solidFill>
                  <a:srgbClr val="CB2418"/>
                </a:solidFill>
                <a:latin typeface="Menlo-Regular" panose="020B0609030804020204"/>
              </a:rPr>
              <a:t>/* </a:t>
            </a:r>
            <a:r>
              <a:rPr lang="fr-FR" sz="1500" dirty="0" err="1">
                <a:solidFill>
                  <a:srgbClr val="CB2418"/>
                </a:solidFill>
                <a:latin typeface="Menlo-Regular" panose="020B0609030804020204"/>
              </a:rPr>
              <a:t>Unblock</a:t>
            </a:r>
            <a:r>
              <a:rPr lang="fr-FR" sz="1500" dirty="0">
                <a:solidFill>
                  <a:srgbClr val="CB2418"/>
                </a:solidFill>
                <a:latin typeface="Menlo-Regular" panose="020B0609030804020204"/>
              </a:rPr>
              <a:t> SIGCHLD */</a:t>
            </a:r>
            <a:endParaRPr lang="fr-FR" sz="15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fr-FR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500" dirty="0">
                <a:solidFill>
                  <a:srgbClr val="000000"/>
                </a:solidFill>
                <a:latin typeface="Menlo-Regular" panose="020B0609030804020204"/>
              </a:rPr>
              <a:t>	</a:t>
            </a:r>
            <a:r>
              <a:rPr lang="fr-FR" sz="1500" dirty="0">
                <a:solidFill>
                  <a:srgbClr val="CB2418"/>
                </a:solidFill>
                <a:latin typeface="Menlo-Regular" panose="020B0609030804020204"/>
              </a:rPr>
              <a:t>/* </a:t>
            </a:r>
            <a:r>
              <a:rPr lang="zh-CN" altLang="fr-FR" sz="1500" dirty="0" err="1">
                <a:solidFill>
                  <a:srgbClr val="CB2418"/>
                </a:solidFill>
                <a:latin typeface="Menlo-Regular" panose="020B0609030804020204"/>
              </a:rPr>
              <a:t>利用循环查询</a:t>
            </a:r>
            <a:r>
              <a:rPr lang="en-US" altLang="zh-CN" sz="1500" dirty="0" err="1">
                <a:solidFill>
                  <a:srgbClr val="CB2418"/>
                </a:solidFill>
                <a:latin typeface="Menlo-Regular" panose="020B0609030804020204"/>
              </a:rPr>
              <a:t>，</a:t>
            </a:r>
            <a:r>
              <a:rPr lang="zh-CN" altLang="en-US" sz="1500" dirty="0" err="1">
                <a:solidFill>
                  <a:srgbClr val="CB2418"/>
                </a:solidFill>
                <a:latin typeface="Menlo-Regular" panose="020B0609030804020204"/>
              </a:rPr>
              <a:t>来等待</a:t>
            </a:r>
            <a:r>
              <a:rPr lang="fr-FR" sz="1500" dirty="0">
                <a:solidFill>
                  <a:srgbClr val="CB2418"/>
                </a:solidFill>
                <a:latin typeface="Menlo-Regular" panose="020B0609030804020204"/>
              </a:rPr>
              <a:t>SIGCHLD (</a:t>
            </a:r>
            <a:r>
              <a:rPr lang="fr-FR" sz="1500" dirty="0" err="1">
                <a:solidFill>
                  <a:srgbClr val="CB2418"/>
                </a:solidFill>
                <a:latin typeface="Menlo-Regular" panose="020B0609030804020204"/>
              </a:rPr>
              <a:t>wasteful</a:t>
            </a:r>
            <a:r>
              <a:rPr lang="fr-FR" sz="1500" dirty="0">
                <a:solidFill>
                  <a:srgbClr val="CB2418"/>
                </a:solidFill>
                <a:latin typeface="Menlo-Regular" panose="020B0609030804020204"/>
              </a:rPr>
              <a:t>!)</a:t>
            </a:r>
            <a:r>
              <a:rPr lang="zh-CN" altLang="fr-FR" sz="1500" dirty="0">
                <a:solidFill>
                  <a:srgbClr val="CB2418"/>
                </a:solidFill>
                <a:latin typeface="Menlo-Regular" panose="020B0609030804020204"/>
              </a:rPr>
              <a:t>信号处理函数</a:t>
            </a:r>
            <a:r>
              <a:rPr lang="zh-CN" altLang="en-US" sz="1500" dirty="0">
                <a:solidFill>
                  <a:srgbClr val="CB2418"/>
                </a:solidFill>
                <a:latin typeface="Menlo-Regular" panose="020B0609030804020204"/>
              </a:rPr>
              <a:t>更新</a:t>
            </a:r>
            <a:r>
              <a:rPr lang="en-US" altLang="zh-CN" sz="1500" dirty="0">
                <a:solidFill>
                  <a:srgbClr val="CB2418"/>
                </a:solidFill>
                <a:latin typeface="Menlo-Regular" panose="020B0609030804020204"/>
              </a:rPr>
              <a:t>pid</a:t>
            </a:r>
            <a:r>
              <a:rPr lang="zh-CN" altLang="en-US" sz="1500" dirty="0">
                <a:solidFill>
                  <a:srgbClr val="CB2418"/>
                </a:solidFill>
                <a:latin typeface="Menlo-Regular" panose="020B0609030804020204"/>
              </a:rPr>
              <a:t>的值</a:t>
            </a:r>
            <a:r>
              <a:rPr lang="fr-FR" sz="150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fr-FR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500" dirty="0">
                <a:solidFill>
                  <a:srgbClr val="000000"/>
                </a:solidFill>
                <a:latin typeface="Menlo-Regular" panose="020B0609030804020204"/>
              </a:rPr>
              <a:t>	</a:t>
            </a:r>
            <a:r>
              <a:rPr lang="fr-FR" sz="1500" dirty="0" err="1">
                <a:solidFill>
                  <a:srgbClr val="C200FF"/>
                </a:solidFill>
                <a:latin typeface="Menlo-Regular" panose="020B0609030804020204"/>
              </a:rPr>
              <a:t>while</a:t>
            </a:r>
            <a:r>
              <a:rPr lang="fr-FR" sz="1500" dirty="0">
                <a:solidFill>
                  <a:srgbClr val="000000"/>
                </a:solidFill>
                <a:latin typeface="Menlo-Regular" panose="020B0609030804020204"/>
              </a:rPr>
              <a:t> (!</a:t>
            </a:r>
            <a:r>
              <a:rPr lang="fr-FR" sz="15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fr-FR" sz="15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fr-FR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500" dirty="0">
                <a:solidFill>
                  <a:srgbClr val="000000"/>
                </a:solidFill>
                <a:latin typeface="Menlo-Regular" panose="020B0609030804020204"/>
              </a:rPr>
              <a:t>            ;</a:t>
            </a:r>
            <a:endParaRPr lang="fr-FR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500" dirty="0">
                <a:solidFill>
                  <a:srgbClr val="000000"/>
                </a:solidFill>
                <a:latin typeface="Menlo-Regular" panose="020B0609030804020204"/>
              </a:rPr>
              <a:t>	</a:t>
            </a:r>
            <a:r>
              <a:rPr lang="fr-FR" sz="1500" dirty="0">
                <a:solidFill>
                  <a:srgbClr val="CB2418"/>
                </a:solidFill>
                <a:latin typeface="Menlo-Regular" panose="020B0609030804020204"/>
              </a:rPr>
              <a:t>/* Do </a:t>
            </a:r>
            <a:r>
              <a:rPr lang="fr-FR" sz="1500" dirty="0" err="1">
                <a:solidFill>
                  <a:srgbClr val="CB2418"/>
                </a:solidFill>
                <a:latin typeface="Menlo-Regular" panose="020B0609030804020204"/>
              </a:rPr>
              <a:t>some</a:t>
            </a:r>
            <a:r>
              <a:rPr lang="fr-FR" sz="1500" dirty="0">
                <a:solidFill>
                  <a:srgbClr val="CB2418"/>
                </a:solidFill>
                <a:latin typeface="Menlo-Regular" panose="020B0609030804020204"/>
              </a:rPr>
              <a:t> </a:t>
            </a:r>
            <a:r>
              <a:rPr lang="fr-FR" sz="1500" dirty="0" err="1">
                <a:solidFill>
                  <a:srgbClr val="CB2418"/>
                </a:solidFill>
                <a:latin typeface="Menlo-Regular" panose="020B0609030804020204"/>
              </a:rPr>
              <a:t>work</a:t>
            </a:r>
            <a:r>
              <a:rPr lang="fr-FR" sz="1500" dirty="0">
                <a:solidFill>
                  <a:srgbClr val="CB2418"/>
                </a:solidFill>
                <a:latin typeface="Menlo-Regular" panose="020B0609030804020204"/>
              </a:rPr>
              <a:t> </a:t>
            </a:r>
            <a:r>
              <a:rPr lang="fr-FR" sz="1500" dirty="0" err="1">
                <a:solidFill>
                  <a:srgbClr val="CB2418"/>
                </a:solidFill>
                <a:latin typeface="Menlo-Regular" panose="020B0609030804020204"/>
              </a:rPr>
              <a:t>after</a:t>
            </a:r>
            <a:r>
              <a:rPr lang="fr-FR" sz="1500" dirty="0">
                <a:solidFill>
                  <a:srgbClr val="CB2418"/>
                </a:solidFill>
                <a:latin typeface="Menlo-Regular" panose="020B0609030804020204"/>
              </a:rPr>
              <a:t> </a:t>
            </a:r>
            <a:r>
              <a:rPr lang="fr-FR" sz="1500" dirty="0" err="1">
                <a:solidFill>
                  <a:srgbClr val="CB2418"/>
                </a:solidFill>
                <a:latin typeface="Menlo-Regular" panose="020B0609030804020204"/>
              </a:rPr>
              <a:t>receiving</a:t>
            </a:r>
            <a:r>
              <a:rPr lang="fr-FR" sz="1500" dirty="0">
                <a:solidFill>
                  <a:srgbClr val="CB2418"/>
                </a:solidFill>
                <a:latin typeface="Menlo-Regular" panose="020B0609030804020204"/>
              </a:rPr>
              <a:t> SIGCHLD */</a:t>
            </a:r>
            <a:endParaRPr lang="fr-FR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ro-RO" sz="1500" dirty="0">
                <a:solidFill>
                  <a:srgbClr val="000000"/>
                </a:solidFill>
                <a:latin typeface="Menlo-Regular" panose="020B0609030804020204"/>
              </a:rPr>
              <a:t>        printf(</a:t>
            </a:r>
            <a:r>
              <a:rPr lang="ro-RO" sz="1500" dirty="0">
                <a:solidFill>
                  <a:srgbClr val="9D206F"/>
                </a:solidFill>
                <a:latin typeface="Menlo-Regular" panose="020B0609030804020204"/>
              </a:rPr>
              <a:t>"."</a:t>
            </a:r>
            <a:r>
              <a:rPr lang="ro-RO" sz="15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ro-RO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ro-RO" sz="15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ro-RO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ro-RO" sz="1500" dirty="0">
                <a:solidFill>
                  <a:srgbClr val="000000"/>
                </a:solidFill>
                <a:latin typeface="Menlo-Regular" panose="020B0609030804020204"/>
              </a:rPr>
              <a:t>    exit(0);</a:t>
            </a:r>
            <a:endParaRPr lang="ro-RO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ro-RO" sz="15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ro-RO" sz="15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96488" y="6336268"/>
            <a:ext cx="1572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anose="020F0502020204030204" pitchFamily="34" charset="0"/>
              </a:rPr>
              <a:t>waitforsignal.c</a:t>
            </a:r>
            <a:endParaRPr lang="en-US" sz="1800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0" y="990600"/>
            <a:ext cx="2045335" cy="6870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l"/>
            <a:r>
              <a:rPr lang="zh-CN" altLang="en-US" sz="1800" dirty="0">
                <a:latin typeface="FangSong" panose="02010609060101010101" pitchFamily="49" charset="-122"/>
                <a:ea typeface="FangSong" panose="02010609060101010101" pitchFamily="49" charset="-122"/>
              </a:rPr>
              <a:t>类似于等待前台作</a:t>
            </a:r>
            <a:endParaRPr lang="zh-CN" altLang="en-US" sz="18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/>
            <a:r>
              <a:rPr lang="zh-CN" altLang="en-US" sz="1800" dirty="0">
                <a:latin typeface="FangSong" panose="02010609060101010101" pitchFamily="49" charset="-122"/>
                <a:ea typeface="FangSong" panose="02010609060101010101" pitchFamily="49" charset="-122"/>
              </a:rPr>
              <a:t>业终止的</a:t>
            </a:r>
            <a:r>
              <a:rPr lang="en-US" altLang="zh-CN" sz="1800" dirty="0">
                <a:latin typeface="FangSong" panose="02010609060101010101" pitchFamily="49" charset="-122"/>
                <a:ea typeface="FangSong" panose="02010609060101010101" pitchFamily="49" charset="-122"/>
                <a:cs typeface="Consolas" panose="020B0609020204030204" pitchFamily="49" charset="0"/>
              </a:rPr>
              <a:t> Shell</a:t>
            </a:r>
            <a:endParaRPr lang="en-US" altLang="zh-CN" sz="1800" dirty="0">
              <a:latin typeface="FangSong" panose="02010609060101010101" pitchFamily="49" charset="-122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程序是正确的，但非常浪费</a:t>
            </a:r>
            <a:r>
              <a:rPr lang="en-US" altLang="zh-CN"/>
              <a:t>CPU</a:t>
            </a:r>
            <a:r>
              <a:rPr lang="zh-CN" altLang="en-US"/>
              <a:t>资源</a:t>
            </a:r>
            <a:r>
              <a:rPr lang="en-US" altLang="zh-CN"/>
              <a:t>（</a:t>
            </a:r>
            <a:r>
              <a:rPr lang="zh-CN" altLang="en-US"/>
              <a:t>一直查询</a:t>
            </a:r>
            <a:r>
              <a:rPr lang="en-US" altLang="zh-CN"/>
              <a:t>）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本进程的时间片一直在死循环中空转</a:t>
            </a:r>
            <a:r>
              <a:rPr lang="en-US" altLang="zh-CN">
                <a:solidFill>
                  <a:srgbClr val="FF0000"/>
                </a:solidFill>
              </a:rPr>
              <a:t>（</a:t>
            </a:r>
            <a:r>
              <a:rPr lang="zh-CN" altLang="en-US">
                <a:solidFill>
                  <a:srgbClr val="FF0000"/>
                </a:solidFill>
              </a:rPr>
              <a:t>浪费</a:t>
            </a:r>
            <a:r>
              <a:rPr lang="en-US" altLang="zh-CN">
                <a:solidFill>
                  <a:srgbClr val="FF0000"/>
                </a:solidFill>
              </a:rPr>
              <a:t>CPU</a:t>
            </a:r>
            <a:r>
              <a:rPr lang="zh-CN" altLang="en-US">
                <a:solidFill>
                  <a:srgbClr val="FF0000"/>
                </a:solidFill>
              </a:rPr>
              <a:t>资源</a:t>
            </a:r>
            <a:r>
              <a:rPr lang="en-US" altLang="zh-CN">
                <a:solidFill>
                  <a:srgbClr val="FF0000"/>
                </a:solidFill>
              </a:rPr>
              <a:t>）</a:t>
            </a:r>
            <a:r>
              <a:rPr lang="zh-CN" altLang="en-US">
                <a:cs typeface="+mn-ea"/>
              </a:rPr>
              <a:t>，</a:t>
            </a:r>
            <a:r>
              <a:rPr lang="zh-CN" altLang="en-US"/>
              <a:t>直到收到</a:t>
            </a:r>
            <a:r>
              <a:rPr lang="zh-CN" altLang="en-US"/>
              <a:t>信号</a:t>
            </a:r>
            <a:endParaRPr lang="zh-CN" altLang="en-US"/>
          </a:p>
          <a:p>
            <a:pPr lvl="2"/>
            <a:r>
              <a:rPr lang="zh-CN" altLang="en-US">
                <a:solidFill>
                  <a:srgbClr val="00B050"/>
                </a:solidFill>
              </a:rPr>
              <a:t>收到子进程终止的信号</a:t>
            </a:r>
            <a:r>
              <a:rPr lang="en-US" altLang="zh-CN">
                <a:solidFill>
                  <a:srgbClr val="00B050"/>
                </a:solidFill>
              </a:rPr>
              <a:t>（</a:t>
            </a:r>
            <a:r>
              <a:rPr lang="zh-CN" altLang="en-US">
                <a:solidFill>
                  <a:srgbClr val="00B050"/>
                </a:solidFill>
              </a:rPr>
              <a:t>例子中</a:t>
            </a:r>
            <a:r>
              <a:rPr lang="en-US" altLang="zh-CN">
                <a:solidFill>
                  <a:srgbClr val="00B050"/>
                </a:solidFill>
              </a:rPr>
              <a:t>）</a:t>
            </a:r>
            <a:endParaRPr lang="zh-CN" altLang="en-US">
              <a:solidFill>
                <a:srgbClr val="00B050"/>
              </a:solidFill>
            </a:endParaRPr>
          </a:p>
          <a:p>
            <a:pPr lvl="1"/>
            <a:r>
              <a:rPr lang="zh-CN" altLang="en-US"/>
              <a:t>当</a:t>
            </a:r>
            <a:r>
              <a:rPr lang="en-US" altLang="zh-CN"/>
              <a:t>CPU</a:t>
            </a:r>
            <a:r>
              <a:rPr lang="zh-CN" altLang="en-US"/>
              <a:t>进程切换</a:t>
            </a:r>
            <a:r>
              <a:rPr lang="en-US" altLang="zh-CN"/>
              <a:t>，</a:t>
            </a:r>
            <a:r>
              <a:rPr lang="zh-CN" altLang="en-US"/>
              <a:t>从内核态回到本进程用户态时</a:t>
            </a:r>
            <a:r>
              <a:rPr lang="en-US" altLang="zh-CN"/>
              <a:t>，</a:t>
            </a:r>
            <a:r>
              <a:rPr lang="zh-CN" altLang="en-US"/>
              <a:t>进行信号</a:t>
            </a:r>
            <a:r>
              <a:rPr lang="zh-CN" altLang="en-US"/>
              <a:t>处理</a:t>
            </a:r>
            <a:endParaRPr lang="zh-CN" altLang="en-US"/>
          </a:p>
          <a:p>
            <a:pPr lvl="1"/>
            <a:r>
              <a:rPr lang="zh-CN" altLang="en-US"/>
              <a:t>信号处理函数回收子进程资源，并修改</a:t>
            </a:r>
            <a:r>
              <a:rPr lang="en-US" altLang="zh-CN"/>
              <a:t>pid</a:t>
            </a:r>
            <a:r>
              <a:rPr lang="zh-CN" altLang="en-US"/>
              <a:t>之后</a:t>
            </a:r>
            <a:r>
              <a:rPr lang="en-US" altLang="zh-CN"/>
              <a:t>，</a:t>
            </a:r>
            <a:r>
              <a:rPr lang="zh-CN" altLang="en-US"/>
              <a:t>经过系统调用</a:t>
            </a:r>
            <a:r>
              <a:rPr lang="en-US" altLang="en-US"/>
              <a:t>sys_sigreturn</a:t>
            </a:r>
            <a:r>
              <a:rPr lang="zh-CN" altLang="en-US"/>
              <a:t>恢复用户现场</a:t>
            </a:r>
            <a:r>
              <a:rPr lang="en-US" altLang="zh-CN"/>
              <a:t>（</a:t>
            </a:r>
            <a:r>
              <a:rPr lang="zh-CN" altLang="en-US"/>
              <a:t>检查到无需调度的话</a:t>
            </a:r>
            <a:r>
              <a:rPr lang="en-US" altLang="zh-CN"/>
              <a:t>），</a:t>
            </a:r>
            <a:r>
              <a:rPr lang="zh-CN" altLang="en-US"/>
              <a:t>返回到主</a:t>
            </a:r>
            <a:r>
              <a:rPr lang="zh-CN" altLang="en-US"/>
              <a:t>函数</a:t>
            </a:r>
            <a:endParaRPr lang="zh-CN" altLang="en-US"/>
          </a:p>
          <a:p>
            <a:pPr lvl="2"/>
            <a:r>
              <a:rPr lang="zh-CN" altLang="en-US"/>
              <a:t>所有从内核返回用户态的路径，都是一个</a:t>
            </a:r>
            <a:r>
              <a:rPr lang="en-US" altLang="en-US"/>
              <a:t>“</a:t>
            </a:r>
            <a:r>
              <a:rPr lang="zh-CN" altLang="en-US"/>
              <a:t>可抢占</a:t>
            </a:r>
            <a:r>
              <a:rPr lang="en-US" altLang="en-US"/>
              <a:t>/</a:t>
            </a:r>
            <a:r>
              <a:rPr lang="zh-CN" altLang="en-US"/>
              <a:t>可调度</a:t>
            </a:r>
            <a:r>
              <a:rPr lang="en-US" altLang="en-US"/>
              <a:t>”</a:t>
            </a:r>
            <a:r>
              <a:rPr lang="zh-CN" altLang="en-US"/>
              <a:t>的检查点。</a:t>
            </a:r>
            <a:endParaRPr lang="zh-CN" altLang="en-US"/>
          </a:p>
          <a:p>
            <a:endParaRPr lang="en-US"/>
          </a:p>
          <a:p>
            <a:endParaRPr lang="zh-CN" alt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显式地等待信号</a:t>
            </a:r>
            <a:r>
              <a:rPr lang="en-US" altLang="zh-CN"/>
              <a:t>——</a:t>
            </a:r>
            <a:r>
              <a:rPr lang="zh-CN" altLang="en-US"/>
              <a:t>主函数</a:t>
            </a:r>
            <a:r>
              <a:rPr lang="zh-CN" altLang="en-US"/>
              <a:t>一直查询</a:t>
            </a:r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752600" y="4190941"/>
            <a:ext cx="3810000" cy="583565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200FF"/>
                </a:solidFill>
                <a:latin typeface="Courier New" panose="02070609020205020404"/>
                <a:cs typeface="Courier New" panose="02070609020205020404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(!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)</a:t>
            </a:r>
            <a:endParaRPr lang="en-US" sz="16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nl-NL" sz="16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;</a:t>
            </a:r>
            <a:endParaRPr lang="ro-RO" sz="16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77000" y="3903345"/>
            <a:ext cx="4938395" cy="2954655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noAutofit/>
          </a:bodyPr>
          <a:lstStyle/>
          <a:p>
            <a:r>
              <a:rPr lang="en-US" sz="1500" dirty="0">
                <a:solidFill>
                  <a:srgbClr val="C200FF"/>
                </a:solidFill>
                <a:latin typeface="Menlo-Regular" panose="020B0609030804020204"/>
              </a:rPr>
              <a:t>volatile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sig_atomic_t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 panose="020B0609030804020204"/>
              </a:rPr>
              <a:t>pid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 err="1">
                <a:solidFill>
                  <a:srgbClr val="4A00FF"/>
                </a:solidFill>
                <a:latin typeface="Menlo-Regular" panose="020B0609030804020204"/>
              </a:rPr>
              <a:t>sigchld_handler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 panose="020B0609030804020204"/>
              </a:rPr>
              <a:t>s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5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 panose="020B0609030804020204"/>
              </a:rPr>
              <a:t>olderrno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en-US" sz="15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en-US" sz="15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indent="457200"/>
            <a:r>
              <a:rPr lang="fi-FI" sz="1500" dirty="0">
                <a:solidFill>
                  <a:srgbClr val="FF0000"/>
                </a:solidFill>
                <a:latin typeface="Menlo-Regular" panose="020B0609030804020204"/>
                <a:sym typeface="+mn-ea"/>
              </a:rPr>
              <a:t>/* Main is </a:t>
            </a:r>
            <a:r>
              <a:rPr lang="fi-FI" sz="1500" dirty="0" err="1">
                <a:solidFill>
                  <a:srgbClr val="FF0000"/>
                </a:solidFill>
                <a:latin typeface="Menlo-Regular" panose="020B0609030804020204"/>
                <a:sym typeface="+mn-ea"/>
              </a:rPr>
              <a:t>waiting</a:t>
            </a:r>
            <a:r>
              <a:rPr lang="fi-FI" sz="1500" dirty="0">
                <a:solidFill>
                  <a:srgbClr val="FF0000"/>
                </a:solidFill>
                <a:latin typeface="Menlo-Regular" panose="020B0609030804020204"/>
                <a:sym typeface="+mn-ea"/>
              </a:rPr>
              <a:t> for </a:t>
            </a:r>
            <a:r>
              <a:rPr lang="fi-FI" sz="1500" dirty="0" err="1">
                <a:solidFill>
                  <a:srgbClr val="FF0000"/>
                </a:solidFill>
                <a:latin typeface="Menlo-Regular" panose="020B0609030804020204"/>
                <a:sym typeface="+mn-ea"/>
              </a:rPr>
              <a:t>nonzero</a:t>
            </a:r>
            <a:r>
              <a:rPr lang="fi-FI" sz="1500" dirty="0">
                <a:solidFill>
                  <a:srgbClr val="FF0000"/>
                </a:solidFill>
                <a:latin typeface="Menlo-Regular" panose="020B0609030804020204"/>
                <a:sym typeface="+mn-ea"/>
              </a:rPr>
              <a:t> </a:t>
            </a:r>
            <a:r>
              <a:rPr lang="fi-FI" sz="1500" dirty="0" err="1">
                <a:solidFill>
                  <a:srgbClr val="FF0000"/>
                </a:solidFill>
                <a:latin typeface="Menlo-Regular" panose="020B0609030804020204"/>
                <a:sym typeface="+mn-ea"/>
              </a:rPr>
              <a:t>pid</a:t>
            </a:r>
            <a:r>
              <a:rPr lang="fi-FI" sz="1500" dirty="0">
                <a:solidFill>
                  <a:srgbClr val="FF0000"/>
                </a:solidFill>
                <a:latin typeface="Menlo-Regular" panose="020B0609030804020204"/>
                <a:sym typeface="+mn-ea"/>
              </a:rPr>
              <a:t> */</a:t>
            </a:r>
            <a:endParaRPr lang="fi-FI" sz="1500" dirty="0">
              <a:solidFill>
                <a:srgbClr val="FF0000"/>
              </a:solidFill>
              <a:latin typeface="Menlo-Regular" panose="020B0609030804020204"/>
            </a:endParaRPr>
          </a:p>
          <a:p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i-FI" sz="15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= Waitpid(-1, </a:t>
            </a:r>
            <a:r>
              <a:rPr lang="fi-FI" sz="15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, 0);     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pPr indent="457200"/>
            <a:r>
              <a:rPr lang="fi-FI" sz="1500" dirty="0" err="1">
                <a:solidFill>
                  <a:srgbClr val="000000"/>
                </a:solidFill>
                <a:latin typeface="Menlo-Regular" panose="020B0609030804020204"/>
              </a:rPr>
              <a:t>errno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fi-FI" sz="1500" dirty="0" err="1">
                <a:solidFill>
                  <a:srgbClr val="000000"/>
                </a:solidFill>
                <a:latin typeface="Menlo-Regular" panose="020B0609030804020204"/>
              </a:rPr>
              <a:t>olderrno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500" dirty="0" err="1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500" dirty="0" err="1">
                <a:solidFill>
                  <a:srgbClr val="4A00FF"/>
                </a:solidFill>
                <a:latin typeface="Menlo-Regular" panose="020B0609030804020204"/>
              </a:rPr>
              <a:t>sigint_handler</a:t>
            </a:r>
            <a:r>
              <a:rPr lang="fi-FI" sz="1500" dirty="0" err="1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fi-FI" sz="15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i-FI" sz="1500" dirty="0">
                <a:solidFill>
                  <a:srgbClr val="C1651C"/>
                </a:solidFill>
                <a:latin typeface="Menlo-Regular" panose="020B0609030804020204"/>
              </a:rPr>
              <a:t>s</a:t>
            </a:r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i-FI" sz="15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fi-FI" sz="15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ro-RO" sz="1500" dirty="0">
              <a:solidFill>
                <a:srgbClr val="000000"/>
              </a:solidFill>
              <a:latin typeface="Menlo-Regular" panose="020B0609030804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6317615" cy="4972050"/>
          </a:xfrm>
        </p:spPr>
        <p:txBody>
          <a:bodyPr/>
          <a:lstStyle/>
          <a:p>
            <a:r>
              <a:rPr lang="zh-CN" altLang="en-US"/>
              <a:t>安全，但太慢</a:t>
            </a:r>
            <a:r>
              <a:rPr lang="en-US" altLang="zh-CN"/>
              <a:t>（</a:t>
            </a:r>
            <a:r>
              <a:rPr lang="zh-CN" altLang="en-US"/>
              <a:t>检查频率太低</a:t>
            </a:r>
            <a:r>
              <a:rPr lang="en-US" altLang="zh-CN"/>
              <a:t>）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每次迭代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本进程只要检测到</a:t>
            </a:r>
            <a:r>
              <a:rPr lang="en-US" altLang="zh-CN">
                <a:sym typeface="+mn-ea"/>
              </a:rPr>
              <a:t>pid</a:t>
            </a:r>
            <a:r>
              <a:rPr lang="zh-CN" altLang="en-US">
                <a:sym typeface="+mn-ea"/>
              </a:rPr>
              <a:t>非</a:t>
            </a:r>
            <a:r>
              <a:rPr lang="en-US" altLang="zh-CN">
                <a:sym typeface="+mn-ea"/>
              </a:rPr>
              <a:t>0，</a:t>
            </a:r>
            <a:r>
              <a:rPr lang="zh-CN" altLang="en-US">
                <a:sym typeface="+mn-ea"/>
              </a:rPr>
              <a:t>就睡眠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秒钟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将</a:t>
            </a:r>
            <a:r>
              <a:rPr lang="en-US" altLang="zh-CN">
                <a:sym typeface="+mn-ea"/>
              </a:rPr>
              <a:t>CPU</a:t>
            </a:r>
            <a:r>
              <a:rPr lang="zh-CN" altLang="en-US">
                <a:sym typeface="+mn-ea"/>
              </a:rPr>
              <a:t>资源主动让出来给其他进程</a:t>
            </a:r>
            <a:r>
              <a:rPr lang="en-US" altLang="zh-CN">
                <a:sym typeface="+mn-ea"/>
              </a:rPr>
              <a:t>（</a:t>
            </a:r>
            <a:r>
              <a:rPr lang="zh-CN" altLang="en-US">
                <a:sym typeface="+mn-ea"/>
              </a:rPr>
              <a:t>包括子进程</a:t>
            </a:r>
            <a:r>
              <a:rPr lang="en-US" altLang="zh-CN">
                <a:sym typeface="+mn-ea"/>
              </a:rPr>
              <a:t>）——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避免浪费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CPU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资源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至少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秒钟以后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如果内核态重新调度回本进程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主流程再次检测</a:t>
            </a:r>
            <a:r>
              <a:rPr lang="en-US" altLang="zh-CN">
                <a:sym typeface="+mn-ea"/>
              </a:rPr>
              <a:t>pid</a:t>
            </a:r>
            <a:r>
              <a:rPr lang="zh-CN" altLang="en-US">
                <a:sym typeface="+mn-ea"/>
              </a:rPr>
              <a:t>的值</a:t>
            </a:r>
            <a:r>
              <a:rPr lang="en-US" altLang="zh-CN">
                <a:sym typeface="+mn-ea"/>
              </a:rPr>
              <a:t>（</a:t>
            </a:r>
            <a:r>
              <a:rPr lang="zh-CN" altLang="en-US">
                <a:sym typeface="+mn-ea"/>
              </a:rPr>
              <a:t>或者进入信号处理流程</a:t>
            </a:r>
            <a:r>
              <a:rPr lang="en-US" altLang="zh-CN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marL="457200" lvl="1" indent="0">
              <a:buNone/>
            </a:pPr>
            <a:endParaRPr lang="zh-CN" altLang="en-US">
              <a:sym typeface="+mn-ea"/>
            </a:endParaRPr>
          </a:p>
          <a:p>
            <a:pPr lvl="1"/>
            <a:endParaRPr lang="zh-CN" altLang="en-US">
              <a:sym typeface="+mn-ea"/>
            </a:endParaRPr>
          </a:p>
          <a:p>
            <a:pPr lvl="1"/>
            <a:r>
              <a:rPr lang="zh-CN" altLang="en-US"/>
              <a:t>因此</a:t>
            </a:r>
            <a:r>
              <a:rPr lang="en-US" altLang="zh-CN"/>
              <a:t>，</a:t>
            </a:r>
            <a:r>
              <a:rPr lang="zh-CN" altLang="en-US"/>
              <a:t>每</a:t>
            </a:r>
            <a:r>
              <a:rPr lang="en-US" altLang="zh-CN"/>
              <a:t>1</a:t>
            </a:r>
            <a:r>
              <a:rPr lang="zh-CN" altLang="en-US"/>
              <a:t>秒钟</a:t>
            </a:r>
            <a:r>
              <a:rPr lang="en-US" altLang="zh-CN"/>
              <a:t>+</a:t>
            </a:r>
            <a:r>
              <a:rPr lang="zh-CN" altLang="en-US"/>
              <a:t>才检测一次</a:t>
            </a:r>
            <a:endParaRPr lang="zh-CN" altLang="en-US"/>
          </a:p>
          <a:p>
            <a:pPr lvl="1"/>
            <a:endParaRPr lang="zh-CN"/>
          </a:p>
          <a:p>
            <a:endParaRPr lang="zh-CN" alt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显式地等待信号</a:t>
            </a:r>
            <a:r>
              <a:rPr lang="en-US" altLang="zh-CN"/>
              <a:t>——</a:t>
            </a:r>
            <a:r>
              <a:rPr lang="zh-CN" altLang="en-US"/>
              <a:t>主函数周期查询</a:t>
            </a:r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57400" y="3734018"/>
            <a:ext cx="3810000" cy="583565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(!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 </a:t>
            </a:r>
            <a:r>
              <a:rPr lang="en-US" sz="1600" dirty="0">
                <a:solidFill>
                  <a:srgbClr val="CB2418"/>
                </a:solidFill>
                <a:latin typeface="Menlo-Regular" panose="020B0609030804020204"/>
              </a:rPr>
              <a:t>/* Too slow! */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    sleep(1);</a:t>
            </a:r>
            <a:endParaRPr lang="ro-RO" sz="16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47800"/>
            <a:ext cx="4477385" cy="463423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6680" y="3581400"/>
            <a:ext cx="7004685" cy="3052445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10698480" cy="4972050"/>
          </a:xfrm>
        </p:spPr>
        <p:txBody>
          <a:bodyPr/>
          <a:lstStyle/>
          <a:p>
            <a:r>
              <a:rPr lang="zh-CN" dirty="0">
                <a:sym typeface="+mn-ea"/>
              </a:rPr>
              <a:t>更高效的检测</a:t>
            </a:r>
            <a:r>
              <a:rPr lang="en-US" altLang="zh-CN" dirty="0">
                <a:sym typeface="+mn-ea"/>
              </a:rPr>
              <a:t>（</a:t>
            </a:r>
            <a:r>
              <a:rPr lang="zh-CN" altLang="en-US" dirty="0">
                <a:sym typeface="+mn-ea"/>
              </a:rPr>
              <a:t>信号触发</a:t>
            </a:r>
            <a:r>
              <a:rPr lang="en-US" altLang="zh-CN" dirty="0">
                <a:sym typeface="+mn-ea"/>
              </a:rPr>
              <a:t>；</a:t>
            </a:r>
            <a:r>
              <a:rPr lang="zh-CN" altLang="en-US" dirty="0">
                <a:sym typeface="+mn-ea"/>
              </a:rPr>
              <a:t>信号到了可及时检测</a:t>
            </a:r>
            <a:r>
              <a:rPr lang="en-US" altLang="zh-CN" dirty="0">
                <a:sym typeface="+mn-ea"/>
              </a:rPr>
              <a:t>），</a:t>
            </a:r>
            <a:r>
              <a:rPr lang="zh-CN" altLang="en-US" dirty="0">
                <a:sym typeface="+mn-ea"/>
              </a:rPr>
              <a:t>但是</a:t>
            </a:r>
            <a:r>
              <a:rPr lang="zh-CN" dirty="0">
                <a:sym typeface="+mn-ea"/>
              </a:rPr>
              <a:t>可能有竞争条件</a:t>
            </a:r>
            <a:endParaRPr lang="en-US" altLang="zh-CN" dirty="0"/>
          </a:p>
          <a:p>
            <a:pPr lvl="1"/>
            <a:r>
              <a:rPr lang="en-US" altLang="en-US" dirty="0">
                <a:sym typeface="+mn-ea"/>
              </a:rPr>
              <a:t>pause </a:t>
            </a:r>
            <a:r>
              <a:rPr lang="zh-CN" altLang="en-US" dirty="0">
                <a:sym typeface="+mn-ea"/>
              </a:rPr>
              <a:t>是</a:t>
            </a:r>
            <a:r>
              <a:rPr lang="en-US" altLang="en-US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一直睡，直到被信号唤醒</a:t>
            </a:r>
            <a:r>
              <a:rPr lang="en-US" altLang="en-US" dirty="0">
                <a:sym typeface="+mn-ea"/>
              </a:rPr>
              <a:t>”</a:t>
            </a:r>
            <a:endParaRPr lang="en-US" altLang="en-US" dirty="0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每次迭代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本进程只要检测到</a:t>
            </a:r>
            <a:r>
              <a:rPr lang="en-US" altLang="zh-CN">
                <a:sym typeface="+mn-ea"/>
              </a:rPr>
              <a:t>pid</a:t>
            </a:r>
            <a:r>
              <a:rPr lang="zh-CN" altLang="en-US">
                <a:sym typeface="+mn-ea"/>
              </a:rPr>
              <a:t>非</a:t>
            </a:r>
            <a:r>
              <a:rPr lang="en-US" altLang="zh-CN">
                <a:sym typeface="+mn-ea"/>
              </a:rPr>
              <a:t>0，</a:t>
            </a:r>
            <a:r>
              <a:rPr lang="zh-CN" altLang="en-US">
                <a:sym typeface="+mn-ea"/>
              </a:rPr>
              <a:t>就睡眠</a:t>
            </a:r>
            <a:r>
              <a:rPr lang="en-US" altLang="zh-CN">
                <a:sym typeface="+mn-ea"/>
              </a:rPr>
              <a:t>（</a:t>
            </a:r>
            <a:r>
              <a:rPr lang="zh-CN" altLang="en-US">
                <a:sym typeface="+mn-ea"/>
              </a:rPr>
              <a:t>直到被信号唤醒</a:t>
            </a:r>
            <a:r>
              <a:rPr lang="en-US" altLang="zh-CN">
                <a:sym typeface="+mn-ea"/>
              </a:rPr>
              <a:t>），</a:t>
            </a:r>
            <a:r>
              <a:rPr lang="zh-CN" altLang="en-US">
                <a:sym typeface="+mn-ea"/>
              </a:rPr>
              <a:t>将</a:t>
            </a:r>
            <a:r>
              <a:rPr lang="en-US" altLang="zh-CN">
                <a:sym typeface="+mn-ea"/>
              </a:rPr>
              <a:t>CPU</a:t>
            </a:r>
            <a:r>
              <a:rPr lang="zh-CN" altLang="en-US">
                <a:sym typeface="+mn-ea"/>
              </a:rPr>
              <a:t>资源主动让出来给其他进程</a:t>
            </a:r>
            <a:r>
              <a:rPr lang="en-US" altLang="zh-CN">
                <a:sym typeface="+mn-ea"/>
              </a:rPr>
              <a:t>（</a:t>
            </a:r>
            <a:r>
              <a:rPr lang="zh-CN" altLang="en-US">
                <a:sym typeface="+mn-ea"/>
              </a:rPr>
              <a:t>包括子进程</a:t>
            </a:r>
            <a:r>
              <a:rPr lang="en-US" altLang="zh-CN">
                <a:sym typeface="+mn-ea"/>
              </a:rPr>
              <a:t>）——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避免浪费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CPU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资源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被</a:t>
            </a:r>
            <a:r>
              <a:rPr lang="en-US" altLang="zh-CN" dirty="0">
                <a:sym typeface="+mn-ea"/>
              </a:rPr>
              <a:t>sigchld</a:t>
            </a:r>
            <a:r>
              <a:rPr lang="zh-CN" altLang="en-US" dirty="0">
                <a:sym typeface="+mn-ea"/>
              </a:rPr>
              <a:t>信号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暂不考虑其他信号</a:t>
            </a:r>
            <a:r>
              <a:rPr lang="en-US" altLang="zh-CN" dirty="0">
                <a:sym typeface="+mn-ea"/>
              </a:rPr>
              <a:t>）</a:t>
            </a:r>
            <a:r>
              <a:rPr lang="zh-CN" altLang="en-US" dirty="0">
                <a:sym typeface="+mn-ea"/>
              </a:rPr>
              <a:t>唤醒之后</a:t>
            </a:r>
            <a:r>
              <a:rPr lang="en-US" altLang="zh-CN" dirty="0">
                <a:sym typeface="+mn-ea"/>
              </a:rPr>
              <a:t>，</a:t>
            </a:r>
            <a:r>
              <a:rPr lang="zh-CN" altLang="en-US" dirty="0">
                <a:sym typeface="+mn-ea"/>
              </a:rPr>
              <a:t>重新调度时</a:t>
            </a:r>
            <a:r>
              <a:rPr lang="en-US" altLang="zh-CN" dirty="0">
                <a:sym typeface="+mn-ea"/>
              </a:rPr>
              <a:t>，</a:t>
            </a:r>
            <a:r>
              <a:rPr lang="zh-CN" altLang="en-US" dirty="0">
                <a:sym typeface="+mn-ea"/>
              </a:rPr>
              <a:t>才信号处理</a:t>
            </a:r>
            <a:r>
              <a:rPr lang="zh-CN" altLang="en-US" dirty="0">
                <a:sym typeface="+mn-ea"/>
              </a:rPr>
              <a:t>并检测</a:t>
            </a:r>
            <a:r>
              <a:rPr lang="en-US" altLang="zh-CN" dirty="0">
                <a:sym typeface="+mn-ea"/>
              </a:rPr>
              <a:t>pid</a:t>
            </a:r>
            <a:r>
              <a:rPr lang="zh-CN" altLang="en-US" dirty="0">
                <a:sym typeface="+mn-ea"/>
              </a:rPr>
              <a:t>的值</a:t>
            </a:r>
            <a:endParaRPr lang="en-US" altLang="en-US" dirty="0">
              <a:sym typeface="+mn-ea"/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sym typeface="+mn-ea"/>
              </a:rPr>
              <a:t>缺点</a:t>
            </a:r>
            <a:r>
              <a:rPr lang="en-US" altLang="zh-CN" dirty="0"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在检查</a:t>
            </a:r>
            <a:r>
              <a:rPr lang="en-US" altLang="zh-CN" dirty="0">
                <a:latin typeface="Courier New" panose="02070609020205020404" charset="0"/>
                <a:cs typeface="Courier New" panose="02070609020205020404" charset="0"/>
                <a:sym typeface="+mn-ea"/>
              </a:rPr>
              <a:t> </a:t>
            </a:r>
            <a:r>
              <a:rPr lang="en-US" altLang="zh-CN" dirty="0" err="1">
                <a:latin typeface="Courier New" panose="02070609020205020404" charset="0"/>
                <a:cs typeface="Courier New" panose="02070609020205020404" charset="0"/>
                <a:sym typeface="+mn-ea"/>
              </a:rPr>
              <a:t>pid</a:t>
            </a:r>
            <a:r>
              <a:rPr lang="zh-CN" altLang="en-US" dirty="0" err="1">
                <a:latin typeface="Courier New" panose="02070609020205020404" charset="0"/>
                <a:cs typeface="Courier New" panose="02070609020205020404" charset="0"/>
                <a:sym typeface="+mn-ea"/>
              </a:rPr>
              <a:t>和</a:t>
            </a:r>
            <a:r>
              <a:rPr lang="en-US" altLang="zh-CN" dirty="0">
                <a:latin typeface="Courier New" panose="02070609020205020404" charset="0"/>
                <a:cs typeface="Courier New" panose="02070609020205020404" charset="0"/>
                <a:sym typeface="+mn-ea"/>
              </a:rPr>
              <a:t>pause</a:t>
            </a:r>
            <a:r>
              <a:rPr lang="zh-CN" altLang="en-US" dirty="0">
                <a:latin typeface="Courier New" panose="02070609020205020404" charset="0"/>
                <a:cs typeface="Courier New" panose="02070609020205020404" charset="0"/>
                <a:sym typeface="+mn-ea"/>
              </a:rPr>
              <a:t>之间</a:t>
            </a:r>
            <a:r>
              <a:rPr lang="zh-CN" altLang="en-US" dirty="0">
                <a:sym typeface="+mn-ea"/>
              </a:rPr>
              <a:t>，可能会收到</a:t>
            </a:r>
            <a:r>
              <a:rPr lang="en-US" altLang="zh-CN" dirty="0">
                <a:sym typeface="+mn-ea"/>
              </a:rPr>
              <a:t>sigchld</a:t>
            </a:r>
            <a:r>
              <a:rPr lang="zh-CN" altLang="en-US" dirty="0">
                <a:sym typeface="+mn-ea"/>
              </a:rPr>
              <a:t>信号</a:t>
            </a:r>
            <a:r>
              <a:rPr lang="en-US" altLang="zh-CN" dirty="0">
                <a:sym typeface="+mn-ea"/>
              </a:rPr>
              <a:t>；</a:t>
            </a:r>
            <a:r>
              <a:rPr lang="zh-CN" altLang="en-US" dirty="0">
                <a:sym typeface="+mn-ea"/>
              </a:rPr>
              <a:t>父进程进入睡眠之后</a:t>
            </a:r>
            <a:r>
              <a:rPr lang="en-US" altLang="zh-CN" dirty="0">
                <a:sym typeface="+mn-ea"/>
              </a:rPr>
              <a:t>，</a:t>
            </a:r>
            <a:r>
              <a:rPr lang="zh-CN" altLang="en-US" dirty="0">
                <a:sym typeface="+mn-ea"/>
              </a:rPr>
              <a:t>由于不会再有信号</a:t>
            </a:r>
            <a:r>
              <a:rPr lang="en-US" altLang="zh-CN" dirty="0">
                <a:sym typeface="+mn-ea"/>
              </a:rPr>
              <a:t>，</a:t>
            </a:r>
            <a:r>
              <a:rPr lang="zh-CN" altLang="en-US" dirty="0">
                <a:sym typeface="+mn-ea"/>
              </a:rPr>
              <a:t>父进程</a:t>
            </a:r>
            <a:r>
              <a:rPr lang="zh-CN" altLang="en-US" dirty="0">
                <a:sym typeface="+mn-ea"/>
              </a:rPr>
              <a:t>永久休眠</a:t>
            </a:r>
            <a:endParaRPr lang="zh-CN" altLang="en-US" dirty="0"/>
          </a:p>
          <a:p>
            <a:pPr lvl="1"/>
            <a:endParaRPr lang="en-US" dirty="0"/>
          </a:p>
          <a:p>
            <a:endParaRPr lang="en-US" alt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使用</a:t>
            </a:r>
            <a:r>
              <a:rPr lang="en-US" altLang="zh-CN" dirty="0">
                <a:sym typeface="+mn-ea"/>
              </a:rPr>
              <a:t>pause——</a:t>
            </a:r>
            <a:r>
              <a:rPr lang="zh-CN" altLang="en-US" dirty="0">
                <a:sym typeface="+mn-ea"/>
              </a:rPr>
              <a:t>通过信号唤醒</a:t>
            </a:r>
            <a:r>
              <a:rPr lang="zh-CN" altLang="en-US" dirty="0">
                <a:sym typeface="+mn-ea"/>
              </a:rPr>
              <a:t>主程序</a:t>
            </a:r>
            <a:endParaRPr lang="zh-CN" altLang="en-US" dirty="0">
              <a:sym typeface="+mn-ea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2000" y="4267200"/>
            <a:ext cx="4577080" cy="583565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200FF"/>
                </a:solidFill>
                <a:latin typeface="Courier New" panose="02070609020205020404"/>
                <a:cs typeface="Courier New" panose="02070609020205020404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(!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)  </a:t>
            </a:r>
            <a:r>
              <a:rPr lang="en-US" sz="1600" dirty="0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/* Race! */</a:t>
            </a:r>
            <a:endParaRPr lang="en-US" sz="16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pause();  // 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直到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pid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修改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才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退出</a:t>
            </a:r>
            <a:endParaRPr lang="zh-CN" altLang="en-US" sz="16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6125845" cy="4972050"/>
          </a:xfrm>
        </p:spPr>
        <p:txBody>
          <a:bodyPr/>
          <a:lstStyle/>
          <a:p>
            <a:r>
              <a:rPr lang="en-US"/>
              <a:t>int sigsuspend(const sigset_t *mask)</a:t>
            </a:r>
            <a:endParaRPr lang="en-US"/>
          </a:p>
          <a:p>
            <a:pPr lvl="1"/>
            <a:r>
              <a:rPr lang="zh-CN" altLang="en-US"/>
              <a:t>一个原子过程：</a:t>
            </a:r>
            <a:endParaRPr lang="zh-CN" altLang="en-US"/>
          </a:p>
          <a:p>
            <a:pPr lvl="1"/>
            <a:r>
              <a:rPr lang="zh-CN" altLang="en-US"/>
              <a:t>临时解除信号阻塞</a:t>
            </a:r>
            <a:r>
              <a:rPr lang="en-US" altLang="zh-CN"/>
              <a:t> &amp; </a:t>
            </a:r>
            <a:r>
              <a:rPr lang="zh-CN" altLang="en-US"/>
              <a:t>挂起进程等待</a:t>
            </a:r>
            <a:r>
              <a:rPr lang="zh-CN" altLang="en-US"/>
              <a:t>信号</a:t>
            </a:r>
            <a:endParaRPr lang="zh-CN" altLang="en-US"/>
          </a:p>
          <a:p>
            <a:pPr lvl="0"/>
            <a:r>
              <a:rPr lang="zh-CN" altLang="en-US" sz="2400"/>
              <a:t>分析</a:t>
            </a:r>
            <a:endParaRPr lang="zh-CN" altLang="en-US" sz="2400"/>
          </a:p>
          <a:p>
            <a:pPr lvl="1"/>
            <a:r>
              <a:rPr lang="zh-CN" altLang="en-US"/>
              <a:t>如果信号在</a:t>
            </a:r>
            <a:r>
              <a:rPr lang="en-US" altLang="en-US"/>
              <a:t> sigsuspend </a:t>
            </a:r>
            <a:r>
              <a:rPr lang="zh-CN" altLang="en-US"/>
              <a:t>调用前到达：被阻塞，进入</a:t>
            </a:r>
            <a:r>
              <a:rPr lang="en-US" altLang="en-US"/>
              <a:t> pending </a:t>
            </a:r>
            <a:r>
              <a:rPr lang="zh-CN" altLang="en-US"/>
              <a:t>队列，</a:t>
            </a:r>
            <a:r>
              <a:rPr lang="en-US" altLang="en-US"/>
              <a:t>sigsuspend </a:t>
            </a:r>
            <a:r>
              <a:rPr lang="zh-CN" altLang="en-US"/>
              <a:t>解除阻塞时立即发现</a:t>
            </a:r>
            <a:r>
              <a:rPr lang="en-US" altLang="zh-CN"/>
              <a:t>、</a:t>
            </a:r>
            <a:r>
              <a:rPr lang="zh-CN" altLang="en-US"/>
              <a:t>处理</a:t>
            </a:r>
            <a:r>
              <a:rPr lang="en-US" altLang="zh-CN"/>
              <a:t>、</a:t>
            </a:r>
            <a:r>
              <a:rPr lang="zh-CN" altLang="en-US"/>
              <a:t>立即返回</a:t>
            </a:r>
            <a:endParaRPr lang="zh-CN" altLang="en-US"/>
          </a:p>
          <a:p>
            <a:pPr lvl="1"/>
            <a:endParaRPr lang="en-US" altLang="en-US"/>
          </a:p>
          <a:p>
            <a:pPr lvl="1"/>
            <a:r>
              <a:rPr lang="zh-CN" altLang="en-US"/>
              <a:t>如果信号在</a:t>
            </a:r>
            <a:r>
              <a:rPr lang="en-US" altLang="en-US"/>
              <a:t> sigsuspend </a:t>
            </a:r>
            <a:r>
              <a:rPr lang="zh-CN" altLang="en-US"/>
              <a:t>调用后到达：正常唤醒</a:t>
            </a:r>
            <a:r>
              <a:rPr lang="en-US" altLang="en-US"/>
              <a:t> sigsuspend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zh-CN" altLang="en-US"/>
              <a:t>不存在信号丢失的窗口期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</a:t>
            </a:r>
            <a:r>
              <a:rPr lang="en-US"/>
              <a:t> sigsuspend——</a:t>
            </a:r>
            <a:r>
              <a:rPr lang="zh-CN" altLang="en-US"/>
              <a:t>更安全</a:t>
            </a:r>
            <a:r>
              <a:rPr lang="zh-CN" altLang="en-US"/>
              <a:t>的唤醒</a:t>
            </a:r>
            <a:r>
              <a:rPr lang="zh-CN" altLang="en-US"/>
              <a:t>机制</a:t>
            </a:r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619750" cy="29337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6477000" y="4191000"/>
            <a:ext cx="5480050" cy="2381250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>
            <a:noAutofit/>
          </a:bodyPr>
          <a:p>
            <a:pPr marL="0" indent="0" latinLnBrk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600" b="0" i="1">
                <a:solidFill>
                  <a:srgbClr val="A0A1A7"/>
                </a:solidFill>
                <a:latin typeface="menlo" panose="020B0609030804020204"/>
                <a:ea typeface="menlo" panose="020B0609030804020204"/>
              </a:rPr>
              <a:t>样例</a:t>
            </a:r>
            <a:r>
              <a:rPr lang="en-US" altLang="zh-CN" sz="1600" b="0" i="1">
                <a:solidFill>
                  <a:srgbClr val="A0A1A7"/>
                </a:solidFill>
                <a:latin typeface="menlo" panose="020B0609030804020204"/>
                <a:ea typeface="menlo" panose="020B0609030804020204"/>
              </a:rPr>
              <a:t>：</a:t>
            </a:r>
            <a:endParaRPr lang="en-US" altLang="zh-CN" sz="1600" b="0" i="1">
              <a:solidFill>
                <a:srgbClr val="A0A1A7"/>
              </a:solidFill>
              <a:latin typeface="menlo" panose="020B0609030804020204"/>
              <a:ea typeface="menlo" panose="020B0609030804020204"/>
            </a:endParaRPr>
          </a:p>
          <a:p>
            <a:pPr marL="0" indent="0" latinLnBrk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600" b="0" i="1">
                <a:solidFill>
                  <a:srgbClr val="A0A1A7"/>
                </a:solidFill>
                <a:latin typeface="menlo" panose="020B0609030804020204"/>
                <a:ea typeface="menlo" panose="020B0609030804020204"/>
              </a:rPr>
              <a:t>// 阻塞 SIGUSR1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    </a:t>
            </a:r>
            <a:endParaRPr sz="1600" b="0">
              <a:solidFill>
                <a:srgbClr val="0F1115"/>
              </a:solidFill>
              <a:latin typeface="menlo" panose="020B0609030804020204"/>
              <a:ea typeface="menlo" panose="020B0609030804020204"/>
            </a:endParaRPr>
          </a:p>
          <a:p>
            <a:pPr marL="0" indent="0" latinLnBrk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600" b="0">
                <a:solidFill>
                  <a:srgbClr val="4078F2"/>
                </a:solidFill>
                <a:latin typeface="menlo" panose="020B0609030804020204"/>
                <a:ea typeface="menlo" panose="020B0609030804020204"/>
              </a:rPr>
              <a:t>sigprocmask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SIG_BLOCK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,</a:t>
            </a:r>
            <a:r>
              <a:rPr sz="1600" b="0">
                <a:solidFill>
                  <a:srgbClr val="4078F2"/>
                </a:solidFill>
                <a:latin typeface="menlo" panose="020B0609030804020204"/>
                <a:ea typeface="menlo" panose="020B0609030804020204"/>
              </a:rPr>
              <a:t>&amp;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newmask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,</a:t>
            </a:r>
            <a:r>
              <a:rPr sz="1600" b="0">
                <a:solidFill>
                  <a:srgbClr val="4078F2"/>
                </a:solidFill>
                <a:latin typeface="menlo" panose="020B0609030804020204"/>
                <a:ea typeface="menlo" panose="020B0609030804020204"/>
              </a:rPr>
              <a:t>&amp;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oldmask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);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        </a:t>
            </a:r>
            <a:r>
              <a:rPr sz="1600" b="0" i="1">
                <a:solidFill>
                  <a:srgbClr val="A0A1A7"/>
                </a:solidFill>
                <a:latin typeface="menlo" panose="020B0609030804020204"/>
                <a:ea typeface="menlo" panose="020B0609030804020204"/>
              </a:rPr>
              <a:t>// 检查 flag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    </a:t>
            </a:r>
            <a:endParaRPr sz="1600" b="0">
              <a:solidFill>
                <a:srgbClr val="0F1115"/>
              </a:solidFill>
              <a:latin typeface="menlo" panose="020B0609030804020204"/>
              <a:ea typeface="menlo" panose="020B0609030804020204"/>
            </a:endParaRPr>
          </a:p>
          <a:p>
            <a:pPr marL="0" indent="0" latinLnBrk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600" b="0">
                <a:solidFill>
                  <a:srgbClr val="A626A4"/>
                </a:solidFill>
                <a:latin typeface="menlo" panose="020B0609030804020204"/>
                <a:ea typeface="menlo" panose="020B0609030804020204"/>
              </a:rPr>
              <a:t>if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flag </a:t>
            </a:r>
            <a:r>
              <a:rPr sz="1600" b="0">
                <a:solidFill>
                  <a:srgbClr val="4078F2"/>
                </a:solidFill>
                <a:latin typeface="menlo" panose="020B0609030804020204"/>
                <a:ea typeface="menlo" panose="020B0609030804020204"/>
              </a:rPr>
              <a:t>==</a:t>
            </a:r>
            <a:r>
              <a:rPr sz="1600" b="0">
                <a:solidFill>
                  <a:srgbClr val="B76B01"/>
                </a:solidFill>
                <a:latin typeface="menlo" panose="020B0609030804020204"/>
                <a:ea typeface="menlo" panose="020B0609030804020204"/>
              </a:rPr>
              <a:t>0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4078F2"/>
                </a:solidFill>
                <a:latin typeface="menlo" panose="020B0609030804020204"/>
                <a:ea typeface="menlo" panose="020B0609030804020204"/>
                <a:sym typeface="+mn-ea"/>
              </a:rPr>
              <a:t>sigsuspend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  <a:sym typeface="+mn-ea"/>
              </a:rPr>
              <a:t>(</a:t>
            </a:r>
            <a:r>
              <a:rPr sz="1600" b="0">
                <a:solidFill>
                  <a:srgbClr val="4078F2"/>
                </a:solidFill>
                <a:latin typeface="menlo" panose="020B0609030804020204"/>
                <a:ea typeface="menlo" panose="020B0609030804020204"/>
                <a:sym typeface="+mn-ea"/>
              </a:rPr>
              <a:t>&amp;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  <a:sym typeface="+mn-ea"/>
              </a:rPr>
              <a:t>oldmask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  <a:sym typeface="+mn-ea"/>
              </a:rPr>
              <a:t>);</a:t>
            </a:r>
            <a:endParaRPr sz="1600" b="0">
              <a:solidFill>
                <a:srgbClr val="0F1115"/>
              </a:solidFill>
              <a:latin typeface="menlo" panose="020B0609030804020204"/>
              <a:ea typeface="menlo" panose="020B0609030804020204"/>
            </a:endParaRPr>
          </a:p>
          <a:p>
            <a:pPr marL="0" indent="457200" latinLnBrk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        </a:t>
            </a:r>
            <a:endParaRPr sz="1600" b="0">
              <a:solidFill>
                <a:srgbClr val="0F1115"/>
              </a:solidFill>
              <a:latin typeface="menlo" panose="020B0609030804020204"/>
              <a:ea typeface="menlo" panose="020B0609030804020204"/>
            </a:endParaRPr>
          </a:p>
          <a:p>
            <a:pPr marL="0" indent="0" latinLnBrk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600" b="0" i="1">
                <a:solidFill>
                  <a:srgbClr val="A0A1A7"/>
                </a:solidFill>
                <a:latin typeface="menlo" panose="020B0609030804020204"/>
                <a:ea typeface="menlo" panose="020B0609030804020204"/>
              </a:rPr>
              <a:t>// 恢复信号掩码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    </a:t>
            </a:r>
            <a:endParaRPr sz="1600" b="0">
              <a:solidFill>
                <a:srgbClr val="0F1115"/>
              </a:solidFill>
              <a:latin typeface="menlo" panose="020B0609030804020204"/>
              <a:ea typeface="menlo" panose="020B0609030804020204"/>
            </a:endParaRPr>
          </a:p>
          <a:p>
            <a:pPr marL="0" indent="0" latinLnBrk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sz="1600" b="0">
                <a:solidFill>
                  <a:srgbClr val="4078F2"/>
                </a:solidFill>
                <a:latin typeface="menlo" panose="020B0609030804020204"/>
                <a:ea typeface="menlo" panose="020B0609030804020204"/>
              </a:rPr>
              <a:t>sigprocmask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SIG_SETMASK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,</a:t>
            </a:r>
            <a:r>
              <a:rPr sz="1600" b="0">
                <a:solidFill>
                  <a:srgbClr val="4078F2"/>
                </a:solidFill>
                <a:latin typeface="menlo" panose="020B0609030804020204"/>
                <a:ea typeface="menlo" panose="020B0609030804020204"/>
              </a:rPr>
              <a:t>&amp;</a:t>
            </a:r>
            <a:r>
              <a:rPr sz="1600" b="0">
                <a:solidFill>
                  <a:srgbClr val="0F1115"/>
                </a:solidFill>
                <a:latin typeface="menlo" panose="020B0609030804020204"/>
                <a:ea typeface="menlo" panose="020B0609030804020204"/>
              </a:rPr>
              <a:t>oldmask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,</a:t>
            </a:r>
            <a:r>
              <a:rPr sz="1600" b="0">
                <a:solidFill>
                  <a:srgbClr val="B76B01"/>
                </a:solidFill>
                <a:latin typeface="menlo" panose="020B0609030804020204"/>
                <a:ea typeface="menlo" panose="020B0609030804020204"/>
              </a:rPr>
              <a:t>NULL</a:t>
            </a:r>
            <a:r>
              <a:rPr sz="1600" b="0">
                <a:solidFill>
                  <a:srgbClr val="383A42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383A42"/>
              </a:solidFill>
              <a:latin typeface="menlo" panose="020B0609030804020204"/>
              <a:ea typeface="menlo" panose="020B0609030804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使用</a:t>
            </a:r>
            <a:r>
              <a:rPr lang="en-US">
                <a:sym typeface="+mn-ea"/>
              </a:rPr>
              <a:t> sigsuspend——</a:t>
            </a:r>
            <a:r>
              <a:rPr lang="zh-CN" altLang="en-US">
                <a:sym typeface="+mn-ea"/>
              </a:rPr>
              <a:t>更安全的唤醒机制</a:t>
            </a:r>
            <a:endParaRPr lang="en-US" dirty="0"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752600" y="1149490"/>
            <a:ext cx="8534400" cy="5631180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2D961E"/>
                </a:solidFill>
                <a:latin typeface="Courier New" panose="02070609020205020404"/>
                <a:cs typeface="Courier New" panose="02070609020205020404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</a:t>
            </a:r>
            <a:r>
              <a:rPr lang="en-US" sz="1500" dirty="0">
                <a:solidFill>
                  <a:srgbClr val="4A00FF"/>
                </a:solidFill>
                <a:latin typeface="Courier New" panose="02070609020205020404"/>
                <a:cs typeface="Courier New" panose="02070609020205020404"/>
              </a:rPr>
              <a:t>main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(</a:t>
            </a:r>
            <a:r>
              <a:rPr lang="en-US" sz="1500" dirty="0" err="1">
                <a:solidFill>
                  <a:srgbClr val="2D961E"/>
                </a:solidFill>
                <a:latin typeface="Courier New" panose="02070609020205020404"/>
                <a:cs typeface="Courier New" panose="02070609020205020404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Courier New" panose="02070609020205020404"/>
                <a:cs typeface="Courier New" panose="02070609020205020404"/>
              </a:rPr>
              <a:t>argc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, </a:t>
            </a:r>
            <a:r>
              <a:rPr lang="en-US" sz="1500" dirty="0">
                <a:solidFill>
                  <a:srgbClr val="2D961E"/>
                </a:solidFill>
                <a:latin typeface="Courier New" panose="02070609020205020404"/>
                <a:cs typeface="Courier New" panose="02070609020205020404"/>
              </a:rPr>
              <a:t>char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**</a:t>
            </a:r>
            <a:r>
              <a:rPr lang="en-US" sz="1500" dirty="0" err="1">
                <a:solidFill>
                  <a:srgbClr val="C1651C"/>
                </a:solidFill>
                <a:latin typeface="Courier New" panose="02070609020205020404"/>
                <a:cs typeface="Courier New" panose="02070609020205020404"/>
              </a:rPr>
              <a:t>argv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) {</a:t>
            </a:r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</a:t>
            </a:r>
            <a:r>
              <a:rPr lang="en-US" sz="1500" dirty="0" err="1">
                <a:solidFill>
                  <a:srgbClr val="2D961E"/>
                </a:solidFill>
                <a:latin typeface="Courier New" panose="02070609020205020404"/>
                <a:cs typeface="Courier New" panose="02070609020205020404"/>
              </a:rPr>
              <a:t>sigset_t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Courier New" panose="02070609020205020404"/>
                <a:cs typeface="Courier New" panose="02070609020205020404"/>
              </a:rPr>
              <a:t>mask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, </a:t>
            </a:r>
            <a:r>
              <a:rPr lang="en-US" sz="1500" dirty="0" err="1">
                <a:solidFill>
                  <a:srgbClr val="C1651C"/>
                </a:solidFill>
                <a:latin typeface="Courier New" panose="02070609020205020404"/>
                <a:cs typeface="Courier New" panose="02070609020205020404"/>
              </a:rPr>
              <a:t>prev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;</a:t>
            </a:r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Signal(SIGCHLD, </a:t>
            </a:r>
            <a:r>
              <a:rPr lang="en-US" sz="1500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sigchld_handler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);</a:t>
            </a:r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Signal(SIGINT, </a:t>
            </a:r>
            <a:r>
              <a:rPr lang="en-US" sz="1500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sigint_handler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);</a:t>
            </a:r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</a:t>
            </a:r>
            <a:r>
              <a:rPr lang="en-US" sz="1500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Sigemptyset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(&amp;mask);</a:t>
            </a:r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</a:t>
            </a:r>
            <a:r>
              <a:rPr lang="en-US" sz="1500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Sigaddset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(&amp;mask, </a:t>
            </a:r>
            <a:r>
              <a:rPr lang="en-US" sz="1500" u="sng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SIGCHLD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);</a:t>
            </a:r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</a:t>
            </a:r>
            <a:r>
              <a:rPr lang="en-US" sz="1500" dirty="0">
                <a:solidFill>
                  <a:srgbClr val="C200FF"/>
                </a:solidFill>
                <a:latin typeface="Courier New" panose="02070609020205020404"/>
                <a:cs typeface="Courier New" panose="02070609020205020404"/>
              </a:rPr>
              <a:t>while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(1) {</a:t>
            </a:r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Sigprocmask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(SIG_BLOCK, &amp;mask, &amp;</a:t>
            </a:r>
            <a:r>
              <a:rPr lang="en-US" sz="1500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prev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); </a:t>
            </a:r>
            <a:r>
              <a:rPr lang="en-US" sz="1500" dirty="0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/* Block SIGCHLD */</a:t>
            </a:r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    </a:t>
            </a:r>
            <a:r>
              <a:rPr lang="en-US" sz="1500" dirty="0">
                <a:solidFill>
                  <a:srgbClr val="C200FF"/>
                </a:solidFill>
                <a:latin typeface="Courier New" panose="02070609020205020404"/>
                <a:cs typeface="Courier New" panose="02070609020205020404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(Fork() == 0) </a:t>
            </a:r>
            <a:r>
              <a:rPr lang="en-US" sz="1500" dirty="0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/* Child */</a:t>
            </a:r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        exit(0);</a:t>
            </a:r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</a:t>
            </a:r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   </a:t>
            </a:r>
            <a:r>
              <a:rPr lang="en-US" sz="1500" dirty="0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/* Wait for SIGCHLD to be received */</a:t>
            </a:r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fi-FI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    </a:t>
            </a:r>
            <a:r>
              <a:rPr lang="fi-FI" sz="1500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pid</a:t>
            </a:r>
            <a:r>
              <a:rPr lang="fi-FI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= 0;</a:t>
            </a:r>
            <a:endParaRPr lang="fi-FI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    </a:t>
            </a:r>
            <a:r>
              <a:rPr lang="en-US" sz="1500" dirty="0">
                <a:solidFill>
                  <a:srgbClr val="C200FF"/>
                </a:solidFill>
                <a:latin typeface="Courier New" panose="02070609020205020404"/>
                <a:cs typeface="Courier New" panose="02070609020205020404"/>
              </a:rPr>
              <a:t>while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(!</a:t>
            </a:r>
            <a:r>
              <a:rPr lang="en-US" sz="1500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pid</a:t>
            </a:r>
            <a:r>
              <a:rPr lang="en-US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)</a:t>
            </a:r>
            <a:endParaRPr lang="en-US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de-DE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        </a:t>
            </a:r>
            <a:r>
              <a:rPr lang="de-DE" sz="1500" u="sng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Sigsuspend</a:t>
            </a:r>
            <a:r>
              <a:rPr lang="de-DE" sz="1500" u="sng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(&amp;</a:t>
            </a:r>
            <a:r>
              <a:rPr lang="de-DE" sz="1500" u="sng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prev</a:t>
            </a:r>
            <a:r>
              <a:rPr lang="de-DE" sz="1500" u="sng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)</a:t>
            </a:r>
            <a:r>
              <a:rPr lang="de-DE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;</a:t>
            </a:r>
            <a:r>
              <a:rPr lang="en-US" altLang="de-DE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</a:t>
            </a:r>
            <a:r>
              <a:rPr lang="en-US" altLang="de-DE" sz="1500" dirty="0">
                <a:solidFill>
                  <a:srgbClr val="FF0000"/>
                </a:solidFill>
                <a:latin typeface="Courier New" panose="02070609020205020404"/>
                <a:cs typeface="Courier New" panose="02070609020205020404"/>
              </a:rPr>
              <a:t>//</a:t>
            </a:r>
            <a:r>
              <a:rPr lang="zh-CN" altLang="en-US" sz="1500" dirty="0">
                <a:solidFill>
                  <a:srgbClr val="FF0000"/>
                </a:solidFill>
                <a:latin typeface="Courier New" panose="02070609020205020404"/>
                <a:cs typeface="Courier New" panose="02070609020205020404"/>
              </a:rPr>
              <a:t>原子地同意接收</a:t>
            </a:r>
            <a:r>
              <a:rPr lang="en-US" altLang="zh-CN" sz="1500" dirty="0">
                <a:solidFill>
                  <a:srgbClr val="FF0000"/>
                </a:solidFill>
                <a:latin typeface="Courier New" panose="02070609020205020404"/>
                <a:cs typeface="Courier New" panose="02070609020205020404"/>
              </a:rPr>
              <a:t>sigchl</a:t>
            </a:r>
            <a:r>
              <a:rPr lang="zh-CN" altLang="en-US" sz="1500" dirty="0">
                <a:solidFill>
                  <a:srgbClr val="FF0000"/>
                </a:solidFill>
                <a:latin typeface="Courier New" panose="02070609020205020404"/>
                <a:cs typeface="Courier New" panose="02070609020205020404"/>
              </a:rPr>
              <a:t>信号以便唤醒</a:t>
            </a:r>
            <a:endParaRPr lang="de-DE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de-DE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</a:t>
            </a:r>
            <a:endParaRPr lang="de-DE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de-DE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   </a:t>
            </a:r>
            <a:r>
              <a:rPr lang="de-DE" sz="1500" dirty="0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/* </a:t>
            </a:r>
            <a:r>
              <a:rPr lang="de-DE" sz="1500" dirty="0" err="1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Optionally</a:t>
            </a:r>
            <a:r>
              <a:rPr lang="de-DE" sz="1500" dirty="0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 </a:t>
            </a:r>
            <a:r>
              <a:rPr lang="de-DE" sz="1500" dirty="0" err="1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unblock</a:t>
            </a:r>
            <a:r>
              <a:rPr lang="de-DE" sz="1500" dirty="0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 SIGCHLD */</a:t>
            </a:r>
            <a:endParaRPr lang="de-DE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de-DE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    </a:t>
            </a:r>
            <a:r>
              <a:rPr lang="de-DE" sz="1500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Sigprocmask</a:t>
            </a:r>
            <a:r>
              <a:rPr lang="de-DE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(SIG_SETMASK, &amp;</a:t>
            </a:r>
            <a:r>
              <a:rPr lang="de-DE" sz="1500" dirty="0" err="1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prev</a:t>
            </a:r>
            <a:r>
              <a:rPr lang="de-DE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, </a:t>
            </a:r>
            <a:r>
              <a:rPr lang="de-DE" sz="1500" dirty="0">
                <a:solidFill>
                  <a:srgbClr val="2C9290"/>
                </a:solidFill>
                <a:latin typeface="Courier New" panose="02070609020205020404"/>
                <a:cs typeface="Courier New" panose="02070609020205020404"/>
              </a:rPr>
              <a:t>NULL</a:t>
            </a:r>
            <a:r>
              <a:rPr lang="de-DE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);</a:t>
            </a:r>
            <a:endParaRPr lang="de-DE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de-DE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	</a:t>
            </a:r>
            <a:r>
              <a:rPr lang="de-DE" sz="1500" dirty="0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/* Do </a:t>
            </a:r>
            <a:r>
              <a:rPr lang="de-DE" sz="1500" dirty="0" err="1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some</a:t>
            </a:r>
            <a:r>
              <a:rPr lang="de-DE" sz="1500" dirty="0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 </a:t>
            </a:r>
            <a:r>
              <a:rPr lang="de-DE" sz="1500" dirty="0" err="1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work</a:t>
            </a:r>
            <a:r>
              <a:rPr lang="de-DE" sz="1500" dirty="0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 after </a:t>
            </a:r>
            <a:r>
              <a:rPr lang="de-DE" sz="1500" dirty="0" err="1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receiving</a:t>
            </a:r>
            <a:r>
              <a:rPr lang="de-DE" sz="1500" dirty="0">
                <a:solidFill>
                  <a:srgbClr val="CB2418"/>
                </a:solidFill>
                <a:latin typeface="Courier New" panose="02070609020205020404"/>
                <a:cs typeface="Courier New" panose="02070609020205020404"/>
              </a:rPr>
              <a:t> SIGCHLD */</a:t>
            </a:r>
            <a:endParaRPr lang="de-DE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ro-RO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    printf(</a:t>
            </a:r>
            <a:r>
              <a:rPr lang="ro-RO" sz="1500" dirty="0">
                <a:solidFill>
                  <a:srgbClr val="9D206F"/>
                </a:solidFill>
                <a:latin typeface="Courier New" panose="02070609020205020404"/>
                <a:cs typeface="Courier New" panose="02070609020205020404"/>
              </a:rPr>
              <a:t>"."</a:t>
            </a:r>
            <a:r>
              <a:rPr lang="ro-RO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);</a:t>
            </a:r>
            <a:endParaRPr lang="ro-RO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ro-RO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}</a:t>
            </a:r>
            <a:endParaRPr lang="ro-RO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ro-RO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    exit(0);</a:t>
            </a:r>
            <a:endParaRPr lang="ro-RO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  <a:p>
            <a:r>
              <a:rPr lang="ro-RO" sz="1500" dirty="0">
                <a:solidFill>
                  <a:srgbClr val="000000"/>
                </a:solidFill>
                <a:latin typeface="Courier New" panose="02070609020205020404"/>
                <a:cs typeface="Courier New" panose="02070609020205020404"/>
              </a:rPr>
              <a:t>}</a:t>
            </a:r>
            <a:endParaRPr lang="ro-RO" sz="1500" dirty="0">
              <a:solidFill>
                <a:srgbClr val="000000"/>
              </a:solidFill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90014" y="6400800"/>
            <a:ext cx="13836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anose="020F0502020204030204" pitchFamily="34" charset="0"/>
              </a:rPr>
              <a:t>sigsuspend.c</a:t>
            </a:r>
            <a:endParaRPr lang="en-US" sz="1800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Shell</a:t>
            </a:r>
            <a:endParaRPr lang="zh-CN" alt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/>
            <a:r>
              <a:rPr lang="en-US" sz="2400" dirty="0">
                <a:latin typeface="仿宋" panose="02010609060101010101" pitchFamily="49" charset="-122"/>
                <a:cs typeface="Consolas" panose="020B0609020204030204" pitchFamily="49" charset="0"/>
                <a:sym typeface="+mn-ea"/>
              </a:rPr>
              <a:t>信号</a:t>
            </a:r>
            <a:endParaRPr lang="en-US" sz="2400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pPr lvl="1" algn="l"/>
            <a:r>
              <a:rPr lang="zh-CN" altLang="en-US" sz="2400" dirty="0">
                <a:latin typeface="仿宋" panose="02010609060101010101" pitchFamily="49" charset="-122"/>
                <a:cs typeface="Consolas" panose="020B0609020204030204" pitchFamily="49" charset="0"/>
                <a:sym typeface="+mn-ea"/>
              </a:rPr>
              <a:t>信号的发送</a:t>
            </a:r>
            <a:endParaRPr lang="zh-CN" altLang="en-US" sz="2400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pPr lvl="1" algn="l"/>
            <a:r>
              <a:rPr lang="zh-CN" altLang="en-US" sz="2400" dirty="0">
                <a:latin typeface="仿宋" panose="02010609060101010101" pitchFamily="49" charset="-122"/>
                <a:cs typeface="Consolas" panose="020B0609020204030204" pitchFamily="49" charset="0"/>
                <a:sym typeface="+mn-ea"/>
              </a:rPr>
              <a:t>信号的接收</a:t>
            </a:r>
            <a:endParaRPr lang="zh-CN" altLang="en-US" sz="2400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pPr lvl="1" algn="l"/>
            <a:r>
              <a:rPr lang="zh-CN" altLang="en-US" sz="2400" dirty="0">
                <a:latin typeface="仿宋" panose="02010609060101010101" pitchFamily="49" charset="-122"/>
                <a:cs typeface="Consolas" panose="020B0609020204030204" pitchFamily="49" charset="0"/>
                <a:sym typeface="+mn-ea"/>
              </a:rPr>
              <a:t>安全的信号处理函数</a:t>
            </a:r>
            <a:endParaRPr lang="zh-CN" altLang="en-US" sz="2400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pPr lvl="1" algn="l"/>
            <a:r>
              <a:rPr lang="zh-CN" altLang="en-US" sz="2400" dirty="0">
                <a:latin typeface="仿宋" panose="02010609060101010101" pitchFamily="49" charset="-122"/>
                <a:cs typeface="Consolas" panose="020B0609020204030204" pitchFamily="49" charset="0"/>
                <a:sym typeface="+mn-ea"/>
              </a:rPr>
              <a:t>几个典型的例子</a:t>
            </a:r>
            <a:endParaRPr lang="en-US" sz="2400" dirty="0">
              <a:solidFill>
                <a:schemeClr val="tx1"/>
              </a:solidFill>
              <a:latin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sym typeface="+mn-ea"/>
              </a:rPr>
              <a:t>非本地跳转</a:t>
            </a:r>
            <a:endParaRPr lang="zh-CN" altLang="en-US" dirty="0">
              <a:solidFill>
                <a:srgbClr val="7F7F7F"/>
              </a:solidFill>
              <a:latin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76025" y="381000"/>
            <a:ext cx="10122791" cy="762000"/>
          </a:xfrm>
        </p:spPr>
        <p:txBody>
          <a:bodyPr/>
          <a:lstStyle/>
          <a:p>
            <a:r>
              <a:rPr lang="zh-CN" altLang="en-US"/>
              <a:t>非本地跳转：</a:t>
            </a:r>
            <a:r>
              <a:rPr lang="en-US">
                <a:latin typeface="Courier New" panose="02070609020205020404" charset="0"/>
              </a:rPr>
              <a:t>setjmp/longjmp</a:t>
            </a:r>
            <a:endParaRPr lang="en-US">
              <a:latin typeface="Courier New" panose="02070609020205020404" charset="0"/>
            </a:endParaRPr>
          </a:p>
        </p:txBody>
      </p:sp>
      <p:sp>
        <p:nvSpPr>
          <p:cNvPr id="529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强大（但危险）的用户级机制，用于将控制转移到任意位置</a:t>
            </a:r>
            <a:endParaRPr lang="zh-CN" altLang="en-US" dirty="0"/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以受控方式打破过程调用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zh-CN" altLang="en-US" dirty="0"/>
              <a:t>返回的规则</a:t>
            </a:r>
            <a:endParaRPr lang="zh-CN" altLang="en-US" dirty="0"/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用于错误恢复和信号处理程序</a:t>
            </a:r>
            <a:endParaRPr lang="en-US" sz="2000" dirty="0"/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r>
              <a:rPr lang="en-US" dirty="0" err="1">
                <a:latin typeface="Courier New" panose="02070609020205020404" charset="0"/>
              </a:rPr>
              <a:t>int</a:t>
            </a:r>
            <a:r>
              <a:rPr lang="en-US" dirty="0">
                <a:latin typeface="Courier New" panose="02070609020205020404" charset="0"/>
              </a:rPr>
              <a:t> </a:t>
            </a:r>
            <a:r>
              <a:rPr lang="en-US" dirty="0" err="1">
                <a:latin typeface="Courier New" panose="02070609020205020404" charset="0"/>
              </a:rPr>
              <a:t>setjmp</a:t>
            </a:r>
            <a:r>
              <a:rPr lang="en-US" dirty="0">
                <a:latin typeface="Courier New" panose="02070609020205020404" charset="0"/>
              </a:rPr>
              <a:t>(</a:t>
            </a:r>
            <a:r>
              <a:rPr lang="en-US" dirty="0" err="1">
                <a:latin typeface="Courier New" panose="02070609020205020404" charset="0"/>
              </a:rPr>
              <a:t>jmp_buf</a:t>
            </a:r>
            <a:r>
              <a:rPr lang="en-US" dirty="0">
                <a:latin typeface="Courier New" panose="02070609020205020404" charset="0"/>
              </a:rPr>
              <a:t> j)———</a:t>
            </a:r>
            <a:r>
              <a:rPr lang="zh-CN" altLang="en-US" dirty="0">
                <a:latin typeface="Courier New" panose="02070609020205020404" charset="0"/>
              </a:rPr>
              <a:t>设置返回点</a:t>
            </a:r>
            <a:endParaRPr lang="en-US" dirty="0">
              <a:latin typeface="Courier New" panose="02070609020205020404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必须在调用</a:t>
            </a:r>
            <a:r>
              <a:rPr lang="en-US" b="1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en-US" b="1" dirty="0" err="1">
                <a:latin typeface="Courier New" panose="02070609020205020404" charset="0"/>
                <a:cs typeface="Courier New" panose="02070609020205020404" charset="0"/>
              </a:rPr>
              <a:t>longjmp </a:t>
            </a:r>
            <a:r>
              <a:rPr lang="zh-CN" altLang="en-US" dirty="0" err="1"/>
              <a:t>之前调用</a:t>
            </a:r>
            <a:endParaRPr lang="en-US" dirty="0"/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用于标识后续</a:t>
            </a:r>
            <a:r>
              <a:rPr lang="en-US" b="1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en-US" b="1" dirty="0" err="1">
                <a:latin typeface="Courier New" panose="02070609020205020404" charset="0"/>
                <a:cs typeface="Courier New" panose="02070609020205020404" charset="0"/>
              </a:rPr>
              <a:t>longjmp</a:t>
            </a:r>
            <a:r>
              <a:rPr lang="en-US" dirty="0" err="1"/>
              <a:t> </a:t>
            </a:r>
            <a:r>
              <a:rPr lang="zh-CN" altLang="en-US" dirty="0"/>
              <a:t>的返回位置</a:t>
            </a:r>
            <a:endParaRPr lang="zh-CN" altLang="en-US" dirty="0"/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调用</a:t>
            </a:r>
            <a:r>
              <a:rPr lang="zh-CN" altLang="en-US" b="1" dirty="0">
                <a:solidFill>
                  <a:srgbClr val="FF0000"/>
                </a:solidFill>
              </a:rPr>
              <a:t>一次</a:t>
            </a:r>
            <a:r>
              <a:rPr lang="en-US" dirty="0"/>
              <a:t> </a:t>
            </a:r>
            <a:r>
              <a:rPr lang="zh-CN" altLang="en-US" dirty="0"/>
              <a:t>，返回</a:t>
            </a:r>
            <a:r>
              <a:rPr lang="zh-CN" altLang="en-US" b="1" dirty="0">
                <a:solidFill>
                  <a:srgbClr val="FF0000"/>
                </a:solidFill>
              </a:rPr>
              <a:t>一次或多次</a:t>
            </a:r>
            <a:endParaRPr lang="en-US" dirty="0"/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实现：</a:t>
            </a:r>
            <a:endParaRPr lang="en-US" dirty="0"/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将当前</a:t>
            </a:r>
            <a:r>
              <a:rPr lang="en-US" b="1" i="1" dirty="0">
                <a:solidFill>
                  <a:srgbClr val="990000"/>
                </a:solidFill>
                <a:latin typeface="仿宋" panose="02010609060101010101" pitchFamily="49" charset="-122"/>
                <a:cs typeface="+mn-ea"/>
                <a:sym typeface="+mn-ea"/>
              </a:rPr>
              <a:t>程序计数器、</a:t>
            </a:r>
            <a:r>
              <a:rPr lang="en-US" b="1" i="1" dirty="0">
                <a:solidFill>
                  <a:srgbClr val="990000"/>
                </a:solidFill>
                <a:latin typeface="仿宋" panose="02010609060101010101" pitchFamily="49" charset="-122"/>
                <a:cs typeface="+mn-ea"/>
              </a:rPr>
              <a:t>寄存器上下文</a:t>
            </a:r>
            <a:r>
              <a:rPr lang="zh-CN" altLang="en-US" b="1" i="1" dirty="0">
                <a:solidFill>
                  <a:srgbClr val="990000"/>
                </a:solidFill>
                <a:latin typeface="仿宋" panose="02010609060101010101" pitchFamily="49" charset="-122"/>
                <a:cs typeface="+mn-ea"/>
              </a:rPr>
              <a:t>和</a:t>
            </a:r>
            <a:r>
              <a:rPr lang="en-US" b="1" i="1" dirty="0">
                <a:solidFill>
                  <a:srgbClr val="990000"/>
                </a:solidFill>
                <a:latin typeface="仿宋" panose="02010609060101010101" pitchFamily="49" charset="-122"/>
                <a:cs typeface="+mn-ea"/>
              </a:rPr>
              <a:t>栈指针</a:t>
            </a:r>
            <a:r>
              <a:rPr lang="zh-CN" altLang="en-US" dirty="0"/>
              <a:t>存储在</a:t>
            </a:r>
            <a:r>
              <a:rPr lang="zh-CN" altLang="en-US" dirty="0">
                <a:sym typeface="+mn-ea"/>
              </a:rPr>
              <a:t>跳转缓冲区</a:t>
            </a:r>
            <a:r>
              <a:rPr lang="en-US" dirty="0">
                <a:latin typeface="Courier New" panose="02070609020205020404" charset="0"/>
                <a:cs typeface="Courier New" panose="02070609020205020404" charset="0"/>
                <a:sym typeface="+mn-ea"/>
              </a:rPr>
              <a:t> </a:t>
            </a:r>
            <a:r>
              <a:rPr lang="en-US" b="1" dirty="0">
                <a:latin typeface="Courier New" panose="02070609020205020404" charset="0"/>
                <a:cs typeface="Courier New" panose="02070609020205020404" charset="0"/>
                <a:sym typeface="+mn-ea"/>
              </a:rPr>
              <a:t>j </a:t>
            </a:r>
            <a:r>
              <a:rPr lang="zh-CN" altLang="en-US" dirty="0" err="1">
                <a:latin typeface="仿宋" panose="02010609060101010101" pitchFamily="49" charset="-122"/>
                <a:cs typeface="Courier New" panose="02070609020205020404" charset="0"/>
              </a:rPr>
              <a:t>中，从而记录当前位置</a:t>
            </a:r>
            <a:endParaRPr lang="en-US" b="1" dirty="0">
              <a:latin typeface="Courier New" panose="02070609020205020404" charset="0"/>
              <a:cs typeface="Courier New" panose="02070609020205020404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返回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0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urier New" panose="02070609020205020404" charset="0"/>
              </a:rPr>
              <a:t>setjmp/longjmp</a:t>
            </a:r>
            <a:r>
              <a:rPr lang="zh-CN" altLang="en-US">
                <a:latin typeface="Courier New" panose="02070609020205020404" charset="0"/>
              </a:rPr>
              <a:t>（续）</a:t>
            </a:r>
            <a:endParaRPr lang="zh-CN" altLang="en-US">
              <a:latin typeface="Courier New" panose="02070609020205020404" charset="0"/>
            </a:endParaRPr>
          </a:p>
        </p:txBody>
      </p:sp>
      <p:sp>
        <p:nvSpPr>
          <p:cNvPr id="530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609020205020404" charset="0"/>
              </a:rPr>
              <a:t>void </a:t>
            </a:r>
            <a:r>
              <a:rPr lang="en-US" dirty="0" err="1">
                <a:latin typeface="Courier New" panose="02070609020205020404" charset="0"/>
              </a:rPr>
              <a:t>longjmp</a:t>
            </a:r>
            <a:r>
              <a:rPr lang="en-US" dirty="0">
                <a:latin typeface="Courier New" panose="02070609020205020404" charset="0"/>
              </a:rPr>
              <a:t>(</a:t>
            </a:r>
            <a:r>
              <a:rPr lang="en-US" dirty="0" err="1">
                <a:latin typeface="Courier New" panose="02070609020205020404" charset="0"/>
              </a:rPr>
              <a:t>jmp_buf</a:t>
            </a:r>
            <a:r>
              <a:rPr lang="en-US" dirty="0">
                <a:latin typeface="Courier New" panose="02070609020205020404" charset="0"/>
              </a:rPr>
              <a:t> j, </a:t>
            </a:r>
            <a:r>
              <a:rPr lang="en-US" dirty="0" err="1">
                <a:latin typeface="Courier New" panose="02070609020205020404" charset="0"/>
              </a:rPr>
              <a:t>int</a:t>
            </a:r>
            <a:r>
              <a:rPr lang="en-US" dirty="0">
                <a:latin typeface="Courier New" panose="02070609020205020404" charset="0"/>
              </a:rPr>
              <a:t> </a:t>
            </a:r>
            <a:r>
              <a:rPr lang="en-US" dirty="0" err="1">
                <a:latin typeface="Courier New" panose="02070609020205020404" charset="0"/>
              </a:rPr>
              <a:t>i</a:t>
            </a:r>
            <a:r>
              <a:rPr lang="en-US" dirty="0">
                <a:latin typeface="Courier New" panose="02070609020205020404" charset="0"/>
              </a:rPr>
              <a:t>)——</a:t>
            </a:r>
            <a:r>
              <a:rPr lang="zh-CN" altLang="en-US" dirty="0">
                <a:latin typeface="Courier New" panose="02070609020205020404" charset="0"/>
              </a:rPr>
              <a:t>跳转到先前设置好的返回点</a:t>
            </a:r>
            <a:endParaRPr lang="en-US" dirty="0"/>
          </a:p>
          <a:p>
            <a:pPr lvl="1"/>
            <a:r>
              <a:rPr lang="zh-CN" altLang="en-US" dirty="0"/>
              <a:t>含义：</a:t>
            </a:r>
            <a:endParaRPr lang="zh-CN" altLang="en-US" dirty="0"/>
          </a:p>
          <a:p>
            <a:pPr lvl="2"/>
            <a:r>
              <a:rPr lang="zh-CN" altLang="en-US" dirty="0"/>
              <a:t>从设置跳转缓冲区</a:t>
            </a:r>
            <a:r>
              <a:rPr lang="en-US" altLang="zh-CN" b="1" dirty="0">
                <a:latin typeface="Courier New" panose="02070609020205020404" charset="0"/>
                <a:cs typeface="Courier New" panose="02070609020205020404" charset="0"/>
              </a:rPr>
              <a:t> j </a:t>
            </a:r>
            <a:r>
              <a:rPr lang="zh-CN" altLang="en-US" dirty="0"/>
              <a:t>的</a:t>
            </a:r>
            <a:r>
              <a:rPr lang="en-US" altLang="zh-CN" b="1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en-US" altLang="zh-CN" b="1" dirty="0" err="1">
                <a:latin typeface="Courier New" panose="02070609020205020404" charset="0"/>
                <a:cs typeface="Courier New" panose="02070609020205020404" charset="0"/>
              </a:rPr>
              <a:t>setjmp</a:t>
            </a:r>
            <a:r>
              <a:rPr lang="en-US" altLang="zh-CN" b="1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zh-CN" altLang="en-US" dirty="0"/>
              <a:t>返回一次</a:t>
            </a:r>
            <a:endParaRPr lang="zh-CN" altLang="en-US" dirty="0"/>
          </a:p>
          <a:p>
            <a:pPr lvl="2"/>
            <a:r>
              <a:rPr lang="zh-CN" altLang="en-US" dirty="0"/>
              <a:t>这次</a:t>
            </a:r>
            <a:r>
              <a:rPr lang="en-US" altLang="zh-CN" b="1" dirty="0">
                <a:latin typeface="Courier New" panose="02070609020205020404" charset="0"/>
                <a:cs typeface="Courier New" panose="02070609020205020404" charset="0"/>
                <a:sym typeface="+mn-ea"/>
              </a:rPr>
              <a:t> </a:t>
            </a:r>
            <a:r>
              <a:rPr lang="en-US" altLang="zh-CN" b="1" dirty="0" err="1">
                <a:latin typeface="Courier New" panose="02070609020205020404" charset="0"/>
                <a:cs typeface="Courier New" panose="02070609020205020404" charset="0"/>
                <a:sym typeface="+mn-ea"/>
              </a:rPr>
              <a:t>setjmp</a:t>
            </a:r>
            <a:r>
              <a:rPr lang="en-US" altLang="zh-CN" b="1" dirty="0">
                <a:latin typeface="Courier New" panose="02070609020205020404" charset="0"/>
                <a:cs typeface="Courier New" panose="02070609020205020404" charset="0"/>
                <a:sym typeface="+mn-ea"/>
              </a:rPr>
              <a:t> </a:t>
            </a:r>
            <a:r>
              <a:rPr lang="zh-CN" altLang="en-US" dirty="0"/>
              <a:t>返回</a:t>
            </a:r>
            <a:r>
              <a:rPr lang="en-US" altLang="zh-CN" b="1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en-US" altLang="zh-CN" b="1" dirty="0" err="1">
                <a:latin typeface="Courier New" panose="02070609020205020404" charset="0"/>
                <a:cs typeface="Courier New" panose="02070609020205020404" charset="0"/>
              </a:rPr>
              <a:t>i</a:t>
            </a:r>
            <a:r>
              <a:rPr lang="en-US" altLang="zh-CN" b="1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zh-CN" altLang="en-US" dirty="0"/>
              <a:t>而不是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0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en-US" b="1" dirty="0" err="1">
                <a:latin typeface="Courier New" panose="02070609020205020404" charset="0"/>
                <a:cs typeface="Courier New" panose="02070609020205020404" charset="0"/>
              </a:rPr>
              <a:t>setjmp </a:t>
            </a:r>
            <a:r>
              <a:rPr lang="zh-CN" altLang="en-US" dirty="0">
                <a:cs typeface="+mn-ea"/>
              </a:rPr>
              <a:t>之后调用</a:t>
            </a:r>
            <a:endParaRPr lang="en-US" b="1" dirty="0">
              <a:latin typeface="Courier New" panose="02070609020205020404" charset="0"/>
            </a:endParaRPr>
          </a:p>
          <a:p>
            <a:pPr lvl="1"/>
            <a:r>
              <a:rPr lang="zh-CN" altLang="en-US" dirty="0">
                <a:sym typeface="+mn-ea"/>
              </a:rPr>
              <a:t>调用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一次</a:t>
            </a:r>
            <a:r>
              <a:rPr lang="en-US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从不</a:t>
            </a:r>
            <a:r>
              <a:rPr lang="zh-CN" altLang="en-US" dirty="0">
                <a:sym typeface="+mn-ea"/>
              </a:rPr>
              <a:t>返回</a:t>
            </a:r>
            <a:endParaRPr lang="en-US" dirty="0"/>
          </a:p>
          <a:p>
            <a:endParaRPr lang="en-US" dirty="0"/>
          </a:p>
          <a:p>
            <a:r>
              <a:rPr lang="en-US" dirty="0" err="1">
                <a:latin typeface="Courier New" panose="02070609020205020404" charset="0"/>
                <a:cs typeface="Courier New" panose="02070609020205020404" charset="0"/>
              </a:rPr>
              <a:t>longjmp</a:t>
            </a:r>
            <a:r>
              <a:rPr lang="en-US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zh-CN" altLang="en-US" dirty="0"/>
              <a:t>实现：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zh-CN" altLang="en-US" dirty="0"/>
              <a:t>从跳转缓冲区</a:t>
            </a:r>
            <a:r>
              <a:rPr lang="en-US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en-US" b="1" dirty="0">
                <a:latin typeface="Courier New" panose="02070609020205020404" charset="0"/>
                <a:cs typeface="Courier New" panose="02070609020205020404" charset="0"/>
              </a:rPr>
              <a:t>j </a:t>
            </a:r>
            <a:r>
              <a:rPr lang="zh-CN" altLang="en-US" dirty="0"/>
              <a:t>中恢复寄存器上下文、栈指针、基指针和程序计数器</a:t>
            </a:r>
            <a:endParaRPr lang="zh-CN" altLang="en-US" dirty="0"/>
          </a:p>
          <a:p>
            <a:pPr lvl="1"/>
            <a:r>
              <a:rPr lang="zh-CN" altLang="en-US" dirty="0"/>
              <a:t>将</a:t>
            </a:r>
            <a:r>
              <a:rPr lang="en-US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en-US" b="1" dirty="0">
                <a:latin typeface="Courier New" panose="02070609020205020404" charset="0"/>
                <a:cs typeface="Courier New" panose="02070609020205020404" charset="0"/>
              </a:rPr>
              <a:t>%</a:t>
            </a:r>
            <a:r>
              <a:rPr lang="en-US" b="1" dirty="0" err="1">
                <a:latin typeface="Courier New" panose="02070609020205020404" charset="0"/>
                <a:cs typeface="Courier New" panose="02070609020205020404" charset="0"/>
              </a:rPr>
              <a:t>eax</a:t>
            </a:r>
            <a:r>
              <a:rPr lang="zh-CN" altLang="en-US" dirty="0"/>
              <a:t>（返回值寄存器）设置为</a:t>
            </a:r>
            <a:r>
              <a:rPr lang="en-US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en-US" b="1" dirty="0" err="1">
                <a:latin typeface="Courier New" panose="02070609020205020404" charset="0"/>
                <a:cs typeface="Courier New" panose="02070609020205020404" charset="0"/>
              </a:rPr>
              <a:t>i</a:t>
            </a:r>
            <a:endParaRPr lang="en-US" b="1" dirty="0">
              <a:latin typeface="Courier New" panose="02070609020205020404" charset="0"/>
            </a:endParaRPr>
          </a:p>
          <a:p>
            <a:pPr lvl="1"/>
            <a:r>
              <a:rPr lang="zh-CN" altLang="en-US" dirty="0"/>
              <a:t>跳转到跳转缓冲区</a:t>
            </a:r>
            <a:r>
              <a:rPr lang="en-US" dirty="0">
                <a:latin typeface="Courier New" panose="02070609020205020404" charset="0"/>
                <a:cs typeface="Courier New" panose="02070609020205020404" charset="0"/>
              </a:rPr>
              <a:t> </a:t>
            </a:r>
            <a:r>
              <a:rPr lang="en-US" b="1" dirty="0">
                <a:latin typeface="Courier New" panose="02070609020205020404" charset="0"/>
                <a:cs typeface="Courier New" panose="02070609020205020404" charset="0"/>
              </a:rPr>
              <a:t>j </a:t>
            </a:r>
            <a:r>
              <a:rPr lang="zh-CN" altLang="en-US" dirty="0"/>
              <a:t>中存储的程序计数器所指示的位置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 New" panose="02070609020205020404"/>
                <a:cs typeface="Courier New" panose="02070609020205020404"/>
              </a:rPr>
              <a:t>setjmp</a:t>
            </a:r>
            <a:r>
              <a:rPr lang="en-US" dirty="0"/>
              <a:t>/</a:t>
            </a:r>
            <a:r>
              <a:rPr lang="en-US" dirty="0" err="1">
                <a:latin typeface="Courier New" panose="02070609020205020404"/>
                <a:cs typeface="Courier New" panose="02070609020205020404"/>
              </a:rPr>
              <a:t>longjmp</a:t>
            </a:r>
            <a:r>
              <a:rPr lang="en-US" dirty="0"/>
              <a:t> </a:t>
            </a:r>
            <a:r>
              <a:rPr lang="zh-CN" altLang="en-US" dirty="0"/>
              <a:t>示例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目标：</a:t>
            </a:r>
            <a:r>
              <a:rPr lang="zh-CN" altLang="en-US"/>
              <a:t>从深层嵌套的函数中直接返回到最初的调用者</a:t>
            </a:r>
            <a:endParaRPr lang="zh-CN" altLang="en-US"/>
          </a:p>
        </p:txBody>
      </p:sp>
      <p:sp>
        <p:nvSpPr>
          <p:cNvPr id="4" name="Rectangle 1028"/>
          <p:cNvSpPr>
            <a:spLocks noChangeArrowheads="1"/>
          </p:cNvSpPr>
          <p:nvPr/>
        </p:nvSpPr>
        <p:spPr bwMode="auto">
          <a:xfrm>
            <a:off x="3340320" y="2202180"/>
            <a:ext cx="4394200" cy="3291840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B2418"/>
                </a:solidFill>
                <a:latin typeface="Menlo-Regular" panose="020B0609030804020204"/>
              </a:rPr>
              <a:t>/* Deeply nested function foo */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Menlo-Regular" panose="020B0609030804020204"/>
              </a:rPr>
              <a:t>foo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(error1)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longjmp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, 1);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bar();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Menlo-Regular" panose="020B0609030804020204"/>
              </a:rPr>
              <a:t>bar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(error2)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hu-HU" sz="1600" dirty="0">
                <a:solidFill>
                  <a:srgbClr val="000000"/>
                </a:solidFill>
                <a:latin typeface="Menlo-Regular" panose="020B0609030804020204"/>
              </a:rPr>
              <a:t>        longjmp(buf, 2);</a:t>
            </a:r>
            <a:endParaRPr lang="hu-HU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hu-HU" sz="16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hu-HU" sz="1600" dirty="0">
              <a:solidFill>
                <a:srgbClr val="000000"/>
              </a:solidFill>
              <a:latin typeface="Menlo-Regular" panose="020B0609030804020204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9" name="Text Box 3"/>
          <p:cNvSpPr txBox="1">
            <a:spLocks noChangeArrowheads="1"/>
          </p:cNvSpPr>
          <p:nvPr/>
        </p:nvSpPr>
        <p:spPr bwMode="auto">
          <a:xfrm>
            <a:off x="3184525" y="2432050"/>
            <a:ext cx="184150" cy="33655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531460" name="Text Box 4"/>
          <p:cNvSpPr txBox="1">
            <a:spLocks noChangeArrowheads="1"/>
          </p:cNvSpPr>
          <p:nvPr/>
        </p:nvSpPr>
        <p:spPr bwMode="auto">
          <a:xfrm>
            <a:off x="3512216" y="1328557"/>
            <a:ext cx="6927184" cy="5224643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tIns="91440" bIns="0">
            <a:normAutofit fontScale="92500" lnSpcReduction="10000"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Menlo-Regular" panose="020B0609030804020204"/>
              </a:rPr>
              <a:t>jmp_buf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Menlo-Regular" panose="020B0609030804020204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Menlo-Regular" panose="020B0609030804020204"/>
              </a:rPr>
              <a:t>error1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= 0;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Menlo-Regular" panose="020B0609030804020204"/>
              </a:rPr>
              <a:t>error2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= 1;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600" dirty="0" err="1">
                <a:solidFill>
                  <a:srgbClr val="4A00FF"/>
                </a:solidFill>
                <a:latin typeface="Menlo-Regular" panose="020B0609030804020204"/>
              </a:rPr>
              <a:t>foo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), </a:t>
            </a:r>
            <a:r>
              <a:rPr lang="fr-FR" sz="1600" dirty="0">
                <a:solidFill>
                  <a:srgbClr val="4A00FF"/>
                </a:solidFill>
                <a:latin typeface="Menlo-Regular" panose="020B0609030804020204"/>
              </a:rPr>
              <a:t>bar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600" dirty="0">
                <a:solidFill>
                  <a:srgbClr val="4A00FF"/>
                </a:solidFill>
                <a:latin typeface="Menlo-Regular" panose="020B0609030804020204"/>
              </a:rPr>
              <a:t>main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()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r-FR" sz="1600" dirty="0" err="1">
                <a:solidFill>
                  <a:srgbClr val="C200FF"/>
                </a:solidFill>
                <a:latin typeface="Menlo-Regular" panose="020B0609030804020204"/>
              </a:rPr>
              <a:t>switch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fr-FR" sz="1600" dirty="0" err="1">
                <a:solidFill>
                  <a:srgbClr val="000000"/>
                </a:solidFill>
                <a:latin typeface="Menlo-Regular" panose="020B0609030804020204"/>
              </a:rPr>
              <a:t>setjmp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fr-FR" sz="1600" dirty="0" err="1">
                <a:solidFill>
                  <a:srgbClr val="000000"/>
                </a:solidFill>
                <a:latin typeface="Menlo-Regular" panose="020B0609030804020204"/>
              </a:rPr>
              <a:t>buf</a:t>
            </a:r>
            <a:r>
              <a:rPr lang="fr-FR" sz="1600" dirty="0">
                <a:solidFill>
                  <a:srgbClr val="000000"/>
                </a:solidFill>
                <a:latin typeface="Menlo-Regular" panose="020B0609030804020204"/>
              </a:rPr>
              <a:t>)) {</a:t>
            </a:r>
            <a:endParaRPr lang="fr-FR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case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0: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nl-NL" sz="1600" dirty="0" err="1">
                <a:solidFill>
                  <a:srgbClr val="000000"/>
                </a:solidFill>
                <a:latin typeface="Menlo-Regular" panose="020B0609030804020204"/>
              </a:rPr>
              <a:t>foo</a:t>
            </a:r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();</a:t>
            </a:r>
            <a:endParaRPr lang="nl-N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nl-NL" sz="1600" dirty="0">
                <a:solidFill>
                  <a:srgbClr val="C200FF"/>
                </a:solidFill>
                <a:latin typeface="Menlo-Regular" panose="020B0609030804020204"/>
              </a:rPr>
              <a:t>break</a:t>
            </a:r>
            <a:r>
              <a:rPr lang="nl-NL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nl-NL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case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1: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"Detected an error1 condition in foo\n"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break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case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2: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"Detected an error2 condition in bar\n"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break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Menlo-Regular" panose="020B0609030804020204"/>
              </a:rPr>
              <a:t>default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: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Menlo-Regular" panose="020B0609030804020204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Menlo-Regular" panose="020B0609030804020204"/>
              </a:rPr>
              <a:t>"Unknown error condition in foo\n"</a:t>
            </a:r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    exit(0);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6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2" name="Title 1"/>
          <p:cNvSpPr txBox="1"/>
          <p:nvPr/>
        </p:nvSpPr>
        <p:spPr bwMode="auto">
          <a:xfrm>
            <a:off x="476025" y="435678"/>
            <a:ext cx="10122791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anose="020F0502020204030204" pitchFamily="34" charset="0"/>
                <a:ea typeface="仿宋" panose="02010609060101010101" pitchFamily="49" charset="-122"/>
                <a:cs typeface="+mj-cs"/>
              </a:defRPr>
            </a:lvl1pPr>
            <a:lvl2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2pPr>
            <a:lvl3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3pPr>
            <a:lvl4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4pPr>
            <a:lvl5pPr marL="119380" indent="-1193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5pPr>
            <a:lvl6pPr marL="5765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6pPr>
            <a:lvl7pPr marL="10337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7pPr>
            <a:lvl8pPr marL="14909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8pPr>
            <a:lvl9pPr marL="194818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anose="020B0706020202030204" pitchFamily="34" charset="0"/>
              </a:defRPr>
            </a:lvl9pPr>
          </a:lstStyle>
          <a:p>
            <a:r>
              <a:rPr lang="en-US" dirty="0" err="1">
                <a:latin typeface="Courier New" panose="02070609020205020404" charset="0"/>
              </a:rPr>
              <a:t>setjmp</a:t>
            </a:r>
            <a:r>
              <a:rPr lang="en-US" dirty="0"/>
              <a:t>/</a:t>
            </a:r>
            <a:r>
              <a:rPr lang="en-US" dirty="0" err="1">
                <a:latin typeface="Courier New" panose="02070609020205020404" charset="0"/>
              </a:rPr>
              <a:t>longjmp</a:t>
            </a:r>
            <a:r>
              <a:rPr lang="en-US" dirty="0"/>
              <a:t> </a:t>
            </a:r>
            <a:r>
              <a:rPr lang="zh-CN" altLang="en-US" dirty="0"/>
              <a:t>示例（续）</a:t>
            </a:r>
            <a:endParaRPr lang="zh-CN" altLang="en-US" kern="0" dirty="0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使用</a:t>
            </a:r>
            <a:r>
              <a:rPr lang="en-US" altLang="zh-CN"/>
              <a:t> setjmp </a:t>
            </a:r>
            <a:r>
              <a:rPr lang="zh-CN" altLang="en-US"/>
              <a:t>和</a:t>
            </a:r>
            <a:r>
              <a:rPr lang="en-US" altLang="zh-CN"/>
              <a:t> longjmp </a:t>
            </a:r>
            <a:r>
              <a:rPr lang="zh-CN" altLang="en-US"/>
              <a:t>实现简单的错误处理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28955" y="1362075"/>
            <a:ext cx="4705985" cy="4972050"/>
          </a:xfrm>
        </p:spPr>
        <p:txBody>
          <a:bodyPr/>
          <a:p>
            <a:r>
              <a:rPr lang="en-US"/>
              <a:t> </a:t>
            </a:r>
            <a:endParaRPr lang="en-US"/>
          </a:p>
          <a:p>
            <a:pPr lvl="1"/>
            <a:r>
              <a:rPr lang="zh-CN" altLang="en-US"/>
              <a:t>在原生不支持</a:t>
            </a:r>
            <a:r>
              <a:rPr lang="en-US" altLang="en-US"/>
              <a:t>try-catch</a:t>
            </a:r>
            <a:r>
              <a:rPr lang="zh-CN" altLang="en-US"/>
              <a:t>的</a:t>
            </a:r>
            <a:r>
              <a:rPr lang="en-US" altLang="en-US"/>
              <a:t>C</a:t>
            </a:r>
            <a:r>
              <a:rPr lang="zh-CN" altLang="en-US"/>
              <a:t>语言中，可以用它们模拟类似的行</a:t>
            </a:r>
            <a:endParaRPr lang="zh-CN" altLang="en-US"/>
          </a:p>
          <a:p>
            <a:pPr lvl="1"/>
            <a:r>
              <a:rPr lang="en-US" altLang="en-US"/>
              <a:t>setjmp</a:t>
            </a:r>
            <a:r>
              <a:rPr lang="zh-CN" altLang="en-US"/>
              <a:t>的位置相当于</a:t>
            </a:r>
            <a:r>
              <a:rPr lang="en-US" altLang="en-US"/>
              <a:t>try</a:t>
            </a:r>
            <a:r>
              <a:rPr lang="zh-CN" altLang="en-US"/>
              <a:t>块</a:t>
            </a:r>
            <a:endParaRPr lang="zh-CN" altLang="en-US"/>
          </a:p>
          <a:p>
            <a:pPr lvl="1"/>
            <a:r>
              <a:rPr lang="en-US" altLang="en-US"/>
              <a:t>longjmp</a:t>
            </a:r>
            <a:r>
              <a:rPr lang="zh-CN" altLang="en-US"/>
              <a:t>则相当于</a:t>
            </a:r>
            <a:r>
              <a:rPr lang="en-US" altLang="en-US"/>
              <a:t>throw</a:t>
            </a:r>
            <a:r>
              <a:rPr lang="zh-CN" altLang="en-US"/>
              <a:t>，能直接抛出一个非零的</a:t>
            </a:r>
            <a:r>
              <a:rPr lang="en-US" altLang="en-US"/>
              <a:t>“</a:t>
            </a:r>
            <a:r>
              <a:rPr lang="zh-CN" altLang="en-US"/>
              <a:t>异常值</a:t>
            </a:r>
            <a:r>
              <a:rPr lang="en-US" altLang="en-US"/>
              <a:t>”</a:t>
            </a:r>
            <a:endParaRPr lang="en-US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19800" y="1066800"/>
            <a:ext cx="5727065" cy="54857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 anchor="t">
            <a:noAutofit/>
          </a:bodyPr>
          <a:p>
            <a:r>
              <a:rPr lang="en-US" altLang="zh-CN" sz="1800" dirty="0" smtClean="0">
                <a:latin typeface="Calibri" panose="020F0502020204030204" pitchFamily="34" charset="0"/>
              </a:rPr>
              <a:t>#include &lt;stdio.h&gt;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#include &lt;setjmp.h&gt;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jmp_buf env;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void riskyFunction()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printf("Starting risky function...\n");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if (1) { // </a:t>
            </a:r>
            <a:r>
              <a:rPr lang="zh-CN" altLang="en-US" sz="1800" dirty="0" smtClean="0">
                <a:latin typeface="Calibri" panose="020F0502020204030204" pitchFamily="34" charset="0"/>
              </a:rPr>
              <a:t>模拟错误条件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printf("Error occurred, jumping back...\n");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longjmp</a:t>
            </a:r>
            <a:r>
              <a:rPr lang="en-US" altLang="zh-CN" sz="1800" dirty="0" smtClean="0">
                <a:latin typeface="Calibri" panose="020F0502020204030204" pitchFamily="34" charset="0"/>
              </a:rPr>
              <a:t>(env, 1); // </a:t>
            </a:r>
            <a:r>
              <a:rPr lang="zh-CN" altLang="en-US" sz="1800" dirty="0" smtClean="0">
                <a:latin typeface="Calibri" panose="020F0502020204030204" pitchFamily="34" charset="0"/>
              </a:rPr>
              <a:t>跳转回</a:t>
            </a:r>
            <a:r>
              <a:rPr lang="en-US" altLang="zh-CN" sz="1800" dirty="0" smtClean="0">
                <a:latin typeface="Calibri" panose="020F0502020204030204" pitchFamily="34" charset="0"/>
              </a:rPr>
              <a:t> setjmp </a:t>
            </a:r>
            <a:r>
              <a:rPr lang="zh-CN" altLang="en-US" sz="1800" dirty="0" smtClean="0">
                <a:latin typeface="Calibri" panose="020F0502020204030204" pitchFamily="34" charset="0"/>
              </a:rPr>
              <a:t>的位置</a:t>
            </a:r>
            <a:endParaRPr lang="zh-CN" altLang="en-US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printf("Risky function completed.\n");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int main()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if (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setjmp</a:t>
            </a:r>
            <a:r>
              <a:rPr lang="en-US" altLang="zh-CN" sz="1800" dirty="0" smtClean="0">
                <a:latin typeface="Calibri" panose="020F0502020204030204" pitchFamily="34" charset="0"/>
              </a:rPr>
              <a:t>(env) == 0)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riskyFunction();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 else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printf("Caught an error!\n");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printf("Program continues...\n");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return 0;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}</a:t>
            </a:r>
            <a:endParaRPr lang="zh-CN" altLang="en-US" sz="1800" dirty="0" smtClean="0">
              <a:latin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24000" y="4267200"/>
            <a:ext cx="3668395" cy="1476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00B050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1800" dirty="0" smtClean="0">
                <a:latin typeface="Calibri" panose="020F0502020204030204" pitchFamily="34" charset="0"/>
              </a:rPr>
              <a:t>输出</a:t>
            </a:r>
            <a:r>
              <a:rPr lang="en-US" altLang="zh-CN" sz="1800" dirty="0" smtClean="0">
                <a:latin typeface="Calibri" panose="020F0502020204030204" pitchFamily="34" charset="0"/>
              </a:rPr>
              <a:t>：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Starting risky function...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Error occurred, jumping back...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Caught an error!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Program continues...</a:t>
            </a:r>
            <a:endParaRPr lang="zh-CN" altLang="en-US" sz="1800" dirty="0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非本地跳转的限制</a:t>
            </a:r>
            <a:endParaRPr lang="zh-CN" altLang="en-US"/>
          </a:p>
        </p:txBody>
      </p:sp>
      <p:sp>
        <p:nvSpPr>
          <p:cNvPr id="533507" name="Rectangle 1027"/>
          <p:cNvSpPr>
            <a:spLocks noGrp="1" noChangeArrowheads="1"/>
          </p:cNvSpPr>
          <p:nvPr>
            <p:ph idx="1"/>
          </p:nvPr>
        </p:nvSpPr>
        <p:spPr>
          <a:xfrm>
            <a:off x="528955" y="1362075"/>
            <a:ext cx="3579495" cy="4972050"/>
          </a:xfrm>
        </p:spPr>
        <p:txBody>
          <a:bodyPr/>
          <a:lstStyle/>
          <a:p>
            <a:r>
              <a:rPr lang="zh-CN" altLang="en-US"/>
              <a:t>遵循栈的规则</a:t>
            </a:r>
            <a:endParaRPr lang="zh-CN" altLang="en-US"/>
          </a:p>
          <a:p>
            <a:pPr lvl="1"/>
            <a:r>
              <a:rPr lang="zh-CN" altLang="en-US"/>
              <a:t>只能跳转到已被调用但尚未完成的函数的环境</a:t>
            </a:r>
            <a:endParaRPr lang="zh-CN" altLang="en-US"/>
          </a:p>
          <a:p>
            <a:pPr lvl="1"/>
            <a:r>
              <a:rPr lang="zh-CN" altLang="en-US" b="1"/>
              <a:t>已经设置返回点</a:t>
            </a:r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zh-CN" altLang="en-US"/>
              <a:t>例子</a:t>
            </a:r>
            <a:endParaRPr lang="zh-CN" altLang="en-US"/>
          </a:p>
          <a:p>
            <a:pPr lvl="1"/>
            <a:r>
              <a:rPr lang="zh-CN" altLang="en-US"/>
              <a:t>从</a:t>
            </a:r>
            <a:r>
              <a:rPr lang="en-US" altLang="zh-CN"/>
              <a:t>P3</a:t>
            </a:r>
            <a:r>
              <a:rPr lang="zh-CN" altLang="en-US"/>
              <a:t>可以直接跳转回</a:t>
            </a:r>
            <a:r>
              <a:rPr lang="en-US" altLang="zh-CN"/>
              <a:t>P</a:t>
            </a:r>
            <a:r>
              <a:rPr lang="en-US"/>
              <a:t>1</a:t>
            </a:r>
            <a:r>
              <a:rPr lang="zh-CN" altLang="en-US"/>
              <a:t>中的</a:t>
            </a:r>
            <a:r>
              <a:rPr lang="zh-CN" altLang="en-US"/>
              <a:t>返回点</a:t>
            </a:r>
            <a:endParaRPr lang="zh-CN" altLang="en-US"/>
          </a:p>
        </p:txBody>
      </p:sp>
      <p:sp>
        <p:nvSpPr>
          <p:cNvPr id="533508" name="Rectangle 1028"/>
          <p:cNvSpPr>
            <a:spLocks noChangeArrowheads="1"/>
          </p:cNvSpPr>
          <p:nvPr/>
        </p:nvSpPr>
        <p:spPr bwMode="auto">
          <a:xfrm>
            <a:off x="4324350" y="2136775"/>
            <a:ext cx="3448050" cy="4650740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anose="02070609020205020404" charset="0"/>
              </a:rPr>
              <a:t>jmp_buf</a:t>
            </a:r>
            <a:r>
              <a:rPr lang="en-US" sz="1600" dirty="0">
                <a:latin typeface="Courier New" panose="02070609020205020404" charset="0"/>
              </a:rPr>
              <a:t> </a:t>
            </a:r>
            <a:r>
              <a:rPr lang="en-US" sz="1600" dirty="0" err="1">
                <a:latin typeface="Courier New" panose="02070609020205020404" charset="0"/>
              </a:rPr>
              <a:t>env</a:t>
            </a:r>
            <a:r>
              <a:rPr lang="en-US" sz="1600" dirty="0">
                <a:latin typeface="Courier New" panose="02070609020205020404" charset="0"/>
              </a:rPr>
              <a:t>;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P1()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{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  if (</a:t>
            </a:r>
            <a:r>
              <a:rPr lang="en-US" sz="1600" dirty="0" err="1">
                <a:latin typeface="Courier New" panose="02070609020205020404" charset="0"/>
              </a:rPr>
              <a:t>setjmp</a:t>
            </a:r>
            <a:r>
              <a:rPr lang="en-US" sz="1600" dirty="0">
                <a:latin typeface="Courier New" panose="02070609020205020404" charset="0"/>
              </a:rPr>
              <a:t>(</a:t>
            </a:r>
            <a:r>
              <a:rPr lang="en-US" sz="1600" dirty="0" err="1">
                <a:latin typeface="Courier New" panose="02070609020205020404" charset="0"/>
              </a:rPr>
              <a:t>env</a:t>
            </a:r>
            <a:r>
              <a:rPr lang="en-US" sz="1600" dirty="0">
                <a:latin typeface="Courier New" panose="02070609020205020404" charset="0"/>
              </a:rPr>
              <a:t>)) {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    </a:t>
            </a:r>
            <a:r>
              <a:rPr lang="en-US" sz="1600" dirty="0">
                <a:solidFill>
                  <a:srgbClr val="990000"/>
                </a:solidFill>
                <a:latin typeface="Courier New" panose="02070609020205020404" charset="0"/>
              </a:rPr>
              <a:t>/* Long Jump to here */</a:t>
            </a:r>
            <a:endParaRPr lang="en-US" sz="1600" dirty="0">
              <a:solidFill>
                <a:srgbClr val="990000"/>
              </a:solidFill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  } else {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    P2();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  }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}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P2()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{  . . . P2(); . . . P3(); }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P3()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{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  </a:t>
            </a:r>
            <a:r>
              <a:rPr lang="en-US" sz="1600" dirty="0" err="1">
                <a:latin typeface="Courier New" panose="02070609020205020404" charset="0"/>
              </a:rPr>
              <a:t>longjmp</a:t>
            </a:r>
            <a:r>
              <a:rPr lang="en-US" sz="1600" dirty="0">
                <a:latin typeface="Courier New" panose="02070609020205020404" charset="0"/>
              </a:rPr>
              <a:t>(</a:t>
            </a:r>
            <a:r>
              <a:rPr lang="en-US" sz="1600" dirty="0" err="1">
                <a:latin typeface="Courier New" panose="02070609020205020404" charset="0"/>
              </a:rPr>
              <a:t>env</a:t>
            </a:r>
            <a:r>
              <a:rPr lang="en-US" sz="1600" dirty="0">
                <a:latin typeface="Courier New" panose="02070609020205020404" charset="0"/>
              </a:rPr>
              <a:t>, 1);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}</a:t>
            </a:r>
            <a:endParaRPr lang="en-US" sz="1600" dirty="0">
              <a:latin typeface="Courier New" panose="02070609020205020404" charset="0"/>
            </a:endParaRPr>
          </a:p>
        </p:txBody>
      </p:sp>
      <p:sp>
        <p:nvSpPr>
          <p:cNvPr id="533509" name="Rectangle 1029"/>
          <p:cNvSpPr>
            <a:spLocks noChangeArrowheads="1"/>
          </p:cNvSpPr>
          <p:nvPr/>
        </p:nvSpPr>
        <p:spPr bwMode="auto">
          <a:xfrm>
            <a:off x="8531293" y="2550160"/>
            <a:ext cx="1143000" cy="685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2000">
                <a:latin typeface="Courier New" panose="02070609020205020404" charset="0"/>
              </a:rPr>
              <a:t>P1</a:t>
            </a:r>
            <a:endParaRPr lang="en-US" sz="2000">
              <a:latin typeface="Courier New" panose="02070609020205020404" charset="0"/>
            </a:endParaRPr>
          </a:p>
        </p:txBody>
      </p:sp>
      <p:sp>
        <p:nvSpPr>
          <p:cNvPr id="533510" name="Rectangle 1030"/>
          <p:cNvSpPr>
            <a:spLocks noChangeArrowheads="1"/>
          </p:cNvSpPr>
          <p:nvPr/>
        </p:nvSpPr>
        <p:spPr bwMode="auto">
          <a:xfrm>
            <a:off x="8531293" y="3235960"/>
            <a:ext cx="1143000" cy="685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2000">
                <a:latin typeface="Courier New" panose="02070609020205020404" charset="0"/>
              </a:rPr>
              <a:t>P2</a:t>
            </a:r>
            <a:endParaRPr lang="en-US" sz="2000">
              <a:latin typeface="Courier New" panose="02070609020205020404" charset="0"/>
            </a:endParaRPr>
          </a:p>
        </p:txBody>
      </p:sp>
      <p:sp>
        <p:nvSpPr>
          <p:cNvPr id="533511" name="Rectangle 1031"/>
          <p:cNvSpPr>
            <a:spLocks noChangeArrowheads="1"/>
          </p:cNvSpPr>
          <p:nvPr/>
        </p:nvSpPr>
        <p:spPr bwMode="auto">
          <a:xfrm>
            <a:off x="8531293" y="3921760"/>
            <a:ext cx="1143000" cy="685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2000">
                <a:latin typeface="Courier New" panose="02070609020205020404" charset="0"/>
              </a:rPr>
              <a:t>P2</a:t>
            </a:r>
            <a:endParaRPr lang="en-US" sz="2000">
              <a:latin typeface="Courier New" panose="02070609020205020404" charset="0"/>
            </a:endParaRPr>
          </a:p>
        </p:txBody>
      </p:sp>
      <p:sp>
        <p:nvSpPr>
          <p:cNvPr id="533512" name="Rectangle 1032"/>
          <p:cNvSpPr>
            <a:spLocks noChangeArrowheads="1"/>
          </p:cNvSpPr>
          <p:nvPr/>
        </p:nvSpPr>
        <p:spPr bwMode="auto">
          <a:xfrm>
            <a:off x="8531293" y="4607560"/>
            <a:ext cx="1143000" cy="685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2000">
                <a:latin typeface="Courier New" panose="02070609020205020404" charset="0"/>
              </a:rPr>
              <a:t>P2</a:t>
            </a:r>
            <a:endParaRPr lang="en-US" sz="2000">
              <a:latin typeface="Courier New" panose="02070609020205020404" charset="0"/>
            </a:endParaRPr>
          </a:p>
        </p:txBody>
      </p:sp>
      <p:sp>
        <p:nvSpPr>
          <p:cNvPr id="533513" name="Rectangle 1033"/>
          <p:cNvSpPr>
            <a:spLocks noChangeArrowheads="1"/>
          </p:cNvSpPr>
          <p:nvPr/>
        </p:nvSpPr>
        <p:spPr bwMode="auto">
          <a:xfrm>
            <a:off x="8531293" y="5293360"/>
            <a:ext cx="1143000" cy="685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2000">
                <a:latin typeface="Courier New" panose="02070609020205020404" charset="0"/>
              </a:rPr>
              <a:t>P3</a:t>
            </a:r>
            <a:endParaRPr lang="en-US" sz="2000">
              <a:latin typeface="Courier New" panose="02070609020205020404" charset="0"/>
            </a:endParaRPr>
          </a:p>
        </p:txBody>
      </p:sp>
      <p:sp>
        <p:nvSpPr>
          <p:cNvPr id="533514" name="Line 1034"/>
          <p:cNvSpPr>
            <a:spLocks noChangeShapeType="1"/>
          </p:cNvSpPr>
          <p:nvPr/>
        </p:nvSpPr>
        <p:spPr bwMode="auto">
          <a:xfrm>
            <a:off x="7997893" y="285496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33515" name="Rectangle 1035"/>
          <p:cNvSpPr>
            <a:spLocks noChangeArrowheads="1"/>
          </p:cNvSpPr>
          <p:nvPr/>
        </p:nvSpPr>
        <p:spPr bwMode="auto">
          <a:xfrm>
            <a:off x="7693094" y="2514600"/>
            <a:ext cx="548640" cy="33718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>
                <a:latin typeface="Courier New" panose="02070609020205020404" charset="0"/>
              </a:rPr>
              <a:t>env</a:t>
            </a:r>
            <a:endParaRPr lang="en-US" sz="1600">
              <a:latin typeface="Courier New" panose="02070609020205020404" charset="0"/>
            </a:endParaRPr>
          </a:p>
        </p:txBody>
      </p:sp>
      <p:sp>
        <p:nvSpPr>
          <p:cNvPr id="533516" name="Rectangle 1036"/>
          <p:cNvSpPr>
            <a:spLocks noChangeArrowheads="1"/>
          </p:cNvSpPr>
          <p:nvPr/>
        </p:nvSpPr>
        <p:spPr bwMode="auto">
          <a:xfrm>
            <a:off x="10588693" y="2550160"/>
            <a:ext cx="1143000" cy="685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2000">
                <a:latin typeface="Courier New" panose="02070609020205020404" charset="0"/>
              </a:rPr>
              <a:t>P1</a:t>
            </a:r>
            <a:endParaRPr lang="en-US" sz="2000">
              <a:latin typeface="Courier New" panose="02070609020205020404" charset="0"/>
            </a:endParaRPr>
          </a:p>
        </p:txBody>
      </p:sp>
      <p:sp>
        <p:nvSpPr>
          <p:cNvPr id="533517" name="Text Box 1037"/>
          <p:cNvSpPr txBox="1">
            <a:spLocks noChangeArrowheads="1"/>
          </p:cNvSpPr>
          <p:nvPr/>
        </p:nvSpPr>
        <p:spPr bwMode="auto">
          <a:xfrm>
            <a:off x="8229766" y="2212975"/>
            <a:ext cx="1747520" cy="33718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Before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longjmp</a:t>
            </a:r>
            <a:endParaRPr lang="en-US" sz="1600" dirty="0" err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33518" name="Text Box 1038"/>
          <p:cNvSpPr txBox="1">
            <a:spLocks noChangeArrowheads="1"/>
          </p:cNvSpPr>
          <p:nvPr/>
        </p:nvSpPr>
        <p:spPr bwMode="auto">
          <a:xfrm>
            <a:off x="10363250" y="2209800"/>
            <a:ext cx="1635760" cy="33718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After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longjmp</a:t>
            </a:r>
            <a:endParaRPr lang="en-US" sz="1600" dirty="0" err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非本地跳转的限制（续）</a:t>
            </a:r>
            <a:endParaRPr lang="en-US"/>
          </a:p>
        </p:txBody>
      </p:sp>
      <p:sp>
        <p:nvSpPr>
          <p:cNvPr id="534531" name="Rectangle 3"/>
          <p:cNvSpPr>
            <a:spLocks noGrp="1" noChangeArrowheads="1"/>
          </p:cNvSpPr>
          <p:nvPr>
            <p:ph idx="1"/>
          </p:nvPr>
        </p:nvSpPr>
        <p:spPr>
          <a:xfrm>
            <a:off x="528955" y="1362075"/>
            <a:ext cx="4204970" cy="4972050"/>
          </a:xfrm>
        </p:spPr>
        <p:txBody>
          <a:bodyPr/>
          <a:lstStyle/>
          <a:p>
            <a:r>
              <a:rPr lang="zh-CN" altLang="en-US" sz="2400">
                <a:sym typeface="+mn-ea"/>
              </a:rPr>
              <a:t>遵循栈的规则</a:t>
            </a:r>
            <a:endParaRPr lang="zh-CN" altLang="en-US" sz="2400"/>
          </a:p>
          <a:p>
            <a:pPr lvl="1"/>
            <a:r>
              <a:rPr lang="zh-CN" altLang="en-US">
                <a:sym typeface="+mn-ea"/>
              </a:rPr>
              <a:t>只能跳转到已被调用但尚未完成的函数的环境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例子</a:t>
            </a:r>
            <a:endParaRPr lang="zh-CN" altLang="en-US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P2</a:t>
            </a:r>
            <a:r>
              <a:rPr lang="zh-CN" altLang="en-US">
                <a:sym typeface="+mn-ea"/>
              </a:rPr>
              <a:t>中可以直接跳转</a:t>
            </a:r>
            <a:r>
              <a:rPr lang="zh-CN" altLang="en-US">
                <a:sym typeface="+mn-ea"/>
              </a:rPr>
              <a:t>回返回点</a:t>
            </a:r>
            <a:endParaRPr lang="zh-CN" altLang="en-US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P2</a:t>
            </a:r>
            <a:r>
              <a:rPr lang="zh-CN" altLang="en-US">
                <a:sym typeface="+mn-ea"/>
              </a:rPr>
              <a:t>结束后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不能跳转到返回点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P2</a:t>
            </a:r>
            <a:r>
              <a:rPr lang="zh-CN" altLang="en-US">
                <a:sym typeface="+mn-ea"/>
              </a:rPr>
              <a:t>的栈已经释放</a:t>
            </a:r>
            <a:r>
              <a:rPr lang="en-US" altLang="zh-CN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P3</a:t>
            </a:r>
            <a:r>
              <a:rPr lang="zh-CN" altLang="en-US">
                <a:sym typeface="+mn-ea"/>
              </a:rPr>
              <a:t>中不能跳转到返回点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P2</a:t>
            </a:r>
            <a:r>
              <a:rPr lang="zh-CN" altLang="en-US">
                <a:sym typeface="+mn-ea"/>
              </a:rPr>
              <a:t>的栈已经释放</a:t>
            </a:r>
            <a:r>
              <a:rPr lang="en-US" altLang="zh-CN">
                <a:sym typeface="+mn-ea"/>
              </a:rPr>
              <a:t>）</a:t>
            </a:r>
            <a:endParaRPr lang="zh-CN" altLang="en-US">
              <a:sym typeface="+mn-ea"/>
            </a:endParaRPr>
          </a:p>
        </p:txBody>
      </p:sp>
      <p:sp>
        <p:nvSpPr>
          <p:cNvPr id="534532" name="Rectangle 4"/>
          <p:cNvSpPr>
            <a:spLocks noChangeArrowheads="1"/>
          </p:cNvSpPr>
          <p:nvPr/>
        </p:nvSpPr>
        <p:spPr bwMode="auto">
          <a:xfrm>
            <a:off x="4575175" y="2133600"/>
            <a:ext cx="3484245" cy="4523105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anose="02070609020205020404" charset="0"/>
              </a:rPr>
              <a:t>jmp_buf</a:t>
            </a:r>
            <a:r>
              <a:rPr lang="en-US" sz="1600" dirty="0">
                <a:latin typeface="Courier New" panose="02070609020205020404" charset="0"/>
              </a:rPr>
              <a:t> </a:t>
            </a:r>
            <a:r>
              <a:rPr lang="en-US" sz="1600" dirty="0" err="1">
                <a:latin typeface="Courier New" panose="02070609020205020404" charset="0"/>
              </a:rPr>
              <a:t>env</a:t>
            </a:r>
            <a:r>
              <a:rPr lang="en-US" sz="1600" dirty="0">
                <a:latin typeface="Courier New" panose="02070609020205020404" charset="0"/>
              </a:rPr>
              <a:t>;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P1()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{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  P2(); P3();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}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P2()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{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   if (</a:t>
            </a:r>
            <a:r>
              <a:rPr lang="en-US" sz="1600" dirty="0" err="1">
                <a:latin typeface="Courier New" panose="02070609020205020404" charset="0"/>
              </a:rPr>
              <a:t>setjmp</a:t>
            </a:r>
            <a:r>
              <a:rPr lang="en-US" sz="1600" dirty="0">
                <a:latin typeface="Courier New" panose="02070609020205020404" charset="0"/>
              </a:rPr>
              <a:t>(</a:t>
            </a:r>
            <a:r>
              <a:rPr lang="en-US" sz="1600" dirty="0" err="1">
                <a:latin typeface="Courier New" panose="02070609020205020404" charset="0"/>
              </a:rPr>
              <a:t>env</a:t>
            </a:r>
            <a:r>
              <a:rPr lang="en-US" sz="1600" dirty="0">
                <a:latin typeface="Courier New" panose="02070609020205020404" charset="0"/>
              </a:rPr>
              <a:t>)) {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    </a:t>
            </a:r>
            <a:r>
              <a:rPr lang="en-US" sz="1600" dirty="0">
                <a:solidFill>
                  <a:srgbClr val="990000"/>
                </a:solidFill>
                <a:latin typeface="Courier New" panose="02070609020205020404" charset="0"/>
              </a:rPr>
              <a:t>/* Long Jump to here */</a:t>
            </a:r>
            <a:endParaRPr lang="en-US" sz="1600" dirty="0">
              <a:solidFill>
                <a:srgbClr val="990000"/>
              </a:solidFill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  }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}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P3()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{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  </a:t>
            </a:r>
            <a:r>
              <a:rPr lang="en-US" sz="1600" dirty="0" err="1">
                <a:latin typeface="Courier New" panose="02070609020205020404" charset="0"/>
              </a:rPr>
              <a:t>longjmp</a:t>
            </a:r>
            <a:r>
              <a:rPr lang="en-US" sz="1600" dirty="0">
                <a:latin typeface="Courier New" panose="02070609020205020404" charset="0"/>
              </a:rPr>
              <a:t>(</a:t>
            </a:r>
            <a:r>
              <a:rPr lang="en-US" sz="1600" dirty="0" err="1">
                <a:latin typeface="Courier New" panose="02070609020205020404" charset="0"/>
              </a:rPr>
              <a:t>env</a:t>
            </a:r>
            <a:r>
              <a:rPr lang="en-US" sz="1600" dirty="0">
                <a:latin typeface="Courier New" panose="02070609020205020404" charset="0"/>
              </a:rPr>
              <a:t>, 1);</a:t>
            </a:r>
            <a:endParaRPr lang="en-US" sz="1600" dirty="0">
              <a:latin typeface="Courier New" panose="02070609020205020404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anose="02070609020205020404" charset="0"/>
              </a:rPr>
              <a:t>}</a:t>
            </a:r>
            <a:endParaRPr lang="en-US" sz="1600" dirty="0">
              <a:latin typeface="Courier New" panose="02070609020205020404" charset="0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8077200" y="1990726"/>
            <a:ext cx="1981200" cy="1665288"/>
            <a:chOff x="3264" y="1056"/>
            <a:chExt cx="1248" cy="1049"/>
          </a:xfrm>
        </p:grpSpPr>
        <p:sp>
          <p:nvSpPr>
            <p:cNvPr id="534534" name="Rectangle 6"/>
            <p:cNvSpPr>
              <a:spLocks noChangeArrowheads="1"/>
            </p:cNvSpPr>
            <p:nvPr/>
          </p:nvSpPr>
          <p:spPr bwMode="auto">
            <a:xfrm>
              <a:off x="3264" y="1728"/>
              <a:ext cx="347" cy="212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>
                  <a:latin typeface="Courier New" panose="02070609020205020404" charset="0"/>
                </a:rPr>
                <a:t>env</a:t>
              </a:r>
              <a:endParaRPr lang="en-US" sz="1600">
                <a:latin typeface="Courier New" panose="02070609020205020404" charset="0"/>
              </a:endParaRPr>
            </a:p>
          </p:txBody>
        </p:sp>
        <p:grpSp>
          <p:nvGrpSpPr>
            <p:cNvPr id="3" name="Group 7"/>
            <p:cNvGrpSpPr/>
            <p:nvPr/>
          </p:nvGrpSpPr>
          <p:grpSpPr bwMode="auto">
            <a:xfrm>
              <a:off x="3456" y="1056"/>
              <a:ext cx="1056" cy="1049"/>
              <a:chOff x="3408" y="1056"/>
              <a:chExt cx="1056" cy="1049"/>
            </a:xfrm>
          </p:grpSpPr>
          <p:sp>
            <p:nvSpPr>
              <p:cNvPr id="534536" name="Rectangle 8"/>
              <p:cNvSpPr>
                <a:spLocks noChangeArrowheads="1"/>
              </p:cNvSpPr>
              <p:nvPr/>
            </p:nvSpPr>
            <p:spPr bwMode="auto">
              <a:xfrm>
                <a:off x="3744" y="1056"/>
                <a:ext cx="720" cy="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2000">
                    <a:latin typeface="Courier New" panose="02070609020205020404" charset="0"/>
                  </a:rPr>
                  <a:t>P1</a:t>
                </a:r>
                <a:endParaRPr lang="en-US" sz="2000">
                  <a:latin typeface="Courier New" panose="02070609020205020404" charset="0"/>
                </a:endParaRPr>
              </a:p>
            </p:txBody>
          </p:sp>
          <p:sp>
            <p:nvSpPr>
              <p:cNvPr id="534537" name="Rectangle 9"/>
              <p:cNvSpPr>
                <a:spLocks noChangeArrowheads="1"/>
              </p:cNvSpPr>
              <p:nvPr/>
            </p:nvSpPr>
            <p:spPr bwMode="auto">
              <a:xfrm>
                <a:off x="3744" y="1488"/>
                <a:ext cx="720" cy="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2000">
                    <a:latin typeface="Courier New" panose="02070609020205020404" charset="0"/>
                  </a:rPr>
                  <a:t>P2</a:t>
                </a:r>
                <a:endParaRPr lang="en-US" sz="2000">
                  <a:latin typeface="Courier New" panose="02070609020205020404" charset="0"/>
                </a:endParaRPr>
              </a:p>
            </p:txBody>
          </p:sp>
          <p:sp>
            <p:nvSpPr>
              <p:cNvPr id="534538" name="Line 10"/>
              <p:cNvSpPr>
                <a:spLocks noChangeShapeType="1"/>
              </p:cNvSpPr>
              <p:nvPr/>
            </p:nvSpPr>
            <p:spPr bwMode="auto">
              <a:xfrm>
                <a:off x="3408" y="1728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534539" name="Text Box 11"/>
              <p:cNvSpPr txBox="1">
                <a:spLocks noChangeArrowheads="1"/>
              </p:cNvSpPr>
              <p:nvPr/>
            </p:nvSpPr>
            <p:spPr bwMode="auto">
              <a:xfrm>
                <a:off x="3685" y="1893"/>
                <a:ext cx="749" cy="212"/>
              </a:xfrm>
              <a:prstGeom prst="rect">
                <a:avLst/>
              </a:prstGeom>
              <a:noFill/>
              <a:ln w="25400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At </a:t>
                </a:r>
                <a:r>
                  <a:rPr lang="en-US" sz="16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setjmp</a:t>
                </a:r>
                <a:endParaRPr lang="en-US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</p:grpSp>
      <p:grpSp>
        <p:nvGrpSpPr>
          <p:cNvPr id="4" name="Group 12"/>
          <p:cNvGrpSpPr/>
          <p:nvPr/>
        </p:nvGrpSpPr>
        <p:grpSpPr bwMode="auto">
          <a:xfrm>
            <a:off x="9753600" y="5038726"/>
            <a:ext cx="2044700" cy="1665288"/>
            <a:chOff x="3264" y="2976"/>
            <a:chExt cx="1288" cy="1049"/>
          </a:xfrm>
        </p:grpSpPr>
        <p:sp>
          <p:nvSpPr>
            <p:cNvPr id="534541" name="Rectangle 13"/>
            <p:cNvSpPr>
              <a:spLocks noChangeArrowheads="1"/>
            </p:cNvSpPr>
            <p:nvPr/>
          </p:nvSpPr>
          <p:spPr bwMode="auto">
            <a:xfrm>
              <a:off x="3792" y="2976"/>
              <a:ext cx="720" cy="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2000">
                  <a:latin typeface="Courier New" panose="02070609020205020404" charset="0"/>
                </a:rPr>
                <a:t>P1</a:t>
              </a:r>
              <a:endParaRPr lang="en-US" sz="2000">
                <a:latin typeface="Courier New" panose="02070609020205020404" charset="0"/>
              </a:endParaRPr>
            </a:p>
          </p:txBody>
        </p:sp>
        <p:sp>
          <p:nvSpPr>
            <p:cNvPr id="534542" name="Rectangle 14"/>
            <p:cNvSpPr>
              <a:spLocks noChangeArrowheads="1"/>
            </p:cNvSpPr>
            <p:nvPr/>
          </p:nvSpPr>
          <p:spPr bwMode="auto">
            <a:xfrm>
              <a:off x="3792" y="3408"/>
              <a:ext cx="720" cy="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2000">
                  <a:latin typeface="Courier New" panose="02070609020205020404" charset="0"/>
                </a:rPr>
                <a:t>P3</a:t>
              </a:r>
              <a:endParaRPr lang="en-US" sz="2000">
                <a:latin typeface="Courier New" panose="02070609020205020404" charset="0"/>
              </a:endParaRPr>
            </a:p>
          </p:txBody>
        </p:sp>
        <p:sp>
          <p:nvSpPr>
            <p:cNvPr id="534543" name="Line 15"/>
            <p:cNvSpPr>
              <a:spLocks noChangeShapeType="1"/>
            </p:cNvSpPr>
            <p:nvPr/>
          </p:nvSpPr>
          <p:spPr bwMode="auto">
            <a:xfrm>
              <a:off x="3456" y="3648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534544" name="Rectangle 16"/>
            <p:cNvSpPr>
              <a:spLocks noChangeArrowheads="1"/>
            </p:cNvSpPr>
            <p:nvPr/>
          </p:nvSpPr>
          <p:spPr bwMode="auto">
            <a:xfrm>
              <a:off x="3264" y="3408"/>
              <a:ext cx="347" cy="212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>
                  <a:latin typeface="Courier New" panose="02070609020205020404" charset="0"/>
                </a:rPr>
                <a:t>env</a:t>
              </a:r>
              <a:endParaRPr lang="en-US" sz="1600">
                <a:latin typeface="Courier New" panose="02070609020205020404" charset="0"/>
              </a:endParaRPr>
            </a:p>
          </p:txBody>
        </p:sp>
        <p:sp>
          <p:nvSpPr>
            <p:cNvPr id="534545" name="Text Box 17"/>
            <p:cNvSpPr txBox="1">
              <a:spLocks noChangeArrowheads="1"/>
            </p:cNvSpPr>
            <p:nvPr/>
          </p:nvSpPr>
          <p:spPr bwMode="auto">
            <a:xfrm>
              <a:off x="3733" y="3813"/>
              <a:ext cx="819" cy="212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At </a:t>
              </a:r>
              <a:r>
                <a:rPr lang="en-US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longjmp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34546" name="Text Box 18"/>
            <p:cNvSpPr txBox="1">
              <a:spLocks noChangeArrowheads="1"/>
            </p:cNvSpPr>
            <p:nvPr/>
          </p:nvSpPr>
          <p:spPr bwMode="auto">
            <a:xfrm>
              <a:off x="3504" y="3545"/>
              <a:ext cx="188" cy="213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 panose="020F0502020204030204" pitchFamily="34" charset="0"/>
                </a:rPr>
                <a:t>X</a:t>
              </a:r>
              <a:endParaRPr lang="en-US" sz="16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Group 19"/>
          <p:cNvGrpSpPr/>
          <p:nvPr/>
        </p:nvGrpSpPr>
        <p:grpSpPr bwMode="auto">
          <a:xfrm>
            <a:off x="8077200" y="3819526"/>
            <a:ext cx="2024063" cy="1665288"/>
            <a:chOff x="4512" y="1440"/>
            <a:chExt cx="1275" cy="1049"/>
          </a:xfrm>
        </p:grpSpPr>
        <p:sp>
          <p:nvSpPr>
            <p:cNvPr id="534548" name="Rectangle 20"/>
            <p:cNvSpPr>
              <a:spLocks noChangeArrowheads="1"/>
            </p:cNvSpPr>
            <p:nvPr/>
          </p:nvSpPr>
          <p:spPr bwMode="auto">
            <a:xfrm>
              <a:off x="5040" y="1440"/>
              <a:ext cx="720" cy="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2000">
                  <a:latin typeface="Courier New" panose="02070609020205020404" charset="0"/>
                </a:rPr>
                <a:t>P1</a:t>
              </a:r>
              <a:endParaRPr lang="en-US" sz="2000">
                <a:latin typeface="Courier New" panose="02070609020205020404" charset="0"/>
              </a:endParaRPr>
            </a:p>
          </p:txBody>
        </p:sp>
        <p:sp>
          <p:nvSpPr>
            <p:cNvPr id="534549" name="Rectangle 21"/>
            <p:cNvSpPr>
              <a:spLocks noChangeArrowheads="1"/>
            </p:cNvSpPr>
            <p:nvPr/>
          </p:nvSpPr>
          <p:spPr bwMode="auto">
            <a:xfrm>
              <a:off x="5040" y="1872"/>
              <a:ext cx="720" cy="4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2000">
                  <a:latin typeface="Courier New" panose="02070609020205020404" charset="0"/>
                </a:rPr>
                <a:t>P2</a:t>
              </a:r>
              <a:endParaRPr lang="en-US" sz="2000">
                <a:latin typeface="Courier New" panose="02070609020205020404" charset="0"/>
              </a:endParaRPr>
            </a:p>
          </p:txBody>
        </p:sp>
        <p:sp>
          <p:nvSpPr>
            <p:cNvPr id="534550" name="Line 22"/>
            <p:cNvSpPr>
              <a:spLocks noChangeShapeType="1"/>
            </p:cNvSpPr>
            <p:nvPr/>
          </p:nvSpPr>
          <p:spPr bwMode="auto">
            <a:xfrm>
              <a:off x="4704" y="211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534551" name="Text Box 23"/>
            <p:cNvSpPr txBox="1">
              <a:spLocks noChangeArrowheads="1"/>
            </p:cNvSpPr>
            <p:nvPr/>
          </p:nvSpPr>
          <p:spPr bwMode="auto">
            <a:xfrm>
              <a:off x="4968" y="2277"/>
              <a:ext cx="819" cy="212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P2 returns</a:t>
              </a:r>
              <a:endParaRPr lang="en-US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34552" name="Rectangle 24"/>
            <p:cNvSpPr>
              <a:spLocks noChangeArrowheads="1"/>
            </p:cNvSpPr>
            <p:nvPr/>
          </p:nvSpPr>
          <p:spPr bwMode="auto">
            <a:xfrm>
              <a:off x="4512" y="1872"/>
              <a:ext cx="347" cy="212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>
                  <a:latin typeface="Courier New" panose="02070609020205020404" charset="0"/>
                </a:rPr>
                <a:t>env</a:t>
              </a:r>
              <a:endParaRPr lang="en-US" sz="1600">
                <a:latin typeface="Courier New" panose="02070609020205020404" charset="0"/>
              </a:endParaRPr>
            </a:p>
          </p:txBody>
        </p:sp>
        <p:sp>
          <p:nvSpPr>
            <p:cNvPr id="534553" name="Text Box 25"/>
            <p:cNvSpPr txBox="1">
              <a:spLocks noChangeArrowheads="1"/>
            </p:cNvSpPr>
            <p:nvPr/>
          </p:nvSpPr>
          <p:spPr bwMode="auto">
            <a:xfrm>
              <a:off x="4752" y="2009"/>
              <a:ext cx="188" cy="213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 panose="020F0502020204030204" pitchFamily="34" charset="0"/>
                </a:rPr>
                <a:t>X</a:t>
              </a:r>
              <a:endParaRPr lang="en-US" sz="1600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76885" y="445135"/>
            <a:ext cx="11196955" cy="762000"/>
          </a:xfrm>
        </p:spPr>
        <p:txBody>
          <a:bodyPr/>
          <a:lstStyle/>
          <a:p>
            <a:pPr marL="0" indent="0"/>
            <a:r>
              <a:rPr lang="zh-CN" altLang="en-US" dirty="0"/>
              <a:t>小结：一个在按下</a:t>
            </a:r>
            <a:r>
              <a:rPr lang="en-US" altLang="zh-CN" dirty="0">
                <a:latin typeface="Courier New" panose="02070609020205020404" charset="0"/>
                <a:cs typeface="Courier New" panose="02070609020205020404" charset="0"/>
              </a:rPr>
              <a:t> ctrl-c </a:t>
            </a:r>
            <a:r>
              <a:rPr lang="zh-CN" altLang="en-US" dirty="0"/>
              <a:t>时重启的程序</a:t>
            </a:r>
            <a:endParaRPr lang="zh-CN" alt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4343401" y="2209800"/>
            <a:ext cx="3401378" cy="3046988"/>
            <a:chOff x="2563812" y="2101840"/>
            <a:chExt cx="3401378" cy="3046988"/>
          </a:xfrm>
        </p:grpSpPr>
        <p:sp>
          <p:nvSpPr>
            <p:cNvPr id="22" name="Rectangle 21"/>
            <p:cNvSpPr/>
            <p:nvPr/>
          </p:nvSpPr>
          <p:spPr>
            <a:xfrm>
              <a:off x="2563812" y="2101840"/>
              <a:ext cx="3401378" cy="3046988"/>
            </a:xfrm>
            <a:prstGeom prst="rect">
              <a:avLst/>
            </a:prstGeom>
            <a:solidFill>
              <a:srgbClr val="E0E0E0"/>
            </a:solidFill>
          </p:spPr>
          <p:txBody>
            <a:bodyPr wrap="square">
              <a:spAutoFit/>
            </a:bodyPr>
            <a:lstStyle/>
            <a:p>
              <a:r>
                <a:rPr lang="en-US" sz="1600" dirty="0" err="1">
                  <a:latin typeface="Courier New" panose="02070609020205020404"/>
                  <a:cs typeface="Courier New" panose="02070609020205020404"/>
                </a:rPr>
                <a:t>greatwhite</a:t>
              </a:r>
              <a:r>
                <a:rPr lang="en-US" sz="1600" dirty="0">
                  <a:latin typeface="Courier New" panose="02070609020205020404"/>
                  <a:cs typeface="Courier New" panose="02070609020205020404"/>
                </a:rPr>
                <a:t>&gt; ./restart</a:t>
              </a:r>
              <a:endParaRPr lang="en-US" sz="1600" dirty="0">
                <a:latin typeface="Courier New" panose="02070609020205020404"/>
                <a:cs typeface="Courier New" panose="02070609020205020404"/>
              </a:endParaRPr>
            </a:p>
            <a:p>
              <a:r>
                <a:rPr lang="en-US" sz="1600" dirty="0">
                  <a:latin typeface="Courier New" panose="02070609020205020404"/>
                  <a:cs typeface="Courier New" panose="02070609020205020404"/>
                </a:rPr>
                <a:t>starting</a:t>
              </a:r>
              <a:endParaRPr lang="en-US" sz="1600" dirty="0">
                <a:latin typeface="Courier New" panose="02070609020205020404"/>
                <a:cs typeface="Courier New" panose="02070609020205020404"/>
              </a:endParaRPr>
            </a:p>
            <a:p>
              <a:r>
                <a:rPr lang="en-US" sz="1600" dirty="0">
                  <a:latin typeface="Courier New" panose="02070609020205020404"/>
                  <a:cs typeface="Courier New" panose="02070609020205020404"/>
                </a:rPr>
                <a:t>processing...</a:t>
              </a:r>
              <a:endParaRPr lang="en-US" sz="1600" dirty="0">
                <a:latin typeface="Courier New" panose="02070609020205020404"/>
                <a:cs typeface="Courier New" panose="02070609020205020404"/>
              </a:endParaRPr>
            </a:p>
            <a:p>
              <a:r>
                <a:rPr lang="en-US" sz="1600" dirty="0">
                  <a:latin typeface="Courier New" panose="02070609020205020404"/>
                  <a:cs typeface="Courier New" panose="02070609020205020404"/>
                </a:rPr>
                <a:t>processing...</a:t>
              </a:r>
              <a:endParaRPr lang="en-US" sz="1600" dirty="0">
                <a:latin typeface="Courier New" panose="02070609020205020404"/>
                <a:cs typeface="Courier New" panose="02070609020205020404"/>
              </a:endParaRPr>
            </a:p>
            <a:p>
              <a:r>
                <a:rPr lang="en-US" sz="1600" dirty="0">
                  <a:latin typeface="Courier New" panose="02070609020205020404"/>
                  <a:cs typeface="Courier New" panose="02070609020205020404"/>
                </a:rPr>
                <a:t>processing...</a:t>
              </a:r>
              <a:endParaRPr lang="en-US" sz="1600" dirty="0">
                <a:latin typeface="Courier New" panose="02070609020205020404"/>
                <a:cs typeface="Courier New" panose="02070609020205020404"/>
              </a:endParaRPr>
            </a:p>
            <a:p>
              <a:r>
                <a:rPr lang="en-US" sz="1600" dirty="0">
                  <a:latin typeface="Courier New" panose="02070609020205020404"/>
                  <a:cs typeface="Courier New" panose="02070609020205020404"/>
                </a:rPr>
                <a:t>restarting</a:t>
              </a:r>
              <a:endParaRPr lang="en-US" sz="1600" dirty="0">
                <a:latin typeface="Courier New" panose="02070609020205020404"/>
                <a:cs typeface="Courier New" panose="02070609020205020404"/>
              </a:endParaRPr>
            </a:p>
            <a:p>
              <a:r>
                <a:rPr lang="en-US" sz="1600" dirty="0">
                  <a:latin typeface="Courier New" panose="02070609020205020404"/>
                  <a:cs typeface="Courier New" panose="02070609020205020404"/>
                </a:rPr>
                <a:t>processing...</a:t>
              </a:r>
              <a:endParaRPr lang="en-US" sz="1600" dirty="0">
                <a:latin typeface="Courier New" panose="02070609020205020404"/>
                <a:cs typeface="Courier New" panose="02070609020205020404"/>
              </a:endParaRPr>
            </a:p>
            <a:p>
              <a:r>
                <a:rPr lang="en-US" sz="1600" dirty="0">
                  <a:latin typeface="Courier New" panose="02070609020205020404"/>
                  <a:cs typeface="Courier New" panose="02070609020205020404"/>
                </a:rPr>
                <a:t>processing...</a:t>
              </a:r>
              <a:endParaRPr lang="en-US" sz="1600" dirty="0">
                <a:latin typeface="Courier New" panose="02070609020205020404"/>
                <a:cs typeface="Courier New" panose="02070609020205020404"/>
              </a:endParaRPr>
            </a:p>
            <a:p>
              <a:r>
                <a:rPr lang="en-US" sz="1600" dirty="0">
                  <a:latin typeface="Courier New" panose="02070609020205020404"/>
                  <a:cs typeface="Courier New" panose="02070609020205020404"/>
                </a:rPr>
                <a:t>restarting</a:t>
              </a:r>
              <a:endParaRPr lang="en-US" sz="1600" dirty="0">
                <a:latin typeface="Courier New" panose="02070609020205020404"/>
                <a:cs typeface="Courier New" panose="02070609020205020404"/>
              </a:endParaRPr>
            </a:p>
            <a:p>
              <a:r>
                <a:rPr lang="en-US" sz="1600" dirty="0">
                  <a:latin typeface="Courier New" panose="02070609020205020404"/>
                  <a:cs typeface="Courier New" panose="02070609020205020404"/>
                </a:rPr>
                <a:t>processing...</a:t>
              </a:r>
              <a:endParaRPr lang="en-US" sz="1600" dirty="0">
                <a:latin typeface="Courier New" panose="02070609020205020404"/>
                <a:cs typeface="Courier New" panose="02070609020205020404"/>
              </a:endParaRPr>
            </a:p>
            <a:p>
              <a:r>
                <a:rPr lang="en-US" sz="1600" dirty="0">
                  <a:latin typeface="Courier New" panose="02070609020205020404"/>
                  <a:cs typeface="Courier New" panose="02070609020205020404"/>
                </a:rPr>
                <a:t>processing...</a:t>
              </a:r>
              <a:endParaRPr lang="en-US" sz="1600" dirty="0">
                <a:latin typeface="Courier New" panose="02070609020205020404"/>
                <a:cs typeface="Courier New" panose="02070609020205020404"/>
              </a:endParaRPr>
            </a:p>
            <a:p>
              <a:r>
                <a:rPr lang="en-US" sz="1600" dirty="0">
                  <a:latin typeface="Courier New" panose="02070609020205020404"/>
                  <a:cs typeface="Courier New" panose="02070609020205020404"/>
                </a:rPr>
                <a:t>processing...</a:t>
              </a:r>
              <a:endParaRPr lang="en-US" sz="1600" dirty="0">
                <a:latin typeface="Courier New" panose="02070609020205020404"/>
                <a:cs typeface="Courier New" panose="02070609020205020404"/>
              </a:endParaRPr>
            </a:p>
          </p:txBody>
        </p:sp>
        <p:grpSp>
          <p:nvGrpSpPr>
            <p:cNvPr id="3" name="Group 12"/>
            <p:cNvGrpSpPr/>
            <p:nvPr/>
          </p:nvGrpSpPr>
          <p:grpSpPr bwMode="auto">
            <a:xfrm>
              <a:off x="4025897" y="3305181"/>
              <a:ext cx="1909763" cy="338138"/>
              <a:chOff x="3592" y="2439"/>
              <a:chExt cx="1203" cy="213"/>
            </a:xfrm>
          </p:grpSpPr>
          <p:sp>
            <p:nvSpPr>
              <p:cNvPr id="566278" name="Text Box 6"/>
              <p:cNvSpPr txBox="1">
                <a:spLocks noChangeArrowheads="1"/>
              </p:cNvSpPr>
              <p:nvPr/>
            </p:nvSpPr>
            <p:spPr bwMode="auto">
              <a:xfrm>
                <a:off x="4255" y="2439"/>
                <a:ext cx="540" cy="213"/>
              </a:xfrm>
              <a:prstGeom prst="rect">
                <a:avLst/>
              </a:prstGeom>
              <a:noFill/>
              <a:ln w="25400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Ctrl-c</a:t>
                </a:r>
                <a:endParaRPr lang="en-US" sz="16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566279" name="Line 7"/>
              <p:cNvSpPr>
                <a:spLocks noChangeShapeType="1"/>
              </p:cNvSpPr>
              <p:nvPr/>
            </p:nvSpPr>
            <p:spPr bwMode="auto">
              <a:xfrm>
                <a:off x="3592" y="2545"/>
                <a:ext cx="644" cy="0"/>
              </a:xfrm>
              <a:prstGeom prst="line">
                <a:avLst/>
              </a:prstGeom>
              <a:noFill/>
              <a:ln w="25400">
                <a:solidFill>
                  <a:srgbClr val="C00000"/>
                </a:solidFill>
                <a:round/>
                <a:head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600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566297" name="Line 25"/>
            <p:cNvSpPr>
              <a:spLocks noChangeShapeType="1"/>
            </p:cNvSpPr>
            <p:nvPr/>
          </p:nvSpPr>
          <p:spPr bwMode="auto">
            <a:xfrm>
              <a:off x="4026217" y="4240520"/>
              <a:ext cx="1051560" cy="635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 type="triangle" w="med" len="med"/>
            </a:ln>
            <a:effectLst/>
          </p:spPr>
          <p:txBody>
            <a:bodyPr wrap="none" anchor="ctr"/>
            <a:lstStyle/>
            <a:p>
              <a:endParaRPr lang="en-US" sz="1600" dirty="0">
                <a:solidFill>
                  <a:srgbClr val="C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66296" name="Text Box 24"/>
            <p:cNvSpPr txBox="1">
              <a:spLocks noChangeArrowheads="1"/>
            </p:cNvSpPr>
            <p:nvPr/>
          </p:nvSpPr>
          <p:spPr bwMode="auto">
            <a:xfrm>
              <a:off x="5077777" y="4071610"/>
              <a:ext cx="857250" cy="338554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Ctrl-c</a:t>
              </a:r>
              <a:endPara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76885" y="445135"/>
            <a:ext cx="11315065" cy="762000"/>
          </a:xfrm>
        </p:spPr>
        <p:txBody>
          <a:bodyPr/>
          <a:lstStyle/>
          <a:p>
            <a:pPr marL="0" indent="0"/>
            <a:r>
              <a:rPr lang="zh-CN" altLang="en-US" dirty="0">
                <a:sym typeface="+mn-ea"/>
              </a:rPr>
              <a:t>小结：一个在按下</a:t>
            </a:r>
            <a:r>
              <a:rPr lang="en-US" altLang="zh-CN" dirty="0">
                <a:latin typeface="Courier New" panose="02070609020205020404" charset="0"/>
                <a:cs typeface="Courier New" panose="02070609020205020404" charset="0"/>
                <a:sym typeface="+mn-ea"/>
              </a:rPr>
              <a:t> ctrl-c </a:t>
            </a:r>
            <a:r>
              <a:rPr lang="zh-CN" altLang="en-US" dirty="0">
                <a:sym typeface="+mn-ea"/>
              </a:rPr>
              <a:t>时自动重启的程序</a:t>
            </a:r>
            <a:endParaRPr lang="en-US" dirty="0"/>
          </a:p>
        </p:txBody>
      </p:sp>
      <p:sp>
        <p:nvSpPr>
          <p:cNvPr id="566275" name="Rectangle 3"/>
          <p:cNvSpPr>
            <a:spLocks noChangeArrowheads="1"/>
          </p:cNvSpPr>
          <p:nvPr/>
        </p:nvSpPr>
        <p:spPr bwMode="auto">
          <a:xfrm>
            <a:off x="2895600" y="1219200"/>
            <a:ext cx="6705600" cy="5262245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en-US" sz="1400" dirty="0" err="1">
                <a:solidFill>
                  <a:srgbClr val="9D206F"/>
                </a:solidFill>
                <a:latin typeface="Menlo-Regular" panose="020B0609030804020204"/>
              </a:rPr>
              <a:t>csapp.h</a:t>
            </a:r>
            <a:r>
              <a:rPr lang="en-US" sz="14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 err="1">
                <a:solidFill>
                  <a:srgbClr val="2D961E"/>
                </a:solidFill>
                <a:latin typeface="Menlo-Regular" panose="020B0609030804020204"/>
              </a:rPr>
              <a:t>sigjmp_buf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 err="1">
                <a:solidFill>
                  <a:srgbClr val="C1651C"/>
                </a:solidFill>
                <a:latin typeface="Menlo-Regular" panose="020B0609030804020204"/>
              </a:rPr>
              <a:t>buf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>
                <a:solidFill>
                  <a:srgbClr val="4A00FF"/>
                </a:solidFill>
                <a:latin typeface="Menlo-Regular" panose="020B0609030804020204"/>
              </a:rPr>
              <a:t>handler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4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>
                <a:solidFill>
                  <a:srgbClr val="C1651C"/>
                </a:solidFill>
                <a:latin typeface="Menlo-Regular" panose="020B0609030804020204"/>
              </a:rPr>
              <a:t>sig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 err="1">
                <a:solidFill>
                  <a:srgbClr val="00B050"/>
                </a:solidFill>
                <a:latin typeface="Menlo-Regular" panose="020B0609030804020204"/>
              </a:rPr>
              <a:t>siglongjmp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buf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, 1);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>
                <a:solidFill>
                  <a:srgbClr val="4A00FF"/>
                </a:solidFill>
                <a:latin typeface="Menlo-Regular" panose="020B0609030804020204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()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(!</a:t>
            </a:r>
            <a:r>
              <a:rPr lang="en-US" sz="1400" dirty="0" err="1">
                <a:solidFill>
                  <a:srgbClr val="00B050"/>
                </a:solidFill>
                <a:latin typeface="Menlo-Regular" panose="020B0609030804020204"/>
              </a:rPr>
              <a:t>sigsetjmp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buf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, 1)) {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    Signal(SIGINT, handler);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	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Sio_puts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400" dirty="0">
                <a:solidFill>
                  <a:srgbClr val="9D206F"/>
                </a:solidFill>
                <a:latin typeface="Menlo-Regular" panose="020B0609030804020204"/>
              </a:rPr>
              <a:t>"starting\n"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hu-HU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hu-HU" sz="1400" dirty="0">
                <a:solidFill>
                  <a:srgbClr val="C200FF"/>
                </a:solidFill>
                <a:latin typeface="Menlo-Regular" panose="020B0609030804020204"/>
              </a:rPr>
              <a:t>else</a:t>
            </a:r>
            <a:endParaRPr lang="hu-HU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Sio_puts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400" dirty="0">
                <a:solidFill>
                  <a:srgbClr val="9D206F"/>
                </a:solidFill>
                <a:latin typeface="Menlo-Regular" panose="020B0609030804020204"/>
              </a:rPr>
              <a:t>"restarting\n"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>
                <a:solidFill>
                  <a:srgbClr val="C200FF"/>
                </a:solidFill>
                <a:latin typeface="Menlo-Regular" panose="020B0609030804020204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(1) {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	Sleep(1);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	</a:t>
            </a:r>
            <a:r>
              <a:rPr lang="nl-NL" sz="1400" dirty="0" err="1">
                <a:solidFill>
                  <a:srgbClr val="000000"/>
                </a:solidFill>
                <a:latin typeface="Menlo-Regular" panose="020B0609030804020204"/>
              </a:rPr>
              <a:t>Sio_puts</a:t>
            </a:r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nl-NL" sz="1400" dirty="0">
                <a:solidFill>
                  <a:srgbClr val="9D206F"/>
                </a:solidFill>
                <a:latin typeface="Menlo-Regular" panose="020B0609030804020204"/>
              </a:rPr>
              <a:t>"processing...\n"</a:t>
            </a:r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   exit(0); </a:t>
            </a:r>
            <a:r>
              <a:rPr lang="nl-NL" sz="1400" dirty="0">
                <a:solidFill>
                  <a:srgbClr val="CB2418"/>
                </a:solidFill>
                <a:latin typeface="Menlo-Regular" panose="020B0609030804020204"/>
              </a:rPr>
              <a:t>/* Control never </a:t>
            </a:r>
            <a:r>
              <a:rPr lang="nl-NL" sz="1400" dirty="0" err="1">
                <a:solidFill>
                  <a:srgbClr val="CB2418"/>
                </a:solidFill>
                <a:latin typeface="Menlo-Regular" panose="020B0609030804020204"/>
              </a:rPr>
              <a:t>reaches</a:t>
            </a:r>
            <a:r>
              <a:rPr lang="nl-NL" sz="1400" dirty="0">
                <a:solidFill>
                  <a:srgbClr val="CB2418"/>
                </a:solidFill>
                <a:latin typeface="Menlo-Regular" panose="020B0609030804020204"/>
              </a:rPr>
              <a:t> </a:t>
            </a:r>
            <a:r>
              <a:rPr lang="nl-NL" sz="1400" dirty="0" err="1">
                <a:solidFill>
                  <a:srgbClr val="CB2418"/>
                </a:solidFill>
                <a:latin typeface="Menlo-Regular" panose="020B0609030804020204"/>
              </a:rPr>
              <a:t>here</a:t>
            </a:r>
            <a:r>
              <a:rPr lang="nl-NL" sz="140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29650" y="6096238"/>
            <a:ext cx="9715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anose="020F0502020204030204" pitchFamily="34" charset="0"/>
              </a:rPr>
              <a:t>restart.c</a:t>
            </a:r>
            <a:endParaRPr lang="en-US" sz="1800" dirty="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非局部跳转的典型应用</a:t>
            </a:r>
            <a:r>
              <a:rPr lang="zh-CN" altLang="en-US"/>
              <a:t>场景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解决普通</a:t>
            </a:r>
            <a:r>
              <a:rPr lang="en-US" altLang="en-US">
                <a:sym typeface="+mn-ea"/>
              </a:rPr>
              <a:t>goto</a:t>
            </a:r>
            <a:r>
              <a:rPr lang="zh-CN" altLang="en-US">
                <a:sym typeface="+mn-ea"/>
              </a:rPr>
              <a:t>无法跨函数的</a:t>
            </a:r>
            <a:r>
              <a:rPr lang="en-US" altLang="en-US">
                <a:sym typeface="+mn-ea"/>
              </a:rPr>
              <a:t>“</a:t>
            </a:r>
            <a:r>
              <a:rPr lang="zh-CN" altLang="en-US">
                <a:sym typeface="+mn-ea"/>
              </a:rPr>
              <a:t>非局部跳转</a:t>
            </a:r>
            <a:r>
              <a:rPr lang="en-US" altLang="en-US">
                <a:sym typeface="+mn-ea"/>
              </a:rPr>
              <a:t>”</a:t>
            </a:r>
            <a:r>
              <a:rPr lang="zh-CN" altLang="en-US">
                <a:sym typeface="+mn-ea"/>
              </a:rPr>
              <a:t>问题</a:t>
            </a:r>
            <a:endParaRPr lang="zh-CN" altLang="en-US"/>
          </a:p>
          <a:p>
            <a:pPr lvl="1"/>
            <a:r>
              <a:rPr lang="zh-CN" altLang="en-US" b="1"/>
              <a:t>深层嵌套的错误处理</a:t>
            </a:r>
            <a:r>
              <a:rPr lang="zh-CN" altLang="en-US"/>
              <a:t>：这是最常见的用途。当程序在多层函数调用（如解析器、图形库）的深处发生致命错误时，</a:t>
            </a:r>
            <a:r>
              <a:rPr lang="en-US" altLang="en-US"/>
              <a:t>longjmp</a:t>
            </a:r>
            <a:r>
              <a:rPr lang="zh-CN" altLang="en-US"/>
              <a:t>可以直接跳回顶层的</a:t>
            </a:r>
            <a:r>
              <a:rPr lang="en-US" altLang="en-US"/>
              <a:t>setjmp</a:t>
            </a:r>
            <a:r>
              <a:rPr lang="zh-CN" altLang="en-US"/>
              <a:t>位置，避免了逐层返回并判断错误码的繁琐过程。著名的</a:t>
            </a:r>
            <a:r>
              <a:rPr lang="en-US" altLang="en-US"/>
              <a:t>libpng</a:t>
            </a:r>
            <a:r>
              <a:rPr lang="zh-CN" altLang="en-US"/>
              <a:t>库在处理图像文件时就使用了这一机制。</a:t>
            </a:r>
            <a:endParaRPr lang="en-US" altLang="en-US"/>
          </a:p>
          <a:p>
            <a:pPr lvl="1"/>
            <a:r>
              <a:rPr lang="zh-CN" altLang="en-US" b="1"/>
              <a:t>模拟异常处理机制</a:t>
            </a:r>
            <a:r>
              <a:rPr lang="zh-CN" altLang="en-US"/>
              <a:t>：在原生不支持</a:t>
            </a:r>
            <a:r>
              <a:rPr lang="en-US" altLang="en-US"/>
              <a:t>try-catch</a:t>
            </a:r>
            <a:r>
              <a:rPr lang="zh-CN" altLang="en-US"/>
              <a:t>的</a:t>
            </a:r>
            <a:r>
              <a:rPr lang="en-US" altLang="en-US"/>
              <a:t>C</a:t>
            </a:r>
            <a:r>
              <a:rPr lang="zh-CN" altLang="en-US"/>
              <a:t>语言中，可以用它们模拟类似的行为。</a:t>
            </a:r>
            <a:r>
              <a:rPr lang="en-US" altLang="en-US"/>
              <a:t>setjmp</a:t>
            </a:r>
            <a:r>
              <a:rPr lang="zh-CN" altLang="en-US"/>
              <a:t>的位置相当于</a:t>
            </a:r>
            <a:r>
              <a:rPr lang="en-US" altLang="en-US"/>
              <a:t>try</a:t>
            </a:r>
            <a:r>
              <a:rPr lang="zh-CN" altLang="en-US"/>
              <a:t>块，而</a:t>
            </a:r>
            <a:r>
              <a:rPr lang="en-US" altLang="en-US"/>
              <a:t>longjmp</a:t>
            </a:r>
            <a:r>
              <a:rPr lang="zh-CN" altLang="en-US"/>
              <a:t>则相当于</a:t>
            </a:r>
            <a:r>
              <a:rPr lang="en-US" altLang="en-US"/>
              <a:t>throw</a:t>
            </a:r>
            <a:r>
              <a:rPr lang="zh-CN" altLang="en-US"/>
              <a:t>，能直接抛出一个非零的</a:t>
            </a:r>
            <a:r>
              <a:rPr lang="en-US" altLang="en-US"/>
              <a:t>“</a:t>
            </a:r>
            <a:r>
              <a:rPr lang="zh-CN" altLang="en-US"/>
              <a:t>异常值</a:t>
            </a:r>
            <a:r>
              <a:rPr lang="en-US" altLang="en-US"/>
              <a:t>”</a:t>
            </a:r>
            <a:r>
              <a:rPr lang="zh-CN" altLang="en-US"/>
              <a:t>。</a:t>
            </a:r>
            <a:endParaRPr lang="en-US" altLang="en-US"/>
          </a:p>
          <a:p>
            <a:pPr lvl="1"/>
            <a:r>
              <a:rPr lang="zh-CN" altLang="en-US" b="1"/>
              <a:t>信号处理中的特殊跳转</a:t>
            </a:r>
            <a:r>
              <a:rPr lang="zh-CN" altLang="en-US"/>
              <a:t>：在捕获到如</a:t>
            </a:r>
            <a:r>
              <a:rPr lang="en-US" altLang="en-US"/>
              <a:t>“</a:t>
            </a:r>
            <a:r>
              <a:rPr lang="zh-CN" altLang="en-US"/>
              <a:t>段错误</a:t>
            </a:r>
            <a:r>
              <a:rPr lang="en-US" altLang="en-US"/>
              <a:t>”</a:t>
            </a:r>
            <a:r>
              <a:rPr lang="zh-CN" altLang="en-US"/>
              <a:t>等致命信号后，信号处理函数无法直接返回原位置。此时可以借助</a:t>
            </a:r>
            <a:r>
              <a:rPr lang="en-US" altLang="en-US"/>
              <a:t>sigsetjmp</a:t>
            </a:r>
            <a:r>
              <a:rPr lang="zh-CN" altLang="en-US"/>
              <a:t>和</a:t>
            </a:r>
            <a:r>
              <a:rPr lang="en-US" altLang="en-US"/>
              <a:t>siglongjmp</a:t>
            </a:r>
            <a:r>
              <a:rPr lang="zh-CN" altLang="en-US"/>
              <a:t>（能安全处理信号掩码的版本），跳转到程序的安全恢复点，而不是让程序直接崩溃。</a:t>
            </a:r>
            <a:endParaRPr lang="en-US" altLang="en-US"/>
          </a:p>
          <a:p>
            <a:pPr lvl="1"/>
            <a:r>
              <a:rPr lang="zh-CN" altLang="en-US" b="1">
                <a:solidFill>
                  <a:srgbClr val="FF0000"/>
                </a:solidFill>
              </a:rPr>
              <a:t>实现轻量级协程</a:t>
            </a:r>
            <a:r>
              <a:rPr lang="zh-CN" altLang="en-US"/>
              <a:t>：由于</a:t>
            </a:r>
            <a:r>
              <a:rPr lang="en-US" altLang="en-US"/>
              <a:t>setjmp</a:t>
            </a:r>
            <a:r>
              <a:rPr lang="zh-CN" altLang="en-US"/>
              <a:t>能保存和恢复</a:t>
            </a:r>
            <a:r>
              <a:rPr lang="en-US" altLang="en-US"/>
              <a:t>CPU</a:t>
            </a:r>
            <a:r>
              <a:rPr lang="zh-CN" altLang="en-US"/>
              <a:t>的上下文（如栈指针、程序计数器），它常被用作实现用户态协程切换的底层基础</a:t>
            </a:r>
            <a:endParaRPr lang="zh-CN" altLang="en-US"/>
          </a:p>
          <a:p>
            <a:pPr lvl="0"/>
            <a:r>
              <a:rPr lang="zh-CN" altLang="en-US"/>
              <a:t>缺点</a:t>
            </a:r>
            <a:endParaRPr lang="zh-CN" altLang="en-US"/>
          </a:p>
          <a:p>
            <a:pPr lvl="1"/>
            <a:r>
              <a:rPr lang="zh-CN" altLang="en-US"/>
              <a:t>极度容易出错</a:t>
            </a:r>
            <a:r>
              <a:rPr lang="en-US" altLang="zh-CN"/>
              <a:t>、</a:t>
            </a:r>
            <a:r>
              <a:rPr lang="zh-CN" altLang="en-US"/>
              <a:t>可读性</a:t>
            </a:r>
            <a:r>
              <a:rPr lang="zh-CN" altLang="en-US"/>
              <a:t>极差</a:t>
            </a:r>
            <a:endParaRPr lang="zh-CN" altLang="en-US"/>
          </a:p>
        </p:txBody>
      </p:sp>
      <p:sp>
        <p:nvSpPr>
          <p:cNvPr id="6" name="Cloud Callout 5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扩展</a:t>
            </a:r>
            <a:r>
              <a:rPr lang="en-US" altLang="zh-CN"/>
              <a:t>：C++</a:t>
            </a:r>
            <a:r>
              <a:rPr lang="zh-CN" altLang="en-US"/>
              <a:t>中的异常</a:t>
            </a:r>
            <a:r>
              <a:rPr lang="zh-CN" altLang="en-US"/>
              <a:t>处理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throw</a:t>
            </a:r>
            <a:endParaRPr lang="en-US" altLang="zh-CN"/>
          </a:p>
          <a:p>
            <a:r>
              <a:rPr lang="en-US" altLang="zh-CN"/>
              <a:t>try ... catch ...</a:t>
            </a:r>
            <a:endParaRPr lang="en-US" altLang="zh-CN"/>
          </a:p>
        </p:txBody>
      </p:sp>
      <p:sp>
        <p:nvSpPr>
          <p:cNvPr id="6" name="Cloud Callout 5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5730240" y="2058035"/>
            <a:ext cx="623125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800" b="0" i="0">
                <a:latin typeface="Microsoft YaHei" charset="0"/>
                <a:ea typeface="Microsoft YaHei" charset="0"/>
                <a:cs typeface="Microsoft YaHei" charset="0"/>
              </a:rPr>
              <a:t>异常会从内层</a:t>
            </a:r>
            <a:r>
              <a:rPr lang="en-US" altLang="zh-CN" sz="1800" b="0" i="0">
                <a:latin typeface="Microsoft YaHei" charset="0"/>
                <a:ea typeface="Microsoft YaHei" charset="0"/>
                <a:cs typeface="Microsoft YaHei" charset="0"/>
              </a:rPr>
              <a:t>try-catch</a:t>
            </a:r>
            <a:r>
              <a:rPr lang="zh-CN" altLang="en-US" sz="1800" b="0" i="0">
                <a:latin typeface="Microsoft YaHei" charset="0"/>
                <a:ea typeface="Microsoft YaHei" charset="0"/>
                <a:cs typeface="Microsoft YaHei" charset="0"/>
              </a:rPr>
              <a:t>向外层传播，直到找到匹配的</a:t>
            </a:r>
            <a:r>
              <a:rPr lang="en-US" altLang="zh-CN" sz="1800" b="0" i="0">
                <a:latin typeface="Microsoft YaHei" charset="0"/>
                <a:ea typeface="Microsoft YaHei" charset="0"/>
                <a:cs typeface="Microsoft YaHei" charset="0"/>
              </a:rPr>
              <a:t>catch</a:t>
            </a:r>
            <a:r>
              <a:rPr lang="zh-CN" altLang="en-US" sz="1800" b="0" i="0">
                <a:latin typeface="Microsoft YaHei" charset="0"/>
                <a:ea typeface="Microsoft YaHei" charset="0"/>
                <a:cs typeface="Microsoft YaHei" charset="0"/>
              </a:rPr>
              <a:t>块。如果没有匹配的</a:t>
            </a:r>
            <a:r>
              <a:rPr lang="en-US" altLang="zh-CN" sz="1800" b="0" i="0">
                <a:latin typeface="Microsoft YaHei" charset="0"/>
                <a:ea typeface="Microsoft YaHei" charset="0"/>
                <a:cs typeface="Microsoft YaHei" charset="0"/>
              </a:rPr>
              <a:t>catch</a:t>
            </a:r>
            <a:r>
              <a:rPr lang="zh-CN" altLang="en-US" sz="1800" b="0" i="0">
                <a:latin typeface="Microsoft YaHei" charset="0"/>
                <a:ea typeface="Microsoft YaHei" charset="0"/>
                <a:cs typeface="Microsoft YaHei" charset="0"/>
              </a:rPr>
              <a:t>块，程序会终止</a:t>
            </a:r>
            <a:endParaRPr lang="zh-CN" altLang="en-US" sz="1800" b="0" i="0"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l"/>
            <a:endParaRPr lang="zh-CN" altLang="en-US" sz="1800" b="0" i="0">
              <a:solidFill>
                <a:srgbClr val="FF0000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l"/>
            <a:r>
              <a:rPr lang="zh-CN" altLang="en-US" sz="1800" b="0" i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异常被捕获后不会返回异常发生点：一旦异常被</a:t>
            </a:r>
            <a:r>
              <a:rPr lang="en-US" altLang="zh-CN" sz="1800" b="0" i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catch</a:t>
            </a:r>
            <a:r>
              <a:rPr lang="zh-CN" altLang="en-US" sz="1800" b="0" i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块捕获，</a:t>
            </a:r>
            <a:r>
              <a:rPr lang="en-US" altLang="zh-CN" sz="1800" b="0" i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try</a:t>
            </a:r>
            <a:r>
              <a:rPr lang="zh-CN" altLang="en-US" sz="1800" b="0" i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块中异常发生点之后的代码不会继续执行。</a:t>
            </a:r>
            <a:endParaRPr lang="zh-CN" altLang="en-US" sz="1800" b="0" i="0">
              <a:solidFill>
                <a:srgbClr val="FF0000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l"/>
            <a:r>
              <a:rPr lang="zh-CN" altLang="en-US" sz="1800" b="0" i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控制流从</a:t>
            </a:r>
            <a:r>
              <a:rPr lang="en-US" altLang="zh-CN" sz="1800" b="0" i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catch</a:t>
            </a:r>
            <a:r>
              <a:rPr lang="zh-CN" altLang="en-US" sz="1800" b="0" i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块继续：</a:t>
            </a:r>
            <a:r>
              <a:rPr lang="en-US" altLang="zh-CN" sz="1800" b="0" i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catch</a:t>
            </a:r>
            <a:r>
              <a:rPr lang="zh-CN" altLang="en-US" sz="1800" b="0" i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块执行完成后，控制流会继续执行</a:t>
            </a:r>
            <a:r>
              <a:rPr lang="en-US" altLang="zh-CN" sz="1800" b="0" i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catch</a:t>
            </a:r>
            <a:r>
              <a:rPr lang="zh-CN" altLang="en-US" sz="1800" b="0" i="0">
                <a:solidFill>
                  <a:srgbClr val="FF0000"/>
                </a:solidFill>
                <a:latin typeface="Microsoft YaHei" charset="0"/>
                <a:ea typeface="Microsoft YaHei" charset="0"/>
                <a:cs typeface="Microsoft YaHei" charset="0"/>
              </a:rPr>
              <a:t>块之后的代码，而不是返回到异常发生的位置。</a:t>
            </a:r>
            <a:endParaRPr lang="zh-CN" altLang="en-US" sz="1800" b="0" i="0">
              <a:solidFill>
                <a:srgbClr val="FF0000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0" indent="0" algn="l"/>
            <a:endParaRPr lang="zh-CN" altLang="en-US" sz="1800" b="0" i="0">
              <a:solidFill>
                <a:srgbClr val="FF0000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2" name="文本框 3"/>
          <p:cNvSpPr txBox="1"/>
          <p:nvPr/>
        </p:nvSpPr>
        <p:spPr>
          <a:xfrm>
            <a:off x="304800" y="304800"/>
            <a:ext cx="8530590" cy="6739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 dirty="0" smtClean="0">
                <a:latin typeface="Calibri" panose="020F0502020204030204" pitchFamily="34" charset="0"/>
              </a:rPr>
              <a:t>void innerFunction()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try </a:t>
            </a:r>
            <a:r>
              <a:rPr lang="en-US" altLang="zh-CN" sz="1800" dirty="0" smtClean="0">
                <a:latin typeface="Calibri" panose="020F0502020204030204" pitchFamily="34" charset="0"/>
              </a:rPr>
              <a:t>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std::cout &lt;&lt; "</a:t>
            </a:r>
            <a:r>
              <a:rPr lang="en-US" altLang="zh-CN" sz="1800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Inner try block</a:t>
            </a:r>
            <a:r>
              <a:rPr lang="en-US" altLang="zh-CN" sz="1800" dirty="0" smtClean="0">
                <a:latin typeface="Calibri" panose="020F0502020204030204" pitchFamily="34" charset="0"/>
              </a:rPr>
              <a:t>"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throw std::runtime_error("Inner exception");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catch </a:t>
            </a:r>
            <a:r>
              <a:rPr lang="en-US" altLang="zh-CN" sz="1800" dirty="0" smtClean="0">
                <a:latin typeface="Calibri" panose="020F0502020204030204" pitchFamily="34" charset="0"/>
              </a:rPr>
              <a:t>(std::runtime_error&amp; e)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std::cout &lt;&lt; "  </a:t>
            </a:r>
            <a:r>
              <a:rPr lang="en-US" altLang="zh-CN" sz="18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Inner catch block</a:t>
            </a:r>
            <a:r>
              <a:rPr lang="en-US" altLang="zh-CN" sz="1800" dirty="0" smtClean="0">
                <a:latin typeface="Calibri" panose="020F0502020204030204" pitchFamily="34" charset="0"/>
              </a:rPr>
              <a:t>: " &lt;&lt; e.what()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throw</a:t>
            </a:r>
            <a:r>
              <a:rPr lang="en-US" altLang="zh-CN" sz="1800" dirty="0" smtClean="0">
                <a:latin typeface="Calibri" panose="020F0502020204030204" pitchFamily="34" charset="0"/>
              </a:rPr>
              <a:t>; // </a:t>
            </a:r>
            <a:r>
              <a:rPr lang="zh-CN" altLang="en-US" sz="1800" dirty="0" smtClean="0">
                <a:latin typeface="Calibri" panose="020F0502020204030204" pitchFamily="34" charset="0"/>
              </a:rPr>
              <a:t>重新抛出异常给</a:t>
            </a:r>
            <a:r>
              <a:rPr lang="en-US" altLang="zh-CN" sz="1800" dirty="0" smtClean="0">
                <a:latin typeface="Calibri" panose="020F0502020204030204" pitchFamily="34" charset="0"/>
              </a:rPr>
              <a:t>outer</a:t>
            </a:r>
            <a:r>
              <a:rPr lang="zh-CN" altLang="en-US" sz="1800" dirty="0" smtClean="0">
                <a:latin typeface="Calibri" panose="020F0502020204030204" pitchFamily="34" charset="0"/>
              </a:rPr>
              <a:t>函数来捕获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void outerFunction()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try </a:t>
            </a:r>
            <a:r>
              <a:rPr lang="en-US" altLang="zh-CN" sz="1800" dirty="0" smtClean="0">
                <a:latin typeface="Calibri" panose="020F0502020204030204" pitchFamily="34" charset="0"/>
              </a:rPr>
              <a:t>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std::cout &lt;&lt; "</a:t>
            </a:r>
            <a:r>
              <a:rPr lang="en-US" altLang="zh-CN" sz="1800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Outer try block</a:t>
            </a:r>
            <a:r>
              <a:rPr lang="en-US" altLang="zh-CN" sz="1800" dirty="0" smtClean="0">
                <a:latin typeface="Calibri" panose="020F0502020204030204" pitchFamily="34" charset="0"/>
              </a:rPr>
              <a:t>"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innerFunction();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catch </a:t>
            </a:r>
            <a:r>
              <a:rPr lang="en-US" altLang="zh-CN" sz="1800" dirty="0" smtClean="0">
                <a:latin typeface="Calibri" panose="020F0502020204030204" pitchFamily="34" charset="0"/>
              </a:rPr>
              <a:t>(std::exception&amp; e)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std::cout &lt;&lt; "  </a:t>
            </a:r>
            <a:r>
              <a:rPr lang="en-US" altLang="zh-CN" sz="18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Outer catch block</a:t>
            </a:r>
            <a:r>
              <a:rPr lang="en-US" altLang="zh-CN" sz="1800" dirty="0" smtClean="0">
                <a:latin typeface="Calibri" panose="020F0502020204030204" pitchFamily="34" charset="0"/>
              </a:rPr>
              <a:t>: " &lt;&lt; e.what()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int main()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std::cout &lt;&lt; "</a:t>
            </a:r>
            <a:r>
              <a:rPr lang="en-US" altLang="zh-CN" sz="1800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Main function</a:t>
            </a:r>
            <a:r>
              <a:rPr lang="en-US" altLang="zh-CN" sz="1800" dirty="0" smtClean="0">
                <a:latin typeface="Calibri" panose="020F0502020204030204" pitchFamily="34" charset="0"/>
              </a:rPr>
              <a:t>"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outerFunction();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std::cout &lt;&lt; "  </a:t>
            </a:r>
            <a:r>
              <a:rPr lang="en-US" altLang="zh-CN" sz="18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Program continues after exception handling</a:t>
            </a:r>
            <a:r>
              <a:rPr lang="en-US" altLang="zh-CN" sz="1800" dirty="0" smtClean="0">
                <a:latin typeface="Calibri" panose="020F0502020204030204" pitchFamily="34" charset="0"/>
              </a:rPr>
              <a:t>"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return 0;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endParaRPr lang="en-US" altLang="zh-CN" sz="1800" dirty="0" smtClean="0">
              <a:latin typeface="Calibri" panose="020F0502020204030204" pitchFamily="34" charset="0"/>
            </a:endParaRPr>
          </a:p>
        </p:txBody>
      </p:sp>
      <p:sp>
        <p:nvSpPr>
          <p:cNvPr id="6" name="Cloud Callout 5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5943600" y="2438400"/>
            <a:ext cx="5321935" cy="149479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 anchor="t">
            <a:noAutofit/>
          </a:bodyPr>
          <a:p>
            <a:r>
              <a:rPr lang="en-US" altLang="zh-CN" sz="1600" dirty="0" smtClean="0">
                <a:latin typeface="Calibri" panose="020F0502020204030204" pitchFamily="34" charset="0"/>
              </a:rPr>
              <a:t>Main function</a:t>
            </a:r>
            <a:endParaRPr lang="en-US" altLang="zh-CN" sz="1600" dirty="0" smtClean="0">
              <a:latin typeface="Calibri" panose="020F0502020204030204" pitchFamily="34" charset="0"/>
            </a:endParaRPr>
          </a:p>
          <a:p>
            <a:r>
              <a:rPr lang="en-US" altLang="zh-CN" sz="1600" dirty="0" smtClean="0">
                <a:latin typeface="Calibri" panose="020F0502020204030204" pitchFamily="34" charset="0"/>
              </a:rPr>
              <a:t>Outer try block</a:t>
            </a:r>
            <a:endParaRPr lang="en-US" altLang="zh-CN" sz="1600" dirty="0" smtClean="0">
              <a:latin typeface="Calibri" panose="020F0502020204030204" pitchFamily="34" charset="0"/>
            </a:endParaRPr>
          </a:p>
          <a:p>
            <a:r>
              <a:rPr lang="en-US" altLang="zh-CN" sz="1600" dirty="0" smtClean="0">
                <a:latin typeface="Calibri" panose="020F0502020204030204" pitchFamily="34" charset="0"/>
              </a:rPr>
              <a:t>Inner try block</a:t>
            </a:r>
            <a:endParaRPr lang="en-US" altLang="zh-CN" sz="1600" dirty="0" smtClean="0">
              <a:latin typeface="Calibri" panose="020F0502020204030204" pitchFamily="34" charset="0"/>
            </a:endParaRPr>
          </a:p>
          <a:p>
            <a:r>
              <a:rPr lang="en-US" altLang="zh-CN" sz="1600" dirty="0" smtClean="0">
                <a:latin typeface="Calibri" panose="020F0502020204030204" pitchFamily="34" charset="0"/>
              </a:rPr>
              <a:t>    Inner catch block: Inner exception</a:t>
            </a:r>
            <a:endParaRPr lang="en-US" altLang="zh-CN" sz="1600" dirty="0" smtClean="0">
              <a:latin typeface="Calibri" panose="020F0502020204030204" pitchFamily="34" charset="0"/>
            </a:endParaRPr>
          </a:p>
          <a:p>
            <a:r>
              <a:rPr lang="en-US" altLang="zh-CN" sz="1600" dirty="0" smtClean="0">
                <a:latin typeface="Calibri" panose="020F0502020204030204" pitchFamily="34" charset="0"/>
              </a:rPr>
              <a:t>    Outer catch block: Inner exception</a:t>
            </a:r>
            <a:endParaRPr lang="en-US" altLang="zh-CN" sz="1600" dirty="0" smtClean="0">
              <a:latin typeface="Calibri" panose="020F0502020204030204" pitchFamily="34" charset="0"/>
            </a:endParaRPr>
          </a:p>
          <a:p>
            <a:r>
              <a:rPr lang="en-US" altLang="zh-CN" sz="1600" dirty="0" smtClean="0">
                <a:latin typeface="Calibri" panose="020F0502020204030204" pitchFamily="34" charset="0"/>
              </a:rPr>
              <a:t>    Program continues after exception handling</a:t>
            </a:r>
            <a:endParaRPr lang="zh-CN" altLang="en-US" sz="1600" dirty="0" smtClean="0">
              <a:latin typeface="Calibri" panose="020F0502020204030204" pitchFamily="34" charset="0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304800" y="304800"/>
            <a:ext cx="8530590" cy="6739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 dirty="0" smtClean="0">
                <a:latin typeface="Calibri" panose="020F0502020204030204" pitchFamily="34" charset="0"/>
              </a:rPr>
              <a:t>void innerFunction()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try </a:t>
            </a:r>
            <a:r>
              <a:rPr lang="en-US" altLang="zh-CN" sz="1800" dirty="0" smtClean="0">
                <a:latin typeface="Calibri" panose="020F0502020204030204" pitchFamily="34" charset="0"/>
              </a:rPr>
              <a:t>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std::cout &lt;&lt; "</a:t>
            </a:r>
            <a:r>
              <a:rPr lang="en-US" altLang="zh-CN" sz="1800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Inner try block</a:t>
            </a:r>
            <a:r>
              <a:rPr lang="en-US" altLang="zh-CN" sz="1800" dirty="0" smtClean="0">
                <a:latin typeface="Calibri" panose="020F0502020204030204" pitchFamily="34" charset="0"/>
              </a:rPr>
              <a:t>"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throw std::runtime_error("Inner exception");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catch </a:t>
            </a:r>
            <a:r>
              <a:rPr lang="en-US" altLang="zh-CN" sz="1800" dirty="0" smtClean="0">
                <a:latin typeface="Calibri" panose="020F0502020204030204" pitchFamily="34" charset="0"/>
              </a:rPr>
              <a:t>(std::runtime_error&amp; e)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std::cout &lt;&lt; "  </a:t>
            </a:r>
            <a:r>
              <a:rPr lang="en-US" altLang="zh-CN" sz="18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Inner catch block</a:t>
            </a:r>
            <a:r>
              <a:rPr lang="en-US" altLang="zh-CN" sz="1800" dirty="0" smtClean="0">
                <a:latin typeface="Calibri" panose="020F0502020204030204" pitchFamily="34" charset="0"/>
              </a:rPr>
              <a:t>: " &lt;&lt; e.what()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throw</a:t>
            </a:r>
            <a:r>
              <a:rPr lang="en-US" altLang="zh-CN" sz="1800" dirty="0" smtClean="0">
                <a:latin typeface="Calibri" panose="020F0502020204030204" pitchFamily="34" charset="0"/>
              </a:rPr>
              <a:t>; // </a:t>
            </a:r>
            <a:r>
              <a:rPr lang="zh-CN" altLang="en-US" sz="1800" dirty="0" smtClean="0">
                <a:latin typeface="Calibri" panose="020F0502020204030204" pitchFamily="34" charset="0"/>
              </a:rPr>
              <a:t>重新抛出异常给</a:t>
            </a:r>
            <a:r>
              <a:rPr lang="en-US" altLang="zh-CN" sz="1800" dirty="0" smtClean="0">
                <a:latin typeface="Calibri" panose="020F0502020204030204" pitchFamily="34" charset="0"/>
              </a:rPr>
              <a:t>outer</a:t>
            </a:r>
            <a:r>
              <a:rPr lang="zh-CN" altLang="en-US" sz="1800" dirty="0" smtClean="0">
                <a:latin typeface="Calibri" panose="020F0502020204030204" pitchFamily="34" charset="0"/>
              </a:rPr>
              <a:t>函数来捕获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void outerFunction()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try </a:t>
            </a:r>
            <a:r>
              <a:rPr lang="en-US" altLang="zh-CN" sz="1800" dirty="0" smtClean="0">
                <a:latin typeface="Calibri" panose="020F0502020204030204" pitchFamily="34" charset="0"/>
              </a:rPr>
              <a:t>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std::cout &lt;&lt; "</a:t>
            </a:r>
            <a:r>
              <a:rPr lang="en-US" altLang="zh-CN" sz="1800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Outer try block</a:t>
            </a:r>
            <a:r>
              <a:rPr lang="en-US" altLang="zh-CN" sz="1800" dirty="0" smtClean="0">
                <a:latin typeface="Calibri" panose="020F0502020204030204" pitchFamily="34" charset="0"/>
              </a:rPr>
              <a:t>"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innerFunction();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catch </a:t>
            </a:r>
            <a:r>
              <a:rPr lang="en-US" altLang="zh-CN" sz="1800" dirty="0" smtClean="0">
                <a:latin typeface="Calibri" panose="020F0502020204030204" pitchFamily="34" charset="0"/>
              </a:rPr>
              <a:t>(std::exception&amp; e)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std::cout &lt;&lt; "  </a:t>
            </a:r>
            <a:r>
              <a:rPr lang="en-US" altLang="zh-CN" sz="18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Outer catch block</a:t>
            </a:r>
            <a:r>
              <a:rPr lang="en-US" altLang="zh-CN" sz="1800" dirty="0" smtClean="0">
                <a:latin typeface="Calibri" panose="020F0502020204030204" pitchFamily="34" charset="0"/>
              </a:rPr>
              <a:t>: " &lt;&lt; e.what()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int main()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std::cout &lt;&lt; "</a:t>
            </a:r>
            <a:r>
              <a:rPr lang="en-US" altLang="zh-CN" sz="1800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Main function</a:t>
            </a:r>
            <a:r>
              <a:rPr lang="en-US" altLang="zh-CN" sz="1800" dirty="0" smtClean="0">
                <a:latin typeface="Calibri" panose="020F0502020204030204" pitchFamily="34" charset="0"/>
              </a:rPr>
              <a:t>"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outerFunction();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std::cout &lt;&lt; "  </a:t>
            </a:r>
            <a:r>
              <a:rPr lang="en-US" altLang="zh-CN" sz="18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Program continues after exception handling</a:t>
            </a:r>
            <a:r>
              <a:rPr lang="en-US" altLang="zh-CN" sz="1800" dirty="0" smtClean="0">
                <a:latin typeface="Calibri" panose="020F0502020204030204" pitchFamily="34" charset="0"/>
              </a:rPr>
              <a:t>"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return 0;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endParaRPr lang="en-US" altLang="zh-CN" sz="1800" dirty="0" smtClean="0">
              <a:latin typeface="Calibri" panose="020F0502020204030204" pitchFamily="34" charset="0"/>
            </a:endParaRPr>
          </a:p>
        </p:txBody>
      </p:sp>
      <p:sp>
        <p:nvSpPr>
          <p:cNvPr id="6" name="Cloud Callout 5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6248400" y="4419600"/>
            <a:ext cx="5321935" cy="149479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 anchor="t">
            <a:noAutofit/>
          </a:bodyPr>
          <a:p>
            <a:r>
              <a:rPr lang="en-US" altLang="zh-CN" sz="1600" dirty="0" smtClean="0">
                <a:latin typeface="Calibri" panose="020F0502020204030204" pitchFamily="34" charset="0"/>
              </a:rPr>
              <a:t>Main function</a:t>
            </a:r>
            <a:endParaRPr lang="en-US" altLang="zh-CN" sz="1600" dirty="0" smtClean="0">
              <a:latin typeface="Calibri" panose="020F0502020204030204" pitchFamily="34" charset="0"/>
            </a:endParaRPr>
          </a:p>
          <a:p>
            <a:r>
              <a:rPr lang="en-US" altLang="zh-CN" sz="1600" dirty="0" smtClean="0">
                <a:latin typeface="Calibri" panose="020F0502020204030204" pitchFamily="34" charset="0"/>
              </a:rPr>
              <a:t>Outer try block</a:t>
            </a:r>
            <a:endParaRPr lang="en-US" altLang="zh-CN" sz="1600" dirty="0" smtClean="0">
              <a:latin typeface="Calibri" panose="020F0502020204030204" pitchFamily="34" charset="0"/>
            </a:endParaRPr>
          </a:p>
          <a:p>
            <a:r>
              <a:rPr lang="en-US" altLang="zh-CN" sz="1600" dirty="0" smtClean="0">
                <a:latin typeface="Calibri" panose="020F0502020204030204" pitchFamily="34" charset="0"/>
              </a:rPr>
              <a:t>Inner try block</a:t>
            </a:r>
            <a:endParaRPr lang="en-US" altLang="zh-CN" sz="1600" dirty="0" smtClean="0">
              <a:latin typeface="Calibri" panose="020F0502020204030204" pitchFamily="34" charset="0"/>
            </a:endParaRPr>
          </a:p>
          <a:p>
            <a:r>
              <a:rPr lang="en-US" altLang="zh-CN" sz="1600" dirty="0" smtClean="0">
                <a:latin typeface="Calibri" panose="020F0502020204030204" pitchFamily="34" charset="0"/>
              </a:rPr>
              <a:t>    Inner catch block: Inner exception</a:t>
            </a:r>
            <a:endParaRPr lang="en-US" altLang="zh-CN" sz="1600" dirty="0" smtClean="0">
              <a:latin typeface="Calibri" panose="020F0502020204030204" pitchFamily="34" charset="0"/>
            </a:endParaRPr>
          </a:p>
          <a:p>
            <a:r>
              <a:rPr lang="en-US" altLang="zh-CN" sz="1600" dirty="0" smtClean="0">
                <a:latin typeface="Calibri" panose="020F0502020204030204" pitchFamily="34" charset="0"/>
              </a:rPr>
              <a:t>    Outer catch block: Inner exception</a:t>
            </a:r>
            <a:endParaRPr lang="en-US" altLang="zh-CN" sz="1600" dirty="0" smtClean="0">
              <a:latin typeface="Calibri" panose="020F0502020204030204" pitchFamily="34" charset="0"/>
            </a:endParaRPr>
          </a:p>
          <a:p>
            <a:r>
              <a:rPr lang="en-US" altLang="zh-CN" sz="1600" dirty="0" smtClean="0">
                <a:latin typeface="Calibri" panose="020F0502020204030204" pitchFamily="34" charset="0"/>
              </a:rPr>
              <a:t>    Program continues after exception handling</a:t>
            </a:r>
            <a:endParaRPr lang="zh-CN" altLang="en-US" sz="1600" dirty="0" smtClean="0">
              <a:latin typeface="Calibri" panose="020F0502020204030204" pitchFamily="34" charset="0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>
            <a:off x="7280275" y="762000"/>
            <a:ext cx="0" cy="421640"/>
          </a:xfrm>
          <a:prstGeom prst="straightConnector1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" name="直接箭头连接符 2"/>
          <p:cNvCxnSpPr/>
          <p:nvPr/>
        </p:nvCxnSpPr>
        <p:spPr>
          <a:xfrm>
            <a:off x="8001000" y="1371600"/>
            <a:ext cx="609600" cy="0"/>
          </a:xfrm>
          <a:prstGeom prst="straightConnector1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5" name="文本框 4"/>
          <p:cNvSpPr txBox="1"/>
          <p:nvPr/>
        </p:nvSpPr>
        <p:spPr>
          <a:xfrm>
            <a:off x="6639560" y="1143000"/>
            <a:ext cx="1378585" cy="4965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noAutofit/>
          </a:bodyPr>
          <a:p>
            <a:r>
              <a:rPr lang="en-US" altLang="zh-CN" sz="1800" dirty="0" smtClean="0">
                <a:latin typeface="Calibri" panose="020F0502020204030204" pitchFamily="34" charset="0"/>
                <a:sym typeface="+mn-ea"/>
              </a:rPr>
              <a:t>throw</a:t>
            </a:r>
            <a:r>
              <a:rPr lang="zh-CN" altLang="en-US" sz="1800" dirty="0" smtClean="0">
                <a:latin typeface="Calibri" panose="020F0502020204030204" pitchFamily="34" charset="0"/>
                <a:sym typeface="+mn-ea"/>
              </a:rPr>
              <a:t>异常</a:t>
            </a:r>
            <a:endParaRPr lang="zh-CN" altLang="en-US" sz="1800" dirty="0" smtClean="0">
              <a:latin typeface="Calibri" panose="020F0502020204030204" pitchFamily="3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10600" y="1143000"/>
            <a:ext cx="2051685" cy="4965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noAutofit/>
          </a:bodyPr>
          <a:p>
            <a:r>
              <a:rPr lang="zh-CN" altLang="en-US" sz="1800" dirty="0" smtClean="0">
                <a:latin typeface="Calibri" panose="020F0502020204030204" pitchFamily="34" charset="0"/>
                <a:sym typeface="+mn-ea"/>
              </a:rPr>
              <a:t>寻找匹配的</a:t>
            </a:r>
            <a:r>
              <a:rPr lang="en-US" altLang="zh-CN" sz="1800" dirty="0" smtClean="0">
                <a:latin typeface="Calibri" panose="020F0502020204030204" pitchFamily="34" charset="0"/>
                <a:sym typeface="+mn-ea"/>
              </a:rPr>
              <a:t>catch</a:t>
            </a:r>
            <a:endParaRPr lang="en-US" altLang="zh-CN" sz="1800" dirty="0" smtClean="0">
              <a:latin typeface="Calibri" panose="020F0502020204030204" pitchFamily="34" charset="0"/>
              <a:sym typeface="+mn-ea"/>
            </a:endParaRPr>
          </a:p>
        </p:txBody>
      </p:sp>
      <p:cxnSp>
        <p:nvCxnSpPr>
          <p:cNvPr id="9" name="直接箭头连接符 8"/>
          <p:cNvCxnSpPr>
            <a:stCxn id="6" idx="2"/>
            <a:endCxn id="10" idx="0"/>
          </p:cNvCxnSpPr>
          <p:nvPr/>
        </p:nvCxnSpPr>
        <p:spPr>
          <a:xfrm flipH="1">
            <a:off x="8423275" y="1639570"/>
            <a:ext cx="1213485" cy="265430"/>
          </a:xfrm>
          <a:prstGeom prst="straightConnector1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0" name="文本框 9"/>
          <p:cNvSpPr txBox="1"/>
          <p:nvPr/>
        </p:nvSpPr>
        <p:spPr>
          <a:xfrm>
            <a:off x="7397115" y="1905000"/>
            <a:ext cx="2051685" cy="4965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noAutofit/>
          </a:bodyPr>
          <a:p>
            <a:r>
              <a:rPr lang="zh-CN" altLang="en-US" sz="1800" dirty="0" smtClean="0">
                <a:latin typeface="Calibri" panose="020F0502020204030204" pitchFamily="34" charset="0"/>
                <a:sym typeface="+mn-ea"/>
              </a:rPr>
              <a:t>运行匹配的</a:t>
            </a:r>
            <a:r>
              <a:rPr lang="en-US" altLang="zh-CN" sz="1800" dirty="0" smtClean="0">
                <a:latin typeface="Calibri" panose="020F0502020204030204" pitchFamily="34" charset="0"/>
                <a:sym typeface="+mn-ea"/>
              </a:rPr>
              <a:t>catch</a:t>
            </a:r>
            <a:endParaRPr lang="en-US" altLang="zh-CN" sz="1800" dirty="0" smtClean="0">
              <a:latin typeface="Calibri" panose="020F0502020204030204" pitchFamily="34" charset="0"/>
              <a:sym typeface="+mn-ea"/>
            </a:endParaRPr>
          </a:p>
        </p:txBody>
      </p:sp>
      <p:cxnSp>
        <p:nvCxnSpPr>
          <p:cNvPr id="11" name="直接箭头连接符 10"/>
          <p:cNvCxnSpPr>
            <a:stCxn id="10" idx="2"/>
            <a:endCxn id="12" idx="0"/>
          </p:cNvCxnSpPr>
          <p:nvPr/>
        </p:nvCxnSpPr>
        <p:spPr>
          <a:xfrm flipH="1">
            <a:off x="8401685" y="2401570"/>
            <a:ext cx="21590" cy="341630"/>
          </a:xfrm>
          <a:prstGeom prst="straightConnector1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2" name="文本框 11"/>
          <p:cNvSpPr txBox="1"/>
          <p:nvPr/>
        </p:nvSpPr>
        <p:spPr>
          <a:xfrm>
            <a:off x="7543800" y="2743200"/>
            <a:ext cx="1715770" cy="4965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noAutofit/>
          </a:bodyPr>
          <a:p>
            <a:r>
              <a:rPr lang="zh-CN" altLang="en-US" sz="1800" dirty="0" smtClean="0">
                <a:latin typeface="Calibri" panose="020F0502020204030204" pitchFamily="34" charset="0"/>
                <a:sym typeface="+mn-ea"/>
              </a:rPr>
              <a:t>顺序</a:t>
            </a:r>
            <a:r>
              <a:rPr lang="zh-CN" altLang="en-US" sz="1800" dirty="0" smtClean="0">
                <a:latin typeface="Calibri" panose="020F0502020204030204" pitchFamily="34" charset="0"/>
                <a:sym typeface="+mn-ea"/>
              </a:rPr>
              <a:t>往后执行</a:t>
            </a:r>
            <a:endParaRPr lang="zh-CN" altLang="en-US" sz="1800" dirty="0" smtClean="0">
              <a:latin typeface="Calibri" panose="020F0502020204030204" pitchFamily="34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91400" y="774700"/>
            <a:ext cx="3404870" cy="421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r>
              <a:rPr lang="zh-CN" altLang="en-US" sz="1800">
                <a:sym typeface="+mn-ea"/>
              </a:rPr>
              <a:t>触发</a:t>
            </a:r>
            <a:r>
              <a:rPr lang="en-US" altLang="zh-CN" sz="1800">
                <a:sym typeface="+mn-ea"/>
              </a:rPr>
              <a:t>OS</a:t>
            </a:r>
            <a:r>
              <a:rPr lang="zh-CN" altLang="en-US" sz="1800">
                <a:sym typeface="+mn-ea"/>
              </a:rPr>
              <a:t>的</a:t>
            </a:r>
            <a:r>
              <a:rPr lang="en-US" altLang="zh-CN" sz="1800">
                <a:sym typeface="+mn-ea"/>
              </a:rPr>
              <a:t>Unwind_RaiseException</a:t>
            </a:r>
            <a:endParaRPr lang="en-US" altLang="zh-CN" sz="1800" dirty="0" smtClean="0">
              <a:latin typeface="Calibri" panose="020F0502020204030204" pitchFamily="34" charset="0"/>
              <a:sym typeface="+mn-ea"/>
            </a:endParaRPr>
          </a:p>
        </p:txBody>
      </p:sp>
      <p:sp>
        <p:nvSpPr>
          <p:cNvPr id="15" name="文本框 3"/>
          <p:cNvSpPr txBox="1"/>
          <p:nvPr/>
        </p:nvSpPr>
        <p:spPr>
          <a:xfrm>
            <a:off x="304800" y="304800"/>
            <a:ext cx="8530590" cy="6739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 dirty="0" smtClean="0">
                <a:latin typeface="Calibri" panose="020F0502020204030204" pitchFamily="34" charset="0"/>
              </a:rPr>
              <a:t>void innerFunction()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try </a:t>
            </a:r>
            <a:r>
              <a:rPr lang="en-US" altLang="zh-CN" sz="1800" dirty="0" smtClean="0">
                <a:latin typeface="Calibri" panose="020F0502020204030204" pitchFamily="34" charset="0"/>
              </a:rPr>
              <a:t>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std::cout &lt;&lt; "</a:t>
            </a:r>
            <a:r>
              <a:rPr lang="en-US" altLang="zh-CN" sz="1800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Inner try block</a:t>
            </a:r>
            <a:r>
              <a:rPr lang="en-US" altLang="zh-CN" sz="1800" dirty="0" smtClean="0">
                <a:latin typeface="Calibri" panose="020F0502020204030204" pitchFamily="34" charset="0"/>
              </a:rPr>
              <a:t>"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throw std::runtime_error("Inner exception");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catch </a:t>
            </a:r>
            <a:r>
              <a:rPr lang="en-US" altLang="zh-CN" sz="1800" dirty="0" smtClean="0">
                <a:latin typeface="Calibri" panose="020F0502020204030204" pitchFamily="34" charset="0"/>
              </a:rPr>
              <a:t>(std::runtime_error&amp; e)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std::cout &lt;&lt; "  </a:t>
            </a:r>
            <a:r>
              <a:rPr lang="en-US" altLang="zh-CN" sz="18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Inner catch block</a:t>
            </a:r>
            <a:r>
              <a:rPr lang="en-US" altLang="zh-CN" sz="1800" dirty="0" smtClean="0">
                <a:latin typeface="Calibri" panose="020F0502020204030204" pitchFamily="34" charset="0"/>
              </a:rPr>
              <a:t>: " &lt;&lt; e.what()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throw</a:t>
            </a:r>
            <a:r>
              <a:rPr lang="en-US" altLang="zh-CN" sz="1800" dirty="0" smtClean="0">
                <a:latin typeface="Calibri" panose="020F0502020204030204" pitchFamily="34" charset="0"/>
              </a:rPr>
              <a:t>; // </a:t>
            </a:r>
            <a:r>
              <a:rPr lang="zh-CN" altLang="en-US" sz="1800" dirty="0" smtClean="0">
                <a:latin typeface="Calibri" panose="020F0502020204030204" pitchFamily="34" charset="0"/>
              </a:rPr>
              <a:t>重新抛出异常给</a:t>
            </a:r>
            <a:r>
              <a:rPr lang="en-US" altLang="zh-CN" sz="1800" dirty="0" smtClean="0">
                <a:latin typeface="Calibri" panose="020F0502020204030204" pitchFamily="34" charset="0"/>
              </a:rPr>
              <a:t>outer</a:t>
            </a:r>
            <a:r>
              <a:rPr lang="zh-CN" altLang="en-US" sz="1800" dirty="0" smtClean="0">
                <a:latin typeface="Calibri" panose="020F0502020204030204" pitchFamily="34" charset="0"/>
              </a:rPr>
              <a:t>函数来捕获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void outerFunction()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try </a:t>
            </a:r>
            <a:r>
              <a:rPr lang="en-US" altLang="zh-CN" sz="1800" dirty="0" smtClean="0">
                <a:latin typeface="Calibri" panose="020F0502020204030204" pitchFamily="34" charset="0"/>
              </a:rPr>
              <a:t>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std::cout &lt;&lt; "</a:t>
            </a:r>
            <a:r>
              <a:rPr lang="en-US" altLang="zh-CN" sz="1800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Outer try block</a:t>
            </a:r>
            <a:r>
              <a:rPr lang="en-US" altLang="zh-CN" sz="1800" dirty="0" smtClean="0">
                <a:latin typeface="Calibri" panose="020F0502020204030204" pitchFamily="34" charset="0"/>
              </a:rPr>
              <a:t>"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innerFunction();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 </a:t>
            </a:r>
            <a:r>
              <a:rPr lang="en-US" altLang="zh-CN" sz="18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catch </a:t>
            </a:r>
            <a:r>
              <a:rPr lang="en-US" altLang="zh-CN" sz="1800" dirty="0" smtClean="0">
                <a:latin typeface="Calibri" panose="020F0502020204030204" pitchFamily="34" charset="0"/>
              </a:rPr>
              <a:t>(std::exception&amp; e)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    std::cout &lt;&lt; "  </a:t>
            </a:r>
            <a:r>
              <a:rPr lang="en-US" altLang="zh-CN" sz="18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Outer catch block</a:t>
            </a:r>
            <a:r>
              <a:rPr lang="en-US" altLang="zh-CN" sz="1800" dirty="0" smtClean="0">
                <a:latin typeface="Calibri" panose="020F0502020204030204" pitchFamily="34" charset="0"/>
              </a:rPr>
              <a:t>: " &lt;&lt; e.what()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int main() {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std::cout &lt;&lt; "</a:t>
            </a:r>
            <a:r>
              <a:rPr lang="en-US" altLang="zh-CN" sz="1800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Main function</a:t>
            </a:r>
            <a:r>
              <a:rPr lang="en-US" altLang="zh-CN" sz="1800" dirty="0" smtClean="0">
                <a:latin typeface="Calibri" panose="020F0502020204030204" pitchFamily="34" charset="0"/>
              </a:rPr>
              <a:t>"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outerFunction();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std::cout &lt;&lt; "  </a:t>
            </a:r>
            <a:r>
              <a:rPr lang="en-US" altLang="zh-CN" sz="18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Program continues after exception handling</a:t>
            </a:r>
            <a:r>
              <a:rPr lang="en-US" altLang="zh-CN" sz="1800" dirty="0" smtClean="0">
                <a:latin typeface="Calibri" panose="020F0502020204030204" pitchFamily="34" charset="0"/>
              </a:rPr>
              <a:t>" &lt;&lt; std::endl;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    return 0;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r>
              <a:rPr lang="en-US" altLang="zh-CN" sz="1800" dirty="0" smtClean="0">
                <a:latin typeface="Calibri" panose="020F0502020204030204" pitchFamily="34" charset="0"/>
              </a:rPr>
              <a:t>}</a:t>
            </a:r>
            <a:endParaRPr lang="en-US" altLang="zh-CN" sz="1800" dirty="0" smtClean="0">
              <a:latin typeface="Calibri" panose="020F0502020204030204" pitchFamily="34" charset="0"/>
            </a:endParaRPr>
          </a:p>
          <a:p>
            <a:endParaRPr lang="en-US" altLang="zh-CN" sz="1800" dirty="0" smtClean="0">
              <a:latin typeface="Calibri" panose="020F0502020204030204" pitchFamily="34" charset="0"/>
            </a:endParaRPr>
          </a:p>
        </p:txBody>
      </p:sp>
      <p:sp>
        <p:nvSpPr>
          <p:cNvPr id="4" name="Cloud Callout 3"/>
          <p:cNvSpPr/>
          <p:nvPr/>
        </p:nvSpPr>
        <p:spPr>
          <a:xfrm>
            <a:off x="10668000" y="362585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内容占位符 5"/>
          <p:cNvSpPr/>
          <p:nvPr>
            <p:ph idx="1"/>
          </p:nvPr>
        </p:nvSpPr>
        <p:spPr/>
        <p:txBody>
          <a:bodyPr/>
          <a:p>
            <a:r>
              <a:rPr lang="zh-CN" altLang="en-US"/>
              <a:t>编译器</a:t>
            </a:r>
            <a:r>
              <a:rPr lang="en-US" altLang="zh-CN"/>
              <a:t>：</a:t>
            </a:r>
            <a:r>
              <a:rPr lang="zh-CN" altLang="en-US"/>
              <a:t>在编译过程中生成异常处理信息，并嵌入到生成的二进制文件中</a:t>
            </a:r>
            <a:endParaRPr lang="zh-CN" altLang="en-US"/>
          </a:p>
          <a:p>
            <a:pPr lvl="1"/>
            <a:r>
              <a:rPr lang="zh-CN" altLang="en-US"/>
              <a:t>分析函数的异常处理需求</a:t>
            </a:r>
            <a:r>
              <a:rPr lang="en-US" altLang="zh-CN"/>
              <a:t>：</a:t>
            </a:r>
            <a:r>
              <a:rPr lang="zh-CN" altLang="en-US"/>
              <a:t>是否有</a:t>
            </a:r>
            <a:r>
              <a:rPr lang="en-US" altLang="zh-CN"/>
              <a:t> try </a:t>
            </a:r>
            <a:r>
              <a:rPr lang="zh-CN" altLang="en-US"/>
              <a:t>块</a:t>
            </a:r>
            <a:r>
              <a:rPr lang="en-US" altLang="zh-CN"/>
              <a:t>、</a:t>
            </a:r>
            <a:r>
              <a:rPr lang="zh-CN" altLang="en-US"/>
              <a:t>有局部对象需要析构</a:t>
            </a:r>
            <a:r>
              <a:rPr lang="en-US" altLang="zh-CN"/>
              <a:t>、</a:t>
            </a:r>
            <a:r>
              <a:rPr lang="zh-CN" altLang="en-US"/>
              <a:t>有</a:t>
            </a:r>
            <a:r>
              <a:rPr lang="en-US" altLang="zh-CN"/>
              <a:t> throw </a:t>
            </a:r>
            <a:r>
              <a:rPr lang="zh-CN" altLang="en-US"/>
              <a:t>语句</a:t>
            </a:r>
            <a:r>
              <a:rPr lang="en-US" altLang="zh-CN"/>
              <a:t>？</a:t>
            </a:r>
            <a:endParaRPr lang="zh-CN" altLang="en-US"/>
          </a:p>
          <a:p>
            <a:pPr lvl="1"/>
            <a:r>
              <a:rPr lang="zh-CN" altLang="en-US"/>
              <a:t>生成异常</a:t>
            </a:r>
            <a:r>
              <a:rPr lang="zh-CN" altLang="en-US"/>
              <a:t>处理表</a:t>
            </a:r>
            <a:endParaRPr lang="zh-CN" altLang="en-US"/>
          </a:p>
          <a:p>
            <a:pPr lvl="2"/>
            <a:r>
              <a:rPr lang="zh-CN" altLang="en-US"/>
              <a:t>函数的范围</a:t>
            </a:r>
            <a:r>
              <a:rPr lang="en-US" altLang="zh-CN"/>
              <a:t>、</a:t>
            </a:r>
            <a:r>
              <a:rPr lang="zh-CN" altLang="en-US"/>
              <a:t>异常处理代码的指针</a:t>
            </a:r>
            <a:r>
              <a:rPr lang="en-US" altLang="zh-CN"/>
              <a:t>、</a:t>
            </a:r>
            <a:r>
              <a:rPr lang="zh-CN" altLang="en-US"/>
              <a:t>异常类型信息</a:t>
            </a:r>
            <a:endParaRPr lang="zh-CN" altLang="en-US"/>
          </a:p>
          <a:p>
            <a:pPr lvl="2"/>
            <a:r>
              <a:rPr lang="zh-CN" altLang="en-US"/>
              <a:t>语言特定的异常处理逻辑</a:t>
            </a:r>
            <a:r>
              <a:rPr lang="en-US" altLang="zh-CN"/>
              <a:t>（</a:t>
            </a:r>
            <a:r>
              <a:rPr lang="zh-CN" altLang="en-US"/>
              <a:t>比如</a:t>
            </a:r>
            <a:r>
              <a:rPr lang="en-US" altLang="zh-CN"/>
              <a:t>，</a:t>
            </a:r>
            <a:r>
              <a:rPr lang="zh-CN" altLang="en-US"/>
              <a:t>检查运行时抛出的异常是否匹配当前的</a:t>
            </a:r>
            <a:r>
              <a:rPr lang="en-US" altLang="zh-CN"/>
              <a:t>catch</a:t>
            </a:r>
            <a:r>
              <a:rPr lang="zh-CN" altLang="en-US"/>
              <a:t>块</a:t>
            </a:r>
            <a:r>
              <a:rPr lang="en-US" altLang="zh-CN"/>
              <a:t>）</a:t>
            </a:r>
            <a:endParaRPr lang="en-US" altLang="zh-CN"/>
          </a:p>
          <a:p>
            <a:pPr lvl="2"/>
            <a:r>
              <a:rPr lang="en-US" altLang="zh-CN"/>
              <a:t>landing pad（</a:t>
            </a:r>
            <a:r>
              <a:rPr lang="zh-CN" altLang="en-US"/>
              <a:t>调用异常处理逻辑</a:t>
            </a:r>
            <a:r>
              <a:rPr lang="en-US" altLang="zh-CN"/>
              <a:t>、</a:t>
            </a:r>
            <a:r>
              <a:rPr lang="zh-CN" altLang="en-US">
                <a:sym typeface="+mn-ea"/>
              </a:rPr>
              <a:t>析构</a:t>
            </a:r>
            <a:r>
              <a:rPr lang="zh-CN" altLang="en-US"/>
              <a:t>局部对象</a:t>
            </a:r>
            <a:r>
              <a:rPr lang="en-US" altLang="zh-CN"/>
              <a:t>、</a:t>
            </a:r>
            <a:r>
              <a:rPr lang="zh-CN" altLang="en-US"/>
              <a:t>跳转到</a:t>
            </a:r>
            <a:r>
              <a:rPr lang="en-US" altLang="zh-CN"/>
              <a:t>catch</a:t>
            </a:r>
            <a:r>
              <a:rPr lang="zh-CN" altLang="en-US"/>
              <a:t>或继续回退栈</a:t>
            </a:r>
            <a:r>
              <a:rPr lang="en-US" altLang="zh-CN"/>
              <a:t>）</a:t>
            </a:r>
            <a:endParaRPr lang="en-US" altLang="zh-CN"/>
          </a:p>
          <a:p>
            <a:pPr lvl="3"/>
            <a:r>
              <a:rPr lang="zh-CN" altLang="en-US"/>
              <a:t>当找到匹配的</a:t>
            </a:r>
            <a:r>
              <a:rPr lang="en-US" altLang="zh-CN"/>
              <a:t> catch </a:t>
            </a:r>
            <a:r>
              <a:rPr lang="zh-CN" altLang="en-US"/>
              <a:t>块时，</a:t>
            </a:r>
            <a:r>
              <a:rPr lang="en-US" altLang="zh-CN"/>
              <a:t>OS</a:t>
            </a:r>
            <a:r>
              <a:rPr lang="zh-CN" altLang="en-US"/>
              <a:t>的</a:t>
            </a:r>
            <a:r>
              <a:rPr lang="en-US" altLang="zh-CN"/>
              <a:t>_Unwind_RaiseException </a:t>
            </a:r>
            <a:r>
              <a:rPr lang="zh-CN" altLang="en-US"/>
              <a:t>会恢复该</a:t>
            </a:r>
            <a:r>
              <a:rPr lang="en-US" altLang="zh-CN"/>
              <a:t> catch </a:t>
            </a:r>
            <a:r>
              <a:rPr lang="zh-CN" altLang="en-US"/>
              <a:t>块的上下文，并将控制权转移到</a:t>
            </a:r>
            <a:r>
              <a:rPr lang="en-US" altLang="zh-CN"/>
              <a:t> catch </a:t>
            </a:r>
            <a:r>
              <a:rPr lang="zh-CN" altLang="en-US"/>
              <a:t>块。</a:t>
            </a:r>
            <a:endParaRPr lang="zh-CN" altLang="en-US"/>
          </a:p>
          <a:p>
            <a:pPr lvl="3"/>
            <a:r>
              <a:rPr lang="zh-CN" altLang="en-US"/>
              <a:t>这个过程涉及到恢复寄存器状态、栈指针等。</a:t>
            </a:r>
            <a:endParaRPr lang="zh-CN" altLang="en-US"/>
          </a:p>
          <a:p>
            <a:pPr lvl="0"/>
            <a:r>
              <a:rPr lang="zh-CN" altLang="en-US"/>
              <a:t>运行时</a:t>
            </a:r>
            <a:endParaRPr lang="zh-CN" altLang="en-US"/>
          </a:p>
          <a:p>
            <a:pPr lvl="1"/>
            <a:r>
              <a:rPr lang="en-US" altLang="zh-CN"/>
              <a:t>throw </a:t>
            </a:r>
            <a:r>
              <a:rPr lang="zh-CN" altLang="en-US"/>
              <a:t>创建</a:t>
            </a:r>
            <a:r>
              <a:rPr lang="zh-CN" altLang="en-US"/>
              <a:t>并抛出异常</a:t>
            </a:r>
            <a:r>
              <a:rPr lang="zh-CN" altLang="en-US"/>
              <a:t>对象</a:t>
            </a:r>
            <a:endParaRPr lang="zh-CN" altLang="en-US"/>
          </a:p>
          <a:p>
            <a:pPr lvl="1"/>
            <a:r>
              <a:rPr lang="zh-CN" altLang="en-US"/>
              <a:t>触发</a:t>
            </a:r>
            <a:r>
              <a:rPr lang="en-US" altLang="zh-CN"/>
              <a:t>OS</a:t>
            </a:r>
            <a:r>
              <a:rPr lang="zh-CN" altLang="en-US"/>
              <a:t>的</a:t>
            </a:r>
            <a:r>
              <a:rPr lang="en-US" altLang="zh-CN">
                <a:sym typeface="+mn-ea"/>
              </a:rPr>
              <a:t>Unwind_RaiseException，</a:t>
            </a:r>
            <a:r>
              <a:rPr lang="zh-CN" altLang="en-US"/>
              <a:t>开始栈</a:t>
            </a:r>
            <a:r>
              <a:rPr lang="zh-CN" altLang="en-US"/>
              <a:t>回退</a:t>
            </a:r>
            <a:endParaRPr lang="zh-CN" altLang="en-US"/>
          </a:p>
          <a:p>
            <a:pPr lvl="2"/>
            <a:r>
              <a:rPr lang="zh-CN" altLang="en-US"/>
              <a:t>保存当前</a:t>
            </a:r>
            <a:r>
              <a:rPr lang="zh-CN" altLang="en-US"/>
              <a:t>函数的上下</a:t>
            </a:r>
            <a:r>
              <a:rPr lang="zh-CN" altLang="en-US"/>
              <a:t>文</a:t>
            </a:r>
            <a:endParaRPr lang="zh-CN" altLang="en-US"/>
          </a:p>
          <a:p>
            <a:pPr lvl="2"/>
            <a:r>
              <a:rPr lang="zh-CN" altLang="en-US"/>
              <a:t>逐层检查调用栈上的函数是否匹配</a:t>
            </a:r>
            <a:r>
              <a:rPr lang="en-US" altLang="zh-CN"/>
              <a:t>，</a:t>
            </a:r>
            <a:r>
              <a:rPr lang="zh-CN" altLang="en-US"/>
              <a:t>并调用</a:t>
            </a:r>
            <a:r>
              <a:rPr lang="en-US" altLang="zh-CN"/>
              <a:t>landing </a:t>
            </a:r>
            <a:r>
              <a:rPr lang="en-US" altLang="zh-CN"/>
              <a:t>pad</a:t>
            </a:r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C++</a:t>
            </a:r>
            <a:r>
              <a:rPr lang="zh-CN" altLang="en-US"/>
              <a:t>中的异常处理</a:t>
            </a:r>
            <a:r>
              <a:rPr lang="zh-CN" altLang="en-US"/>
              <a:t>过程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284345"/>
            <a:ext cx="3224530" cy="2049780"/>
          </a:xfrm>
          <a:prstGeom prst="rect">
            <a:avLst/>
          </a:prstGeom>
        </p:spPr>
      </p:pic>
      <p:sp>
        <p:nvSpPr>
          <p:cNvPr id="4" name="Cloud Callout 3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535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信号提供进程级别的异常处理</a:t>
            </a:r>
            <a:endParaRPr lang="zh-CN" altLang="en-US" dirty="0"/>
          </a:p>
          <a:p>
            <a:pPr lvl="1"/>
            <a:r>
              <a:rPr lang="zh-CN" altLang="en-US" dirty="0"/>
              <a:t>可以从用户程序中产生</a:t>
            </a:r>
            <a:endParaRPr lang="zh-CN" altLang="en-US" dirty="0"/>
          </a:p>
          <a:p>
            <a:pPr lvl="1"/>
            <a:r>
              <a:rPr lang="zh-CN" altLang="en-US" dirty="0"/>
              <a:t>可以通过声明信号处理程序来定义信号的作用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小心地</a:t>
            </a:r>
            <a:r>
              <a:rPr lang="zh-CN" altLang="en-US" dirty="0"/>
              <a:t>编写信号处理程序</a:t>
            </a:r>
            <a:endParaRPr lang="zh-CN" altLang="en-US" dirty="0"/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  <a:latin typeface="仿宋" panose="02010609060101010101" pitchFamily="49" charset="-122"/>
              </a:rPr>
              <a:t>非局部跳转提供进程内的异常控制流</a:t>
            </a:r>
            <a:endParaRPr lang="en-US" dirty="0">
              <a:solidFill>
                <a:schemeClr val="tx1"/>
              </a:solidFill>
              <a:latin typeface="仿宋" panose="02010609060101010101" pitchFamily="49" charset="-122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仿宋" panose="02010609060101010101" pitchFamily="49" charset="-122"/>
                <a:cs typeface="+mn-ea"/>
              </a:rPr>
              <a:t>遵循栈规则的约束</a:t>
            </a:r>
            <a:endParaRPr lang="en-US" altLang="en-US" dirty="0">
              <a:solidFill>
                <a:schemeClr val="tx1"/>
              </a:solidFill>
              <a:latin typeface="仿宋" panose="02010609060101010101" pitchFamily="49" charset="-122"/>
              <a:cs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0</TotalTime>
  <Words>18092</Words>
  <Application>WPS Presentation</Application>
  <PresentationFormat>Widescreen</PresentationFormat>
  <Paragraphs>1194</Paragraphs>
  <Slides>53</Slides>
  <Notes>53</Notes>
  <HiddenSlides>9</HiddenSlides>
  <MMClips>0</MMClips>
  <ScaleCrop>false</ScaleCrop>
  <HeadingPairs>
    <vt:vector size="6" baseType="variant">
      <vt:variant>
        <vt:lpstr>已用的字体</vt:lpstr>
      </vt:variant>
      <vt:variant>
        <vt:i4>39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93" baseType="lpstr">
      <vt:lpstr>Arial</vt:lpstr>
      <vt:lpstr>SimSun</vt:lpstr>
      <vt:lpstr>Wingdings</vt:lpstr>
      <vt:lpstr>Arial Narrow</vt:lpstr>
      <vt:lpstr>Calibri</vt:lpstr>
      <vt:lpstr>Helvetica Neue</vt:lpstr>
      <vt:lpstr>仿宋</vt:lpstr>
      <vt:lpstr>方正仿宋_GBK</vt:lpstr>
      <vt:lpstr>MS PGothic</vt:lpstr>
      <vt:lpstr>Wingdings 2</vt:lpstr>
      <vt:lpstr>Times New Roman</vt:lpstr>
      <vt:lpstr>Consolas</vt:lpstr>
      <vt:lpstr>苹方-简</vt:lpstr>
      <vt:lpstr>SimHei</vt:lpstr>
      <vt:lpstr>Courier New</vt:lpstr>
      <vt:lpstr>FangSong</vt:lpstr>
      <vt:lpstr>Arial Bold</vt:lpstr>
      <vt:lpstr>Microsoft YaHei</vt:lpstr>
      <vt:lpstr>汉仪旗黑</vt:lpstr>
      <vt:lpstr>Arial Unicode MS</vt:lpstr>
      <vt:lpstr>Calibri</vt:lpstr>
      <vt:lpstr>Courier New</vt:lpstr>
      <vt:lpstr>Courier New Bold</vt:lpstr>
      <vt:lpstr>Menlo-Regular</vt:lpstr>
      <vt:lpstr>Menlo-Bold</vt:lpstr>
      <vt:lpstr>Menlo Bold</vt:lpstr>
      <vt:lpstr>menlo</vt:lpstr>
      <vt:lpstr>Microsoft YaHei</vt:lpstr>
      <vt:lpstr>汉仪书宋二KW</vt:lpstr>
      <vt:lpstr>冬青黑体简体中文</vt:lpstr>
      <vt:lpstr>汉仪中黑KW</vt:lpstr>
      <vt:lpstr>SimSun</vt:lpstr>
      <vt:lpstr>FangSong</vt:lpstr>
      <vt:lpstr>Menlo-Bold</vt:lpstr>
      <vt:lpstr>Menlo-Regular</vt:lpstr>
      <vt:lpstr>SimHei</vt:lpstr>
      <vt:lpstr>menlo</vt:lpstr>
      <vt:lpstr>仿宋</vt:lpstr>
      <vt:lpstr>SimSun</vt:lpstr>
      <vt:lpstr>template2007</vt:lpstr>
      <vt:lpstr>异常控制流：信号与非本地跳转  计算机系统基础 </vt:lpstr>
      <vt:lpstr>异常控制流发生在计算机系统的各个层次</vt:lpstr>
      <vt:lpstr>主要内容</vt:lpstr>
      <vt:lpstr>信号处理程序作为并发逻辑流</vt:lpstr>
      <vt:lpstr>信号处理程序作为并发逻辑流的另一视角</vt:lpstr>
      <vt:lpstr>嵌套信号处理程序</vt:lpstr>
      <vt:lpstr>安全的信号处理</vt:lpstr>
      <vt:lpstr>并发对共享变量的破坏</vt:lpstr>
      <vt:lpstr>安全编程原则1：handler尽可能简单</vt:lpstr>
      <vt:lpstr>安全编程原则1：handler尽可能简单</vt:lpstr>
      <vt:lpstr>安全编程原则2：共享变量访问的原子性</vt:lpstr>
      <vt:lpstr>安全编程规则3：共享数据结构的原子性</vt:lpstr>
      <vt:lpstr>安全编程规则3：共享数据结构的原子性</vt:lpstr>
      <vt:lpstr>安全编程规则4：函数调用的原子性</vt:lpstr>
      <vt:lpstr>安全的格式化输出函数</vt:lpstr>
      <vt:lpstr>安全的格式化输出函数</vt:lpstr>
      <vt:lpstr>使用安全输出函数的例子</vt:lpstr>
      <vt:lpstr>编写安全的信号处理程序的原则（教材8.5.5）</vt:lpstr>
      <vt:lpstr>主要内容</vt:lpstr>
      <vt:lpstr>可移植的信号处理</vt:lpstr>
      <vt:lpstr>不正确的信号处理</vt:lpstr>
      <vt:lpstr>正确的信号处理</vt:lpstr>
      <vt:lpstr>正确的信号处理</vt:lpstr>
      <vt:lpstr>正确的信号处理</vt:lpstr>
      <vt:lpstr>通过同步控制流来避免并发错误（教材8.5.6） ——同步1：等待主函数先完成</vt:lpstr>
      <vt:lpstr>同步流来避免并发错误</vt:lpstr>
      <vt:lpstr>同步流来避免并发错误</vt:lpstr>
      <vt:lpstr>同步控制流来避免并发错误——信号阻塞的方法</vt:lpstr>
      <vt:lpstr>练习：</vt:lpstr>
      <vt:lpstr>显式地等待信号（教材8.5.7） ——同步2：等待信号处理函数先完成</vt:lpstr>
      <vt:lpstr>显式地等待信号</vt:lpstr>
      <vt:lpstr>显式地等待信号——主函数一直查询</vt:lpstr>
      <vt:lpstr>显式地等待信号——主函数周期查询</vt:lpstr>
      <vt:lpstr>使用pause——通过信号唤醒主程序</vt:lpstr>
      <vt:lpstr>使用 sigsuspend——更安全的唤醒机制</vt:lpstr>
      <vt:lpstr>使用 sigsuspend——更安全的唤醒机制</vt:lpstr>
      <vt:lpstr>主要内容</vt:lpstr>
      <vt:lpstr>非本地跳转：setjmp/longjmp</vt:lpstr>
      <vt:lpstr>setjmp/longjmp（续）</vt:lpstr>
      <vt:lpstr>setjmp/longjmp 示例</vt:lpstr>
      <vt:lpstr>PowerPoint 演示文稿</vt:lpstr>
      <vt:lpstr>使用 setjmp 和 longjmp 实现简单的错误处理</vt:lpstr>
      <vt:lpstr>非本地跳转的限制</vt:lpstr>
      <vt:lpstr>非本地跳转的限制（续）</vt:lpstr>
      <vt:lpstr>小结：一个在按下 ctrl-c 时重启的程序</vt:lpstr>
      <vt:lpstr>小结：一个在按下 ctrl-c 时自动重启的程序</vt:lpstr>
      <vt:lpstr>非局部跳转的典型应用场景</vt:lpstr>
      <vt:lpstr>扩展：C++中的异常处理</vt:lpstr>
      <vt:lpstr>PowerPoint 演示文稿</vt:lpstr>
      <vt:lpstr>PowerPoint 演示文稿</vt:lpstr>
      <vt:lpstr>PowerPoint 演示文稿</vt:lpstr>
      <vt:lpstr>C++中的异常处理过程</vt:lpstr>
      <vt:lpstr>总结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00030832</cp:lastModifiedBy>
  <cp:revision>1206</cp:revision>
  <cp:lastPrinted>2026-05-20T03:20:05Z</cp:lastPrinted>
  <dcterms:created xsi:type="dcterms:W3CDTF">2026-05-20T03:20:05Z</dcterms:created>
  <dcterms:modified xsi:type="dcterms:W3CDTF">2026-05-20T03:20:05Z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C7992CD0B1CE8B1729280D6A7344C72C_43</vt:lpwstr>
  </property>
  <property fmtid="{D5CDD505-2E9C-101B-9397-08002B2CF9AE}" pid="3" name="KSOProductBuildVer">
    <vt:lpwstr>1033-12.1.24031.24031</vt:lpwstr>
  </property>
</Properties>
</file>