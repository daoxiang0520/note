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  <p:sldMasterId id="2147483662" r:id="rId3"/>
    <p:sldMasterId id="2147483664" r:id="rId4"/>
  </p:sldMasterIdLst>
  <p:notesMasterIdLst>
    <p:notesMasterId r:id="rId6"/>
  </p:notesMasterIdLst>
  <p:handoutMasterIdLst>
    <p:handoutMasterId r:id="rId101"/>
  </p:handoutMasterIdLst>
  <p:sldIdLst>
    <p:sldId id="542" r:id="rId5"/>
    <p:sldId id="681" r:id="rId7"/>
    <p:sldId id="692" r:id="rId8"/>
    <p:sldId id="706" r:id="rId9"/>
    <p:sldId id="658" r:id="rId10"/>
    <p:sldId id="690" r:id="rId11"/>
    <p:sldId id="683" r:id="rId12"/>
    <p:sldId id="710" r:id="rId13"/>
    <p:sldId id="1279" r:id="rId14"/>
    <p:sldId id="673" r:id="rId15"/>
    <p:sldId id="674" r:id="rId16"/>
    <p:sldId id="675" r:id="rId17"/>
    <p:sldId id="676" r:id="rId18"/>
    <p:sldId id="1155" r:id="rId19"/>
    <p:sldId id="677" r:id="rId20"/>
    <p:sldId id="684" r:id="rId21"/>
    <p:sldId id="591" r:id="rId22"/>
    <p:sldId id="592" r:id="rId23"/>
    <p:sldId id="1280" r:id="rId24"/>
    <p:sldId id="593" r:id="rId25"/>
    <p:sldId id="594" r:id="rId26"/>
    <p:sldId id="1156" r:id="rId27"/>
    <p:sldId id="1157" r:id="rId28"/>
    <p:sldId id="685" r:id="rId29"/>
    <p:sldId id="596" r:id="rId30"/>
    <p:sldId id="597" r:id="rId31"/>
    <p:sldId id="645" r:id="rId32"/>
    <p:sldId id="599" r:id="rId33"/>
    <p:sldId id="602" r:id="rId34"/>
    <p:sldId id="698" r:id="rId35"/>
    <p:sldId id="600" r:id="rId36"/>
    <p:sldId id="1158" r:id="rId37"/>
    <p:sldId id="944" r:id="rId38"/>
    <p:sldId id="1282" r:id="rId39"/>
    <p:sldId id="802" r:id="rId40"/>
    <p:sldId id="801" r:id="rId41"/>
    <p:sldId id="1283" r:id="rId42"/>
    <p:sldId id="686" r:id="rId43"/>
    <p:sldId id="606" r:id="rId44"/>
    <p:sldId id="607" r:id="rId45"/>
    <p:sldId id="649" r:id="rId46"/>
    <p:sldId id="687" r:id="rId47"/>
    <p:sldId id="611" r:id="rId48"/>
    <p:sldId id="612" r:id="rId49"/>
    <p:sldId id="613" r:id="rId50"/>
    <p:sldId id="615" r:id="rId51"/>
    <p:sldId id="616" r:id="rId52"/>
    <p:sldId id="617" r:id="rId53"/>
    <p:sldId id="620" r:id="rId54"/>
    <p:sldId id="621" r:id="rId55"/>
    <p:sldId id="625" r:id="rId56"/>
    <p:sldId id="1237" r:id="rId57"/>
    <p:sldId id="1238" r:id="rId58"/>
    <p:sldId id="626" r:id="rId59"/>
    <p:sldId id="628" r:id="rId60"/>
    <p:sldId id="1285" r:id="rId61"/>
    <p:sldId id="1117" r:id="rId62"/>
    <p:sldId id="689" r:id="rId63"/>
    <p:sldId id="651" r:id="rId64"/>
    <p:sldId id="650" r:id="rId65"/>
    <p:sldId id="707" r:id="rId66"/>
    <p:sldId id="1284" r:id="rId67"/>
    <p:sldId id="708" r:id="rId68"/>
    <p:sldId id="688" r:id="rId69"/>
    <p:sldId id="659" r:id="rId70"/>
    <p:sldId id="703" r:id="rId71"/>
    <p:sldId id="709" r:id="rId72"/>
    <p:sldId id="661" r:id="rId73"/>
    <p:sldId id="704" r:id="rId74"/>
    <p:sldId id="664" r:id="rId75"/>
    <p:sldId id="668" r:id="rId76"/>
    <p:sldId id="666" r:id="rId77"/>
    <p:sldId id="1278" r:id="rId78"/>
    <p:sldId id="669" r:id="rId79"/>
    <p:sldId id="705" r:id="rId80"/>
    <p:sldId id="644" r:id="rId81"/>
    <p:sldId id="672" r:id="rId82"/>
    <p:sldId id="693" r:id="rId83"/>
    <p:sldId id="694" r:id="rId84"/>
    <p:sldId id="695" r:id="rId85"/>
    <p:sldId id="696" r:id="rId86"/>
    <p:sldId id="700" r:id="rId87"/>
    <p:sldId id="701" r:id="rId88"/>
    <p:sldId id="702" r:id="rId89"/>
    <p:sldId id="627" r:id="rId90"/>
    <p:sldId id="629" r:id="rId91"/>
    <p:sldId id="630" r:id="rId92"/>
    <p:sldId id="631" r:id="rId93"/>
    <p:sldId id="632" r:id="rId94"/>
    <p:sldId id="633" r:id="rId95"/>
    <p:sldId id="652" r:id="rId96"/>
    <p:sldId id="634" r:id="rId97"/>
    <p:sldId id="665" r:id="rId98"/>
    <p:sldId id="803" r:id="rId99"/>
    <p:sldId id="800" r:id="rId100"/>
  </p:sldIdLst>
  <p:sldSz cx="12192000" cy="6858000"/>
  <p:notesSz cx="7302500" cy="9586595"/>
  <p:embeddedFontLst>
    <p:embeddedFont>
      <p:font typeface="Arial Narrow" panose="020B0706020202030204" pitchFamily="34" charset="0"/>
      <p:regular r:id="rId105"/>
    </p:embeddedFont>
    <p:embeddedFont>
      <p:font typeface="Arial Narrow Bold" panose="020B0706020202030204" charset="0"/>
      <p:regular r:id="rId106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3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0F4E3"/>
    <a:srgbClr val="E0E0E0"/>
    <a:srgbClr val="E3E4E6"/>
    <a:srgbClr val="FFFF99"/>
    <a:srgbClr val="FF9999"/>
    <a:srgbClr val="EFBFBF"/>
    <a:srgbClr val="A8E799"/>
    <a:srgbClr val="CDF1C5"/>
    <a:srgbClr val="F1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2" autoAdjust="0"/>
    <p:restoredTop sz="84388" autoAdjust="0"/>
  </p:normalViewPr>
  <p:slideViewPr>
    <p:cSldViewPr snapToObjects="1" showGuides="1">
      <p:cViewPr varScale="1">
        <p:scale>
          <a:sx n="101" d="100"/>
          <a:sy n="101" d="100"/>
        </p:scale>
        <p:origin x="2056" y="184"/>
      </p:cViewPr>
      <p:guideLst>
        <p:guide orient="horz" pos="2108"/>
        <p:guide pos="3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64"/>
    </p:cViewPr>
  </p:sorterViewPr>
  <p:notesViewPr>
    <p:cSldViewPr snapToObjects="1">
      <p:cViewPr varScale="1">
        <p:scale>
          <a:sx n="70" d="100"/>
          <a:sy n="70" d="100"/>
        </p:scale>
        <p:origin x="-2384" y="-120"/>
      </p:cViewPr>
      <p:guideLst>
        <p:guide orient="horz" pos="2946"/>
        <p:guide pos="23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4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6" Type="http://schemas.openxmlformats.org/officeDocument/2006/relationships/font" Target="fonts/font2.fntdata"/><Relationship Id="rId105" Type="http://schemas.openxmlformats.org/officeDocument/2006/relationships/font" Target="fonts/font1.fntdata"/><Relationship Id="rId104" Type="http://schemas.openxmlformats.org/officeDocument/2006/relationships/tableStyles" Target="tableStyles.xml"/><Relationship Id="rId103" Type="http://schemas.openxmlformats.org/officeDocument/2006/relationships/viewProps" Target="viewProps.xml"/><Relationship Id="rId102" Type="http://schemas.openxmlformats.org/officeDocument/2006/relationships/presProps" Target="presProps.xml"/><Relationship Id="rId101" Type="http://schemas.openxmlformats.org/officeDocument/2006/relationships/handoutMaster" Target="handoutMasters/handoutMaster1.xml"/><Relationship Id="rId100" Type="http://schemas.openxmlformats.org/officeDocument/2006/relationships/slide" Target="slides/slide95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5607" y="6858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3999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3999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/>
              <a:t>SSD SLC</a:t>
            </a:r>
            <a:r>
              <a:rPr lang="zh-CN" altLang="en-US" dirty="0"/>
              <a:t>、</a:t>
            </a:r>
            <a:r>
              <a:rPr lang="en-US" altLang="zh-CN" dirty="0"/>
              <a:t>SSD MLC</a:t>
            </a:r>
            <a:r>
              <a:rPr lang="zh-CN" altLang="en-US" dirty="0"/>
              <a:t>、</a:t>
            </a:r>
            <a:r>
              <a:rPr lang="en-US" altLang="zh-CN" dirty="0"/>
              <a:t>SSD TLC</a:t>
            </a:r>
            <a:r>
              <a:rPr lang="zh-CN" altLang="en-US" dirty="0"/>
              <a:t>？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r>
              <a:rPr lang="en-US" dirty="0" err="1"/>
              <a:t>UMin</a:t>
            </a:r>
            <a:r>
              <a:rPr lang="en-US" baseline="0" dirty="0"/>
              <a:t> = 0</a:t>
            </a:r>
            <a:endParaRPr lang="en-US" baseline="0" dirty="0"/>
          </a:p>
          <a:p>
            <a:r>
              <a:rPr lang="en-US" baseline="0" dirty="0" err="1"/>
              <a:t>Umax</a:t>
            </a:r>
            <a:r>
              <a:rPr lang="en-US" baseline="0" dirty="0"/>
              <a:t>=2^w-</a:t>
            </a:r>
            <a:r>
              <a:rPr lang="en-US" altLang="zh-CN" baseline="0" dirty="0"/>
              <a:t>-</a:t>
            </a:r>
            <a:r>
              <a:rPr lang="en-US" baseline="0" dirty="0"/>
              <a:t>1</a:t>
            </a:r>
            <a:endParaRPr lang="en-US" baseline="0" dirty="0"/>
          </a:p>
          <a:p>
            <a:r>
              <a:rPr lang="en-US" baseline="0" dirty="0" err="1"/>
              <a:t>Tmin</a:t>
            </a:r>
            <a:r>
              <a:rPr lang="en-US" baseline="0" dirty="0"/>
              <a:t> = -2^w-1</a:t>
            </a:r>
            <a:endParaRPr lang="en-US" baseline="0" dirty="0"/>
          </a:p>
          <a:p>
            <a:r>
              <a:rPr lang="en-US" baseline="0" dirty="0" err="1"/>
              <a:t>Tmax</a:t>
            </a:r>
            <a:r>
              <a:rPr lang="en-US" baseline="0" dirty="0"/>
              <a:t> = 2^w-1-</a:t>
            </a:r>
            <a:r>
              <a:rPr lang="en-US" altLang="zh-CN" baseline="0" dirty="0"/>
              <a:t>-</a:t>
            </a:r>
            <a:r>
              <a:rPr lang="en-US" baseline="0" dirty="0"/>
              <a:t>1</a:t>
            </a:r>
            <a:endParaRPr lang="en-US" baseline="0" dirty="0"/>
          </a:p>
          <a:p>
            <a:r>
              <a:rPr lang="en-US" baseline="0" dirty="0"/>
              <a:t>Minus 1 = 111…1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343" y="723900"/>
            <a:ext cx="6372578" cy="3584575"/>
          </a:xfrm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343" y="723900"/>
            <a:ext cx="6372578" cy="3584575"/>
          </a:xfrm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7167" y="725488"/>
            <a:ext cx="6369755" cy="3582987"/>
          </a:xfrm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 是编译器把测试数据生成代码里面的x &lt;= (1 &lt;&lt; (n-1)) - 1优化成了x &lt; (1 &lt;&lt; (n-1))。</a:t>
            </a:r>
            <a:r>
              <a:rPr lang="zh-CN" altLang="en-US"/>
              <a:t>该等式在</a:t>
            </a:r>
            <a:r>
              <a:rPr lang="en-US" altLang="zh-CN"/>
              <a:t>n</a:t>
            </a:r>
            <a:r>
              <a:rPr lang="zh-CN" altLang="en-US"/>
              <a:t>为</a:t>
            </a:r>
            <a:r>
              <a:rPr lang="en-US" altLang="zh-CN"/>
              <a:t>32</a:t>
            </a:r>
            <a:r>
              <a:rPr lang="zh-CN" altLang="en-US"/>
              <a:t>时不成立，会溢出，</a:t>
            </a:r>
            <a:r>
              <a:rPr lang="en-US"/>
              <a:t>导致n=32的时候结果不对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2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4" y="435678"/>
            <a:ext cx="1012279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6" y="445070"/>
            <a:ext cx="101219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228600"/>
            <a:ext cx="2914649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0"/>
            <a:ext cx="8544984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7" y="228600"/>
            <a:ext cx="1166283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5"/>
            <a:ext cx="5162549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0"/>
            <a:ext cx="5162549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7" y="228600"/>
            <a:ext cx="1166283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530417" y="-26988"/>
            <a:ext cx="1746249" cy="27559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Carnegie Mellon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1774457" y="6611779"/>
            <a:ext cx="362585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706020202030204" pitchFamily="34" charset="0"/>
                <a:ea typeface="MS PGothic" pitchFamily="-96" charset="-128"/>
                <a:cs typeface="MS PGothic" pitchFamily="-96" charset="-128"/>
              </a:rPr>
            </a:fld>
            <a:endParaRPr lang="en-US" sz="1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21375" y="6629400"/>
            <a:ext cx="50958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254000"/>
            <a:ext cx="11176000" cy="1092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  <a:endParaRPr lang="en-US">
              <a:sym typeface="Calibri Bold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397000"/>
            <a:ext cx="11176000" cy="5435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38100" tIns="38100" rIns="38100" bIns="38100" numCol="1" anchor="t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text styles</a:t>
            </a:r>
            <a:endParaRPr lang="en-US">
              <a:sym typeface="Calibri Bold" charset="0"/>
            </a:endParaRPr>
          </a:p>
          <a:p>
            <a:pPr lvl="1"/>
            <a:r>
              <a:rPr lang="en-US">
                <a:sym typeface="Calibri" pitchFamily="34" charset="0"/>
              </a:rPr>
              <a:t>Second level</a:t>
            </a:r>
            <a:endParaRPr lang="en-US">
              <a:sym typeface="Calibri" pitchFamily="34" charset="0"/>
            </a:endParaRPr>
          </a:p>
          <a:p>
            <a:pPr lvl="2"/>
            <a:r>
              <a:rPr lang="en-US">
                <a:sym typeface="Calibri" pitchFamily="34" charset="0"/>
              </a:rPr>
              <a:t>Third level</a:t>
            </a:r>
            <a:endParaRPr lang="en-US">
              <a:sym typeface="Calibri" pitchFamily="34" charset="0"/>
            </a:endParaRPr>
          </a:p>
          <a:p>
            <a:pPr lvl="3"/>
            <a:r>
              <a:rPr lang="en-US">
                <a:sym typeface="Calibri" pitchFamily="34" charset="0"/>
              </a:rPr>
              <a:t>Fourth level</a:t>
            </a:r>
            <a:endParaRPr lang="en-US">
              <a:sym typeface="Calibri" pitchFamily="34" charset="0"/>
            </a:endParaRPr>
          </a:p>
          <a:p>
            <a:pPr lvl="4"/>
            <a:r>
              <a:rPr lang="en-US">
                <a:sym typeface="Calibri" pitchFamily="34" charset="0"/>
              </a:rPr>
              <a:t>Fifth level</a:t>
            </a:r>
            <a:endParaRPr lang="en-US">
              <a:sym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9pPr>
    </p:titleStyle>
    <p:bodyStyle>
      <a:lvl1pPr marL="254000" indent="-254000" algn="l" rtl="0" eaLnBrk="0" fontAlgn="base" hangingPunct="0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eaLnBrk="0" fontAlgn="base" hangingPunct="0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2pPr>
      <a:lvl3pPr marL="800100" indent="-2032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3pPr>
      <a:lvl4pPr marL="11430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–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4pPr>
      <a:lvl5pPr marL="14605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76251" y="50800"/>
            <a:ext cx="10121900" cy="1549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  <a:endParaRPr lang="en-US">
              <a:sym typeface="Calibri Bol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eaLnBrk="0" fontAlgn="base" hangingPunct="0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2pPr>
      <a:lvl3pPr marL="11430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3pPr>
      <a:lvl4pPr marL="16002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–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4pPr>
      <a:lvl5pPr marL="20574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9.bin"/><Relationship Id="rId4" Type="http://schemas.openxmlformats.org/officeDocument/2006/relationships/tags" Target="../tags/tag2.xml"/><Relationship Id="rId3" Type="http://schemas.openxmlformats.org/officeDocument/2006/relationships/image" Target="../media/image5.wmf"/><Relationship Id="rId2" Type="http://schemas.openxmlformats.org/officeDocument/2006/relationships/oleObject" Target="../embeddings/oleObject8.bin"/><Relationship Id="rId1" Type="http://schemas.openxmlformats.org/officeDocument/2006/relationships/tags" Target="../tags/tag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10.bin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11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1" Type="http://schemas.openxmlformats.org/officeDocument/2006/relationships/oleObject" Target="../embeddings/oleObject12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emf"/><Relationship Id="rId1" Type="http://schemas.openxmlformats.org/officeDocument/2006/relationships/oleObject" Target="../embeddings/oleObject13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tags" Target="../tags/tag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1" Type="http://schemas.openxmlformats.org/officeDocument/2006/relationships/oleObject" Target="../embeddings/oleObject14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209800" y="1708150"/>
            <a:ext cx="7772400" cy="1470025"/>
          </a:xfrm>
        </p:spPr>
        <p:txBody>
          <a:bodyPr/>
          <a:lstStyle/>
          <a:p>
            <a:pPr marL="0" indent="0"/>
            <a:r>
              <a:rPr lang="en-US" dirty="0"/>
              <a:t>Bits, Bytes, and Integers</a:t>
            </a:r>
            <a:br>
              <a:rPr lang="en-US" dirty="0"/>
            </a:br>
            <a:r>
              <a:rPr lang="zh-CN" altLang="en-US" dirty="0"/>
              <a:t>从位、字节到整</a:t>
            </a:r>
            <a:r>
              <a:rPr lang="zh-CN" altLang="en-US" dirty="0"/>
              <a:t>数类型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15-213: Introduction to Computer Systems</a:t>
            </a:r>
            <a:br>
              <a:rPr lang="en-US" b="0" dirty="0"/>
            </a:br>
            <a:r>
              <a:rPr lang="en-US" sz="2000" b="0" dirty="0"/>
              <a:t>2</a:t>
            </a:r>
            <a:r>
              <a:rPr lang="en-US" sz="2000" b="0" baseline="30000" dirty="0"/>
              <a:t>nd</a:t>
            </a:r>
            <a:r>
              <a:rPr lang="en-US" sz="2000" b="0" dirty="0"/>
              <a:t> and 3</a:t>
            </a:r>
            <a:r>
              <a:rPr lang="en-US" sz="2000" b="0" baseline="30000" dirty="0"/>
              <a:t>rd</a:t>
            </a:r>
            <a:r>
              <a:rPr lang="en-US" sz="2000" b="0" dirty="0"/>
              <a:t> Lectures,  Sep. 3 and Sep. 8, 2015</a:t>
            </a:r>
            <a:endParaRPr lang="en-US" sz="2000" b="0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209800" y="3886200"/>
            <a:ext cx="7677492" cy="17526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information as bits </a:t>
            </a:r>
            <a:r>
              <a:rPr lang="zh-CN" altLang="en-US" dirty="0"/>
              <a:t>用位表示信息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Bit-level manipulations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位级别的操作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Integers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整数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无符号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数、有符号数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Conversion, casting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整数之间的转换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Expanding, truncating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整数转换时的扩增和截断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Addition, negation, multiplication, shifting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整数运算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Summary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2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bits</a:t>
            </a:r>
            <a:endParaRPr lang="en-US" dirty="0"/>
          </a:p>
        </p:txBody>
      </p:sp>
      <p:sp>
        <p:nvSpPr>
          <p:cNvPr id="9243" name="Rectangle 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bit is 0 or 1</a:t>
            </a:r>
            <a:endParaRPr lang="en-US" dirty="0"/>
          </a:p>
          <a:p>
            <a:r>
              <a:rPr lang="zh-CN" altLang="en-US" dirty="0"/>
              <a:t>可以用各种方式来编码和解释</a:t>
            </a:r>
            <a:r>
              <a:rPr lang="en-US" altLang="zh-CN" dirty="0"/>
              <a:t>bit</a:t>
            </a:r>
            <a:r>
              <a:rPr lang="zh-CN" altLang="en-US" dirty="0"/>
              <a:t>序列</a:t>
            </a:r>
            <a:endParaRPr lang="en-US" dirty="0"/>
          </a:p>
          <a:p>
            <a:pPr lvl="1"/>
            <a:r>
              <a:rPr lang="en-US" dirty="0"/>
              <a:t>Computers determine what to do (instructions)</a:t>
            </a:r>
            <a:endParaRPr lang="en-US" dirty="0"/>
          </a:p>
          <a:p>
            <a:pPr lvl="1"/>
            <a:r>
              <a:rPr lang="zh-CN" altLang="en-US" dirty="0"/>
              <a:t>可以表示数字、集合、字符串等</a:t>
            </a:r>
            <a:endParaRPr lang="en-US" dirty="0"/>
          </a:p>
          <a:p>
            <a:r>
              <a:rPr lang="en-US" dirty="0"/>
              <a:t>Why bits?  </a:t>
            </a:r>
            <a:r>
              <a:rPr lang="zh-CN" altLang="en-US" dirty="0"/>
              <a:t>基于电子电路的实现</a:t>
            </a:r>
            <a:endParaRPr lang="en-US" dirty="0"/>
          </a:p>
          <a:p>
            <a:pPr lvl="1"/>
            <a:r>
              <a:rPr lang="zh-CN" altLang="en-US" dirty="0"/>
              <a:t>二值稳态，更容易保持（或存储）</a:t>
            </a:r>
            <a:endParaRPr lang="en-US" dirty="0"/>
          </a:p>
          <a:p>
            <a:pPr lvl="1"/>
            <a:r>
              <a:rPr lang="zh-CN" altLang="en-US" dirty="0"/>
              <a:t>二值稳态，可以更可靠地在有噪声的线路上传送</a:t>
            </a:r>
            <a:endParaRPr lang="en-US" dirty="0">
              <a:solidFill>
                <a:srgbClr val="00B050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“非黑即白”最简单，最稳定</a:t>
            </a:r>
            <a:endParaRPr lang="en-US" dirty="0">
              <a:solidFill>
                <a:schemeClr val="tx1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26" name="Group 4"/>
          <p:cNvGrpSpPr/>
          <p:nvPr/>
        </p:nvGrpSpPr>
        <p:grpSpPr bwMode="auto">
          <a:xfrm>
            <a:off x="5057140" y="4310380"/>
            <a:ext cx="6501130" cy="1637405"/>
            <a:chOff x="-199" y="0"/>
            <a:chExt cx="4519" cy="1498"/>
          </a:xfrm>
        </p:grpSpPr>
        <p:sp>
          <p:nvSpPr>
            <p:cNvPr id="27" name="Rectangle 5"/>
            <p:cNvSpPr/>
            <p:nvPr/>
          </p:nvSpPr>
          <p:spPr bwMode="auto">
            <a:xfrm>
              <a:off x="575" y="1008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28" name="Rectangle 6"/>
            <p:cNvSpPr/>
            <p:nvPr/>
          </p:nvSpPr>
          <p:spPr bwMode="auto">
            <a:xfrm>
              <a:off x="575" y="384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29" name="Freeform 7"/>
            <p:cNvSpPr/>
            <p:nvPr/>
          </p:nvSpPr>
          <p:spPr bwMode="auto">
            <a:xfrm>
              <a:off x="576" y="484"/>
              <a:ext cx="3732" cy="716"/>
            </a:xfrm>
            <a:custGeom>
              <a:avLst/>
              <a:gdLst>
                <a:gd name="T0" fmla="*/ 0 w 21600"/>
                <a:gd name="T1" fmla="*/ 21298 h 21600"/>
                <a:gd name="T2" fmla="*/ 948 w 21600"/>
                <a:gd name="T3" fmla="*/ 19699 h 21600"/>
                <a:gd name="T4" fmla="*/ 1775 w 21600"/>
                <a:gd name="T5" fmla="*/ 19398 h 21600"/>
                <a:gd name="T6" fmla="*/ 3302 w 21600"/>
                <a:gd name="T7" fmla="*/ 20665 h 21600"/>
                <a:gd name="T8" fmla="*/ 4636 w 21600"/>
                <a:gd name="T9" fmla="*/ 19699 h 21600"/>
                <a:gd name="T10" fmla="*/ 5397 w 21600"/>
                <a:gd name="T11" fmla="*/ 19066 h 21600"/>
                <a:gd name="T12" fmla="*/ 6164 w 21600"/>
                <a:gd name="T13" fmla="*/ 20031 h 21600"/>
                <a:gd name="T14" fmla="*/ 7111 w 21600"/>
                <a:gd name="T15" fmla="*/ 20333 h 21600"/>
                <a:gd name="T16" fmla="*/ 7685 w 21600"/>
                <a:gd name="T17" fmla="*/ 20031 h 21600"/>
                <a:gd name="T18" fmla="*/ 7878 w 21600"/>
                <a:gd name="T19" fmla="*/ 19699 h 21600"/>
                <a:gd name="T20" fmla="*/ 8132 w 21600"/>
                <a:gd name="T21" fmla="*/ 17165 h 21600"/>
                <a:gd name="T22" fmla="*/ 8832 w 21600"/>
                <a:gd name="T23" fmla="*/ 7632 h 21600"/>
                <a:gd name="T24" fmla="*/ 9339 w 21600"/>
                <a:gd name="T25" fmla="*/ 3499 h 21600"/>
                <a:gd name="T26" fmla="*/ 9913 w 21600"/>
                <a:gd name="T27" fmla="*/ 1599 h 21600"/>
                <a:gd name="T28" fmla="*/ 11054 w 21600"/>
                <a:gd name="T29" fmla="*/ 634 h 21600"/>
                <a:gd name="T30" fmla="*/ 12261 w 21600"/>
                <a:gd name="T31" fmla="*/ 965 h 21600"/>
                <a:gd name="T32" fmla="*/ 12514 w 21600"/>
                <a:gd name="T33" fmla="*/ 1267 h 21600"/>
                <a:gd name="T34" fmla="*/ 13595 w 21600"/>
                <a:gd name="T35" fmla="*/ 332 h 21600"/>
                <a:gd name="T36" fmla="*/ 13975 w 21600"/>
                <a:gd name="T37" fmla="*/ 1267 h 21600"/>
                <a:gd name="T38" fmla="*/ 14422 w 21600"/>
                <a:gd name="T39" fmla="*/ 1599 h 21600"/>
                <a:gd name="T40" fmla="*/ 15436 w 21600"/>
                <a:gd name="T41" fmla="*/ 1267 h 21600"/>
                <a:gd name="T42" fmla="*/ 15817 w 21600"/>
                <a:gd name="T43" fmla="*/ 1931 h 21600"/>
                <a:gd name="T44" fmla="*/ 16390 w 21600"/>
                <a:gd name="T45" fmla="*/ 332 h 21600"/>
                <a:gd name="T46" fmla="*/ 16710 w 21600"/>
                <a:gd name="T47" fmla="*/ 0 h 21600"/>
                <a:gd name="T48" fmla="*/ 18358 w 21600"/>
                <a:gd name="T49" fmla="*/ 12399 h 21600"/>
                <a:gd name="T50" fmla="*/ 19058 w 21600"/>
                <a:gd name="T51" fmla="*/ 19398 h 21600"/>
                <a:gd name="T52" fmla="*/ 20205 w 21600"/>
                <a:gd name="T53" fmla="*/ 21600 h 21600"/>
                <a:gd name="T54" fmla="*/ 20773 w 21600"/>
                <a:gd name="T55" fmla="*/ 21298 h 21600"/>
                <a:gd name="T56" fmla="*/ 20900 w 21600"/>
                <a:gd name="T57" fmla="*/ 20333 h 21600"/>
                <a:gd name="T58" fmla="*/ 21600 w 21600"/>
                <a:gd name="T59" fmla="*/ 19699 h 216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1600"/>
                <a:gd name="T91" fmla="*/ 0 h 21600"/>
                <a:gd name="T92" fmla="*/ 21600 w 21600"/>
                <a:gd name="T93" fmla="*/ 21600 h 216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1600" h="21600">
                  <a:moveTo>
                    <a:pt x="0" y="21298"/>
                  </a:moveTo>
                  <a:cubicBezTo>
                    <a:pt x="326" y="20936"/>
                    <a:pt x="610" y="19820"/>
                    <a:pt x="948" y="19699"/>
                  </a:cubicBezTo>
                  <a:cubicBezTo>
                    <a:pt x="1219" y="19579"/>
                    <a:pt x="1497" y="19488"/>
                    <a:pt x="1775" y="19398"/>
                  </a:cubicBezTo>
                  <a:cubicBezTo>
                    <a:pt x="2276" y="19850"/>
                    <a:pt x="2789" y="20212"/>
                    <a:pt x="3302" y="20665"/>
                  </a:cubicBezTo>
                  <a:cubicBezTo>
                    <a:pt x="3791" y="19760"/>
                    <a:pt x="3984" y="19911"/>
                    <a:pt x="4636" y="19699"/>
                  </a:cubicBezTo>
                  <a:cubicBezTo>
                    <a:pt x="4781" y="19549"/>
                    <a:pt x="5282" y="19066"/>
                    <a:pt x="5397" y="19066"/>
                  </a:cubicBezTo>
                  <a:cubicBezTo>
                    <a:pt x="5663" y="19066"/>
                    <a:pt x="5898" y="19880"/>
                    <a:pt x="6164" y="20031"/>
                  </a:cubicBezTo>
                  <a:cubicBezTo>
                    <a:pt x="6478" y="20182"/>
                    <a:pt x="6792" y="20212"/>
                    <a:pt x="7111" y="20333"/>
                  </a:cubicBezTo>
                  <a:cubicBezTo>
                    <a:pt x="7299" y="20212"/>
                    <a:pt x="7492" y="20182"/>
                    <a:pt x="7685" y="20031"/>
                  </a:cubicBezTo>
                  <a:cubicBezTo>
                    <a:pt x="7751" y="19971"/>
                    <a:pt x="7836" y="19941"/>
                    <a:pt x="7878" y="19699"/>
                  </a:cubicBezTo>
                  <a:cubicBezTo>
                    <a:pt x="7993" y="18945"/>
                    <a:pt x="8023" y="17950"/>
                    <a:pt x="8132" y="17165"/>
                  </a:cubicBezTo>
                  <a:cubicBezTo>
                    <a:pt x="8548" y="13937"/>
                    <a:pt x="8566" y="10921"/>
                    <a:pt x="8832" y="7632"/>
                  </a:cubicBezTo>
                  <a:cubicBezTo>
                    <a:pt x="8935" y="6305"/>
                    <a:pt x="9176" y="4616"/>
                    <a:pt x="9339" y="3499"/>
                  </a:cubicBezTo>
                  <a:cubicBezTo>
                    <a:pt x="9466" y="2594"/>
                    <a:pt x="9689" y="1810"/>
                    <a:pt x="9913" y="1599"/>
                  </a:cubicBezTo>
                  <a:cubicBezTo>
                    <a:pt x="10287" y="1207"/>
                    <a:pt x="11054" y="634"/>
                    <a:pt x="11054" y="634"/>
                  </a:cubicBezTo>
                  <a:cubicBezTo>
                    <a:pt x="11452" y="724"/>
                    <a:pt x="11856" y="784"/>
                    <a:pt x="12261" y="965"/>
                  </a:cubicBezTo>
                  <a:cubicBezTo>
                    <a:pt x="12345" y="996"/>
                    <a:pt x="12424" y="1267"/>
                    <a:pt x="12514" y="1267"/>
                  </a:cubicBezTo>
                  <a:cubicBezTo>
                    <a:pt x="12859" y="1267"/>
                    <a:pt x="13245" y="603"/>
                    <a:pt x="13595" y="332"/>
                  </a:cubicBezTo>
                  <a:cubicBezTo>
                    <a:pt x="13728" y="513"/>
                    <a:pt x="13837" y="1056"/>
                    <a:pt x="13975" y="1267"/>
                  </a:cubicBezTo>
                  <a:cubicBezTo>
                    <a:pt x="14114" y="1478"/>
                    <a:pt x="14271" y="1478"/>
                    <a:pt x="14422" y="1599"/>
                  </a:cubicBezTo>
                  <a:cubicBezTo>
                    <a:pt x="14790" y="1086"/>
                    <a:pt x="15050" y="935"/>
                    <a:pt x="15436" y="1267"/>
                  </a:cubicBezTo>
                  <a:cubicBezTo>
                    <a:pt x="15563" y="1478"/>
                    <a:pt x="15684" y="2142"/>
                    <a:pt x="15817" y="1931"/>
                  </a:cubicBezTo>
                  <a:cubicBezTo>
                    <a:pt x="16022" y="1569"/>
                    <a:pt x="16173" y="543"/>
                    <a:pt x="16390" y="332"/>
                  </a:cubicBezTo>
                  <a:cubicBezTo>
                    <a:pt x="16493" y="211"/>
                    <a:pt x="16601" y="91"/>
                    <a:pt x="16710" y="0"/>
                  </a:cubicBezTo>
                  <a:cubicBezTo>
                    <a:pt x="17682" y="4857"/>
                    <a:pt x="17851" y="5038"/>
                    <a:pt x="18358" y="12399"/>
                  </a:cubicBezTo>
                  <a:cubicBezTo>
                    <a:pt x="18539" y="15023"/>
                    <a:pt x="18527" y="18010"/>
                    <a:pt x="19058" y="19398"/>
                  </a:cubicBezTo>
                  <a:cubicBezTo>
                    <a:pt x="19855" y="18674"/>
                    <a:pt x="19445" y="17799"/>
                    <a:pt x="20205" y="21600"/>
                  </a:cubicBezTo>
                  <a:cubicBezTo>
                    <a:pt x="20393" y="21479"/>
                    <a:pt x="20592" y="21600"/>
                    <a:pt x="20773" y="21298"/>
                  </a:cubicBezTo>
                  <a:cubicBezTo>
                    <a:pt x="20839" y="21147"/>
                    <a:pt x="20839" y="20544"/>
                    <a:pt x="20900" y="20333"/>
                  </a:cubicBezTo>
                  <a:cubicBezTo>
                    <a:pt x="21063" y="19669"/>
                    <a:pt x="21401" y="19699"/>
                    <a:pt x="21600" y="19699"/>
                  </a:cubicBezTo>
                </a:path>
              </a:pathLst>
            </a:cu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 flipH="1">
              <a:off x="432" y="124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31" name="Line 9"/>
            <p:cNvSpPr>
              <a:spLocks noChangeShapeType="1"/>
            </p:cNvSpPr>
            <p:nvPr/>
          </p:nvSpPr>
          <p:spPr bwMode="auto">
            <a:xfrm flipH="1">
              <a:off x="432" y="38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32" name="Rectangle 10"/>
            <p:cNvSpPr/>
            <p:nvPr/>
          </p:nvSpPr>
          <p:spPr bwMode="auto">
            <a:xfrm>
              <a:off x="-199" y="1152"/>
              <a:ext cx="592" cy="346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squar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0.0V</a:t>
              </a:r>
              <a:endParaRPr lang="en-US" sz="1800" b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33" name="Rectangle 11"/>
            <p:cNvSpPr/>
            <p:nvPr/>
          </p:nvSpPr>
          <p:spPr bwMode="auto">
            <a:xfrm>
              <a:off x="-199" y="912"/>
              <a:ext cx="596" cy="346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square" lIns="50800" tIns="50800" bIns="50800"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0.2V</a:t>
              </a:r>
              <a:endParaRPr lang="en-US" sz="1800" b="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34" name="Rectangle 12"/>
            <p:cNvSpPr/>
            <p:nvPr/>
          </p:nvSpPr>
          <p:spPr bwMode="auto">
            <a:xfrm>
              <a:off x="-199" y="528"/>
              <a:ext cx="596" cy="346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square" lIns="50800" tIns="50800" bIns="50800"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0.9V</a:t>
              </a:r>
              <a:endParaRPr lang="en-US" sz="1800" b="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35" name="Rectangle 13"/>
            <p:cNvSpPr/>
            <p:nvPr/>
          </p:nvSpPr>
          <p:spPr bwMode="auto">
            <a:xfrm>
              <a:off x="-181" y="288"/>
              <a:ext cx="525" cy="346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square" lIns="50800" tIns="50800" bIns="50800"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1.1V</a:t>
              </a:r>
              <a:endParaRPr lang="en-US" sz="1800" b="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36" name="Line 14"/>
            <p:cNvSpPr>
              <a:spLocks noChangeShapeType="1"/>
            </p:cNvSpPr>
            <p:nvPr/>
          </p:nvSpPr>
          <p:spPr bwMode="auto">
            <a:xfrm>
              <a:off x="576" y="96"/>
              <a:ext cx="139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37" name="Line 15"/>
            <p:cNvSpPr>
              <a:spLocks noChangeShapeType="1"/>
            </p:cNvSpPr>
            <p:nvPr/>
          </p:nvSpPr>
          <p:spPr bwMode="auto">
            <a:xfrm>
              <a:off x="2160" y="96"/>
              <a:ext cx="144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38" name="Line 16"/>
            <p:cNvSpPr>
              <a:spLocks noChangeShapeType="1"/>
            </p:cNvSpPr>
            <p:nvPr/>
          </p:nvSpPr>
          <p:spPr bwMode="auto">
            <a:xfrm>
              <a:off x="3792" y="96"/>
              <a:ext cx="48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39" name="Line 17"/>
            <p:cNvSpPr>
              <a:spLocks noChangeShapeType="1"/>
            </p:cNvSpPr>
            <p:nvPr/>
          </p:nvSpPr>
          <p:spPr bwMode="auto">
            <a:xfrm>
              <a:off x="1968" y="48"/>
              <a:ext cx="1" cy="100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0" name="Line 18"/>
            <p:cNvSpPr>
              <a:spLocks noChangeShapeType="1"/>
            </p:cNvSpPr>
            <p:nvPr/>
          </p:nvSpPr>
          <p:spPr bwMode="auto">
            <a:xfrm>
              <a:off x="216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1" name="Line 19"/>
            <p:cNvSpPr>
              <a:spLocks noChangeShapeType="1"/>
            </p:cNvSpPr>
            <p:nvPr/>
          </p:nvSpPr>
          <p:spPr bwMode="auto">
            <a:xfrm>
              <a:off x="360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2" name="Line 20"/>
            <p:cNvSpPr>
              <a:spLocks noChangeShapeType="1"/>
            </p:cNvSpPr>
            <p:nvPr/>
          </p:nvSpPr>
          <p:spPr bwMode="auto">
            <a:xfrm>
              <a:off x="3792" y="48"/>
              <a:ext cx="1" cy="96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3" name="Rectangle 21"/>
            <p:cNvSpPr/>
            <p:nvPr/>
          </p:nvSpPr>
          <p:spPr bwMode="auto">
            <a:xfrm>
              <a:off x="1105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  <a:endParaRPr lang="en-US" sz="1800" b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4" name="Rectangle 22"/>
            <p:cNvSpPr/>
            <p:nvPr/>
          </p:nvSpPr>
          <p:spPr bwMode="auto">
            <a:xfrm>
              <a:off x="2641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1</a:t>
              </a:r>
              <a:endParaRPr lang="en-US" sz="1800" b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5" name="Rectangle 23"/>
            <p:cNvSpPr/>
            <p:nvPr/>
          </p:nvSpPr>
          <p:spPr bwMode="auto">
            <a:xfrm>
              <a:off x="3936" y="0"/>
              <a:ext cx="200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  <a:endParaRPr lang="en-US" sz="1800" b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6" name="Line 24"/>
            <p:cNvSpPr>
              <a:spLocks noChangeShapeType="1"/>
            </p:cNvSpPr>
            <p:nvPr/>
          </p:nvSpPr>
          <p:spPr bwMode="auto">
            <a:xfrm flipH="1">
              <a:off x="432" y="100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7" name="Line 25"/>
            <p:cNvSpPr>
              <a:spLocks noChangeShapeType="1"/>
            </p:cNvSpPr>
            <p:nvPr/>
          </p:nvSpPr>
          <p:spPr bwMode="auto">
            <a:xfrm flipH="1">
              <a:off x="432" y="62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2" name="Rectangle 26"/>
          <p:cNvSpPr>
            <a:spLocks noGrp="1" noChangeArrowheads="1"/>
          </p:cNvSpPr>
          <p:nvPr>
            <p:ph type="title"/>
          </p:nvPr>
        </p:nvSpPr>
        <p:spPr>
          <a:xfrm>
            <a:off x="1881018" y="435678"/>
            <a:ext cx="8253582" cy="762000"/>
          </a:xfrm>
        </p:spPr>
        <p:txBody>
          <a:bodyPr/>
          <a:lstStyle/>
          <a:p>
            <a:r>
              <a:rPr lang="zh-CN" altLang="en-US" dirty="0"/>
              <a:t>举例：数字的二进制</a:t>
            </a:r>
            <a:r>
              <a:rPr lang="zh-CN" altLang="en-US" dirty="0"/>
              <a:t>表示</a:t>
            </a:r>
            <a:endParaRPr lang="zh-CN" altLang="en-US" dirty="0"/>
          </a:p>
        </p:txBody>
      </p:sp>
      <p:sp>
        <p:nvSpPr>
          <p:cNvPr id="9243" name="Rectangle 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数字的二进制表示</a:t>
            </a:r>
            <a:endParaRPr lang="en-US" dirty="0"/>
          </a:p>
          <a:p>
            <a:pPr lvl="1"/>
            <a:r>
              <a:rPr lang="en-US" dirty="0"/>
              <a:t>Represent 15213</a:t>
            </a:r>
            <a:r>
              <a:rPr lang="en-US" baseline="-25000" dirty="0"/>
              <a:t>10</a:t>
            </a:r>
            <a:r>
              <a:rPr lang="en-US" dirty="0"/>
              <a:t> as 11101101101101</a:t>
            </a:r>
            <a:r>
              <a:rPr lang="en-US" baseline="-25000" dirty="0"/>
              <a:t>2</a:t>
            </a:r>
            <a:endParaRPr lang="en-US" baseline="-25000" dirty="0"/>
          </a:p>
          <a:p>
            <a:pPr lvl="1"/>
            <a:r>
              <a:rPr lang="en-US" dirty="0"/>
              <a:t>Represent 1.20</a:t>
            </a:r>
            <a:r>
              <a:rPr lang="en-US" baseline="-25000" dirty="0"/>
              <a:t>10</a:t>
            </a:r>
            <a:r>
              <a:rPr lang="en-US" dirty="0"/>
              <a:t> as 1.0011001100110011[0011]…</a:t>
            </a:r>
            <a:r>
              <a:rPr lang="en-US" baseline="-25000" dirty="0"/>
              <a:t>2</a:t>
            </a:r>
            <a:endParaRPr lang="en-US" baseline="-25000" dirty="0"/>
          </a:p>
          <a:p>
            <a:pPr lvl="1"/>
            <a:r>
              <a:rPr lang="en-US" dirty="0"/>
              <a:t>Represent 1.5213 X 10</a:t>
            </a:r>
            <a:r>
              <a:rPr lang="en-US" baseline="30000" dirty="0"/>
              <a:t>4</a:t>
            </a:r>
            <a:r>
              <a:rPr lang="en-US" dirty="0"/>
              <a:t>  as 1.1101101101101</a:t>
            </a:r>
            <a:r>
              <a:rPr lang="en-US" baseline="-25000" dirty="0"/>
              <a:t>2</a:t>
            </a:r>
            <a:r>
              <a:rPr lang="en-US" dirty="0"/>
              <a:t> X 2</a:t>
            </a:r>
            <a:r>
              <a:rPr lang="en-US" baseline="30000" dirty="0"/>
              <a:t>13</a:t>
            </a:r>
            <a:endParaRPr lang="en-US" baseline="30000" dirty="0"/>
          </a:p>
          <a:p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不同进制的</a:t>
            </a:r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精确表示？</a:t>
            </a:r>
            <a:endParaRPr lang="zh-CN" altLang="en-US" sz="2000" dirty="0">
              <a:latin typeface="Times" panose="00000500000000020000" pitchFamily="18" charset="0"/>
              <a:cs typeface="Times" panose="00000500000000020000" pitchFamily="18" charset="0"/>
            </a:endParaRPr>
          </a:p>
          <a:p>
            <a:pPr lvl="1"/>
            <a:r>
              <a:rPr lang="en-US" altLang="zh-CN" sz="2000" dirty="0">
                <a:latin typeface="Times" panose="00000500000000020000" pitchFamily="18" charset="0"/>
                <a:cs typeface="Times" panose="00000500000000020000" pitchFamily="18" charset="0"/>
              </a:rPr>
              <a:t>10</a:t>
            </a:r>
            <a:r>
              <a:rPr lang="zh-CN" altLang="en-US" sz="2000" dirty="0">
                <a:latin typeface="Times" panose="00000500000000020000" pitchFamily="18" charset="0"/>
                <a:cs typeface="Times" panose="00000500000000020000" pitchFamily="18" charset="0"/>
              </a:rPr>
              <a:t>进制下的有限小数，在</a:t>
            </a:r>
            <a:r>
              <a:rPr lang="en-US" altLang="zh-CN" sz="2000" dirty="0">
                <a:latin typeface="Times" panose="00000500000000020000" pitchFamily="18" charset="0"/>
                <a:cs typeface="Times" panose="00000500000000020000" pitchFamily="18" charset="0"/>
              </a:rPr>
              <a:t>2</a:t>
            </a:r>
            <a:r>
              <a:rPr lang="zh-CN" altLang="en-US" sz="2000" dirty="0">
                <a:latin typeface="Times" panose="00000500000000020000" pitchFamily="18" charset="0"/>
                <a:cs typeface="Times" panose="00000500000000020000" pitchFamily="18" charset="0"/>
              </a:rPr>
              <a:t>进制为无限小数？</a:t>
            </a:r>
            <a:endParaRPr lang="zh-CN" altLang="en-US" sz="2000" dirty="0">
              <a:latin typeface="Times" panose="00000500000000020000" pitchFamily="18" charset="0"/>
              <a:cs typeface="Times" panose="00000500000000020000" pitchFamily="18" charset="0"/>
            </a:endParaRPr>
          </a:p>
          <a:p>
            <a:pPr lvl="2"/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有</a:t>
            </a:r>
            <a:r>
              <a:rPr lang="en-US" altLang="zh-CN" dirty="0">
                <a:latin typeface="Times" panose="00000500000000020000" pitchFamily="18" charset="0"/>
                <a:cs typeface="Times" panose="00000500000000020000" pitchFamily="18" charset="0"/>
              </a:rPr>
              <a:t>。</a:t>
            </a:r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比如</a:t>
            </a:r>
            <a:r>
              <a:rPr lang="en-US" altLang="zh-CN" dirty="0">
                <a:latin typeface="Times" panose="00000500000000020000" pitchFamily="18" charset="0"/>
                <a:cs typeface="Times" panose="00000500000000020000" pitchFamily="18" charset="0"/>
              </a:rPr>
              <a:t>，0.1</a:t>
            </a:r>
            <a:endParaRPr lang="zh-CN" altLang="en-US" sz="2000" dirty="0">
              <a:latin typeface="Times" panose="00000500000000020000" pitchFamily="18" charset="0"/>
              <a:cs typeface="Times" panose="00000500000000020000" pitchFamily="18" charset="0"/>
            </a:endParaRPr>
          </a:p>
          <a:p>
            <a:pPr lvl="1"/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反过来</a:t>
            </a:r>
            <a:r>
              <a:rPr lang="en-US" altLang="zh-CN" dirty="0">
                <a:latin typeface="Times" panose="00000500000000020000" pitchFamily="18" charset="0"/>
                <a:cs typeface="Times" panose="00000500000000020000" pitchFamily="18" charset="0"/>
              </a:rPr>
              <a:t>，2</a:t>
            </a:r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进制下的有限小数，</a:t>
            </a:r>
            <a:r>
              <a:rPr lang="en-US" altLang="zh-CN" dirty="0">
                <a:latin typeface="Times" panose="00000500000000020000" pitchFamily="18" charset="0"/>
                <a:cs typeface="Times" panose="00000500000000020000" pitchFamily="18" charset="0"/>
              </a:rPr>
              <a:t>10</a:t>
            </a:r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进制为无限小数？</a:t>
            </a:r>
            <a:endParaRPr lang="zh-CN" altLang="en-US" dirty="0">
              <a:latin typeface="Times" panose="00000500000000020000" pitchFamily="18" charset="0"/>
              <a:cs typeface="Times" panose="00000500000000020000" pitchFamily="18" charset="0"/>
            </a:endParaRPr>
          </a:p>
          <a:p>
            <a:pPr lvl="2"/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没有</a:t>
            </a:r>
            <a:r>
              <a:rPr lang="en-US" altLang="zh-CN" dirty="0">
                <a:latin typeface="Times" panose="00000500000000020000" pitchFamily="18" charset="0"/>
                <a:cs typeface="Times" panose="00000500000000020000" pitchFamily="18" charset="0"/>
              </a:rPr>
              <a:t>。</a:t>
            </a:r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为什么</a:t>
            </a:r>
            <a:r>
              <a:rPr lang="en-US" altLang="zh-CN" dirty="0">
                <a:latin typeface="Times" panose="00000500000000020000" pitchFamily="18" charset="0"/>
                <a:cs typeface="Times" panose="00000500000000020000" pitchFamily="18" charset="0"/>
              </a:rPr>
              <a:t>？</a:t>
            </a:r>
            <a:endParaRPr lang="en-US" altLang="zh-CN" dirty="0">
              <a:latin typeface="Times" panose="00000500000000020000" pitchFamily="18" charset="0"/>
              <a:cs typeface="Times" panose="00000500000000020000" pitchFamily="18" charset="0"/>
            </a:endParaRPr>
          </a:p>
          <a:p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二进制转</a:t>
            </a:r>
            <a:r>
              <a:rPr lang="en-US" altLang="zh-CN" dirty="0">
                <a:latin typeface="Times" panose="00000500000000020000" pitchFamily="18" charset="0"/>
                <a:cs typeface="Times" panose="00000500000000020000" pitchFamily="18" charset="0"/>
              </a:rPr>
              <a:t>10</a:t>
            </a:r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进制</a:t>
            </a:r>
            <a:endParaRPr lang="zh-CN" altLang="en-US" dirty="0">
              <a:latin typeface="Times" panose="00000500000000020000" pitchFamily="18" charset="0"/>
              <a:cs typeface="Times" panose="00000500000000020000" pitchFamily="18" charset="0"/>
            </a:endParaRPr>
          </a:p>
          <a:p>
            <a:r>
              <a:rPr lang="en-US" altLang="zh-CN" dirty="0">
                <a:latin typeface="Times" panose="00000500000000020000" pitchFamily="18" charset="0"/>
                <a:cs typeface="Times" panose="00000500000000020000" pitchFamily="18" charset="0"/>
              </a:rPr>
              <a:t>10</a:t>
            </a:r>
            <a:r>
              <a:rPr lang="zh-CN" altLang="en-US" dirty="0">
                <a:latin typeface="Times" panose="00000500000000020000" pitchFamily="18" charset="0"/>
                <a:cs typeface="Times" panose="00000500000000020000" pitchFamily="18" charset="0"/>
              </a:rPr>
              <a:t>进制转二进制（了解，不作要求）</a:t>
            </a:r>
            <a:endParaRPr lang="zh-CN" altLang="en-US" dirty="0">
              <a:latin typeface="Times" panose="00000500000000020000" pitchFamily="18" charset="0"/>
              <a:cs typeface="Times" panose="00000500000000020000" pitchFamily="18" charset="0"/>
            </a:endParaRPr>
          </a:p>
          <a:p>
            <a:pPr lvl="1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" panose="00000500000000020000" pitchFamily="18" charset="0"/>
                <a:cs typeface="Times" panose="00000500000000020000" pitchFamily="18" charset="0"/>
              </a:rPr>
              <a:t>整数采用"除2取余，逆序排列"法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Times" panose="00000500000000020000" pitchFamily="18" charset="0"/>
              <a:cs typeface="Times" panose="00000500000000020000" pitchFamily="18" charset="0"/>
            </a:endParaRPr>
          </a:p>
          <a:p>
            <a:pPr lvl="1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" panose="00000500000000020000" pitchFamily="18" charset="0"/>
                <a:cs typeface="Times" panose="00000500000000020000" pitchFamily="18" charset="0"/>
              </a:rPr>
              <a:t>小数采用"乘2取整，顺序排列"法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Times" panose="00000500000000020000" pitchFamily="18" charset="0"/>
              <a:cs typeface="Times" panose="00000500000000020000" pitchFamily="18" charset="0"/>
            </a:endParaRPr>
          </a:p>
          <a:p>
            <a:endParaRPr lang="zh-CN" altLang="en-US" baseline="30000" dirty="0">
              <a:solidFill>
                <a:schemeClr val="bg1">
                  <a:lumMod val="50000"/>
                </a:schemeClr>
              </a:solidFill>
              <a:latin typeface="Times" panose="00000500000000020000" pitchFamily="18" charset="0"/>
              <a:cs typeface="Times" panose="00000500000000020000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 bldLvl="2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zh-CN" altLang="en-US"/>
              <a:t>位与字节（</a:t>
            </a:r>
            <a:r>
              <a:rPr lang="en-US" altLang="zh-CN"/>
              <a:t>bit and byte</a:t>
            </a:r>
            <a:r>
              <a:rPr lang="zh-CN" altLang="en-US">
                <a:ea typeface="SimSun" charset="0"/>
              </a:rPr>
              <a:t>）</a:t>
            </a:r>
            <a:endParaRPr lang="zh-CN" altLang="en-US">
              <a:ea typeface="SimSun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1</a:t>
            </a:r>
            <a:r>
              <a:rPr lang="zh-CN" altLang="en-US" dirty="0"/>
              <a:t>个字节</a:t>
            </a:r>
            <a:r>
              <a:rPr lang="en-US" altLang="zh-CN" dirty="0"/>
              <a:t> </a:t>
            </a:r>
            <a:r>
              <a:rPr lang="en-US" dirty="0"/>
              <a:t>= 8 bits</a:t>
            </a:r>
            <a:endParaRPr lang="en-US" dirty="0"/>
          </a:p>
          <a:p>
            <a:pPr marL="552450" lvl="1" eaLnBrk="1" hangingPunct="1"/>
            <a:r>
              <a:rPr lang="zh-CN" altLang="en-US" dirty="0"/>
              <a:t>二进制</a:t>
            </a:r>
            <a:r>
              <a:rPr lang="en-US" altLang="zh-CN" dirty="0"/>
              <a:t>：</a:t>
            </a:r>
            <a:r>
              <a:rPr lang="en-US" dirty="0"/>
              <a:t>00000000</a:t>
            </a:r>
            <a:r>
              <a:rPr lang="en-US" baseline="-6000" dirty="0"/>
              <a:t>2</a:t>
            </a:r>
            <a:r>
              <a:rPr lang="en-US" dirty="0"/>
              <a:t> to 11111111</a:t>
            </a:r>
            <a:r>
              <a:rPr lang="en-US" baseline="-6000" dirty="0"/>
              <a:t>2</a:t>
            </a:r>
            <a:endParaRPr lang="en-US" dirty="0"/>
          </a:p>
          <a:p>
            <a:pPr marL="552450" lvl="1" eaLnBrk="1" hangingPunct="1"/>
            <a:r>
              <a:rPr lang="en-US" altLang="zh-CN" dirty="0"/>
              <a:t>10</a:t>
            </a:r>
            <a:r>
              <a:rPr lang="zh-CN" altLang="en-US" dirty="0"/>
              <a:t>进制</a:t>
            </a:r>
            <a:r>
              <a:rPr lang="en-US" altLang="zh-CN" dirty="0"/>
              <a:t>：</a:t>
            </a:r>
            <a:r>
              <a:rPr lang="en-US" dirty="0"/>
              <a:t>0</a:t>
            </a:r>
            <a:r>
              <a:rPr lang="en-US" baseline="-6000" dirty="0"/>
              <a:t>10</a:t>
            </a:r>
            <a:r>
              <a:rPr lang="en-US" dirty="0"/>
              <a:t> to 255</a:t>
            </a:r>
            <a:r>
              <a:rPr lang="en-US" baseline="-6000" dirty="0"/>
              <a:t>10</a:t>
            </a:r>
            <a:endParaRPr lang="en-US" dirty="0"/>
          </a:p>
          <a:p>
            <a:pPr marL="552450" lvl="1" eaLnBrk="1" hangingPunct="1"/>
            <a:r>
              <a:rPr lang="en-US" altLang="zh-CN" dirty="0"/>
              <a:t>16</a:t>
            </a:r>
            <a:r>
              <a:rPr lang="zh-CN" altLang="en-US" dirty="0"/>
              <a:t>进制</a:t>
            </a:r>
            <a:r>
              <a:rPr lang="en-US" altLang="zh-CN" dirty="0"/>
              <a:t>：</a:t>
            </a:r>
            <a:r>
              <a:rPr lang="en-US" dirty="0"/>
              <a:t>00</a:t>
            </a:r>
            <a:r>
              <a:rPr lang="en-US" baseline="-6000" dirty="0"/>
              <a:t>16</a:t>
            </a:r>
            <a:r>
              <a:rPr lang="en-US" dirty="0"/>
              <a:t> to FF</a:t>
            </a:r>
            <a:r>
              <a:rPr lang="en-US" baseline="-6000" dirty="0"/>
              <a:t>16</a:t>
            </a:r>
            <a:endParaRPr lang="en-US" dirty="0"/>
          </a:p>
          <a:p>
            <a:pPr marL="838200" lvl="2" eaLnBrk="1" hangingPunct="1"/>
            <a:r>
              <a:rPr lang="zh-CN" altLang="en-US" dirty="0"/>
              <a:t>数字的</a:t>
            </a:r>
            <a:r>
              <a:rPr lang="en-US" altLang="zh-CN" dirty="0"/>
              <a:t>16</a:t>
            </a:r>
            <a:r>
              <a:rPr lang="zh-CN" altLang="en-US" dirty="0"/>
              <a:t>进制表示</a:t>
            </a:r>
            <a:endParaRPr lang="zh-CN" altLang="en-US" dirty="0"/>
          </a:p>
          <a:p>
            <a:pPr marL="838200" lvl="2" eaLnBrk="1" hangingPunct="1"/>
            <a:r>
              <a:rPr lang="zh-CN" altLang="en-US" dirty="0"/>
              <a:t>使用字符</a:t>
            </a:r>
            <a:r>
              <a:rPr lang="en-US" dirty="0"/>
              <a:t> ‘0’ to ‘9’ and ‘A’ to ‘F’</a:t>
            </a:r>
            <a:endParaRPr lang="en-US" dirty="0"/>
          </a:p>
          <a:p>
            <a:pPr marL="838200" lvl="2"/>
            <a:r>
              <a:rPr lang="zh-CN" altLang="en-US" dirty="0">
                <a:sym typeface="+mn-ea"/>
              </a:rPr>
              <a:t>如何在</a:t>
            </a:r>
            <a:r>
              <a:rPr lang="en-US" altLang="zh-CN" dirty="0">
                <a:sym typeface="+mn-ea"/>
              </a:rPr>
              <a:t>C/C++</a:t>
            </a:r>
            <a:r>
              <a:rPr lang="zh-CN" altLang="en-US" dirty="0">
                <a:sym typeface="+mn-ea"/>
              </a:rPr>
              <a:t>中描述不同进制的字面量？</a:t>
            </a:r>
            <a:endParaRPr lang="zh-CN" altLang="en-US" dirty="0"/>
          </a:p>
          <a:p>
            <a:pPr marL="1295400" lvl="3"/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进制</a:t>
            </a:r>
            <a:r>
              <a:rPr lang="en-US" altLang="zh-CN" dirty="0">
                <a:sym typeface="+mn-ea"/>
              </a:rPr>
              <a:t>、10</a:t>
            </a:r>
            <a:r>
              <a:rPr lang="zh-CN" altLang="en-US" dirty="0">
                <a:sym typeface="+mn-ea"/>
              </a:rPr>
              <a:t>进制</a:t>
            </a:r>
            <a:r>
              <a:rPr lang="en-US" altLang="zh-CN" dirty="0">
                <a:sym typeface="+mn-ea"/>
              </a:rPr>
              <a:t>、16</a:t>
            </a:r>
            <a:r>
              <a:rPr lang="zh-CN" altLang="en-US" dirty="0">
                <a:sym typeface="+mn-ea"/>
              </a:rPr>
              <a:t>进制</a:t>
            </a:r>
            <a:endParaRPr lang="zh-CN" altLang="en-US" dirty="0">
              <a:sym typeface="+mn-ea"/>
            </a:endParaRPr>
          </a:p>
          <a:p>
            <a:pPr marL="1295400" lvl="3"/>
            <a:r>
              <a:rPr lang="en-US" altLang="zh-CN" dirty="0">
                <a:sym typeface="+mn-ea"/>
              </a:rPr>
              <a:t>0b10、10、</a:t>
            </a:r>
            <a:r>
              <a:rPr lang="en-US" altLang="zh-CN" dirty="0">
                <a:ea typeface="SimSun" charset="0"/>
                <a:sym typeface="+mn-ea"/>
              </a:rPr>
              <a:t> 0x10</a:t>
            </a:r>
            <a:r>
              <a:rPr lang="zh-CN" altLang="en-US" dirty="0">
                <a:ea typeface="SimSun" charset="0"/>
                <a:sym typeface="+mn-ea"/>
              </a:rPr>
              <a:t>分别代表多少</a:t>
            </a:r>
            <a:r>
              <a:rPr lang="en-US" altLang="zh-CN" dirty="0">
                <a:ea typeface="SimSun" charset="0"/>
                <a:sym typeface="+mn-ea"/>
              </a:rPr>
              <a:t>？</a:t>
            </a:r>
            <a:endParaRPr lang="zh-CN" altLang="en-US" dirty="0"/>
          </a:p>
          <a:p>
            <a:pPr marL="838200" lvl="2"/>
            <a:endParaRPr lang="en-US" dirty="0"/>
          </a:p>
          <a:p>
            <a:pPr marL="1181100" lvl="3" eaLnBrk="1" hangingPunct="1">
              <a:buNone/>
            </a:pPr>
            <a:endParaRPr lang="en-US" dirty="0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8077200" y="1387573"/>
            <a:ext cx="1755775" cy="4321082"/>
            <a:chOff x="0" y="177"/>
            <a:chExt cx="1106" cy="2721"/>
          </a:xfrm>
        </p:grpSpPr>
        <p:grpSp>
          <p:nvGrpSpPr>
            <p:cNvPr id="3" name="Group 6"/>
            <p:cNvGrpSpPr/>
            <p:nvPr/>
          </p:nvGrpSpPr>
          <p:grpSpPr bwMode="auto">
            <a:xfrm>
              <a:off x="0" y="500"/>
              <a:ext cx="1104" cy="2398"/>
              <a:chOff x="0" y="-7"/>
              <a:chExt cx="1104" cy="2398"/>
            </a:xfrm>
          </p:grpSpPr>
          <p:grpSp>
            <p:nvGrpSpPr>
              <p:cNvPr id="4" name="Group 7"/>
              <p:cNvGrpSpPr/>
              <p:nvPr/>
            </p:nvGrpSpPr>
            <p:grpSpPr bwMode="auto">
              <a:xfrm>
                <a:off x="0" y="-7"/>
                <a:ext cx="288" cy="238"/>
                <a:chOff x="0" y="-7"/>
                <a:chExt cx="288" cy="238"/>
              </a:xfrm>
            </p:grpSpPr>
            <p:sp>
              <p:nvSpPr>
                <p:cNvPr id="43161" name="Rectangle 8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62" name="Rectangle 9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" name="Group 10"/>
              <p:cNvGrpSpPr/>
              <p:nvPr/>
            </p:nvGrpSpPr>
            <p:grpSpPr bwMode="auto">
              <a:xfrm>
                <a:off x="288" y="-7"/>
                <a:ext cx="288" cy="238"/>
                <a:chOff x="0" y="-7"/>
                <a:chExt cx="288" cy="238"/>
              </a:xfrm>
            </p:grpSpPr>
            <p:sp>
              <p:nvSpPr>
                <p:cNvPr id="43159" name="Rectangle 11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60" name="Rectangle 12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6" name="Group 13"/>
              <p:cNvGrpSpPr/>
              <p:nvPr/>
            </p:nvGrpSpPr>
            <p:grpSpPr bwMode="auto">
              <a:xfrm>
                <a:off x="576" y="-7"/>
                <a:ext cx="528" cy="238"/>
                <a:chOff x="0" y="-7"/>
                <a:chExt cx="528" cy="238"/>
              </a:xfrm>
            </p:grpSpPr>
            <p:sp>
              <p:nvSpPr>
                <p:cNvPr id="43157" name="Rectangle 14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58" name="Rectangle 15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7" name="Group 16"/>
              <p:cNvGrpSpPr/>
              <p:nvPr/>
            </p:nvGrpSpPr>
            <p:grpSpPr bwMode="auto">
              <a:xfrm>
                <a:off x="0" y="137"/>
                <a:ext cx="288" cy="238"/>
                <a:chOff x="0" y="-7"/>
                <a:chExt cx="288" cy="238"/>
              </a:xfrm>
            </p:grpSpPr>
            <p:sp>
              <p:nvSpPr>
                <p:cNvPr id="43155" name="Rectangle 17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56" name="Rectangle 18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8" name="Group 19"/>
              <p:cNvGrpSpPr/>
              <p:nvPr/>
            </p:nvGrpSpPr>
            <p:grpSpPr bwMode="auto">
              <a:xfrm>
                <a:off x="288" y="137"/>
                <a:ext cx="288" cy="238"/>
                <a:chOff x="0" y="-7"/>
                <a:chExt cx="288" cy="238"/>
              </a:xfrm>
            </p:grpSpPr>
            <p:sp>
              <p:nvSpPr>
                <p:cNvPr id="43153" name="Rectangle 20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54" name="Rectangle 21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9" name="Group 22"/>
              <p:cNvGrpSpPr/>
              <p:nvPr/>
            </p:nvGrpSpPr>
            <p:grpSpPr bwMode="auto">
              <a:xfrm>
                <a:off x="576" y="137"/>
                <a:ext cx="528" cy="238"/>
                <a:chOff x="0" y="-7"/>
                <a:chExt cx="528" cy="238"/>
              </a:xfrm>
            </p:grpSpPr>
            <p:sp>
              <p:nvSpPr>
                <p:cNvPr id="43151" name="Rectangle 23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52" name="Rectangle 24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0001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0" name="Group 25"/>
              <p:cNvGrpSpPr/>
              <p:nvPr/>
            </p:nvGrpSpPr>
            <p:grpSpPr bwMode="auto">
              <a:xfrm>
                <a:off x="0" y="281"/>
                <a:ext cx="288" cy="238"/>
                <a:chOff x="0" y="-7"/>
                <a:chExt cx="288" cy="238"/>
              </a:xfrm>
            </p:grpSpPr>
            <p:sp>
              <p:nvSpPr>
                <p:cNvPr id="43149" name="Rectangle 26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50" name="Rectangle 27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2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1" name="Group 28"/>
              <p:cNvGrpSpPr/>
              <p:nvPr/>
            </p:nvGrpSpPr>
            <p:grpSpPr bwMode="auto">
              <a:xfrm>
                <a:off x="288" y="281"/>
                <a:ext cx="288" cy="238"/>
                <a:chOff x="0" y="-7"/>
                <a:chExt cx="288" cy="238"/>
              </a:xfrm>
            </p:grpSpPr>
            <p:sp>
              <p:nvSpPr>
                <p:cNvPr id="43147" name="Rectangle 29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48" name="Rectangle 30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2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2" name="Group 31"/>
              <p:cNvGrpSpPr/>
              <p:nvPr/>
            </p:nvGrpSpPr>
            <p:grpSpPr bwMode="auto">
              <a:xfrm>
                <a:off x="576" y="281"/>
                <a:ext cx="528" cy="238"/>
                <a:chOff x="0" y="-7"/>
                <a:chExt cx="528" cy="238"/>
              </a:xfrm>
            </p:grpSpPr>
            <p:sp>
              <p:nvSpPr>
                <p:cNvPr id="43145" name="Rectangle 32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46" name="Rectangle 33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0010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3" name="Group 34"/>
              <p:cNvGrpSpPr/>
              <p:nvPr/>
            </p:nvGrpSpPr>
            <p:grpSpPr bwMode="auto">
              <a:xfrm>
                <a:off x="0" y="425"/>
                <a:ext cx="288" cy="238"/>
                <a:chOff x="0" y="-7"/>
                <a:chExt cx="288" cy="238"/>
              </a:xfrm>
            </p:grpSpPr>
            <p:sp>
              <p:nvSpPr>
                <p:cNvPr id="43143" name="Rectangle 35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44" name="Rectangle 36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3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4" name="Group 37"/>
              <p:cNvGrpSpPr/>
              <p:nvPr/>
            </p:nvGrpSpPr>
            <p:grpSpPr bwMode="auto">
              <a:xfrm>
                <a:off x="288" y="425"/>
                <a:ext cx="288" cy="238"/>
                <a:chOff x="0" y="-7"/>
                <a:chExt cx="288" cy="238"/>
              </a:xfrm>
            </p:grpSpPr>
            <p:sp>
              <p:nvSpPr>
                <p:cNvPr id="43141" name="Rectangle 38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42" name="Rectangle 39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3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5" name="Group 40"/>
              <p:cNvGrpSpPr/>
              <p:nvPr/>
            </p:nvGrpSpPr>
            <p:grpSpPr bwMode="auto">
              <a:xfrm>
                <a:off x="576" y="425"/>
                <a:ext cx="528" cy="238"/>
                <a:chOff x="0" y="-7"/>
                <a:chExt cx="528" cy="238"/>
              </a:xfrm>
            </p:grpSpPr>
            <p:sp>
              <p:nvSpPr>
                <p:cNvPr id="43139" name="Rectangle 41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40" name="Rectangle 42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0011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6" name="Group 43"/>
              <p:cNvGrpSpPr/>
              <p:nvPr/>
            </p:nvGrpSpPr>
            <p:grpSpPr bwMode="auto">
              <a:xfrm>
                <a:off x="0" y="569"/>
                <a:ext cx="288" cy="238"/>
                <a:chOff x="0" y="-7"/>
                <a:chExt cx="288" cy="238"/>
              </a:xfrm>
            </p:grpSpPr>
            <p:sp>
              <p:nvSpPr>
                <p:cNvPr id="43137" name="Rectangle 44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38" name="Rectangle 45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4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7" name="Group 46"/>
              <p:cNvGrpSpPr/>
              <p:nvPr/>
            </p:nvGrpSpPr>
            <p:grpSpPr bwMode="auto">
              <a:xfrm>
                <a:off x="288" y="569"/>
                <a:ext cx="288" cy="238"/>
                <a:chOff x="0" y="-7"/>
                <a:chExt cx="288" cy="238"/>
              </a:xfrm>
            </p:grpSpPr>
            <p:sp>
              <p:nvSpPr>
                <p:cNvPr id="43135" name="Rectangle 47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36" name="Rectangle 48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4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8" name="Group 49"/>
              <p:cNvGrpSpPr/>
              <p:nvPr/>
            </p:nvGrpSpPr>
            <p:grpSpPr bwMode="auto">
              <a:xfrm>
                <a:off x="576" y="569"/>
                <a:ext cx="528" cy="238"/>
                <a:chOff x="0" y="-7"/>
                <a:chExt cx="528" cy="238"/>
              </a:xfrm>
            </p:grpSpPr>
            <p:sp>
              <p:nvSpPr>
                <p:cNvPr id="43133" name="Rectangle 50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34" name="Rectangle 51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0100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9" name="Group 52"/>
              <p:cNvGrpSpPr/>
              <p:nvPr/>
            </p:nvGrpSpPr>
            <p:grpSpPr bwMode="auto">
              <a:xfrm>
                <a:off x="0" y="713"/>
                <a:ext cx="288" cy="238"/>
                <a:chOff x="0" y="-7"/>
                <a:chExt cx="288" cy="238"/>
              </a:xfrm>
            </p:grpSpPr>
            <p:sp>
              <p:nvSpPr>
                <p:cNvPr id="43131" name="Rectangle 53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32" name="Rectangle 54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5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0" name="Group 55"/>
              <p:cNvGrpSpPr/>
              <p:nvPr/>
            </p:nvGrpSpPr>
            <p:grpSpPr bwMode="auto">
              <a:xfrm>
                <a:off x="288" y="713"/>
                <a:ext cx="288" cy="238"/>
                <a:chOff x="0" y="-7"/>
                <a:chExt cx="288" cy="238"/>
              </a:xfrm>
            </p:grpSpPr>
            <p:sp>
              <p:nvSpPr>
                <p:cNvPr id="43129" name="Rectangle 56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30" name="Rectangle 57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5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1" name="Group 58"/>
              <p:cNvGrpSpPr/>
              <p:nvPr/>
            </p:nvGrpSpPr>
            <p:grpSpPr bwMode="auto">
              <a:xfrm>
                <a:off x="576" y="713"/>
                <a:ext cx="528" cy="238"/>
                <a:chOff x="0" y="-7"/>
                <a:chExt cx="528" cy="238"/>
              </a:xfrm>
            </p:grpSpPr>
            <p:sp>
              <p:nvSpPr>
                <p:cNvPr id="43127" name="Rectangle 59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28" name="Rectangle 60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0101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2" name="Group 61"/>
              <p:cNvGrpSpPr/>
              <p:nvPr/>
            </p:nvGrpSpPr>
            <p:grpSpPr bwMode="auto">
              <a:xfrm>
                <a:off x="0" y="857"/>
                <a:ext cx="288" cy="238"/>
                <a:chOff x="0" y="-7"/>
                <a:chExt cx="288" cy="238"/>
              </a:xfrm>
            </p:grpSpPr>
            <p:sp>
              <p:nvSpPr>
                <p:cNvPr id="43125" name="Rectangle 62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26" name="Rectangle 63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6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3" name="Group 64"/>
              <p:cNvGrpSpPr/>
              <p:nvPr/>
            </p:nvGrpSpPr>
            <p:grpSpPr bwMode="auto">
              <a:xfrm>
                <a:off x="288" y="857"/>
                <a:ext cx="288" cy="238"/>
                <a:chOff x="0" y="-7"/>
                <a:chExt cx="288" cy="238"/>
              </a:xfrm>
            </p:grpSpPr>
            <p:sp>
              <p:nvSpPr>
                <p:cNvPr id="43123" name="Rectangle 65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24" name="Rectangle 66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6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4" name="Group 67"/>
              <p:cNvGrpSpPr/>
              <p:nvPr/>
            </p:nvGrpSpPr>
            <p:grpSpPr bwMode="auto">
              <a:xfrm>
                <a:off x="576" y="857"/>
                <a:ext cx="528" cy="238"/>
                <a:chOff x="0" y="-7"/>
                <a:chExt cx="528" cy="238"/>
              </a:xfrm>
            </p:grpSpPr>
            <p:sp>
              <p:nvSpPr>
                <p:cNvPr id="43121" name="Rectangle 68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22" name="Rectangle 69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0110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5" name="Group 70"/>
              <p:cNvGrpSpPr/>
              <p:nvPr/>
            </p:nvGrpSpPr>
            <p:grpSpPr bwMode="auto">
              <a:xfrm>
                <a:off x="0" y="1001"/>
                <a:ext cx="288" cy="238"/>
                <a:chOff x="0" y="-7"/>
                <a:chExt cx="288" cy="238"/>
              </a:xfrm>
            </p:grpSpPr>
            <p:sp>
              <p:nvSpPr>
                <p:cNvPr id="43119" name="Rectangle 71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20" name="Rectangle 72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7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6" name="Group 73"/>
              <p:cNvGrpSpPr/>
              <p:nvPr/>
            </p:nvGrpSpPr>
            <p:grpSpPr bwMode="auto">
              <a:xfrm>
                <a:off x="288" y="1001"/>
                <a:ext cx="288" cy="238"/>
                <a:chOff x="0" y="-7"/>
                <a:chExt cx="288" cy="238"/>
              </a:xfrm>
            </p:grpSpPr>
            <p:sp>
              <p:nvSpPr>
                <p:cNvPr id="43117" name="Rectangle 74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18" name="Rectangle 75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7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7" name="Group 76"/>
              <p:cNvGrpSpPr/>
              <p:nvPr/>
            </p:nvGrpSpPr>
            <p:grpSpPr bwMode="auto">
              <a:xfrm>
                <a:off x="576" y="1001"/>
                <a:ext cx="528" cy="238"/>
                <a:chOff x="0" y="-7"/>
                <a:chExt cx="528" cy="238"/>
              </a:xfrm>
            </p:grpSpPr>
            <p:sp>
              <p:nvSpPr>
                <p:cNvPr id="43115" name="Rectangle 77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16" name="Rectangle 78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0111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8" name="Group 79"/>
              <p:cNvGrpSpPr/>
              <p:nvPr/>
            </p:nvGrpSpPr>
            <p:grpSpPr bwMode="auto">
              <a:xfrm>
                <a:off x="0" y="1145"/>
                <a:ext cx="288" cy="238"/>
                <a:chOff x="0" y="-7"/>
                <a:chExt cx="288" cy="238"/>
              </a:xfrm>
            </p:grpSpPr>
            <p:sp>
              <p:nvSpPr>
                <p:cNvPr id="43113" name="Rectangle 80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14" name="Rectangle 81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8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9" name="Group 82"/>
              <p:cNvGrpSpPr/>
              <p:nvPr/>
            </p:nvGrpSpPr>
            <p:grpSpPr bwMode="auto">
              <a:xfrm>
                <a:off x="288" y="1145"/>
                <a:ext cx="288" cy="238"/>
                <a:chOff x="0" y="-7"/>
                <a:chExt cx="288" cy="238"/>
              </a:xfrm>
            </p:grpSpPr>
            <p:sp>
              <p:nvSpPr>
                <p:cNvPr id="43111" name="Rectangle 83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12" name="Rectangle 84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8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30" name="Group 85"/>
              <p:cNvGrpSpPr/>
              <p:nvPr/>
            </p:nvGrpSpPr>
            <p:grpSpPr bwMode="auto">
              <a:xfrm>
                <a:off x="576" y="1145"/>
                <a:ext cx="528" cy="238"/>
                <a:chOff x="0" y="-7"/>
                <a:chExt cx="528" cy="238"/>
              </a:xfrm>
            </p:grpSpPr>
            <p:sp>
              <p:nvSpPr>
                <p:cNvPr id="43109" name="Rectangle 86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10" name="Rectangle 87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1000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31" name="Group 88"/>
              <p:cNvGrpSpPr/>
              <p:nvPr/>
            </p:nvGrpSpPr>
            <p:grpSpPr bwMode="auto">
              <a:xfrm>
                <a:off x="0" y="1289"/>
                <a:ext cx="288" cy="238"/>
                <a:chOff x="0" y="-7"/>
                <a:chExt cx="288" cy="238"/>
              </a:xfrm>
            </p:grpSpPr>
            <p:sp>
              <p:nvSpPr>
                <p:cNvPr id="43107" name="Rectangle 89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08" name="Rectangle 90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9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08" name="Group 91"/>
              <p:cNvGrpSpPr/>
              <p:nvPr/>
            </p:nvGrpSpPr>
            <p:grpSpPr bwMode="auto">
              <a:xfrm>
                <a:off x="288" y="1289"/>
                <a:ext cx="288" cy="238"/>
                <a:chOff x="0" y="-7"/>
                <a:chExt cx="288" cy="238"/>
              </a:xfrm>
            </p:grpSpPr>
            <p:sp>
              <p:nvSpPr>
                <p:cNvPr id="43105" name="Rectangle 92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06" name="Rectangle 93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9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09" name="Group 94"/>
              <p:cNvGrpSpPr/>
              <p:nvPr/>
            </p:nvGrpSpPr>
            <p:grpSpPr bwMode="auto">
              <a:xfrm>
                <a:off x="576" y="1289"/>
                <a:ext cx="528" cy="238"/>
                <a:chOff x="0" y="-7"/>
                <a:chExt cx="528" cy="238"/>
              </a:xfrm>
            </p:grpSpPr>
            <p:sp>
              <p:nvSpPr>
                <p:cNvPr id="43103" name="Rectangle 95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04" name="Rectangle 96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1001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14" name="Group 97"/>
              <p:cNvGrpSpPr/>
              <p:nvPr/>
            </p:nvGrpSpPr>
            <p:grpSpPr bwMode="auto">
              <a:xfrm>
                <a:off x="0" y="1433"/>
                <a:ext cx="288" cy="238"/>
                <a:chOff x="0" y="-7"/>
                <a:chExt cx="288" cy="238"/>
              </a:xfrm>
            </p:grpSpPr>
            <p:sp>
              <p:nvSpPr>
                <p:cNvPr id="43101" name="Rectangle 98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02" name="Rectangle 99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A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15" name="Group 100"/>
              <p:cNvGrpSpPr/>
              <p:nvPr/>
            </p:nvGrpSpPr>
            <p:grpSpPr bwMode="auto">
              <a:xfrm>
                <a:off x="288" y="1433"/>
                <a:ext cx="288" cy="238"/>
                <a:chOff x="0" y="-7"/>
                <a:chExt cx="288" cy="238"/>
              </a:xfrm>
            </p:grpSpPr>
            <p:sp>
              <p:nvSpPr>
                <p:cNvPr id="43099" name="Rectangle 101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100" name="Rectangle 102"/>
                <p:cNvSpPr/>
                <p:nvPr/>
              </p:nvSpPr>
              <p:spPr bwMode="auto">
                <a:xfrm>
                  <a:off x="12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19" name="Group 103"/>
              <p:cNvGrpSpPr/>
              <p:nvPr/>
            </p:nvGrpSpPr>
            <p:grpSpPr bwMode="auto">
              <a:xfrm>
                <a:off x="576" y="1433"/>
                <a:ext cx="528" cy="238"/>
                <a:chOff x="0" y="-7"/>
                <a:chExt cx="528" cy="238"/>
              </a:xfrm>
            </p:grpSpPr>
            <p:sp>
              <p:nvSpPr>
                <p:cNvPr id="43097" name="Rectangle 104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98" name="Rectangle 105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1010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0" name="Group 106"/>
              <p:cNvGrpSpPr/>
              <p:nvPr/>
            </p:nvGrpSpPr>
            <p:grpSpPr bwMode="auto">
              <a:xfrm>
                <a:off x="0" y="1577"/>
                <a:ext cx="288" cy="238"/>
                <a:chOff x="0" y="-7"/>
                <a:chExt cx="288" cy="238"/>
              </a:xfrm>
            </p:grpSpPr>
            <p:sp>
              <p:nvSpPr>
                <p:cNvPr id="43095" name="Rectangle 107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96" name="Rectangle 108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B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1" name="Group 109"/>
              <p:cNvGrpSpPr/>
              <p:nvPr/>
            </p:nvGrpSpPr>
            <p:grpSpPr bwMode="auto">
              <a:xfrm>
                <a:off x="288" y="1577"/>
                <a:ext cx="288" cy="238"/>
                <a:chOff x="0" y="-7"/>
                <a:chExt cx="288" cy="238"/>
              </a:xfrm>
            </p:grpSpPr>
            <p:sp>
              <p:nvSpPr>
                <p:cNvPr id="43093" name="Rectangle 110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94" name="Rectangle 111"/>
                <p:cNvSpPr/>
                <p:nvPr/>
              </p:nvSpPr>
              <p:spPr bwMode="auto">
                <a:xfrm>
                  <a:off x="12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2" name="Group 112"/>
              <p:cNvGrpSpPr/>
              <p:nvPr/>
            </p:nvGrpSpPr>
            <p:grpSpPr bwMode="auto">
              <a:xfrm>
                <a:off x="576" y="1577"/>
                <a:ext cx="528" cy="238"/>
                <a:chOff x="0" y="-7"/>
                <a:chExt cx="528" cy="238"/>
              </a:xfrm>
            </p:grpSpPr>
            <p:sp>
              <p:nvSpPr>
                <p:cNvPr id="43091" name="Rectangle 113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92" name="Rectangle 114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1011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3" name="Group 115"/>
              <p:cNvGrpSpPr/>
              <p:nvPr/>
            </p:nvGrpSpPr>
            <p:grpSpPr bwMode="auto">
              <a:xfrm>
                <a:off x="0" y="1721"/>
                <a:ext cx="288" cy="238"/>
                <a:chOff x="0" y="-7"/>
                <a:chExt cx="288" cy="238"/>
              </a:xfrm>
            </p:grpSpPr>
            <p:sp>
              <p:nvSpPr>
                <p:cNvPr id="43089" name="Rectangle 116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90" name="Rectangle 117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C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4" name="Group 118"/>
              <p:cNvGrpSpPr/>
              <p:nvPr/>
            </p:nvGrpSpPr>
            <p:grpSpPr bwMode="auto">
              <a:xfrm>
                <a:off x="288" y="1721"/>
                <a:ext cx="288" cy="238"/>
                <a:chOff x="0" y="-7"/>
                <a:chExt cx="288" cy="238"/>
              </a:xfrm>
            </p:grpSpPr>
            <p:sp>
              <p:nvSpPr>
                <p:cNvPr id="43087" name="Rectangle 119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88" name="Rectangle 120"/>
                <p:cNvSpPr/>
                <p:nvPr/>
              </p:nvSpPr>
              <p:spPr bwMode="auto">
                <a:xfrm>
                  <a:off x="12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12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5" name="Group 121"/>
              <p:cNvGrpSpPr/>
              <p:nvPr/>
            </p:nvGrpSpPr>
            <p:grpSpPr bwMode="auto">
              <a:xfrm>
                <a:off x="576" y="1721"/>
                <a:ext cx="528" cy="238"/>
                <a:chOff x="0" y="-7"/>
                <a:chExt cx="528" cy="238"/>
              </a:xfrm>
            </p:grpSpPr>
            <p:sp>
              <p:nvSpPr>
                <p:cNvPr id="43085" name="Rectangle 122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86" name="Rectangle 123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1100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6" name="Group 124"/>
              <p:cNvGrpSpPr/>
              <p:nvPr/>
            </p:nvGrpSpPr>
            <p:grpSpPr bwMode="auto">
              <a:xfrm>
                <a:off x="0" y="1865"/>
                <a:ext cx="288" cy="238"/>
                <a:chOff x="0" y="-7"/>
                <a:chExt cx="288" cy="238"/>
              </a:xfrm>
            </p:grpSpPr>
            <p:sp>
              <p:nvSpPr>
                <p:cNvPr id="43083" name="Rectangle 125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84" name="Rectangle 126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D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7" name="Group 127"/>
              <p:cNvGrpSpPr/>
              <p:nvPr/>
            </p:nvGrpSpPr>
            <p:grpSpPr bwMode="auto">
              <a:xfrm>
                <a:off x="288" y="1865"/>
                <a:ext cx="288" cy="238"/>
                <a:chOff x="0" y="-7"/>
                <a:chExt cx="288" cy="238"/>
              </a:xfrm>
            </p:grpSpPr>
            <p:sp>
              <p:nvSpPr>
                <p:cNvPr id="43081" name="Rectangle 128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82" name="Rectangle 129"/>
                <p:cNvSpPr/>
                <p:nvPr/>
              </p:nvSpPr>
              <p:spPr bwMode="auto">
                <a:xfrm>
                  <a:off x="12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13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8" name="Group 130"/>
              <p:cNvGrpSpPr/>
              <p:nvPr/>
            </p:nvGrpSpPr>
            <p:grpSpPr bwMode="auto">
              <a:xfrm>
                <a:off x="576" y="1865"/>
                <a:ext cx="528" cy="238"/>
                <a:chOff x="0" y="-7"/>
                <a:chExt cx="528" cy="238"/>
              </a:xfrm>
            </p:grpSpPr>
            <p:sp>
              <p:nvSpPr>
                <p:cNvPr id="43079" name="Rectangle 131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80" name="Rectangle 132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1101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29" name="Group 133"/>
              <p:cNvGrpSpPr/>
              <p:nvPr/>
            </p:nvGrpSpPr>
            <p:grpSpPr bwMode="auto">
              <a:xfrm>
                <a:off x="0" y="2009"/>
                <a:ext cx="288" cy="238"/>
                <a:chOff x="0" y="-7"/>
                <a:chExt cx="288" cy="238"/>
              </a:xfrm>
            </p:grpSpPr>
            <p:sp>
              <p:nvSpPr>
                <p:cNvPr id="43077" name="Rectangle 134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78" name="Rectangle 135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E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30" name="Group 136"/>
              <p:cNvGrpSpPr/>
              <p:nvPr/>
            </p:nvGrpSpPr>
            <p:grpSpPr bwMode="auto">
              <a:xfrm>
                <a:off x="288" y="2009"/>
                <a:ext cx="288" cy="238"/>
                <a:chOff x="0" y="-7"/>
                <a:chExt cx="288" cy="238"/>
              </a:xfrm>
            </p:grpSpPr>
            <p:sp>
              <p:nvSpPr>
                <p:cNvPr id="43075" name="Rectangle 137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76" name="Rectangle 138"/>
                <p:cNvSpPr/>
                <p:nvPr/>
              </p:nvSpPr>
              <p:spPr bwMode="auto">
                <a:xfrm>
                  <a:off x="12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14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31" name="Group 139"/>
              <p:cNvGrpSpPr/>
              <p:nvPr/>
            </p:nvGrpSpPr>
            <p:grpSpPr bwMode="auto">
              <a:xfrm>
                <a:off x="576" y="2009"/>
                <a:ext cx="528" cy="238"/>
                <a:chOff x="0" y="-7"/>
                <a:chExt cx="528" cy="238"/>
              </a:xfrm>
            </p:grpSpPr>
            <p:sp>
              <p:nvSpPr>
                <p:cNvPr id="43073" name="Rectangle 140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74" name="Rectangle 141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1110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32" name="Group 142"/>
              <p:cNvGrpSpPr/>
              <p:nvPr/>
            </p:nvGrpSpPr>
            <p:grpSpPr bwMode="auto">
              <a:xfrm>
                <a:off x="0" y="2153"/>
                <a:ext cx="288" cy="238"/>
                <a:chOff x="0" y="-7"/>
                <a:chExt cx="288" cy="238"/>
              </a:xfrm>
            </p:grpSpPr>
            <p:sp>
              <p:nvSpPr>
                <p:cNvPr id="43071" name="Rectangle 143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72" name="Rectangle 144"/>
                <p:cNvSpPr/>
                <p:nvPr/>
              </p:nvSpPr>
              <p:spPr bwMode="auto">
                <a:xfrm>
                  <a:off x="56" y="-7"/>
                  <a:ext cx="176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F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33" name="Group 145"/>
              <p:cNvGrpSpPr/>
              <p:nvPr/>
            </p:nvGrpSpPr>
            <p:grpSpPr bwMode="auto">
              <a:xfrm>
                <a:off x="288" y="2153"/>
                <a:ext cx="288" cy="238"/>
                <a:chOff x="0" y="-7"/>
                <a:chExt cx="288" cy="238"/>
              </a:xfrm>
            </p:grpSpPr>
            <p:sp>
              <p:nvSpPr>
                <p:cNvPr id="43069" name="Rectangle 146"/>
                <p:cNvSpPr/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70" name="Rectangle 147"/>
                <p:cNvSpPr/>
                <p:nvPr/>
              </p:nvSpPr>
              <p:spPr bwMode="auto">
                <a:xfrm>
                  <a:off x="12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15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43034" name="Group 148"/>
              <p:cNvGrpSpPr/>
              <p:nvPr/>
            </p:nvGrpSpPr>
            <p:grpSpPr bwMode="auto">
              <a:xfrm>
                <a:off x="576" y="2153"/>
                <a:ext cx="528" cy="238"/>
                <a:chOff x="0" y="-7"/>
                <a:chExt cx="528" cy="238"/>
              </a:xfrm>
            </p:grpSpPr>
            <p:sp>
              <p:nvSpPr>
                <p:cNvPr id="43067" name="Rectangle 149"/>
                <p:cNvSpPr/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3068" name="Rectangle 150"/>
                <p:cNvSpPr/>
                <p:nvPr/>
              </p:nvSpPr>
              <p:spPr bwMode="auto">
                <a:xfrm>
                  <a:off x="46" y="-7"/>
                  <a:ext cx="435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1111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</p:grpSp>
        <p:sp>
          <p:nvSpPr>
            <p:cNvPr id="43016" name="Rectangle 151"/>
            <p:cNvSpPr/>
            <p:nvPr/>
          </p:nvSpPr>
          <p:spPr bwMode="auto">
            <a:xfrm rot="-2340000">
              <a:off x="50" y="267"/>
              <a:ext cx="347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Hex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3017" name="Rectangle 152"/>
            <p:cNvSpPr/>
            <p:nvPr/>
          </p:nvSpPr>
          <p:spPr bwMode="auto">
            <a:xfrm rot="-2340000">
              <a:off x="307" y="177"/>
              <a:ext cx="612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Decimal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3018" name="Rectangle 153"/>
            <p:cNvSpPr/>
            <p:nvPr/>
          </p:nvSpPr>
          <p:spPr bwMode="auto">
            <a:xfrm rot="-2340000">
              <a:off x="606" y="210"/>
              <a:ext cx="500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Binary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type="title"/>
          </p:nvPr>
        </p:nvSpPr>
        <p:spPr>
          <a:xfrm>
            <a:off x="1880870" y="435610"/>
            <a:ext cx="8065135" cy="762000"/>
          </a:xfrm>
        </p:spPr>
        <p:txBody>
          <a:bodyPr/>
          <a:lstStyle/>
          <a:p>
            <a:pPr marL="119380" indent="-119380" eaLnBrk="1" hangingPunct="1"/>
            <a:r>
              <a:rPr lang="zh-CN" altLang="en-US" dirty="0"/>
              <a:t>多字节的表示（</a:t>
            </a:r>
            <a:r>
              <a:rPr lang="en-US" altLang="zh-CN" dirty="0"/>
              <a:t>C</a:t>
            </a:r>
            <a:r>
              <a:rPr lang="zh-CN" altLang="en-US" dirty="0"/>
              <a:t>语言）</a:t>
            </a:r>
            <a:endParaRPr lang="zh-CN" altLang="en-US" dirty="0"/>
          </a:p>
        </p:txBody>
      </p:sp>
      <p:graphicFrame>
        <p:nvGraphicFramePr>
          <p:cNvPr id="12292" name="Group 4"/>
          <p:cNvGraphicFramePr>
            <a:graphicFrameLocks noGrp="1"/>
          </p:cNvGraphicFramePr>
          <p:nvPr/>
        </p:nvGraphicFramePr>
        <p:xfrm>
          <a:off x="3073400" y="1295400"/>
          <a:ext cx="6032500" cy="4187190"/>
        </p:xfrm>
        <a:graphic>
          <a:graphicData uri="http://schemas.openxmlformats.org/drawingml/2006/table">
            <a:tbl>
              <a:tblPr/>
              <a:tblGrid>
                <a:gridCol w="1651000"/>
                <a:gridCol w="1460500"/>
                <a:gridCol w="1460500"/>
                <a:gridCol w="1460500"/>
              </a:tblGrid>
              <a:tr h="650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数据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类型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/>
                        <a:ea typeface="Arial Narrow Bold" panose="020B0706020202030204" charset="0"/>
                        <a:cs typeface="Calibri"/>
                        <a:sym typeface="Arial Narrow Bold" panose="020B070602020203020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Typical 32-bit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/>
                        <a:ea typeface="Arial Narrow Bold" panose="020B0706020202030204" charset="0"/>
                        <a:cs typeface="Calibri"/>
                        <a:sym typeface="Arial Narrow Bold" panose="020B070602020203020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Typical 64-bit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/>
                        <a:ea typeface="Arial Narrow Bold" panose="020B0706020202030204" charset="0"/>
                        <a:cs typeface="Calibri"/>
                        <a:sym typeface="Arial Narrow Bold" panose="020B070602020203020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x86-64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/>
                        <a:ea typeface="Arial Narrow Bold" panose="020B0706020202030204" charset="0"/>
                        <a:cs typeface="Calibri"/>
                        <a:sym typeface="Arial Narrow Bold" panose="020B070602020203020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char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short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int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long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float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double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long double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panose="020B0706020202030204" pitchFamily="34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panose="020B0706020202030204" pitchFamily="34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10/16?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pointer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971801" y="5554980"/>
            <a:ext cx="6577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Calibri" pitchFamily="34" charset="0"/>
              </a:rPr>
              <a:t>How to determine size of data types ? </a:t>
            </a:r>
            <a:endParaRPr lang="zh-CN" altLang="en-US" dirty="0">
              <a:solidFill>
                <a:srgbClr val="00B05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Bit-level manipulations </a:t>
            </a:r>
            <a:r>
              <a:rPr lang="zh-CN" altLang="en-US" dirty="0">
                <a:ea typeface="SimSun" charset="0"/>
              </a:rPr>
              <a:t>（位运算）</a:t>
            </a:r>
            <a:endParaRPr lang="en-US" dirty="0"/>
          </a:p>
          <a:p>
            <a:r>
              <a:rPr lang="en-US" dirty="0">
                <a:solidFill>
                  <a:srgbClr val="A6A6A6"/>
                </a:solidFill>
              </a:rPr>
              <a:t>Integers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Representation: unsigned and signed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/>
              <a:t>Boolean Algebra </a:t>
            </a:r>
            <a:r>
              <a:rPr lang="zh-CN" altLang="en-US"/>
              <a:t>布尔代数</a:t>
            </a:r>
            <a:endParaRPr lang="zh-CN" altLang="en-US"/>
          </a:p>
        </p:txBody>
      </p:sp>
      <p:sp>
        <p:nvSpPr>
          <p:cNvPr id="5632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Developed by George Boole in 19th Century</a:t>
            </a:r>
            <a:endParaRPr lang="en-US" dirty="0"/>
          </a:p>
          <a:p>
            <a:pPr marL="552450" lvl="1" eaLnBrk="1" hangingPunct="1"/>
            <a:r>
              <a:rPr lang="zh-CN" altLang="en-US" b="1" dirty="0"/>
              <a:t>逻辑的代数化</a:t>
            </a:r>
            <a:r>
              <a:rPr lang="en-US" altLang="zh-CN" b="1" dirty="0"/>
              <a:t>——</a:t>
            </a:r>
            <a:r>
              <a:rPr lang="en-US" dirty="0"/>
              <a:t>Encode “True” as 1 and “False” as 0</a:t>
            </a:r>
            <a:endParaRPr lang="en-US" dirty="0"/>
          </a:p>
        </p:txBody>
      </p:sp>
      <p:sp>
        <p:nvSpPr>
          <p:cNvPr id="56326" name="Rectangle 5"/>
          <p:cNvSpPr/>
          <p:nvPr/>
        </p:nvSpPr>
        <p:spPr bwMode="auto">
          <a:xfrm>
            <a:off x="1841500" y="2603500"/>
            <a:ext cx="4090670" cy="8255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0" tIns="0" rIns="0" bIns="0"/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And</a:t>
            </a:r>
            <a:endParaRPr lang="en-US" b="0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A&amp;B = 1 when both A=1 and B=1</a:t>
            </a:r>
            <a:endParaRPr lang="en-US" sz="2000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pic>
        <p:nvPicPr>
          <p:cNvPr id="56327" name="Picture 6"/>
          <p:cNvPicPr>
            <a:picLocks noChangeArrowheads="1"/>
          </p:cNvPicPr>
          <p:nvPr/>
        </p:nvPicPr>
        <p:blipFill>
          <a:blip r:embed="rId1"/>
          <a:srcRect r="77623"/>
          <a:stretch>
            <a:fillRect/>
          </a:stretch>
        </p:blipFill>
        <p:spPr bwMode="auto">
          <a:xfrm>
            <a:off x="2108200" y="3429000"/>
            <a:ext cx="1094740" cy="1056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8" name="Rectangle 7"/>
          <p:cNvSpPr/>
          <p:nvPr/>
        </p:nvSpPr>
        <p:spPr bwMode="auto">
          <a:xfrm>
            <a:off x="6096000" y="2667000"/>
            <a:ext cx="4229100" cy="8255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0" tIns="0" rIns="0" bIns="0"/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Or</a:t>
            </a:r>
            <a:endParaRPr lang="en-US" b="0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A|B = 1 when either A=1 or B=1</a:t>
            </a:r>
            <a:endParaRPr lang="en-US" sz="2000" b="0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pic>
        <p:nvPicPr>
          <p:cNvPr id="56329" name="Picture 8"/>
          <p:cNvPicPr>
            <a:picLocks noChangeArrowheads="1"/>
          </p:cNvPicPr>
          <p:nvPr/>
        </p:nvPicPr>
        <p:blipFill>
          <a:blip r:embed="rId2"/>
          <a:srcRect r="77623"/>
          <a:stretch>
            <a:fillRect/>
          </a:stretch>
        </p:blipFill>
        <p:spPr bwMode="auto">
          <a:xfrm>
            <a:off x="7124700" y="3437255"/>
            <a:ext cx="1126490" cy="115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30" name="Picture 9"/>
          <p:cNvPicPr>
            <a:picLocks noChangeArrowheads="1"/>
          </p:cNvPicPr>
          <p:nvPr/>
        </p:nvPicPr>
        <p:blipFill>
          <a:blip r:embed="rId3"/>
          <a:srcRect r="77623"/>
          <a:stretch>
            <a:fillRect/>
          </a:stretch>
        </p:blipFill>
        <p:spPr bwMode="auto">
          <a:xfrm>
            <a:off x="2108200" y="5461000"/>
            <a:ext cx="1196340" cy="892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31" name="Rectangle 10"/>
          <p:cNvSpPr/>
          <p:nvPr/>
        </p:nvSpPr>
        <p:spPr bwMode="auto">
          <a:xfrm>
            <a:off x="1841500" y="4635500"/>
            <a:ext cx="2611120" cy="8255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0" tIns="0" rIns="0" bIns="0"/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Not</a:t>
            </a:r>
            <a:endParaRPr lang="en-US" b="0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~A = 1 when A=0</a:t>
            </a:r>
            <a:endParaRPr lang="en-US" sz="2000" b="0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pic>
        <p:nvPicPr>
          <p:cNvPr id="56332" name="Picture 11"/>
          <p:cNvPicPr>
            <a:picLocks noChangeArrowheads="1"/>
          </p:cNvPicPr>
          <p:nvPr/>
        </p:nvPicPr>
        <p:blipFill>
          <a:blip r:embed="rId4"/>
          <a:srcRect r="77623"/>
          <a:stretch>
            <a:fillRect/>
          </a:stretch>
        </p:blipFill>
        <p:spPr bwMode="auto">
          <a:xfrm>
            <a:off x="7124700" y="5469255"/>
            <a:ext cx="125285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33" name="Rectangle 12"/>
          <p:cNvSpPr/>
          <p:nvPr/>
        </p:nvSpPr>
        <p:spPr bwMode="auto">
          <a:xfrm>
            <a:off x="6096000" y="4648200"/>
            <a:ext cx="5807075" cy="8255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0" tIns="0" rIns="0" bIns="0"/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Exclusive-Or (</a:t>
            </a:r>
            <a:r>
              <a:rPr lang="en-US" b="0" dirty="0" err="1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)</a:t>
            </a:r>
            <a:endParaRPr lang="en-US" b="0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A^B = 1 when either A=1 or B=1, but not both</a:t>
            </a:r>
            <a:endParaRPr lang="en-US" sz="2000" b="0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乔治</a:t>
            </a:r>
            <a:r>
              <a:rPr lang="zh-CN" altLang="en-US"/>
              <a:t>布尔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SimSun" charset="0"/>
              </a:rPr>
              <a:t>介绍</a:t>
            </a:r>
            <a:endParaRPr lang="zh-CN" altLang="en-US">
              <a:ea typeface="SimSun" charset="0"/>
            </a:endParaRPr>
          </a:p>
          <a:p>
            <a:pPr lvl="1"/>
            <a:r>
              <a:rPr lang="zh-CN" altLang="en-US">
                <a:ea typeface="SimSun" charset="0"/>
              </a:rPr>
              <a:t>乔治</a:t>
            </a:r>
            <a:r>
              <a:rPr lang="en-US" altLang="en-US">
                <a:ea typeface="SimSun" charset="0"/>
              </a:rPr>
              <a:t>·</a:t>
            </a:r>
            <a:r>
              <a:rPr lang="zh-CN" altLang="en-US">
                <a:ea typeface="SimSun" charset="0"/>
              </a:rPr>
              <a:t>布尔（</a:t>
            </a:r>
            <a:r>
              <a:rPr lang="en-US" altLang="en-US">
                <a:ea typeface="SimSun" charset="0"/>
              </a:rPr>
              <a:t>George Boole</a:t>
            </a:r>
            <a:r>
              <a:rPr lang="zh-CN" altLang="en-US">
                <a:ea typeface="SimSun" charset="0"/>
              </a:rPr>
              <a:t>）是</a:t>
            </a:r>
            <a:r>
              <a:rPr lang="en-US" altLang="en-US">
                <a:ea typeface="SimSun" charset="0"/>
              </a:rPr>
              <a:t>19</a:t>
            </a:r>
            <a:r>
              <a:rPr lang="zh-CN" altLang="en-US">
                <a:ea typeface="SimSun" charset="0"/>
              </a:rPr>
              <a:t>世纪的一位自学成才的英国数学家，他创立了布尔代数，奠定了现代计算机科学和数字电路设计的逻辑基础</a:t>
            </a:r>
            <a:r>
              <a:rPr lang="en-US" altLang="en-US">
                <a:ea typeface="SimSun" charset="0"/>
              </a:rPr>
              <a:t> </a:t>
            </a:r>
            <a:r>
              <a:rPr lang="zh-CN" altLang="en-US">
                <a:ea typeface="SimSun" charset="0"/>
              </a:rPr>
              <a:t>。尽管他生前并未预见到自己工作的巨大应用价值，但其理论深刻改变了世界。</a:t>
            </a:r>
            <a:endParaRPr lang="zh-CN" altLang="en-US" sz="2000">
              <a:ea typeface="SimSun" charset="0"/>
            </a:endParaRPr>
          </a:p>
          <a:p>
            <a:pPr lvl="0"/>
            <a:r>
              <a:rPr lang="zh-CN" altLang="en-US">
                <a:ea typeface="SimSun" charset="0"/>
              </a:rPr>
              <a:t>贡献</a:t>
            </a:r>
            <a:endParaRPr lang="zh-CN" altLang="en-US">
              <a:ea typeface="SimSun" charset="0"/>
            </a:endParaRPr>
          </a:p>
          <a:p>
            <a:pPr lvl="1"/>
            <a:r>
              <a:rPr lang="zh-CN" altLang="en-US">
                <a:ea typeface="SimSun" charset="0"/>
              </a:rPr>
              <a:t>“</a:t>
            </a:r>
            <a:r>
              <a:rPr lang="zh-CN" altLang="en-US" b="1">
                <a:ea typeface="SimSun" charset="0"/>
              </a:rPr>
              <a:t>逻辑</a:t>
            </a:r>
            <a:r>
              <a:rPr lang="zh-CN" altLang="en-US">
                <a:ea typeface="SimSun" charset="0"/>
              </a:rPr>
              <a:t>与</a:t>
            </a:r>
            <a:r>
              <a:rPr lang="zh-CN" altLang="en-US" b="1">
                <a:ea typeface="SimSun" charset="0"/>
              </a:rPr>
              <a:t>语言</a:t>
            </a:r>
            <a:r>
              <a:rPr lang="zh-CN" altLang="en-US">
                <a:ea typeface="SimSun" charset="0"/>
              </a:rPr>
              <a:t>都极大地依赖于我们运用抽象能力形成普遍</a:t>
            </a:r>
            <a:r>
              <a:rPr lang="zh-CN" altLang="en-US" b="1">
                <a:ea typeface="SimSun" charset="0"/>
              </a:rPr>
              <a:t>概念</a:t>
            </a:r>
            <a:r>
              <a:rPr lang="zh-CN" altLang="en-US">
                <a:ea typeface="SimSun" charset="0"/>
              </a:rPr>
              <a:t>的能力。</a:t>
            </a:r>
            <a:r>
              <a:rPr lang="zh-CN" altLang="en-US" b="1">
                <a:ea typeface="SimSun" charset="0"/>
              </a:rPr>
              <a:t>语言</a:t>
            </a:r>
            <a:r>
              <a:rPr lang="zh-CN" altLang="en-US">
                <a:ea typeface="SimSun" charset="0"/>
              </a:rPr>
              <a:t>是</a:t>
            </a:r>
            <a:r>
              <a:rPr lang="zh-CN" altLang="en-US" b="1">
                <a:ea typeface="SimSun" charset="0"/>
              </a:rPr>
              <a:t>逻辑</a:t>
            </a:r>
            <a:r>
              <a:rPr lang="zh-CN" altLang="en-US">
                <a:ea typeface="SimSun" charset="0"/>
              </a:rPr>
              <a:t>的工具，但并非不可或缺的工具</a:t>
            </a:r>
            <a:r>
              <a:rPr lang="en-US" altLang="zh-CN">
                <a:ea typeface="SimSun" charset="0"/>
              </a:rPr>
              <a:t>。</a:t>
            </a:r>
            <a:r>
              <a:rPr lang="zh-CN" altLang="en-US">
                <a:ea typeface="SimSun" charset="0"/>
              </a:rPr>
              <a:t>”</a:t>
            </a:r>
            <a:r>
              <a:rPr lang="en-US" altLang="zh-CN">
                <a:ea typeface="SimSun" charset="0"/>
              </a:rPr>
              <a:t>（</a:t>
            </a:r>
            <a:r>
              <a:rPr lang="en-US" altLang="en-US">
                <a:ea typeface="SimSun" charset="0"/>
              </a:rPr>
              <a:t>1847</a:t>
            </a:r>
            <a:r>
              <a:rPr lang="zh-CN" altLang="en-US">
                <a:ea typeface="SimSun" charset="0"/>
              </a:rPr>
              <a:t>年的《逻辑的数学分析》</a:t>
            </a:r>
            <a:r>
              <a:rPr lang="en-US" altLang="zh-CN">
                <a:ea typeface="SimSun" charset="0"/>
              </a:rPr>
              <a:t>）</a:t>
            </a:r>
            <a:endParaRPr lang="en-US" altLang="zh-CN">
              <a:ea typeface="SimSun" charset="0"/>
            </a:endParaRPr>
          </a:p>
          <a:p>
            <a:pPr lvl="1"/>
            <a:r>
              <a:rPr lang="zh-CN" altLang="en-US">
                <a:ea typeface="SimSun" charset="0"/>
              </a:rPr>
              <a:t>有了抽象概念</a:t>
            </a:r>
            <a:r>
              <a:rPr lang="en-US" altLang="zh-CN">
                <a:ea typeface="SimSun" charset="0"/>
              </a:rPr>
              <a:t>，</a:t>
            </a:r>
            <a:r>
              <a:rPr lang="zh-CN" altLang="en-US">
                <a:ea typeface="SimSun" charset="0"/>
              </a:rPr>
              <a:t>才有语言中的词汇</a:t>
            </a:r>
            <a:r>
              <a:rPr lang="en-US" altLang="zh-CN">
                <a:ea typeface="SimSun" charset="0"/>
              </a:rPr>
              <a:t>；</a:t>
            </a:r>
            <a:r>
              <a:rPr lang="zh-CN" altLang="en-US">
                <a:ea typeface="SimSun" charset="0"/>
              </a:rPr>
              <a:t>有了抽象概念</a:t>
            </a:r>
            <a:r>
              <a:rPr lang="en-US" altLang="zh-CN">
                <a:ea typeface="SimSun" charset="0"/>
              </a:rPr>
              <a:t>，</a:t>
            </a:r>
            <a:r>
              <a:rPr lang="zh-CN" altLang="en-US">
                <a:ea typeface="SimSun" charset="0"/>
              </a:rPr>
              <a:t>才能表达逻辑中</a:t>
            </a:r>
            <a:r>
              <a:rPr lang="zh-CN" altLang="en-US">
                <a:ea typeface="SimSun" charset="0"/>
              </a:rPr>
              <a:t>的命题</a:t>
            </a:r>
            <a:r>
              <a:rPr lang="en-US" altLang="zh-CN">
                <a:ea typeface="SimSun" charset="0"/>
              </a:rPr>
              <a:t>、</a:t>
            </a:r>
            <a:r>
              <a:rPr lang="zh-CN" altLang="en-US">
                <a:ea typeface="SimSun" charset="0"/>
              </a:rPr>
              <a:t>推理</a:t>
            </a:r>
            <a:r>
              <a:rPr lang="en-US" altLang="zh-CN">
                <a:ea typeface="SimSun" charset="0"/>
              </a:rPr>
              <a:t>。</a:t>
            </a:r>
            <a:endParaRPr lang="en-US" altLang="zh-CN">
              <a:ea typeface="SimSun" charset="0"/>
            </a:endParaRPr>
          </a:p>
          <a:p>
            <a:pPr lvl="1"/>
            <a:r>
              <a:rPr lang="zh-CN" altLang="en-US">
                <a:ea typeface="SimSun" charset="0"/>
              </a:rPr>
              <a:t>逻辑的工具载体</a:t>
            </a:r>
            <a:r>
              <a:rPr lang="en-US" altLang="zh-CN">
                <a:ea typeface="SimSun" charset="0"/>
              </a:rPr>
              <a:t>，</a:t>
            </a:r>
            <a:r>
              <a:rPr lang="zh-CN" altLang="en-US">
                <a:ea typeface="SimSun" charset="0"/>
              </a:rPr>
              <a:t>不一定</a:t>
            </a:r>
            <a:r>
              <a:rPr lang="zh-CN" altLang="en-US">
                <a:ea typeface="SimSun" charset="0"/>
              </a:rPr>
              <a:t>是具体语言</a:t>
            </a:r>
            <a:r>
              <a:rPr lang="en-US" altLang="zh-CN">
                <a:ea typeface="SimSun" charset="0"/>
              </a:rPr>
              <a:t>（</a:t>
            </a:r>
            <a:r>
              <a:rPr lang="zh-CN" altLang="en-US">
                <a:ea typeface="SimSun" charset="0"/>
              </a:rPr>
              <a:t>英语</a:t>
            </a:r>
            <a:r>
              <a:rPr lang="en-US" altLang="zh-CN">
                <a:ea typeface="SimSun" charset="0"/>
              </a:rPr>
              <a:t>、</a:t>
            </a:r>
            <a:r>
              <a:rPr lang="zh-CN" altLang="en-US">
                <a:ea typeface="SimSun" charset="0"/>
              </a:rPr>
              <a:t>汉语</a:t>
            </a:r>
            <a:r>
              <a:rPr lang="en-US" altLang="zh-CN">
                <a:ea typeface="SimSun" charset="0"/>
              </a:rPr>
              <a:t>），</a:t>
            </a:r>
            <a:r>
              <a:rPr lang="zh-CN" altLang="en-US">
                <a:ea typeface="SimSun" charset="0"/>
              </a:rPr>
              <a:t>也可以是</a:t>
            </a:r>
            <a:r>
              <a:rPr lang="zh-CN" altLang="en-US" b="1">
                <a:ea typeface="SimSun" charset="0"/>
              </a:rPr>
              <a:t>数学符号和代数运算</a:t>
            </a:r>
            <a:r>
              <a:rPr lang="en-US" altLang="zh-CN">
                <a:ea typeface="SimSun" charset="0"/>
              </a:rPr>
              <a:t>。</a:t>
            </a:r>
            <a:endParaRPr lang="en-US" altLang="zh-CN">
              <a:ea typeface="SimSun" charset="0"/>
            </a:endParaRPr>
          </a:p>
          <a:p>
            <a:pPr lvl="0"/>
            <a:r>
              <a:rPr lang="zh-CN" altLang="en-US">
                <a:ea typeface="SimSun" charset="0"/>
              </a:rPr>
              <a:t>后续</a:t>
            </a:r>
            <a:endParaRPr lang="en-US" altLang="en-US">
              <a:ea typeface="SimSun" charset="0"/>
            </a:endParaRPr>
          </a:p>
          <a:p>
            <a:pPr lvl="1"/>
            <a:r>
              <a:rPr lang="en-US" altLang="en-US">
                <a:ea typeface="SimSun" charset="0"/>
              </a:rPr>
              <a:t>1930</a:t>
            </a:r>
            <a:r>
              <a:rPr lang="zh-CN" altLang="en-US">
                <a:ea typeface="SimSun" charset="0"/>
              </a:rPr>
              <a:t>年代，美国数学家</a:t>
            </a:r>
            <a:r>
              <a:rPr lang="zh-CN" altLang="en-US" b="1">
                <a:solidFill>
                  <a:srgbClr val="FF0000"/>
                </a:solidFill>
                <a:ea typeface="SimSun" charset="0"/>
              </a:rPr>
              <a:t>克劳德</a:t>
            </a:r>
            <a:r>
              <a:rPr lang="en-US" altLang="zh-CN" b="1">
                <a:solidFill>
                  <a:srgbClr val="FF0000"/>
                </a:solidFill>
                <a:ea typeface="SimSun" charset="0"/>
              </a:rPr>
              <a:t>(Claude)</a:t>
            </a:r>
            <a:r>
              <a:rPr lang="en-US" altLang="en-US">
                <a:ea typeface="SimSun" charset="0"/>
              </a:rPr>
              <a:t>·</a:t>
            </a:r>
            <a:r>
              <a:rPr lang="zh-CN" altLang="en-US">
                <a:ea typeface="SimSun" charset="0"/>
              </a:rPr>
              <a:t>香农在其硕士论文中证明了布尔代数可以完美地用于分析并设计</a:t>
            </a:r>
            <a:r>
              <a:rPr lang="zh-CN" altLang="en-US">
                <a:ea typeface="SimSun" charset="0"/>
              </a:rPr>
              <a:t>开关电路</a:t>
            </a:r>
            <a:r>
              <a:rPr lang="en-US" altLang="zh-CN">
                <a:ea typeface="SimSun" charset="0"/>
              </a:rPr>
              <a:t>。</a:t>
            </a:r>
            <a:endParaRPr lang="en-US" altLang="zh-CN">
              <a:ea typeface="SimSun" charset="0"/>
            </a:endParaRPr>
          </a:p>
          <a:p>
            <a:pPr lvl="1"/>
            <a:r>
              <a:rPr lang="zh-CN" altLang="en-US">
                <a:ea typeface="SimSun" charset="0"/>
              </a:rPr>
              <a:t>因此</a:t>
            </a:r>
            <a:r>
              <a:rPr lang="en-US" altLang="zh-CN">
                <a:ea typeface="SimSun" charset="0"/>
              </a:rPr>
              <a:t>，</a:t>
            </a:r>
            <a:r>
              <a:rPr lang="zh-CN" altLang="en-US" b="1">
                <a:ea typeface="SimSun" charset="0"/>
              </a:rPr>
              <a:t>逻辑的载体也可以是开关电路</a:t>
            </a:r>
            <a:r>
              <a:rPr lang="en-US" altLang="zh-CN">
                <a:ea typeface="SimSun" charset="0"/>
              </a:rPr>
              <a:t>。</a:t>
            </a:r>
            <a:r>
              <a:rPr lang="zh-CN" altLang="en-US">
                <a:ea typeface="SimSun" charset="0"/>
              </a:rPr>
              <a:t>换言之</a:t>
            </a:r>
            <a:r>
              <a:rPr lang="en-US" altLang="zh-CN">
                <a:ea typeface="SimSun" charset="0"/>
              </a:rPr>
              <a:t>，</a:t>
            </a:r>
            <a:r>
              <a:rPr lang="zh-CN" altLang="en-US" b="1">
                <a:ea typeface="SimSun" charset="0"/>
              </a:rPr>
              <a:t>电路可以完成人脑的逻辑推理功能</a:t>
            </a:r>
            <a:r>
              <a:rPr lang="en-US" altLang="zh-CN">
                <a:ea typeface="SimSun" charset="0"/>
              </a:rPr>
              <a:t>。</a:t>
            </a:r>
            <a:endParaRPr lang="zh-CN" altLang="en-US">
              <a:ea typeface="SimSun" charset="0"/>
            </a:endParaRPr>
          </a:p>
          <a:p>
            <a:pPr lvl="1"/>
            <a:endParaRPr lang="en-US" altLang="zh-CN">
              <a:ea typeface="SimSun" charset="0"/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位向量及运算</a:t>
            </a:r>
            <a:endParaRPr lang="zh-CN" altLang="en-US"/>
          </a:p>
        </p:txBody>
      </p:sp>
      <p:sp>
        <p:nvSpPr>
          <p:cNvPr id="5837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位向量上的运算</a:t>
            </a:r>
            <a:endParaRPr lang="en-US"/>
          </a:p>
          <a:p>
            <a:pPr lvl="1"/>
            <a:r>
              <a:rPr lang="zh-CN" altLang="en-US"/>
              <a:t>逐位进行运算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zh-CN" altLang="en-US"/>
              <a:t>布尔代数上的所有性质都适用</a:t>
            </a:r>
            <a:endParaRPr lang="zh-CN" altLang="en-US"/>
          </a:p>
        </p:txBody>
      </p:sp>
      <p:sp>
        <p:nvSpPr>
          <p:cNvPr id="58374" name="Rectangle 5"/>
          <p:cNvSpPr/>
          <p:nvPr/>
        </p:nvSpPr>
        <p:spPr bwMode="auto">
          <a:xfrm>
            <a:off x="2311400" y="2349500"/>
            <a:ext cx="1666240" cy="102489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01101001</a:t>
            </a:r>
            <a:endParaRPr lang="en-US" sz="20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&amp; 01010101</a:t>
            </a:r>
            <a:endParaRPr lang="en-US" sz="20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01000001</a:t>
            </a:r>
            <a:endParaRPr lang="en-US" sz="2000" b="0">
              <a:solidFill>
                <a:srgbClr val="FFFFFF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75" name="Line 6"/>
          <p:cNvSpPr>
            <a:spLocks noChangeShapeType="1"/>
          </p:cNvSpPr>
          <p:nvPr/>
        </p:nvSpPr>
        <p:spPr bwMode="auto">
          <a:xfrm>
            <a:off x="23876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</p:spPr>
        <p:txBody>
          <a:bodyPr lIns="0" tIns="0" rIns="0" bIns="0"/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58376" name="Rectangle 7"/>
          <p:cNvSpPr/>
          <p:nvPr/>
        </p:nvSpPr>
        <p:spPr bwMode="auto">
          <a:xfrm>
            <a:off x="4140200" y="2349500"/>
            <a:ext cx="1666240" cy="102489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01101001</a:t>
            </a:r>
            <a:endParaRPr lang="en-US" sz="20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| 01010101</a:t>
            </a:r>
            <a:endParaRPr lang="en-US" sz="20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01111101</a:t>
            </a:r>
            <a:endParaRPr lang="en-US" sz="2000" b="0">
              <a:solidFill>
                <a:srgbClr val="FFFFFF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77" name="Line 8"/>
          <p:cNvSpPr>
            <a:spLocks noChangeShapeType="1"/>
          </p:cNvSpPr>
          <p:nvPr/>
        </p:nvSpPr>
        <p:spPr bwMode="auto">
          <a:xfrm>
            <a:off x="42164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</p:spPr>
        <p:txBody>
          <a:bodyPr lIns="0" tIns="0" rIns="0" bIns="0"/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58378" name="Rectangle 9"/>
          <p:cNvSpPr/>
          <p:nvPr/>
        </p:nvSpPr>
        <p:spPr bwMode="auto">
          <a:xfrm>
            <a:off x="5969000" y="2349500"/>
            <a:ext cx="1666240" cy="102489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01101001</a:t>
            </a:r>
            <a:endParaRPr lang="en-US" sz="20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^ 01010101</a:t>
            </a:r>
            <a:endParaRPr lang="en-US" sz="20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00111100</a:t>
            </a:r>
            <a:endParaRPr lang="en-US" sz="2000" b="0">
              <a:solidFill>
                <a:srgbClr val="FFFFFF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79" name="Line 10"/>
          <p:cNvSpPr>
            <a:spLocks noChangeShapeType="1"/>
          </p:cNvSpPr>
          <p:nvPr/>
        </p:nvSpPr>
        <p:spPr bwMode="auto">
          <a:xfrm>
            <a:off x="61214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</p:spPr>
        <p:txBody>
          <a:bodyPr lIns="0" tIns="0" rIns="0" bIns="0"/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58380" name="Rectangle 11"/>
          <p:cNvSpPr/>
          <p:nvPr/>
        </p:nvSpPr>
        <p:spPr bwMode="auto">
          <a:xfrm>
            <a:off x="7872413" y="2349500"/>
            <a:ext cx="1666240" cy="102489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endParaRPr lang="en-US" sz="20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~ 01010101</a:t>
            </a:r>
            <a:endParaRPr lang="en-US" sz="20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10101010</a:t>
            </a:r>
            <a:endParaRPr lang="en-US" sz="2000" b="0">
              <a:solidFill>
                <a:srgbClr val="FFFFFF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81" name="Line 12"/>
          <p:cNvSpPr>
            <a:spLocks noChangeShapeType="1"/>
          </p:cNvSpPr>
          <p:nvPr/>
        </p:nvSpPr>
        <p:spPr bwMode="auto">
          <a:xfrm>
            <a:off x="7950200" y="2981325"/>
            <a:ext cx="16002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</a:ln>
        </p:spPr>
        <p:txBody>
          <a:bodyPr lIns="0" tIns="0" rIns="0" bIns="0"/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23565" name="Rectangle 13"/>
          <p:cNvSpPr/>
          <p:nvPr/>
        </p:nvSpPr>
        <p:spPr bwMode="auto">
          <a:xfrm>
            <a:off x="2311400" y="3035300"/>
            <a:ext cx="1666240" cy="40894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01000001</a:t>
            </a:r>
            <a:endParaRPr lang="en-US" sz="2000" b="0">
              <a:solidFill>
                <a:srgbClr val="CC0000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3566" name="Rectangle 14"/>
          <p:cNvSpPr/>
          <p:nvPr/>
        </p:nvSpPr>
        <p:spPr bwMode="auto">
          <a:xfrm>
            <a:off x="4445000" y="3035300"/>
            <a:ext cx="1361440" cy="40894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01111101</a:t>
            </a:r>
            <a:endParaRPr lang="en-US" sz="2000" b="0">
              <a:solidFill>
                <a:srgbClr val="CC0000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3567" name="Rectangle 15"/>
          <p:cNvSpPr/>
          <p:nvPr/>
        </p:nvSpPr>
        <p:spPr bwMode="auto">
          <a:xfrm>
            <a:off x="6273800" y="3035300"/>
            <a:ext cx="1361440" cy="40894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00111100</a:t>
            </a:r>
            <a:endParaRPr lang="en-US" sz="2000" b="0">
              <a:solidFill>
                <a:srgbClr val="CC0000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3568" name="Rectangle 16"/>
          <p:cNvSpPr/>
          <p:nvPr/>
        </p:nvSpPr>
        <p:spPr bwMode="auto">
          <a:xfrm>
            <a:off x="8178800" y="3035300"/>
            <a:ext cx="1361440" cy="40894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10101010</a:t>
            </a:r>
            <a:endParaRPr lang="en-US" sz="2000" b="0">
              <a:solidFill>
                <a:srgbClr val="CC0000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5" grpId="0" autoUpdateAnimBg="0" build="p"/>
      <p:bldP spid="23566" grpId="0" autoUpdateAnimBg="0" build="p"/>
      <p:bldP spid="23567" grpId="0" autoUpdateAnimBg="0" build="p"/>
      <p:bldP spid="23568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3"/>
          <p:cNvSpPr>
            <a:spLocks noGrp="1" noChangeArrowheads="1"/>
          </p:cNvSpPr>
          <p:nvPr>
            <p:ph type="title"/>
          </p:nvPr>
        </p:nvSpPr>
        <p:spPr>
          <a:xfrm>
            <a:off x="533548" y="381068"/>
            <a:ext cx="8634582" cy="762000"/>
          </a:xfrm>
        </p:spPr>
        <p:txBody>
          <a:bodyPr/>
          <a:lstStyle/>
          <a:p>
            <a:r>
              <a:rPr lang="zh-CN" altLang="en-US" sz="2800" dirty="0"/>
              <a:t>例子：用布尔代数表示集合</a:t>
            </a:r>
            <a:r>
              <a:rPr lang="zh-CN" altLang="en-US" sz="2800" dirty="0"/>
              <a:t>及其运算</a:t>
            </a:r>
            <a:endParaRPr lang="zh-CN" altLang="en-US" sz="2800" dirty="0"/>
          </a:p>
        </p:txBody>
      </p:sp>
      <p:sp>
        <p:nvSpPr>
          <p:cNvPr id="5939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用位向量表示集合</a:t>
            </a:r>
            <a:endParaRPr lang="en-US" dirty="0"/>
          </a:p>
          <a:p>
            <a:pPr lvl="1"/>
            <a:r>
              <a:rPr lang="zh-CN" altLang="en-US" dirty="0"/>
              <a:t>宽度位</a:t>
            </a:r>
            <a:r>
              <a:rPr lang="en-US" dirty="0" err="1"/>
              <a:t>w</a:t>
            </a:r>
            <a:r>
              <a:rPr lang="zh-CN" altLang="en-US" dirty="0"/>
              <a:t>的位向量</a:t>
            </a:r>
            <a:r>
              <a:rPr lang="en-US" altLang="zh-CN" dirty="0"/>
              <a:t>，</a:t>
            </a:r>
            <a:r>
              <a:rPr lang="zh-CN" altLang="en-US" dirty="0"/>
              <a:t>可以用来表示集合</a:t>
            </a:r>
            <a:r>
              <a:rPr lang="en-US" dirty="0"/>
              <a:t> {0, …, </a:t>
            </a:r>
            <a:r>
              <a:rPr lang="en-US" dirty="0" err="1"/>
              <a:t>w</a:t>
            </a:r>
            <a:r>
              <a:rPr lang="en-US" dirty="0"/>
              <a:t>–1}</a:t>
            </a:r>
            <a:r>
              <a:rPr lang="zh-CN" altLang="en-US" dirty="0"/>
              <a:t>的子集</a:t>
            </a:r>
            <a:endParaRPr lang="en-US" dirty="0"/>
          </a:p>
          <a:p>
            <a:pPr lvl="1"/>
            <a:r>
              <a:rPr lang="zh-CN" altLang="en-US" dirty="0" err="1"/>
              <a:t>表示方法</a:t>
            </a:r>
            <a:r>
              <a:rPr lang="en-US" altLang="zh-CN" dirty="0" err="1"/>
              <a:t>：</a:t>
            </a:r>
            <a:r>
              <a:rPr lang="zh-CN" altLang="en-US" dirty="0" err="1"/>
              <a:t>如果</a:t>
            </a:r>
            <a:r>
              <a:rPr lang="en-US" dirty="0"/>
              <a:t> </a:t>
            </a:r>
            <a:r>
              <a:rPr lang="en-US" dirty="0" err="1"/>
              <a:t>j</a:t>
            </a:r>
            <a:r>
              <a:rPr lang="en-US" dirty="0"/>
              <a:t>  ∈ A，</a:t>
            </a:r>
            <a:r>
              <a:rPr lang="zh-CN" altLang="en-US" dirty="0"/>
              <a:t>则</a:t>
            </a:r>
            <a:r>
              <a:rPr lang="en-US" dirty="0" err="1">
                <a:sym typeface="+mn-ea"/>
              </a:rPr>
              <a:t>a</a:t>
            </a:r>
            <a:r>
              <a:rPr lang="en-US" baseline="-25000" dirty="0" err="1">
                <a:sym typeface="+mn-ea"/>
              </a:rPr>
              <a:t>j</a:t>
            </a:r>
            <a:r>
              <a:rPr lang="en-US" dirty="0">
                <a:sym typeface="+mn-ea"/>
              </a:rPr>
              <a:t> = 1</a:t>
            </a:r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A: 01101001	{ 0, 3, 5, 6 }</a:t>
            </a:r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    </a:t>
            </a:r>
            <a:r>
              <a:rPr lang="en-US" i="1" dirty="0">
                <a:sym typeface="Monaco" charset="0"/>
              </a:rPr>
              <a:t>7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65</a:t>
            </a:r>
            <a:r>
              <a:rPr lang="en-US" i="1" dirty="0">
                <a:sym typeface="Monaco" charset="0"/>
              </a:rPr>
              <a:t>4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3</a:t>
            </a:r>
            <a:r>
              <a:rPr lang="en-US" i="1" dirty="0">
                <a:sym typeface="Monaco" charset="0"/>
              </a:rPr>
              <a:t>21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0</a:t>
            </a:r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B: 01010101	{ 0, 2, 4, 6 }</a:t>
            </a:r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    </a:t>
            </a:r>
            <a:r>
              <a:rPr lang="en-US" i="1" dirty="0">
                <a:sym typeface="Monaco" charset="0"/>
              </a:rPr>
              <a:t>7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6</a:t>
            </a:r>
            <a:r>
              <a:rPr lang="en-US" i="1" dirty="0">
                <a:sym typeface="Monaco" charset="0"/>
              </a:rPr>
              <a:t>5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4</a:t>
            </a:r>
            <a:r>
              <a:rPr lang="en-US" i="1" dirty="0">
                <a:sym typeface="Monaco" charset="0"/>
              </a:rPr>
              <a:t>3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2</a:t>
            </a:r>
            <a:r>
              <a:rPr lang="en-US" i="1" dirty="0">
                <a:sym typeface="Monaco" charset="0"/>
              </a:rPr>
              <a:t>1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0</a:t>
            </a:r>
            <a:endParaRPr lang="en-US" i="1" dirty="0">
              <a:solidFill>
                <a:srgbClr val="FF0000"/>
              </a:solidFill>
              <a:sym typeface="Monaco" charset="0"/>
            </a:endParaRPr>
          </a:p>
          <a:p>
            <a:r>
              <a:rPr lang="zh-CN" altLang="en-US" dirty="0"/>
              <a:t>用位运算表示集合的运算</a:t>
            </a:r>
            <a:endParaRPr lang="en-US" dirty="0"/>
          </a:p>
          <a:p>
            <a:pPr lvl="1"/>
            <a:r>
              <a:rPr lang="en-US" dirty="0"/>
              <a:t>A&amp;B   </a:t>
            </a:r>
            <a:r>
              <a:rPr lang="zh-CN" altLang="en-US" dirty="0"/>
              <a:t>交集</a:t>
            </a:r>
            <a:r>
              <a:rPr lang="en-US" dirty="0"/>
              <a:t>	01000001	{ 0, 6 }</a:t>
            </a:r>
            <a:endParaRPr lang="en-US" dirty="0"/>
          </a:p>
          <a:p>
            <a:pPr lvl="1"/>
            <a:r>
              <a:rPr lang="en-US" dirty="0"/>
              <a:t>A|B    </a:t>
            </a:r>
            <a:r>
              <a:rPr lang="zh-CN" altLang="en-US" dirty="0"/>
              <a:t>并集</a:t>
            </a:r>
            <a:r>
              <a:rPr lang="en-US" dirty="0"/>
              <a:t>	01111101	{ 0, 2, 3, 4, 5, 6 }</a:t>
            </a:r>
            <a:endParaRPr lang="en-US" dirty="0"/>
          </a:p>
          <a:p>
            <a:pPr lvl="1"/>
            <a:r>
              <a:rPr lang="en-US" dirty="0"/>
              <a:t>A^B   </a:t>
            </a:r>
            <a:r>
              <a:rPr lang="zh-CN" altLang="en-US" dirty="0">
                <a:solidFill>
                  <a:srgbClr val="00B050"/>
                </a:solidFill>
              </a:rPr>
              <a:t>对称差</a:t>
            </a:r>
            <a:r>
              <a:rPr lang="en-US" dirty="0"/>
              <a:t>	00111100	{ 2, 3, 4, 5 }</a:t>
            </a:r>
            <a:endParaRPr lang="en-US" dirty="0"/>
          </a:p>
          <a:p>
            <a:pPr lvl="1"/>
            <a:r>
              <a:rPr lang="en-US" dirty="0"/>
              <a:t>~	B    </a:t>
            </a:r>
            <a:r>
              <a:rPr lang="zh-CN" altLang="en-US" dirty="0"/>
              <a:t>补集</a:t>
            </a:r>
            <a:r>
              <a:rPr lang="en-US" dirty="0"/>
              <a:t>	10101010	{ 1, 3, 5, 7 }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/>
              <a:t>C</a:t>
            </a:r>
            <a:r>
              <a:rPr lang="zh-CN" altLang="en-US"/>
              <a:t>语言中的位</a:t>
            </a:r>
            <a:r>
              <a:rPr lang="zh-CN" altLang="en-US"/>
              <a:t>运算</a:t>
            </a:r>
            <a:endParaRPr lang="zh-CN" altLang="en-US"/>
          </a:p>
        </p:txBody>
      </p:sp>
      <p:sp>
        <p:nvSpPr>
          <p:cNvPr id="6042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</a:t>
            </a:r>
            <a:r>
              <a:rPr lang="zh-CN" altLang="en-US" dirty="0"/>
              <a:t>语言中也支持位向量运算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&amp;</a:t>
            </a:r>
            <a:r>
              <a:rPr lang="en-US" dirty="0">
                <a:solidFill>
                  <a:srgbClr val="FF0000"/>
                </a:solidFill>
              </a:rPr>
              <a:t>,  </a:t>
            </a:r>
            <a:r>
              <a:rPr lang="en-US" dirty="0">
                <a:solidFill>
                  <a:srgbClr val="FF0000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|</a:t>
            </a:r>
            <a:r>
              <a:rPr lang="en-US" dirty="0">
                <a:solidFill>
                  <a:srgbClr val="FF0000"/>
                </a:solidFill>
              </a:rPr>
              <a:t>,  </a:t>
            </a:r>
            <a:r>
              <a:rPr lang="en-US" dirty="0">
                <a:solidFill>
                  <a:srgbClr val="FF0000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~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^</a:t>
            </a:r>
            <a:r>
              <a:rPr lang="en-US" dirty="0"/>
              <a:t> </a:t>
            </a:r>
            <a:endParaRPr lang="en-US" dirty="0"/>
          </a:p>
          <a:p>
            <a:pPr marL="552450" lvl="1" eaLnBrk="1" hangingPunct="1"/>
            <a:r>
              <a:rPr lang="zh-CN" altLang="en-US" dirty="0"/>
              <a:t>所有的整数类型</a:t>
            </a:r>
            <a:r>
              <a:rPr lang="en-US" altLang="zh-CN" dirty="0"/>
              <a:t>，</a:t>
            </a:r>
            <a:r>
              <a:rPr lang="zh-CN" altLang="en-US" dirty="0"/>
              <a:t>都可以视为位向量进行运算</a:t>
            </a:r>
            <a:endParaRPr lang="en-US" dirty="0"/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long, </a:t>
            </a:r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int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, short, char, unsigned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zh-CN" altLang="en-US" dirty="0"/>
              <a:t>将操作数视为位向量，并进行运算</a:t>
            </a:r>
            <a:endParaRPr lang="en-US" dirty="0"/>
          </a:p>
          <a:p>
            <a:pPr eaLnBrk="1" hangingPunct="1"/>
            <a:r>
              <a:rPr lang="zh-CN" altLang="en-US" dirty="0"/>
              <a:t>例子</a:t>
            </a:r>
            <a:r>
              <a:rPr lang="en-US" dirty="0"/>
              <a:t> (Char </a:t>
            </a:r>
            <a:r>
              <a:rPr lang="zh-CN" altLang="en-US" dirty="0"/>
              <a:t>类型</a:t>
            </a:r>
            <a:r>
              <a:rPr lang="en-US" dirty="0"/>
              <a:t>)</a:t>
            </a:r>
            <a:endParaRPr lang="en-US" dirty="0"/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~0x41 -&gt; 0xBE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~01000001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10111110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~0x00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0xFF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~00000000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11111111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0x69 &amp; 0x55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0x41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 01010101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01000001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0x69 | 0x55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-&gt;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0x7D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| 01010101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01111101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baseline="-6000" dirty="0">
              <a:latin typeface="Monaco" charset="0"/>
              <a:sym typeface="Monaco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zh-CN" altLang="en-US"/>
              <a:t>对比</a:t>
            </a:r>
            <a:r>
              <a:rPr lang="en-US"/>
              <a:t>: C</a:t>
            </a:r>
            <a:r>
              <a:rPr lang="zh-CN" altLang="en-US"/>
              <a:t>语言中的逻辑</a:t>
            </a:r>
            <a:r>
              <a:rPr lang="zh-CN" altLang="en-US"/>
              <a:t>运算</a:t>
            </a:r>
            <a:endParaRPr lang="zh-CN" altLang="en-US"/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逻辑运算符</a:t>
            </a:r>
            <a:r>
              <a:rPr lang="en-US" altLang="zh-CN" dirty="0"/>
              <a:t>：</a:t>
            </a:r>
            <a:r>
              <a:rPr lang="en-US" dirty="0">
                <a:solidFill>
                  <a:srgbClr val="FF0000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&amp;&amp;, ||, !</a:t>
            </a:r>
            <a:endParaRPr lang="en-US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zh-CN" altLang="en-US" b="1" dirty="0"/>
              <a:t>输入</a:t>
            </a:r>
            <a:r>
              <a:rPr lang="en-US" altLang="zh-CN" b="1" dirty="0"/>
              <a:t>：</a:t>
            </a:r>
            <a:r>
              <a:rPr lang="zh-CN" altLang="en-US" b="1" dirty="0"/>
              <a:t>将</a:t>
            </a:r>
            <a:r>
              <a:rPr lang="en-US" altLang="zh-CN" b="1" dirty="0"/>
              <a:t>0</a:t>
            </a:r>
            <a:r>
              <a:rPr lang="zh-CN" altLang="en-US" b="1" dirty="0"/>
              <a:t>值操作数视为</a:t>
            </a:r>
            <a:r>
              <a:rPr lang="en-US" b="1" dirty="0"/>
              <a:t> “False”，</a:t>
            </a:r>
            <a:r>
              <a:rPr lang="zh-CN" altLang="en-US" b="1" dirty="0"/>
              <a:t>所有非</a:t>
            </a:r>
            <a:r>
              <a:rPr lang="en-US" altLang="zh-CN" b="1" dirty="0"/>
              <a:t>0</a:t>
            </a:r>
            <a:r>
              <a:rPr lang="zh-CN" altLang="en-US" b="1" dirty="0"/>
              <a:t>值</a:t>
            </a:r>
            <a:r>
              <a:rPr lang="zh-CN" altLang="en-US" b="1" dirty="0"/>
              <a:t>操作数视为</a:t>
            </a:r>
            <a:r>
              <a:rPr lang="en-US" b="1" dirty="0"/>
              <a:t> “True”</a:t>
            </a:r>
            <a:endParaRPr lang="en-US" b="1" dirty="0"/>
          </a:p>
          <a:p>
            <a:pPr marL="838200" lvl="2" eaLnBrk="1" hangingPunct="1"/>
            <a:r>
              <a:rPr lang="zh-CN" altLang="en-US" dirty="0"/>
              <a:t>输出</a:t>
            </a:r>
            <a:r>
              <a:rPr lang="en-US" altLang="zh-CN" dirty="0"/>
              <a:t>：</a:t>
            </a:r>
            <a:r>
              <a:rPr lang="zh-CN" altLang="en-US" dirty="0"/>
              <a:t>运算结果只能是</a:t>
            </a:r>
            <a:r>
              <a:rPr lang="en-US" dirty="0"/>
              <a:t> 0 （</a:t>
            </a:r>
            <a:r>
              <a:rPr lang="zh-CN" altLang="en-US" dirty="0"/>
              <a:t>表示</a:t>
            </a:r>
            <a:r>
              <a:rPr lang="en-US" altLang="zh-CN" dirty="0"/>
              <a:t>False</a:t>
            </a:r>
            <a:r>
              <a:rPr lang="en-US" dirty="0"/>
              <a:t>）</a:t>
            </a:r>
            <a:r>
              <a:rPr lang="zh-CN" altLang="en-US" dirty="0"/>
              <a:t>或</a:t>
            </a:r>
            <a:r>
              <a:rPr lang="en-US" altLang="zh-CN" dirty="0"/>
              <a:t> </a:t>
            </a:r>
            <a:r>
              <a:rPr lang="en-US" dirty="0"/>
              <a:t>1（</a:t>
            </a:r>
            <a:r>
              <a:rPr lang="zh-CN" altLang="en-US" dirty="0"/>
              <a:t>表示</a:t>
            </a:r>
            <a:r>
              <a:rPr lang="en-US" altLang="zh-CN" dirty="0"/>
              <a:t>True）</a:t>
            </a:r>
            <a:endParaRPr lang="en-US" dirty="0"/>
          </a:p>
          <a:p>
            <a:pPr marL="838200" lvl="2" eaLnBrk="1" hangingPunct="1"/>
            <a:r>
              <a:rPr lang="zh-CN" altLang="en-US" dirty="0">
                <a:solidFill>
                  <a:srgbClr val="00B050"/>
                </a:solidFill>
              </a:rPr>
              <a:t>提前结束运算</a:t>
            </a:r>
            <a:endParaRPr lang="en-US" dirty="0">
              <a:solidFill>
                <a:srgbClr val="980002"/>
              </a:solidFill>
            </a:endParaRPr>
          </a:p>
          <a:p>
            <a:pPr eaLnBrk="1" hangingPunct="1"/>
            <a:r>
              <a:rPr lang="zh-CN" altLang="en-US" dirty="0"/>
              <a:t>例子</a:t>
            </a:r>
            <a:r>
              <a:rPr lang="en-US" dirty="0"/>
              <a:t> (char</a:t>
            </a:r>
            <a:r>
              <a:rPr lang="zh-CN" altLang="en-US" dirty="0"/>
              <a:t>类型</a:t>
            </a:r>
            <a:r>
              <a:rPr lang="en-US" dirty="0"/>
              <a:t>)</a:t>
            </a:r>
            <a:endParaRPr lang="en-US" dirty="0"/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!0x41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0x00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!0x00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!!0x41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>
              <a:spcBef>
                <a:spcPts val="2100"/>
              </a:spcBef>
            </a:pP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0x69 &amp;&amp; 0x55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0x69 || 0x55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if(p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&amp;&amp; *</a:t>
            </a:r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p)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dirty="0"/>
              <a:t>	(</a:t>
            </a:r>
            <a:r>
              <a:rPr lang="zh-CN" altLang="en-US" b="1" dirty="0">
                <a:solidFill>
                  <a:srgbClr val="00B050"/>
                </a:solidFill>
                <a:latin typeface="Arial Bold" panose="020B0704020202020204" charset="0"/>
              </a:rPr>
              <a:t>可以避免空指针访问</a:t>
            </a:r>
            <a:r>
              <a:rPr lang="en-US" dirty="0"/>
              <a:t>)</a:t>
            </a:r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zh-CN" altLang="en-US"/>
              <a:t>对比</a:t>
            </a:r>
            <a:r>
              <a:rPr lang="en-US"/>
              <a:t>: C</a:t>
            </a:r>
            <a:r>
              <a:rPr lang="zh-CN" altLang="en-US"/>
              <a:t>语言中的逻辑</a:t>
            </a:r>
            <a:r>
              <a:rPr lang="zh-CN" altLang="en-US"/>
              <a:t>运算</a:t>
            </a:r>
            <a:endParaRPr lang="zh-CN" altLang="en-US"/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逻辑运算符</a:t>
            </a:r>
            <a:r>
              <a:rPr lang="en-US" altLang="zh-CN" dirty="0"/>
              <a:t>：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&amp;&amp;, ||, !</a:t>
            </a:r>
            <a:endParaRPr lang="en-US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zh-CN" altLang="en-US" b="1" dirty="0">
                <a:sym typeface="+mn-ea"/>
              </a:rPr>
              <a:t>输入</a:t>
            </a:r>
            <a:r>
              <a:rPr lang="en-US" altLang="zh-CN" b="1" dirty="0">
                <a:sym typeface="+mn-ea"/>
              </a:rPr>
              <a:t>：</a:t>
            </a:r>
            <a:r>
              <a:rPr lang="zh-CN" altLang="en-US" b="1" dirty="0">
                <a:sym typeface="+mn-ea"/>
              </a:rPr>
              <a:t>将</a:t>
            </a:r>
            <a:r>
              <a:rPr lang="en-US" altLang="zh-CN" b="1" dirty="0">
                <a:sym typeface="+mn-ea"/>
              </a:rPr>
              <a:t>0</a:t>
            </a:r>
            <a:r>
              <a:rPr lang="zh-CN" altLang="en-US" b="1" dirty="0">
                <a:sym typeface="+mn-ea"/>
              </a:rPr>
              <a:t>值操作数视为</a:t>
            </a:r>
            <a:r>
              <a:rPr lang="en-US" b="1" dirty="0">
                <a:sym typeface="+mn-ea"/>
              </a:rPr>
              <a:t> “False”，</a:t>
            </a:r>
            <a:r>
              <a:rPr lang="zh-CN" altLang="en-US" b="1" dirty="0">
                <a:sym typeface="+mn-ea"/>
              </a:rPr>
              <a:t>所有非</a:t>
            </a:r>
            <a:r>
              <a:rPr lang="en-US" altLang="zh-CN" b="1" dirty="0">
                <a:sym typeface="+mn-ea"/>
              </a:rPr>
              <a:t>0</a:t>
            </a:r>
            <a:r>
              <a:rPr lang="zh-CN" altLang="en-US" b="1" dirty="0">
                <a:sym typeface="+mn-ea"/>
              </a:rPr>
              <a:t>值操作数视为</a:t>
            </a:r>
            <a:r>
              <a:rPr lang="en-US" b="1" dirty="0">
                <a:sym typeface="+mn-ea"/>
              </a:rPr>
              <a:t> “True”</a:t>
            </a:r>
            <a:endParaRPr lang="en-US" b="1" dirty="0"/>
          </a:p>
          <a:p>
            <a:pPr marL="838200" lvl="2" eaLnBrk="1" hangingPunct="1"/>
            <a:r>
              <a:rPr lang="zh-CN" altLang="en-US" dirty="0">
                <a:sym typeface="+mn-ea"/>
              </a:rPr>
              <a:t>输出</a:t>
            </a:r>
            <a:r>
              <a:rPr lang="en-US" altLang="zh-CN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运算结果只能是</a:t>
            </a:r>
            <a:r>
              <a:rPr lang="en-US" dirty="0">
                <a:sym typeface="+mn-ea"/>
              </a:rPr>
              <a:t> 0 （</a:t>
            </a:r>
            <a:r>
              <a:rPr lang="zh-CN" altLang="en-US" dirty="0">
                <a:sym typeface="+mn-ea"/>
              </a:rPr>
              <a:t>表示</a:t>
            </a:r>
            <a:r>
              <a:rPr lang="en-US" altLang="zh-CN" dirty="0">
                <a:sym typeface="+mn-ea"/>
              </a:rPr>
              <a:t>False</a:t>
            </a:r>
            <a:r>
              <a:rPr lang="en-US" dirty="0"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或</a:t>
            </a:r>
            <a:r>
              <a:rPr lang="en-US" altLang="zh-CN" dirty="0">
                <a:sym typeface="+mn-ea"/>
              </a:rPr>
              <a:t> </a:t>
            </a:r>
            <a:r>
              <a:rPr lang="en-US" dirty="0">
                <a:sym typeface="+mn-ea"/>
              </a:rPr>
              <a:t>1（</a:t>
            </a:r>
            <a:r>
              <a:rPr lang="zh-CN" altLang="en-US" dirty="0">
                <a:sym typeface="+mn-ea"/>
              </a:rPr>
              <a:t>表示</a:t>
            </a:r>
            <a:r>
              <a:rPr lang="en-US" altLang="zh-CN" dirty="0">
                <a:sym typeface="+mn-ea"/>
              </a:rPr>
              <a:t>True）</a:t>
            </a:r>
            <a:endParaRPr lang="en-US" dirty="0"/>
          </a:p>
          <a:p>
            <a:pPr marL="838200" lvl="2" eaLnBrk="1" hangingPunct="1"/>
            <a:r>
              <a:rPr lang="zh-CN" altLang="en-US" dirty="0">
                <a:solidFill>
                  <a:srgbClr val="00B050"/>
                </a:solidFill>
              </a:rPr>
              <a:t>提前结束运算</a:t>
            </a:r>
            <a:endParaRPr lang="en-US" dirty="0">
              <a:solidFill>
                <a:srgbClr val="980002"/>
              </a:solidFill>
            </a:endParaRPr>
          </a:p>
          <a:p>
            <a:pPr eaLnBrk="1" hangingPunct="1"/>
            <a:r>
              <a:rPr lang="zh-CN" altLang="en-US" dirty="0"/>
              <a:t>例子</a:t>
            </a:r>
            <a:r>
              <a:rPr lang="en-US" dirty="0"/>
              <a:t> (char</a:t>
            </a:r>
            <a:r>
              <a:rPr lang="zh-CN" altLang="en-US" dirty="0"/>
              <a:t>类型</a:t>
            </a:r>
            <a:r>
              <a:rPr lang="en-US" dirty="0"/>
              <a:t>)</a:t>
            </a:r>
            <a:endParaRPr lang="en-US" dirty="0"/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!0x41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0x00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!0x00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!!0x41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>
              <a:spcBef>
                <a:spcPts val="2100"/>
              </a:spcBef>
            </a:pP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0x69 &amp;&amp; 0x55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/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0x69 || 0x55 </a:t>
            </a:r>
            <a:r>
              <a:rPr lang="en-US" altLang="zh-CN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 -&gt; </a:t>
            </a:r>
            <a:r>
              <a:rPr lang="en-US" sz="1800" dirty="0">
                <a:latin typeface="Monaco" charset="0"/>
                <a:ea typeface="Zapf Dingbats" panose="05020102010704020609" charset="2"/>
                <a:cs typeface="Zapf Dingbats" panose="05020102010704020609" charset="2"/>
                <a:sym typeface="Monaco" charset="0"/>
              </a:rPr>
              <a:t>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p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&amp;&amp; *</a:t>
            </a:r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p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dirty="0"/>
              <a:t>	(</a:t>
            </a:r>
            <a:r>
              <a:rPr lang="zh-CN" altLang="en-US" b="1" dirty="0">
                <a:solidFill>
                  <a:srgbClr val="00B050"/>
                </a:solidFill>
                <a:latin typeface="Arial Bold" panose="020B0704020202020204" charset="0"/>
              </a:rPr>
              <a:t>可以避免空指针访问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4343400" y="3200400"/>
            <a:ext cx="6400800" cy="1355090"/>
          </a:xfrm>
          <a:prstGeom prst="wedgeRoundRectCallout">
            <a:avLst>
              <a:gd name="adj1" fmla="val -40824"/>
              <a:gd name="adj2" fmla="val -88541"/>
              <a:gd name="adj3" fmla="val 16667"/>
            </a:avLst>
          </a:prstGeom>
          <a:solidFill>
            <a:srgbClr val="FF9900"/>
          </a:solidFill>
          <a:ln w="19050">
            <a:solidFill>
              <a:schemeClr val="tx2"/>
            </a:solidFill>
            <a:miter lim="800000"/>
            <a:tailEnd type="none" w="sm" len="sm"/>
          </a:ln>
          <a:effectLst/>
        </p:spPr>
        <p:txBody>
          <a:bodyPr lIns="45720" rIns="45720" anchor="ctr"/>
          <a:lstStyle/>
          <a:p>
            <a:r>
              <a:rPr lang="zh-CN" altLang="en-US" dirty="0">
                <a:solidFill>
                  <a:srgbClr val="000000"/>
                </a:solidFill>
              </a:rPr>
              <a:t>注意区分逻辑运算和位向量运算</a:t>
            </a:r>
            <a:br>
              <a:rPr lang="en-US" altLang="zh-CN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 &amp;&amp; vs. &amp;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 || vs. |… 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zh-CN" altLang="en-US"/>
              <a:t>移位运算</a:t>
            </a:r>
            <a:endParaRPr lang="zh-CN" altLang="en-US"/>
          </a:p>
        </p:txBody>
      </p:sp>
      <p:sp>
        <p:nvSpPr>
          <p:cNvPr id="6246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左移</a:t>
            </a:r>
            <a:r>
              <a:rPr lang="en-US" dirty="0"/>
              <a:t>: 	</a:t>
            </a:r>
            <a:r>
              <a:rPr lang="en-US" dirty="0" err="1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x</a:t>
            </a: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&lt;&lt; </a:t>
            </a:r>
            <a:r>
              <a:rPr lang="en-US" dirty="0" err="1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y</a:t>
            </a:r>
            <a:endParaRPr lang="en-US" dirty="0">
              <a:latin typeface="Courier New" panose="02070609020205020404"/>
              <a:cs typeface="Courier New" panose="02070609020205020404"/>
            </a:endParaRPr>
          </a:p>
          <a:p>
            <a:pPr marL="552450" lvl="1" eaLnBrk="1" hangingPunct="1"/>
            <a:r>
              <a:rPr lang="zh-CN" altLang="en-US" dirty="0"/>
              <a:t>位向量</a:t>
            </a:r>
            <a:r>
              <a:rPr lang="en-US" dirty="0"/>
              <a:t> </a:t>
            </a:r>
            <a:r>
              <a:rPr lang="en-US" b="1" dirty="0" err="1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x</a:t>
            </a:r>
            <a:r>
              <a:rPr lang="en-US" dirty="0"/>
              <a:t> </a:t>
            </a:r>
            <a:r>
              <a:rPr lang="zh-CN" altLang="en-US" dirty="0"/>
              <a:t>左移</a:t>
            </a:r>
            <a:r>
              <a:rPr lang="en-US" altLang="zh-CN" dirty="0"/>
              <a:t> </a:t>
            </a:r>
            <a:r>
              <a:rPr lang="en-US" b="1" dirty="0" err="1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y</a:t>
            </a:r>
            <a:r>
              <a:rPr lang="en-US" dirty="0"/>
              <a:t> </a:t>
            </a:r>
            <a:r>
              <a:rPr lang="zh-CN" altLang="en-US" dirty="0"/>
              <a:t>位</a:t>
            </a:r>
            <a:endParaRPr lang="zh-CN" altLang="en-US" dirty="0"/>
          </a:p>
          <a:p>
            <a:pPr marL="1009650" lvl="2" eaLnBrk="1" hangingPunct="1"/>
            <a:r>
              <a:rPr lang="zh-CN" altLang="en-US" dirty="0"/>
              <a:t>左边移出的位直接丢掉</a:t>
            </a:r>
            <a:r>
              <a:rPr lang="en-US" altLang="zh-CN" dirty="0"/>
              <a:t>，</a:t>
            </a:r>
            <a:r>
              <a:rPr lang="zh-CN" altLang="en-US" dirty="0"/>
              <a:t>右边补</a:t>
            </a:r>
            <a:r>
              <a:rPr lang="en-US" altLang="zh-CN" dirty="0"/>
              <a:t>0</a:t>
            </a:r>
            <a:endParaRPr lang="zh-CN" altLang="en-US" dirty="0"/>
          </a:p>
          <a:p>
            <a:pPr eaLnBrk="1" hangingPunct="1"/>
            <a:r>
              <a:rPr lang="zh-CN" altLang="en-US" dirty="0"/>
              <a:t>右移</a:t>
            </a:r>
            <a:r>
              <a:rPr lang="en-US" altLang="zh-CN" dirty="0"/>
              <a:t>:</a:t>
            </a:r>
            <a:r>
              <a:rPr lang="en-US" dirty="0"/>
              <a:t> 	</a:t>
            </a:r>
            <a:r>
              <a:rPr lang="en-US" dirty="0" err="1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x</a:t>
            </a: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&gt;&gt; </a:t>
            </a:r>
            <a:r>
              <a:rPr lang="en-US" dirty="0" err="1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y</a:t>
            </a:r>
            <a:endParaRPr lang="en-US" dirty="0">
              <a:latin typeface="Courier New" panose="02070609020205020404"/>
              <a:cs typeface="Courier New" panose="02070609020205020404"/>
            </a:endParaRPr>
          </a:p>
          <a:p>
            <a:pPr marL="552450" lvl="1" eaLnBrk="1" hangingPunct="1"/>
            <a:r>
              <a:rPr lang="zh-CN" altLang="en-US" dirty="0">
                <a:sym typeface="+mn-ea"/>
              </a:rPr>
              <a:t>位向量</a:t>
            </a:r>
            <a:r>
              <a:rPr lang="en-US" dirty="0">
                <a:sym typeface="+mn-ea"/>
              </a:rPr>
              <a:t> </a:t>
            </a:r>
            <a:r>
              <a:rPr lang="en-US" b="1" dirty="0" err="1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x</a:t>
            </a:r>
            <a:r>
              <a:rPr lang="en-US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左移</a:t>
            </a:r>
            <a:r>
              <a:rPr lang="en-US" altLang="zh-CN" dirty="0">
                <a:sym typeface="+mn-ea"/>
              </a:rPr>
              <a:t> </a:t>
            </a:r>
            <a:r>
              <a:rPr lang="en-US" b="1" dirty="0" err="1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y</a:t>
            </a:r>
            <a:r>
              <a:rPr lang="en-US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位</a:t>
            </a:r>
            <a:endParaRPr lang="en-US" dirty="0"/>
          </a:p>
          <a:p>
            <a:pPr marL="838200" lvl="2" eaLnBrk="1" hangingPunct="1"/>
            <a:r>
              <a:rPr lang="zh-CN" altLang="en-US" dirty="0"/>
              <a:t>右边溢出的位直接丢掉</a:t>
            </a:r>
            <a:endParaRPr lang="en-US" dirty="0"/>
          </a:p>
          <a:p>
            <a:pPr marL="552450" lvl="1" eaLnBrk="1" hangingPunct="1"/>
            <a:r>
              <a:rPr lang="en-US" b="1" dirty="0">
                <a:solidFill>
                  <a:srgbClr val="00B050"/>
                </a:solidFill>
              </a:rPr>
              <a:t>Logical </a:t>
            </a:r>
            <a:r>
              <a:rPr lang="en-US" b="1" dirty="0">
                <a:solidFill>
                  <a:srgbClr val="00B050"/>
                </a:solidFill>
              </a:rPr>
              <a:t>right shift </a:t>
            </a:r>
            <a:r>
              <a:rPr lang="zh-CN" altLang="en-US" b="1" dirty="0">
                <a:solidFill>
                  <a:srgbClr val="00B050"/>
                </a:solidFill>
              </a:rPr>
              <a:t>逻辑</a:t>
            </a:r>
            <a:r>
              <a:rPr lang="zh-CN" altLang="en-US" b="1" dirty="0">
                <a:solidFill>
                  <a:srgbClr val="00B050"/>
                </a:solidFill>
              </a:rPr>
              <a:t>右移</a:t>
            </a:r>
            <a:endParaRPr lang="en-US" b="1" dirty="0"/>
          </a:p>
          <a:p>
            <a:pPr marL="838200" lvl="2" eaLnBrk="1" hangingPunct="1"/>
            <a:r>
              <a:rPr lang="zh-CN" altLang="en-US" dirty="0"/>
              <a:t>高位补</a:t>
            </a:r>
            <a:r>
              <a:rPr lang="en-US" altLang="zh-CN" dirty="0"/>
              <a:t>0</a:t>
            </a:r>
            <a:endParaRPr lang="en-US" dirty="0"/>
          </a:p>
          <a:p>
            <a:pPr marL="552450" lvl="1" eaLnBrk="1" hangingPunct="1"/>
            <a:r>
              <a:rPr lang="en-US" b="1" dirty="0">
                <a:solidFill>
                  <a:srgbClr val="00B050"/>
                </a:solidFill>
              </a:rPr>
              <a:t>Arithmetic </a:t>
            </a:r>
            <a:r>
              <a:rPr lang="en-US" b="1" dirty="0">
                <a:solidFill>
                  <a:srgbClr val="00B050"/>
                </a:solidFill>
              </a:rPr>
              <a:t>right shift </a:t>
            </a:r>
            <a:r>
              <a:rPr lang="zh-CN" altLang="en-US" b="1" dirty="0">
                <a:solidFill>
                  <a:srgbClr val="00B050"/>
                </a:solidFill>
              </a:rPr>
              <a:t>算术</a:t>
            </a:r>
            <a:r>
              <a:rPr lang="zh-CN" altLang="en-US" b="1" dirty="0">
                <a:solidFill>
                  <a:srgbClr val="00B050"/>
                </a:solidFill>
              </a:rPr>
              <a:t>右移</a:t>
            </a:r>
            <a:endParaRPr lang="en-US" b="1" dirty="0"/>
          </a:p>
          <a:p>
            <a:pPr marL="838200" lvl="2" eaLnBrk="1" hangingPunct="1"/>
            <a:r>
              <a:rPr lang="zh-CN" altLang="en-US" dirty="0"/>
              <a:t>高位</a:t>
            </a:r>
            <a:r>
              <a:rPr lang="zh-CN" altLang="en-US" dirty="0"/>
              <a:t>复制符号位</a:t>
            </a:r>
            <a:endParaRPr lang="en-US" dirty="0"/>
          </a:p>
          <a:p>
            <a:pPr eaLnBrk="1" hangingPunct="1"/>
            <a:r>
              <a:rPr lang="zh-CN" altLang="en-US" dirty="0"/>
              <a:t>未定义行为</a:t>
            </a:r>
            <a:endParaRPr lang="en-US" dirty="0"/>
          </a:p>
          <a:p>
            <a:pPr marL="552450" lvl="1" eaLnBrk="1" hangingPunct="1"/>
            <a:r>
              <a:rPr lang="en-US" dirty="0">
                <a:solidFill>
                  <a:srgbClr val="FF0000"/>
                </a:solidFill>
              </a:rPr>
              <a:t>Shift amount &lt; 0 or ≥ word size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8305800" y="1371600"/>
            <a:ext cx="1371600" cy="457200"/>
            <a:chOff x="0" y="0"/>
            <a:chExt cx="864" cy="288"/>
          </a:xfrm>
        </p:grpSpPr>
        <p:sp>
          <p:nvSpPr>
            <p:cNvPr id="62552" name="Rectangle 6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53" name="Rectangle 7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01100010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6932648" y="1371600"/>
            <a:ext cx="1373117" cy="457200"/>
            <a:chOff x="20" y="0"/>
            <a:chExt cx="864" cy="288"/>
          </a:xfrm>
        </p:grpSpPr>
        <p:sp>
          <p:nvSpPr>
            <p:cNvPr id="62550" name="Rectangle 9"/>
            <p:cNvSpPr/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51" name="Rectangle 10"/>
            <p:cNvSpPr/>
            <p:nvPr/>
          </p:nvSpPr>
          <p:spPr bwMode="auto">
            <a:xfrm>
              <a:off x="31" y="25"/>
              <a:ext cx="843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 dirty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x</a:t>
              </a:r>
              <a:endParaRPr lang="en-US" sz="1800" b="0" dirty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4" name="Group 11"/>
          <p:cNvGrpSpPr/>
          <p:nvPr/>
        </p:nvGrpSpPr>
        <p:grpSpPr bwMode="auto">
          <a:xfrm>
            <a:off x="8305800" y="1828800"/>
            <a:ext cx="1371600" cy="457200"/>
            <a:chOff x="0" y="0"/>
            <a:chExt cx="864" cy="288"/>
          </a:xfrm>
        </p:grpSpPr>
        <p:sp>
          <p:nvSpPr>
            <p:cNvPr id="62548" name="Rectangle 12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49" name="Rectangle 13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000</a:t>
              </a:r>
              <a:endParaRPr lang="en-US" sz="1800" b="0">
                <a:solidFill>
                  <a:srgbClr val="FFFFFF"/>
                </a:solidFill>
                <a:latin typeface="Courier New Bold Italic" panose="02070609020205020404" charset="0"/>
                <a:ea typeface="Courier New Bold Italic" panose="02070609020205020404" charset="0"/>
                <a:cs typeface="Courier New Bold Italic" panose="02070609020205020404" charset="0"/>
                <a:sym typeface="Courier New Bold Italic" panose="02070609020205020404" charset="0"/>
              </a:endParaRPr>
            </a:p>
          </p:txBody>
        </p:sp>
      </p:grpSp>
      <p:grpSp>
        <p:nvGrpSpPr>
          <p:cNvPr id="5" name="Group 14"/>
          <p:cNvGrpSpPr/>
          <p:nvPr/>
        </p:nvGrpSpPr>
        <p:grpSpPr bwMode="auto">
          <a:xfrm>
            <a:off x="6934200" y="1828800"/>
            <a:ext cx="1371600" cy="457200"/>
            <a:chOff x="0" y="0"/>
            <a:chExt cx="864" cy="288"/>
          </a:xfrm>
        </p:grpSpPr>
        <p:sp>
          <p:nvSpPr>
            <p:cNvPr id="62546" name="Rectangle 15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47" name="Rectangle 16"/>
            <p:cNvSpPr/>
            <p:nvPr/>
          </p:nvSpPr>
          <p:spPr bwMode="auto">
            <a:xfrm>
              <a:off x="214" y="25"/>
              <a:ext cx="435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&lt;&lt; 3</a:t>
              </a:r>
              <a:endParaRPr lang="en-US" sz="1800" b="0" dirty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6" name="Group 17"/>
          <p:cNvGrpSpPr/>
          <p:nvPr/>
        </p:nvGrpSpPr>
        <p:grpSpPr bwMode="auto">
          <a:xfrm>
            <a:off x="8305800" y="2286000"/>
            <a:ext cx="1371600" cy="457200"/>
            <a:chOff x="0" y="0"/>
            <a:chExt cx="864" cy="288"/>
          </a:xfrm>
        </p:grpSpPr>
        <p:sp>
          <p:nvSpPr>
            <p:cNvPr id="62544" name="Rectangle 18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45" name="Rectangle 19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011000</a:t>
              </a:r>
              <a:endParaRPr lang="en-US" sz="1800" b="0">
                <a:solidFill>
                  <a:srgbClr val="FFFFFF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7" name="Group 20"/>
          <p:cNvGrpSpPr/>
          <p:nvPr/>
        </p:nvGrpSpPr>
        <p:grpSpPr bwMode="auto">
          <a:xfrm>
            <a:off x="6934200" y="2286000"/>
            <a:ext cx="1371600" cy="457200"/>
            <a:chOff x="0" y="0"/>
            <a:chExt cx="864" cy="288"/>
          </a:xfrm>
        </p:grpSpPr>
        <p:sp>
          <p:nvSpPr>
            <p:cNvPr id="62542" name="Rectangle 21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43" name="Rectangle 22"/>
            <p:cNvSpPr/>
            <p:nvPr/>
          </p:nvSpPr>
          <p:spPr bwMode="auto">
            <a:xfrm>
              <a:off x="53" y="25"/>
              <a:ext cx="757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 dirty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&gt;&gt; 2</a:t>
              </a:r>
              <a:endParaRPr lang="en-US" sz="1800" b="0" dirty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8" name="Group 23"/>
          <p:cNvGrpSpPr/>
          <p:nvPr/>
        </p:nvGrpSpPr>
        <p:grpSpPr bwMode="auto">
          <a:xfrm>
            <a:off x="8305800" y="2743200"/>
            <a:ext cx="1371600" cy="457200"/>
            <a:chOff x="0" y="0"/>
            <a:chExt cx="864" cy="288"/>
          </a:xfrm>
        </p:grpSpPr>
        <p:sp>
          <p:nvSpPr>
            <p:cNvPr id="62540" name="Rectangle 24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41" name="Rectangle 25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011000</a:t>
              </a:r>
              <a:endParaRPr lang="en-US" sz="1800" b="0">
                <a:solidFill>
                  <a:srgbClr val="FFFFFF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9" name="Group 26"/>
          <p:cNvGrpSpPr/>
          <p:nvPr/>
        </p:nvGrpSpPr>
        <p:grpSpPr bwMode="auto">
          <a:xfrm>
            <a:off x="6934200" y="2743200"/>
            <a:ext cx="1371600" cy="457200"/>
            <a:chOff x="0" y="0"/>
            <a:chExt cx="864" cy="288"/>
          </a:xfrm>
        </p:grpSpPr>
        <p:sp>
          <p:nvSpPr>
            <p:cNvPr id="62538" name="Rectangle 27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39" name="Rectangle 28"/>
            <p:cNvSpPr/>
            <p:nvPr/>
          </p:nvSpPr>
          <p:spPr bwMode="auto">
            <a:xfrm>
              <a:off x="25" y="25"/>
              <a:ext cx="814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&gt;&gt; 2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10" name="Group 29"/>
          <p:cNvGrpSpPr/>
          <p:nvPr/>
        </p:nvGrpSpPr>
        <p:grpSpPr bwMode="auto">
          <a:xfrm>
            <a:off x="8305800" y="3581400"/>
            <a:ext cx="1371600" cy="457200"/>
            <a:chOff x="0" y="0"/>
            <a:chExt cx="864" cy="288"/>
          </a:xfrm>
        </p:grpSpPr>
        <p:sp>
          <p:nvSpPr>
            <p:cNvPr id="62536" name="Rectangle 30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37" name="Rectangle 31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10100010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11" name="Group 32"/>
          <p:cNvGrpSpPr/>
          <p:nvPr/>
        </p:nvGrpSpPr>
        <p:grpSpPr bwMode="auto">
          <a:xfrm>
            <a:off x="6932648" y="3581400"/>
            <a:ext cx="1373117" cy="457200"/>
            <a:chOff x="20" y="0"/>
            <a:chExt cx="864" cy="288"/>
          </a:xfrm>
        </p:grpSpPr>
        <p:sp>
          <p:nvSpPr>
            <p:cNvPr id="62534" name="Rectangle 33"/>
            <p:cNvSpPr/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35" name="Rectangle 34"/>
            <p:cNvSpPr/>
            <p:nvPr/>
          </p:nvSpPr>
          <p:spPr bwMode="auto">
            <a:xfrm>
              <a:off x="31" y="25"/>
              <a:ext cx="843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x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12" name="Group 35"/>
          <p:cNvGrpSpPr/>
          <p:nvPr/>
        </p:nvGrpSpPr>
        <p:grpSpPr bwMode="auto">
          <a:xfrm>
            <a:off x="8305800" y="4038600"/>
            <a:ext cx="1371600" cy="457200"/>
            <a:chOff x="0" y="0"/>
            <a:chExt cx="864" cy="288"/>
          </a:xfrm>
        </p:grpSpPr>
        <p:sp>
          <p:nvSpPr>
            <p:cNvPr id="62532" name="Rectangle 36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33" name="Rectangle 37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000</a:t>
              </a:r>
              <a:endParaRPr lang="en-US" sz="1800" b="0">
                <a:solidFill>
                  <a:srgbClr val="FFFFFF"/>
                </a:solidFill>
                <a:latin typeface="Courier New Bold Italic" panose="02070609020205020404" charset="0"/>
                <a:ea typeface="Courier New Bold Italic" panose="02070609020205020404" charset="0"/>
                <a:cs typeface="Courier New Bold Italic" panose="02070609020205020404" charset="0"/>
                <a:sym typeface="Courier New Bold Italic" panose="02070609020205020404" charset="0"/>
              </a:endParaRPr>
            </a:p>
          </p:txBody>
        </p:sp>
      </p:grpSp>
      <p:grpSp>
        <p:nvGrpSpPr>
          <p:cNvPr id="13" name="Group 38"/>
          <p:cNvGrpSpPr/>
          <p:nvPr/>
        </p:nvGrpSpPr>
        <p:grpSpPr bwMode="auto">
          <a:xfrm>
            <a:off x="6934200" y="4038600"/>
            <a:ext cx="1371600" cy="457200"/>
            <a:chOff x="0" y="0"/>
            <a:chExt cx="864" cy="288"/>
          </a:xfrm>
        </p:grpSpPr>
        <p:sp>
          <p:nvSpPr>
            <p:cNvPr id="62530" name="Rectangle 39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31" name="Rectangle 40"/>
            <p:cNvSpPr/>
            <p:nvPr/>
          </p:nvSpPr>
          <p:spPr bwMode="auto">
            <a:xfrm>
              <a:off x="214" y="25"/>
              <a:ext cx="435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&lt;&lt; 3</a:t>
              </a:r>
              <a:endParaRPr lang="en-US" sz="1800" b="0" dirty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14" name="Group 41"/>
          <p:cNvGrpSpPr/>
          <p:nvPr/>
        </p:nvGrpSpPr>
        <p:grpSpPr bwMode="auto">
          <a:xfrm>
            <a:off x="8305800" y="4495800"/>
            <a:ext cx="1371600" cy="457200"/>
            <a:chOff x="0" y="0"/>
            <a:chExt cx="864" cy="288"/>
          </a:xfrm>
        </p:grpSpPr>
        <p:sp>
          <p:nvSpPr>
            <p:cNvPr id="62528" name="Rectangle 42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29" name="Rectangle 43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101000</a:t>
              </a:r>
              <a:endParaRPr lang="en-US" sz="1800" b="0">
                <a:solidFill>
                  <a:srgbClr val="FFFFFF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15" name="Group 44"/>
          <p:cNvGrpSpPr/>
          <p:nvPr/>
        </p:nvGrpSpPr>
        <p:grpSpPr bwMode="auto">
          <a:xfrm>
            <a:off x="6934200" y="4495800"/>
            <a:ext cx="1371600" cy="457200"/>
            <a:chOff x="0" y="0"/>
            <a:chExt cx="864" cy="288"/>
          </a:xfrm>
        </p:grpSpPr>
        <p:sp>
          <p:nvSpPr>
            <p:cNvPr id="62526" name="Rectangle 45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27" name="Rectangle 46"/>
            <p:cNvSpPr/>
            <p:nvPr/>
          </p:nvSpPr>
          <p:spPr bwMode="auto">
            <a:xfrm>
              <a:off x="53" y="25"/>
              <a:ext cx="757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&gt;&gt; 2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16" name="Group 47"/>
          <p:cNvGrpSpPr/>
          <p:nvPr/>
        </p:nvGrpSpPr>
        <p:grpSpPr bwMode="auto">
          <a:xfrm>
            <a:off x="8305800" y="4953000"/>
            <a:ext cx="1371600" cy="457200"/>
            <a:chOff x="0" y="0"/>
            <a:chExt cx="864" cy="288"/>
          </a:xfrm>
        </p:grpSpPr>
        <p:sp>
          <p:nvSpPr>
            <p:cNvPr id="62524" name="Rectangle 48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25" name="Rectangle 49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11</a:t>
              </a:r>
              <a:r>
                <a: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101000</a:t>
              </a:r>
              <a:endParaRPr lang="en-US" sz="1800" b="0">
                <a:solidFill>
                  <a:srgbClr val="FFFFFF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17" name="Group 50"/>
          <p:cNvGrpSpPr/>
          <p:nvPr/>
        </p:nvGrpSpPr>
        <p:grpSpPr bwMode="auto">
          <a:xfrm>
            <a:off x="6934200" y="4953000"/>
            <a:ext cx="1371600" cy="457200"/>
            <a:chOff x="0" y="0"/>
            <a:chExt cx="864" cy="288"/>
          </a:xfrm>
        </p:grpSpPr>
        <p:sp>
          <p:nvSpPr>
            <p:cNvPr id="62522" name="Rectangle 51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23" name="Rectangle 52"/>
            <p:cNvSpPr/>
            <p:nvPr/>
          </p:nvSpPr>
          <p:spPr bwMode="auto">
            <a:xfrm>
              <a:off x="25" y="25"/>
              <a:ext cx="814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&gt;&gt; 2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18" name="Group 53"/>
          <p:cNvGrpSpPr/>
          <p:nvPr/>
        </p:nvGrpSpPr>
        <p:grpSpPr bwMode="auto">
          <a:xfrm>
            <a:off x="8305800" y="1828800"/>
            <a:ext cx="1371600" cy="457200"/>
            <a:chOff x="0" y="0"/>
            <a:chExt cx="864" cy="288"/>
          </a:xfrm>
        </p:grpSpPr>
        <p:sp>
          <p:nvSpPr>
            <p:cNvPr id="62520" name="Rectangle 54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21" name="Rectangle 55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000</a:t>
              </a:r>
              <a:endParaRPr lang="en-US" sz="1800" b="0">
                <a:solidFill>
                  <a:srgbClr val="FFFFFF"/>
                </a:solidFill>
                <a:latin typeface="Courier New Bold Italic" panose="02070609020205020404" charset="0"/>
                <a:ea typeface="Courier New Bold Italic" panose="02070609020205020404" charset="0"/>
                <a:cs typeface="Courier New Bold Italic" panose="02070609020205020404" charset="0"/>
                <a:sym typeface="Courier New Bold Italic" panose="02070609020205020404" charset="0"/>
              </a:endParaRPr>
            </a:p>
          </p:txBody>
        </p:sp>
      </p:grpSp>
      <p:grpSp>
        <p:nvGrpSpPr>
          <p:cNvPr id="19" name="Group 56"/>
          <p:cNvGrpSpPr/>
          <p:nvPr/>
        </p:nvGrpSpPr>
        <p:grpSpPr bwMode="auto">
          <a:xfrm>
            <a:off x="8305800" y="1828800"/>
            <a:ext cx="1371600" cy="457200"/>
            <a:chOff x="0" y="0"/>
            <a:chExt cx="864" cy="288"/>
          </a:xfrm>
        </p:grpSpPr>
        <p:sp>
          <p:nvSpPr>
            <p:cNvPr id="62518" name="Rectangle 57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19" name="Rectangle 58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00010</a:t>
              </a:r>
              <a:r>
                <a:rPr lang="en-US" sz="1800" b="0">
                  <a:solidFill>
                    <a:srgbClr val="000066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000</a:t>
              </a:r>
              <a:endParaRPr lang="en-US" sz="1800" b="0">
                <a:solidFill>
                  <a:srgbClr val="000066"/>
                </a:solidFill>
                <a:latin typeface="Courier New Bold Italic" panose="02070609020205020404" charset="0"/>
                <a:ea typeface="Courier New Bold Italic" panose="02070609020205020404" charset="0"/>
                <a:cs typeface="Courier New Bold Italic" panose="02070609020205020404" charset="0"/>
                <a:sym typeface="Courier New Bold Italic" panose="02070609020205020404" charset="0"/>
              </a:endParaRPr>
            </a:p>
          </p:txBody>
        </p:sp>
      </p:grpSp>
      <p:grpSp>
        <p:nvGrpSpPr>
          <p:cNvPr id="20" name="Group 59"/>
          <p:cNvGrpSpPr/>
          <p:nvPr/>
        </p:nvGrpSpPr>
        <p:grpSpPr bwMode="auto">
          <a:xfrm>
            <a:off x="8305800" y="2286000"/>
            <a:ext cx="1371600" cy="457200"/>
            <a:chOff x="0" y="0"/>
            <a:chExt cx="864" cy="288"/>
          </a:xfrm>
        </p:grpSpPr>
        <p:sp>
          <p:nvSpPr>
            <p:cNvPr id="62516" name="Rectangle 60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17" name="Rectangle 61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011000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21" name="Group 62"/>
          <p:cNvGrpSpPr/>
          <p:nvPr/>
        </p:nvGrpSpPr>
        <p:grpSpPr bwMode="auto">
          <a:xfrm>
            <a:off x="8305800" y="2286000"/>
            <a:ext cx="1371600" cy="457200"/>
            <a:chOff x="0" y="0"/>
            <a:chExt cx="864" cy="288"/>
          </a:xfrm>
        </p:grpSpPr>
        <p:sp>
          <p:nvSpPr>
            <p:cNvPr id="62514" name="Rectangle 63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15" name="Rectangle 64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011000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22" name="Group 65"/>
          <p:cNvGrpSpPr/>
          <p:nvPr/>
        </p:nvGrpSpPr>
        <p:grpSpPr bwMode="auto">
          <a:xfrm>
            <a:off x="8305800" y="2743200"/>
            <a:ext cx="1371600" cy="457200"/>
            <a:chOff x="0" y="0"/>
            <a:chExt cx="864" cy="288"/>
          </a:xfrm>
        </p:grpSpPr>
        <p:sp>
          <p:nvSpPr>
            <p:cNvPr id="62512" name="Rectangle 66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13" name="Rectangle 67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011000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23" name="Group 68"/>
          <p:cNvGrpSpPr/>
          <p:nvPr/>
        </p:nvGrpSpPr>
        <p:grpSpPr bwMode="auto">
          <a:xfrm>
            <a:off x="8305800" y="2743200"/>
            <a:ext cx="1371600" cy="457200"/>
            <a:chOff x="0" y="0"/>
            <a:chExt cx="864" cy="288"/>
          </a:xfrm>
        </p:grpSpPr>
        <p:sp>
          <p:nvSpPr>
            <p:cNvPr id="62510" name="Rectangle 69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11" name="Rectangle 70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011000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24" name="Group 71"/>
          <p:cNvGrpSpPr/>
          <p:nvPr/>
        </p:nvGrpSpPr>
        <p:grpSpPr bwMode="auto">
          <a:xfrm>
            <a:off x="8305800" y="4038600"/>
            <a:ext cx="1371600" cy="457200"/>
            <a:chOff x="0" y="0"/>
            <a:chExt cx="864" cy="288"/>
          </a:xfrm>
        </p:grpSpPr>
        <p:sp>
          <p:nvSpPr>
            <p:cNvPr id="62508" name="Rectangle 72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09" name="Rectangle 73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000</a:t>
              </a:r>
              <a:endParaRPr lang="en-US" sz="1800" b="0">
                <a:solidFill>
                  <a:srgbClr val="FFFFFF"/>
                </a:solidFill>
                <a:latin typeface="Courier New Bold Italic" panose="02070609020205020404" charset="0"/>
                <a:ea typeface="Courier New Bold Italic" panose="02070609020205020404" charset="0"/>
                <a:cs typeface="Courier New Bold Italic" panose="02070609020205020404" charset="0"/>
                <a:sym typeface="Courier New Bold Italic" panose="02070609020205020404" charset="0"/>
              </a:endParaRPr>
            </a:p>
          </p:txBody>
        </p:sp>
      </p:grpSp>
      <p:grpSp>
        <p:nvGrpSpPr>
          <p:cNvPr id="25" name="Group 74"/>
          <p:cNvGrpSpPr/>
          <p:nvPr/>
        </p:nvGrpSpPr>
        <p:grpSpPr bwMode="auto">
          <a:xfrm>
            <a:off x="8305800" y="4495800"/>
            <a:ext cx="1371600" cy="457200"/>
            <a:chOff x="0" y="0"/>
            <a:chExt cx="864" cy="288"/>
          </a:xfrm>
        </p:grpSpPr>
        <p:sp>
          <p:nvSpPr>
            <p:cNvPr id="62506" name="Rectangle 75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07" name="Rectangle 76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101000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26" name="Group 77"/>
          <p:cNvGrpSpPr/>
          <p:nvPr/>
        </p:nvGrpSpPr>
        <p:grpSpPr bwMode="auto">
          <a:xfrm>
            <a:off x="8305800" y="4953000"/>
            <a:ext cx="1371600" cy="457200"/>
            <a:chOff x="0" y="0"/>
            <a:chExt cx="864" cy="288"/>
          </a:xfrm>
        </p:grpSpPr>
        <p:sp>
          <p:nvSpPr>
            <p:cNvPr id="62504" name="Rectangle 78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05" name="Rectangle 79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11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101000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27" name="Group 80"/>
          <p:cNvGrpSpPr/>
          <p:nvPr/>
        </p:nvGrpSpPr>
        <p:grpSpPr bwMode="auto">
          <a:xfrm>
            <a:off x="8305800" y="4038600"/>
            <a:ext cx="1371600" cy="457200"/>
            <a:chOff x="0" y="0"/>
            <a:chExt cx="864" cy="288"/>
          </a:xfrm>
        </p:grpSpPr>
        <p:sp>
          <p:nvSpPr>
            <p:cNvPr id="62502" name="Rectangle 81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03" name="Rectangle 82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00010</a:t>
              </a:r>
              <a:r>
                <a:rPr lang="en-US" sz="1800" b="0">
                  <a:solidFill>
                    <a:srgbClr val="000066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000</a:t>
              </a:r>
              <a:endParaRPr lang="en-US" sz="1800" b="0">
                <a:solidFill>
                  <a:srgbClr val="000066"/>
                </a:solidFill>
                <a:latin typeface="Courier New Bold Italic" panose="02070609020205020404" charset="0"/>
                <a:ea typeface="Courier New Bold Italic" panose="02070609020205020404" charset="0"/>
                <a:cs typeface="Courier New Bold Italic" panose="02070609020205020404" charset="0"/>
                <a:sym typeface="Courier New Bold Italic" panose="02070609020205020404" charset="0"/>
              </a:endParaRPr>
            </a:p>
          </p:txBody>
        </p:sp>
      </p:grpSp>
      <p:grpSp>
        <p:nvGrpSpPr>
          <p:cNvPr id="28" name="Group 83"/>
          <p:cNvGrpSpPr/>
          <p:nvPr/>
        </p:nvGrpSpPr>
        <p:grpSpPr bwMode="auto">
          <a:xfrm>
            <a:off x="8305800" y="4495800"/>
            <a:ext cx="1371600" cy="457200"/>
            <a:chOff x="0" y="0"/>
            <a:chExt cx="864" cy="288"/>
          </a:xfrm>
        </p:grpSpPr>
        <p:sp>
          <p:nvSpPr>
            <p:cNvPr id="62500" name="Rectangle 84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501" name="Rectangle 85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101000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grpSp>
        <p:nvGrpSpPr>
          <p:cNvPr id="29" name="Group 86"/>
          <p:cNvGrpSpPr/>
          <p:nvPr/>
        </p:nvGrpSpPr>
        <p:grpSpPr bwMode="auto">
          <a:xfrm>
            <a:off x="8305800" y="4953000"/>
            <a:ext cx="1371600" cy="457200"/>
            <a:chOff x="0" y="0"/>
            <a:chExt cx="864" cy="288"/>
          </a:xfrm>
        </p:grpSpPr>
        <p:sp>
          <p:nvSpPr>
            <p:cNvPr id="62498" name="Rectangle 87"/>
            <p:cNvSpPr/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62499" name="Rectangle 88"/>
            <p:cNvSpPr/>
            <p:nvPr/>
          </p:nvSpPr>
          <p:spPr bwMode="auto">
            <a:xfrm>
              <a:off x="41" y="25"/>
              <a:ext cx="781" cy="23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50800" tIns="50800" bIns="50800" anchor="ctr"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panose="02070609020205020404" charset="0"/>
                  <a:ea typeface="Courier New Bold Italic" panose="02070609020205020404" charset="0"/>
                  <a:cs typeface="Courier New Bold Italic" panose="02070609020205020404" charset="0"/>
                  <a:sym typeface="Courier New Bold Italic" panose="02070609020205020404" charset="0"/>
                </a:rPr>
                <a:t>11</a:t>
              </a: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101000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5" y="1362075"/>
            <a:ext cx="8255635" cy="497205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/>
              <a:t>Integers </a:t>
            </a:r>
            <a:r>
              <a:rPr lang="zh-CN" altLang="en-US" dirty="0"/>
              <a:t>整数</a:t>
            </a:r>
            <a:endParaRPr lang="en-US" dirty="0"/>
          </a:p>
          <a:p>
            <a:pPr lvl="1"/>
            <a:r>
              <a:rPr lang="en-US" b="1" dirty="0">
                <a:solidFill>
                  <a:srgbClr val="000000"/>
                </a:solidFill>
              </a:rPr>
              <a:t>Representation: unsigned and signed </a:t>
            </a:r>
            <a:r>
              <a:rPr lang="zh-CN" altLang="en-US" b="1" dirty="0">
                <a:solidFill>
                  <a:srgbClr val="000000"/>
                </a:solidFill>
              </a:rPr>
              <a:t>无符号、有符号的表示</a:t>
            </a:r>
            <a:endParaRPr lang="en-US" b="1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A6A6A6"/>
                </a:solidFill>
              </a:rPr>
              <a:t>Summary</a:t>
            </a:r>
            <a:endParaRPr lang="en-US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60562" y="493712"/>
            <a:ext cx="6116638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整数的</a:t>
            </a:r>
            <a:r>
              <a:rPr lang="zh-CN" altLang="en-US"/>
              <a:t>编码</a:t>
            </a:r>
            <a:endParaRPr lang="zh-CN" altLang="en-US"/>
          </a:p>
        </p:txBody>
      </p:sp>
      <p:sp>
        <p:nvSpPr>
          <p:cNvPr id="1030" name="Text Box 3"/>
          <p:cNvSpPr txBox="1">
            <a:spLocks noChangeArrowheads="1"/>
          </p:cNvSpPr>
          <p:nvPr/>
        </p:nvSpPr>
        <p:spPr bwMode="auto">
          <a:xfrm>
            <a:off x="3276600" y="2362200"/>
            <a:ext cx="3429000" cy="645160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short 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x =  15213;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short 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y = -15213;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0" y="3124200"/>
            <a:ext cx="8305800" cy="3505200"/>
          </a:xfrm>
        </p:spPr>
        <p:txBody>
          <a:bodyPr/>
          <a:lstStyle/>
          <a:p>
            <a:pPr>
              <a:defRPr/>
            </a:pPr>
            <a:r>
              <a:rPr lang="en-US" dirty="0"/>
              <a:t>C</a:t>
            </a:r>
            <a:r>
              <a:rPr lang="zh-CN" altLang="en-US" dirty="0"/>
              <a:t>语言中的</a:t>
            </a:r>
            <a:r>
              <a:rPr lang="en-US" altLang="zh-CN" dirty="0"/>
              <a:t>short</a:t>
            </a:r>
            <a:r>
              <a:rPr lang="zh-CN" altLang="en-US" dirty="0"/>
              <a:t>类型——</a:t>
            </a:r>
            <a:r>
              <a:rPr lang="en-US" dirty="0"/>
              <a:t> 2 bytes long</a:t>
            </a: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Sign Bit </a:t>
            </a:r>
            <a:r>
              <a:rPr lang="zh-CN" altLang="en-US" dirty="0"/>
              <a:t>符号位</a:t>
            </a:r>
            <a:endParaRPr lang="en-US" dirty="0"/>
          </a:p>
          <a:p>
            <a:pPr lvl="1" eaLnBrk="1" hangingPunct="1">
              <a:defRPr/>
            </a:pPr>
            <a:r>
              <a:rPr lang="zh-CN" altLang="en-US" dirty="0"/>
              <a:t>在补码表示中</a:t>
            </a:r>
            <a:r>
              <a:rPr lang="en-US" altLang="zh-CN" dirty="0"/>
              <a:t>，</a:t>
            </a:r>
            <a:r>
              <a:rPr lang="zh-CN" altLang="en-US" dirty="0"/>
              <a:t>最高位表示符号位</a:t>
            </a:r>
            <a:endParaRPr lang="en-US" dirty="0"/>
          </a:p>
          <a:p>
            <a:pPr lvl="2" eaLnBrk="1" hangingPunct="1">
              <a:defRPr/>
            </a:pPr>
            <a:r>
              <a:rPr lang="en-US" dirty="0"/>
              <a:t>0 </a:t>
            </a:r>
            <a:r>
              <a:rPr lang="zh-CN" altLang="en-US" dirty="0"/>
              <a:t>表示非负</a:t>
            </a:r>
            <a:endParaRPr lang="en-US" dirty="0"/>
          </a:p>
          <a:p>
            <a:pPr lvl="2" eaLnBrk="1" hangingPunct="1">
              <a:defRPr/>
            </a:pPr>
            <a:r>
              <a:rPr lang="en-US" dirty="0"/>
              <a:t>1 </a:t>
            </a:r>
            <a:r>
              <a:rPr lang="zh-CN" altLang="en-US" dirty="0"/>
              <a:t>表示</a:t>
            </a:r>
            <a:r>
              <a:rPr lang="zh-CN" altLang="en-US" dirty="0"/>
              <a:t>负数</a:t>
            </a:r>
            <a:endParaRPr lang="zh-CN" altLang="en-US" dirty="0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6324600" y="1524000"/>
          <a:ext cx="334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71" name="Equation" r:id="rId1" imgW="3323590" imgH="598170" progId="Equation.3">
                  <p:embed/>
                </p:oleObj>
              </mc:Choice>
              <mc:Fallback>
                <p:oleObj name="Equation" r:id="rId1" imgW="3323590" imgH="5981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524000"/>
                        <a:ext cx="3340100" cy="596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ChangeAspect="1"/>
          </p:cNvGraphicFramePr>
          <p:nvPr/>
        </p:nvGraphicFramePr>
        <p:xfrm>
          <a:off x="2514600" y="1524000"/>
          <a:ext cx="213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72" name="Equation" r:id="rId3" imgW="2127885" imgH="598170" progId="Equation.3">
                  <p:embed/>
                </p:oleObj>
              </mc:Choice>
              <mc:Fallback>
                <p:oleObj name="Equation" r:id="rId3" imgW="2127885" imgH="59817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24000"/>
                        <a:ext cx="2133600" cy="596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7"/>
          <p:cNvSpPr txBox="1">
            <a:spLocks noChangeArrowheads="1"/>
          </p:cNvSpPr>
          <p:nvPr/>
        </p:nvSpPr>
        <p:spPr bwMode="auto">
          <a:xfrm>
            <a:off x="2438400" y="1143000"/>
            <a:ext cx="317246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Unsigned </a:t>
            </a:r>
            <a:r>
              <a:rPr lang="zh-CN" altLang="en-US" sz="2400" dirty="0">
                <a:latin typeface="Calibri" pitchFamily="34" charset="0"/>
              </a:rPr>
              <a:t>无符号</a:t>
            </a:r>
            <a:r>
              <a:rPr lang="zh-CN" altLang="en-US" sz="2400" dirty="0">
                <a:latin typeface="Calibri" pitchFamily="34" charset="0"/>
              </a:rPr>
              <a:t>编码</a:t>
            </a:r>
            <a:endParaRPr lang="zh-CN" altLang="en-US" sz="2400" dirty="0">
              <a:latin typeface="Calibri" pitchFamily="34" charset="0"/>
            </a:endParaRPr>
          </a:p>
        </p:txBody>
      </p:sp>
      <p:sp>
        <p:nvSpPr>
          <p:cNvPr id="1033" name="Text Box 8"/>
          <p:cNvSpPr txBox="1">
            <a:spLocks noChangeArrowheads="1"/>
          </p:cNvSpPr>
          <p:nvPr/>
        </p:nvSpPr>
        <p:spPr bwMode="auto">
          <a:xfrm>
            <a:off x="6052185" y="1139825"/>
            <a:ext cx="461581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Two’s Complement </a:t>
            </a:r>
            <a:r>
              <a:rPr lang="zh-CN" altLang="en-US" sz="2400" dirty="0">
                <a:latin typeface="Calibri" pitchFamily="34" charset="0"/>
              </a:rPr>
              <a:t>二进制</a:t>
            </a:r>
            <a:r>
              <a:rPr lang="zh-CN" altLang="en-US" sz="2400" dirty="0">
                <a:latin typeface="Calibri" pitchFamily="34" charset="0"/>
              </a:rPr>
              <a:t>补码</a:t>
            </a:r>
            <a:endParaRPr lang="zh-CN" altLang="en-US" sz="2400" dirty="0">
              <a:latin typeface="Calibri" pitchFamily="34" charset="0"/>
            </a:endParaRPr>
          </a:p>
        </p:txBody>
      </p:sp>
      <p:sp>
        <p:nvSpPr>
          <p:cNvPr id="1034" name="Line 9"/>
          <p:cNvSpPr>
            <a:spLocks noChangeShapeType="1"/>
          </p:cNvSpPr>
          <p:nvPr/>
        </p:nvSpPr>
        <p:spPr bwMode="auto">
          <a:xfrm flipH="1" flipV="1">
            <a:off x="8153400" y="2057400"/>
            <a:ext cx="10668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5" name="Rectangle 10"/>
          <p:cNvSpPr>
            <a:spLocks noChangeArrowheads="1"/>
          </p:cNvSpPr>
          <p:nvPr/>
        </p:nvSpPr>
        <p:spPr bwMode="auto">
          <a:xfrm>
            <a:off x="8713470" y="2590800"/>
            <a:ext cx="1374140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Calibri" pitchFamily="34" charset="0"/>
              </a:rPr>
              <a:t>符号位</a:t>
            </a:r>
            <a:endParaRPr lang="zh-CN" altLang="en-US" dirty="0">
              <a:latin typeface="Calibri" pitchFamily="34" charset="0"/>
            </a:endParaRPr>
          </a:p>
        </p:txBody>
      </p:sp>
      <p:graphicFrame>
        <p:nvGraphicFramePr>
          <p:cNvPr id="1028" name="Object 11"/>
          <p:cNvGraphicFramePr>
            <a:graphicFrameLocks noChangeAspect="1"/>
          </p:cNvGraphicFramePr>
          <p:nvPr/>
        </p:nvGraphicFramePr>
        <p:xfrm>
          <a:off x="3198813" y="3584575"/>
          <a:ext cx="56403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73" name="Document" r:id="rId5" imgW="5965825" imgH="1021080" progId="Word.Document.8">
                  <p:embed/>
                </p:oleObj>
              </mc:Choice>
              <mc:Fallback>
                <p:oleObj name="Document" r:id="rId5" imgW="5965825" imgH="102108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813" y="3584575"/>
                        <a:ext cx="564038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763000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/>
              <a:t>二进制</a:t>
            </a:r>
            <a:r>
              <a:rPr lang="zh-CN" altLang="en-US" sz="3200" dirty="0"/>
              <a:t>补码的例子</a:t>
            </a:r>
            <a:r>
              <a:rPr lang="en-US" sz="3200" dirty="0"/>
              <a:t> (Cont.)</a:t>
            </a:r>
            <a:endParaRPr lang="en-US" sz="3200" dirty="0"/>
          </a:p>
        </p:txBody>
      </p: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457200" y="990600"/>
            <a:ext cx="5410200" cy="645160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x =      15213: 00111011 01101101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y =     -15213: 11000100 10010011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248400" y="914083"/>
          <a:ext cx="5535613" cy="520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4" name="Document" r:id="rId1" imgW="5600700" imgH="5229860" progId="Word.Document.8">
                  <p:embed/>
                </p:oleObj>
              </mc:Choice>
              <mc:Fallback>
                <p:oleObj name="Document" r:id="rId1" imgW="5600700" imgH="52298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914083"/>
                        <a:ext cx="5535613" cy="520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763000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/>
              <a:t>二进制</a:t>
            </a:r>
            <a:r>
              <a:rPr lang="zh-CN" altLang="en-US" sz="3200" dirty="0"/>
              <a:t>补码的例子</a:t>
            </a:r>
            <a:r>
              <a:rPr lang="en-US" sz="3200" dirty="0"/>
              <a:t> (Cont.)</a:t>
            </a:r>
            <a:endParaRPr lang="en-US" sz="3200" dirty="0"/>
          </a:p>
        </p:txBody>
      </p: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457200" y="990600"/>
            <a:ext cx="5410200" cy="645160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x =      15213: 00111011 01101101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y =     -15213: 11000100 10010011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248400" y="914083"/>
          <a:ext cx="5535613" cy="520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4" name="Document" r:id="rId1" imgW="5600700" imgH="5229860" progId="Word.Document.8">
                  <p:embed/>
                </p:oleObj>
              </mc:Choice>
              <mc:Fallback>
                <p:oleObj name="Document" r:id="rId1" imgW="5600700" imgH="52298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914083"/>
                        <a:ext cx="5535613" cy="520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Line 9"/>
          <p:cNvSpPr>
            <a:spLocks noChangeShapeType="1"/>
          </p:cNvSpPr>
          <p:nvPr/>
        </p:nvSpPr>
        <p:spPr bwMode="auto">
          <a:xfrm flipH="1" flipV="1">
            <a:off x="2286000" y="1828800"/>
            <a:ext cx="10668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5" name="Rectangle 10"/>
          <p:cNvSpPr>
            <a:spLocks noChangeArrowheads="1"/>
          </p:cNvSpPr>
          <p:nvPr/>
        </p:nvSpPr>
        <p:spPr bwMode="auto">
          <a:xfrm>
            <a:off x="1860550" y="2362200"/>
            <a:ext cx="3365500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Calibri" pitchFamily="34" charset="0"/>
              </a:rPr>
              <a:t>x、y</a:t>
            </a:r>
            <a:r>
              <a:rPr lang="zh-CN" altLang="en-US" dirty="0">
                <a:latin typeface="Calibri" pitchFamily="34" charset="0"/>
              </a:rPr>
              <a:t>的编码有何联系</a:t>
            </a:r>
            <a:r>
              <a:rPr lang="en-US" altLang="zh-CN" dirty="0">
                <a:latin typeface="Calibri" pitchFamily="34" charset="0"/>
              </a:rPr>
              <a:t>？</a:t>
            </a:r>
            <a:endParaRPr lang="en-US" altLang="zh-CN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11175"/>
            <a:ext cx="5822950" cy="555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数值的</a:t>
            </a:r>
            <a:r>
              <a:rPr lang="zh-CN" altLang="en-US" dirty="0"/>
              <a:t>范围</a:t>
            </a:r>
            <a:endParaRPr lang="zh-CN" altLang="en-US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14830" y="1221105"/>
            <a:ext cx="4077970" cy="1181100"/>
          </a:xfrm>
        </p:spPr>
        <p:txBody>
          <a:bodyPr lIns="90487" tIns="44450" rIns="90487" bIns="44450"/>
          <a:lstStyle/>
          <a:p>
            <a:pPr marL="227330" indent="-227330">
              <a:tabLst>
                <a:tab pos="1828800" algn="l"/>
                <a:tab pos="2235200" algn="l"/>
              </a:tabLst>
              <a:defRPr/>
            </a:pPr>
            <a:r>
              <a:rPr lang="zh-CN" altLang="en-US" sz="2000" dirty="0"/>
              <a:t>无符号表示</a:t>
            </a:r>
            <a:endParaRPr lang="en-US" sz="2000" dirty="0"/>
          </a:p>
          <a:p>
            <a:pPr lvl="1" eaLnBrk="1" hangingPunct="1">
              <a:tabLst>
                <a:tab pos="1828800" algn="l"/>
                <a:tab pos="2235200" algn="l"/>
              </a:tabLst>
              <a:defRPr/>
            </a:pPr>
            <a:r>
              <a:rPr lang="en-US" sz="2000" b="0" i="1" dirty="0" err="1"/>
              <a:t>Umin</a:t>
            </a:r>
            <a:r>
              <a:rPr lang="en-US" sz="2000" b="0" i="1" dirty="0"/>
              <a:t> </a:t>
            </a:r>
            <a:r>
              <a:rPr lang="zh-CN" altLang="en-US" sz="2000" b="0" i="1" dirty="0"/>
              <a:t>？</a:t>
            </a:r>
            <a:r>
              <a:rPr lang="en-US" sz="2000" b="0" dirty="0"/>
              <a:t>	</a:t>
            </a:r>
            <a:endParaRPr lang="en-US" sz="2000" i="1" dirty="0"/>
          </a:p>
          <a:p>
            <a:pPr lvl="1" eaLnBrk="1" hangingPunct="1">
              <a:tabLst>
                <a:tab pos="1828800" algn="l"/>
                <a:tab pos="2235200" algn="l"/>
              </a:tabLst>
              <a:defRPr/>
            </a:pPr>
            <a:r>
              <a:rPr lang="en-US" sz="2000" b="0" i="1" dirty="0" err="1"/>
              <a:t>UMax</a:t>
            </a:r>
            <a:r>
              <a:rPr lang="en-US" sz="2000" dirty="0"/>
              <a:t> </a:t>
            </a:r>
            <a:r>
              <a:rPr lang="zh-CN" altLang="en-US" sz="2000" dirty="0"/>
              <a:t>？</a:t>
            </a:r>
            <a:r>
              <a:rPr lang="en-US" sz="2000" dirty="0"/>
              <a:t>	</a:t>
            </a:r>
            <a:endParaRPr lang="en-US" sz="1800" dirty="0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86488" y="1219200"/>
            <a:ext cx="4100512" cy="4972050"/>
          </a:xfrm>
        </p:spPr>
        <p:txBody>
          <a:bodyPr lIns="90487" tIns="44450" rIns="90487" bIns="44450"/>
          <a:lstStyle/>
          <a:p>
            <a:pPr marL="0" indent="0">
              <a:tabLst>
                <a:tab pos="1714500" algn="l"/>
                <a:tab pos="2286000" algn="l"/>
              </a:tabLst>
              <a:defRPr/>
            </a:pPr>
            <a:r>
              <a:rPr lang="zh-CN" altLang="en-US" sz="2000" dirty="0"/>
              <a:t>二进制补码表示</a:t>
            </a:r>
            <a:endParaRPr lang="en-US" sz="2000" dirty="0"/>
          </a:p>
          <a:p>
            <a:pPr lvl="1" eaLnBrk="1" hangingPunct="1">
              <a:tabLst>
                <a:tab pos="1714500" algn="l"/>
                <a:tab pos="2286000" algn="l"/>
              </a:tabLst>
              <a:defRPr/>
            </a:pPr>
            <a:r>
              <a:rPr lang="en-US" sz="2000" b="0" i="1" dirty="0" err="1"/>
              <a:t>TMin</a:t>
            </a:r>
            <a:r>
              <a:rPr lang="zh-CN" altLang="en-US" sz="2000" b="0" dirty="0"/>
              <a:t>？</a:t>
            </a:r>
            <a:endParaRPr lang="en-US" sz="2000" i="1" dirty="0"/>
          </a:p>
          <a:p>
            <a:pPr lvl="1" eaLnBrk="1" hangingPunct="1">
              <a:tabLst>
                <a:tab pos="1714500" algn="l"/>
                <a:tab pos="2286000" algn="l"/>
              </a:tabLst>
              <a:defRPr/>
            </a:pPr>
            <a:r>
              <a:rPr lang="en-US" sz="2000" b="0" i="1" dirty="0" err="1"/>
              <a:t>TMax</a:t>
            </a:r>
            <a:r>
              <a:rPr lang="zh-CN" altLang="en-US" sz="2000" dirty="0"/>
              <a:t>？</a:t>
            </a:r>
            <a:r>
              <a:rPr lang="en-US" sz="2000" dirty="0"/>
              <a:t>	</a:t>
            </a:r>
            <a:endParaRPr lang="en-US" sz="2000" dirty="0"/>
          </a:p>
          <a:p>
            <a:pPr>
              <a:tabLst>
                <a:tab pos="1714500" algn="l"/>
                <a:tab pos="2286000" algn="l"/>
              </a:tabLst>
              <a:defRPr/>
            </a:pPr>
            <a:r>
              <a:rPr lang="en-US" dirty="0"/>
              <a:t> Other Values</a:t>
            </a:r>
            <a:endParaRPr lang="en-US" dirty="0"/>
          </a:p>
          <a:p>
            <a:pPr lvl="1" eaLnBrk="1" hangingPunct="1">
              <a:tabLst>
                <a:tab pos="1714500" algn="l"/>
                <a:tab pos="2286000" algn="l"/>
              </a:tabLst>
              <a:defRPr/>
            </a:pPr>
            <a:r>
              <a:rPr lang="en-US" sz="2000" b="0" dirty="0"/>
              <a:t>Minus 1</a:t>
            </a:r>
            <a:endParaRPr lang="en-US" sz="2000" b="0" dirty="0"/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387475" y="3886200"/>
          <a:ext cx="5872163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8" name="Document" r:id="rId1" imgW="6080125" imgH="1938655" progId="Word.Document.8">
                  <p:embed/>
                </p:oleObj>
              </mc:Choice>
              <mc:Fallback>
                <p:oleObj name="Document" r:id="rId1" imgW="6080125" imgH="193865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3886200"/>
                        <a:ext cx="5872163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308100" y="3487677"/>
            <a:ext cx="228219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</a:rPr>
              <a:t>Values for </a:t>
            </a:r>
            <a:r>
              <a:rPr lang="en-US" sz="2000" i="1" dirty="0">
                <a:solidFill>
                  <a:schemeClr val="tx2"/>
                </a:solidFill>
                <a:latin typeface="Calibri" pitchFamily="34" charset="0"/>
              </a:rPr>
              <a:t>W</a:t>
            </a:r>
            <a:r>
              <a:rPr lang="en-US" sz="2000" dirty="0">
                <a:solidFill>
                  <a:schemeClr val="tx2"/>
                </a:solidFill>
                <a:latin typeface="Calibri" pitchFamily="34" charset="0"/>
              </a:rPr>
              <a:t> = 16</a:t>
            </a:r>
            <a:endParaRPr lang="en-US" sz="2000" dirty="0">
              <a:solidFill>
                <a:schemeClr val="tx2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87375"/>
            <a:ext cx="4247515" cy="604520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zh-CN" altLang="en-US"/>
              <a:t>不同字长的表示</a:t>
            </a:r>
            <a:r>
              <a:rPr lang="zh-CN" altLang="en-US"/>
              <a:t>范围</a:t>
            </a:r>
            <a:endParaRPr lang="zh-CN" altLang="en-US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3398837"/>
            <a:ext cx="4146550" cy="2314575"/>
          </a:xfrm>
        </p:spPr>
        <p:txBody>
          <a:bodyPr lIns="90487" tIns="44450" rIns="90487" bIns="44450"/>
          <a:lstStyle/>
          <a:p>
            <a:pPr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dirty="0"/>
              <a:t>Observations</a:t>
            </a:r>
            <a:endParaRPr lang="en-US" dirty="0"/>
          </a:p>
          <a:p>
            <a:pPr lvl="1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dirty="0"/>
              <a:t>|</a:t>
            </a:r>
            <a:r>
              <a:rPr lang="en-US" b="0" i="1" dirty="0" err="1"/>
              <a:t>TMin</a:t>
            </a:r>
            <a:r>
              <a:rPr lang="en-US" b="0" i="1" dirty="0"/>
              <a:t> </a:t>
            </a:r>
            <a:r>
              <a:rPr lang="en-US" b="0" dirty="0"/>
              <a:t>| 	= 	</a:t>
            </a:r>
            <a:r>
              <a:rPr lang="en-US" b="0" i="1" dirty="0" err="1"/>
              <a:t>TMax</a:t>
            </a:r>
            <a:r>
              <a:rPr lang="en-US" b="0" dirty="0"/>
              <a:t> + 1</a:t>
            </a:r>
            <a:endParaRPr lang="en-US" b="0" dirty="0"/>
          </a:p>
          <a:p>
            <a:pPr lvl="2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zh-CN" altLang="en-US" b="0" dirty="0"/>
              <a:t>不对称的取值范围</a:t>
            </a:r>
            <a:endParaRPr lang="en-US" b="0" dirty="0"/>
          </a:p>
          <a:p>
            <a:pPr lvl="1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i="1" dirty="0" err="1"/>
              <a:t>UMax</a:t>
            </a:r>
            <a:r>
              <a:rPr lang="en-US" b="0" dirty="0"/>
              <a:t>	=	2 * </a:t>
            </a:r>
            <a:r>
              <a:rPr lang="en-US" b="0" i="1" dirty="0" err="1"/>
              <a:t>TMax</a:t>
            </a:r>
            <a:r>
              <a:rPr lang="en-US" b="0" dirty="0"/>
              <a:t> + 1 		</a:t>
            </a:r>
            <a:endParaRPr lang="en-US" b="0" dirty="0"/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1965325" y="1554163"/>
          <a:ext cx="8321675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3" name="Document" r:id="rId1" imgW="8724265" imgH="1807210" progId="Word.Document.8">
                  <p:embed/>
                </p:oleObj>
              </mc:Choice>
              <mc:Fallback>
                <p:oleObj name="Document" r:id="rId1" imgW="8724265" imgH="180721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1554163"/>
                        <a:ext cx="8321675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51550" y="3398837"/>
            <a:ext cx="4968876" cy="3459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487" tIns="44450" rIns="90487" bIns="4445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 Programming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#include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&lt;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limits.h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&gt;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Declares constants, e.g.,</a:t>
            </a:r>
            <a:endParaRPr lang="en-US" sz="2000" b="0" kern="0" dirty="0">
              <a:latin typeface="Calibri" pitchFamily="34" charset="0"/>
            </a:endParaRP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ULONG_MAX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LONG_MAX</a:t>
            </a:r>
            <a:endParaRPr lang="en-US" sz="2000" b="0" kern="0" dirty="0">
              <a:latin typeface="Calibri" pitchFamily="34" charset="0"/>
            </a:endParaRP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LONG_MIN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solidFill>
                  <a:srgbClr val="00B050"/>
                </a:solidFill>
                <a:latin typeface="Calibri" pitchFamily="34" charset="0"/>
              </a:rPr>
              <a:t>Values platform specific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		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30300" y="358775"/>
            <a:ext cx="3789680" cy="604520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zh-CN" altLang="en-US"/>
              <a:t>二进制</a:t>
            </a:r>
            <a:r>
              <a:rPr lang="zh-CN" altLang="en-US"/>
              <a:t>表示的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38800" y="1004570"/>
            <a:ext cx="5764530" cy="5224780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Equivalence</a:t>
            </a:r>
            <a:endParaRPr lang="en-US" dirty="0"/>
          </a:p>
          <a:p>
            <a:pPr lvl="1" eaLnBrk="1" hangingPunct="1">
              <a:defRPr/>
            </a:pPr>
            <a:r>
              <a:rPr lang="zh-CN" altLang="en-US" dirty="0"/>
              <a:t>相同位模式</a:t>
            </a:r>
            <a:r>
              <a:rPr lang="en-US" altLang="zh-CN" dirty="0"/>
              <a:t>，</a:t>
            </a:r>
            <a:r>
              <a:rPr lang="zh-CN" altLang="en-US" dirty="0"/>
              <a:t>不同的解码方法</a:t>
            </a:r>
            <a:endParaRPr lang="en-US" dirty="0"/>
          </a:p>
          <a:p>
            <a:pPr eaLnBrk="1" hangingPunct="1">
              <a:defRPr/>
            </a:pPr>
            <a:r>
              <a:rPr lang="en-US" dirty="0"/>
              <a:t>Uniqueness(</a:t>
            </a:r>
            <a:r>
              <a:rPr lang="zh-CN" altLang="en-US" dirty="0">
                <a:solidFill>
                  <a:srgbClr val="00B050"/>
                </a:solidFill>
              </a:rPr>
              <a:t>一一映射编码</a:t>
            </a:r>
            <a:r>
              <a:rPr lang="en-US" dirty="0"/>
              <a:t>)</a:t>
            </a:r>
            <a:endParaRPr lang="en-US" i="1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00B050"/>
                </a:solidFill>
              </a:rPr>
              <a:t>每种位模式</a:t>
            </a:r>
            <a:r>
              <a:rPr lang="en-US" altLang="zh-CN" dirty="0">
                <a:solidFill>
                  <a:srgbClr val="00B050"/>
                </a:solidFill>
              </a:rPr>
              <a:t>，</a:t>
            </a:r>
            <a:r>
              <a:rPr lang="zh-CN" altLang="en-US" dirty="0">
                <a:solidFill>
                  <a:srgbClr val="00B050"/>
                </a:solidFill>
              </a:rPr>
              <a:t>表示唯一的整数值</a:t>
            </a:r>
            <a:endParaRPr lang="en-US" dirty="0">
              <a:solidFill>
                <a:srgbClr val="00B050"/>
              </a:solidFill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00B050"/>
                </a:solidFill>
              </a:rPr>
              <a:t>每种整数值</a:t>
            </a:r>
            <a:r>
              <a:rPr lang="en-US" altLang="zh-CN" dirty="0">
                <a:solidFill>
                  <a:srgbClr val="00B050"/>
                </a:solidFill>
              </a:rPr>
              <a:t>，</a:t>
            </a:r>
            <a:r>
              <a:rPr lang="zh-CN" altLang="en-US" dirty="0">
                <a:solidFill>
                  <a:srgbClr val="00B050"/>
                </a:solidFill>
              </a:rPr>
              <a:t>对应唯一的位模式</a:t>
            </a:r>
            <a:endParaRPr lang="en-US" dirty="0">
              <a:solidFill>
                <a:srgbClr val="00B050"/>
              </a:solidFill>
            </a:endParaRPr>
          </a:p>
          <a:p>
            <a:pPr eaLnBrk="1" hangingPunct="1">
              <a:defRPr/>
            </a:pPr>
            <a:r>
              <a:rPr lang="en-US" dirty="0">
                <a:sym typeface="Symbol" pitchFamily="18" charset="2"/>
              </a:rPr>
              <a:t></a:t>
            </a:r>
            <a:r>
              <a:rPr lang="en-US" dirty="0"/>
              <a:t> </a:t>
            </a:r>
            <a:r>
              <a:rPr lang="zh-CN" altLang="en-US" dirty="0"/>
              <a:t>可以反向映射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U2B(</a:t>
            </a:r>
            <a:r>
              <a:rPr lang="en-US" b="0" i="1" dirty="0"/>
              <a:t>x</a:t>
            </a:r>
            <a:r>
              <a:rPr lang="en-US" dirty="0"/>
              <a:t>)  =  B2U</a:t>
            </a:r>
            <a:r>
              <a:rPr lang="en-US" b="0" baseline="30000" dirty="0"/>
              <a:t>-1</a:t>
            </a:r>
            <a:r>
              <a:rPr lang="en-US" dirty="0"/>
              <a:t>(</a:t>
            </a:r>
            <a:r>
              <a:rPr lang="en-US" b="0" i="1" dirty="0"/>
              <a:t>x</a:t>
            </a:r>
            <a:r>
              <a:rPr lang="en-US" dirty="0"/>
              <a:t>)</a:t>
            </a:r>
            <a:endParaRPr lang="en-US" dirty="0"/>
          </a:p>
          <a:p>
            <a:pPr lvl="2" eaLnBrk="1" hangingPunct="1">
              <a:defRPr/>
            </a:pPr>
            <a:r>
              <a:rPr lang="en-US" dirty="0"/>
              <a:t>Bit pattern for unsigned integer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T2B(</a:t>
            </a:r>
            <a:r>
              <a:rPr lang="en-US" b="0" i="1" dirty="0"/>
              <a:t>x</a:t>
            </a:r>
            <a:r>
              <a:rPr lang="en-US" dirty="0"/>
              <a:t>)  =  B2T</a:t>
            </a:r>
            <a:r>
              <a:rPr lang="en-US" b="0" baseline="30000" dirty="0"/>
              <a:t>-1</a:t>
            </a:r>
            <a:r>
              <a:rPr lang="en-US" dirty="0"/>
              <a:t>(</a:t>
            </a:r>
            <a:r>
              <a:rPr lang="en-US" b="0" i="1" dirty="0"/>
              <a:t>x</a:t>
            </a:r>
            <a:r>
              <a:rPr lang="en-US" dirty="0"/>
              <a:t>)</a:t>
            </a:r>
            <a:endParaRPr lang="en-US" dirty="0"/>
          </a:p>
          <a:p>
            <a:pPr lvl="2" eaLnBrk="1" hangingPunct="1">
              <a:defRPr/>
            </a:pPr>
            <a:r>
              <a:rPr lang="en-US" dirty="0"/>
              <a:t>Bit pattern for two’s comp integer</a:t>
            </a:r>
            <a:endParaRPr lang="en-US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1219200" y="990600"/>
            <a:ext cx="3111500" cy="4754880"/>
            <a:chOff x="480" y="624"/>
            <a:chExt cx="1960" cy="3400"/>
          </a:xfrm>
        </p:grpSpPr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480" y="624"/>
              <a:ext cx="71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0" dirty="0">
                  <a:latin typeface="Calibri" pitchFamily="34" charset="0"/>
                </a:rPr>
                <a:t>二进制表示</a:t>
              </a:r>
              <a:endParaRPr lang="zh-CN" altLang="en-US" sz="1600" b="0" dirty="0">
                <a:latin typeface="Calibri" pitchFamily="34" charset="0"/>
              </a:endParaRPr>
            </a:p>
            <a:p>
              <a:pPr algn="ctr">
                <a:lnSpc>
                  <a:spcPct val="100000"/>
                </a:lnSpc>
              </a:pPr>
              <a:r>
                <a:rPr lang="en-US" altLang="zh-CN" sz="1600" b="0" dirty="0">
                  <a:latin typeface="Calibri" pitchFamily="34" charset="0"/>
                </a:rPr>
                <a:t>B</a:t>
              </a:r>
              <a:endParaRPr lang="en-US" altLang="zh-CN" sz="1600" b="0" dirty="0">
                <a:latin typeface="Calibri" pitchFamily="34" charset="0"/>
              </a:endParaRP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1824" y="638"/>
              <a:ext cx="616" cy="3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latin typeface="Calibri" pitchFamily="34" charset="0"/>
                </a:rPr>
                <a:t>二进制补码</a:t>
              </a:r>
              <a:endParaRPr lang="zh-CN" altLang="en-US" sz="1600" dirty="0">
                <a:latin typeface="Calibri" pitchFamily="34" charset="0"/>
              </a:endParaRPr>
            </a:p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latin typeface="Calibri" pitchFamily="34" charset="0"/>
                </a:rPr>
                <a:t>B2</a:t>
              </a:r>
              <a:r>
                <a:rPr lang="en-US" altLang="zh-CN" sz="1600" dirty="0">
                  <a:latin typeface="Calibri" pitchFamily="34" charset="0"/>
                </a:rPr>
                <a:t>T</a:t>
              </a:r>
              <a:endParaRPr lang="en-US" altLang="zh-CN" sz="1600" dirty="0">
                <a:latin typeface="Calibri" pitchFamily="34" charset="0"/>
              </a:endParaRP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auto">
            <a:xfrm>
              <a:off x="1200" y="624"/>
              <a:ext cx="616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latin typeface="Calibri" pitchFamily="34" charset="0"/>
                </a:rPr>
                <a:t>无符号编码</a:t>
              </a:r>
              <a:endParaRPr lang="zh-CN" altLang="en-US" sz="1600" dirty="0">
                <a:latin typeface="Calibri" pitchFamily="34" charset="0"/>
              </a:endParaRPr>
            </a:p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latin typeface="Calibri" pitchFamily="34" charset="0"/>
                </a:rPr>
                <a:t>B2U</a:t>
              </a:r>
              <a:endParaRPr lang="en-US" altLang="zh-CN" sz="1600" dirty="0">
                <a:latin typeface="Calibri" pitchFamily="34" charset="0"/>
              </a:endParaRP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480" y="96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0000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1824" y="96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0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80" y="115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0001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1824" y="115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480" y="134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0010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45" name="Rectangle 13"/>
            <p:cNvSpPr>
              <a:spLocks noChangeArrowheads="1"/>
            </p:cNvSpPr>
            <p:nvPr/>
          </p:nvSpPr>
          <p:spPr bwMode="auto">
            <a:xfrm>
              <a:off x="1824" y="134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2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46" name="Rectangle 14"/>
            <p:cNvSpPr>
              <a:spLocks noChangeArrowheads="1"/>
            </p:cNvSpPr>
            <p:nvPr/>
          </p:nvSpPr>
          <p:spPr bwMode="auto">
            <a:xfrm>
              <a:off x="480" y="153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0011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47" name="Rectangle 15"/>
            <p:cNvSpPr>
              <a:spLocks noChangeArrowheads="1"/>
            </p:cNvSpPr>
            <p:nvPr/>
          </p:nvSpPr>
          <p:spPr bwMode="auto">
            <a:xfrm>
              <a:off x="1824" y="1536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3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48" name="Rectangle 16"/>
            <p:cNvSpPr>
              <a:spLocks noChangeArrowheads="1"/>
            </p:cNvSpPr>
            <p:nvPr/>
          </p:nvSpPr>
          <p:spPr bwMode="auto">
            <a:xfrm>
              <a:off x="480" y="172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0100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49" name="Rectangle 17"/>
            <p:cNvSpPr>
              <a:spLocks noChangeArrowheads="1"/>
            </p:cNvSpPr>
            <p:nvPr/>
          </p:nvSpPr>
          <p:spPr bwMode="auto">
            <a:xfrm>
              <a:off x="1824" y="1728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4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50" name="Rectangle 18"/>
            <p:cNvSpPr>
              <a:spLocks noChangeArrowheads="1"/>
            </p:cNvSpPr>
            <p:nvPr/>
          </p:nvSpPr>
          <p:spPr bwMode="auto">
            <a:xfrm>
              <a:off x="480" y="192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0101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51" name="Rectangle 19"/>
            <p:cNvSpPr>
              <a:spLocks noChangeArrowheads="1"/>
            </p:cNvSpPr>
            <p:nvPr/>
          </p:nvSpPr>
          <p:spPr bwMode="auto">
            <a:xfrm>
              <a:off x="1824" y="192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5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52" name="Rectangle 20"/>
            <p:cNvSpPr>
              <a:spLocks noChangeArrowheads="1"/>
            </p:cNvSpPr>
            <p:nvPr/>
          </p:nvSpPr>
          <p:spPr bwMode="auto">
            <a:xfrm>
              <a:off x="480" y="211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0110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53" name="Rectangle 21"/>
            <p:cNvSpPr>
              <a:spLocks noChangeArrowheads="1"/>
            </p:cNvSpPr>
            <p:nvPr/>
          </p:nvSpPr>
          <p:spPr bwMode="auto">
            <a:xfrm>
              <a:off x="1824" y="211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6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54" name="Rectangle 22"/>
            <p:cNvSpPr>
              <a:spLocks noChangeArrowheads="1"/>
            </p:cNvSpPr>
            <p:nvPr/>
          </p:nvSpPr>
          <p:spPr bwMode="auto">
            <a:xfrm>
              <a:off x="480" y="230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0111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55" name="Rectangle 23"/>
            <p:cNvSpPr>
              <a:spLocks noChangeArrowheads="1"/>
            </p:cNvSpPr>
            <p:nvPr/>
          </p:nvSpPr>
          <p:spPr bwMode="auto">
            <a:xfrm>
              <a:off x="1824" y="230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7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56" name="Rectangle 24"/>
            <p:cNvSpPr>
              <a:spLocks noChangeArrowheads="1"/>
            </p:cNvSpPr>
            <p:nvPr/>
          </p:nvSpPr>
          <p:spPr bwMode="auto">
            <a:xfrm>
              <a:off x="1824" y="249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–8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57" name="Rectangle 25"/>
            <p:cNvSpPr>
              <a:spLocks noChangeArrowheads="1"/>
            </p:cNvSpPr>
            <p:nvPr/>
          </p:nvSpPr>
          <p:spPr bwMode="auto">
            <a:xfrm>
              <a:off x="1200" y="249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8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58" name="Rectangle 26"/>
            <p:cNvSpPr>
              <a:spLocks noChangeArrowheads="1"/>
            </p:cNvSpPr>
            <p:nvPr/>
          </p:nvSpPr>
          <p:spPr bwMode="auto">
            <a:xfrm>
              <a:off x="1824" y="268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–7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59" name="Rectangle 27"/>
            <p:cNvSpPr>
              <a:spLocks noChangeArrowheads="1"/>
            </p:cNvSpPr>
            <p:nvPr/>
          </p:nvSpPr>
          <p:spPr bwMode="auto">
            <a:xfrm>
              <a:off x="1200" y="268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9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0" name="Rectangle 28"/>
            <p:cNvSpPr>
              <a:spLocks noChangeArrowheads="1"/>
            </p:cNvSpPr>
            <p:nvPr/>
          </p:nvSpPr>
          <p:spPr bwMode="auto">
            <a:xfrm>
              <a:off x="1824" y="288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–6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1" name="Rectangle 29"/>
            <p:cNvSpPr>
              <a:spLocks noChangeArrowheads="1"/>
            </p:cNvSpPr>
            <p:nvPr/>
          </p:nvSpPr>
          <p:spPr bwMode="auto">
            <a:xfrm>
              <a:off x="1200" y="288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10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2" name="Rectangle 30"/>
            <p:cNvSpPr>
              <a:spLocks noChangeArrowheads="1"/>
            </p:cNvSpPr>
            <p:nvPr/>
          </p:nvSpPr>
          <p:spPr bwMode="auto">
            <a:xfrm>
              <a:off x="1824" y="3072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–5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3" name="Rectangle 31"/>
            <p:cNvSpPr>
              <a:spLocks noChangeArrowheads="1"/>
            </p:cNvSpPr>
            <p:nvPr/>
          </p:nvSpPr>
          <p:spPr bwMode="auto">
            <a:xfrm>
              <a:off x="1200" y="3072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11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4" name="Rectangle 32"/>
            <p:cNvSpPr>
              <a:spLocks noChangeArrowheads="1"/>
            </p:cNvSpPr>
            <p:nvPr/>
          </p:nvSpPr>
          <p:spPr bwMode="auto">
            <a:xfrm>
              <a:off x="1824" y="3264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–4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5" name="Rectangle 33"/>
            <p:cNvSpPr>
              <a:spLocks noChangeArrowheads="1"/>
            </p:cNvSpPr>
            <p:nvPr/>
          </p:nvSpPr>
          <p:spPr bwMode="auto">
            <a:xfrm>
              <a:off x="1200" y="3264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12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6" name="Rectangle 34"/>
            <p:cNvSpPr>
              <a:spLocks noChangeArrowheads="1"/>
            </p:cNvSpPr>
            <p:nvPr/>
          </p:nvSpPr>
          <p:spPr bwMode="auto">
            <a:xfrm>
              <a:off x="1824" y="345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–3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7" name="Rectangle 35"/>
            <p:cNvSpPr>
              <a:spLocks noChangeArrowheads="1"/>
            </p:cNvSpPr>
            <p:nvPr/>
          </p:nvSpPr>
          <p:spPr bwMode="auto">
            <a:xfrm>
              <a:off x="1200" y="345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13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8" name="Rectangle 36"/>
            <p:cNvSpPr>
              <a:spLocks noChangeArrowheads="1"/>
            </p:cNvSpPr>
            <p:nvPr/>
          </p:nvSpPr>
          <p:spPr bwMode="auto">
            <a:xfrm>
              <a:off x="1824" y="364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–2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69" name="Rectangle 37"/>
            <p:cNvSpPr>
              <a:spLocks noChangeArrowheads="1"/>
            </p:cNvSpPr>
            <p:nvPr/>
          </p:nvSpPr>
          <p:spPr bwMode="auto">
            <a:xfrm>
              <a:off x="1200" y="364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14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70" name="Rectangle 38"/>
            <p:cNvSpPr>
              <a:spLocks noChangeArrowheads="1"/>
            </p:cNvSpPr>
            <p:nvPr/>
          </p:nvSpPr>
          <p:spPr bwMode="auto">
            <a:xfrm>
              <a:off x="1824" y="384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–1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71" name="Rectangle 39"/>
            <p:cNvSpPr>
              <a:spLocks noChangeArrowheads="1"/>
            </p:cNvSpPr>
            <p:nvPr/>
          </p:nvSpPr>
          <p:spPr bwMode="auto">
            <a:xfrm>
              <a:off x="1200" y="384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15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72" name="Rectangle 40"/>
            <p:cNvSpPr>
              <a:spLocks noChangeArrowheads="1"/>
            </p:cNvSpPr>
            <p:nvPr/>
          </p:nvSpPr>
          <p:spPr bwMode="auto">
            <a:xfrm>
              <a:off x="480" y="249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1000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73" name="Rectangle 41"/>
            <p:cNvSpPr>
              <a:spLocks noChangeArrowheads="1"/>
            </p:cNvSpPr>
            <p:nvPr/>
          </p:nvSpPr>
          <p:spPr bwMode="auto">
            <a:xfrm>
              <a:off x="480" y="268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1001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74" name="Rectangle 42"/>
            <p:cNvSpPr>
              <a:spLocks noChangeArrowheads="1"/>
            </p:cNvSpPr>
            <p:nvPr/>
          </p:nvSpPr>
          <p:spPr bwMode="auto">
            <a:xfrm>
              <a:off x="480" y="288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1010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75" name="Rectangle 43"/>
            <p:cNvSpPr>
              <a:spLocks noChangeArrowheads="1"/>
            </p:cNvSpPr>
            <p:nvPr/>
          </p:nvSpPr>
          <p:spPr bwMode="auto">
            <a:xfrm>
              <a:off x="480" y="307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1011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76" name="Rectangle 44"/>
            <p:cNvSpPr>
              <a:spLocks noChangeArrowheads="1"/>
            </p:cNvSpPr>
            <p:nvPr/>
          </p:nvSpPr>
          <p:spPr bwMode="auto">
            <a:xfrm>
              <a:off x="480" y="326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1100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77" name="Rectangle 45"/>
            <p:cNvSpPr>
              <a:spLocks noChangeArrowheads="1"/>
            </p:cNvSpPr>
            <p:nvPr/>
          </p:nvSpPr>
          <p:spPr bwMode="auto">
            <a:xfrm>
              <a:off x="480" y="345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1101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78" name="Rectangle 46"/>
            <p:cNvSpPr>
              <a:spLocks noChangeArrowheads="1"/>
            </p:cNvSpPr>
            <p:nvPr/>
          </p:nvSpPr>
          <p:spPr bwMode="auto">
            <a:xfrm>
              <a:off x="480" y="364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1110</a:t>
              </a:r>
              <a:endParaRPr lang="en-US" sz="1800" b="0">
                <a:latin typeface="Calibri" pitchFamily="34" charset="0"/>
              </a:endParaRPr>
            </a:p>
          </p:txBody>
        </p:sp>
        <p:sp>
          <p:nvSpPr>
            <p:cNvPr id="18479" name="Rectangle 47"/>
            <p:cNvSpPr>
              <a:spLocks noChangeArrowheads="1"/>
            </p:cNvSpPr>
            <p:nvPr/>
          </p:nvSpPr>
          <p:spPr bwMode="auto">
            <a:xfrm>
              <a:off x="480" y="384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1111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80" name="Rectangle 48"/>
            <p:cNvSpPr>
              <a:spLocks noChangeArrowheads="1"/>
            </p:cNvSpPr>
            <p:nvPr/>
          </p:nvSpPr>
          <p:spPr bwMode="auto">
            <a:xfrm>
              <a:off x="1200" y="96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0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81" name="Rectangle 49"/>
            <p:cNvSpPr>
              <a:spLocks noChangeArrowheads="1"/>
            </p:cNvSpPr>
            <p:nvPr/>
          </p:nvSpPr>
          <p:spPr bwMode="auto">
            <a:xfrm>
              <a:off x="1200" y="115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82" name="Rectangle 50"/>
            <p:cNvSpPr>
              <a:spLocks noChangeArrowheads="1"/>
            </p:cNvSpPr>
            <p:nvPr/>
          </p:nvSpPr>
          <p:spPr bwMode="auto">
            <a:xfrm>
              <a:off x="1200" y="134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2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83" name="Rectangle 51"/>
            <p:cNvSpPr>
              <a:spLocks noChangeArrowheads="1"/>
            </p:cNvSpPr>
            <p:nvPr/>
          </p:nvSpPr>
          <p:spPr bwMode="auto">
            <a:xfrm>
              <a:off x="1200" y="1536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3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84" name="Rectangle 52"/>
            <p:cNvSpPr>
              <a:spLocks noChangeArrowheads="1"/>
            </p:cNvSpPr>
            <p:nvPr/>
          </p:nvSpPr>
          <p:spPr bwMode="auto">
            <a:xfrm>
              <a:off x="1200" y="1728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4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85" name="Rectangle 53"/>
            <p:cNvSpPr>
              <a:spLocks noChangeArrowheads="1"/>
            </p:cNvSpPr>
            <p:nvPr/>
          </p:nvSpPr>
          <p:spPr bwMode="auto">
            <a:xfrm>
              <a:off x="1200" y="192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5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86" name="Rectangle 54"/>
            <p:cNvSpPr>
              <a:spLocks noChangeArrowheads="1"/>
            </p:cNvSpPr>
            <p:nvPr/>
          </p:nvSpPr>
          <p:spPr bwMode="auto">
            <a:xfrm>
              <a:off x="1200" y="211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6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87" name="Rectangle 55"/>
            <p:cNvSpPr>
              <a:spLocks noChangeArrowheads="1"/>
            </p:cNvSpPr>
            <p:nvPr/>
          </p:nvSpPr>
          <p:spPr bwMode="auto">
            <a:xfrm>
              <a:off x="1200" y="230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7</a:t>
              </a:r>
              <a:endParaRPr lang="en-US" sz="1800" b="0" dirty="0">
                <a:latin typeface="Calibri" pitchFamily="34" charset="0"/>
              </a:endParaRPr>
            </a:p>
          </p:txBody>
        </p:sp>
        <p:sp>
          <p:nvSpPr>
            <p:cNvPr id="18488" name="Rectangle 56"/>
            <p:cNvSpPr>
              <a:spLocks noChangeArrowheads="1"/>
            </p:cNvSpPr>
            <p:nvPr/>
          </p:nvSpPr>
          <p:spPr bwMode="auto">
            <a:xfrm>
              <a:off x="484" y="634"/>
              <a:ext cx="1952" cy="31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489" name="Rectangle 57"/>
            <p:cNvSpPr>
              <a:spLocks noChangeArrowheads="1"/>
            </p:cNvSpPr>
            <p:nvPr/>
          </p:nvSpPr>
          <p:spPr bwMode="auto">
            <a:xfrm>
              <a:off x="484" y="964"/>
              <a:ext cx="1952" cy="30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sz="1800"/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5" y="1362075"/>
            <a:ext cx="8231505" cy="4972050"/>
          </a:xfrm>
        </p:spPr>
        <p:txBody>
          <a:bodyPr/>
          <a:lstStyle/>
          <a:p>
            <a:r>
              <a:rPr lang="zh-CN" altLang="en-US" dirty="0"/>
              <a:t>一一</a:t>
            </a:r>
            <a:r>
              <a:rPr lang="zh-CN" altLang="en-US" dirty="0"/>
              <a:t>映射</a:t>
            </a:r>
            <a:endParaRPr lang="zh-CN" altLang="en-US" dirty="0"/>
          </a:p>
          <a:p>
            <a:pPr lvl="1"/>
            <a:r>
              <a:rPr lang="en-US" altLang="zh-CN" dirty="0">
                <a:sym typeface="+mn-ea"/>
              </a:rPr>
              <a:t>B2U</a:t>
            </a:r>
            <a:r>
              <a:rPr lang="zh-CN" altLang="en-US" dirty="0">
                <a:sym typeface="+mn-ea"/>
              </a:rPr>
              <a:t>与</a:t>
            </a:r>
            <a:r>
              <a:rPr lang="en-US" altLang="zh-CN" dirty="0">
                <a:sym typeface="+mn-ea"/>
              </a:rPr>
              <a:t>U2B</a:t>
            </a:r>
            <a:r>
              <a:rPr lang="zh-CN" altLang="en-US" dirty="0">
                <a:sym typeface="+mn-ea"/>
              </a:rPr>
              <a:t>函数：位模式</a:t>
            </a:r>
            <a:r>
              <a:rPr lang="en-US" altLang="zh-CN" dirty="0">
                <a:sym typeface="+mn-ea"/>
              </a:rPr>
              <a:t> &lt;-&gt; </a:t>
            </a:r>
            <a:r>
              <a:rPr lang="zh-CN" altLang="en-US" dirty="0">
                <a:sym typeface="+mn-ea"/>
              </a:rPr>
              <a:t>无符号编码，一一映射</a:t>
            </a:r>
            <a:endParaRPr lang="zh-CN" altLang="en-US" dirty="0"/>
          </a:p>
          <a:p>
            <a:pPr lvl="1"/>
            <a:r>
              <a:rPr lang="en-US" altLang="zh-CN" dirty="0">
                <a:ea typeface="SimSun" charset="0"/>
              </a:rPr>
              <a:t>B2T</a:t>
            </a:r>
            <a:r>
              <a:rPr lang="zh-CN" altLang="en-US" dirty="0">
                <a:ea typeface="SimSun" charset="0"/>
              </a:rPr>
              <a:t>与</a:t>
            </a:r>
            <a:r>
              <a:rPr lang="en-US" altLang="zh-CN" dirty="0">
                <a:ea typeface="SimSun" charset="0"/>
              </a:rPr>
              <a:t>T2B</a:t>
            </a:r>
            <a:r>
              <a:rPr lang="zh-CN" altLang="en-US" dirty="0">
                <a:ea typeface="SimSun" charset="0"/>
              </a:rPr>
              <a:t>函数：</a:t>
            </a:r>
            <a:r>
              <a:rPr lang="zh-CN" altLang="en-US" dirty="0">
                <a:sym typeface="+mn-ea"/>
              </a:rPr>
              <a:t>位模式</a:t>
            </a:r>
            <a:r>
              <a:rPr lang="en-US" altLang="zh-CN" dirty="0">
                <a:ea typeface="SimSun" charset="0"/>
              </a:rPr>
              <a:t> &lt;-&gt; </a:t>
            </a:r>
            <a:r>
              <a:rPr lang="zh-CN" altLang="en-US" dirty="0">
                <a:ea typeface="SimSun" charset="0"/>
              </a:rPr>
              <a:t>二进制补码，一一映射</a:t>
            </a:r>
            <a:endParaRPr lang="en-US" altLang="zh-CN" dirty="0">
              <a:ea typeface="SimSun" charset="0"/>
            </a:endParaRPr>
          </a:p>
          <a:p>
            <a:pPr lvl="1"/>
            <a:r>
              <a:rPr lang="zh-CN" altLang="en-US" dirty="0">
                <a:ea typeface="SimSun" charset="0"/>
              </a:rPr>
              <a:t>因此，</a:t>
            </a:r>
            <a:r>
              <a:rPr lang="en-US" altLang="zh-CN" dirty="0">
                <a:ea typeface="SimSun" charset="0"/>
              </a:rPr>
              <a:t>U2T</a:t>
            </a:r>
            <a:r>
              <a:rPr lang="zh-CN" altLang="en-US" dirty="0">
                <a:ea typeface="SimSun" charset="0"/>
              </a:rPr>
              <a:t>函数与</a:t>
            </a:r>
            <a:r>
              <a:rPr lang="en-US" altLang="zh-CN" dirty="0">
                <a:ea typeface="SimSun" charset="0"/>
              </a:rPr>
              <a:t>T2U</a:t>
            </a:r>
            <a:r>
              <a:rPr lang="zh-CN" altLang="en-US" dirty="0">
                <a:ea typeface="SimSun" charset="0"/>
              </a:rPr>
              <a:t>函数：无符号</a:t>
            </a:r>
            <a:r>
              <a:rPr lang="en-US" altLang="zh-CN" dirty="0">
                <a:ea typeface="SimSun" charset="0"/>
              </a:rPr>
              <a:t> &lt;-&gt; </a:t>
            </a:r>
            <a:r>
              <a:rPr lang="zh-CN" altLang="en-US" dirty="0">
                <a:ea typeface="SimSun" charset="0"/>
              </a:rPr>
              <a:t>二进制补码，一一</a:t>
            </a:r>
            <a:r>
              <a:rPr lang="zh-CN" altLang="en-US" dirty="0">
                <a:ea typeface="SimSun" charset="0"/>
              </a:rPr>
              <a:t>映射</a:t>
            </a:r>
            <a:endParaRPr lang="zh-CN" altLang="en-US" dirty="0">
              <a:ea typeface="SimSun" charset="0"/>
            </a:endParaRPr>
          </a:p>
          <a:p>
            <a:pPr lvl="2"/>
            <a:r>
              <a:rPr lang="zh-CN" altLang="en-US" dirty="0">
                <a:ea typeface="SimSun" charset="0"/>
              </a:rPr>
              <a:t>如何理解</a:t>
            </a:r>
            <a:r>
              <a:rPr lang="en-US" altLang="zh-CN" dirty="0">
                <a:ea typeface="SimSun" charset="0"/>
              </a:rPr>
              <a:t>signed </a:t>
            </a:r>
            <a:r>
              <a:rPr lang="zh-CN" altLang="en-US" dirty="0">
                <a:ea typeface="SimSun" charset="0"/>
              </a:rPr>
              <a:t>和</a:t>
            </a:r>
            <a:r>
              <a:rPr lang="en-US" altLang="zh-CN" dirty="0">
                <a:ea typeface="SimSun" charset="0"/>
              </a:rPr>
              <a:t> unsigned</a:t>
            </a:r>
            <a:r>
              <a:rPr lang="zh-CN" altLang="en-US" dirty="0">
                <a:ea typeface="SimSun" charset="0"/>
              </a:rPr>
              <a:t>类型转换？</a:t>
            </a:r>
            <a:endParaRPr lang="zh-CN" altLang="en-US" dirty="0">
              <a:ea typeface="SimSun" charset="0"/>
            </a:endParaRPr>
          </a:p>
        </p:txBody>
      </p:sp>
      <p:pic>
        <p:nvPicPr>
          <p:cNvPr id="74754" name="Picture 2" descr="https://gss3.bdstatic.com/-Po3dSag_xI4khGkpoWK1HF6hhy/baike/w%3D268%3Bg%3D0/sign=c54c38c6bb389b5038ffe754bd0e82e0/b21bb051f8198618c5e7cd5c48ed2e738ad4e64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599" y="3733800"/>
            <a:ext cx="2552700" cy="237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/>
              <a:t>Integers</a:t>
            </a:r>
            <a:endParaRPr lang="en-US" dirty="0"/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b="1" dirty="0"/>
              <a:t>Conversion, casting </a:t>
            </a:r>
            <a:r>
              <a:rPr lang="zh-CN" altLang="en-US" b="1" dirty="0"/>
              <a:t>类型之间的转换</a:t>
            </a:r>
            <a:endParaRPr lang="en-US" b="1" dirty="0"/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3" name="Rectangle 3"/>
          <p:cNvSpPr>
            <a:spLocks noChangeArrowheads="1"/>
          </p:cNvSpPr>
          <p:nvPr/>
        </p:nvSpPr>
        <p:spPr bwMode="auto">
          <a:xfrm>
            <a:off x="4737100" y="1841499"/>
            <a:ext cx="2336800" cy="1041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lIns="90487" tIns="44450" rIns="90487" bIns="44450" anchorCtr="1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T2U</a:t>
            </a:r>
            <a:endParaRPr lang="en-US" sz="2000" b="0">
              <a:latin typeface="Calibri" pitchFamily="34" charset="0"/>
            </a:endParaRPr>
          </a:p>
        </p:txBody>
      </p:sp>
      <p:sp>
        <p:nvSpPr>
          <p:cNvPr id="19474" name="Rectangle 4"/>
          <p:cNvSpPr>
            <a:spLocks noChangeArrowheads="1"/>
          </p:cNvSpPr>
          <p:nvPr/>
        </p:nvSpPr>
        <p:spPr bwMode="auto">
          <a:xfrm>
            <a:off x="5041900" y="2222499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T2B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19475" name="Rectangle 5"/>
          <p:cNvSpPr>
            <a:spLocks noChangeArrowheads="1"/>
          </p:cNvSpPr>
          <p:nvPr/>
        </p:nvSpPr>
        <p:spPr bwMode="auto">
          <a:xfrm>
            <a:off x="6184900" y="2222499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B2U</a:t>
            </a:r>
            <a:endParaRPr lang="en-US" sz="2000" b="0">
              <a:latin typeface="Calibri" pitchFamily="34" charset="0"/>
            </a:endParaRPr>
          </a:p>
        </p:txBody>
      </p:sp>
      <p:sp>
        <p:nvSpPr>
          <p:cNvPr id="19476" name="Line 6"/>
          <p:cNvSpPr>
            <a:spLocks noChangeShapeType="1"/>
          </p:cNvSpPr>
          <p:nvPr/>
        </p:nvSpPr>
        <p:spPr bwMode="auto">
          <a:xfrm>
            <a:off x="4051300" y="2362199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7" name="Line 7"/>
          <p:cNvSpPr>
            <a:spLocks noChangeShapeType="1"/>
          </p:cNvSpPr>
          <p:nvPr/>
        </p:nvSpPr>
        <p:spPr bwMode="auto">
          <a:xfrm>
            <a:off x="6794500" y="2362199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8" name="Line 8"/>
          <p:cNvSpPr>
            <a:spLocks noChangeShapeType="1"/>
          </p:cNvSpPr>
          <p:nvPr/>
        </p:nvSpPr>
        <p:spPr bwMode="auto">
          <a:xfrm>
            <a:off x="5651500" y="2362199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9" name="Rectangle 9"/>
          <p:cNvSpPr>
            <a:spLocks noChangeArrowheads="1"/>
          </p:cNvSpPr>
          <p:nvPr/>
        </p:nvSpPr>
        <p:spPr bwMode="auto">
          <a:xfrm>
            <a:off x="1524000" y="1674812"/>
            <a:ext cx="231838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latin typeface="Calibri" pitchFamily="34" charset="0"/>
              </a:rPr>
              <a:t>二进制补码</a:t>
            </a:r>
            <a:r>
              <a:rPr lang="zh-CN" altLang="en-US">
                <a:latin typeface="Calibri" pitchFamily="34" charset="0"/>
              </a:rPr>
              <a:t>表示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19480" name="Rectangle 10"/>
          <p:cNvSpPr>
            <a:spLocks noChangeArrowheads="1"/>
          </p:cNvSpPr>
          <p:nvPr/>
        </p:nvSpPr>
        <p:spPr bwMode="auto">
          <a:xfrm>
            <a:off x="7696200" y="1612105"/>
            <a:ext cx="170751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Calibri" pitchFamily="34" charset="0"/>
              </a:rPr>
              <a:t>无符号</a:t>
            </a:r>
            <a:r>
              <a:rPr lang="zh-CN" altLang="en-US" dirty="0">
                <a:latin typeface="Calibri" pitchFamily="34" charset="0"/>
              </a:rPr>
              <a:t>表示</a:t>
            </a:r>
            <a:endParaRPr lang="zh-CN" altLang="en-US" dirty="0">
              <a:latin typeface="Calibri" pitchFamily="34" charset="0"/>
            </a:endParaRPr>
          </a:p>
        </p:txBody>
      </p:sp>
      <p:sp>
        <p:nvSpPr>
          <p:cNvPr id="19481" name="Rectangle 11"/>
          <p:cNvSpPr>
            <a:spLocks noChangeArrowheads="1"/>
          </p:cNvSpPr>
          <p:nvPr/>
        </p:nvSpPr>
        <p:spPr bwMode="auto">
          <a:xfrm>
            <a:off x="4471988" y="2949574"/>
            <a:ext cx="1958340" cy="39624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保持位模式</a:t>
            </a:r>
            <a:r>
              <a:rPr lang="zh-CN" altLang="en-US" sz="2000" b="0" dirty="0">
                <a:latin typeface="Calibri" pitchFamily="34" charset="0"/>
              </a:rPr>
              <a:t>不变</a:t>
            </a:r>
            <a:endParaRPr lang="zh-CN" altLang="en-US" sz="2000" b="0" dirty="0">
              <a:latin typeface="Calibri" pitchFamily="34" charset="0"/>
            </a:endParaRPr>
          </a:p>
        </p:txBody>
      </p:sp>
      <p:sp>
        <p:nvSpPr>
          <p:cNvPr id="19482" name="Rectangle 12"/>
          <p:cNvSpPr>
            <a:spLocks noChangeArrowheads="1"/>
          </p:cNvSpPr>
          <p:nvPr/>
        </p:nvSpPr>
        <p:spPr bwMode="auto">
          <a:xfrm>
            <a:off x="3567113" y="2131700"/>
            <a:ext cx="3155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anose="00000500000000020000" pitchFamily="18" charset="0"/>
              </a:rPr>
              <a:t>x</a:t>
            </a:r>
            <a:endParaRPr lang="en-US" b="0" i="1" dirty="0">
              <a:latin typeface="Times" panose="00000500000000020000" pitchFamily="18" charset="0"/>
            </a:endParaRPr>
          </a:p>
        </p:txBody>
      </p:sp>
      <p:sp>
        <p:nvSpPr>
          <p:cNvPr id="19483" name="Rectangle 13"/>
          <p:cNvSpPr>
            <a:spLocks noChangeArrowheads="1"/>
          </p:cNvSpPr>
          <p:nvPr/>
        </p:nvSpPr>
        <p:spPr bwMode="auto">
          <a:xfrm>
            <a:off x="7834313" y="2131700"/>
            <a:ext cx="4679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ux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19484" name="Rectangle 14"/>
          <p:cNvSpPr>
            <a:spLocks noChangeArrowheads="1"/>
          </p:cNvSpPr>
          <p:nvPr/>
        </p:nvSpPr>
        <p:spPr bwMode="auto">
          <a:xfrm>
            <a:off x="5700713" y="2304884"/>
            <a:ext cx="3663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anose="00000500000000020000" pitchFamily="18" charset="0"/>
              </a:rPr>
              <a:t>X</a:t>
            </a:r>
            <a:endParaRPr lang="en-US" b="0" i="1" dirty="0">
              <a:latin typeface="Times" panose="00000500000000020000" pitchFamily="18" charset="0"/>
            </a:endParaRPr>
          </a:p>
        </p:txBody>
      </p:sp>
      <p:sp>
        <p:nvSpPr>
          <p:cNvPr id="198694" name="Rectangle 38"/>
          <p:cNvSpPr>
            <a:spLocks noGrp="1" noChangeArrowheads="1"/>
          </p:cNvSpPr>
          <p:nvPr>
            <p:ph type="title"/>
          </p:nvPr>
        </p:nvSpPr>
        <p:spPr>
          <a:xfrm>
            <a:off x="1881018" y="533400"/>
            <a:ext cx="75920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B050"/>
                </a:solidFill>
                <a:ea typeface="SimSun" charset="0"/>
                <a:sym typeface="+mn-ea"/>
              </a:rPr>
              <a:t>signed </a:t>
            </a:r>
            <a:r>
              <a:rPr lang="zh-CN" altLang="en-US" dirty="0">
                <a:solidFill>
                  <a:srgbClr val="00B050"/>
                </a:solidFill>
                <a:ea typeface="SimSun" charset="0"/>
                <a:sym typeface="+mn-ea"/>
              </a:rPr>
              <a:t>和</a:t>
            </a:r>
            <a:r>
              <a:rPr lang="en-US" altLang="zh-CN" dirty="0">
                <a:solidFill>
                  <a:srgbClr val="00B050"/>
                </a:solidFill>
                <a:ea typeface="SimSun" charset="0"/>
                <a:sym typeface="+mn-ea"/>
              </a:rPr>
              <a:t> unsigned</a:t>
            </a:r>
            <a:r>
              <a:rPr lang="zh-CN" altLang="en-US" dirty="0">
                <a:solidFill>
                  <a:srgbClr val="00B050"/>
                </a:solidFill>
                <a:ea typeface="SimSun" charset="0"/>
                <a:sym typeface="+mn-ea"/>
              </a:rPr>
              <a:t>之间</a:t>
            </a:r>
            <a:r>
              <a:rPr lang="zh-CN" altLang="en-US" dirty="0">
                <a:solidFill>
                  <a:srgbClr val="00B050"/>
                </a:solidFill>
                <a:ea typeface="SimSun" charset="0"/>
                <a:sym typeface="+mn-ea"/>
              </a:rPr>
              <a:t>的类型转换</a:t>
            </a:r>
            <a:endParaRPr lang="en-US"/>
          </a:p>
        </p:txBody>
      </p:sp>
      <p:sp>
        <p:nvSpPr>
          <p:cNvPr id="19460" name="Rectangle 42"/>
          <p:cNvSpPr>
            <a:spLocks noChangeArrowheads="1"/>
          </p:cNvSpPr>
          <p:nvPr/>
        </p:nvSpPr>
        <p:spPr bwMode="auto">
          <a:xfrm>
            <a:off x="4748213" y="3709988"/>
            <a:ext cx="2336800" cy="1041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lIns="90487" tIns="44450" rIns="90487" bIns="44450" anchorCtr="1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U2T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19461" name="Rectangle 43"/>
          <p:cNvSpPr>
            <a:spLocks noChangeArrowheads="1"/>
          </p:cNvSpPr>
          <p:nvPr/>
        </p:nvSpPr>
        <p:spPr bwMode="auto">
          <a:xfrm>
            <a:off x="5053013" y="4090988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U2B</a:t>
            </a:r>
            <a:endParaRPr lang="en-US" sz="2000" b="0">
              <a:latin typeface="Calibri" pitchFamily="34" charset="0"/>
            </a:endParaRPr>
          </a:p>
        </p:txBody>
      </p:sp>
      <p:sp>
        <p:nvSpPr>
          <p:cNvPr id="19462" name="Rectangle 44"/>
          <p:cNvSpPr>
            <a:spLocks noChangeArrowheads="1"/>
          </p:cNvSpPr>
          <p:nvPr/>
        </p:nvSpPr>
        <p:spPr bwMode="auto">
          <a:xfrm>
            <a:off x="6196013" y="4090988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B2T</a:t>
            </a:r>
            <a:endParaRPr lang="en-US" sz="2000" b="0">
              <a:latin typeface="Calibri" pitchFamily="34" charset="0"/>
            </a:endParaRPr>
          </a:p>
        </p:txBody>
      </p:sp>
      <p:sp>
        <p:nvSpPr>
          <p:cNvPr id="19463" name="Line 45"/>
          <p:cNvSpPr>
            <a:spLocks noChangeShapeType="1"/>
          </p:cNvSpPr>
          <p:nvPr/>
        </p:nvSpPr>
        <p:spPr bwMode="auto">
          <a:xfrm>
            <a:off x="4062413" y="4230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46"/>
          <p:cNvSpPr>
            <a:spLocks noChangeShapeType="1"/>
          </p:cNvSpPr>
          <p:nvPr/>
        </p:nvSpPr>
        <p:spPr bwMode="auto">
          <a:xfrm>
            <a:off x="6805613" y="4230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47"/>
          <p:cNvSpPr>
            <a:spLocks noChangeShapeType="1"/>
          </p:cNvSpPr>
          <p:nvPr/>
        </p:nvSpPr>
        <p:spPr bwMode="auto">
          <a:xfrm>
            <a:off x="5662613" y="4230688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Rectangle 48"/>
          <p:cNvSpPr>
            <a:spLocks noChangeArrowheads="1"/>
          </p:cNvSpPr>
          <p:nvPr/>
        </p:nvSpPr>
        <p:spPr bwMode="auto">
          <a:xfrm>
            <a:off x="7696200" y="3580606"/>
            <a:ext cx="231838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>
                <a:latin typeface="Calibri" pitchFamily="34" charset="0"/>
                <a:sym typeface="+mn-ea"/>
              </a:rPr>
              <a:t>二进制补码表示</a:t>
            </a:r>
            <a:endParaRPr lang="en-US">
              <a:latin typeface="Calibri" pitchFamily="34" charset="0"/>
            </a:endParaRPr>
          </a:p>
        </p:txBody>
      </p:sp>
      <p:sp>
        <p:nvSpPr>
          <p:cNvPr id="19467" name="Rectangle 49"/>
          <p:cNvSpPr>
            <a:spLocks noChangeArrowheads="1"/>
          </p:cNvSpPr>
          <p:nvPr/>
        </p:nvSpPr>
        <p:spPr bwMode="auto">
          <a:xfrm>
            <a:off x="1828803" y="3526790"/>
            <a:ext cx="1707515" cy="82740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dirty="0">
                <a:latin typeface="Calibri" pitchFamily="34" charset="0"/>
                <a:sym typeface="+mn-ea"/>
              </a:rPr>
              <a:t>无符号表示</a:t>
            </a:r>
            <a:endParaRPr lang="zh-CN" altLang="en-US" dirty="0">
              <a:latin typeface="Calibri" pitchFamily="34" charset="0"/>
            </a:endParaRPr>
          </a:p>
          <a:p>
            <a:pPr>
              <a:lnSpc>
                <a:spcPct val="100000"/>
              </a:lnSpc>
            </a:pPr>
            <a:endParaRPr lang="en-US">
              <a:latin typeface="Calibri" pitchFamily="34" charset="0"/>
            </a:endParaRPr>
          </a:p>
        </p:txBody>
      </p:sp>
      <p:sp>
        <p:nvSpPr>
          <p:cNvPr id="19468" name="Rectangle 50"/>
          <p:cNvSpPr>
            <a:spLocks noChangeArrowheads="1"/>
          </p:cNvSpPr>
          <p:nvPr/>
        </p:nvSpPr>
        <p:spPr bwMode="auto">
          <a:xfrm>
            <a:off x="4471306" y="4818063"/>
            <a:ext cx="1958340" cy="39624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>
                <a:latin typeface="Calibri" pitchFamily="34" charset="0"/>
              </a:rPr>
              <a:t>保持位模式</a:t>
            </a:r>
            <a:r>
              <a:rPr lang="zh-CN" altLang="en-US" sz="2000" b="0">
                <a:latin typeface="Calibri" pitchFamily="34" charset="0"/>
              </a:rPr>
              <a:t>不变</a:t>
            </a:r>
            <a:endParaRPr lang="zh-CN" altLang="en-US" sz="2000" b="0">
              <a:latin typeface="Calibri" pitchFamily="34" charset="0"/>
            </a:endParaRPr>
          </a:p>
        </p:txBody>
      </p:sp>
      <p:sp>
        <p:nvSpPr>
          <p:cNvPr id="19469" name="Rectangle 51"/>
          <p:cNvSpPr>
            <a:spLocks noChangeArrowheads="1"/>
          </p:cNvSpPr>
          <p:nvPr/>
        </p:nvSpPr>
        <p:spPr bwMode="auto">
          <a:xfrm>
            <a:off x="3578225" y="3962400"/>
            <a:ext cx="4679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Times" panose="00000500000000020000" pitchFamily="18" charset="0"/>
              </a:rPr>
              <a:t>ux</a:t>
            </a:r>
            <a:endParaRPr lang="en-US" b="0" i="1" dirty="0">
              <a:latin typeface="Times" panose="00000500000000020000" pitchFamily="18" charset="0"/>
            </a:endParaRPr>
          </a:p>
        </p:txBody>
      </p:sp>
      <p:sp>
        <p:nvSpPr>
          <p:cNvPr id="19470" name="Rectangle 52"/>
          <p:cNvSpPr>
            <a:spLocks noChangeArrowheads="1"/>
          </p:cNvSpPr>
          <p:nvPr/>
        </p:nvSpPr>
        <p:spPr bwMode="auto">
          <a:xfrm>
            <a:off x="7845425" y="3962400"/>
            <a:ext cx="3155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x</a:t>
            </a:r>
            <a:endParaRPr lang="en-US" b="0" i="1">
              <a:latin typeface="Symbol" pitchFamily="18" charset="2"/>
            </a:endParaRPr>
          </a:p>
        </p:txBody>
      </p:sp>
      <p:sp>
        <p:nvSpPr>
          <p:cNvPr id="19471" name="Rectangle 53"/>
          <p:cNvSpPr>
            <a:spLocks noChangeArrowheads="1"/>
          </p:cNvSpPr>
          <p:nvPr/>
        </p:nvSpPr>
        <p:spPr bwMode="auto">
          <a:xfrm>
            <a:off x="5697971" y="4170219"/>
            <a:ext cx="3663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anose="00000500000000020000" pitchFamily="18" charset="0"/>
              </a:rPr>
              <a:t>X</a:t>
            </a:r>
            <a:endParaRPr lang="en-US" b="0" i="1" dirty="0">
              <a:latin typeface="Times" panose="00000500000000020000" pitchFamily="18" charset="0"/>
            </a:endParaRPr>
          </a:p>
        </p:txBody>
      </p:sp>
      <p:sp>
        <p:nvSpPr>
          <p:cNvPr id="19472" name="Rectangle 56"/>
          <p:cNvSpPr>
            <a:spLocks noGrp="1" noChangeArrowheads="1"/>
          </p:cNvSpPr>
          <p:nvPr>
            <p:ph type="body" idx="1"/>
          </p:nvPr>
        </p:nvSpPr>
        <p:spPr>
          <a:xfrm>
            <a:off x="1814830" y="5443220"/>
            <a:ext cx="8656955" cy="1109980"/>
          </a:xfrm>
        </p:spPr>
        <p:txBody>
          <a:bodyPr/>
          <a:lstStyle/>
          <a:p>
            <a:r>
              <a:rPr lang="zh-CN" altLang="en-US" dirty="0"/>
              <a:t>二进制补码表示</a:t>
            </a:r>
            <a:r>
              <a:rPr lang="en-US" altLang="zh-CN" dirty="0"/>
              <a:t> </a:t>
            </a:r>
            <a:r>
              <a:rPr lang="zh-CN" altLang="en-US" dirty="0"/>
              <a:t>与</a:t>
            </a:r>
            <a:r>
              <a:rPr lang="en-US" altLang="zh-CN" dirty="0"/>
              <a:t> </a:t>
            </a:r>
            <a:r>
              <a:rPr lang="zh-CN" altLang="en-US" dirty="0"/>
              <a:t>无符号表示</a:t>
            </a:r>
            <a:r>
              <a:rPr lang="en-US" altLang="zh-CN" dirty="0"/>
              <a:t> </a:t>
            </a:r>
            <a:r>
              <a:rPr lang="zh-CN" altLang="en-US" dirty="0"/>
              <a:t>之间的映射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</a:t>
            </a:r>
            <a:r>
              <a:rPr lang="zh-CN" altLang="en-US" dirty="0">
                <a:solidFill>
                  <a:srgbClr val="C00000"/>
                </a:solidFill>
              </a:rPr>
              <a:t>保持位模式不变</a:t>
            </a:r>
            <a:r>
              <a:rPr lang="en-US" altLang="zh-CN" dirty="0">
                <a:solidFill>
                  <a:srgbClr val="C00000"/>
                </a:solidFill>
              </a:rPr>
              <a:t>，</a:t>
            </a:r>
            <a:r>
              <a:rPr lang="zh-CN" altLang="en-US" dirty="0">
                <a:solidFill>
                  <a:srgbClr val="C00000"/>
                </a:solidFill>
              </a:rPr>
              <a:t>同时重新解释该位</a:t>
            </a:r>
            <a:r>
              <a:rPr lang="zh-CN" altLang="en-US" dirty="0">
                <a:solidFill>
                  <a:srgbClr val="C00000"/>
                </a:solidFill>
              </a:rPr>
              <a:t>模式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625" y="5410200"/>
            <a:ext cx="3625850" cy="10407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247650"/>
            <a:ext cx="6462395" cy="604520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dirty="0"/>
              <a:t>Mapping Signed </a:t>
            </a:r>
            <a:r>
              <a:rPr lang="en-US" dirty="0">
                <a:sym typeface="Symbol" pitchFamily="18" charset="2"/>
              </a:rPr>
              <a:t></a:t>
            </a:r>
            <a:r>
              <a:rPr lang="en-US" dirty="0"/>
              <a:t> Unsigned</a:t>
            </a:r>
            <a:endParaRPr lang="en-US" dirty="0"/>
          </a:p>
        </p:txBody>
      </p:sp>
      <p:graphicFrame>
        <p:nvGraphicFramePr>
          <p:cNvPr id="203779" name="Group 3"/>
          <p:cNvGraphicFramePr>
            <a:graphicFrameLocks noGrp="1"/>
          </p:cNvGraphicFramePr>
          <p:nvPr/>
        </p:nvGraphicFramePr>
        <p:xfrm>
          <a:off x="5257800" y="990600"/>
          <a:ext cx="1143000" cy="5597525"/>
        </p:xfrm>
        <a:graphic>
          <a:graphicData uri="http://schemas.openxmlformats.org/drawingml/2006/table">
            <a:tbl>
              <a:tblPr/>
              <a:tblGrid>
                <a:gridCol w="1143000"/>
              </a:tblGrid>
              <a:tr h="383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Signed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2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3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4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5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6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7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-8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-7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-6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-5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-4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-3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817" name="Group 41"/>
          <p:cNvGraphicFramePr>
            <a:graphicFrameLocks noGrp="1"/>
          </p:cNvGraphicFramePr>
          <p:nvPr/>
        </p:nvGraphicFramePr>
        <p:xfrm>
          <a:off x="8534400" y="1004379"/>
          <a:ext cx="1143000" cy="5597525"/>
        </p:xfrm>
        <a:graphic>
          <a:graphicData uri="http://schemas.openxmlformats.org/drawingml/2006/table">
            <a:tbl>
              <a:tblPr/>
              <a:tblGrid>
                <a:gridCol w="1143000"/>
              </a:tblGrid>
              <a:tr h="383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Unsigned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3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4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5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6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7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8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9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13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14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15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855" name="Group 79"/>
          <p:cNvGraphicFramePr>
            <a:graphicFrameLocks noGrp="1"/>
          </p:cNvGraphicFramePr>
          <p:nvPr/>
        </p:nvGraphicFramePr>
        <p:xfrm>
          <a:off x="3276600" y="990600"/>
          <a:ext cx="1143000" cy="5597525"/>
        </p:xfrm>
        <a:graphic>
          <a:graphicData uri="http://schemas.openxmlformats.org/drawingml/2006/table">
            <a:tbl>
              <a:tblPr/>
              <a:tblGrid>
                <a:gridCol w="1143000"/>
              </a:tblGrid>
              <a:tr h="383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Bits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0000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0001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0010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0011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0100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0101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0110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0111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1000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1001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1010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1011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1100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1101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1110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1111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124"/>
          <p:cNvGrpSpPr/>
          <p:nvPr/>
        </p:nvGrpSpPr>
        <p:grpSpPr bwMode="auto">
          <a:xfrm>
            <a:off x="6705600" y="3530600"/>
            <a:ext cx="1574800" cy="279400"/>
            <a:chOff x="3264" y="2608"/>
            <a:chExt cx="992" cy="176"/>
          </a:xfrm>
        </p:grpSpPr>
        <p:sp>
          <p:nvSpPr>
            <p:cNvPr id="20602" name="Rectangle 117"/>
            <p:cNvSpPr>
              <a:spLocks noChangeArrowheads="1"/>
            </p:cNvSpPr>
            <p:nvPr/>
          </p:nvSpPr>
          <p:spPr bwMode="auto">
            <a:xfrm>
              <a:off x="3552" y="2608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dirty="0">
                  <a:latin typeface="Calibri" pitchFamily="34" charset="0"/>
                </a:rPr>
                <a:t>U2T</a:t>
              </a: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603" name="Line 118"/>
            <p:cNvSpPr>
              <a:spLocks noChangeShapeType="1"/>
            </p:cNvSpPr>
            <p:nvPr/>
          </p:nvSpPr>
          <p:spPr bwMode="auto">
            <a:xfrm flipH="1" flipV="1">
              <a:off x="3264" y="2704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4" name="Line 119"/>
            <p:cNvSpPr>
              <a:spLocks noChangeShapeType="1"/>
            </p:cNvSpPr>
            <p:nvPr/>
          </p:nvSpPr>
          <p:spPr bwMode="auto">
            <a:xfrm flipH="1">
              <a:off x="3936" y="2696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23"/>
          <p:cNvGrpSpPr/>
          <p:nvPr/>
        </p:nvGrpSpPr>
        <p:grpSpPr bwMode="auto">
          <a:xfrm>
            <a:off x="6705600" y="3098800"/>
            <a:ext cx="1574800" cy="279400"/>
            <a:chOff x="3264" y="2128"/>
            <a:chExt cx="992" cy="176"/>
          </a:xfrm>
        </p:grpSpPr>
        <p:sp>
          <p:nvSpPr>
            <p:cNvPr id="20599" name="Rectangle 120"/>
            <p:cNvSpPr>
              <a:spLocks noChangeArrowheads="1"/>
            </p:cNvSpPr>
            <p:nvPr/>
          </p:nvSpPr>
          <p:spPr bwMode="auto">
            <a:xfrm>
              <a:off x="3552" y="2128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dirty="0">
                  <a:latin typeface="Calibri" pitchFamily="34" charset="0"/>
                </a:rPr>
                <a:t>T2U</a:t>
              </a: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600" name="Line 121"/>
            <p:cNvSpPr>
              <a:spLocks noChangeShapeType="1"/>
            </p:cNvSpPr>
            <p:nvPr/>
          </p:nvSpPr>
          <p:spPr bwMode="auto">
            <a:xfrm flipH="1" flipV="1">
              <a:off x="3264" y="2224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1" name="Line 122"/>
            <p:cNvSpPr>
              <a:spLocks noChangeShapeType="1"/>
            </p:cNvSpPr>
            <p:nvPr/>
          </p:nvSpPr>
          <p:spPr bwMode="auto">
            <a:xfrm flipH="1">
              <a:off x="3936" y="2216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5" name="Straight Arrow Connector 4"/>
          <p:cNvCxnSpPr/>
          <p:nvPr/>
        </p:nvCxnSpPr>
        <p:spPr bwMode="auto">
          <a:xfrm>
            <a:off x="6553200" y="6400800"/>
            <a:ext cx="1905000" cy="0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6553200" y="2362200"/>
            <a:ext cx="1905000" cy="0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triangle" w="med" len="med"/>
            <a:tailEnd type="triangle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247650"/>
            <a:ext cx="6462395" cy="604520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dirty="0"/>
              <a:t>Mapping Signed </a:t>
            </a:r>
            <a:r>
              <a:rPr lang="en-US" dirty="0">
                <a:sym typeface="Symbol" pitchFamily="18" charset="2"/>
              </a:rPr>
              <a:t></a:t>
            </a:r>
            <a:r>
              <a:rPr lang="en-US" dirty="0"/>
              <a:t> Unsigned</a:t>
            </a:r>
            <a:endParaRPr lang="en-US" dirty="0"/>
          </a:p>
        </p:txBody>
      </p:sp>
      <p:graphicFrame>
        <p:nvGraphicFramePr>
          <p:cNvPr id="203779" name="Group 3"/>
          <p:cNvGraphicFramePr>
            <a:graphicFrameLocks noGrp="1"/>
          </p:cNvGraphicFramePr>
          <p:nvPr/>
        </p:nvGraphicFramePr>
        <p:xfrm>
          <a:off x="6401197" y="990598"/>
          <a:ext cx="1143000" cy="5597525"/>
        </p:xfrm>
        <a:graphic>
          <a:graphicData uri="http://schemas.openxmlformats.org/drawingml/2006/table">
            <a:tbl>
              <a:tblPr/>
              <a:tblGrid>
                <a:gridCol w="1143000"/>
              </a:tblGrid>
              <a:tr h="383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Signed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2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3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4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5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6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7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-8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-7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-6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-5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-4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-3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-1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817" name="Group 41"/>
          <p:cNvGraphicFramePr>
            <a:graphicFrameLocks noGrp="1"/>
          </p:cNvGraphicFramePr>
          <p:nvPr/>
        </p:nvGraphicFramePr>
        <p:xfrm>
          <a:off x="9372600" y="990600"/>
          <a:ext cx="1143000" cy="5597525"/>
        </p:xfrm>
        <a:graphic>
          <a:graphicData uri="http://schemas.openxmlformats.org/drawingml/2006/table">
            <a:tbl>
              <a:tblPr/>
              <a:tblGrid>
                <a:gridCol w="1143000"/>
              </a:tblGrid>
              <a:tr h="383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Unsigned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3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4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5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6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7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8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9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12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13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14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15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855" name="Group 79"/>
          <p:cNvGraphicFramePr>
            <a:graphicFrameLocks noGrp="1"/>
          </p:cNvGraphicFramePr>
          <p:nvPr/>
        </p:nvGraphicFramePr>
        <p:xfrm>
          <a:off x="5062538" y="990597"/>
          <a:ext cx="1143000" cy="5597525"/>
        </p:xfrm>
        <a:graphic>
          <a:graphicData uri="http://schemas.openxmlformats.org/drawingml/2006/table">
            <a:tbl>
              <a:tblPr/>
              <a:tblGrid>
                <a:gridCol w="1143000"/>
              </a:tblGrid>
              <a:tr h="383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Bits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0000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0001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0010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0011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0100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0101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0110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0111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1000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1001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1010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1011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1100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1101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1110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anose="02070609020205020404" pitchFamily="49" charset="0"/>
                        </a:rPr>
                        <a:t>1111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 panose="02070609020205020404" pitchFamily="49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4" name="Group 126"/>
          <p:cNvGrpSpPr/>
          <p:nvPr/>
        </p:nvGrpSpPr>
        <p:grpSpPr bwMode="auto">
          <a:xfrm>
            <a:off x="7620000" y="2286000"/>
            <a:ext cx="1447800" cy="584200"/>
            <a:chOff x="3312" y="1226"/>
            <a:chExt cx="912" cy="368"/>
          </a:xfrm>
        </p:grpSpPr>
        <p:sp>
          <p:nvSpPr>
            <p:cNvPr id="15" name="Line 121"/>
            <p:cNvSpPr>
              <a:spLocks noChangeShapeType="1"/>
            </p:cNvSpPr>
            <p:nvPr/>
          </p:nvSpPr>
          <p:spPr bwMode="auto">
            <a:xfrm flipH="1" flipV="1">
              <a:off x="3312" y="1536"/>
              <a:ext cx="9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lg" len="lg"/>
              <a:tailEnd type="triangle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24"/>
            <p:cNvSpPr txBox="1">
              <a:spLocks noChangeArrowheads="1"/>
            </p:cNvSpPr>
            <p:nvPr/>
          </p:nvSpPr>
          <p:spPr bwMode="auto">
            <a:xfrm>
              <a:off x="3684" y="1226"/>
              <a:ext cx="211" cy="368"/>
            </a:xfrm>
            <a:prstGeom prst="rect">
              <a:avLst/>
            </a:prstGeom>
            <a:noFill/>
            <a:ln w="19050">
              <a:noFill/>
              <a:miter lim="800000"/>
              <a:tailEnd type="none" w="sm" len="sm"/>
            </a:ln>
          </p:spPr>
          <p:txBody>
            <a:bodyPr wrap="none" lIns="45720" rIns="45720">
              <a:spAutoFit/>
            </a:bodyPr>
            <a:lstStyle/>
            <a:p>
              <a:pPr algn="ctr"/>
              <a:r>
                <a:rPr lang="en-US" sz="3200" dirty="0">
                  <a:latin typeface="Calibri" pitchFamily="34" charset="0"/>
                </a:rPr>
                <a:t>=</a:t>
              </a:r>
              <a:endParaRPr lang="en-US" sz="3200" dirty="0">
                <a:latin typeface="Calibri" pitchFamily="34" charset="0"/>
              </a:endParaRPr>
            </a:p>
          </p:txBody>
        </p:sp>
      </p:grpSp>
      <p:grpSp>
        <p:nvGrpSpPr>
          <p:cNvPr id="17" name="Group 127"/>
          <p:cNvGrpSpPr/>
          <p:nvPr/>
        </p:nvGrpSpPr>
        <p:grpSpPr bwMode="auto">
          <a:xfrm>
            <a:off x="7620000" y="4724396"/>
            <a:ext cx="1447800" cy="492124"/>
            <a:chOff x="3312" y="2762"/>
            <a:chExt cx="912" cy="310"/>
          </a:xfrm>
        </p:grpSpPr>
        <p:sp>
          <p:nvSpPr>
            <p:cNvPr id="18" name="Line 123"/>
            <p:cNvSpPr>
              <a:spLocks noChangeShapeType="1"/>
            </p:cNvSpPr>
            <p:nvPr/>
          </p:nvSpPr>
          <p:spPr bwMode="auto">
            <a:xfrm flipH="1" flipV="1">
              <a:off x="3312" y="3072"/>
              <a:ext cx="9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lg" len="lg"/>
              <a:tailEnd type="triangle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25"/>
            <p:cNvSpPr txBox="1">
              <a:spLocks noChangeArrowheads="1"/>
            </p:cNvSpPr>
            <p:nvPr/>
          </p:nvSpPr>
          <p:spPr bwMode="auto">
            <a:xfrm>
              <a:off x="3504" y="2762"/>
              <a:ext cx="329" cy="291"/>
            </a:xfrm>
            <a:prstGeom prst="rect">
              <a:avLst/>
            </a:prstGeom>
            <a:noFill/>
            <a:ln w="57150">
              <a:noFill/>
              <a:round/>
              <a:headEnd type="triangle" w="lg" len="lg"/>
              <a:tailEnd type="triangle" w="lg" len="lg"/>
            </a:ln>
          </p:spPr>
          <p:txBody>
            <a:bodyPr wrap="none" anchor="ctr"/>
            <a:lstStyle/>
            <a:p>
              <a:r>
                <a:rPr lang="en-US" dirty="0">
                  <a:latin typeface="Calibri" pitchFamily="34" charset="0"/>
                </a:rPr>
                <a:t>+/- 16</a:t>
              </a: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95120" y="1885950"/>
            <a:ext cx="31807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solidFill>
                  <a:schemeClr val="tx1"/>
                </a:solidFill>
                <a:latin typeface="Calibri" pitchFamily="34" charset="0"/>
              </a:rPr>
              <a:t>同一个</a:t>
            </a:r>
            <a:r>
              <a:rPr lang="en-US" altLang="zh-CN" sz="2000" b="0" dirty="0">
                <a:solidFill>
                  <a:schemeClr val="tx1"/>
                </a:solidFill>
                <a:latin typeface="Calibri" pitchFamily="34" charset="0"/>
              </a:rPr>
              <a:t>bit pattern</a:t>
            </a:r>
            <a:r>
              <a:rPr lang="zh-CN" altLang="en-US" sz="2000" b="0" dirty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，分别表示</a:t>
            </a:r>
            <a:r>
              <a:rPr lang="en-US" altLang="zh-CN" sz="2000" b="0" dirty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unsigned</a:t>
            </a:r>
            <a:r>
              <a:rPr lang="zh-CN" altLang="en-US" sz="2000" b="0" dirty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与</a:t>
            </a:r>
            <a:r>
              <a:rPr lang="en-US" altLang="zh-CN" sz="2000" b="0" dirty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signed</a:t>
            </a:r>
            <a:r>
              <a:rPr lang="zh-CN" altLang="en-US" sz="2000" b="0" dirty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，差值是多少？</a:t>
            </a:r>
            <a:endParaRPr lang="zh-CN" altLang="en-US" sz="2000" b="0" dirty="0">
              <a:solidFill>
                <a:schemeClr val="tx1"/>
              </a:solidFill>
              <a:latin typeface="Calibri" pitchFamily="34" charset="0"/>
              <a:ea typeface="SimSun" charset="0"/>
            </a:endParaRPr>
          </a:p>
          <a:p>
            <a:pPr indent="457200"/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signed</a:t>
            </a:r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为正</a:t>
            </a:r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时相等</a:t>
            </a:r>
            <a:endParaRPr lang="zh-CN" altLang="en-US" sz="2000" b="0" dirty="0">
              <a:solidFill>
                <a:srgbClr val="00B050"/>
              </a:solidFill>
              <a:latin typeface="Calibri" pitchFamily="34" charset="0"/>
              <a:ea typeface="SimSun" charset="0"/>
            </a:endParaRPr>
          </a:p>
          <a:p>
            <a:pPr indent="457200"/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signed</a:t>
            </a:r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为负</a:t>
            </a:r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时相差</a:t>
            </a:r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2</a:t>
            </a:r>
            <a:r>
              <a:rPr lang="en-US" altLang="zh-CN" sz="2000" b="0" baseline="30000" dirty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w</a:t>
            </a:r>
            <a:endParaRPr lang="zh-CN" altLang="en-US" sz="2000" b="0" dirty="0">
              <a:solidFill>
                <a:srgbClr val="00B050"/>
              </a:solidFill>
              <a:latin typeface="Calibri" pitchFamily="34" charset="0"/>
              <a:ea typeface="SimSun" charset="0"/>
            </a:endParaRPr>
          </a:p>
          <a:p>
            <a:endParaRPr lang="zh-CN" altLang="en-US" sz="2000" b="0" dirty="0">
              <a:solidFill>
                <a:srgbClr val="00B050"/>
              </a:solidFill>
              <a:latin typeface="Calibri" pitchFamily="34" charset="0"/>
              <a:ea typeface="SimSun" charset="0"/>
            </a:endParaRPr>
          </a:p>
          <a:p>
            <a:r>
              <a:rPr lang="zh-CN" altLang="en-US" sz="2000" b="0" dirty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如何证明？</a:t>
            </a:r>
            <a:endParaRPr lang="zh-CN" altLang="en-US" sz="2000" b="0" dirty="0">
              <a:solidFill>
                <a:schemeClr val="tx1"/>
              </a:solidFill>
              <a:latin typeface="Calibri" pitchFamily="34" charset="0"/>
              <a:ea typeface="SimSun" charset="0"/>
            </a:endParaRPr>
          </a:p>
          <a:p>
            <a:pPr indent="457200"/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根据符号位的变化</a:t>
            </a:r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...</a:t>
            </a:r>
            <a:endParaRPr lang="zh-CN" altLang="en-US" sz="2000" b="0" dirty="0">
              <a:solidFill>
                <a:srgbClr val="00B050"/>
              </a:solidFill>
              <a:latin typeface="Calibri" pitchFamily="34" charset="0"/>
            </a:endParaRPr>
          </a:p>
          <a:p>
            <a:endParaRPr lang="en-US" altLang="zh-CN" sz="2000" b="0" dirty="0">
              <a:solidFill>
                <a:srgbClr val="00B050"/>
              </a:solidFill>
              <a:latin typeface="Calibri" pitchFamily="34" charset="0"/>
            </a:endParaRPr>
          </a:p>
          <a:p>
            <a:r>
              <a:rPr lang="zh-CN" altLang="en-US" sz="2000" b="0" dirty="0">
                <a:solidFill>
                  <a:schemeClr val="tx1"/>
                </a:solidFill>
                <a:latin typeface="Calibri" pitchFamily="34" charset="0"/>
              </a:rPr>
              <a:t>为什么要使用二进制补码这种违反直觉的表示？</a:t>
            </a:r>
            <a:endParaRPr lang="zh-CN" altLang="en-US" sz="2000" b="0" dirty="0">
              <a:solidFill>
                <a:schemeClr val="tx1"/>
              </a:solidFill>
              <a:latin typeface="Calibri" pitchFamily="34" charset="0"/>
            </a:endParaRPr>
          </a:p>
          <a:p>
            <a:endParaRPr lang="zh-CN" altLang="en-US" sz="20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6"/>
          <p:cNvGrpSpPr/>
          <p:nvPr/>
        </p:nvGrpSpPr>
        <p:grpSpPr bwMode="auto">
          <a:xfrm>
            <a:off x="3276600" y="3810000"/>
            <a:ext cx="2743200" cy="228600"/>
            <a:chOff x="2832" y="2208"/>
            <a:chExt cx="1728" cy="144"/>
          </a:xfrm>
        </p:grpSpPr>
        <p:sp>
          <p:nvSpPr>
            <p:cNvPr id="5142" name="Rectangle 17"/>
            <p:cNvSpPr>
              <a:spLocks noChangeArrowheads="1"/>
            </p:cNvSpPr>
            <p:nvPr/>
          </p:nvSpPr>
          <p:spPr bwMode="auto">
            <a:xfrm>
              <a:off x="283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-</a:t>
              </a:r>
              <a:endParaRPr lang="en-US" b="0"/>
            </a:p>
          </p:txBody>
        </p:sp>
        <p:sp>
          <p:nvSpPr>
            <p:cNvPr id="5143" name="Rectangle 18"/>
            <p:cNvSpPr>
              <a:spLocks noChangeArrowheads="1"/>
            </p:cNvSpPr>
            <p:nvPr/>
          </p:nvSpPr>
          <p:spPr bwMode="auto">
            <a:xfrm>
              <a:off x="297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44" name="Rectangle 19"/>
            <p:cNvSpPr>
              <a:spLocks noChangeArrowheads="1"/>
            </p:cNvSpPr>
            <p:nvPr/>
          </p:nvSpPr>
          <p:spPr bwMode="auto">
            <a:xfrm>
              <a:off x="3120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45" name="Rectangle 20"/>
            <p:cNvSpPr>
              <a:spLocks noChangeArrowheads="1"/>
            </p:cNvSpPr>
            <p:nvPr/>
          </p:nvSpPr>
          <p:spPr bwMode="auto">
            <a:xfrm>
              <a:off x="4128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46" name="Rectangle 21"/>
            <p:cNvSpPr>
              <a:spLocks noChangeArrowheads="1"/>
            </p:cNvSpPr>
            <p:nvPr/>
          </p:nvSpPr>
          <p:spPr bwMode="auto">
            <a:xfrm>
              <a:off x="427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47" name="Rectangle 22"/>
            <p:cNvSpPr>
              <a:spLocks noChangeArrowheads="1"/>
            </p:cNvSpPr>
            <p:nvPr/>
          </p:nvSpPr>
          <p:spPr bwMode="auto">
            <a:xfrm>
              <a:off x="441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48" name="Rectangle 23"/>
            <p:cNvSpPr>
              <a:spLocks noChangeArrowheads="1"/>
            </p:cNvSpPr>
            <p:nvPr/>
          </p:nvSpPr>
          <p:spPr bwMode="auto">
            <a:xfrm>
              <a:off x="3264" y="2208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grpSp>
        <p:nvGrpSpPr>
          <p:cNvPr id="4" name="Group 24"/>
          <p:cNvGrpSpPr/>
          <p:nvPr/>
        </p:nvGrpSpPr>
        <p:grpSpPr bwMode="auto">
          <a:xfrm>
            <a:off x="3276600" y="4267200"/>
            <a:ext cx="2743200" cy="228600"/>
            <a:chOff x="2832" y="2208"/>
            <a:chExt cx="1728" cy="144"/>
          </a:xfrm>
        </p:grpSpPr>
        <p:sp>
          <p:nvSpPr>
            <p:cNvPr id="5135" name="Rectangle 25"/>
            <p:cNvSpPr>
              <a:spLocks noChangeArrowheads="1"/>
            </p:cNvSpPr>
            <p:nvPr/>
          </p:nvSpPr>
          <p:spPr bwMode="auto">
            <a:xfrm>
              <a:off x="283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36" name="Rectangle 26"/>
            <p:cNvSpPr>
              <a:spLocks noChangeArrowheads="1"/>
            </p:cNvSpPr>
            <p:nvPr/>
          </p:nvSpPr>
          <p:spPr bwMode="auto">
            <a:xfrm>
              <a:off x="297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37" name="Rectangle 27"/>
            <p:cNvSpPr>
              <a:spLocks noChangeArrowheads="1"/>
            </p:cNvSpPr>
            <p:nvPr/>
          </p:nvSpPr>
          <p:spPr bwMode="auto">
            <a:xfrm>
              <a:off x="3120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38" name="Rectangle 28"/>
            <p:cNvSpPr>
              <a:spLocks noChangeArrowheads="1"/>
            </p:cNvSpPr>
            <p:nvPr/>
          </p:nvSpPr>
          <p:spPr bwMode="auto">
            <a:xfrm>
              <a:off x="4128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39" name="Rectangle 29"/>
            <p:cNvSpPr>
              <a:spLocks noChangeArrowheads="1"/>
            </p:cNvSpPr>
            <p:nvPr/>
          </p:nvSpPr>
          <p:spPr bwMode="auto">
            <a:xfrm>
              <a:off x="427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40" name="Rectangle 30"/>
            <p:cNvSpPr>
              <a:spLocks noChangeArrowheads="1"/>
            </p:cNvSpPr>
            <p:nvPr/>
          </p:nvSpPr>
          <p:spPr bwMode="auto">
            <a:xfrm>
              <a:off x="441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  <a:endParaRPr lang="en-US" b="0"/>
            </a:p>
          </p:txBody>
        </p:sp>
        <p:sp>
          <p:nvSpPr>
            <p:cNvPr id="5141" name="Rectangle 31"/>
            <p:cNvSpPr>
              <a:spLocks noChangeArrowheads="1"/>
            </p:cNvSpPr>
            <p:nvPr/>
          </p:nvSpPr>
          <p:spPr bwMode="auto">
            <a:xfrm>
              <a:off x="3264" y="2208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5126" name="Rectangle 32"/>
          <p:cNvSpPr>
            <a:spLocks noChangeArrowheads="1"/>
          </p:cNvSpPr>
          <p:nvPr/>
        </p:nvSpPr>
        <p:spPr bwMode="auto">
          <a:xfrm>
            <a:off x="2743200" y="3657600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x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5127" name="Rectangle 33"/>
          <p:cNvSpPr>
            <a:spLocks noChangeArrowheads="1"/>
          </p:cNvSpPr>
          <p:nvPr/>
        </p:nvSpPr>
        <p:spPr bwMode="auto">
          <a:xfrm>
            <a:off x="2743200" y="4114800"/>
            <a:ext cx="4705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ux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5128" name="Rectangle 36"/>
          <p:cNvSpPr>
            <a:spLocks noChangeArrowheads="1"/>
          </p:cNvSpPr>
          <p:nvPr/>
        </p:nvSpPr>
        <p:spPr bwMode="auto">
          <a:xfrm>
            <a:off x="3124200" y="3429000"/>
            <a:ext cx="563880" cy="3683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>
                <a:latin typeface="Times" panose="00000500000000020000" pitchFamily="18" charset="0"/>
              </a:rPr>
              <a:t>w</a:t>
            </a:r>
            <a:r>
              <a:rPr lang="en-US" sz="1800" b="0">
                <a:latin typeface="Times" panose="00000500000000020000" pitchFamily="18" charset="0"/>
              </a:rPr>
              <a:t>–1</a:t>
            </a:r>
            <a:endParaRPr lang="en-US" sz="1800" b="0" i="1">
              <a:latin typeface="Times" panose="00000500000000020000" pitchFamily="18" charset="0"/>
            </a:endParaRPr>
          </a:p>
        </p:txBody>
      </p:sp>
      <p:sp>
        <p:nvSpPr>
          <p:cNvPr id="5129" name="Rectangle 37"/>
          <p:cNvSpPr>
            <a:spLocks noChangeArrowheads="1"/>
          </p:cNvSpPr>
          <p:nvPr/>
        </p:nvSpPr>
        <p:spPr bwMode="auto">
          <a:xfrm>
            <a:off x="5791200" y="3429000"/>
            <a:ext cx="297180" cy="3683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>
                <a:latin typeface="Times" panose="00000500000000020000" pitchFamily="18" charset="0"/>
              </a:rPr>
              <a:t>0</a:t>
            </a:r>
            <a:endParaRPr lang="en-US" sz="1800" b="0">
              <a:latin typeface="Times" panose="00000500000000020000" pitchFamily="18" charset="0"/>
            </a:endParaRPr>
          </a:p>
        </p:txBody>
      </p:sp>
      <p:sp>
        <p:nvSpPr>
          <p:cNvPr id="189482" name="Rectangle 42"/>
          <p:cNvSpPr>
            <a:spLocks noGrp="1" noChangeArrowheads="1"/>
          </p:cNvSpPr>
          <p:nvPr>
            <p:ph type="title"/>
          </p:nvPr>
        </p:nvSpPr>
        <p:spPr>
          <a:xfrm>
            <a:off x="1880870" y="435610"/>
            <a:ext cx="860679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无符号编码</a:t>
            </a:r>
            <a:r>
              <a:rPr lang="en-US" altLang="zh-CN"/>
              <a:t>、</a:t>
            </a:r>
            <a:r>
              <a:rPr lang="zh-CN" altLang="en-US"/>
              <a:t>有符号编码值的</a:t>
            </a:r>
            <a:r>
              <a:rPr lang="zh-CN" altLang="en-US"/>
              <a:t>关系</a:t>
            </a:r>
            <a:endParaRPr lang="zh-CN" altLang="en-US"/>
          </a:p>
        </p:txBody>
      </p:sp>
      <p:sp>
        <p:nvSpPr>
          <p:cNvPr id="5132" name="Line 43"/>
          <p:cNvSpPr>
            <a:spLocks noChangeShapeType="1"/>
          </p:cNvSpPr>
          <p:nvPr/>
        </p:nvSpPr>
        <p:spPr bwMode="auto">
          <a:xfrm flipV="1">
            <a:off x="3124200" y="4684713"/>
            <a:ext cx="218440" cy="4603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lg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5133" name="Text Box 44"/>
          <p:cNvSpPr txBox="1">
            <a:spLocks noChangeArrowheads="1"/>
          </p:cNvSpPr>
          <p:nvPr/>
        </p:nvSpPr>
        <p:spPr bwMode="auto">
          <a:xfrm>
            <a:off x="2584950" y="5257800"/>
            <a:ext cx="1924050" cy="11988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zh-CN" altLang="en-US" dirty="0">
                <a:latin typeface="Calibri" pitchFamily="34" charset="0"/>
              </a:rPr>
              <a:t>最大的负权重</a:t>
            </a:r>
            <a:endParaRPr lang="en-US" dirty="0">
              <a:latin typeface="Calibri" pitchFamily="34" charset="0"/>
            </a:endParaRPr>
          </a:p>
          <a:p>
            <a:pPr algn="ctr"/>
            <a:r>
              <a:rPr lang="en-US" b="0" i="1" dirty="0">
                <a:latin typeface="Calibri" pitchFamily="34" charset="0"/>
                <a:sym typeface="Symbol" pitchFamily="18" charset="2"/>
              </a:rPr>
              <a:t>becomes</a:t>
            </a:r>
            <a:endParaRPr lang="en-US" b="0" i="1" dirty="0">
              <a:latin typeface="Calibri" pitchFamily="34" charset="0"/>
              <a:sym typeface="Symbol" pitchFamily="18" charset="2"/>
            </a:endParaRPr>
          </a:p>
          <a:p>
            <a:pPr algn="ctr"/>
            <a:r>
              <a:rPr lang="zh-CN" altLang="en-US" dirty="0">
                <a:latin typeface="Calibri" pitchFamily="34" charset="0"/>
              </a:rPr>
              <a:t>最大的正</a:t>
            </a:r>
            <a:r>
              <a:rPr lang="zh-CN" altLang="en-US" dirty="0">
                <a:latin typeface="Calibri" pitchFamily="34" charset="0"/>
              </a:rPr>
              <a:t>权重</a:t>
            </a:r>
            <a:endParaRPr lang="zh-CN" altLang="en-US" dirty="0">
              <a:latin typeface="Calibri" pitchFamily="34" charset="0"/>
            </a:endParaRP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5111750" y="1753394"/>
            <a:ext cx="2336800" cy="1041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lIns="90487" tIns="44450" rIns="90487" bIns="44450" anchorCtr="1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T2U</a:t>
            </a:r>
            <a:endParaRPr lang="en-US" sz="2000" b="0">
              <a:latin typeface="Calibri" pitchFamily="34" charset="0"/>
            </a:endParaRP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5416550" y="2134394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T2B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6559550" y="2134394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B2U</a:t>
            </a:r>
            <a:endParaRPr lang="en-US" sz="2000" b="0">
              <a:latin typeface="Calibri" pitchFamily="34" charset="0"/>
            </a:endParaRPr>
          </a:p>
        </p:txBody>
      </p:sp>
      <p:sp>
        <p:nvSpPr>
          <p:cNvPr id="44" name="Line 6"/>
          <p:cNvSpPr>
            <a:spLocks noChangeShapeType="1"/>
          </p:cNvSpPr>
          <p:nvPr/>
        </p:nvSpPr>
        <p:spPr bwMode="auto">
          <a:xfrm>
            <a:off x="4425950" y="2274094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7169150" y="2274094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6" name="Line 8"/>
          <p:cNvSpPr>
            <a:spLocks noChangeShapeType="1"/>
          </p:cNvSpPr>
          <p:nvPr/>
        </p:nvSpPr>
        <p:spPr bwMode="auto">
          <a:xfrm>
            <a:off x="6026150" y="2274094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7" name="Rectangle 9"/>
          <p:cNvSpPr>
            <a:spLocks noChangeArrowheads="1"/>
          </p:cNvSpPr>
          <p:nvPr/>
        </p:nvSpPr>
        <p:spPr bwMode="auto">
          <a:xfrm>
            <a:off x="1898650" y="1586707"/>
            <a:ext cx="300164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itchFamily="34" charset="0"/>
              </a:rPr>
              <a:t>Two’s Complement</a:t>
            </a:r>
            <a:endParaRPr lang="en-US">
              <a:latin typeface="Calibri" pitchFamily="34" charset="0"/>
            </a:endParaRPr>
          </a:p>
        </p:txBody>
      </p:sp>
      <p:sp>
        <p:nvSpPr>
          <p:cNvPr id="48" name="Rectangle 10"/>
          <p:cNvSpPr>
            <a:spLocks noChangeArrowheads="1"/>
          </p:cNvSpPr>
          <p:nvPr/>
        </p:nvSpPr>
        <p:spPr bwMode="auto">
          <a:xfrm>
            <a:off x="8223250" y="1524000"/>
            <a:ext cx="1558290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Unsigned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49" name="Rectangle 11"/>
          <p:cNvSpPr>
            <a:spLocks noChangeArrowheads="1"/>
          </p:cNvSpPr>
          <p:nvPr/>
        </p:nvSpPr>
        <p:spPr bwMode="auto">
          <a:xfrm>
            <a:off x="4846638" y="2861469"/>
            <a:ext cx="3148330" cy="39624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Maintain Same Bit Pattern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50" name="Rectangle 12"/>
          <p:cNvSpPr>
            <a:spLocks noChangeArrowheads="1"/>
          </p:cNvSpPr>
          <p:nvPr/>
        </p:nvSpPr>
        <p:spPr bwMode="auto">
          <a:xfrm>
            <a:off x="3941763" y="2043595"/>
            <a:ext cx="3155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anose="00000500000000020000" pitchFamily="18" charset="0"/>
              </a:rPr>
              <a:t>x</a:t>
            </a:r>
            <a:endParaRPr lang="en-US" b="0" i="1" dirty="0">
              <a:latin typeface="Times" panose="00000500000000020000" pitchFamily="18" charset="0"/>
            </a:endParaRPr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8208963" y="2043595"/>
            <a:ext cx="4679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ux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6075363" y="2216779"/>
            <a:ext cx="3663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anose="00000500000000020000" pitchFamily="18" charset="0"/>
              </a:rPr>
              <a:t>X</a:t>
            </a:r>
            <a:endParaRPr lang="en-US" b="0" i="1" dirty="0">
              <a:latin typeface="Times" panose="00000500000000020000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34000" y="5867400"/>
            <a:ext cx="457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/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signed</a:t>
            </a:r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为正时相等</a:t>
            </a:r>
            <a:endParaRPr lang="zh-CN" altLang="en-US" sz="2000" b="0" dirty="0">
              <a:solidFill>
                <a:srgbClr val="00B050"/>
              </a:solidFill>
              <a:latin typeface="Calibri" pitchFamily="34" charset="0"/>
              <a:ea typeface="SimSun" charset="0"/>
            </a:endParaRPr>
          </a:p>
          <a:p>
            <a:pPr indent="457200"/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signed</a:t>
            </a:r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为负时相差</a:t>
            </a:r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2</a:t>
            </a:r>
            <a:r>
              <a:rPr lang="en-US" altLang="zh-CN" sz="2000" b="0" baseline="3000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w</a:t>
            </a:r>
            <a:endParaRPr lang="en-US" altLang="zh-CN" sz="2000" b="0" baseline="30000" dirty="0" smtClean="0">
              <a:solidFill>
                <a:srgbClr val="00B050"/>
              </a:solidFill>
              <a:latin typeface="Calibri" pitchFamily="34" charset="0"/>
              <a:ea typeface="SimSun" charset="0"/>
              <a:sym typeface="+mn-ea"/>
            </a:endParaRP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6534150" y="4598670"/>
          <a:ext cx="334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71" name="Equation" r:id="rId2" imgW="3323590" imgH="598170" progId="Equation.3">
                  <p:embed/>
                </p:oleObj>
              </mc:Choice>
              <mc:Fallback>
                <p:oleObj name="Equation" r:id="rId2" imgW="3323590" imgH="5981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4598670"/>
                        <a:ext cx="3340100" cy="596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6559550" y="5233035"/>
          <a:ext cx="213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72" name="Equation" r:id="rId5" imgW="2127885" imgH="598170" progId="Equation.3">
                  <p:embed/>
                </p:oleObj>
              </mc:Choice>
              <mc:Fallback>
                <p:oleObj name="Equation" r:id="rId5" imgW="2127885" imgH="59817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550" y="5233035"/>
                        <a:ext cx="2133600" cy="596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7199314" y="3124200"/>
            <a:ext cx="457200" cy="1828800"/>
          </a:xfrm>
          <a:prstGeom prst="rect">
            <a:avLst/>
          </a:prstGeom>
          <a:solidFill>
            <a:srgbClr val="CDF1C5"/>
          </a:solidFill>
          <a:ln w="25400">
            <a:noFill/>
            <a:miter lim="800000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4582" name="Rectangle 4"/>
          <p:cNvSpPr>
            <a:spLocks noChangeArrowheads="1"/>
          </p:cNvSpPr>
          <p:nvPr/>
        </p:nvSpPr>
        <p:spPr bwMode="auto">
          <a:xfrm>
            <a:off x="5522914" y="3124200"/>
            <a:ext cx="457200" cy="1828800"/>
          </a:xfrm>
          <a:prstGeom prst="rect">
            <a:avLst/>
          </a:prstGeom>
          <a:solidFill>
            <a:srgbClr val="CDF1C5"/>
          </a:solidFill>
          <a:ln w="25400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Rectangle 5"/>
          <p:cNvSpPr>
            <a:spLocks noChangeArrowheads="1"/>
          </p:cNvSpPr>
          <p:nvPr/>
        </p:nvSpPr>
        <p:spPr bwMode="auto">
          <a:xfrm>
            <a:off x="5522914" y="4953000"/>
            <a:ext cx="457200" cy="1524000"/>
          </a:xfrm>
          <a:prstGeom prst="rect">
            <a:avLst/>
          </a:prstGeom>
          <a:solidFill>
            <a:srgbClr val="EFBFBF"/>
          </a:solidFill>
          <a:ln w="25400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Rectangle 6"/>
          <p:cNvSpPr>
            <a:spLocks noChangeArrowheads="1"/>
          </p:cNvSpPr>
          <p:nvPr/>
        </p:nvSpPr>
        <p:spPr bwMode="auto">
          <a:xfrm>
            <a:off x="7199314" y="1600200"/>
            <a:ext cx="457200" cy="1524000"/>
          </a:xfrm>
          <a:prstGeom prst="rect">
            <a:avLst/>
          </a:prstGeom>
          <a:solidFill>
            <a:srgbClr val="EFBFBF"/>
          </a:solidFill>
          <a:ln w="25400">
            <a:noFill/>
            <a:miter lim="800000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4590" name="Oval 8"/>
          <p:cNvSpPr>
            <a:spLocks noChangeArrowheads="1"/>
          </p:cNvSpPr>
          <p:nvPr/>
        </p:nvSpPr>
        <p:spPr bwMode="auto">
          <a:xfrm>
            <a:off x="5599114" y="4724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Text Box 9"/>
          <p:cNvSpPr txBox="1">
            <a:spLocks noChangeArrowheads="1"/>
          </p:cNvSpPr>
          <p:nvPr/>
        </p:nvSpPr>
        <p:spPr bwMode="auto">
          <a:xfrm>
            <a:off x="4684714" y="4648200"/>
            <a:ext cx="76200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0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24592" name="Line 10"/>
          <p:cNvSpPr>
            <a:spLocks noChangeShapeType="1"/>
          </p:cNvSpPr>
          <p:nvPr/>
        </p:nvSpPr>
        <p:spPr bwMode="auto">
          <a:xfrm>
            <a:off x="5751514" y="4800600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Oval 11"/>
          <p:cNvSpPr>
            <a:spLocks noChangeArrowheads="1"/>
          </p:cNvSpPr>
          <p:nvPr/>
        </p:nvSpPr>
        <p:spPr bwMode="auto">
          <a:xfrm>
            <a:off x="5599114" y="3200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Text Box 12"/>
          <p:cNvSpPr txBox="1">
            <a:spLocks noChangeArrowheads="1"/>
          </p:cNvSpPr>
          <p:nvPr/>
        </p:nvSpPr>
        <p:spPr bwMode="auto">
          <a:xfrm>
            <a:off x="4588194" y="3124200"/>
            <a:ext cx="92837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TMax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595" name="Line 13"/>
          <p:cNvSpPr>
            <a:spLocks noChangeShapeType="1"/>
          </p:cNvSpPr>
          <p:nvPr/>
        </p:nvSpPr>
        <p:spPr bwMode="auto">
          <a:xfrm>
            <a:off x="5751514" y="3276600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Oval 14"/>
          <p:cNvSpPr>
            <a:spLocks noChangeArrowheads="1"/>
          </p:cNvSpPr>
          <p:nvPr/>
        </p:nvSpPr>
        <p:spPr bwMode="auto">
          <a:xfrm>
            <a:off x="5599114" y="6248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Text Box 15"/>
          <p:cNvSpPr txBox="1">
            <a:spLocks noChangeArrowheads="1"/>
          </p:cNvSpPr>
          <p:nvPr/>
        </p:nvSpPr>
        <p:spPr bwMode="auto">
          <a:xfrm>
            <a:off x="4579304" y="6172200"/>
            <a:ext cx="86106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TMin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598" name="Oval 16"/>
          <p:cNvSpPr>
            <a:spLocks noChangeArrowheads="1"/>
          </p:cNvSpPr>
          <p:nvPr/>
        </p:nvSpPr>
        <p:spPr bwMode="auto">
          <a:xfrm>
            <a:off x="5599114" y="50292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Text Box 17"/>
          <p:cNvSpPr txBox="1">
            <a:spLocks noChangeArrowheads="1"/>
          </p:cNvSpPr>
          <p:nvPr/>
        </p:nvSpPr>
        <p:spPr bwMode="auto">
          <a:xfrm>
            <a:off x="4684714" y="4953000"/>
            <a:ext cx="76200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–1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24600" name="Oval 18"/>
          <p:cNvSpPr>
            <a:spLocks noChangeArrowheads="1"/>
          </p:cNvSpPr>
          <p:nvPr/>
        </p:nvSpPr>
        <p:spPr bwMode="auto">
          <a:xfrm>
            <a:off x="5599114" y="53340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Text Box 19"/>
          <p:cNvSpPr txBox="1">
            <a:spLocks noChangeArrowheads="1"/>
          </p:cNvSpPr>
          <p:nvPr/>
        </p:nvSpPr>
        <p:spPr bwMode="auto">
          <a:xfrm>
            <a:off x="4684714" y="5257800"/>
            <a:ext cx="76200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–2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24602" name="Oval 20"/>
          <p:cNvSpPr>
            <a:spLocks noChangeArrowheads="1"/>
          </p:cNvSpPr>
          <p:nvPr/>
        </p:nvSpPr>
        <p:spPr bwMode="auto">
          <a:xfrm>
            <a:off x="7427914" y="4724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4603" name="Oval 21"/>
          <p:cNvSpPr>
            <a:spLocks noChangeArrowheads="1"/>
          </p:cNvSpPr>
          <p:nvPr/>
        </p:nvSpPr>
        <p:spPr bwMode="auto">
          <a:xfrm>
            <a:off x="7427914" y="3200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4604" name="Oval 22"/>
          <p:cNvSpPr>
            <a:spLocks noChangeArrowheads="1"/>
          </p:cNvSpPr>
          <p:nvPr/>
        </p:nvSpPr>
        <p:spPr bwMode="auto">
          <a:xfrm>
            <a:off x="7427914" y="28956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4605" name="Oval 23"/>
          <p:cNvSpPr>
            <a:spLocks noChangeArrowheads="1"/>
          </p:cNvSpPr>
          <p:nvPr/>
        </p:nvSpPr>
        <p:spPr bwMode="auto">
          <a:xfrm>
            <a:off x="7427914" y="1676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4606" name="Oval 24"/>
          <p:cNvSpPr>
            <a:spLocks noChangeArrowheads="1"/>
          </p:cNvSpPr>
          <p:nvPr/>
        </p:nvSpPr>
        <p:spPr bwMode="auto">
          <a:xfrm>
            <a:off x="7427914" y="19812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4607" name="Freeform 25"/>
          <p:cNvSpPr/>
          <p:nvPr/>
        </p:nvSpPr>
        <p:spPr bwMode="auto">
          <a:xfrm>
            <a:off x="5751514" y="1752600"/>
            <a:ext cx="1676400" cy="3352800"/>
          </a:xfrm>
          <a:custGeom>
            <a:avLst/>
            <a:gdLst>
              <a:gd name="T0" fmla="*/ 0 w 1056"/>
              <a:gd name="T1" fmla="*/ 2112 h 2112"/>
              <a:gd name="T2" fmla="*/ 144 w 1056"/>
              <a:gd name="T3" fmla="*/ 2112 h 2112"/>
              <a:gd name="T4" fmla="*/ 912 w 1056"/>
              <a:gd name="T5" fmla="*/ 0 h 2112"/>
              <a:gd name="T6" fmla="*/ 1056 w 1056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2112"/>
              <a:gd name="T14" fmla="*/ 1056 w 1056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2112">
                <a:moveTo>
                  <a:pt x="0" y="2112"/>
                </a:moveTo>
                <a:lnTo>
                  <a:pt x="144" y="2112"/>
                </a:lnTo>
                <a:lnTo>
                  <a:pt x="912" y="0"/>
                </a:lnTo>
                <a:lnTo>
                  <a:pt x="1056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8" name="Freeform 26"/>
          <p:cNvSpPr/>
          <p:nvPr/>
        </p:nvSpPr>
        <p:spPr bwMode="auto">
          <a:xfrm>
            <a:off x="5751514" y="2057400"/>
            <a:ext cx="1676400" cy="3352800"/>
          </a:xfrm>
          <a:custGeom>
            <a:avLst/>
            <a:gdLst>
              <a:gd name="T0" fmla="*/ 0 w 1056"/>
              <a:gd name="T1" fmla="*/ 2112 h 2112"/>
              <a:gd name="T2" fmla="*/ 144 w 1056"/>
              <a:gd name="T3" fmla="*/ 2112 h 2112"/>
              <a:gd name="T4" fmla="*/ 912 w 1056"/>
              <a:gd name="T5" fmla="*/ 0 h 2112"/>
              <a:gd name="T6" fmla="*/ 1056 w 1056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2112"/>
              <a:gd name="T14" fmla="*/ 1056 w 1056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2112">
                <a:moveTo>
                  <a:pt x="0" y="2112"/>
                </a:moveTo>
                <a:lnTo>
                  <a:pt x="144" y="2112"/>
                </a:lnTo>
                <a:lnTo>
                  <a:pt x="912" y="0"/>
                </a:lnTo>
                <a:lnTo>
                  <a:pt x="1056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9" name="Freeform 27"/>
          <p:cNvSpPr/>
          <p:nvPr/>
        </p:nvSpPr>
        <p:spPr bwMode="auto">
          <a:xfrm>
            <a:off x="5751514" y="2971800"/>
            <a:ext cx="1676400" cy="3352800"/>
          </a:xfrm>
          <a:custGeom>
            <a:avLst/>
            <a:gdLst>
              <a:gd name="T0" fmla="*/ 0 w 1056"/>
              <a:gd name="T1" fmla="*/ 2112 h 2112"/>
              <a:gd name="T2" fmla="*/ 144 w 1056"/>
              <a:gd name="T3" fmla="*/ 2112 h 2112"/>
              <a:gd name="T4" fmla="*/ 912 w 1056"/>
              <a:gd name="T5" fmla="*/ 0 h 2112"/>
              <a:gd name="T6" fmla="*/ 1056 w 1056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2112"/>
              <a:gd name="T14" fmla="*/ 1056 w 1056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2112">
                <a:moveTo>
                  <a:pt x="0" y="2112"/>
                </a:moveTo>
                <a:lnTo>
                  <a:pt x="144" y="2112"/>
                </a:lnTo>
                <a:lnTo>
                  <a:pt x="912" y="0"/>
                </a:lnTo>
                <a:lnTo>
                  <a:pt x="1056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10" name="Text Box 28"/>
          <p:cNvSpPr txBox="1">
            <a:spLocks noChangeArrowheads="1"/>
          </p:cNvSpPr>
          <p:nvPr/>
        </p:nvSpPr>
        <p:spPr bwMode="auto">
          <a:xfrm>
            <a:off x="7732714" y="4648200"/>
            <a:ext cx="76200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0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24611" name="Text Box 29"/>
          <p:cNvSpPr txBox="1">
            <a:spLocks noChangeArrowheads="1"/>
          </p:cNvSpPr>
          <p:nvPr/>
        </p:nvSpPr>
        <p:spPr bwMode="auto">
          <a:xfrm>
            <a:off x="7656514" y="1524000"/>
            <a:ext cx="114300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i="1" dirty="0" err="1">
                <a:latin typeface="Calibri" pitchFamily="34" charset="0"/>
              </a:rPr>
              <a:t>UMax</a:t>
            </a:r>
            <a:endParaRPr lang="en-US" sz="2000" b="0" i="1" dirty="0" err="1">
              <a:latin typeface="Calibri" pitchFamily="34" charset="0"/>
            </a:endParaRPr>
          </a:p>
        </p:txBody>
      </p:sp>
      <p:sp>
        <p:nvSpPr>
          <p:cNvPr id="24612" name="Text Box 30"/>
          <p:cNvSpPr txBox="1">
            <a:spLocks noChangeArrowheads="1"/>
          </p:cNvSpPr>
          <p:nvPr/>
        </p:nvSpPr>
        <p:spPr bwMode="auto">
          <a:xfrm>
            <a:off x="7656514" y="1828800"/>
            <a:ext cx="144780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i="1" dirty="0" err="1">
                <a:latin typeface="Calibri" pitchFamily="34" charset="0"/>
              </a:rPr>
              <a:t>UMax</a:t>
            </a:r>
            <a:r>
              <a:rPr lang="en-US" sz="2000" b="0" dirty="0">
                <a:latin typeface="Calibri" pitchFamily="34" charset="0"/>
              </a:rPr>
              <a:t> – 1</a:t>
            </a:r>
            <a:endParaRPr lang="en-US" sz="2000" b="0" i="1" dirty="0">
              <a:latin typeface="Calibri" pitchFamily="34" charset="0"/>
            </a:endParaRPr>
          </a:p>
        </p:txBody>
      </p:sp>
      <p:sp>
        <p:nvSpPr>
          <p:cNvPr id="24613" name="Text Box 31"/>
          <p:cNvSpPr txBox="1">
            <a:spLocks noChangeArrowheads="1"/>
          </p:cNvSpPr>
          <p:nvPr/>
        </p:nvSpPr>
        <p:spPr bwMode="auto">
          <a:xfrm>
            <a:off x="7732714" y="3124200"/>
            <a:ext cx="80391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i="1" dirty="0" err="1">
                <a:latin typeface="Calibri" pitchFamily="34" charset="0"/>
              </a:rPr>
              <a:t>TMax</a:t>
            </a:r>
            <a:endParaRPr lang="en-US" sz="2000" b="0" i="1" dirty="0" err="1">
              <a:latin typeface="Calibri" pitchFamily="34" charset="0"/>
            </a:endParaRPr>
          </a:p>
        </p:txBody>
      </p:sp>
      <p:sp>
        <p:nvSpPr>
          <p:cNvPr id="24614" name="Text Box 32"/>
          <p:cNvSpPr txBox="1">
            <a:spLocks noChangeArrowheads="1"/>
          </p:cNvSpPr>
          <p:nvPr/>
        </p:nvSpPr>
        <p:spPr bwMode="auto">
          <a:xfrm>
            <a:off x="7732714" y="2819400"/>
            <a:ext cx="130873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i="1" dirty="0" err="1">
                <a:latin typeface="Calibri" pitchFamily="34" charset="0"/>
              </a:rPr>
              <a:t>TMax</a:t>
            </a:r>
            <a:r>
              <a:rPr lang="en-US" sz="2000" b="0" i="1" dirty="0">
                <a:latin typeface="Calibri" pitchFamily="34" charset="0"/>
              </a:rPr>
              <a:t>  </a:t>
            </a:r>
            <a:r>
              <a:rPr lang="en-US" sz="2000" b="0" dirty="0">
                <a:latin typeface="Calibri" pitchFamily="34" charset="0"/>
              </a:rPr>
              <a:t>+ 1</a:t>
            </a:r>
            <a:endParaRPr lang="en-US" sz="2000" b="0" i="1" dirty="0">
              <a:latin typeface="Calibri" pitchFamily="34" charset="0"/>
            </a:endParaRPr>
          </a:p>
        </p:txBody>
      </p:sp>
      <p:sp>
        <p:nvSpPr>
          <p:cNvPr id="24586" name="Rectangle 33"/>
          <p:cNvSpPr>
            <a:spLocks noChangeArrowheads="1"/>
          </p:cNvSpPr>
          <p:nvPr/>
        </p:nvSpPr>
        <p:spPr bwMode="auto">
          <a:xfrm>
            <a:off x="2209801" y="4549775"/>
            <a:ext cx="2133600" cy="70675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2’s Complement Range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24587" name="Freeform 34"/>
          <p:cNvSpPr/>
          <p:nvPr/>
        </p:nvSpPr>
        <p:spPr bwMode="auto">
          <a:xfrm>
            <a:off x="4495801" y="3200400"/>
            <a:ext cx="152400" cy="3352800"/>
          </a:xfrm>
          <a:custGeom>
            <a:avLst/>
            <a:gdLst>
              <a:gd name="T0" fmla="*/ 96 w 144"/>
              <a:gd name="T1" fmla="*/ 2160 h 2160"/>
              <a:gd name="T2" fmla="*/ 0 w 144"/>
              <a:gd name="T3" fmla="*/ 2160 h 2160"/>
              <a:gd name="T4" fmla="*/ 0 w 144"/>
              <a:gd name="T5" fmla="*/ 0 h 2160"/>
              <a:gd name="T6" fmla="*/ 144 w 144"/>
              <a:gd name="T7" fmla="*/ 0 h 2160"/>
              <a:gd name="T8" fmla="*/ 0 60000 65536"/>
              <a:gd name="T9" fmla="*/ 0 60000 65536"/>
              <a:gd name="T10" fmla="*/ 0 60000 65536"/>
              <a:gd name="T11" fmla="*/ 0 60000 65536"/>
              <a:gd name="T12" fmla="*/ 0 w 144"/>
              <a:gd name="T13" fmla="*/ 0 h 2160"/>
              <a:gd name="T14" fmla="*/ 144 w 144"/>
              <a:gd name="T15" fmla="*/ 2160 h 2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4" h="2160">
                <a:moveTo>
                  <a:pt x="96" y="2160"/>
                </a:moveTo>
                <a:lnTo>
                  <a:pt x="0" y="2160"/>
                </a:lnTo>
                <a:lnTo>
                  <a:pt x="0" y="0"/>
                </a:lnTo>
                <a:lnTo>
                  <a:pt x="144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Freeform 35"/>
          <p:cNvSpPr/>
          <p:nvPr/>
        </p:nvSpPr>
        <p:spPr bwMode="auto">
          <a:xfrm flipH="1">
            <a:off x="9088439" y="1600200"/>
            <a:ext cx="152400" cy="3352800"/>
          </a:xfrm>
          <a:custGeom>
            <a:avLst/>
            <a:gdLst>
              <a:gd name="T0" fmla="*/ 96 w 144"/>
              <a:gd name="T1" fmla="*/ 2160 h 2160"/>
              <a:gd name="T2" fmla="*/ 0 w 144"/>
              <a:gd name="T3" fmla="*/ 2160 h 2160"/>
              <a:gd name="T4" fmla="*/ 0 w 144"/>
              <a:gd name="T5" fmla="*/ 0 h 2160"/>
              <a:gd name="T6" fmla="*/ 144 w 144"/>
              <a:gd name="T7" fmla="*/ 0 h 2160"/>
              <a:gd name="T8" fmla="*/ 0 60000 65536"/>
              <a:gd name="T9" fmla="*/ 0 60000 65536"/>
              <a:gd name="T10" fmla="*/ 0 60000 65536"/>
              <a:gd name="T11" fmla="*/ 0 60000 65536"/>
              <a:gd name="T12" fmla="*/ 0 w 144"/>
              <a:gd name="T13" fmla="*/ 0 h 2160"/>
              <a:gd name="T14" fmla="*/ 144 w 144"/>
              <a:gd name="T15" fmla="*/ 2160 h 2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4" h="2160">
                <a:moveTo>
                  <a:pt x="96" y="2160"/>
                </a:moveTo>
                <a:lnTo>
                  <a:pt x="0" y="2160"/>
                </a:lnTo>
                <a:lnTo>
                  <a:pt x="0" y="0"/>
                </a:lnTo>
                <a:lnTo>
                  <a:pt x="144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4589" name="Rectangle 36"/>
          <p:cNvSpPr>
            <a:spLocks noChangeArrowheads="1"/>
          </p:cNvSpPr>
          <p:nvPr/>
        </p:nvSpPr>
        <p:spPr bwMode="auto">
          <a:xfrm>
            <a:off x="9277352" y="2895600"/>
            <a:ext cx="1264920" cy="70675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Unsigned</a:t>
            </a:r>
            <a:endParaRPr lang="en-US" sz="2000" b="0" dirty="0">
              <a:latin typeface="Calibri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Range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123941" name="Rectangle 37"/>
          <p:cNvSpPr>
            <a:spLocks noGrp="1" noChangeArrowheads="1"/>
          </p:cNvSpPr>
          <p:nvPr>
            <p:ph type="title"/>
          </p:nvPr>
        </p:nvSpPr>
        <p:spPr>
          <a:xfrm>
            <a:off x="1794412" y="533400"/>
            <a:ext cx="79454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Conversion Visualized</a:t>
            </a:r>
            <a:endParaRPr lang="en-US" dirty="0"/>
          </a:p>
        </p:txBody>
      </p:sp>
      <p:sp>
        <p:nvSpPr>
          <p:cNvPr id="123942" name="Rectangle 38"/>
          <p:cNvSpPr>
            <a:spLocks noGrp="1" noChangeArrowheads="1"/>
          </p:cNvSpPr>
          <p:nvPr>
            <p:ph type="body" idx="1"/>
          </p:nvPr>
        </p:nvSpPr>
        <p:spPr>
          <a:xfrm>
            <a:off x="1814513" y="1220788"/>
            <a:ext cx="4159250" cy="1716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2’s Comp. </a:t>
            </a:r>
            <a:r>
              <a:rPr lang="en-US">
                <a:sym typeface="Symbol" pitchFamily="18" charset="2"/>
              </a:rPr>
              <a:t></a:t>
            </a:r>
            <a:r>
              <a:rPr lang="en-US"/>
              <a:t> Unsigned</a:t>
            </a:r>
            <a:endParaRPr lang="en-US"/>
          </a:p>
          <a:p>
            <a:pPr lvl="1" eaLnBrk="1" hangingPunct="1">
              <a:defRPr/>
            </a:pPr>
            <a:r>
              <a:rPr lang="en-US"/>
              <a:t>Ordering Inversion</a:t>
            </a:r>
            <a:endParaRPr lang="en-US"/>
          </a:p>
          <a:p>
            <a:pPr lvl="1" eaLnBrk="1" hangingPunct="1">
              <a:defRPr/>
            </a:pPr>
            <a:r>
              <a:rPr lang="en-US"/>
              <a:t>Negative </a:t>
            </a:r>
            <a:r>
              <a:rPr lang="en-US">
                <a:sym typeface="Symbol" pitchFamily="18" charset="2"/>
              </a:rPr>
              <a:t></a:t>
            </a:r>
            <a:r>
              <a:rPr lang="en-US"/>
              <a:t> Big Positive</a:t>
            </a:r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6119495" y="5614035"/>
            <a:ext cx="457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/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signed</a:t>
            </a:r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为正时相等</a:t>
            </a:r>
            <a:endParaRPr lang="zh-CN" altLang="en-US" sz="2000" b="0" dirty="0">
              <a:solidFill>
                <a:srgbClr val="00B050"/>
              </a:solidFill>
              <a:latin typeface="Calibri" pitchFamily="34" charset="0"/>
              <a:ea typeface="SimSun" charset="0"/>
            </a:endParaRPr>
          </a:p>
          <a:p>
            <a:pPr indent="457200"/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signed</a:t>
            </a:r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为负时相差</a:t>
            </a:r>
            <a:r>
              <a:rPr lang="en-US" altLang="zh-CN" sz="2000" b="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2</a:t>
            </a:r>
            <a:r>
              <a:rPr lang="en-US" altLang="zh-CN" sz="2000" b="0" baseline="30000" dirty="0">
                <a:solidFill>
                  <a:srgbClr val="00B050"/>
                </a:solidFill>
                <a:latin typeface="Calibri" pitchFamily="34" charset="0"/>
                <a:ea typeface="SimSun" charset="0"/>
                <a:sym typeface="+mn-ea"/>
              </a:rPr>
              <a:t>w</a:t>
            </a:r>
            <a:endParaRPr lang="en-US" altLang="zh-CN" sz="2000" b="0" baseline="30000" dirty="0" smtClean="0">
              <a:solidFill>
                <a:srgbClr val="00B050"/>
              </a:solidFill>
              <a:latin typeface="Calibri" pitchFamily="34" charset="0"/>
              <a:ea typeface="SimSun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0" grpId="0" bldLvl="0" animBg="1"/>
      <p:bldP spid="24592" grpId="0" bldLvl="0" animBg="1"/>
      <p:bldP spid="24593" grpId="0" bldLvl="0" animBg="1"/>
      <p:bldP spid="24595" grpId="0" bldLvl="0" animBg="1"/>
      <p:bldP spid="24596" grpId="0" bldLvl="0" animBg="1"/>
      <p:bldP spid="24598" grpId="0" bldLvl="0" animBg="1"/>
      <p:bldP spid="24600" grpId="0" bldLvl="0" animBg="1"/>
      <p:bldP spid="24602" grpId="0" bldLvl="0" animBg="1"/>
      <p:bldP spid="24603" grpId="0" bldLvl="0" animBg="1"/>
      <p:bldP spid="24604" grpId="0" bldLvl="0" animBg="1"/>
      <p:bldP spid="24605" grpId="0" bldLvl="0" animBg="1"/>
      <p:bldP spid="24606" grpId="0" bldLvl="0" animBg="1"/>
      <p:bldP spid="24607" grpId="0" bldLvl="0" animBg="1"/>
      <p:bldP spid="24608" grpId="0" bldLvl="0" animBg="1"/>
      <p:bldP spid="24609" grpId="0" bldLvl="0" animBg="1"/>
      <p:bldP spid="24587" grpId="0" bldLvl="0" animBg="1"/>
      <p:bldP spid="2458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01813" y="457200"/>
            <a:ext cx="8866187" cy="555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相反数的编码</a:t>
            </a:r>
            <a:r>
              <a:rPr lang="en-US" dirty="0"/>
              <a:t>: </a:t>
            </a:r>
            <a:r>
              <a:rPr lang="zh-CN" altLang="en-US" dirty="0"/>
              <a:t>按位取反，再加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2450" y="1143000"/>
            <a:ext cx="9629140" cy="5224780"/>
          </a:xfrm>
        </p:spPr>
        <p:txBody>
          <a:bodyPr lIns="90487" tIns="44450" rIns="90487" bIns="44450"/>
          <a:lstStyle/>
          <a:p>
            <a:pPr eaLnBrk="1" hangingPunct="1">
              <a:tabLst>
                <a:tab pos="3200400" algn="l"/>
                <a:tab pos="4114800" algn="l"/>
              </a:tabLst>
              <a:defRPr/>
            </a:pPr>
            <a:r>
              <a:rPr lang="zh-CN" altLang="en-US" dirty="0"/>
              <a:t>二进制补码满足如下规则</a:t>
            </a:r>
            <a:endParaRPr lang="en-US" dirty="0"/>
          </a:p>
          <a:p>
            <a:pPr lvl="1" eaLnBrk="1" hangingPunct="1">
              <a:buFont typeface="Wingdings" panose="05000000000000000000" pitchFamily="2" charset="2"/>
              <a:buNone/>
              <a:tabLst>
                <a:tab pos="3200400" algn="l"/>
                <a:tab pos="4114800" algn="l"/>
              </a:tabLst>
              <a:defRPr/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+mn-ea"/>
              </a:rPr>
              <a:t>-x ==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</a:rPr>
              <a:t>~x + 1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tabLst>
                <a:tab pos="3200400" algn="l"/>
                <a:tab pos="4114800" algn="l"/>
              </a:tabLst>
              <a:defRPr/>
            </a:pPr>
            <a:r>
              <a:rPr lang="zh-CN" altLang="en-US" dirty="0"/>
              <a:t>观察</a:t>
            </a:r>
            <a:r>
              <a:rPr lang="en-US" altLang="zh-CN" dirty="0"/>
              <a:t>（</a:t>
            </a:r>
            <a:r>
              <a:rPr lang="zh-CN" altLang="en-US" dirty="0"/>
              <a:t>完整的证明</a:t>
            </a:r>
            <a:r>
              <a:rPr lang="en-US" altLang="zh-CN" dirty="0"/>
              <a:t>？）</a:t>
            </a:r>
            <a:endParaRPr lang="en-US" dirty="0"/>
          </a:p>
          <a:p>
            <a:pPr lvl="1" eaLnBrk="1" hangingPunct="1">
              <a:tabLst>
                <a:tab pos="3200400" algn="l"/>
                <a:tab pos="4114800" algn="l"/>
              </a:tabLst>
              <a:defRPr/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</a:rPr>
              <a:t>~x + x == 1111…111 == -1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eaLnBrk="1" hangingPunct="1">
              <a:tabLst>
                <a:tab pos="3200400" algn="l"/>
                <a:tab pos="4114800" algn="l"/>
              </a:tabLst>
              <a:defRPr/>
            </a:pPr>
            <a:endParaRPr lang="en-US" dirty="0"/>
          </a:p>
          <a:p>
            <a:pPr eaLnBrk="1" hangingPunct="1">
              <a:tabLst>
                <a:tab pos="3200400" algn="l"/>
                <a:tab pos="4114800" algn="l"/>
              </a:tabLst>
              <a:defRPr/>
            </a:pPr>
            <a:endParaRPr lang="en-US" dirty="0"/>
          </a:p>
          <a:p>
            <a:pPr eaLnBrk="1" hangingPunct="1">
              <a:tabLst>
                <a:tab pos="3200400" algn="l"/>
                <a:tab pos="4114800" algn="l"/>
              </a:tabLst>
              <a:defRPr/>
            </a:pPr>
            <a:endParaRPr lang="en-US" dirty="0"/>
          </a:p>
          <a:p>
            <a:pPr eaLnBrk="1" hangingPunct="1">
              <a:tabLst>
                <a:tab pos="3200400" algn="l"/>
                <a:tab pos="4114800" algn="l"/>
              </a:tabLst>
              <a:defRPr/>
            </a:pPr>
            <a:endParaRPr lang="en-US" dirty="0"/>
          </a:p>
          <a:p>
            <a:pPr eaLnBrk="1" hangingPunct="1">
              <a:tabLst>
                <a:tab pos="3200400" algn="l"/>
                <a:tab pos="4114800" algn="l"/>
              </a:tabLst>
              <a:defRPr/>
            </a:pPr>
            <a:r>
              <a:rPr lang="zh-CN" altLang="en-US" dirty="0"/>
              <a:t>使用补码的优点</a:t>
            </a:r>
            <a:r>
              <a:rPr lang="en-US" altLang="zh-CN" dirty="0"/>
              <a:t>，</a:t>
            </a:r>
            <a:r>
              <a:rPr lang="zh-CN" altLang="en-US" dirty="0"/>
              <a:t>除了算术逻辑运算时无须单独处理符号位</a:t>
            </a:r>
            <a:r>
              <a:rPr lang="en-US" altLang="zh-CN" dirty="0"/>
              <a:t>，</a:t>
            </a:r>
            <a:r>
              <a:rPr lang="zh-CN" altLang="en-US" dirty="0"/>
              <a:t>还有</a:t>
            </a:r>
            <a:endParaRPr lang="en-US" dirty="0"/>
          </a:p>
          <a:p>
            <a:pPr lvl="1" eaLnBrk="1" hangingPunct="1">
              <a:tabLst>
                <a:tab pos="3200400" algn="l"/>
                <a:tab pos="4114800" algn="l"/>
              </a:tabLst>
              <a:defRPr/>
            </a:pPr>
            <a:r>
              <a:rPr lang="en-US" sz="2000" dirty="0">
                <a:cs typeface="+mn-ea"/>
              </a:rPr>
              <a:t>a-x == a+(-x)</a:t>
            </a:r>
            <a:endParaRPr lang="en-US" sz="2000" dirty="0">
              <a:cs typeface="+mn-ea"/>
            </a:endParaRPr>
          </a:p>
          <a:p>
            <a:pPr lvl="1" eaLnBrk="1" hangingPunct="1">
              <a:tabLst>
                <a:tab pos="3200400" algn="l"/>
                <a:tab pos="4114800" algn="l"/>
              </a:tabLst>
              <a:defRPr/>
            </a:pPr>
            <a:r>
              <a:rPr lang="zh-CN" altLang="en-US" sz="2000" dirty="0">
                <a:cs typeface="+mn-ea"/>
              </a:rPr>
              <a:t>减法运算等价于</a:t>
            </a:r>
            <a:r>
              <a:rPr lang="en-US" altLang="zh-CN" sz="2000" dirty="0">
                <a:cs typeface="+mn-ea"/>
              </a:rPr>
              <a:t>：</a:t>
            </a:r>
            <a:r>
              <a:rPr lang="zh-CN" altLang="en-US" sz="2000" dirty="0">
                <a:cs typeface="+mn-ea"/>
              </a:rPr>
              <a:t>加法运算</a:t>
            </a:r>
            <a:r>
              <a:rPr lang="en-US" altLang="zh-CN" sz="2000" dirty="0">
                <a:cs typeface="+mn-ea"/>
              </a:rPr>
              <a:t>、</a:t>
            </a:r>
            <a:r>
              <a:rPr lang="zh-CN" altLang="en-US" sz="2000" dirty="0">
                <a:cs typeface="+mn-ea"/>
              </a:rPr>
              <a:t>按位取反</a:t>
            </a:r>
            <a:r>
              <a:rPr lang="en-US" altLang="zh-CN" sz="2000" dirty="0">
                <a:cs typeface="+mn-ea"/>
              </a:rPr>
              <a:t>、</a:t>
            </a:r>
            <a:r>
              <a:rPr lang="zh-CN" altLang="en-US" sz="2000" dirty="0">
                <a:cs typeface="+mn-ea"/>
              </a:rPr>
              <a:t>加</a:t>
            </a:r>
            <a:r>
              <a:rPr lang="en-US" altLang="zh-CN" sz="2000" dirty="0">
                <a:cs typeface="+mn-ea"/>
              </a:rPr>
              <a:t>1</a:t>
            </a:r>
            <a:r>
              <a:rPr lang="zh-CN" altLang="en-US" sz="2000" dirty="0">
                <a:cs typeface="+mn-ea"/>
              </a:rPr>
              <a:t>运算</a:t>
            </a:r>
            <a:endParaRPr lang="zh-CN" altLang="en-US" sz="2000" dirty="0">
              <a:cs typeface="+mn-ea"/>
            </a:endParaRPr>
          </a:p>
          <a:p>
            <a:pPr lvl="1" eaLnBrk="1" hangingPunct="1">
              <a:tabLst>
                <a:tab pos="3200400" algn="l"/>
                <a:tab pos="4114800" algn="l"/>
              </a:tabLst>
              <a:defRPr/>
            </a:pPr>
            <a:r>
              <a:rPr lang="zh-CN" altLang="en-US" sz="2000" dirty="0">
                <a:cs typeface="+mn-ea"/>
              </a:rPr>
              <a:t>硬件上不需要专门的减法</a:t>
            </a:r>
            <a:r>
              <a:rPr lang="zh-CN" altLang="en-US" sz="2000" dirty="0">
                <a:cs typeface="+mn-ea"/>
              </a:rPr>
              <a:t>器</a:t>
            </a:r>
            <a:endParaRPr lang="zh-CN" altLang="en-US" sz="2000" dirty="0">
              <a:cs typeface="+mn-ea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3110547" y="2740026"/>
            <a:ext cx="2971800" cy="1603375"/>
            <a:chOff x="2160" y="1968"/>
            <a:chExt cx="1872" cy="1010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448" y="1968"/>
              <a:ext cx="1536" cy="290"/>
              <a:chOff x="2448" y="1968"/>
              <a:chExt cx="1536" cy="290"/>
            </a:xfrm>
          </p:grpSpPr>
          <p:sp>
            <p:nvSpPr>
              <p:cNvPr id="31777" name="Rectangle 6"/>
              <p:cNvSpPr>
                <a:spLocks noChangeArrowheads="1"/>
              </p:cNvSpPr>
              <p:nvPr/>
            </p:nvSpPr>
            <p:spPr bwMode="auto">
              <a:xfrm>
                <a:off x="2832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78" name="Rectangle 7"/>
              <p:cNvSpPr>
                <a:spLocks noChangeArrowheads="1"/>
              </p:cNvSpPr>
              <p:nvPr/>
            </p:nvSpPr>
            <p:spPr bwMode="auto">
              <a:xfrm>
                <a:off x="2976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0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79" name="Rectangle 8"/>
              <p:cNvSpPr>
                <a:spLocks noChangeArrowheads="1"/>
              </p:cNvSpPr>
              <p:nvPr/>
            </p:nvSpPr>
            <p:spPr bwMode="auto">
              <a:xfrm>
                <a:off x="3120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0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80" name="Rectangle 9"/>
              <p:cNvSpPr>
                <a:spLocks noChangeArrowheads="1"/>
              </p:cNvSpPr>
              <p:nvPr/>
            </p:nvSpPr>
            <p:spPr bwMode="auto">
              <a:xfrm>
                <a:off x="3552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81" name="Rectangle 10"/>
              <p:cNvSpPr>
                <a:spLocks noChangeArrowheads="1"/>
              </p:cNvSpPr>
              <p:nvPr/>
            </p:nvSpPr>
            <p:spPr bwMode="auto">
              <a:xfrm>
                <a:off x="3696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0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82" name="Rectangle 11"/>
              <p:cNvSpPr>
                <a:spLocks noChangeArrowheads="1"/>
              </p:cNvSpPr>
              <p:nvPr/>
            </p:nvSpPr>
            <p:spPr bwMode="auto">
              <a:xfrm>
                <a:off x="3840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83" name="Rectangle 12"/>
              <p:cNvSpPr>
                <a:spLocks noChangeArrowheads="1"/>
              </p:cNvSpPr>
              <p:nvPr/>
            </p:nvSpPr>
            <p:spPr bwMode="auto">
              <a:xfrm>
                <a:off x="3264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84" name="Rectangle 13"/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85" name="Rectangle 14"/>
              <p:cNvSpPr>
                <a:spLocks noChangeArrowheads="1"/>
              </p:cNvSpPr>
              <p:nvPr/>
            </p:nvSpPr>
            <p:spPr bwMode="auto">
              <a:xfrm>
                <a:off x="2448" y="1968"/>
                <a:ext cx="268" cy="290"/>
              </a:xfrm>
              <a:prstGeom prst="rect">
                <a:avLst/>
              </a:prstGeom>
              <a:noFill/>
              <a:ln w="254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b="0">
                    <a:latin typeface="Calibri" pitchFamily="34" charset="0"/>
                  </a:rPr>
                  <a:t> x</a:t>
                </a:r>
                <a:endParaRPr lang="en-US" sz="2400" b="0">
                  <a:latin typeface="Calibri" pitchFamily="34" charset="0"/>
                </a:endParaRPr>
              </a:p>
            </p:txBody>
          </p:sp>
        </p:grpSp>
        <p:grpSp>
          <p:nvGrpSpPr>
            <p:cNvPr id="4" name="Group 15"/>
            <p:cNvGrpSpPr/>
            <p:nvPr/>
          </p:nvGrpSpPr>
          <p:grpSpPr bwMode="auto">
            <a:xfrm>
              <a:off x="2448" y="2304"/>
              <a:ext cx="1536" cy="290"/>
              <a:chOff x="2448" y="2448"/>
              <a:chExt cx="1536" cy="290"/>
            </a:xfrm>
          </p:grpSpPr>
          <p:sp>
            <p:nvSpPr>
              <p:cNvPr id="31768" name="Rectangle 16"/>
              <p:cNvSpPr>
                <a:spLocks noChangeArrowheads="1"/>
              </p:cNvSpPr>
              <p:nvPr/>
            </p:nvSpPr>
            <p:spPr bwMode="auto">
              <a:xfrm>
                <a:off x="2832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0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69" name="Rectangle 17"/>
              <p:cNvSpPr>
                <a:spLocks noChangeArrowheads="1"/>
              </p:cNvSpPr>
              <p:nvPr/>
            </p:nvSpPr>
            <p:spPr bwMode="auto">
              <a:xfrm>
                <a:off x="2976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70" name="Rectangle 18"/>
              <p:cNvSpPr>
                <a:spLocks noChangeArrowheads="1"/>
              </p:cNvSpPr>
              <p:nvPr/>
            </p:nvSpPr>
            <p:spPr bwMode="auto">
              <a:xfrm>
                <a:off x="3120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71" name="Rectangle 19"/>
              <p:cNvSpPr>
                <a:spLocks noChangeArrowheads="1"/>
              </p:cNvSpPr>
              <p:nvPr/>
            </p:nvSpPr>
            <p:spPr bwMode="auto">
              <a:xfrm>
                <a:off x="3552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0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72" name="Rectangle 20"/>
              <p:cNvSpPr>
                <a:spLocks noChangeArrowheads="1"/>
              </p:cNvSpPr>
              <p:nvPr/>
            </p:nvSpPr>
            <p:spPr bwMode="auto">
              <a:xfrm>
                <a:off x="3696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73" name="Rectangle 21"/>
              <p:cNvSpPr>
                <a:spLocks noChangeArrowheads="1"/>
              </p:cNvSpPr>
              <p:nvPr/>
            </p:nvSpPr>
            <p:spPr bwMode="auto">
              <a:xfrm>
                <a:off x="3840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0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74" name="Rectangle 22"/>
              <p:cNvSpPr>
                <a:spLocks noChangeArrowheads="1"/>
              </p:cNvSpPr>
              <p:nvPr/>
            </p:nvSpPr>
            <p:spPr bwMode="auto">
              <a:xfrm>
                <a:off x="3264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0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75" name="Rectangle 23"/>
              <p:cNvSpPr>
                <a:spLocks noChangeArrowheads="1"/>
              </p:cNvSpPr>
              <p:nvPr/>
            </p:nvSpPr>
            <p:spPr bwMode="auto">
              <a:xfrm>
                <a:off x="3408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0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76" name="Rectangle 24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330" cy="290"/>
              </a:xfrm>
              <a:prstGeom prst="rect">
                <a:avLst/>
              </a:prstGeom>
              <a:noFill/>
              <a:ln w="254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b="0">
                    <a:latin typeface="Calibri" pitchFamily="34" charset="0"/>
                  </a:rPr>
                  <a:t>~x</a:t>
                </a:r>
                <a:endParaRPr lang="en-US" sz="2400" b="0">
                  <a:latin typeface="Calibri" pitchFamily="34" charset="0"/>
                </a:endParaRPr>
              </a:p>
            </p:txBody>
          </p:sp>
        </p:grpSp>
        <p:sp>
          <p:nvSpPr>
            <p:cNvPr id="31756" name="Rectangle 25"/>
            <p:cNvSpPr>
              <a:spLocks noChangeArrowheads="1"/>
            </p:cNvSpPr>
            <p:nvPr/>
          </p:nvSpPr>
          <p:spPr bwMode="auto">
            <a:xfrm>
              <a:off x="2160" y="2304"/>
              <a:ext cx="230" cy="29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>
                  <a:latin typeface="Calibri" pitchFamily="34" charset="0"/>
                </a:rPr>
                <a:t>+</a:t>
              </a:r>
              <a:endParaRPr lang="en-US" sz="2400" b="0">
                <a:latin typeface="Calibri" pitchFamily="34" charset="0"/>
              </a:endParaRPr>
            </a:p>
          </p:txBody>
        </p:sp>
        <p:sp>
          <p:nvSpPr>
            <p:cNvPr id="31757" name="Line 26"/>
            <p:cNvSpPr>
              <a:spLocks noChangeShapeType="1"/>
            </p:cNvSpPr>
            <p:nvPr/>
          </p:nvSpPr>
          <p:spPr bwMode="auto">
            <a:xfrm>
              <a:off x="2208" y="2640"/>
              <a:ext cx="1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Calibri" pitchFamily="34" charset="0"/>
              </a:endParaRPr>
            </a:p>
          </p:txBody>
        </p:sp>
        <p:grpSp>
          <p:nvGrpSpPr>
            <p:cNvPr id="5" name="Group 27"/>
            <p:cNvGrpSpPr/>
            <p:nvPr/>
          </p:nvGrpSpPr>
          <p:grpSpPr bwMode="auto">
            <a:xfrm>
              <a:off x="2448" y="2688"/>
              <a:ext cx="1536" cy="290"/>
              <a:chOff x="2448" y="1968"/>
              <a:chExt cx="1536" cy="290"/>
            </a:xfrm>
          </p:grpSpPr>
          <p:sp>
            <p:nvSpPr>
              <p:cNvPr id="31759" name="Rectangle 28"/>
              <p:cNvSpPr>
                <a:spLocks noChangeArrowheads="1"/>
              </p:cNvSpPr>
              <p:nvPr/>
            </p:nvSpPr>
            <p:spPr bwMode="auto">
              <a:xfrm>
                <a:off x="2832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60" name="Rectangle 29"/>
              <p:cNvSpPr>
                <a:spLocks noChangeArrowheads="1"/>
              </p:cNvSpPr>
              <p:nvPr/>
            </p:nvSpPr>
            <p:spPr bwMode="auto">
              <a:xfrm>
                <a:off x="2976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61" name="Rectangle 30"/>
              <p:cNvSpPr>
                <a:spLocks noChangeArrowheads="1"/>
              </p:cNvSpPr>
              <p:nvPr/>
            </p:nvSpPr>
            <p:spPr bwMode="auto">
              <a:xfrm>
                <a:off x="3120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62" name="Rectangle 31"/>
              <p:cNvSpPr>
                <a:spLocks noChangeArrowheads="1"/>
              </p:cNvSpPr>
              <p:nvPr/>
            </p:nvSpPr>
            <p:spPr bwMode="auto">
              <a:xfrm>
                <a:off x="3552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 dirty="0">
                    <a:latin typeface="Calibri" pitchFamily="34" charset="0"/>
                  </a:rPr>
                  <a:t>1</a:t>
                </a:r>
                <a:endParaRPr lang="en-US" b="0" dirty="0">
                  <a:latin typeface="Calibri" pitchFamily="34" charset="0"/>
                </a:endParaRPr>
              </a:p>
            </p:txBody>
          </p:sp>
          <p:sp>
            <p:nvSpPr>
              <p:cNvPr id="31763" name="Rectangle 32"/>
              <p:cNvSpPr>
                <a:spLocks noChangeArrowheads="1"/>
              </p:cNvSpPr>
              <p:nvPr/>
            </p:nvSpPr>
            <p:spPr bwMode="auto">
              <a:xfrm>
                <a:off x="3696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64" name="Rectangle 33"/>
              <p:cNvSpPr>
                <a:spLocks noChangeArrowheads="1"/>
              </p:cNvSpPr>
              <p:nvPr/>
            </p:nvSpPr>
            <p:spPr bwMode="auto">
              <a:xfrm>
                <a:off x="3840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 dirty="0">
                    <a:latin typeface="Calibri" pitchFamily="34" charset="0"/>
                  </a:rPr>
                  <a:t>1</a:t>
                </a:r>
                <a:endParaRPr lang="en-US" b="0" dirty="0">
                  <a:latin typeface="Calibri" pitchFamily="34" charset="0"/>
                </a:endParaRPr>
              </a:p>
            </p:txBody>
          </p:sp>
          <p:sp>
            <p:nvSpPr>
              <p:cNvPr id="31765" name="Rectangle 34"/>
              <p:cNvSpPr>
                <a:spLocks noChangeArrowheads="1"/>
              </p:cNvSpPr>
              <p:nvPr/>
            </p:nvSpPr>
            <p:spPr bwMode="auto">
              <a:xfrm>
                <a:off x="3264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66" name="Rectangle 35"/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>
                    <a:latin typeface="Calibri" pitchFamily="34" charset="0"/>
                  </a:rPr>
                  <a:t>1</a:t>
                </a:r>
                <a:endParaRPr lang="en-US" b="0">
                  <a:latin typeface="Calibri" pitchFamily="34" charset="0"/>
                </a:endParaRPr>
              </a:p>
            </p:txBody>
          </p:sp>
          <p:sp>
            <p:nvSpPr>
              <p:cNvPr id="31767" name="Rectangle 36"/>
              <p:cNvSpPr>
                <a:spLocks noChangeArrowheads="1"/>
              </p:cNvSpPr>
              <p:nvPr/>
            </p:nvSpPr>
            <p:spPr bwMode="auto">
              <a:xfrm>
                <a:off x="2448" y="1968"/>
                <a:ext cx="297" cy="290"/>
              </a:xfrm>
              <a:prstGeom prst="rect">
                <a:avLst/>
              </a:prstGeom>
              <a:noFill/>
              <a:ln w="254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b="0">
                    <a:latin typeface="Calibri" pitchFamily="34" charset="0"/>
                  </a:rPr>
                  <a:t>-1</a:t>
                </a:r>
                <a:endParaRPr lang="en-US" sz="2400" b="0">
                  <a:latin typeface="Calibri" pitchFamily="34" charset="0"/>
                </a:endParaRPr>
              </a:p>
            </p:txBody>
          </p:sp>
        </p:grpSp>
      </p:grp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6477000" y="1752600"/>
            <a:ext cx="5410200" cy="645160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x =      15213: 00111011 01101101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y =     -15213: 11000100 10010011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7323138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C</a:t>
            </a:r>
            <a:r>
              <a:rPr lang="zh-CN" altLang="en-US"/>
              <a:t>语言中的</a:t>
            </a:r>
            <a:r>
              <a:rPr lang="en-US"/>
              <a:t>Signed vs. Unsigned </a:t>
            </a:r>
            <a:endParaRPr lang="en-US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6865" y="1221105"/>
            <a:ext cx="9081135" cy="5224145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zh-CN" altLang="en-US" dirty="0"/>
              <a:t>常量</a:t>
            </a:r>
            <a:endParaRPr lang="en-US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00B050"/>
                </a:solidFill>
              </a:rPr>
              <a:t>默认是</a:t>
            </a:r>
            <a:r>
              <a:rPr lang="en-US" altLang="zh-CN" dirty="0">
                <a:solidFill>
                  <a:srgbClr val="00B050"/>
                </a:solidFill>
              </a:rPr>
              <a:t>signed</a:t>
            </a:r>
            <a:r>
              <a:rPr lang="zh-CN" altLang="en-US" dirty="0">
                <a:solidFill>
                  <a:srgbClr val="00B050"/>
                </a:solidFill>
              </a:rPr>
              <a:t>类型</a:t>
            </a:r>
            <a:r>
              <a:rPr lang="en-US" altLang="zh-CN" dirty="0">
                <a:solidFill>
                  <a:srgbClr val="00B050"/>
                </a:solidFill>
              </a:rPr>
              <a:t>（</a:t>
            </a:r>
            <a:r>
              <a:rPr lang="zh-CN" altLang="en-US" dirty="0">
                <a:solidFill>
                  <a:srgbClr val="00B050"/>
                </a:solidFill>
              </a:rPr>
              <a:t>补码表示</a:t>
            </a:r>
            <a:r>
              <a:rPr lang="en-US" altLang="zh-CN" dirty="0">
                <a:solidFill>
                  <a:srgbClr val="00B050"/>
                </a:solidFill>
              </a:rPr>
              <a:t>）</a:t>
            </a:r>
            <a:endParaRPr lang="en-US" dirty="0">
              <a:solidFill>
                <a:srgbClr val="00B050"/>
              </a:solidFill>
            </a:endParaRPr>
          </a:p>
          <a:p>
            <a:pPr lvl="1" eaLnBrk="1" hangingPunct="1">
              <a:defRPr/>
            </a:pPr>
            <a:r>
              <a:rPr lang="zh-CN" altLang="en-US" dirty="0"/>
              <a:t>如果使用后缀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“U”，</a:t>
            </a:r>
            <a:r>
              <a:rPr lang="zh-CN" altLang="en-US" dirty="0">
                <a:solidFill>
                  <a:schemeClr val="tx1"/>
                </a:solidFill>
              </a:rPr>
              <a:t>则是</a:t>
            </a:r>
            <a:r>
              <a:rPr lang="en-US" altLang="zh-CN" dirty="0">
                <a:solidFill>
                  <a:schemeClr val="tx1"/>
                </a:solidFill>
              </a:rPr>
              <a:t>unsigned</a:t>
            </a:r>
            <a:r>
              <a:rPr lang="zh-CN" altLang="en-US" dirty="0">
                <a:solidFill>
                  <a:schemeClr val="tx1"/>
                </a:solidFill>
              </a:rPr>
              <a:t>类型</a:t>
            </a:r>
            <a:endParaRPr lang="en-US" dirty="0">
              <a:solidFill>
                <a:srgbClr val="00B050"/>
              </a:solidFill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b="1" dirty="0">
                <a:latin typeface="Courier New" panose="02070609020205020404" pitchFamily="49" charset="0"/>
              </a:rPr>
              <a:t>0U, 4294967259U</a:t>
            </a:r>
            <a:endParaRPr lang="en-US" b="1" dirty="0">
              <a:latin typeface="Courier New" panose="02070609020205020404" pitchFamily="49" charset="0"/>
            </a:endParaRPr>
          </a:p>
          <a:p>
            <a:pPr eaLnBrk="1" hangingPunct="1">
              <a:defRPr/>
            </a:pPr>
            <a:r>
              <a:rPr lang="zh-CN" altLang="en-US" dirty="0"/>
              <a:t>类型转换</a:t>
            </a:r>
            <a:r>
              <a:rPr lang="en-US" dirty="0"/>
              <a:t>-&gt; </a:t>
            </a:r>
            <a:r>
              <a:rPr lang="zh-CN" altLang="en-US" dirty="0"/>
              <a:t>不改变二进制表示，只是重新解释（解码）</a:t>
            </a:r>
            <a:endParaRPr lang="en-US" dirty="0"/>
          </a:p>
          <a:p>
            <a:pPr lvl="1" eaLnBrk="1" hangingPunct="1">
              <a:defRPr/>
            </a:pPr>
            <a:r>
              <a:rPr lang="en-US" b="1" dirty="0">
                <a:solidFill>
                  <a:srgbClr val="00B050"/>
                </a:solidFill>
              </a:rPr>
              <a:t>Explicit </a:t>
            </a:r>
            <a:r>
              <a:rPr lang="zh-CN" altLang="en-US" b="1" dirty="0">
                <a:solidFill>
                  <a:srgbClr val="00B050"/>
                </a:solidFill>
              </a:rPr>
              <a:t>类型转换</a:t>
            </a:r>
            <a:endParaRPr lang="en-US" dirty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 err="1">
                <a:latin typeface="Courier New" panose="02070609020205020404" pitchFamily="49" charset="0"/>
              </a:rPr>
              <a:t>int</a:t>
            </a:r>
            <a:r>
              <a:rPr lang="en-US" sz="1800" b="1" dirty="0">
                <a:latin typeface="Courier New" panose="02070609020205020404" pitchFamily="49" charset="0"/>
              </a:rPr>
              <a:t> </a:t>
            </a:r>
            <a:r>
              <a:rPr lang="en-US" sz="1800" b="1" dirty="0" err="1">
                <a:latin typeface="Courier New" panose="02070609020205020404" pitchFamily="49" charset="0"/>
              </a:rPr>
              <a:t>tx</a:t>
            </a:r>
            <a:r>
              <a:rPr lang="en-US" sz="1800" b="1" dirty="0">
                <a:latin typeface="Courier New" panose="02070609020205020404" pitchFamily="49" charset="0"/>
              </a:rPr>
              <a:t>, </a:t>
            </a:r>
            <a:r>
              <a:rPr lang="en-US" sz="1800" b="1" dirty="0" err="1">
                <a:latin typeface="Courier New" panose="02070609020205020404" pitchFamily="49" charset="0"/>
              </a:rPr>
              <a:t>ty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unsigned </a:t>
            </a:r>
            <a:r>
              <a:rPr lang="en-US" sz="1800" b="1" dirty="0" err="1">
                <a:latin typeface="Courier New" panose="02070609020205020404" pitchFamily="49" charset="0"/>
              </a:rPr>
              <a:t>ux</a:t>
            </a:r>
            <a:r>
              <a:rPr lang="en-US" sz="1800" b="1" dirty="0">
                <a:latin typeface="Courier New" panose="02070609020205020404" pitchFamily="49" charset="0"/>
              </a:rPr>
              <a:t>, </a:t>
            </a:r>
            <a:r>
              <a:rPr lang="en-US" sz="1800" b="1" dirty="0" err="1">
                <a:latin typeface="Courier New" panose="02070609020205020404" pitchFamily="49" charset="0"/>
              </a:rPr>
              <a:t>uy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 err="1">
                <a:latin typeface="Courier New" panose="02070609020205020404" pitchFamily="49" charset="0"/>
              </a:rPr>
              <a:t>tx</a:t>
            </a:r>
            <a:r>
              <a:rPr lang="en-US" sz="1800" b="1" dirty="0">
                <a:latin typeface="Courier New" panose="02070609020205020404" pitchFamily="49" charset="0"/>
              </a:rPr>
              <a:t> = (</a:t>
            </a:r>
            <a:r>
              <a:rPr lang="en-US" sz="1800" b="1" dirty="0" err="1">
                <a:latin typeface="Courier New" panose="02070609020205020404" pitchFamily="49" charset="0"/>
              </a:rPr>
              <a:t>int</a:t>
            </a:r>
            <a:r>
              <a:rPr lang="en-US" sz="1800" b="1" dirty="0">
                <a:latin typeface="Courier New" panose="02070609020205020404" pitchFamily="49" charset="0"/>
              </a:rPr>
              <a:t>) </a:t>
            </a:r>
            <a:r>
              <a:rPr lang="en-US" sz="1800" b="1" dirty="0" err="1">
                <a:latin typeface="Courier New" panose="02070609020205020404" pitchFamily="49" charset="0"/>
              </a:rPr>
              <a:t>ux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 err="1">
                <a:latin typeface="Courier New" panose="02070609020205020404" pitchFamily="49" charset="0"/>
              </a:rPr>
              <a:t>uy</a:t>
            </a:r>
            <a:r>
              <a:rPr lang="en-US" sz="1800" b="1" dirty="0">
                <a:latin typeface="Courier New" panose="02070609020205020404" pitchFamily="49" charset="0"/>
              </a:rPr>
              <a:t> = (unsigned) </a:t>
            </a:r>
            <a:r>
              <a:rPr lang="en-US" sz="1800" b="1" dirty="0" err="1">
                <a:latin typeface="Courier New" panose="02070609020205020404" pitchFamily="49" charset="0"/>
              </a:rPr>
              <a:t>ty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b="1" dirty="0">
                <a:solidFill>
                  <a:srgbClr val="00B050"/>
                </a:solidFill>
              </a:rPr>
              <a:t>Implicit </a:t>
            </a:r>
            <a:r>
              <a:rPr lang="zh-CN" altLang="en-US" b="1" dirty="0">
                <a:solidFill>
                  <a:srgbClr val="00B050"/>
                </a:solidFill>
              </a:rPr>
              <a:t>类型转换</a:t>
            </a:r>
            <a:r>
              <a:rPr lang="en-US" altLang="zh-CN" dirty="0">
                <a:solidFill>
                  <a:schemeClr val="tx1"/>
                </a:solidFill>
                <a:latin typeface="Arial Bold" panose="020B0704020202020204" charset="0"/>
              </a:rPr>
              <a:t>（</a:t>
            </a:r>
            <a:r>
              <a:rPr lang="zh-CN" altLang="en-US" dirty="0">
                <a:solidFill>
                  <a:schemeClr val="tx1"/>
                </a:solidFill>
                <a:latin typeface="Arial Bold" panose="020B0704020202020204" charset="0"/>
              </a:rPr>
              <a:t>赋值</a:t>
            </a:r>
            <a:r>
              <a:rPr lang="en-US" altLang="zh-CN" dirty="0">
                <a:solidFill>
                  <a:schemeClr val="tx1"/>
                </a:solidFill>
                <a:latin typeface="Arial Bold" panose="020B0704020202020204" charset="0"/>
              </a:rPr>
              <a:t>、</a:t>
            </a:r>
            <a:r>
              <a:rPr lang="zh-CN" altLang="en-US" dirty="0">
                <a:solidFill>
                  <a:schemeClr val="tx1"/>
                </a:solidFill>
                <a:latin typeface="Arial Bold" panose="020B0704020202020204" charset="0"/>
              </a:rPr>
              <a:t>传参时发生</a:t>
            </a:r>
            <a:r>
              <a:rPr lang="en-US" altLang="zh-CN" dirty="0">
                <a:solidFill>
                  <a:schemeClr val="tx1"/>
                </a:solidFill>
                <a:latin typeface="Arial Bold" panose="020B0704020202020204" charset="0"/>
              </a:rPr>
              <a:t>）</a:t>
            </a:r>
            <a:endParaRPr lang="en-US" b="1" dirty="0">
              <a:solidFill>
                <a:schemeClr val="tx1"/>
              </a:solidFill>
              <a:latin typeface="Arial Bold" panose="020B0704020202020204" charset="0"/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 err="1">
                <a:latin typeface="Courier New" panose="02070609020205020404" pitchFamily="49" charset="0"/>
              </a:rPr>
              <a:t>tx</a:t>
            </a:r>
            <a:r>
              <a:rPr lang="en-US" sz="1800" b="1" dirty="0">
                <a:latin typeface="Courier New" panose="02070609020205020404" pitchFamily="49" charset="0"/>
              </a:rPr>
              <a:t> = </a:t>
            </a:r>
            <a:r>
              <a:rPr lang="en-US" sz="1800" b="1" dirty="0" err="1">
                <a:latin typeface="Courier New" panose="02070609020205020404" pitchFamily="49" charset="0"/>
              </a:rPr>
              <a:t>ux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 err="1">
                <a:latin typeface="Courier New" panose="02070609020205020404" pitchFamily="49" charset="0"/>
              </a:rPr>
              <a:t>uy</a:t>
            </a:r>
            <a:r>
              <a:rPr lang="en-US" sz="1800" b="1" dirty="0">
                <a:latin typeface="Courier New" panose="02070609020205020404" pitchFamily="49" charset="0"/>
              </a:rPr>
              <a:t> = </a:t>
            </a:r>
            <a:r>
              <a:rPr lang="en-US" sz="1800" b="1" dirty="0" err="1">
                <a:latin typeface="Courier New" panose="02070609020205020404" pitchFamily="49" charset="0"/>
              </a:rPr>
              <a:t>ty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eaLnBrk="1" hangingPunct="1">
              <a:defRPr/>
            </a:pPr>
            <a:endParaRPr lang="en-US" sz="1800" b="0" dirty="0">
              <a:latin typeface="Courier New" panose="02070609020205020404" pitchFamily="49" charset="0"/>
            </a:endParaRPr>
          </a:p>
        </p:txBody>
      </p:sp>
      <p:sp>
        <p:nvSpPr>
          <p:cNvPr id="1035" name="Rectangle 10"/>
          <p:cNvSpPr>
            <a:spLocks noChangeArrowheads="1"/>
          </p:cNvSpPr>
          <p:nvPr/>
        </p:nvSpPr>
        <p:spPr bwMode="auto">
          <a:xfrm>
            <a:off x="4800600" y="5867400"/>
            <a:ext cx="463232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Calibri" pitchFamily="34" charset="0"/>
              </a:rPr>
              <a:t>猜一下</a:t>
            </a:r>
            <a:r>
              <a:rPr lang="en-US" altLang="zh-CN" dirty="0">
                <a:latin typeface="Calibri" pitchFamily="34" charset="0"/>
              </a:rPr>
              <a:t>：</a:t>
            </a:r>
            <a:r>
              <a:rPr lang="zh-CN" altLang="en-US" dirty="0">
                <a:latin typeface="Calibri" pitchFamily="34" charset="0"/>
              </a:rPr>
              <a:t>机器级别需要做什么</a:t>
            </a:r>
            <a:r>
              <a:rPr lang="en-US" altLang="zh-CN" dirty="0">
                <a:latin typeface="Calibri" pitchFamily="34" charset="0"/>
              </a:rPr>
              <a:t>？</a:t>
            </a:r>
            <a:endParaRPr lang="en-US" altLang="zh-CN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1066483" y="2667000"/>
            <a:ext cx="8853487" cy="3581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90487" tIns="44450" rIns="90487" bIns="44450"/>
          <a:lstStyle/>
          <a:p>
            <a:pPr marL="687705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0	0U	</a:t>
            </a:r>
            <a:r>
              <a:rPr lang="en-US" sz="2000" dirty="0"/>
              <a:t>==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705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-1	0	</a:t>
            </a:r>
            <a:r>
              <a:rPr lang="en-US" sz="2000" dirty="0">
                <a:solidFill>
                  <a:schemeClr val="accent2"/>
                </a:solidFill>
              </a:rPr>
              <a:t>&lt;	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</a:rPr>
              <a:t>signed</a:t>
            </a:r>
            <a:endParaRPr lang="en-US" sz="2000" dirty="0"/>
          </a:p>
          <a:p>
            <a:pPr marL="687705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-1	0U	</a:t>
            </a:r>
            <a:r>
              <a:rPr lang="en-US" sz="2000" dirty="0"/>
              <a:t>&gt;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705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2147483647	-2147483648</a:t>
            </a:r>
            <a:r>
              <a:rPr lang="en-US" sz="2000" dirty="0"/>
              <a:t> 	</a:t>
            </a:r>
            <a:r>
              <a:rPr lang="en-US" sz="2000" dirty="0">
                <a:solidFill>
                  <a:schemeClr val="accent2"/>
                </a:solidFill>
              </a:rPr>
              <a:t>&gt;	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</a:rPr>
              <a:t>signed</a:t>
            </a:r>
            <a:endParaRPr lang="en-US" sz="2000" dirty="0">
              <a:latin typeface="Calibri" pitchFamily="34" charset="0"/>
            </a:endParaRPr>
          </a:p>
          <a:p>
            <a:pPr marL="687705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2147483647U	-2147483648</a:t>
            </a:r>
            <a:r>
              <a:rPr lang="en-US" sz="2000" dirty="0"/>
              <a:t> 	&lt;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705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-1	-2</a:t>
            </a:r>
            <a:r>
              <a:rPr lang="en-US" sz="2000" dirty="0"/>
              <a:t> 	</a:t>
            </a:r>
            <a:r>
              <a:rPr lang="en-US" sz="2000" dirty="0">
                <a:solidFill>
                  <a:schemeClr val="accent2"/>
                </a:solidFill>
              </a:rPr>
              <a:t>&gt;	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</a:rPr>
              <a:t>signed</a:t>
            </a:r>
            <a:endParaRPr lang="en-US" sz="2000" dirty="0"/>
          </a:p>
          <a:p>
            <a:pPr marL="687705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(unsigned) -1	-2</a:t>
            </a:r>
            <a:r>
              <a:rPr lang="en-US" sz="2000" dirty="0"/>
              <a:t> 	&gt;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705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 2147483647 	2147483648U</a:t>
            </a:r>
            <a:r>
              <a:rPr lang="en-US" sz="2000" dirty="0"/>
              <a:t> 	</a:t>
            </a:r>
            <a:r>
              <a:rPr lang="en-US" sz="2000" dirty="0">
                <a:solidFill>
                  <a:schemeClr val="accent2"/>
                </a:solidFill>
              </a:rPr>
              <a:t>&lt;	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</a:rPr>
              <a:t>unsigned</a:t>
            </a:r>
            <a:endParaRPr lang="en-US" sz="2000" dirty="0"/>
          </a:p>
          <a:p>
            <a:pPr marL="687705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 2147483647 	(</a:t>
            </a:r>
            <a:r>
              <a:rPr lang="en-US" sz="2000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) 2147483648U</a:t>
            </a:r>
            <a:r>
              <a:rPr lang="en-US" sz="2000" dirty="0"/>
              <a:t>	&gt;	</a:t>
            </a:r>
            <a:r>
              <a:rPr lang="en-US" sz="2000" dirty="0">
                <a:latin typeface="Calibri" pitchFamily="34" charset="0"/>
              </a:rPr>
              <a:t>signed</a:t>
            </a:r>
            <a:endParaRPr lang="en-US" sz="2000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323850"/>
            <a:ext cx="759904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C</a:t>
            </a:r>
            <a:r>
              <a:rPr lang="zh-CN" altLang="en-US"/>
              <a:t>语言类型转换中的</a:t>
            </a:r>
            <a:r>
              <a:rPr lang="zh-CN" altLang="en-US"/>
              <a:t>奇怪现象</a:t>
            </a:r>
            <a:endParaRPr lang="zh-CN" altLang="en-US"/>
          </a:p>
        </p:txBody>
      </p:sp>
      <p:sp>
        <p:nvSpPr>
          <p:cNvPr id="1218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879475"/>
            <a:ext cx="9809480" cy="847090"/>
          </a:xfrm>
        </p:spPr>
        <p:txBody>
          <a:bodyPr lIns="90487" tIns="44450" rIns="90487" bIns="44450"/>
          <a:lstStyle/>
          <a:p>
            <a:pPr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zh-CN" altLang="en-US" dirty="0"/>
              <a:t>二元表达式运算</a:t>
            </a:r>
            <a:r>
              <a:rPr lang="en-US" altLang="zh-CN" dirty="0"/>
              <a:t>（</a:t>
            </a:r>
            <a:r>
              <a:rPr lang="zh-CN" altLang="en-US" dirty="0"/>
              <a:t>包括算术</a:t>
            </a:r>
            <a:r>
              <a:rPr lang="en-US" altLang="zh-CN" dirty="0"/>
              <a:t>、</a:t>
            </a:r>
            <a:r>
              <a:rPr lang="zh-CN" altLang="en-US" dirty="0"/>
              <a:t>关系运算</a:t>
            </a:r>
            <a:r>
              <a:rPr lang="en-US" altLang="zh-CN" dirty="0"/>
              <a:t>）</a:t>
            </a:r>
            <a:endParaRPr lang="en-US" dirty="0"/>
          </a:p>
          <a:p>
            <a:pPr marL="687705" lvl="1" indent="-187325"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zh-CN" altLang="en-US" dirty="0"/>
              <a:t>如果两个操作数，一个</a:t>
            </a:r>
            <a:r>
              <a:rPr lang="en-US" altLang="zh-CN" dirty="0"/>
              <a:t>signed</a:t>
            </a:r>
            <a:r>
              <a:rPr lang="zh-CN" altLang="en-US" dirty="0">
                <a:ea typeface="SimSun" charset="0"/>
              </a:rPr>
              <a:t>，一个</a:t>
            </a:r>
            <a:r>
              <a:rPr lang="en-US" altLang="zh-CN" dirty="0">
                <a:ea typeface="SimSun" charset="0"/>
              </a:rPr>
              <a:t>unsigned</a:t>
            </a:r>
            <a:r>
              <a:rPr lang="zh-CN" altLang="en-US" dirty="0">
                <a:ea typeface="SimSun" charset="0"/>
              </a:rPr>
              <a:t>，则</a:t>
            </a:r>
            <a:r>
              <a:rPr lang="en-US" dirty="0"/>
              <a:t> </a:t>
            </a:r>
            <a:br>
              <a:rPr lang="en-US" dirty="0"/>
            </a:br>
            <a:r>
              <a:rPr lang="en-US" b="1" i="1" dirty="0">
                <a:solidFill>
                  <a:srgbClr val="C00000"/>
                </a:solidFill>
              </a:rPr>
              <a:t>signed values implicitly cast to unsigned</a:t>
            </a:r>
            <a:endParaRPr lang="en-US" b="1" i="1" dirty="0">
              <a:solidFill>
                <a:srgbClr val="C00000"/>
              </a:solidFill>
            </a:endParaRPr>
          </a:p>
          <a:p>
            <a:pPr marL="687705" lvl="1" indent="-187325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Examples for </a:t>
            </a:r>
            <a:r>
              <a:rPr lang="en-US" i="1" dirty="0"/>
              <a:t>W</a:t>
            </a:r>
            <a:r>
              <a:rPr lang="en-US" dirty="0"/>
              <a:t> = 32:    </a:t>
            </a:r>
            <a:r>
              <a:rPr lang="en-US" b="1" dirty="0">
                <a:solidFill>
                  <a:srgbClr val="C00000"/>
                </a:solidFill>
              </a:rPr>
              <a:t>TMIN = -2,147,483,648 ,     TMAX =2,147,483,647</a:t>
            </a:r>
            <a:endParaRPr lang="en-US" b="1" dirty="0">
              <a:solidFill>
                <a:srgbClr val="C00000"/>
              </a:solidFill>
            </a:endParaRPr>
          </a:p>
          <a:p>
            <a:pPr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zh-CN" altLang="en-US" sz="2000" dirty="0">
                <a:sym typeface="+mn-ea"/>
              </a:rPr>
              <a:t>操作数</a:t>
            </a:r>
            <a:r>
              <a:rPr lang="en-US" altLang="zh-CN" sz="2000" dirty="0">
                <a:sym typeface="+mn-ea"/>
              </a:rPr>
              <a:t>1</a:t>
            </a:r>
            <a:r>
              <a:rPr lang="en-US" sz="2000" dirty="0">
                <a:sym typeface="+mn-ea"/>
              </a:rPr>
              <a:t>	</a:t>
            </a:r>
            <a:r>
              <a:rPr lang="zh-CN" altLang="en-US" sz="2000" dirty="0">
                <a:sym typeface="+mn-ea"/>
              </a:rPr>
              <a:t>操作数</a:t>
            </a:r>
            <a:r>
              <a:rPr lang="en-US" altLang="zh-CN" sz="2000" dirty="0">
                <a:sym typeface="+mn-ea"/>
              </a:rPr>
              <a:t>2</a:t>
            </a:r>
            <a:r>
              <a:rPr lang="en-US" sz="2000" dirty="0">
                <a:sym typeface="+mn-ea"/>
              </a:rPr>
              <a:t>	</a:t>
            </a:r>
            <a:r>
              <a:rPr lang="zh-CN" altLang="en-US" sz="2000" dirty="0">
                <a:sym typeface="+mn-ea"/>
              </a:rPr>
              <a:t>比较结果</a:t>
            </a:r>
            <a:r>
              <a:rPr lang="en-US" sz="2000" dirty="0">
                <a:sym typeface="+mn-ea"/>
              </a:rPr>
              <a:t>	</a:t>
            </a:r>
            <a:r>
              <a:rPr lang="zh-CN" altLang="en-US" sz="2000" dirty="0">
                <a:sym typeface="+mn-ea"/>
              </a:rPr>
              <a:t>运算类型</a:t>
            </a:r>
            <a:endParaRPr lang="en-US" sz="2000" dirty="0"/>
          </a:p>
          <a:p>
            <a:pPr marL="288925" lvl="1" indent="-117475" eaLnBrk="1" hangingPunct="1">
              <a:buFont typeface="Wingdings" panose="05000000000000000000" pitchFamily="2" charset="2"/>
              <a:buNone/>
              <a:tabLst>
                <a:tab pos="226695" algn="l"/>
                <a:tab pos="2860675" algn="l"/>
                <a:tab pos="5657850" algn="l"/>
                <a:tab pos="6972300" algn="l"/>
              </a:tabLst>
              <a:defRPr/>
            </a:pPr>
            <a:r>
              <a:rPr lang="en-US" sz="2000" dirty="0">
                <a:sym typeface="+mn-ea"/>
              </a:rPr>
              <a:t>	 0	0U	</a:t>
            </a:r>
            <a:endParaRPr lang="en-US" sz="2000" dirty="0"/>
          </a:p>
          <a:p>
            <a:pPr marL="288925" lvl="1" indent="-117475" eaLnBrk="1" hangingPunct="1">
              <a:buFont typeface="Wingdings" panose="05000000000000000000" pitchFamily="2" charset="2"/>
              <a:buNone/>
              <a:tabLst>
                <a:tab pos="226695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000" dirty="0">
                <a:solidFill>
                  <a:schemeClr val="accent2"/>
                </a:solidFill>
                <a:sym typeface="+mn-ea"/>
              </a:rPr>
              <a:t>	-1	0</a:t>
            </a:r>
            <a:r>
              <a:rPr lang="en-US" sz="2000" dirty="0">
                <a:sym typeface="+mn-ea"/>
              </a:rPr>
              <a:t>	</a:t>
            </a:r>
            <a:endParaRPr lang="en-US" sz="2000" dirty="0"/>
          </a:p>
          <a:p>
            <a:pPr marL="288925" lvl="1" indent="-117475" eaLnBrk="1" hangingPunct="1">
              <a:buFont typeface="Wingdings" panose="05000000000000000000" pitchFamily="2" charset="2"/>
              <a:buNone/>
              <a:tabLst>
                <a:tab pos="226695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000" dirty="0">
                <a:sym typeface="+mn-ea"/>
              </a:rPr>
              <a:t>	-1	0U	</a:t>
            </a:r>
            <a:endParaRPr lang="en-US" sz="2000" dirty="0"/>
          </a:p>
          <a:p>
            <a:pPr marL="288925" lvl="1" indent="-117475" eaLnBrk="1" hangingPunct="1">
              <a:buFont typeface="Wingdings" panose="05000000000000000000" pitchFamily="2" charset="2"/>
              <a:buNone/>
              <a:tabLst>
                <a:tab pos="226695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000" dirty="0">
                <a:solidFill>
                  <a:schemeClr val="accent2"/>
                </a:solidFill>
                <a:sym typeface="+mn-ea"/>
              </a:rPr>
              <a:t>	2147483647	-2147483647-1 </a:t>
            </a:r>
            <a:r>
              <a:rPr lang="en-US" sz="2000" dirty="0">
                <a:sym typeface="+mn-ea"/>
              </a:rPr>
              <a:t>	</a:t>
            </a:r>
            <a:endParaRPr lang="en-US" sz="2000" dirty="0"/>
          </a:p>
          <a:p>
            <a:pPr marL="288925" lvl="1" indent="-117475" eaLnBrk="1" hangingPunct="1">
              <a:buFont typeface="Wingdings" panose="05000000000000000000" pitchFamily="2" charset="2"/>
              <a:buNone/>
              <a:tabLst>
                <a:tab pos="226695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000" dirty="0">
                <a:sym typeface="+mn-ea"/>
              </a:rPr>
              <a:t>	2147483647U	-2147483647-1 	</a:t>
            </a:r>
            <a:endParaRPr lang="en-US" sz="2000" dirty="0"/>
          </a:p>
          <a:p>
            <a:pPr marL="288925" lvl="1" indent="-117475" eaLnBrk="1" hangingPunct="1">
              <a:buFont typeface="Wingdings" panose="05000000000000000000" pitchFamily="2" charset="2"/>
              <a:buNone/>
              <a:tabLst>
                <a:tab pos="226695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000" dirty="0">
                <a:solidFill>
                  <a:schemeClr val="accent2"/>
                </a:solidFill>
                <a:sym typeface="+mn-ea"/>
              </a:rPr>
              <a:t>	-1	-2 </a:t>
            </a:r>
            <a:r>
              <a:rPr lang="en-US" sz="2000" dirty="0">
                <a:sym typeface="+mn-ea"/>
              </a:rPr>
              <a:t>	</a:t>
            </a:r>
            <a:endParaRPr lang="en-US" sz="2000" dirty="0"/>
          </a:p>
          <a:p>
            <a:pPr marL="288925" lvl="1" indent="-117475" eaLnBrk="1" hangingPunct="1">
              <a:buFont typeface="Wingdings" panose="05000000000000000000" pitchFamily="2" charset="2"/>
              <a:buNone/>
              <a:tabLst>
                <a:tab pos="226695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000" dirty="0">
                <a:sym typeface="+mn-ea"/>
              </a:rPr>
              <a:t>	(unsigned)-1	-2 	</a:t>
            </a:r>
            <a:endParaRPr lang="en-US" sz="2000" dirty="0"/>
          </a:p>
          <a:p>
            <a:pPr marL="288925" lvl="1" indent="-117475" eaLnBrk="1" hangingPunct="1">
              <a:buFont typeface="Wingdings" panose="05000000000000000000" pitchFamily="2" charset="2"/>
              <a:buNone/>
              <a:tabLst>
                <a:tab pos="226695" algn="l"/>
                <a:tab pos="2860675" algn="l"/>
                <a:tab pos="5713095" algn="l"/>
                <a:tab pos="6972300" algn="l"/>
              </a:tabLst>
              <a:defRPr/>
            </a:pPr>
            <a:r>
              <a:rPr lang="en-US" sz="2000" dirty="0">
                <a:solidFill>
                  <a:schemeClr val="accent2"/>
                </a:solidFill>
                <a:sym typeface="+mn-ea"/>
              </a:rPr>
              <a:t>	 2147483647 	2147483648U </a:t>
            </a:r>
            <a:r>
              <a:rPr lang="en-US" sz="2000" dirty="0">
                <a:sym typeface="+mn-ea"/>
              </a:rPr>
              <a:t>	</a:t>
            </a:r>
            <a:endParaRPr lang="en-US" sz="2000" dirty="0"/>
          </a:p>
          <a:p>
            <a:pPr marL="288925" lvl="1" indent="-117475" eaLnBrk="1" hangingPunct="1">
              <a:buFont typeface="Wingdings" panose="05000000000000000000" pitchFamily="2" charset="2"/>
              <a:buNone/>
              <a:tabLst>
                <a:tab pos="226695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000" dirty="0">
                <a:sym typeface="+mn-ea"/>
              </a:rPr>
              <a:t>	 2147483647 	(</a:t>
            </a:r>
            <a:r>
              <a:rPr lang="en-US" sz="2000" dirty="0" err="1">
                <a:sym typeface="+mn-ea"/>
              </a:rPr>
              <a:t>int</a:t>
            </a:r>
            <a:r>
              <a:rPr lang="en-US" sz="2000" dirty="0">
                <a:sym typeface="+mn-ea"/>
              </a:rPr>
              <a:t>) 2147483648U</a:t>
            </a:r>
            <a:endParaRPr lang="en-US" sz="2000" dirty="0">
              <a:latin typeface="Courier New" panose="02070609020205020404" pitchFamily="49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400800" y="2667000"/>
            <a:ext cx="0" cy="3469005"/>
          </a:xfrm>
          <a:prstGeom prst="line">
            <a:avLst/>
          </a:prstGeom>
          <a:noFill/>
          <a:ln w="2540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" name="文本框 2"/>
          <p:cNvSpPr txBox="1"/>
          <p:nvPr/>
        </p:nvSpPr>
        <p:spPr>
          <a:xfrm>
            <a:off x="8936355" y="60661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dirty="0" smtClean="0">
              <a:latin typeface="Calibri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87435" y="60699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dirty="0" smtClean="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 bldLvl="2" autoUpdateAnimBg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规则</a:t>
            </a:r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字面常量默认是</a:t>
            </a:r>
            <a:r>
              <a:rPr lang="en-US" altLang="zh-CN">
                <a:ea typeface="SimSun" charset="0"/>
                <a:sym typeface="+mn-ea"/>
              </a:rPr>
              <a:t>signed int</a:t>
            </a:r>
            <a:r>
              <a:rPr lang="zh-CN" altLang="en-US">
                <a:ea typeface="SimSun" charset="0"/>
                <a:sym typeface="+mn-ea"/>
              </a:rPr>
              <a:t>类型</a:t>
            </a:r>
            <a:endParaRPr lang="zh-CN" altLang="en-US">
              <a:ea typeface="SimSun" charset="0"/>
            </a:endParaRPr>
          </a:p>
          <a:p>
            <a:pPr marL="457200" indent="-457200"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字面常量后面添加后缀</a:t>
            </a:r>
            <a:r>
              <a:rPr lang="en-US" altLang="zh-CN">
                <a:ea typeface="SimSun" charset="0"/>
                <a:sym typeface="+mn-ea"/>
              </a:rPr>
              <a:t>U</a:t>
            </a:r>
            <a:r>
              <a:rPr lang="zh-CN" altLang="en-US">
                <a:ea typeface="SimSun" charset="0"/>
                <a:sym typeface="+mn-ea"/>
              </a:rPr>
              <a:t>或</a:t>
            </a:r>
            <a:r>
              <a:rPr lang="en-US" altLang="zh-CN">
                <a:ea typeface="SimSun" charset="0"/>
                <a:sym typeface="+mn-ea"/>
              </a:rPr>
              <a:t>u</a:t>
            </a:r>
            <a:r>
              <a:rPr lang="zh-CN" altLang="en-US">
                <a:ea typeface="SimSun" charset="0"/>
                <a:sym typeface="+mn-ea"/>
              </a:rPr>
              <a:t>表示</a:t>
            </a:r>
            <a:r>
              <a:rPr lang="en-US" altLang="zh-CN">
                <a:ea typeface="SimSun" charset="0"/>
                <a:sym typeface="+mn-ea"/>
              </a:rPr>
              <a:t>unsigned</a:t>
            </a:r>
            <a:r>
              <a:rPr lang="zh-CN" altLang="en-US">
                <a:ea typeface="SimSun" charset="0"/>
                <a:sym typeface="+mn-ea"/>
              </a:rPr>
              <a:t>类型</a:t>
            </a:r>
            <a:endParaRPr lang="zh-CN" altLang="en-US">
              <a:ea typeface="SimSun" charset="0"/>
            </a:endParaRPr>
          </a:p>
          <a:p>
            <a:pPr marL="457200" indent="-457200">
              <a:buAutoNum type="arabicPeriod"/>
            </a:pPr>
            <a:r>
              <a:rPr lang="zh-CN" altLang="en-US"/>
              <a:t>对于运算</a:t>
            </a:r>
            <a:r>
              <a:rPr lang="en-US" altLang="zh-CN"/>
              <a:t> op1 + op2</a:t>
            </a:r>
            <a:endParaRPr lang="en-US" altLang="zh-CN"/>
          </a:p>
          <a:p>
            <a:pPr lvl="1"/>
            <a:r>
              <a:rPr lang="zh-CN" altLang="en-US" b="1">
                <a:latin typeface="Arial Bold" panose="020B0704020202020204" charset="0"/>
              </a:rPr>
              <a:t>每个运算都带类型</a:t>
            </a:r>
            <a:endParaRPr lang="zh-CN" altLang="en-US" b="1">
              <a:latin typeface="Arial Bold" panose="020B0704020202020204" charset="0"/>
            </a:endParaRPr>
          </a:p>
          <a:p>
            <a:pPr lvl="2"/>
            <a:r>
              <a:rPr lang="zh-CN" altLang="en-US"/>
              <a:t>回忆</a:t>
            </a:r>
            <a:r>
              <a:rPr lang="en-US" altLang="zh-CN"/>
              <a:t>C++</a:t>
            </a:r>
            <a:r>
              <a:rPr lang="zh-CN" altLang="en-US"/>
              <a:t>中的运算符重载；</a:t>
            </a:r>
            <a:r>
              <a:rPr lang="en-US" altLang="zh-CN"/>
              <a:t>string</a:t>
            </a:r>
            <a:r>
              <a:rPr lang="zh-CN" altLang="en-US"/>
              <a:t>类型的</a:t>
            </a:r>
            <a:r>
              <a:rPr lang="en-US" altLang="zh-CN"/>
              <a:t>’+’ vs int</a:t>
            </a:r>
            <a:r>
              <a:rPr lang="zh-CN" altLang="en-US"/>
              <a:t>类型的</a:t>
            </a:r>
            <a:r>
              <a:rPr lang="en-US" altLang="zh-CN"/>
              <a:t>’+’</a:t>
            </a:r>
            <a:endParaRPr lang="zh-CN" altLang="en-US"/>
          </a:p>
          <a:p>
            <a:pPr lvl="1"/>
            <a:r>
              <a:rPr lang="zh-CN" altLang="en-US"/>
              <a:t>通常算术运算、关系运算要求两个操作数</a:t>
            </a:r>
            <a:r>
              <a:rPr lang="en-US" altLang="zh-CN"/>
              <a:t>op</a:t>
            </a:r>
            <a:r>
              <a:rPr lang="zh-CN" altLang="en-US"/>
              <a:t>的类型</a:t>
            </a:r>
            <a:r>
              <a:rPr lang="zh-CN" altLang="en-US"/>
              <a:t>一样</a:t>
            </a:r>
            <a:endParaRPr lang="zh-CN" altLang="en-US"/>
          </a:p>
          <a:p>
            <a:pPr lvl="2"/>
            <a:r>
              <a:rPr lang="zh-CN" altLang="en-US"/>
              <a:t>如果</a:t>
            </a:r>
            <a:r>
              <a:rPr lang="en-US" altLang="zh-CN"/>
              <a:t>op1</a:t>
            </a:r>
            <a:r>
              <a:rPr lang="zh-CN" altLang="en-US"/>
              <a:t>的类型为</a:t>
            </a:r>
            <a:r>
              <a:rPr lang="en-US" altLang="zh-CN"/>
              <a:t>unsigned int</a:t>
            </a:r>
            <a:r>
              <a:rPr lang="zh-CN" altLang="en-US">
                <a:ea typeface="SimSun" charset="0"/>
              </a:rPr>
              <a:t>，</a:t>
            </a:r>
            <a:r>
              <a:rPr lang="en-US" altLang="zh-CN"/>
              <a:t> op2</a:t>
            </a:r>
            <a:r>
              <a:rPr lang="zh-CN" altLang="en-US"/>
              <a:t>的类型为</a:t>
            </a:r>
            <a:r>
              <a:rPr lang="en-US" altLang="zh-CN"/>
              <a:t>signed int</a:t>
            </a:r>
            <a:r>
              <a:rPr lang="zh-CN" altLang="en-US">
                <a:ea typeface="SimSun" charset="0"/>
              </a:rPr>
              <a:t>，则在运算前，需要先</a:t>
            </a:r>
            <a:r>
              <a:rPr lang="zh-CN" altLang="en-US" b="1">
                <a:ea typeface="SimSun" charset="0"/>
              </a:rPr>
              <a:t>显示</a:t>
            </a:r>
            <a:r>
              <a:rPr lang="zh-CN" altLang="en-US">
                <a:ea typeface="SimSun" charset="0"/>
              </a:rPr>
              <a:t>或</a:t>
            </a:r>
            <a:r>
              <a:rPr lang="zh-CN" altLang="en-US" b="1">
                <a:ea typeface="SimSun" charset="0"/>
              </a:rPr>
              <a:t>隐式</a:t>
            </a:r>
            <a:r>
              <a:rPr lang="zh-CN" altLang="en-US">
                <a:ea typeface="SimSun" charset="0"/>
              </a:rPr>
              <a:t>地将</a:t>
            </a:r>
            <a:r>
              <a:rPr lang="en-US" altLang="zh-CN">
                <a:ea typeface="SimSun" charset="0"/>
              </a:rPr>
              <a:t>op1</a:t>
            </a:r>
            <a:r>
              <a:rPr lang="zh-CN" altLang="en-US">
                <a:ea typeface="SimSun" charset="0"/>
              </a:rPr>
              <a:t>先转换成</a:t>
            </a:r>
            <a:r>
              <a:rPr lang="en-US" altLang="zh-CN">
                <a:ea typeface="SimSun" charset="0"/>
              </a:rPr>
              <a:t>unsigned int</a:t>
            </a:r>
            <a:r>
              <a:rPr lang="zh-CN" altLang="en-US">
                <a:ea typeface="SimSun" charset="0"/>
              </a:rPr>
              <a:t>类型</a:t>
            </a:r>
            <a:endParaRPr lang="zh-CN" altLang="en-US">
              <a:ea typeface="SimSun" charset="0"/>
            </a:endParaRPr>
          </a:p>
          <a:p>
            <a:r>
              <a:rPr lang="en-US" altLang="zh-CN">
                <a:ea typeface="SimSun" charset="0"/>
              </a:rPr>
              <a:t>signed int</a:t>
            </a:r>
            <a:r>
              <a:rPr lang="zh-CN" altLang="en-US">
                <a:ea typeface="SimSun" charset="0"/>
              </a:rPr>
              <a:t>与</a:t>
            </a:r>
            <a:r>
              <a:rPr lang="en-US" altLang="zh-CN">
                <a:ea typeface="SimSun" charset="0"/>
              </a:rPr>
              <a:t>unsigned int</a:t>
            </a:r>
            <a:r>
              <a:rPr lang="zh-CN" altLang="en-US">
                <a:ea typeface="SimSun" charset="0"/>
              </a:rPr>
              <a:t>之间互相转换</a:t>
            </a:r>
            <a:r>
              <a:rPr lang="zh-CN" altLang="en-US">
                <a:ea typeface="SimSun" charset="0"/>
              </a:rPr>
              <a:t>时</a:t>
            </a:r>
            <a:endParaRPr lang="zh-CN" altLang="en-US">
              <a:ea typeface="SimSun" charset="0"/>
            </a:endParaRPr>
          </a:p>
          <a:p>
            <a:pPr lvl="1"/>
            <a:r>
              <a:rPr lang="zh-CN" altLang="en-US" sz="2000">
                <a:ea typeface="SimSun" charset="0"/>
              </a:rPr>
              <a:t>二进制表示不变</a:t>
            </a:r>
            <a:endParaRPr lang="zh-CN" altLang="en-US" sz="2000">
              <a:ea typeface="SimSun" charset="0"/>
            </a:endParaRPr>
          </a:p>
          <a:p>
            <a:pPr lvl="1"/>
            <a:r>
              <a:rPr lang="zh-CN" altLang="en-US">
                <a:ea typeface="SimSun" charset="0"/>
              </a:rPr>
              <a:t>需要重新解释表示的值（无符号编码，或者</a:t>
            </a:r>
            <a:r>
              <a:rPr lang="zh-CN" altLang="en-US">
                <a:ea typeface="SimSun" charset="0"/>
              </a:rPr>
              <a:t>二进制补码）</a:t>
            </a:r>
            <a:endParaRPr lang="zh-CN" altLang="en-US">
              <a:ea typeface="SimSun" charset="0"/>
            </a:endParaRPr>
          </a:p>
          <a:p>
            <a:endParaRPr lang="zh-CN" altLang="en-US">
              <a:ea typeface="SimSun" charset="0"/>
            </a:endParaRPr>
          </a:p>
          <a:p>
            <a:endParaRPr lang="zh-CN" altLang="en-US">
              <a:ea typeface="SimSun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思考与扩展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62075"/>
            <a:ext cx="7896225" cy="4972050"/>
          </a:xfrm>
        </p:spPr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下列代码，是否合法？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Animal *x = new Dog()?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x -&gt; eat()?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x -&gt; bark()?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endParaRPr lang="en-US" altLang="zh-CN" dirty="0">
              <a:solidFill>
                <a:srgbClr val="00B050"/>
              </a:solidFill>
            </a:endParaRPr>
          </a:p>
          <a:p>
            <a:pPr lvl="1"/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什么是强类型语言</a:t>
            </a:r>
            <a:r>
              <a:rPr lang="zh-CN" altLang="en-US" dirty="0">
                <a:solidFill>
                  <a:srgbClr val="00B050"/>
                </a:solidFill>
              </a:rPr>
              <a:t>？什么是类型安全？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C++</a:t>
            </a:r>
            <a:r>
              <a:rPr lang="zh-CN" altLang="en-US" dirty="0">
                <a:solidFill>
                  <a:srgbClr val="00B050"/>
                </a:solidFill>
              </a:rPr>
              <a:t>类型 </a:t>
            </a:r>
            <a:r>
              <a:rPr lang="en-US" altLang="zh-CN" dirty="0">
                <a:solidFill>
                  <a:srgbClr val="00B050"/>
                </a:solidFill>
              </a:rPr>
              <a:t>vs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Java</a:t>
            </a:r>
            <a:r>
              <a:rPr lang="zh-CN" altLang="en-US" dirty="0">
                <a:solidFill>
                  <a:srgbClr val="00B050"/>
                </a:solidFill>
              </a:rPr>
              <a:t>类型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4220" y="812800"/>
            <a:ext cx="3314700" cy="3048000"/>
          </a:xfrm>
          <a:prstGeom prst="rect">
            <a:avLst/>
          </a:prstGeom>
        </p:spPr>
      </p:pic>
      <p:sp>
        <p:nvSpPr>
          <p:cNvPr id="5" name="Cloud Callout 4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640" y="5675630"/>
            <a:ext cx="3609975" cy="560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07135"/>
            <a:ext cx="5285105" cy="53714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638290" y="5092700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 smtClean="0">
                <a:latin typeface="Calibri" pitchFamily="34" charset="0"/>
              </a:rPr>
              <a:t>输出是多少？</a:t>
            </a:r>
            <a:endParaRPr lang="zh-CN" altLang="en-US" dirty="0" smtClean="0">
              <a:latin typeface="Calibri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29600" y="1676400"/>
            <a:ext cx="1798955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indent="0">
              <a:buFont typeface="Arial" panose="020B0704020202020204" pitchFamily="34" charset="0"/>
              <a:buNone/>
            </a:pPr>
            <a:r>
              <a:rPr lang="zh-CN" altLang="en-US" sz="2000" dirty="0" smtClean="0">
                <a:highlight>
                  <a:srgbClr val="C0C0C0"/>
                </a:highlight>
                <a:latin typeface="Calibri" pitchFamily="34" charset="0"/>
              </a:rPr>
              <a:t>知识点：</a:t>
            </a:r>
            <a:endParaRPr lang="zh-CN" altLang="en-US" sz="2000" dirty="0" smtClean="0">
              <a:highlight>
                <a:srgbClr val="C0C0C0"/>
              </a:highlight>
              <a:latin typeface="Calibri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000" dirty="0" smtClean="0">
                <a:highlight>
                  <a:srgbClr val="C0C0C0"/>
                </a:highlight>
                <a:latin typeface="Calibri" pitchFamily="34" charset="0"/>
              </a:rPr>
              <a:t>C++</a:t>
            </a:r>
            <a:r>
              <a:rPr lang="zh-CN" altLang="en-US" sz="2000" dirty="0" smtClean="0">
                <a:highlight>
                  <a:srgbClr val="C0C0C0"/>
                </a:highlight>
                <a:latin typeface="Calibri" pitchFamily="34" charset="0"/>
              </a:rPr>
              <a:t>的继承</a:t>
            </a:r>
            <a:endParaRPr lang="zh-CN" altLang="en-US" sz="2000" dirty="0" smtClean="0">
              <a:highlight>
                <a:srgbClr val="C0C0C0"/>
              </a:highlight>
              <a:latin typeface="Calibri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000" dirty="0" smtClean="0">
                <a:highlight>
                  <a:srgbClr val="C0C0C0"/>
                </a:highlight>
                <a:latin typeface="Calibri" pitchFamily="34" charset="0"/>
              </a:rPr>
              <a:t>ASCII</a:t>
            </a:r>
            <a:r>
              <a:rPr lang="zh-CN" altLang="en-US" sz="2000" dirty="0" smtClean="0">
                <a:highlight>
                  <a:srgbClr val="C0C0C0"/>
                </a:highlight>
                <a:latin typeface="Calibri" pitchFamily="34" charset="0"/>
              </a:rPr>
              <a:t>码</a:t>
            </a:r>
            <a:endParaRPr lang="zh-CN" altLang="en-US" sz="2000" dirty="0" smtClean="0">
              <a:highlight>
                <a:srgbClr val="C0C0C0"/>
              </a:highlight>
              <a:latin typeface="Calibri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 sz="2000" dirty="0" smtClean="0">
                <a:highlight>
                  <a:srgbClr val="C0C0C0"/>
                </a:highlight>
                <a:latin typeface="Calibri" pitchFamily="34" charset="0"/>
              </a:rPr>
              <a:t>指针的运算</a:t>
            </a:r>
            <a:endParaRPr lang="zh-CN" altLang="en-US" sz="2000" dirty="0" smtClean="0">
              <a:highlight>
                <a:srgbClr val="C0C0C0"/>
              </a:highlight>
              <a:latin typeface="Calibri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 sz="2000" dirty="0" smtClean="0">
                <a:highlight>
                  <a:srgbClr val="C0C0C0"/>
                </a:highlight>
                <a:latin typeface="Calibri" pitchFamily="34" charset="0"/>
              </a:rPr>
              <a:t>小端模式</a:t>
            </a:r>
            <a:endParaRPr lang="zh-CN" altLang="en-US" sz="2000" dirty="0" smtClean="0">
              <a:highlight>
                <a:srgbClr val="C0C0C0"/>
              </a:highlight>
              <a:latin typeface="Calibri" pitchFamily="34" charset="0"/>
            </a:endParaRPr>
          </a:p>
        </p:txBody>
      </p:sp>
      <p:sp>
        <p:nvSpPr>
          <p:cNvPr id="3" name="Cloud Callout 2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820" y="838200"/>
            <a:ext cx="5822315" cy="3484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思考与扩展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什么是类型？</a:t>
            </a:r>
            <a:endParaRPr lang="zh-CN" altLang="en-US"/>
          </a:p>
          <a:p>
            <a:pPr lvl="1"/>
            <a:r>
              <a:rPr lang="zh-CN" altLang="en-US" sz="2000"/>
              <a:t>类型约定对象的编码</a:t>
            </a:r>
            <a:r>
              <a:rPr lang="en-US" altLang="zh-CN" sz="2000"/>
              <a:t>/</a:t>
            </a:r>
            <a:r>
              <a:rPr lang="zh-CN" altLang="en-US" sz="2000"/>
              <a:t>表示规则</a:t>
            </a:r>
            <a:endParaRPr lang="zh-CN" altLang="en-US" sz="2000"/>
          </a:p>
          <a:p>
            <a:pPr lvl="1"/>
            <a:r>
              <a:rPr lang="zh-CN" altLang="en-US"/>
              <a:t>类型约定运算</a:t>
            </a:r>
            <a:r>
              <a:rPr lang="zh-CN" altLang="en-US"/>
              <a:t>规则</a:t>
            </a:r>
            <a:endParaRPr lang="zh-CN" altLang="en-US"/>
          </a:p>
          <a:p>
            <a:pPr lvl="1"/>
            <a:r>
              <a:rPr lang="zh-CN" altLang="en-US"/>
              <a:t>约定对外的</a:t>
            </a:r>
            <a:r>
              <a:rPr lang="zh-CN" altLang="en-US"/>
              <a:t>行为</a:t>
            </a:r>
            <a:endParaRPr lang="zh-CN" altLang="en-US"/>
          </a:p>
          <a:p>
            <a:pPr lvl="2"/>
            <a:r>
              <a:rPr lang="en-US" altLang="zh-CN"/>
              <a:t>public</a:t>
            </a:r>
            <a:r>
              <a:rPr lang="zh-CN" altLang="en-US"/>
              <a:t>接口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5" name="Cloud Callout 4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" y="3312795"/>
            <a:ext cx="5297170" cy="319151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思考与扩展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强类型与</a:t>
            </a:r>
            <a:r>
              <a:rPr lang="zh-CN" altLang="en-US"/>
              <a:t>弱类型</a:t>
            </a:r>
            <a:endParaRPr lang="zh-CN" altLang="en-US"/>
          </a:p>
        </p:txBody>
      </p:sp>
      <p:sp>
        <p:nvSpPr>
          <p:cNvPr id="5" name="Cloud Callout 4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4343400"/>
            <a:ext cx="5873115" cy="2146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5200015" cy="23545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692275"/>
            <a:ext cx="536511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/>
              <a:t>Integers</a:t>
            </a:r>
            <a:endParaRPr lang="en-US" dirty="0"/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b="1" dirty="0"/>
              <a:t>Expanding, truncating </a:t>
            </a:r>
            <a:r>
              <a:rPr lang="zh-CN" altLang="en-US" b="1" dirty="0"/>
              <a:t>类型的扩展与截断</a:t>
            </a:r>
            <a:endParaRPr lang="en-US" b="1" dirty="0"/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6110288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Sign Extension</a:t>
            </a:r>
            <a:r>
              <a:rPr lang="zh-CN" altLang="en-US"/>
              <a:t>有符号</a:t>
            </a:r>
            <a:r>
              <a:rPr lang="zh-CN" altLang="en-US"/>
              <a:t>扩展</a:t>
            </a:r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7213" y="1220788"/>
            <a:ext cx="8294687" cy="5224462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zh-CN" altLang="en-US"/>
              <a:t>任务</a:t>
            </a:r>
            <a:r>
              <a:rPr lang="en-US"/>
              <a:t>:</a:t>
            </a:r>
            <a:endParaRPr lang="en-US"/>
          </a:p>
          <a:p>
            <a:pPr lvl="1" eaLnBrk="1" hangingPunct="1">
              <a:defRPr/>
            </a:pPr>
            <a:r>
              <a:rPr lang="zh-CN" altLang="en-US"/>
              <a:t>将</a:t>
            </a:r>
            <a:r>
              <a:rPr lang="en-US" altLang="zh-CN"/>
              <a:t>w</a:t>
            </a:r>
            <a:r>
              <a:rPr lang="zh-CN" altLang="en-US"/>
              <a:t>位宽的有符号整数</a:t>
            </a:r>
            <a:r>
              <a:rPr lang="en-US"/>
              <a:t> </a:t>
            </a:r>
            <a:r>
              <a:rPr lang="en-US" i="1"/>
              <a:t>x</a:t>
            </a:r>
            <a:endParaRPr lang="en-US"/>
          </a:p>
          <a:p>
            <a:pPr lvl="1" eaLnBrk="1" hangingPunct="1">
              <a:defRPr/>
            </a:pPr>
            <a:r>
              <a:rPr lang="zh-CN" altLang="en-US"/>
              <a:t>转换成</a:t>
            </a:r>
            <a:r>
              <a:rPr lang="en-US"/>
              <a:t> </a:t>
            </a:r>
            <a:r>
              <a:rPr lang="en-US" i="1"/>
              <a:t>w</a:t>
            </a:r>
            <a:r>
              <a:rPr lang="en-US"/>
              <a:t>+</a:t>
            </a:r>
            <a:r>
              <a:rPr lang="en-US" i="1"/>
              <a:t>k</a:t>
            </a:r>
            <a:r>
              <a:rPr lang="zh-CN" altLang="en-US"/>
              <a:t>位宽的有符号整数</a:t>
            </a:r>
            <a:r>
              <a:rPr lang="en-US" altLang="zh-CN"/>
              <a:t>，</a:t>
            </a:r>
            <a:r>
              <a:rPr lang="zh-CN" altLang="en-US"/>
              <a:t>保持值的大小不变</a:t>
            </a:r>
            <a:endParaRPr lang="en-US"/>
          </a:p>
          <a:p>
            <a:pPr eaLnBrk="1" hangingPunct="1">
              <a:defRPr/>
            </a:pPr>
            <a:r>
              <a:rPr lang="zh-CN" altLang="en-US"/>
              <a:t>规则</a:t>
            </a:r>
            <a:r>
              <a:rPr lang="en-US"/>
              <a:t>:</a:t>
            </a:r>
            <a:endParaRPr lang="en-US"/>
          </a:p>
          <a:p>
            <a:pPr lvl="1" eaLnBrk="1" hangingPunct="1">
              <a:defRPr/>
            </a:pPr>
            <a:r>
              <a:rPr lang="zh-CN" altLang="en-US"/>
              <a:t>直接将符号位复制</a:t>
            </a:r>
            <a:r>
              <a:rPr lang="en-US" altLang="zh-CN" i="1"/>
              <a:t>k</a:t>
            </a:r>
            <a:r>
              <a:rPr lang="zh-CN" altLang="en-US"/>
              <a:t>份</a:t>
            </a:r>
            <a:r>
              <a:rPr lang="en-US"/>
              <a:t>:</a:t>
            </a:r>
            <a:endParaRPr lang="en-US"/>
          </a:p>
          <a:p>
            <a:pPr lvl="1" eaLnBrk="1" hangingPunct="1">
              <a:defRPr/>
            </a:pPr>
            <a:r>
              <a:rPr lang="en-US" b="0" i="1"/>
              <a:t>X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</a:t>
            </a:r>
            <a:r>
              <a:rPr lang="en-US"/>
              <a:t> =  </a:t>
            </a:r>
            <a:r>
              <a:rPr lang="en-US" b="0" i="1">
                <a:solidFill>
                  <a:srgbClr val="00B050"/>
                </a:solidFill>
              </a:rPr>
              <a:t>x</a:t>
            </a:r>
            <a:r>
              <a:rPr lang="en-US" b="0" i="1" baseline="-25000">
                <a:solidFill>
                  <a:srgbClr val="00B050"/>
                </a:solidFill>
              </a:rPr>
              <a:t>w</a:t>
            </a:r>
            <a:r>
              <a:rPr lang="en-US" b="0" baseline="-25000">
                <a:solidFill>
                  <a:srgbClr val="00B050"/>
                </a:solidFill>
              </a:rPr>
              <a:t>–1 </a:t>
            </a:r>
            <a:r>
              <a:rPr lang="en-US">
                <a:solidFill>
                  <a:srgbClr val="00B050"/>
                </a:solidFill>
              </a:rPr>
              <a:t>,…, </a:t>
            </a:r>
            <a:r>
              <a:rPr lang="en-US" b="0" i="1">
                <a:solidFill>
                  <a:srgbClr val="00B050"/>
                </a:solidFill>
              </a:rPr>
              <a:t>x</a:t>
            </a:r>
            <a:r>
              <a:rPr lang="en-US" b="0" i="1" baseline="-25000">
                <a:solidFill>
                  <a:srgbClr val="00B050"/>
                </a:solidFill>
              </a:rPr>
              <a:t>w</a:t>
            </a:r>
            <a:r>
              <a:rPr lang="en-US" b="0" baseline="-25000">
                <a:solidFill>
                  <a:srgbClr val="00B050"/>
                </a:solidFill>
              </a:rPr>
              <a:t>–1</a:t>
            </a:r>
            <a:r>
              <a:rPr lang="en-US" b="0" baseline="-25000"/>
              <a:t> </a:t>
            </a:r>
            <a:r>
              <a:rPr lang="en-US"/>
              <a:t>,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–1 </a:t>
            </a:r>
            <a:r>
              <a:rPr lang="en-US"/>
              <a:t>,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–2 </a:t>
            </a:r>
            <a:r>
              <a:rPr lang="en-US"/>
              <a:t>,…, </a:t>
            </a:r>
            <a:r>
              <a:rPr lang="en-US" b="0" i="1"/>
              <a:t>x</a:t>
            </a:r>
            <a:r>
              <a:rPr lang="en-US" b="0" baseline="-25000"/>
              <a:t>0</a:t>
            </a:r>
            <a:endParaRPr lang="en-US" b="0" baseline="-25000"/>
          </a:p>
          <a:p>
            <a:pPr eaLnBrk="1" hangingPunct="1">
              <a:defRPr/>
            </a:pPr>
            <a:endParaRPr lang="en-US"/>
          </a:p>
        </p:txBody>
      </p:sp>
      <p:sp>
        <p:nvSpPr>
          <p:cNvPr id="28676" name="Freeform 4"/>
          <p:cNvSpPr/>
          <p:nvPr/>
        </p:nvSpPr>
        <p:spPr bwMode="auto">
          <a:xfrm>
            <a:off x="3276600" y="3733800"/>
            <a:ext cx="1296988" cy="77788"/>
          </a:xfrm>
          <a:custGeom>
            <a:avLst/>
            <a:gdLst>
              <a:gd name="T0" fmla="*/ 0 w 817"/>
              <a:gd name="T1" fmla="*/ 0 h 49"/>
              <a:gd name="T2" fmla="*/ 0 w 817"/>
              <a:gd name="T3" fmla="*/ 48 h 49"/>
              <a:gd name="T4" fmla="*/ 816 w 817"/>
              <a:gd name="T5" fmla="*/ 48 h 49"/>
              <a:gd name="T6" fmla="*/ 816 w 817"/>
              <a:gd name="T7" fmla="*/ 0 h 49"/>
              <a:gd name="T8" fmla="*/ 0 60000 65536"/>
              <a:gd name="T9" fmla="*/ 0 60000 65536"/>
              <a:gd name="T10" fmla="*/ 0 60000 65536"/>
              <a:gd name="T11" fmla="*/ 0 60000 65536"/>
              <a:gd name="T12" fmla="*/ 0 w 817"/>
              <a:gd name="T13" fmla="*/ 0 h 49"/>
              <a:gd name="T14" fmla="*/ 817 w 817"/>
              <a:gd name="T15" fmla="*/ 49 h 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7" h="49">
                <a:moveTo>
                  <a:pt x="0" y="0"/>
                </a:moveTo>
                <a:lnTo>
                  <a:pt x="0" y="48"/>
                </a:lnTo>
                <a:lnTo>
                  <a:pt x="816" y="48"/>
                </a:lnTo>
                <a:lnTo>
                  <a:pt x="81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2971800" y="3962400"/>
            <a:ext cx="1758950" cy="33464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i="1" dirty="0">
                <a:latin typeface="Calibri" pitchFamily="34" charset="0"/>
              </a:rPr>
              <a:t>k</a:t>
            </a:r>
            <a:r>
              <a:rPr lang="en-US" sz="1600" dirty="0">
                <a:latin typeface="Calibri" pitchFamily="34" charset="0"/>
              </a:rPr>
              <a:t> copies of MSB</a:t>
            </a:r>
            <a:endParaRPr lang="en-US" sz="1600" dirty="0">
              <a:latin typeface="Calibri" pitchFamily="34" charset="0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3429000" y="3887788"/>
            <a:ext cx="5181600" cy="2911475"/>
            <a:chOff x="1392" y="2104"/>
            <a:chExt cx="3264" cy="1834"/>
          </a:xfrm>
        </p:grpSpPr>
        <p:grpSp>
          <p:nvGrpSpPr>
            <p:cNvPr id="3" name="Group 7"/>
            <p:cNvGrpSpPr/>
            <p:nvPr/>
          </p:nvGrpSpPr>
          <p:grpSpPr bwMode="auto">
            <a:xfrm>
              <a:off x="1392" y="2352"/>
              <a:ext cx="3264" cy="1298"/>
              <a:chOff x="1392" y="2352"/>
              <a:chExt cx="3264" cy="1298"/>
            </a:xfrm>
          </p:grpSpPr>
          <p:grpSp>
            <p:nvGrpSpPr>
              <p:cNvPr id="4" name="Group 8"/>
              <p:cNvGrpSpPr/>
              <p:nvPr/>
            </p:nvGrpSpPr>
            <p:grpSpPr bwMode="auto">
              <a:xfrm>
                <a:off x="2928" y="2400"/>
                <a:ext cx="1728" cy="144"/>
                <a:chOff x="2928" y="2400"/>
                <a:chExt cx="1728" cy="144"/>
              </a:xfrm>
            </p:grpSpPr>
            <p:sp>
              <p:nvSpPr>
                <p:cNvPr id="28714" name="Rectangle 9"/>
                <p:cNvSpPr>
                  <a:spLocks noChangeArrowheads="1"/>
                </p:cNvSpPr>
                <p:nvPr/>
              </p:nvSpPr>
              <p:spPr bwMode="auto">
                <a:xfrm>
                  <a:off x="2928" y="2400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5" name="Rectangle 10"/>
                <p:cNvSpPr>
                  <a:spLocks noChangeArrowheads="1"/>
                </p:cNvSpPr>
                <p:nvPr/>
              </p:nvSpPr>
              <p:spPr bwMode="auto">
                <a:xfrm>
                  <a:off x="3072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6" name="Rectangle 11"/>
                <p:cNvSpPr>
                  <a:spLocks noChangeArrowheads="1"/>
                </p:cNvSpPr>
                <p:nvPr/>
              </p:nvSpPr>
              <p:spPr bwMode="auto">
                <a:xfrm>
                  <a:off x="3216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7" name="Rectangle 12"/>
                <p:cNvSpPr>
                  <a:spLocks noChangeArrowheads="1"/>
                </p:cNvSpPr>
                <p:nvPr/>
              </p:nvSpPr>
              <p:spPr bwMode="auto">
                <a:xfrm>
                  <a:off x="4224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8" name="Rectangle 13"/>
                <p:cNvSpPr>
                  <a:spLocks noChangeArrowheads="1"/>
                </p:cNvSpPr>
                <p:nvPr/>
              </p:nvSpPr>
              <p:spPr bwMode="auto">
                <a:xfrm>
                  <a:off x="4368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9" name="Rectangle 14"/>
                <p:cNvSpPr>
                  <a:spLocks noChangeArrowheads="1"/>
                </p:cNvSpPr>
                <p:nvPr/>
              </p:nvSpPr>
              <p:spPr bwMode="auto">
                <a:xfrm>
                  <a:off x="4512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20" name="Rectangle 15"/>
                <p:cNvSpPr>
                  <a:spLocks noChangeArrowheads="1"/>
                </p:cNvSpPr>
                <p:nvPr/>
              </p:nvSpPr>
              <p:spPr bwMode="auto">
                <a:xfrm>
                  <a:off x="3360" y="2400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b="0"/>
                    <a:t>• • •</a:t>
                  </a:r>
                  <a:endParaRPr lang="en-US" b="0"/>
                </a:p>
              </p:txBody>
            </p:sp>
          </p:grpSp>
          <p:sp>
            <p:nvSpPr>
              <p:cNvPr id="28687" name="Rectangle 16"/>
              <p:cNvSpPr>
                <a:spLocks noChangeArrowheads="1"/>
              </p:cNvSpPr>
              <p:nvPr/>
            </p:nvSpPr>
            <p:spPr bwMode="auto">
              <a:xfrm>
                <a:off x="2544" y="2352"/>
                <a:ext cx="291" cy="290"/>
              </a:xfrm>
              <a:prstGeom prst="rect">
                <a:avLst/>
              </a:prstGeom>
              <a:noFill/>
              <a:ln w="254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i="1">
                    <a:latin typeface="Times" panose="00000500000000020000" pitchFamily="18" charset="0"/>
                  </a:rPr>
                  <a:t>X</a:t>
                </a:r>
                <a:r>
                  <a:rPr lang="en-US" b="0">
                    <a:latin typeface="Times" panose="00000500000000020000" pitchFamily="18" charset="0"/>
                  </a:rPr>
                  <a:t> </a:t>
                </a:r>
                <a:endParaRPr lang="en-US" b="0">
                  <a:latin typeface="Symbol" pitchFamily="18" charset="2"/>
                </a:endParaRPr>
              </a:p>
            </p:txBody>
          </p:sp>
          <p:sp>
            <p:nvSpPr>
              <p:cNvPr id="28688" name="Rectangle 17"/>
              <p:cNvSpPr>
                <a:spLocks noChangeArrowheads="1"/>
              </p:cNvSpPr>
              <p:nvPr/>
            </p:nvSpPr>
            <p:spPr bwMode="auto">
              <a:xfrm>
                <a:off x="1392" y="3360"/>
                <a:ext cx="339" cy="290"/>
              </a:xfrm>
              <a:prstGeom prst="rect">
                <a:avLst/>
              </a:prstGeom>
              <a:noFill/>
              <a:ln w="254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i="1">
                    <a:latin typeface="Times" panose="00000500000000020000" pitchFamily="18" charset="0"/>
                  </a:rPr>
                  <a:t>X</a:t>
                </a:r>
                <a:r>
                  <a:rPr lang="en-US" b="0">
                    <a:latin typeface="Times" panose="00000500000000020000" pitchFamily="18" charset="0"/>
                  </a:rPr>
                  <a:t> </a:t>
                </a:r>
                <a:r>
                  <a:rPr lang="en-US" b="0">
                    <a:latin typeface="Symbol" pitchFamily="18" charset="2"/>
                  </a:rPr>
                  <a:t></a:t>
                </a:r>
                <a:endParaRPr lang="en-US" b="0">
                  <a:latin typeface="Symbol" pitchFamily="18" charset="2"/>
                </a:endParaRPr>
              </a:p>
            </p:txBody>
          </p:sp>
          <p:sp>
            <p:nvSpPr>
              <p:cNvPr id="28689" name="Line 18"/>
              <p:cNvSpPr>
                <a:spLocks noChangeShapeType="1"/>
              </p:cNvSpPr>
              <p:nvPr/>
            </p:nvSpPr>
            <p:spPr bwMode="auto">
              <a:xfrm>
                <a:off x="3024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0" name="Line 19"/>
              <p:cNvSpPr>
                <a:spLocks noChangeShapeType="1"/>
              </p:cNvSpPr>
              <p:nvPr/>
            </p:nvSpPr>
            <p:spPr bwMode="auto">
              <a:xfrm flipH="1">
                <a:off x="2880" y="2592"/>
                <a:ext cx="144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20"/>
              <p:cNvGrpSpPr/>
              <p:nvPr/>
            </p:nvGrpSpPr>
            <p:grpSpPr bwMode="auto">
              <a:xfrm>
                <a:off x="1824" y="3456"/>
                <a:ext cx="2832" cy="144"/>
                <a:chOff x="1824" y="3456"/>
                <a:chExt cx="2832" cy="144"/>
              </a:xfrm>
            </p:grpSpPr>
            <p:sp>
              <p:nvSpPr>
                <p:cNvPr id="28701" name="Rectangle 21"/>
                <p:cNvSpPr>
                  <a:spLocks noChangeArrowheads="1"/>
                </p:cNvSpPr>
                <p:nvPr/>
              </p:nvSpPr>
              <p:spPr bwMode="auto">
                <a:xfrm>
                  <a:off x="2112" y="3456"/>
                  <a:ext cx="528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b="0"/>
                    <a:t>• • •</a:t>
                  </a:r>
                  <a:endParaRPr lang="en-US" b="0"/>
                </a:p>
              </p:txBody>
            </p:sp>
            <p:sp>
              <p:nvSpPr>
                <p:cNvPr id="28702" name="Rectangle 22"/>
                <p:cNvSpPr>
                  <a:spLocks noChangeArrowheads="1"/>
                </p:cNvSpPr>
                <p:nvPr/>
              </p:nvSpPr>
              <p:spPr bwMode="auto">
                <a:xfrm>
                  <a:off x="2784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03" name="Rectangle 23"/>
                <p:cNvSpPr>
                  <a:spLocks noChangeArrowheads="1"/>
                </p:cNvSpPr>
                <p:nvPr/>
              </p:nvSpPr>
              <p:spPr bwMode="auto">
                <a:xfrm>
                  <a:off x="2640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04" name="Rectangle 24"/>
                <p:cNvSpPr>
                  <a:spLocks noChangeArrowheads="1"/>
                </p:cNvSpPr>
                <p:nvPr/>
              </p:nvSpPr>
              <p:spPr bwMode="auto">
                <a:xfrm>
                  <a:off x="1968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05" name="Rectangle 25"/>
                <p:cNvSpPr>
                  <a:spLocks noChangeArrowheads="1"/>
                </p:cNvSpPr>
                <p:nvPr/>
              </p:nvSpPr>
              <p:spPr bwMode="auto">
                <a:xfrm>
                  <a:off x="1824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grpSp>
              <p:nvGrpSpPr>
                <p:cNvPr id="6" name="Group 26"/>
                <p:cNvGrpSpPr/>
                <p:nvPr/>
              </p:nvGrpSpPr>
              <p:grpSpPr bwMode="auto">
                <a:xfrm>
                  <a:off x="2928" y="3456"/>
                  <a:ext cx="1728" cy="144"/>
                  <a:chOff x="2928" y="3456"/>
                  <a:chExt cx="1728" cy="144"/>
                </a:xfrm>
              </p:grpSpPr>
              <p:sp>
                <p:nvSpPr>
                  <p:cNvPr id="28707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3456"/>
                    <a:ext cx="144" cy="144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0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09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0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2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3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3456"/>
                    <a:ext cx="86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lang="en-US" b="0"/>
                      <a:t>• • •</a:t>
                    </a:r>
                    <a:endParaRPr lang="en-US" b="0"/>
                  </a:p>
                </p:txBody>
              </p:sp>
            </p:grpSp>
          </p:grpSp>
          <p:sp>
            <p:nvSpPr>
              <p:cNvPr id="28692" name="Line 34"/>
              <p:cNvSpPr>
                <a:spLocks noChangeShapeType="1"/>
              </p:cNvSpPr>
              <p:nvPr/>
            </p:nvSpPr>
            <p:spPr bwMode="auto">
              <a:xfrm flipH="1">
                <a:off x="2736" y="2592"/>
                <a:ext cx="288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3" name="Line 35"/>
              <p:cNvSpPr>
                <a:spLocks noChangeShapeType="1"/>
              </p:cNvSpPr>
              <p:nvPr/>
            </p:nvSpPr>
            <p:spPr bwMode="auto">
              <a:xfrm flipH="1">
                <a:off x="2064" y="2592"/>
                <a:ext cx="96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4" name="Line 36"/>
              <p:cNvSpPr>
                <a:spLocks noChangeShapeType="1"/>
              </p:cNvSpPr>
              <p:nvPr/>
            </p:nvSpPr>
            <p:spPr bwMode="auto">
              <a:xfrm flipH="1">
                <a:off x="1920" y="2592"/>
                <a:ext cx="1104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5" name="Line 37"/>
              <p:cNvSpPr>
                <a:spLocks noChangeShapeType="1"/>
              </p:cNvSpPr>
              <p:nvPr/>
            </p:nvSpPr>
            <p:spPr bwMode="auto">
              <a:xfrm>
                <a:off x="3168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6" name="Line 38"/>
              <p:cNvSpPr>
                <a:spLocks noChangeShapeType="1"/>
              </p:cNvSpPr>
              <p:nvPr/>
            </p:nvSpPr>
            <p:spPr bwMode="auto">
              <a:xfrm>
                <a:off x="3312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7" name="Line 39"/>
              <p:cNvSpPr>
                <a:spLocks noChangeShapeType="1"/>
              </p:cNvSpPr>
              <p:nvPr/>
            </p:nvSpPr>
            <p:spPr bwMode="auto">
              <a:xfrm>
                <a:off x="4320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8" name="Line 40"/>
              <p:cNvSpPr>
                <a:spLocks noChangeShapeType="1"/>
              </p:cNvSpPr>
              <p:nvPr/>
            </p:nvSpPr>
            <p:spPr bwMode="auto">
              <a:xfrm>
                <a:off x="4464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9" name="Line 41"/>
              <p:cNvSpPr>
                <a:spLocks noChangeShapeType="1"/>
              </p:cNvSpPr>
              <p:nvPr/>
            </p:nvSpPr>
            <p:spPr bwMode="auto">
              <a:xfrm>
                <a:off x="4608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0" name="Rectangle 42"/>
              <p:cNvSpPr>
                <a:spLocks noChangeArrowheads="1"/>
              </p:cNvSpPr>
              <p:nvPr/>
            </p:nvSpPr>
            <p:spPr bwMode="auto">
              <a:xfrm>
                <a:off x="2352" y="3120"/>
                <a:ext cx="262" cy="201"/>
              </a:xfrm>
              <a:prstGeom prst="rect">
                <a:avLst/>
              </a:prstGeom>
              <a:noFill/>
              <a:ln w="254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/>
                  <a:t>• • •</a:t>
                </a:r>
                <a:endParaRPr lang="en-US" sz="1400" b="0"/>
              </a:p>
            </p:txBody>
          </p:sp>
        </p:grpSp>
        <p:sp>
          <p:nvSpPr>
            <p:cNvPr id="28680" name="Line 43"/>
            <p:cNvSpPr>
              <a:spLocks noChangeShapeType="1"/>
            </p:cNvSpPr>
            <p:nvPr/>
          </p:nvSpPr>
          <p:spPr bwMode="auto">
            <a:xfrm>
              <a:off x="2928" y="2208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1" name="Rectangle 44"/>
            <p:cNvSpPr>
              <a:spLocks noChangeArrowheads="1"/>
            </p:cNvSpPr>
            <p:nvPr/>
          </p:nvSpPr>
          <p:spPr bwMode="auto">
            <a:xfrm>
              <a:off x="3696" y="2104"/>
              <a:ext cx="261" cy="29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w</a:t>
              </a:r>
              <a:endParaRPr lang="en-US" b="0" i="1" dirty="0">
                <a:latin typeface="Calibri" pitchFamily="34" charset="0"/>
              </a:endParaRPr>
            </a:p>
          </p:txBody>
        </p:sp>
        <p:sp>
          <p:nvSpPr>
            <p:cNvPr id="28682" name="Line 45"/>
            <p:cNvSpPr>
              <a:spLocks noChangeShapeType="1"/>
            </p:cNvSpPr>
            <p:nvPr/>
          </p:nvSpPr>
          <p:spPr bwMode="auto">
            <a:xfrm>
              <a:off x="2928" y="3744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3" name="Rectangle 46"/>
            <p:cNvSpPr>
              <a:spLocks noChangeArrowheads="1"/>
            </p:cNvSpPr>
            <p:nvPr/>
          </p:nvSpPr>
          <p:spPr bwMode="auto">
            <a:xfrm>
              <a:off x="3696" y="3640"/>
              <a:ext cx="261" cy="29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w</a:t>
              </a:r>
              <a:endParaRPr lang="en-US" b="0" i="1" dirty="0">
                <a:latin typeface="Calibri" pitchFamily="34" charset="0"/>
              </a:endParaRPr>
            </a:p>
          </p:txBody>
        </p:sp>
        <p:sp>
          <p:nvSpPr>
            <p:cNvPr id="28684" name="Line 47"/>
            <p:cNvSpPr>
              <a:spLocks noChangeShapeType="1"/>
            </p:cNvSpPr>
            <p:nvPr/>
          </p:nvSpPr>
          <p:spPr bwMode="auto">
            <a:xfrm>
              <a:off x="1824" y="3744"/>
              <a:ext cx="11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5" name="Rectangle 48"/>
            <p:cNvSpPr>
              <a:spLocks noChangeArrowheads="1"/>
            </p:cNvSpPr>
            <p:nvPr/>
          </p:nvSpPr>
          <p:spPr bwMode="auto">
            <a:xfrm>
              <a:off x="2208" y="3648"/>
              <a:ext cx="208" cy="29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k</a:t>
              </a:r>
              <a:endParaRPr lang="en-US" b="0" i="1" dirty="0">
                <a:latin typeface="Calibri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23850"/>
            <a:ext cx="70056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/>
              <a:t>C</a:t>
            </a:r>
            <a:r>
              <a:rPr lang="zh-CN" altLang="en-US" sz="2400"/>
              <a:t>语言</a:t>
            </a:r>
            <a:r>
              <a:rPr lang="zh-CN" altLang="en-US" sz="2400"/>
              <a:t>中有符号扩展的例子</a:t>
            </a:r>
            <a:endParaRPr lang="zh-CN" altLang="en-US" sz="240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4513" y="4803775"/>
            <a:ext cx="8307387" cy="1641475"/>
          </a:xfrm>
        </p:spPr>
        <p:txBody>
          <a:bodyPr/>
          <a:lstStyle/>
          <a:p>
            <a:r>
              <a:rPr lang="en-US" dirty="0"/>
              <a:t>Converting from smaller to larger integer data type</a:t>
            </a:r>
            <a:endParaRPr lang="en-US" dirty="0"/>
          </a:p>
          <a:p>
            <a:pPr lvl="1"/>
            <a:r>
              <a:rPr lang="en-US" dirty="0">
                <a:solidFill>
                  <a:srgbClr val="00B050"/>
                </a:solidFill>
              </a:rPr>
              <a:t>C</a:t>
            </a:r>
            <a:r>
              <a:rPr lang="zh-CN" altLang="en-US" dirty="0">
                <a:solidFill>
                  <a:srgbClr val="00B050"/>
                </a:solidFill>
              </a:rPr>
              <a:t>语言自动进行有符号</a:t>
            </a:r>
            <a:r>
              <a:rPr lang="zh-CN" altLang="en-US" dirty="0">
                <a:solidFill>
                  <a:srgbClr val="00B050"/>
                </a:solidFill>
              </a:rPr>
              <a:t>扩展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1905000" y="1284982"/>
            <a:ext cx="4191000" cy="1076325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short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x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=  15213;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  ix = (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)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x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; 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short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y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= -15213;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 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iy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= (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)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y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2633663" y="2863850"/>
            <a:ext cx="19050" cy="1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3606800" y="2863850"/>
            <a:ext cx="17463" cy="1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5262563" y="2863850"/>
            <a:ext cx="19050" cy="1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8"/>
          <p:cNvGrpSpPr/>
          <p:nvPr/>
        </p:nvGrpSpPr>
        <p:grpSpPr bwMode="auto">
          <a:xfrm>
            <a:off x="1879600" y="2844801"/>
            <a:ext cx="8431213" cy="1427163"/>
            <a:chOff x="224" y="1792"/>
            <a:chExt cx="5311" cy="899"/>
          </a:xfrm>
        </p:grpSpPr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754" y="1808"/>
              <a:ext cx="538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Decimal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1712" y="1808"/>
              <a:ext cx="230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Hex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3745" y="1808"/>
              <a:ext cx="461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Binary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224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224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0" name="Rectangle 14"/>
            <p:cNvSpPr>
              <a:spLocks noChangeArrowheads="1"/>
            </p:cNvSpPr>
            <p:nvPr/>
          </p:nvSpPr>
          <p:spPr bwMode="auto">
            <a:xfrm>
              <a:off x="236" y="1792"/>
              <a:ext cx="463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1" name="Rectangle 15"/>
            <p:cNvSpPr>
              <a:spLocks noChangeArrowheads="1"/>
            </p:cNvSpPr>
            <p:nvPr/>
          </p:nvSpPr>
          <p:spPr bwMode="auto">
            <a:xfrm>
              <a:off x="699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2" name="Rectangle 16"/>
            <p:cNvSpPr>
              <a:spLocks noChangeArrowheads="1"/>
            </p:cNvSpPr>
            <p:nvPr/>
          </p:nvSpPr>
          <p:spPr bwMode="auto">
            <a:xfrm>
              <a:off x="711" y="1792"/>
              <a:ext cx="60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3" name="Rectangle 17"/>
            <p:cNvSpPr>
              <a:spLocks noChangeArrowheads="1"/>
            </p:cNvSpPr>
            <p:nvPr/>
          </p:nvSpPr>
          <p:spPr bwMode="auto">
            <a:xfrm>
              <a:off x="1312" y="179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4" name="Rectangle 18"/>
            <p:cNvSpPr>
              <a:spLocks noChangeArrowheads="1"/>
            </p:cNvSpPr>
            <p:nvPr/>
          </p:nvSpPr>
          <p:spPr bwMode="auto">
            <a:xfrm>
              <a:off x="1323" y="1792"/>
              <a:ext cx="103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5" name="Rectangle 19"/>
            <p:cNvSpPr>
              <a:spLocks noChangeArrowheads="1"/>
            </p:cNvSpPr>
            <p:nvPr/>
          </p:nvSpPr>
          <p:spPr bwMode="auto">
            <a:xfrm>
              <a:off x="2355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6" name="Rectangle 20"/>
            <p:cNvSpPr>
              <a:spLocks noChangeArrowheads="1"/>
            </p:cNvSpPr>
            <p:nvPr/>
          </p:nvSpPr>
          <p:spPr bwMode="auto">
            <a:xfrm>
              <a:off x="2367" y="1792"/>
              <a:ext cx="315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7" name="Rectangle 21"/>
            <p:cNvSpPr>
              <a:spLocks noChangeArrowheads="1"/>
            </p:cNvSpPr>
            <p:nvPr/>
          </p:nvSpPr>
          <p:spPr bwMode="auto">
            <a:xfrm>
              <a:off x="5523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8" name="Rectangle 22"/>
            <p:cNvSpPr>
              <a:spLocks noChangeArrowheads="1"/>
            </p:cNvSpPr>
            <p:nvPr/>
          </p:nvSpPr>
          <p:spPr bwMode="auto">
            <a:xfrm>
              <a:off x="5523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19" name="Rectangle 23"/>
            <p:cNvSpPr>
              <a:spLocks noChangeArrowheads="1"/>
            </p:cNvSpPr>
            <p:nvPr/>
          </p:nvSpPr>
          <p:spPr bwMode="auto">
            <a:xfrm>
              <a:off x="224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0" name="Rectangle 24"/>
            <p:cNvSpPr>
              <a:spLocks noChangeArrowheads="1"/>
            </p:cNvSpPr>
            <p:nvPr/>
          </p:nvSpPr>
          <p:spPr bwMode="auto">
            <a:xfrm>
              <a:off x="699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1" name="Rectangle 25"/>
            <p:cNvSpPr>
              <a:spLocks noChangeArrowheads="1"/>
            </p:cNvSpPr>
            <p:nvPr/>
          </p:nvSpPr>
          <p:spPr bwMode="auto">
            <a:xfrm>
              <a:off x="1312" y="1804"/>
              <a:ext cx="11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2" name="Rectangle 26"/>
            <p:cNvSpPr>
              <a:spLocks noChangeArrowheads="1"/>
            </p:cNvSpPr>
            <p:nvPr/>
          </p:nvSpPr>
          <p:spPr bwMode="auto">
            <a:xfrm>
              <a:off x="2355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3" name="Rectangle 27"/>
            <p:cNvSpPr>
              <a:spLocks noChangeArrowheads="1"/>
            </p:cNvSpPr>
            <p:nvPr/>
          </p:nvSpPr>
          <p:spPr bwMode="auto">
            <a:xfrm>
              <a:off x="5523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4" name="Rectangle 28"/>
            <p:cNvSpPr>
              <a:spLocks noChangeArrowheads="1"/>
            </p:cNvSpPr>
            <p:nvPr/>
          </p:nvSpPr>
          <p:spPr bwMode="auto">
            <a:xfrm>
              <a:off x="274" y="1993"/>
              <a:ext cx="77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x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5" name="Rectangle 29"/>
            <p:cNvSpPr>
              <a:spLocks noChangeArrowheads="1"/>
            </p:cNvSpPr>
            <p:nvPr/>
          </p:nvSpPr>
          <p:spPr bwMode="auto">
            <a:xfrm>
              <a:off x="877" y="1986"/>
              <a:ext cx="384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15213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6" name="Rectangle 30"/>
            <p:cNvSpPr>
              <a:spLocks noChangeArrowheads="1"/>
            </p:cNvSpPr>
            <p:nvPr/>
          </p:nvSpPr>
          <p:spPr bwMode="auto">
            <a:xfrm>
              <a:off x="1889" y="1993"/>
              <a:ext cx="384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3B 6D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7" name="Rectangle 31"/>
            <p:cNvSpPr>
              <a:spLocks noChangeArrowheads="1"/>
            </p:cNvSpPr>
            <p:nvPr/>
          </p:nvSpPr>
          <p:spPr bwMode="auto">
            <a:xfrm>
              <a:off x="4025" y="1993"/>
              <a:ext cx="1306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00111011 01101101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8" name="Rectangle 32"/>
            <p:cNvSpPr>
              <a:spLocks noChangeArrowheads="1"/>
            </p:cNvSpPr>
            <p:nvPr/>
          </p:nvSpPr>
          <p:spPr bwMode="auto">
            <a:xfrm>
              <a:off x="224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29" name="Rectangle 33"/>
            <p:cNvSpPr>
              <a:spLocks noChangeArrowheads="1"/>
            </p:cNvSpPr>
            <p:nvPr/>
          </p:nvSpPr>
          <p:spPr bwMode="auto">
            <a:xfrm>
              <a:off x="236" y="1970"/>
              <a:ext cx="463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0" name="Rectangle 34"/>
            <p:cNvSpPr>
              <a:spLocks noChangeArrowheads="1"/>
            </p:cNvSpPr>
            <p:nvPr/>
          </p:nvSpPr>
          <p:spPr bwMode="auto">
            <a:xfrm>
              <a:off x="699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1" name="Rectangle 35"/>
            <p:cNvSpPr>
              <a:spLocks noChangeArrowheads="1"/>
            </p:cNvSpPr>
            <p:nvPr/>
          </p:nvSpPr>
          <p:spPr bwMode="auto">
            <a:xfrm>
              <a:off x="711" y="1970"/>
              <a:ext cx="60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2" name="Rectangle 36"/>
            <p:cNvSpPr>
              <a:spLocks noChangeArrowheads="1"/>
            </p:cNvSpPr>
            <p:nvPr/>
          </p:nvSpPr>
          <p:spPr bwMode="auto">
            <a:xfrm>
              <a:off x="1312" y="1970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3" name="Rectangle 37"/>
            <p:cNvSpPr>
              <a:spLocks noChangeArrowheads="1"/>
            </p:cNvSpPr>
            <p:nvPr/>
          </p:nvSpPr>
          <p:spPr bwMode="auto">
            <a:xfrm>
              <a:off x="1323" y="1970"/>
              <a:ext cx="103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4" name="Rectangle 38"/>
            <p:cNvSpPr>
              <a:spLocks noChangeArrowheads="1"/>
            </p:cNvSpPr>
            <p:nvPr/>
          </p:nvSpPr>
          <p:spPr bwMode="auto">
            <a:xfrm>
              <a:off x="2355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5" name="Rectangle 39"/>
            <p:cNvSpPr>
              <a:spLocks noChangeArrowheads="1"/>
            </p:cNvSpPr>
            <p:nvPr/>
          </p:nvSpPr>
          <p:spPr bwMode="auto">
            <a:xfrm>
              <a:off x="2367" y="1970"/>
              <a:ext cx="315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6" name="Rectangle 40"/>
            <p:cNvSpPr>
              <a:spLocks noChangeArrowheads="1"/>
            </p:cNvSpPr>
            <p:nvPr/>
          </p:nvSpPr>
          <p:spPr bwMode="auto">
            <a:xfrm>
              <a:off x="5523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7" name="Rectangle 41"/>
            <p:cNvSpPr>
              <a:spLocks noChangeArrowheads="1"/>
            </p:cNvSpPr>
            <p:nvPr/>
          </p:nvSpPr>
          <p:spPr bwMode="auto">
            <a:xfrm>
              <a:off x="224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8" name="Rectangle 42"/>
            <p:cNvSpPr>
              <a:spLocks noChangeArrowheads="1"/>
            </p:cNvSpPr>
            <p:nvPr/>
          </p:nvSpPr>
          <p:spPr bwMode="auto">
            <a:xfrm>
              <a:off x="699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39" name="Rectangle 43"/>
            <p:cNvSpPr>
              <a:spLocks noChangeArrowheads="1"/>
            </p:cNvSpPr>
            <p:nvPr/>
          </p:nvSpPr>
          <p:spPr bwMode="auto">
            <a:xfrm>
              <a:off x="1312" y="1982"/>
              <a:ext cx="11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0" name="Rectangle 44"/>
            <p:cNvSpPr>
              <a:spLocks noChangeArrowheads="1"/>
            </p:cNvSpPr>
            <p:nvPr/>
          </p:nvSpPr>
          <p:spPr bwMode="auto">
            <a:xfrm>
              <a:off x="2355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1" name="Rectangle 45"/>
            <p:cNvSpPr>
              <a:spLocks noChangeArrowheads="1"/>
            </p:cNvSpPr>
            <p:nvPr/>
          </p:nvSpPr>
          <p:spPr bwMode="auto">
            <a:xfrm>
              <a:off x="5523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2" name="Rectangle 46"/>
            <p:cNvSpPr>
              <a:spLocks noChangeArrowheads="1"/>
            </p:cNvSpPr>
            <p:nvPr/>
          </p:nvSpPr>
          <p:spPr bwMode="auto">
            <a:xfrm>
              <a:off x="274" y="2170"/>
              <a:ext cx="154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ix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3" name="Rectangle 47"/>
            <p:cNvSpPr>
              <a:spLocks noChangeArrowheads="1"/>
            </p:cNvSpPr>
            <p:nvPr/>
          </p:nvSpPr>
          <p:spPr bwMode="auto">
            <a:xfrm>
              <a:off x="877" y="2164"/>
              <a:ext cx="384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15213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4" name="Rectangle 48"/>
            <p:cNvSpPr>
              <a:spLocks noChangeArrowheads="1"/>
            </p:cNvSpPr>
            <p:nvPr/>
          </p:nvSpPr>
          <p:spPr bwMode="auto">
            <a:xfrm>
              <a:off x="1424" y="2170"/>
              <a:ext cx="845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00 00 3B 6D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5" name="Rectangle 49"/>
            <p:cNvSpPr>
              <a:spLocks noChangeArrowheads="1"/>
            </p:cNvSpPr>
            <p:nvPr/>
          </p:nvSpPr>
          <p:spPr bwMode="auto">
            <a:xfrm>
              <a:off x="2634" y="2170"/>
              <a:ext cx="2688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B05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00000000 00000000 0</a:t>
              </a:r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0111011 01101101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6" name="Rectangle 50"/>
            <p:cNvSpPr>
              <a:spLocks noChangeArrowheads="1"/>
            </p:cNvSpPr>
            <p:nvPr/>
          </p:nvSpPr>
          <p:spPr bwMode="auto">
            <a:xfrm>
              <a:off x="224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7" name="Rectangle 51"/>
            <p:cNvSpPr>
              <a:spLocks noChangeArrowheads="1"/>
            </p:cNvSpPr>
            <p:nvPr/>
          </p:nvSpPr>
          <p:spPr bwMode="auto">
            <a:xfrm>
              <a:off x="236" y="2147"/>
              <a:ext cx="463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8" name="Rectangle 52"/>
            <p:cNvSpPr>
              <a:spLocks noChangeArrowheads="1"/>
            </p:cNvSpPr>
            <p:nvPr/>
          </p:nvSpPr>
          <p:spPr bwMode="auto">
            <a:xfrm>
              <a:off x="699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49" name="Rectangle 53"/>
            <p:cNvSpPr>
              <a:spLocks noChangeArrowheads="1"/>
            </p:cNvSpPr>
            <p:nvPr/>
          </p:nvSpPr>
          <p:spPr bwMode="auto">
            <a:xfrm>
              <a:off x="711" y="2147"/>
              <a:ext cx="60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0" name="Rectangle 54"/>
            <p:cNvSpPr>
              <a:spLocks noChangeArrowheads="1"/>
            </p:cNvSpPr>
            <p:nvPr/>
          </p:nvSpPr>
          <p:spPr bwMode="auto">
            <a:xfrm>
              <a:off x="1312" y="2147"/>
              <a:ext cx="11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1" name="Rectangle 55"/>
            <p:cNvSpPr>
              <a:spLocks noChangeArrowheads="1"/>
            </p:cNvSpPr>
            <p:nvPr/>
          </p:nvSpPr>
          <p:spPr bwMode="auto">
            <a:xfrm>
              <a:off x="1323" y="2147"/>
              <a:ext cx="103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2" name="Rectangle 56"/>
            <p:cNvSpPr>
              <a:spLocks noChangeArrowheads="1"/>
            </p:cNvSpPr>
            <p:nvPr/>
          </p:nvSpPr>
          <p:spPr bwMode="auto">
            <a:xfrm>
              <a:off x="2355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3" name="Rectangle 57"/>
            <p:cNvSpPr>
              <a:spLocks noChangeArrowheads="1"/>
            </p:cNvSpPr>
            <p:nvPr/>
          </p:nvSpPr>
          <p:spPr bwMode="auto">
            <a:xfrm>
              <a:off x="2367" y="2147"/>
              <a:ext cx="315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4" name="Rectangle 58"/>
            <p:cNvSpPr>
              <a:spLocks noChangeArrowheads="1"/>
            </p:cNvSpPr>
            <p:nvPr/>
          </p:nvSpPr>
          <p:spPr bwMode="auto">
            <a:xfrm>
              <a:off x="5523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5" name="Rectangle 59"/>
            <p:cNvSpPr>
              <a:spLocks noChangeArrowheads="1"/>
            </p:cNvSpPr>
            <p:nvPr/>
          </p:nvSpPr>
          <p:spPr bwMode="auto">
            <a:xfrm>
              <a:off x="224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6" name="Rectangle 60"/>
            <p:cNvSpPr>
              <a:spLocks noChangeArrowheads="1"/>
            </p:cNvSpPr>
            <p:nvPr/>
          </p:nvSpPr>
          <p:spPr bwMode="auto">
            <a:xfrm>
              <a:off x="699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7" name="Rectangle 61"/>
            <p:cNvSpPr>
              <a:spLocks noChangeArrowheads="1"/>
            </p:cNvSpPr>
            <p:nvPr/>
          </p:nvSpPr>
          <p:spPr bwMode="auto">
            <a:xfrm>
              <a:off x="1312" y="2160"/>
              <a:ext cx="11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8" name="Rectangle 62"/>
            <p:cNvSpPr>
              <a:spLocks noChangeArrowheads="1"/>
            </p:cNvSpPr>
            <p:nvPr/>
          </p:nvSpPr>
          <p:spPr bwMode="auto">
            <a:xfrm>
              <a:off x="2355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59" name="Rectangle 63"/>
            <p:cNvSpPr>
              <a:spLocks noChangeArrowheads="1"/>
            </p:cNvSpPr>
            <p:nvPr/>
          </p:nvSpPr>
          <p:spPr bwMode="auto">
            <a:xfrm>
              <a:off x="5523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0" name="Rectangle 64"/>
            <p:cNvSpPr>
              <a:spLocks noChangeArrowheads="1"/>
            </p:cNvSpPr>
            <p:nvPr/>
          </p:nvSpPr>
          <p:spPr bwMode="auto">
            <a:xfrm>
              <a:off x="274" y="2348"/>
              <a:ext cx="77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y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1" name="Rectangle 65"/>
            <p:cNvSpPr>
              <a:spLocks noChangeArrowheads="1"/>
            </p:cNvSpPr>
            <p:nvPr/>
          </p:nvSpPr>
          <p:spPr bwMode="auto">
            <a:xfrm>
              <a:off x="829" y="2341"/>
              <a:ext cx="461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-15213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2" name="Rectangle 66"/>
            <p:cNvSpPr>
              <a:spLocks noChangeArrowheads="1"/>
            </p:cNvSpPr>
            <p:nvPr/>
          </p:nvSpPr>
          <p:spPr bwMode="auto">
            <a:xfrm>
              <a:off x="1889" y="2348"/>
              <a:ext cx="384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C4 93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3" name="Rectangle 67"/>
            <p:cNvSpPr>
              <a:spLocks noChangeArrowheads="1"/>
            </p:cNvSpPr>
            <p:nvPr/>
          </p:nvSpPr>
          <p:spPr bwMode="auto">
            <a:xfrm>
              <a:off x="4025" y="2348"/>
              <a:ext cx="1306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11000100 10010011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4" name="Rectangle 68"/>
            <p:cNvSpPr>
              <a:spLocks noChangeArrowheads="1"/>
            </p:cNvSpPr>
            <p:nvPr/>
          </p:nvSpPr>
          <p:spPr bwMode="auto">
            <a:xfrm>
              <a:off x="224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5" name="Rectangle 69"/>
            <p:cNvSpPr>
              <a:spLocks noChangeArrowheads="1"/>
            </p:cNvSpPr>
            <p:nvPr/>
          </p:nvSpPr>
          <p:spPr bwMode="auto">
            <a:xfrm>
              <a:off x="236" y="2325"/>
              <a:ext cx="463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6" name="Rectangle 70"/>
            <p:cNvSpPr>
              <a:spLocks noChangeArrowheads="1"/>
            </p:cNvSpPr>
            <p:nvPr/>
          </p:nvSpPr>
          <p:spPr bwMode="auto">
            <a:xfrm>
              <a:off x="699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7" name="Rectangle 71"/>
            <p:cNvSpPr>
              <a:spLocks noChangeArrowheads="1"/>
            </p:cNvSpPr>
            <p:nvPr/>
          </p:nvSpPr>
          <p:spPr bwMode="auto">
            <a:xfrm>
              <a:off x="711" y="2325"/>
              <a:ext cx="60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8" name="Rectangle 72"/>
            <p:cNvSpPr>
              <a:spLocks noChangeArrowheads="1"/>
            </p:cNvSpPr>
            <p:nvPr/>
          </p:nvSpPr>
          <p:spPr bwMode="auto">
            <a:xfrm>
              <a:off x="1312" y="2325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69" name="Rectangle 73"/>
            <p:cNvSpPr>
              <a:spLocks noChangeArrowheads="1"/>
            </p:cNvSpPr>
            <p:nvPr/>
          </p:nvSpPr>
          <p:spPr bwMode="auto">
            <a:xfrm>
              <a:off x="1323" y="2325"/>
              <a:ext cx="103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0" name="Rectangle 74"/>
            <p:cNvSpPr>
              <a:spLocks noChangeArrowheads="1"/>
            </p:cNvSpPr>
            <p:nvPr/>
          </p:nvSpPr>
          <p:spPr bwMode="auto">
            <a:xfrm>
              <a:off x="2355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1" name="Rectangle 75"/>
            <p:cNvSpPr>
              <a:spLocks noChangeArrowheads="1"/>
            </p:cNvSpPr>
            <p:nvPr/>
          </p:nvSpPr>
          <p:spPr bwMode="auto">
            <a:xfrm>
              <a:off x="2367" y="2325"/>
              <a:ext cx="315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2" name="Rectangle 76"/>
            <p:cNvSpPr>
              <a:spLocks noChangeArrowheads="1"/>
            </p:cNvSpPr>
            <p:nvPr/>
          </p:nvSpPr>
          <p:spPr bwMode="auto">
            <a:xfrm>
              <a:off x="5523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3" name="Rectangle 77"/>
            <p:cNvSpPr>
              <a:spLocks noChangeArrowheads="1"/>
            </p:cNvSpPr>
            <p:nvPr/>
          </p:nvSpPr>
          <p:spPr bwMode="auto">
            <a:xfrm>
              <a:off x="224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4" name="Rectangle 78"/>
            <p:cNvSpPr>
              <a:spLocks noChangeArrowheads="1"/>
            </p:cNvSpPr>
            <p:nvPr/>
          </p:nvSpPr>
          <p:spPr bwMode="auto">
            <a:xfrm>
              <a:off x="699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5" name="Rectangle 79"/>
            <p:cNvSpPr>
              <a:spLocks noChangeArrowheads="1"/>
            </p:cNvSpPr>
            <p:nvPr/>
          </p:nvSpPr>
          <p:spPr bwMode="auto">
            <a:xfrm>
              <a:off x="1312" y="2337"/>
              <a:ext cx="11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6" name="Rectangle 80"/>
            <p:cNvSpPr>
              <a:spLocks noChangeArrowheads="1"/>
            </p:cNvSpPr>
            <p:nvPr/>
          </p:nvSpPr>
          <p:spPr bwMode="auto">
            <a:xfrm>
              <a:off x="2355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7" name="Rectangle 81"/>
            <p:cNvSpPr>
              <a:spLocks noChangeArrowheads="1"/>
            </p:cNvSpPr>
            <p:nvPr/>
          </p:nvSpPr>
          <p:spPr bwMode="auto">
            <a:xfrm>
              <a:off x="5523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8" name="Rectangle 82"/>
            <p:cNvSpPr>
              <a:spLocks noChangeArrowheads="1"/>
            </p:cNvSpPr>
            <p:nvPr/>
          </p:nvSpPr>
          <p:spPr bwMode="auto">
            <a:xfrm>
              <a:off x="317" y="2526"/>
              <a:ext cx="154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iy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79" name="Rectangle 83"/>
            <p:cNvSpPr>
              <a:spLocks noChangeArrowheads="1"/>
            </p:cNvSpPr>
            <p:nvPr/>
          </p:nvSpPr>
          <p:spPr bwMode="auto">
            <a:xfrm>
              <a:off x="829" y="2519"/>
              <a:ext cx="461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-15213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0" name="Rectangle 84"/>
            <p:cNvSpPr>
              <a:spLocks noChangeArrowheads="1"/>
            </p:cNvSpPr>
            <p:nvPr/>
          </p:nvSpPr>
          <p:spPr bwMode="auto">
            <a:xfrm>
              <a:off x="1424" y="2526"/>
              <a:ext cx="845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FF </a:t>
              </a:r>
              <a:r>
                <a:rPr lang="en-US" sz="1600" dirty="0" err="1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FF</a:t>
              </a:r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 C4 93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1" name="Rectangle 85"/>
            <p:cNvSpPr>
              <a:spLocks noChangeArrowheads="1"/>
            </p:cNvSpPr>
            <p:nvPr/>
          </p:nvSpPr>
          <p:spPr bwMode="auto">
            <a:xfrm>
              <a:off x="2634" y="2526"/>
              <a:ext cx="2688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B05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11111111 11111111 1</a:t>
              </a:r>
              <a:r>
                <a:rPr lang="en-US" sz="1600" dirty="0">
                  <a:solidFill>
                    <a:srgbClr val="00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1000100 10010011</a:t>
              </a:r>
              <a:endParaRPr lang="en-US" sz="1600" dirty="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2" name="Rectangle 86"/>
            <p:cNvSpPr>
              <a:spLocks noChangeArrowheads="1"/>
            </p:cNvSpPr>
            <p:nvPr/>
          </p:nvSpPr>
          <p:spPr bwMode="auto">
            <a:xfrm>
              <a:off x="224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3" name="Rectangle 87"/>
            <p:cNvSpPr>
              <a:spLocks noChangeArrowheads="1"/>
            </p:cNvSpPr>
            <p:nvPr/>
          </p:nvSpPr>
          <p:spPr bwMode="auto">
            <a:xfrm>
              <a:off x="236" y="2503"/>
              <a:ext cx="463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4" name="Rectangle 88"/>
            <p:cNvSpPr>
              <a:spLocks noChangeArrowheads="1"/>
            </p:cNvSpPr>
            <p:nvPr/>
          </p:nvSpPr>
          <p:spPr bwMode="auto">
            <a:xfrm>
              <a:off x="699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5" name="Rectangle 89"/>
            <p:cNvSpPr>
              <a:spLocks noChangeArrowheads="1"/>
            </p:cNvSpPr>
            <p:nvPr/>
          </p:nvSpPr>
          <p:spPr bwMode="auto">
            <a:xfrm>
              <a:off x="711" y="2503"/>
              <a:ext cx="60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6" name="Rectangle 90"/>
            <p:cNvSpPr>
              <a:spLocks noChangeArrowheads="1"/>
            </p:cNvSpPr>
            <p:nvPr/>
          </p:nvSpPr>
          <p:spPr bwMode="auto">
            <a:xfrm>
              <a:off x="1312" y="2503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7" name="Rectangle 91"/>
            <p:cNvSpPr>
              <a:spLocks noChangeArrowheads="1"/>
            </p:cNvSpPr>
            <p:nvPr/>
          </p:nvSpPr>
          <p:spPr bwMode="auto">
            <a:xfrm>
              <a:off x="1323" y="2503"/>
              <a:ext cx="103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8" name="Rectangle 92"/>
            <p:cNvSpPr>
              <a:spLocks noChangeArrowheads="1"/>
            </p:cNvSpPr>
            <p:nvPr/>
          </p:nvSpPr>
          <p:spPr bwMode="auto">
            <a:xfrm>
              <a:off x="2355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89" name="Rectangle 93"/>
            <p:cNvSpPr>
              <a:spLocks noChangeArrowheads="1"/>
            </p:cNvSpPr>
            <p:nvPr/>
          </p:nvSpPr>
          <p:spPr bwMode="auto">
            <a:xfrm>
              <a:off x="2367" y="2503"/>
              <a:ext cx="315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0" name="Rectangle 94"/>
            <p:cNvSpPr>
              <a:spLocks noChangeArrowheads="1"/>
            </p:cNvSpPr>
            <p:nvPr/>
          </p:nvSpPr>
          <p:spPr bwMode="auto">
            <a:xfrm>
              <a:off x="5523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1" name="Rectangle 95"/>
            <p:cNvSpPr>
              <a:spLocks noChangeArrowheads="1"/>
            </p:cNvSpPr>
            <p:nvPr/>
          </p:nvSpPr>
          <p:spPr bwMode="auto">
            <a:xfrm>
              <a:off x="224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2" name="Rectangle 96"/>
            <p:cNvSpPr>
              <a:spLocks noChangeArrowheads="1"/>
            </p:cNvSpPr>
            <p:nvPr/>
          </p:nvSpPr>
          <p:spPr bwMode="auto">
            <a:xfrm>
              <a:off x="224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3" name="Rectangle 97"/>
            <p:cNvSpPr>
              <a:spLocks noChangeArrowheads="1"/>
            </p:cNvSpPr>
            <p:nvPr/>
          </p:nvSpPr>
          <p:spPr bwMode="auto">
            <a:xfrm>
              <a:off x="224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4" name="Rectangle 98"/>
            <p:cNvSpPr>
              <a:spLocks noChangeArrowheads="1"/>
            </p:cNvSpPr>
            <p:nvPr/>
          </p:nvSpPr>
          <p:spPr bwMode="auto">
            <a:xfrm>
              <a:off x="236" y="2679"/>
              <a:ext cx="463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5" name="Rectangle 99"/>
            <p:cNvSpPr>
              <a:spLocks noChangeArrowheads="1"/>
            </p:cNvSpPr>
            <p:nvPr/>
          </p:nvSpPr>
          <p:spPr bwMode="auto">
            <a:xfrm>
              <a:off x="699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6" name="Rectangle 100"/>
            <p:cNvSpPr>
              <a:spLocks noChangeArrowheads="1"/>
            </p:cNvSpPr>
            <p:nvPr/>
          </p:nvSpPr>
          <p:spPr bwMode="auto">
            <a:xfrm>
              <a:off x="699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7" name="Rectangle 101"/>
            <p:cNvSpPr>
              <a:spLocks noChangeArrowheads="1"/>
            </p:cNvSpPr>
            <p:nvPr/>
          </p:nvSpPr>
          <p:spPr bwMode="auto">
            <a:xfrm>
              <a:off x="711" y="2679"/>
              <a:ext cx="60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8" name="Rectangle 102"/>
            <p:cNvSpPr>
              <a:spLocks noChangeArrowheads="1"/>
            </p:cNvSpPr>
            <p:nvPr/>
          </p:nvSpPr>
          <p:spPr bwMode="auto">
            <a:xfrm>
              <a:off x="1312" y="2515"/>
              <a:ext cx="11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799" name="Rectangle 103"/>
            <p:cNvSpPr>
              <a:spLocks noChangeArrowheads="1"/>
            </p:cNvSpPr>
            <p:nvPr/>
          </p:nvSpPr>
          <p:spPr bwMode="auto">
            <a:xfrm>
              <a:off x="1312" y="2679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800" name="Rectangle 104"/>
            <p:cNvSpPr>
              <a:spLocks noChangeArrowheads="1"/>
            </p:cNvSpPr>
            <p:nvPr/>
          </p:nvSpPr>
          <p:spPr bwMode="auto">
            <a:xfrm>
              <a:off x="1323" y="2679"/>
              <a:ext cx="103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801" name="Rectangle 105"/>
            <p:cNvSpPr>
              <a:spLocks noChangeArrowheads="1"/>
            </p:cNvSpPr>
            <p:nvPr/>
          </p:nvSpPr>
          <p:spPr bwMode="auto">
            <a:xfrm>
              <a:off x="2355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802" name="Rectangle 106"/>
            <p:cNvSpPr>
              <a:spLocks noChangeArrowheads="1"/>
            </p:cNvSpPr>
            <p:nvPr/>
          </p:nvSpPr>
          <p:spPr bwMode="auto">
            <a:xfrm>
              <a:off x="2355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803" name="Rectangle 107"/>
            <p:cNvSpPr>
              <a:spLocks noChangeArrowheads="1"/>
            </p:cNvSpPr>
            <p:nvPr/>
          </p:nvSpPr>
          <p:spPr bwMode="auto">
            <a:xfrm>
              <a:off x="2367" y="2679"/>
              <a:ext cx="315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804" name="Rectangle 108"/>
            <p:cNvSpPr>
              <a:spLocks noChangeArrowheads="1"/>
            </p:cNvSpPr>
            <p:nvPr/>
          </p:nvSpPr>
          <p:spPr bwMode="auto">
            <a:xfrm>
              <a:off x="5523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805" name="Rectangle 109"/>
            <p:cNvSpPr>
              <a:spLocks noChangeArrowheads="1"/>
            </p:cNvSpPr>
            <p:nvPr/>
          </p:nvSpPr>
          <p:spPr bwMode="auto">
            <a:xfrm>
              <a:off x="5523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806" name="Rectangle 110"/>
            <p:cNvSpPr>
              <a:spLocks noChangeArrowheads="1"/>
            </p:cNvSpPr>
            <p:nvPr/>
          </p:nvSpPr>
          <p:spPr bwMode="auto">
            <a:xfrm>
              <a:off x="5523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</a:ln>
          </p:spPr>
          <p:txBody>
            <a:bodyPr/>
            <a:lstStyle/>
            <a:p>
              <a:endParaRPr lang="en-US" sz="1600"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</p:grp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018" y="685800"/>
            <a:ext cx="7592093" cy="762000"/>
          </a:xfrm>
        </p:spPr>
        <p:txBody>
          <a:bodyPr/>
          <a:lstStyle/>
          <a:p>
            <a:pPr marL="0" indent="0"/>
            <a:r>
              <a:rPr lang="zh-CN" altLang="en-US" dirty="0"/>
              <a:t>总结：类型扩展与</a:t>
            </a:r>
            <a:r>
              <a:rPr lang="zh-CN" altLang="en-US" dirty="0"/>
              <a:t>截断的基本</a:t>
            </a:r>
            <a:r>
              <a:rPr lang="zh-CN" altLang="en-US" dirty="0"/>
              <a:t>规则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5" y="1885950"/>
            <a:ext cx="7896225" cy="4972050"/>
          </a:xfrm>
        </p:spPr>
        <p:txBody>
          <a:bodyPr/>
          <a:lstStyle/>
          <a:p>
            <a:r>
              <a:rPr lang="zh-CN" altLang="en-US" dirty="0"/>
              <a:t>扩展</a:t>
            </a:r>
            <a:r>
              <a:rPr lang="en-US" dirty="0"/>
              <a:t>(e.g., short </a:t>
            </a:r>
            <a:r>
              <a:rPr lang="en-US" dirty="0" err="1"/>
              <a:t>int</a:t>
            </a:r>
            <a:r>
              <a:rPr lang="en-US" dirty="0"/>
              <a:t> to </a:t>
            </a:r>
            <a:r>
              <a:rPr lang="en-US" dirty="0" err="1"/>
              <a:t>int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Unsigned: </a:t>
            </a:r>
            <a:r>
              <a:rPr lang="zh-CN" altLang="en-US" dirty="0"/>
              <a:t>零扩展</a:t>
            </a:r>
            <a:endParaRPr lang="en-US" dirty="0"/>
          </a:p>
          <a:p>
            <a:pPr lvl="1"/>
            <a:r>
              <a:rPr lang="en-US" dirty="0"/>
              <a:t>Signed: </a:t>
            </a:r>
            <a:r>
              <a:rPr lang="zh-CN" altLang="en-US" dirty="0"/>
              <a:t>符号扩展</a:t>
            </a:r>
            <a:endParaRPr lang="en-US" dirty="0"/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都会产生预期的结果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zh-CN" altLang="en-US" dirty="0">
                <a:solidFill>
                  <a:srgbClr val="00B050"/>
                </a:solidFill>
                <a:ea typeface="SimSun" charset="0"/>
              </a:rPr>
              <a:t>（如何证明</a:t>
            </a:r>
            <a:r>
              <a:rPr lang="en-US" altLang="zh-CN" dirty="0">
                <a:solidFill>
                  <a:srgbClr val="00B050"/>
                </a:solidFill>
                <a:ea typeface="SimSun" charset="0"/>
              </a:rPr>
              <a:t>?)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/>
          </a:p>
          <a:p>
            <a:r>
              <a:rPr lang="zh-CN" altLang="en-US" dirty="0"/>
              <a:t>截断</a:t>
            </a:r>
            <a:r>
              <a:rPr lang="en-US" dirty="0"/>
              <a:t>(</a:t>
            </a:r>
            <a:r>
              <a:rPr lang="zh-CN" altLang="en-US" dirty="0"/>
              <a:t>比如</a:t>
            </a:r>
            <a:r>
              <a:rPr lang="en-US" dirty="0"/>
              <a:t>, unsigned to unsigned short)</a:t>
            </a:r>
            <a:endParaRPr lang="en-US" dirty="0"/>
          </a:p>
          <a:p>
            <a:pPr lvl="1"/>
            <a:r>
              <a:rPr lang="zh-CN" altLang="en-US" dirty="0"/>
              <a:t>直接扔掉高位</a:t>
            </a:r>
            <a:r>
              <a:rPr lang="en-US" altLang="zh-CN" dirty="0"/>
              <a:t>，</a:t>
            </a:r>
            <a:r>
              <a:rPr lang="zh-CN" altLang="en-US" dirty="0"/>
              <a:t>重新解释结果</a:t>
            </a:r>
            <a:endParaRPr lang="en-US" dirty="0"/>
          </a:p>
          <a:p>
            <a:pPr lvl="1"/>
            <a:r>
              <a:rPr lang="en-US" dirty="0"/>
              <a:t>Unsigned: </a:t>
            </a:r>
            <a:r>
              <a:rPr lang="zh-CN" altLang="en-US" dirty="0"/>
              <a:t>模运算</a:t>
            </a:r>
            <a:endParaRPr lang="en-US" dirty="0"/>
          </a:p>
          <a:p>
            <a:pPr lvl="1"/>
            <a:r>
              <a:rPr lang="en-US" dirty="0"/>
              <a:t>Signed: </a:t>
            </a:r>
            <a:r>
              <a:rPr lang="zh-CN" altLang="en-US" dirty="0"/>
              <a:t>可能正数变成负数</a:t>
            </a:r>
            <a:r>
              <a:rPr lang="en-US" altLang="zh-CN" dirty="0"/>
              <a:t>，</a:t>
            </a:r>
            <a:r>
              <a:rPr lang="zh-CN" altLang="en-US" dirty="0"/>
              <a:t>或者</a:t>
            </a:r>
            <a:r>
              <a:rPr lang="zh-CN" altLang="en-US" dirty="0"/>
              <a:t>反之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/>
              <a:t>Integers</a:t>
            </a:r>
            <a:endParaRPr lang="en-US" dirty="0"/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b="1" dirty="0"/>
              <a:t>Addition, negation, multiplication, shifting </a:t>
            </a:r>
            <a:r>
              <a:rPr lang="zh-CN" altLang="en-US" b="1" dirty="0"/>
              <a:t>加法</a:t>
            </a:r>
            <a:r>
              <a:rPr lang="en-US" altLang="zh-CN" b="1" dirty="0"/>
              <a:t>、</a:t>
            </a:r>
            <a:r>
              <a:rPr lang="zh-CN" altLang="en-US" b="1" dirty="0"/>
              <a:t>取反</a:t>
            </a:r>
            <a:r>
              <a:rPr lang="en-US" altLang="zh-CN" b="1" dirty="0"/>
              <a:t>、</a:t>
            </a:r>
            <a:r>
              <a:rPr lang="zh-CN" altLang="en-US" b="1" dirty="0"/>
              <a:t>乘法</a:t>
            </a:r>
            <a:r>
              <a:rPr lang="en-US" altLang="zh-CN" b="1" dirty="0"/>
              <a:t>、</a:t>
            </a:r>
            <a:r>
              <a:rPr lang="zh-CN" altLang="en-US" b="1" dirty="0"/>
              <a:t>移位运算</a:t>
            </a:r>
            <a:endParaRPr lang="en-US" b="1" dirty="0"/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A6A6A6"/>
                </a:solidFill>
              </a:rPr>
              <a:t>Summary</a:t>
            </a:r>
            <a:endParaRPr lang="en-US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11175"/>
            <a:ext cx="7729220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/>
              <a:t>Unsigned Addition</a:t>
            </a:r>
            <a:r>
              <a:rPr lang="zh-CN" altLang="en-US" sz="3200">
                <a:ea typeface="SimSun" charset="0"/>
              </a:rPr>
              <a:t>（无符号整数加法）</a:t>
            </a:r>
            <a:endParaRPr lang="zh-CN" altLang="en-US" sz="3200">
              <a:ea typeface="SimSun" charset="0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3450" y="3533775"/>
            <a:ext cx="6142355" cy="1643380"/>
          </a:xfrm>
        </p:spPr>
        <p:txBody>
          <a:bodyPr lIns="90487" tIns="44450" rIns="90487" bIns="44450"/>
          <a:lstStyle/>
          <a:p>
            <a:pPr eaLnBrk="1" hangingPunct="1"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zh-CN" altLang="en-US" dirty="0"/>
              <a:t>标准的加法运算</a:t>
            </a:r>
            <a:endParaRPr lang="en-US" dirty="0"/>
          </a:p>
          <a:p>
            <a:pPr lvl="1" eaLnBrk="1" hangingPunct="1"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zh-CN" altLang="en-US" dirty="0"/>
              <a:t>忽略进位</a:t>
            </a:r>
            <a:endParaRPr lang="en-US" dirty="0"/>
          </a:p>
          <a:p>
            <a:pPr eaLnBrk="1" hangingPunct="1"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zh-CN" altLang="en-US" dirty="0">
                <a:solidFill>
                  <a:srgbClr val="00B050"/>
                </a:solidFill>
              </a:rPr>
              <a:t>实现了模算术运算</a:t>
            </a:r>
            <a:endParaRPr lang="en-US" dirty="0">
              <a:solidFill>
                <a:srgbClr val="00B05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en-US" b="0" i="1" dirty="0"/>
              <a:t>s</a:t>
            </a:r>
            <a:r>
              <a:rPr lang="en-US" b="0" dirty="0"/>
              <a:t>		=	 </a:t>
            </a:r>
            <a:r>
              <a:rPr lang="en-US" b="0" dirty="0" err="1"/>
              <a:t>UAdd</a:t>
            </a:r>
            <a:r>
              <a:rPr lang="en-US" b="0" i="1" baseline="-25000" dirty="0" err="1"/>
              <a:t>w</a:t>
            </a:r>
            <a:r>
              <a:rPr lang="en-US" b="0" dirty="0"/>
              <a:t>(</a:t>
            </a:r>
            <a:r>
              <a:rPr lang="en-US" b="0" i="1" dirty="0"/>
              <a:t>u</a:t>
            </a:r>
            <a:r>
              <a:rPr lang="en-US" b="0" dirty="0"/>
              <a:t> , </a:t>
            </a:r>
            <a:r>
              <a:rPr lang="en-US" b="0" i="1" dirty="0"/>
              <a:t>v</a:t>
            </a:r>
            <a:r>
              <a:rPr lang="en-US" b="0" dirty="0"/>
              <a:t>)	=	</a:t>
            </a:r>
            <a:r>
              <a:rPr lang="en-US" b="0" i="1" dirty="0"/>
              <a:t>u</a:t>
            </a:r>
            <a:r>
              <a:rPr lang="en-US" b="0" dirty="0"/>
              <a:t> + </a:t>
            </a:r>
            <a:r>
              <a:rPr lang="en-US" b="0" i="1" dirty="0"/>
              <a:t>v</a:t>
            </a:r>
            <a:r>
              <a:rPr lang="en-US" b="0" dirty="0"/>
              <a:t>  mod 2</a:t>
            </a:r>
            <a:r>
              <a:rPr lang="en-US" b="0" i="1" baseline="30000" dirty="0"/>
              <a:t>w</a:t>
            </a:r>
            <a:endParaRPr lang="en-US" b="0" i="1" baseline="30000" dirty="0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6489700" y="1371600"/>
            <a:ext cx="2743200" cy="228600"/>
            <a:chOff x="2976" y="816"/>
            <a:chExt cx="1728" cy="144"/>
          </a:xfrm>
        </p:grpSpPr>
        <p:sp>
          <p:nvSpPr>
            <p:cNvPr id="7210" name="Rectangle 6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1" name="Rectangle 7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2" name="Rectangle 8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3" name="Rectangle 9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4" name="Rectangle 10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5" name="Rectangle 11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6" name="Rectangle 12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grpSp>
        <p:nvGrpSpPr>
          <p:cNvPr id="3" name="Group 13"/>
          <p:cNvGrpSpPr/>
          <p:nvPr/>
        </p:nvGrpSpPr>
        <p:grpSpPr bwMode="auto">
          <a:xfrm>
            <a:off x="6489700" y="1828800"/>
            <a:ext cx="2743200" cy="228600"/>
            <a:chOff x="2976" y="1104"/>
            <a:chExt cx="1728" cy="144"/>
          </a:xfrm>
        </p:grpSpPr>
        <p:sp>
          <p:nvSpPr>
            <p:cNvPr id="7203" name="Rectangle 14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4" name="Rectangle 15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5" name="Rectangle 16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6" name="Rectangle 17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7" name="Rectangle 18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8" name="Rectangle 19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9" name="Rectangle 20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7175" name="Rectangle 21"/>
          <p:cNvSpPr>
            <a:spLocks noChangeArrowheads="1"/>
          </p:cNvSpPr>
          <p:nvPr/>
        </p:nvSpPr>
        <p:spPr bwMode="auto">
          <a:xfrm>
            <a:off x="5949950" y="1219200"/>
            <a:ext cx="33528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7176" name="Rectangle 22"/>
          <p:cNvSpPr>
            <a:spLocks noChangeArrowheads="1"/>
          </p:cNvSpPr>
          <p:nvPr/>
        </p:nvSpPr>
        <p:spPr bwMode="auto">
          <a:xfrm>
            <a:off x="5962650" y="1676400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v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7177" name="Line 23"/>
          <p:cNvSpPr>
            <a:spLocks noChangeShapeType="1"/>
          </p:cNvSpPr>
          <p:nvPr/>
        </p:nvSpPr>
        <p:spPr bwMode="auto">
          <a:xfrm>
            <a:off x="5499100" y="21336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24"/>
          <p:cNvSpPr>
            <a:spLocks noChangeArrowheads="1"/>
          </p:cNvSpPr>
          <p:nvPr/>
        </p:nvSpPr>
        <p:spPr bwMode="auto">
          <a:xfrm>
            <a:off x="5671417" y="1683760"/>
            <a:ext cx="35496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anose="00000500000000020000" pitchFamily="18" charset="0"/>
              </a:rPr>
              <a:t>+</a:t>
            </a:r>
            <a:endParaRPr lang="en-US" b="0">
              <a:latin typeface="Times" panose="00000500000000020000" pitchFamily="18" charset="0"/>
            </a:endParaRPr>
          </a:p>
        </p:txBody>
      </p:sp>
      <p:grpSp>
        <p:nvGrpSpPr>
          <p:cNvPr id="4" name="Group 25"/>
          <p:cNvGrpSpPr/>
          <p:nvPr/>
        </p:nvGrpSpPr>
        <p:grpSpPr bwMode="auto">
          <a:xfrm>
            <a:off x="6261100" y="2286000"/>
            <a:ext cx="2971800" cy="228600"/>
            <a:chOff x="2832" y="1392"/>
            <a:chExt cx="1872" cy="144"/>
          </a:xfrm>
        </p:grpSpPr>
        <p:grpSp>
          <p:nvGrpSpPr>
            <p:cNvPr id="5" name="Group 26"/>
            <p:cNvGrpSpPr/>
            <p:nvPr/>
          </p:nvGrpSpPr>
          <p:grpSpPr bwMode="auto">
            <a:xfrm>
              <a:off x="2976" y="1392"/>
              <a:ext cx="1728" cy="144"/>
              <a:chOff x="2976" y="1392"/>
              <a:chExt cx="1728" cy="144"/>
            </a:xfrm>
          </p:grpSpPr>
          <p:sp>
            <p:nvSpPr>
              <p:cNvPr id="7196" name="Rectangle 27"/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197" name="Rectangle 28"/>
              <p:cNvSpPr>
                <a:spLocks noChangeArrowheads="1"/>
              </p:cNvSpPr>
              <p:nvPr/>
            </p:nvSpPr>
            <p:spPr bwMode="auto">
              <a:xfrm>
                <a:off x="312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198" name="Rectangle 29"/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199" name="Rectangle 30"/>
              <p:cNvSpPr>
                <a:spLocks noChangeArrowheads="1"/>
              </p:cNvSpPr>
              <p:nvPr/>
            </p:nvSpPr>
            <p:spPr bwMode="auto">
              <a:xfrm>
                <a:off x="4272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200" name="Rectangle 31"/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201" name="Rectangle 32"/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202" name="Rectangle 33"/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/>
                  <a:t>• • •</a:t>
                </a:r>
                <a:endParaRPr lang="en-US" b="0"/>
              </a:p>
            </p:txBody>
          </p:sp>
        </p:grpSp>
        <p:sp>
          <p:nvSpPr>
            <p:cNvPr id="7195" name="Rectangle 34"/>
            <p:cNvSpPr>
              <a:spLocks noChangeArrowheads="1"/>
            </p:cNvSpPr>
            <p:nvPr/>
          </p:nvSpPr>
          <p:spPr bwMode="auto">
            <a:xfrm>
              <a:off x="2832" y="1392"/>
              <a:ext cx="144" cy="144"/>
            </a:xfrm>
            <a:prstGeom prst="rect">
              <a:avLst/>
            </a:prstGeom>
            <a:solidFill>
              <a:srgbClr val="FF9999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</p:grpSp>
      <p:sp>
        <p:nvSpPr>
          <p:cNvPr id="7180" name="Rectangle 35"/>
          <p:cNvSpPr>
            <a:spLocks noChangeArrowheads="1"/>
          </p:cNvSpPr>
          <p:nvPr/>
        </p:nvSpPr>
        <p:spPr bwMode="auto">
          <a:xfrm>
            <a:off x="5453380" y="2133600"/>
            <a:ext cx="79502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 </a:t>
            </a:r>
            <a:r>
              <a:rPr lang="en-US" b="0">
                <a:latin typeface="Times" panose="00000500000000020000" pitchFamily="18" charset="0"/>
              </a:rPr>
              <a:t>+ </a:t>
            </a:r>
            <a:r>
              <a:rPr lang="en-US" b="0" i="1">
                <a:latin typeface="Times" panose="00000500000000020000" pitchFamily="18" charset="0"/>
              </a:rPr>
              <a:t>v</a:t>
            </a:r>
            <a:endParaRPr lang="en-US" b="0" i="1">
              <a:latin typeface="Times" panose="00000500000000020000" pitchFamily="18" charset="0"/>
            </a:endParaRPr>
          </a:p>
        </p:txBody>
      </p:sp>
      <p:grpSp>
        <p:nvGrpSpPr>
          <p:cNvPr id="6" name="Group 36"/>
          <p:cNvGrpSpPr/>
          <p:nvPr/>
        </p:nvGrpSpPr>
        <p:grpSpPr bwMode="auto">
          <a:xfrm>
            <a:off x="6489700" y="2743200"/>
            <a:ext cx="2743200" cy="228600"/>
            <a:chOff x="2976" y="1392"/>
            <a:chExt cx="1728" cy="144"/>
          </a:xfrm>
        </p:grpSpPr>
        <p:sp>
          <p:nvSpPr>
            <p:cNvPr id="7187" name="Rectangle 37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88" name="Rectangle 38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89" name="Rectangle 39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90" name="Rectangle 40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91" name="Rectangle 41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92" name="Rectangle 42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93" name="Rectangle 43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7182" name="Line 44"/>
          <p:cNvSpPr>
            <a:spLocks noChangeShapeType="1"/>
          </p:cNvSpPr>
          <p:nvPr/>
        </p:nvSpPr>
        <p:spPr bwMode="auto">
          <a:xfrm>
            <a:off x="5499100" y="25908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Text Box 45"/>
          <p:cNvSpPr txBox="1">
            <a:spLocks noChangeArrowheads="1"/>
          </p:cNvSpPr>
          <p:nvPr/>
        </p:nvSpPr>
        <p:spPr bwMode="auto">
          <a:xfrm>
            <a:off x="1981200" y="2057400"/>
            <a:ext cx="256476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数学上的和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+1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7184" name="Text Box 46"/>
          <p:cNvSpPr txBox="1">
            <a:spLocks noChangeArrowheads="1"/>
          </p:cNvSpPr>
          <p:nvPr/>
        </p:nvSpPr>
        <p:spPr bwMode="auto">
          <a:xfrm>
            <a:off x="1981200" y="1371600"/>
            <a:ext cx="176339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操作数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7185" name="Text Box 47"/>
          <p:cNvSpPr txBox="1">
            <a:spLocks noChangeArrowheads="1"/>
          </p:cNvSpPr>
          <p:nvPr/>
        </p:nvSpPr>
        <p:spPr bwMode="auto">
          <a:xfrm>
            <a:off x="1981200" y="2667000"/>
            <a:ext cx="259270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solidFill>
                  <a:srgbClr val="00B050"/>
                </a:solidFill>
                <a:latin typeface="Calibri" pitchFamily="34" charset="0"/>
              </a:rPr>
              <a:t>抛弃进位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7186" name="Rectangle 48"/>
          <p:cNvSpPr>
            <a:spLocks noChangeArrowheads="1"/>
          </p:cNvSpPr>
          <p:nvPr/>
        </p:nvSpPr>
        <p:spPr bwMode="auto">
          <a:xfrm>
            <a:off x="4565476" y="2590800"/>
            <a:ext cx="177990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 err="1">
                <a:latin typeface="Times" panose="00000500000000020000" pitchFamily="18" charset="0"/>
              </a:rPr>
              <a:t>UAdd</a:t>
            </a:r>
            <a:r>
              <a:rPr lang="en-US" b="0" i="1" baseline="-25000" dirty="0" err="1">
                <a:latin typeface="Times" panose="00000500000000020000" pitchFamily="18" charset="0"/>
              </a:rPr>
              <a:t>w</a:t>
            </a:r>
            <a:r>
              <a:rPr lang="en-US" b="0" dirty="0">
                <a:latin typeface="Times" panose="00000500000000020000" pitchFamily="18" charset="0"/>
              </a:rPr>
              <a:t>(</a:t>
            </a:r>
            <a:r>
              <a:rPr lang="en-US" b="0" i="1" dirty="0">
                <a:latin typeface="Times" panose="00000500000000020000" pitchFamily="18" charset="0"/>
              </a:rPr>
              <a:t>u</a:t>
            </a:r>
            <a:r>
              <a:rPr lang="en-US" b="0" dirty="0">
                <a:latin typeface="Times" panose="00000500000000020000" pitchFamily="18" charset="0"/>
              </a:rPr>
              <a:t> , </a:t>
            </a:r>
            <a:r>
              <a:rPr lang="en-US" b="0" i="1" dirty="0">
                <a:latin typeface="Times" panose="00000500000000020000" pitchFamily="18" charset="0"/>
              </a:rPr>
              <a:t>v</a:t>
            </a:r>
            <a:r>
              <a:rPr lang="en-US" b="0" dirty="0">
                <a:latin typeface="Times" panose="00000500000000020000" pitchFamily="18" charset="0"/>
              </a:rPr>
              <a:t>)</a:t>
            </a:r>
            <a:endParaRPr lang="en-US" b="0" dirty="0">
              <a:latin typeface="Times" panose="00000500000000020000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5257800" y="2012950"/>
          <a:ext cx="4560888" cy="397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9" name="Chart" r:id="rId1" imgW="6141085" imgH="5351780" progId="Excel.Sheet.8">
                  <p:embed/>
                </p:oleObj>
              </mc:Choice>
              <mc:Fallback>
                <p:oleObj name="Chart" r:id="rId1" imgW="6141085" imgH="535178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012950"/>
                        <a:ext cx="4560888" cy="397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1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609600"/>
            <a:ext cx="8839200" cy="555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数学上的整数</a:t>
            </a:r>
            <a:r>
              <a:rPr lang="zh-CN" altLang="en-US" dirty="0"/>
              <a:t>加法</a:t>
            </a:r>
            <a:endParaRPr lang="zh-CN" altLang="en-US" dirty="0"/>
          </a:p>
        </p:txBody>
      </p:sp>
      <p:sp>
        <p:nvSpPr>
          <p:cNvPr id="1402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14513" y="1557338"/>
            <a:ext cx="3290887" cy="5224462"/>
          </a:xfrm>
        </p:spPr>
        <p:txBody>
          <a:bodyPr lIns="90487" tIns="44450" rIns="90487" bIns="44450"/>
          <a:lstStyle/>
          <a:p>
            <a:pPr marL="228600" indent="-228600" eaLnBrk="1" hangingPunct="1">
              <a:defRPr/>
            </a:pPr>
            <a:r>
              <a:rPr lang="en-US"/>
              <a:t>Integer Addition</a:t>
            </a:r>
            <a:endParaRPr lang="en-US"/>
          </a:p>
          <a:p>
            <a:pPr marL="635000" lvl="1" indent="-228600" eaLnBrk="1" hangingPunct="1">
              <a:defRPr/>
            </a:pPr>
            <a:r>
              <a:rPr lang="en-US"/>
              <a:t>4-bit integers </a:t>
            </a:r>
            <a:r>
              <a:rPr lang="en-US" i="1"/>
              <a:t>u</a:t>
            </a:r>
            <a:r>
              <a:rPr lang="en-US"/>
              <a:t>, </a:t>
            </a:r>
            <a:r>
              <a:rPr lang="en-US" i="1"/>
              <a:t>v</a:t>
            </a:r>
            <a:endParaRPr lang="en-US"/>
          </a:p>
          <a:p>
            <a:pPr marL="635000" lvl="1" indent="-228600" eaLnBrk="1" hangingPunct="1">
              <a:defRPr/>
            </a:pPr>
            <a:r>
              <a:rPr lang="en-US"/>
              <a:t>Compute true sum Add</a:t>
            </a:r>
            <a:r>
              <a:rPr lang="en-US" baseline="-25000"/>
              <a:t>4</a:t>
            </a:r>
            <a:r>
              <a:rPr lang="en-US"/>
              <a:t>(</a:t>
            </a:r>
            <a:r>
              <a:rPr lang="en-US" i="1"/>
              <a:t>u</a:t>
            </a:r>
            <a:r>
              <a:rPr lang="en-US"/>
              <a:t> , </a:t>
            </a:r>
            <a:r>
              <a:rPr lang="en-US" i="1"/>
              <a:t>v</a:t>
            </a:r>
            <a:r>
              <a:rPr lang="en-US"/>
              <a:t>)</a:t>
            </a:r>
            <a:endParaRPr lang="en-US"/>
          </a:p>
          <a:p>
            <a:pPr marL="635000" lvl="1" indent="-228600" eaLnBrk="1" hangingPunct="1">
              <a:defRPr/>
            </a:pPr>
            <a:r>
              <a:rPr lang="en-US"/>
              <a:t>Values increase linearly with </a:t>
            </a:r>
            <a:r>
              <a:rPr lang="en-US" i="1"/>
              <a:t>u</a:t>
            </a:r>
            <a:r>
              <a:rPr lang="en-US"/>
              <a:t> and </a:t>
            </a:r>
            <a:r>
              <a:rPr lang="en-US" i="1"/>
              <a:t>v</a:t>
            </a:r>
            <a:endParaRPr lang="en-US" i="1"/>
          </a:p>
          <a:p>
            <a:pPr marL="635000" lvl="1" indent="-228600" eaLnBrk="1" hangingPunct="1">
              <a:defRPr/>
            </a:pPr>
            <a:r>
              <a:rPr lang="en-US"/>
              <a:t>Forms planar surface</a:t>
            </a:r>
            <a:endParaRPr lang="en-US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6781800" y="1555750"/>
            <a:ext cx="16490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30000"/>
              </a:spcBef>
            </a:pP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Add</a:t>
            </a:r>
            <a:r>
              <a:rPr lang="en-US" baseline="-25000" dirty="0">
                <a:solidFill>
                  <a:schemeClr val="tx2"/>
                </a:solidFill>
                <a:latin typeface="Calibri" pitchFamily="34" charset="0"/>
              </a:rPr>
              <a:t>4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(</a:t>
            </a: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u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 , </a:t>
            </a: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v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)</a:t>
            </a:r>
            <a:endParaRPr lang="en-US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5867400" y="5365750"/>
            <a:ext cx="3663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30000"/>
              </a:spcBef>
            </a:pP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u</a:t>
            </a:r>
            <a:endParaRPr lang="en-US" i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8763000" y="4832350"/>
            <a:ext cx="33845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30000"/>
              </a:spcBef>
            </a:pP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v</a:t>
            </a:r>
            <a:endParaRPr lang="en-US" i="1" dirty="0">
              <a:solidFill>
                <a:schemeClr val="tx2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5334000" y="2241550"/>
          <a:ext cx="4560888" cy="397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2" name="Chart" r:id="rId1" imgW="6141085" imgH="5351780" progId="Excel.Sheet.8">
                  <p:embed/>
                </p:oleObj>
              </mc:Choice>
              <mc:Fallback>
                <p:oleObj name="Chart" r:id="rId1" imgW="6141085" imgH="535178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41550"/>
                        <a:ext cx="4560888" cy="397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511175"/>
            <a:ext cx="7853363" cy="555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无符号编码的</a:t>
            </a:r>
            <a:r>
              <a:rPr lang="zh-CN" altLang="en-US"/>
              <a:t>加法</a:t>
            </a:r>
            <a:endParaRPr lang="zh-CN" altLang="en-US"/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14513" y="1633538"/>
            <a:ext cx="3476625" cy="5224462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/>
              <a:t>Wraps Around</a:t>
            </a:r>
            <a:endParaRPr lang="en-US"/>
          </a:p>
          <a:p>
            <a:pPr lvl="1" eaLnBrk="1" hangingPunct="1">
              <a:defRPr/>
            </a:pPr>
            <a:r>
              <a:rPr lang="en-US"/>
              <a:t>If true sum ≥ 2</a:t>
            </a:r>
            <a:r>
              <a:rPr lang="en-US" i="1" baseline="30000"/>
              <a:t>w</a:t>
            </a:r>
            <a:endParaRPr lang="en-US"/>
          </a:p>
          <a:p>
            <a:pPr lvl="1" eaLnBrk="1" hangingPunct="1">
              <a:defRPr/>
            </a:pPr>
            <a:r>
              <a:rPr lang="en-US"/>
              <a:t>At most once</a:t>
            </a:r>
            <a:endParaRPr lang="en-US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2133600" y="3743325"/>
            <a:ext cx="2044699" cy="1828800"/>
            <a:chOff x="384" y="2098"/>
            <a:chExt cx="1288" cy="1152"/>
          </a:xfrm>
        </p:grpSpPr>
        <p:grpSp>
          <p:nvGrpSpPr>
            <p:cNvPr id="3" name="Group 6"/>
            <p:cNvGrpSpPr/>
            <p:nvPr/>
          </p:nvGrpSpPr>
          <p:grpSpPr bwMode="auto">
            <a:xfrm>
              <a:off x="776" y="2208"/>
              <a:ext cx="80" cy="864"/>
              <a:chOff x="776" y="2208"/>
              <a:chExt cx="80" cy="864"/>
            </a:xfrm>
          </p:grpSpPr>
          <p:sp>
            <p:nvSpPr>
              <p:cNvPr id="9240" name="Line 7"/>
              <p:cNvSpPr>
                <a:spLocks noChangeShapeType="1"/>
              </p:cNvSpPr>
              <p:nvPr/>
            </p:nvSpPr>
            <p:spPr bwMode="auto">
              <a:xfrm>
                <a:off x="816" y="2216"/>
                <a:ext cx="0" cy="8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1" name="Line 8"/>
              <p:cNvSpPr>
                <a:spLocks noChangeShapeType="1"/>
              </p:cNvSpPr>
              <p:nvPr/>
            </p:nvSpPr>
            <p:spPr bwMode="auto">
              <a:xfrm>
                <a:off x="776" y="3072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2" name="Line 9"/>
              <p:cNvSpPr>
                <a:spLocks noChangeShapeType="1"/>
              </p:cNvSpPr>
              <p:nvPr/>
            </p:nvSpPr>
            <p:spPr bwMode="auto">
              <a:xfrm>
                <a:off x="776" y="2640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3" name="Line 10"/>
              <p:cNvSpPr>
                <a:spLocks noChangeShapeType="1"/>
              </p:cNvSpPr>
              <p:nvPr/>
            </p:nvSpPr>
            <p:spPr bwMode="auto">
              <a:xfrm>
                <a:off x="776" y="2208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11"/>
            <p:cNvGrpSpPr/>
            <p:nvPr/>
          </p:nvGrpSpPr>
          <p:grpSpPr bwMode="auto">
            <a:xfrm>
              <a:off x="1592" y="2640"/>
              <a:ext cx="80" cy="432"/>
              <a:chOff x="1592" y="2640"/>
              <a:chExt cx="80" cy="432"/>
            </a:xfrm>
          </p:grpSpPr>
          <p:sp>
            <p:nvSpPr>
              <p:cNvPr id="9237" name="Line 12"/>
              <p:cNvSpPr>
                <a:spLocks noChangeShapeType="1"/>
              </p:cNvSpPr>
              <p:nvPr/>
            </p:nvSpPr>
            <p:spPr bwMode="auto">
              <a:xfrm>
                <a:off x="1632" y="2648"/>
                <a:ext cx="0" cy="4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8" name="Line 13"/>
              <p:cNvSpPr>
                <a:spLocks noChangeShapeType="1"/>
              </p:cNvSpPr>
              <p:nvPr/>
            </p:nvSpPr>
            <p:spPr bwMode="auto">
              <a:xfrm>
                <a:off x="1592" y="3072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9" name="Line 14"/>
              <p:cNvSpPr>
                <a:spLocks noChangeShapeType="1"/>
              </p:cNvSpPr>
              <p:nvPr/>
            </p:nvSpPr>
            <p:spPr bwMode="auto">
              <a:xfrm>
                <a:off x="1592" y="2640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32" name="Line 15"/>
            <p:cNvSpPr>
              <a:spLocks noChangeShapeType="1"/>
            </p:cNvSpPr>
            <p:nvPr/>
          </p:nvSpPr>
          <p:spPr bwMode="auto">
            <a:xfrm>
              <a:off x="920" y="2880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3" name="Freeform 16"/>
            <p:cNvSpPr/>
            <p:nvPr/>
          </p:nvSpPr>
          <p:spPr bwMode="auto">
            <a:xfrm>
              <a:off x="912" y="2400"/>
              <a:ext cx="625" cy="337"/>
            </a:xfrm>
            <a:custGeom>
              <a:avLst/>
              <a:gdLst>
                <a:gd name="T0" fmla="*/ 0 w 625"/>
                <a:gd name="T1" fmla="*/ 0 h 337"/>
                <a:gd name="T2" fmla="*/ 240 w 625"/>
                <a:gd name="T3" fmla="*/ 0 h 337"/>
                <a:gd name="T4" fmla="*/ 384 w 625"/>
                <a:gd name="T5" fmla="*/ 336 h 337"/>
                <a:gd name="T6" fmla="*/ 624 w 625"/>
                <a:gd name="T7" fmla="*/ 336 h 3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5"/>
                <a:gd name="T13" fmla="*/ 0 h 337"/>
                <a:gd name="T14" fmla="*/ 625 w 625"/>
                <a:gd name="T15" fmla="*/ 337 h 3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5" h="337">
                  <a:moveTo>
                    <a:pt x="0" y="0"/>
                  </a:moveTo>
                  <a:lnTo>
                    <a:pt x="240" y="0"/>
                  </a:lnTo>
                  <a:lnTo>
                    <a:pt x="384" y="336"/>
                  </a:lnTo>
                  <a:lnTo>
                    <a:pt x="624" y="33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Rectangle 17"/>
            <p:cNvSpPr>
              <a:spLocks noChangeArrowheads="1"/>
            </p:cNvSpPr>
            <p:nvPr/>
          </p:nvSpPr>
          <p:spPr bwMode="auto">
            <a:xfrm>
              <a:off x="384" y="2962"/>
              <a:ext cx="220" cy="28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dirty="0">
                  <a:latin typeface="Calibri" pitchFamily="34" charset="0"/>
                </a:rPr>
                <a:t>0</a:t>
              </a:r>
              <a:endParaRPr lang="en-US" b="0" dirty="0">
                <a:latin typeface="Calibri" pitchFamily="34" charset="0"/>
              </a:endParaRPr>
            </a:p>
          </p:txBody>
        </p:sp>
        <p:sp>
          <p:nvSpPr>
            <p:cNvPr id="9235" name="Rectangle 18"/>
            <p:cNvSpPr>
              <a:spLocks noChangeArrowheads="1"/>
            </p:cNvSpPr>
            <p:nvPr/>
          </p:nvSpPr>
          <p:spPr bwMode="auto">
            <a:xfrm>
              <a:off x="384" y="2530"/>
              <a:ext cx="315" cy="28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dirty="0">
                  <a:latin typeface="Calibri" pitchFamily="34" charset="0"/>
                </a:rPr>
                <a:t>2</a:t>
              </a:r>
              <a:r>
                <a:rPr lang="en-US" b="0" i="1" baseline="30000" dirty="0">
                  <a:latin typeface="Calibri" pitchFamily="34" charset="0"/>
                </a:rPr>
                <a:t>w</a:t>
              </a:r>
              <a:endParaRPr lang="en-US" b="0" i="1" baseline="30000" dirty="0">
                <a:latin typeface="Calibri" pitchFamily="34" charset="0"/>
              </a:endParaRPr>
            </a:p>
          </p:txBody>
        </p:sp>
        <p:sp>
          <p:nvSpPr>
            <p:cNvPr id="9236" name="Rectangle 19"/>
            <p:cNvSpPr>
              <a:spLocks noChangeArrowheads="1"/>
            </p:cNvSpPr>
            <p:nvPr/>
          </p:nvSpPr>
          <p:spPr bwMode="auto">
            <a:xfrm>
              <a:off x="384" y="2098"/>
              <a:ext cx="459" cy="28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dirty="0">
                  <a:latin typeface="Calibri" pitchFamily="34" charset="0"/>
                </a:rPr>
                <a:t>2</a:t>
              </a:r>
              <a:r>
                <a:rPr lang="en-US" b="0" i="1" baseline="30000" dirty="0">
                  <a:latin typeface="Calibri" pitchFamily="34" charset="0"/>
                </a:rPr>
                <a:t>w</a:t>
              </a:r>
              <a:r>
                <a:rPr lang="en-US" b="0" baseline="30000" dirty="0">
                  <a:latin typeface="Calibri" pitchFamily="34" charset="0"/>
                </a:rPr>
                <a:t>+1</a:t>
              </a:r>
              <a:endParaRPr lang="en-US" b="0" baseline="30000" dirty="0">
                <a:latin typeface="Calibri" pitchFamily="34" charset="0"/>
              </a:endParaRPr>
            </a:p>
          </p:txBody>
        </p:sp>
      </p:grpSp>
      <p:sp>
        <p:nvSpPr>
          <p:cNvPr id="9222" name="Rectangle 20"/>
          <p:cNvSpPr>
            <a:spLocks noChangeArrowheads="1"/>
          </p:cNvSpPr>
          <p:nvPr/>
        </p:nvSpPr>
        <p:spPr bwMode="auto">
          <a:xfrm>
            <a:off x="6934200" y="2317750"/>
            <a:ext cx="187515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30000"/>
              </a:spcBef>
            </a:pP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UAdd</a:t>
            </a:r>
            <a:r>
              <a:rPr lang="en-US" baseline="-25000" dirty="0">
                <a:solidFill>
                  <a:schemeClr val="tx2"/>
                </a:solidFill>
                <a:latin typeface="Calibri" pitchFamily="34" charset="0"/>
              </a:rPr>
              <a:t>4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(</a:t>
            </a: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u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 , </a:t>
            </a: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v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)</a:t>
            </a:r>
            <a:endParaRPr lang="en-US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9223" name="Rectangle 21"/>
          <p:cNvSpPr>
            <a:spLocks noChangeArrowheads="1"/>
          </p:cNvSpPr>
          <p:nvPr/>
        </p:nvSpPr>
        <p:spPr bwMode="auto">
          <a:xfrm>
            <a:off x="5764213" y="5618163"/>
            <a:ext cx="3663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30000"/>
              </a:spcBef>
            </a:pP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u</a:t>
            </a:r>
            <a:endParaRPr lang="en-US" i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9224" name="Rectangle 22"/>
          <p:cNvSpPr>
            <a:spLocks noChangeArrowheads="1"/>
          </p:cNvSpPr>
          <p:nvPr/>
        </p:nvSpPr>
        <p:spPr bwMode="auto">
          <a:xfrm>
            <a:off x="9288463" y="4932363"/>
            <a:ext cx="33845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30000"/>
              </a:spcBef>
            </a:pP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v</a:t>
            </a:r>
            <a:endParaRPr lang="en-US" i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9225" name="Rectangle 23"/>
          <p:cNvSpPr>
            <a:spLocks noChangeArrowheads="1"/>
          </p:cNvSpPr>
          <p:nvPr/>
        </p:nvSpPr>
        <p:spPr bwMode="auto">
          <a:xfrm>
            <a:off x="1966913" y="3438525"/>
            <a:ext cx="1581150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True Sum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9226" name="Rectangle 24"/>
          <p:cNvSpPr>
            <a:spLocks noChangeArrowheads="1"/>
          </p:cNvSpPr>
          <p:nvPr/>
        </p:nvSpPr>
        <p:spPr bwMode="auto">
          <a:xfrm>
            <a:off x="3186113" y="5343525"/>
            <a:ext cx="2122170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Modular Sum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9227" name="Text Box 25"/>
          <p:cNvSpPr txBox="1">
            <a:spLocks noChangeArrowheads="1"/>
          </p:cNvSpPr>
          <p:nvPr/>
        </p:nvSpPr>
        <p:spPr bwMode="auto">
          <a:xfrm>
            <a:off x="3048000" y="3917950"/>
            <a:ext cx="992505" cy="33718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dirty="0">
                <a:latin typeface="Calibri" pitchFamily="34" charset="0"/>
              </a:rPr>
              <a:t>Overflow</a:t>
            </a:r>
            <a:endParaRPr lang="en-US" sz="1600" b="0" dirty="0">
              <a:latin typeface="Calibri" pitchFamily="34" charset="0"/>
            </a:endParaRPr>
          </a:p>
        </p:txBody>
      </p:sp>
      <p:sp>
        <p:nvSpPr>
          <p:cNvPr id="9228" name="Text Box 26"/>
          <p:cNvSpPr txBox="1">
            <a:spLocks noChangeArrowheads="1"/>
          </p:cNvSpPr>
          <p:nvPr/>
        </p:nvSpPr>
        <p:spPr bwMode="auto">
          <a:xfrm>
            <a:off x="8001000" y="1631950"/>
            <a:ext cx="1052195" cy="33718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Overflow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9229" name="Line 27"/>
          <p:cNvSpPr>
            <a:spLocks noChangeShapeType="1"/>
          </p:cNvSpPr>
          <p:nvPr/>
        </p:nvSpPr>
        <p:spPr bwMode="auto">
          <a:xfrm>
            <a:off x="8534400" y="2089150"/>
            <a:ext cx="38100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11175"/>
            <a:ext cx="7473950" cy="555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二进制补码的</a:t>
            </a:r>
            <a:r>
              <a:rPr lang="zh-CN" altLang="en-US"/>
              <a:t>加法</a:t>
            </a:r>
            <a:endParaRPr lang="zh-CN" alt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8025" y="3533775"/>
            <a:ext cx="7916863" cy="2239963"/>
          </a:xfrm>
        </p:spPr>
        <p:txBody>
          <a:bodyPr lIns="90487" tIns="44450" rIns="90487" bIns="44450"/>
          <a:lstStyle/>
          <a:p>
            <a:pPr eaLnBrk="1" hangingPunct="1"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zh-CN" altLang="en-US" dirty="0">
                <a:solidFill>
                  <a:srgbClr val="00B050"/>
                </a:solidFill>
              </a:rPr>
              <a:t>补码加法和无符号加法</a:t>
            </a:r>
            <a:r>
              <a:rPr lang="en-US" altLang="zh-CN" dirty="0">
                <a:solidFill>
                  <a:srgbClr val="00B050"/>
                </a:solidFill>
              </a:rPr>
              <a:t>，</a:t>
            </a:r>
            <a:r>
              <a:rPr lang="zh-CN" altLang="en-US" dirty="0">
                <a:solidFill>
                  <a:srgbClr val="00B050"/>
                </a:solidFill>
              </a:rPr>
              <a:t>有完全一样的位级</a:t>
            </a:r>
            <a:r>
              <a:rPr lang="zh-CN" altLang="en-US" dirty="0">
                <a:solidFill>
                  <a:srgbClr val="00B050"/>
                </a:solidFill>
              </a:rPr>
              <a:t>别行为</a:t>
            </a:r>
            <a:endParaRPr lang="en-US" dirty="0">
              <a:solidFill>
                <a:srgbClr val="00B050"/>
              </a:solidFill>
            </a:endParaRPr>
          </a:p>
          <a:p>
            <a:pPr lvl="1" eaLnBrk="1" hangingPunct="1"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dirty="0"/>
              <a:t>Signed vs. unsigned addition in C:</a:t>
            </a:r>
            <a:endParaRPr lang="en-US" dirty="0"/>
          </a:p>
          <a:p>
            <a:pPr lvl="1" eaLnBrk="1" hangingPunct="1">
              <a:buFont typeface="Wingdings" panose="05000000000000000000" pitchFamily="2" charset="2"/>
              <a:buNone/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</a:rPr>
              <a:t>	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</a:rPr>
              <a:t>int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</a:rPr>
              <a:t> s, t, u, v;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</a:rPr>
              <a:t>	s = (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</a:rPr>
              <a:t>int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</a:rPr>
              <a:t>) ((unsigned) u + (unsigned) v);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</a:rPr>
              <a:t> 	t = u + v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 lvl="1" eaLnBrk="1" hangingPunct="1"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dirty="0">
                <a:solidFill>
                  <a:srgbClr val="FF0000"/>
                </a:solidFill>
              </a:rPr>
              <a:t>Will give</a:t>
            </a:r>
            <a:r>
              <a:rPr lang="en-US" dirty="0">
                <a:solidFill>
                  <a:srgbClr val="FF0000"/>
                </a:solidFill>
                <a:latin typeface="Courier New" panose="020706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</a:rPr>
              <a:t>s == t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 lvl="1" eaLnBrk="1" hangingPunct="1"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sz="1800" b="1" dirty="0">
                <a:solidFill>
                  <a:srgbClr val="00B050"/>
                </a:solidFill>
                <a:latin typeface="Courier New" panose="02070609020205020404" pitchFamily="49" charset="0"/>
              </a:rPr>
              <a:t>(unsigned) u + (unsigned) v == (unsigned) (u+v)?</a:t>
            </a:r>
            <a:endParaRPr lang="en-US" sz="1800" b="1" dirty="0">
              <a:solidFill>
                <a:srgbClr val="00B050"/>
              </a:solidFill>
              <a:latin typeface="Courier New" panose="02070609020205020404" pitchFamily="49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6150534" y="1392381"/>
            <a:ext cx="2743200" cy="228600"/>
            <a:chOff x="2976" y="816"/>
            <a:chExt cx="1728" cy="144"/>
          </a:xfrm>
        </p:grpSpPr>
        <p:sp>
          <p:nvSpPr>
            <p:cNvPr id="33833" name="Rectangle 5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4" name="Rectangle 6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5" name="Rectangle 7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6" name="Rectangle 8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7" name="Rectangle 9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8" name="Rectangle 10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9" name="Rectangle 11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6150534" y="1849581"/>
            <a:ext cx="2743200" cy="228600"/>
            <a:chOff x="2976" y="1104"/>
            <a:chExt cx="1728" cy="144"/>
          </a:xfrm>
        </p:grpSpPr>
        <p:sp>
          <p:nvSpPr>
            <p:cNvPr id="33826" name="Rectangle 13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27" name="Rectangle 14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28" name="Rectangle 15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29" name="Rectangle 16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0" name="Rectangle 17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1" name="Rectangle 18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2" name="Rectangle 19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33798" name="Rectangle 20"/>
          <p:cNvSpPr>
            <a:spLocks noChangeArrowheads="1"/>
          </p:cNvSpPr>
          <p:nvPr/>
        </p:nvSpPr>
        <p:spPr bwMode="auto">
          <a:xfrm>
            <a:off x="5540934" y="1316181"/>
            <a:ext cx="33528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33799" name="Rectangle 21"/>
          <p:cNvSpPr>
            <a:spLocks noChangeArrowheads="1"/>
          </p:cNvSpPr>
          <p:nvPr/>
        </p:nvSpPr>
        <p:spPr bwMode="auto">
          <a:xfrm>
            <a:off x="5540934" y="1773381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v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33800" name="Line 22"/>
          <p:cNvSpPr>
            <a:spLocks noChangeShapeType="1"/>
          </p:cNvSpPr>
          <p:nvPr/>
        </p:nvSpPr>
        <p:spPr bwMode="auto">
          <a:xfrm>
            <a:off x="5159934" y="2154381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Rectangle 23"/>
          <p:cNvSpPr>
            <a:spLocks noChangeArrowheads="1"/>
          </p:cNvSpPr>
          <p:nvPr/>
        </p:nvSpPr>
        <p:spPr bwMode="auto">
          <a:xfrm>
            <a:off x="5159934" y="1773381"/>
            <a:ext cx="32893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+</a:t>
            </a:r>
            <a:endParaRPr lang="en-US"/>
          </a:p>
        </p:txBody>
      </p:sp>
      <p:grpSp>
        <p:nvGrpSpPr>
          <p:cNvPr id="4" name="Group 24"/>
          <p:cNvGrpSpPr/>
          <p:nvPr/>
        </p:nvGrpSpPr>
        <p:grpSpPr bwMode="auto">
          <a:xfrm>
            <a:off x="5921934" y="2306781"/>
            <a:ext cx="2971800" cy="228600"/>
            <a:chOff x="2832" y="1392"/>
            <a:chExt cx="1872" cy="144"/>
          </a:xfrm>
        </p:grpSpPr>
        <p:grpSp>
          <p:nvGrpSpPr>
            <p:cNvPr id="5" name="Group 25"/>
            <p:cNvGrpSpPr/>
            <p:nvPr/>
          </p:nvGrpSpPr>
          <p:grpSpPr bwMode="auto">
            <a:xfrm>
              <a:off x="2976" y="1392"/>
              <a:ext cx="1728" cy="144"/>
              <a:chOff x="2976" y="1392"/>
              <a:chExt cx="1728" cy="144"/>
            </a:xfrm>
          </p:grpSpPr>
          <p:sp>
            <p:nvSpPr>
              <p:cNvPr id="33819" name="Rectangle 26"/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0" name="Rectangle 27"/>
              <p:cNvSpPr>
                <a:spLocks noChangeArrowheads="1"/>
              </p:cNvSpPr>
              <p:nvPr/>
            </p:nvSpPr>
            <p:spPr bwMode="auto">
              <a:xfrm>
                <a:off x="312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1" name="Rectangle 28"/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2" name="Rectangle 29"/>
              <p:cNvSpPr>
                <a:spLocks noChangeArrowheads="1"/>
              </p:cNvSpPr>
              <p:nvPr/>
            </p:nvSpPr>
            <p:spPr bwMode="auto">
              <a:xfrm>
                <a:off x="4272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3" name="Rectangle 30"/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4" name="Rectangle 31"/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5" name="Rectangle 32"/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/>
                  <a:t>• • •</a:t>
                </a:r>
                <a:endParaRPr lang="en-US" b="0"/>
              </a:p>
            </p:txBody>
          </p:sp>
        </p:grpSp>
        <p:sp>
          <p:nvSpPr>
            <p:cNvPr id="33818" name="Rectangle 33"/>
            <p:cNvSpPr>
              <a:spLocks noChangeArrowheads="1"/>
            </p:cNvSpPr>
            <p:nvPr/>
          </p:nvSpPr>
          <p:spPr bwMode="auto">
            <a:xfrm>
              <a:off x="2832" y="1392"/>
              <a:ext cx="144" cy="144"/>
            </a:xfrm>
            <a:prstGeom prst="rect">
              <a:avLst/>
            </a:prstGeom>
            <a:solidFill>
              <a:srgbClr val="FF9999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</p:grpSp>
      <p:sp>
        <p:nvSpPr>
          <p:cNvPr id="33803" name="Rectangle 34"/>
          <p:cNvSpPr>
            <a:spLocks noChangeArrowheads="1"/>
          </p:cNvSpPr>
          <p:nvPr/>
        </p:nvSpPr>
        <p:spPr bwMode="auto">
          <a:xfrm>
            <a:off x="5007852" y="2154381"/>
            <a:ext cx="79502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 </a:t>
            </a:r>
            <a:r>
              <a:rPr lang="en-US" b="0">
                <a:latin typeface="Times" panose="00000500000000020000" pitchFamily="18" charset="0"/>
              </a:rPr>
              <a:t>+ </a:t>
            </a:r>
            <a:r>
              <a:rPr lang="en-US" b="0" i="1">
                <a:latin typeface="Times" panose="00000500000000020000" pitchFamily="18" charset="0"/>
              </a:rPr>
              <a:t>v</a:t>
            </a:r>
            <a:endParaRPr lang="en-US" b="0" i="1">
              <a:latin typeface="Times" panose="00000500000000020000" pitchFamily="18" charset="0"/>
            </a:endParaRPr>
          </a:p>
        </p:txBody>
      </p:sp>
      <p:grpSp>
        <p:nvGrpSpPr>
          <p:cNvPr id="6" name="Group 35"/>
          <p:cNvGrpSpPr/>
          <p:nvPr/>
        </p:nvGrpSpPr>
        <p:grpSpPr bwMode="auto">
          <a:xfrm>
            <a:off x="6150534" y="2763981"/>
            <a:ext cx="2743200" cy="228600"/>
            <a:chOff x="2976" y="1392"/>
            <a:chExt cx="1728" cy="144"/>
          </a:xfrm>
        </p:grpSpPr>
        <p:sp>
          <p:nvSpPr>
            <p:cNvPr id="33810" name="Rectangle 36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1" name="Rectangle 37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2" name="Rectangle 38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3" name="Rectangle 39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4" name="Rectangle 40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5" name="Rectangle 41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6" name="Rectangle 42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33805" name="Line 43"/>
          <p:cNvSpPr>
            <a:spLocks noChangeShapeType="1"/>
          </p:cNvSpPr>
          <p:nvPr/>
        </p:nvSpPr>
        <p:spPr bwMode="auto">
          <a:xfrm>
            <a:off x="5159934" y="2611581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Text Box 44"/>
          <p:cNvSpPr txBox="1">
            <a:spLocks noChangeArrowheads="1"/>
          </p:cNvSpPr>
          <p:nvPr/>
        </p:nvSpPr>
        <p:spPr bwMode="auto">
          <a:xfrm>
            <a:off x="1981200" y="2057400"/>
            <a:ext cx="256476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数学上的和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+1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33807" name="Text Box 45"/>
          <p:cNvSpPr txBox="1">
            <a:spLocks noChangeArrowheads="1"/>
          </p:cNvSpPr>
          <p:nvPr/>
        </p:nvSpPr>
        <p:spPr bwMode="auto">
          <a:xfrm>
            <a:off x="1981200" y="1371600"/>
            <a:ext cx="176339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操作数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33808" name="Text Box 46"/>
          <p:cNvSpPr txBox="1">
            <a:spLocks noChangeArrowheads="1"/>
          </p:cNvSpPr>
          <p:nvPr/>
        </p:nvSpPr>
        <p:spPr bwMode="auto">
          <a:xfrm>
            <a:off x="1981200" y="2667000"/>
            <a:ext cx="297180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抛弃进位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33809" name="Rectangle 47"/>
          <p:cNvSpPr>
            <a:spLocks noChangeArrowheads="1"/>
          </p:cNvSpPr>
          <p:nvPr/>
        </p:nvSpPr>
        <p:spPr bwMode="auto">
          <a:xfrm>
            <a:off x="4589704" y="2668671"/>
            <a:ext cx="148463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0">
                <a:latin typeface="Times" panose="00000500000000020000" pitchFamily="18" charset="0"/>
              </a:rPr>
              <a:t>TAdd</a:t>
            </a:r>
            <a:r>
              <a:rPr lang="en-US" sz="2000" b="0" i="1" baseline="-25000">
                <a:latin typeface="Times" panose="00000500000000020000" pitchFamily="18" charset="0"/>
              </a:rPr>
              <a:t>w</a:t>
            </a:r>
            <a:r>
              <a:rPr lang="en-US" sz="2000" b="0">
                <a:latin typeface="Times" panose="00000500000000020000" pitchFamily="18" charset="0"/>
              </a:rPr>
              <a:t>(</a:t>
            </a:r>
            <a:r>
              <a:rPr lang="en-US" sz="2000" b="0" i="1">
                <a:latin typeface="Times" panose="00000500000000020000" pitchFamily="18" charset="0"/>
              </a:rPr>
              <a:t>u</a:t>
            </a:r>
            <a:r>
              <a:rPr lang="en-US" sz="2000" b="0">
                <a:latin typeface="Times" panose="00000500000000020000" pitchFamily="18" charset="0"/>
              </a:rPr>
              <a:t> , </a:t>
            </a:r>
            <a:r>
              <a:rPr lang="en-US" sz="2000" b="0" i="1">
                <a:latin typeface="Times" panose="00000500000000020000" pitchFamily="18" charset="0"/>
              </a:rPr>
              <a:t>v</a:t>
            </a:r>
            <a:r>
              <a:rPr lang="en-US" sz="2000" b="0">
                <a:latin typeface="Times" panose="00000500000000020000" pitchFamily="18" charset="0"/>
              </a:rPr>
              <a:t>)</a:t>
            </a:r>
            <a:endParaRPr lang="en-US" sz="2000" b="0">
              <a:latin typeface="Times" panose="00000500000000020000" pitchFamily="18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63575"/>
            <a:ext cx="6759575" cy="555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补码加法的溢出</a:t>
            </a:r>
            <a:r>
              <a:rPr lang="en-US"/>
              <a:t>Overflow</a:t>
            </a:r>
            <a:endParaRPr lang="en-US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557020"/>
            <a:ext cx="4074160" cy="5224780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Functionality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True sum requires </a:t>
            </a:r>
            <a:r>
              <a:rPr lang="en-US" b="0" i="1" dirty="0"/>
              <a:t>w</a:t>
            </a:r>
            <a:r>
              <a:rPr lang="en-US" b="0" dirty="0"/>
              <a:t>+1</a:t>
            </a:r>
            <a:r>
              <a:rPr lang="en-US" dirty="0"/>
              <a:t> bits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Drop off MSB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Treat remaining bits as 2’s comp. integer</a:t>
            </a:r>
            <a:endParaRPr lang="en-US" dirty="0"/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6921787" y="4066687"/>
            <a:ext cx="732790" cy="3657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–2</a:t>
            </a:r>
            <a:r>
              <a:rPr lang="en-US" sz="1800" b="0" i="1" baseline="30000" dirty="0">
                <a:latin typeface="Calibri" pitchFamily="34" charset="0"/>
              </a:rPr>
              <a:t>w </a:t>
            </a:r>
            <a:r>
              <a:rPr lang="en-US" sz="1800" b="0" baseline="30000" dirty="0">
                <a:latin typeface="Calibri" pitchFamily="34" charset="0"/>
              </a:rPr>
              <a:t>–1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7119907" y="4752111"/>
            <a:ext cx="534670" cy="3657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–2</a:t>
            </a:r>
            <a:r>
              <a:rPr lang="en-US" sz="1800" b="0" i="1" baseline="30000" dirty="0">
                <a:latin typeface="Calibri" pitchFamily="34" charset="0"/>
              </a:rPr>
              <a:t>w</a:t>
            </a:r>
            <a:endParaRPr lang="en-US" sz="1800" b="0" i="1" baseline="30000" dirty="0">
              <a:latin typeface="Calibri" pitchFamily="34" charset="0"/>
            </a:endParaRPr>
          </a:p>
        </p:txBody>
      </p:sp>
      <p:sp>
        <p:nvSpPr>
          <p:cNvPr id="34835" name="Line 8"/>
          <p:cNvSpPr>
            <a:spLocks noChangeShapeType="1"/>
          </p:cNvSpPr>
          <p:nvPr/>
        </p:nvSpPr>
        <p:spPr bwMode="auto">
          <a:xfrm>
            <a:off x="7800111" y="2201862"/>
            <a:ext cx="0" cy="134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6" name="Line 9"/>
          <p:cNvSpPr>
            <a:spLocks noChangeShapeType="1"/>
          </p:cNvSpPr>
          <p:nvPr/>
        </p:nvSpPr>
        <p:spPr bwMode="auto">
          <a:xfrm>
            <a:off x="7735896" y="35607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7" name="Line 10"/>
          <p:cNvSpPr>
            <a:spLocks noChangeShapeType="1"/>
          </p:cNvSpPr>
          <p:nvPr/>
        </p:nvSpPr>
        <p:spPr bwMode="auto">
          <a:xfrm>
            <a:off x="7735896" y="28749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8" name="Line 11"/>
          <p:cNvSpPr>
            <a:spLocks noChangeShapeType="1"/>
          </p:cNvSpPr>
          <p:nvPr/>
        </p:nvSpPr>
        <p:spPr bwMode="auto">
          <a:xfrm>
            <a:off x="7735896" y="21891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9" name="Line 12"/>
          <p:cNvSpPr>
            <a:spLocks noChangeShapeType="1"/>
          </p:cNvSpPr>
          <p:nvPr/>
        </p:nvSpPr>
        <p:spPr bwMode="auto">
          <a:xfrm>
            <a:off x="9094798" y="2887662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0" name="Line 13"/>
          <p:cNvSpPr>
            <a:spLocks noChangeShapeType="1"/>
          </p:cNvSpPr>
          <p:nvPr/>
        </p:nvSpPr>
        <p:spPr bwMode="auto">
          <a:xfrm>
            <a:off x="9031298" y="35607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1" name="Line 14"/>
          <p:cNvSpPr>
            <a:spLocks noChangeShapeType="1"/>
          </p:cNvSpPr>
          <p:nvPr/>
        </p:nvSpPr>
        <p:spPr bwMode="auto">
          <a:xfrm>
            <a:off x="9031298" y="28749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2" name="Line 15"/>
          <p:cNvSpPr>
            <a:spLocks noChangeShapeType="1"/>
          </p:cNvSpPr>
          <p:nvPr/>
        </p:nvSpPr>
        <p:spPr bwMode="auto">
          <a:xfrm>
            <a:off x="7964496" y="3103562"/>
            <a:ext cx="965201" cy="0"/>
          </a:xfrm>
          <a:prstGeom prst="line">
            <a:avLst/>
          </a:prstGeom>
          <a:noFill/>
          <a:ln w="76200">
            <a:solidFill>
              <a:schemeClr val="accent2">
                <a:lumMod val="75000"/>
              </a:schemeClr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3" name="Freeform 16"/>
          <p:cNvSpPr/>
          <p:nvPr/>
        </p:nvSpPr>
        <p:spPr bwMode="auto">
          <a:xfrm>
            <a:off x="7951796" y="2570162"/>
            <a:ext cx="992189" cy="1296988"/>
          </a:xfrm>
          <a:custGeom>
            <a:avLst/>
            <a:gdLst>
              <a:gd name="T0" fmla="*/ 0 w 625"/>
              <a:gd name="T1" fmla="*/ 0 h 817"/>
              <a:gd name="T2" fmla="*/ 240 w 625"/>
              <a:gd name="T3" fmla="*/ 0 h 817"/>
              <a:gd name="T4" fmla="*/ 384 w 625"/>
              <a:gd name="T5" fmla="*/ 816 h 817"/>
              <a:gd name="T6" fmla="*/ 624 w 625"/>
              <a:gd name="T7" fmla="*/ 816 h 817"/>
              <a:gd name="T8" fmla="*/ 0 60000 65536"/>
              <a:gd name="T9" fmla="*/ 0 60000 65536"/>
              <a:gd name="T10" fmla="*/ 0 60000 65536"/>
              <a:gd name="T11" fmla="*/ 0 60000 65536"/>
              <a:gd name="T12" fmla="*/ 0 w 625"/>
              <a:gd name="T13" fmla="*/ 0 h 817"/>
              <a:gd name="T14" fmla="*/ 625 w 625"/>
              <a:gd name="T15" fmla="*/ 817 h 8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5" h="817">
                <a:moveTo>
                  <a:pt x="0" y="0"/>
                </a:moveTo>
                <a:lnTo>
                  <a:pt x="240" y="0"/>
                </a:lnTo>
                <a:lnTo>
                  <a:pt x="384" y="816"/>
                </a:lnTo>
                <a:lnTo>
                  <a:pt x="624" y="816"/>
                </a:ln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44" name="Rectangle 17"/>
          <p:cNvSpPr>
            <a:spLocks noChangeArrowheads="1"/>
          </p:cNvSpPr>
          <p:nvPr/>
        </p:nvSpPr>
        <p:spPr bwMode="auto">
          <a:xfrm>
            <a:off x="7354816" y="3373581"/>
            <a:ext cx="307340" cy="3657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0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4845" name="Rectangle 18"/>
          <p:cNvSpPr>
            <a:spLocks noChangeArrowheads="1"/>
          </p:cNvSpPr>
          <p:nvPr/>
        </p:nvSpPr>
        <p:spPr bwMode="auto">
          <a:xfrm>
            <a:off x="6940440" y="2695087"/>
            <a:ext cx="944143" cy="3657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2</a:t>
            </a:r>
            <a:r>
              <a:rPr lang="en-US" sz="1800" b="0" i="1" baseline="30000" dirty="0">
                <a:latin typeface="Calibri" pitchFamily="34" charset="0"/>
              </a:rPr>
              <a:t>w </a:t>
            </a:r>
            <a:r>
              <a:rPr lang="en-US" sz="1800" b="0" baseline="30000" dirty="0">
                <a:latin typeface="Calibri" pitchFamily="34" charset="0"/>
              </a:rPr>
              <a:t>–1</a:t>
            </a:r>
            <a:r>
              <a:rPr lang="en-US" sz="1800" b="0" dirty="0">
                <a:latin typeface="Calibri" pitchFamily="34" charset="0"/>
              </a:rPr>
              <a:t>–1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4846" name="Rectangle 19"/>
          <p:cNvSpPr>
            <a:spLocks noChangeArrowheads="1"/>
          </p:cNvSpPr>
          <p:nvPr/>
        </p:nvSpPr>
        <p:spPr bwMode="auto">
          <a:xfrm>
            <a:off x="7011773" y="2001981"/>
            <a:ext cx="661670" cy="3657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2</a:t>
            </a:r>
            <a:r>
              <a:rPr lang="en-US" sz="1800" b="0" i="1" baseline="30000" dirty="0">
                <a:latin typeface="Calibri" pitchFamily="34" charset="0"/>
              </a:rPr>
              <a:t>w</a:t>
            </a:r>
            <a:r>
              <a:rPr lang="en-US" sz="1800" b="0" dirty="0">
                <a:latin typeface="Calibri" pitchFamily="34" charset="0"/>
              </a:rPr>
              <a:t>–1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4847" name="Line 20"/>
          <p:cNvSpPr>
            <a:spLocks noChangeShapeType="1"/>
          </p:cNvSpPr>
          <p:nvPr/>
        </p:nvSpPr>
        <p:spPr bwMode="auto">
          <a:xfrm>
            <a:off x="7799396" y="3573462"/>
            <a:ext cx="0" cy="134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8" name="Line 21"/>
          <p:cNvSpPr>
            <a:spLocks noChangeShapeType="1"/>
          </p:cNvSpPr>
          <p:nvPr/>
        </p:nvSpPr>
        <p:spPr bwMode="auto">
          <a:xfrm>
            <a:off x="7735896" y="49323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9" name="Line 22"/>
          <p:cNvSpPr>
            <a:spLocks noChangeShapeType="1"/>
          </p:cNvSpPr>
          <p:nvPr/>
        </p:nvSpPr>
        <p:spPr bwMode="auto">
          <a:xfrm>
            <a:off x="7735896" y="42465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0" name="Line 23"/>
          <p:cNvSpPr>
            <a:spLocks noChangeShapeType="1"/>
          </p:cNvSpPr>
          <p:nvPr/>
        </p:nvSpPr>
        <p:spPr bwMode="auto">
          <a:xfrm>
            <a:off x="7735896" y="35607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1" name="Line 24"/>
          <p:cNvSpPr>
            <a:spLocks noChangeShapeType="1"/>
          </p:cNvSpPr>
          <p:nvPr/>
        </p:nvSpPr>
        <p:spPr bwMode="auto">
          <a:xfrm>
            <a:off x="9094798" y="3573462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2" name="Line 25"/>
          <p:cNvSpPr>
            <a:spLocks noChangeShapeType="1"/>
          </p:cNvSpPr>
          <p:nvPr/>
        </p:nvSpPr>
        <p:spPr bwMode="auto">
          <a:xfrm>
            <a:off x="9031298" y="42465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3" name="Line 26"/>
          <p:cNvSpPr>
            <a:spLocks noChangeShapeType="1"/>
          </p:cNvSpPr>
          <p:nvPr/>
        </p:nvSpPr>
        <p:spPr bwMode="auto">
          <a:xfrm>
            <a:off x="9031298" y="35607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4" name="Line 27"/>
          <p:cNvSpPr>
            <a:spLocks noChangeShapeType="1"/>
          </p:cNvSpPr>
          <p:nvPr/>
        </p:nvSpPr>
        <p:spPr bwMode="auto">
          <a:xfrm>
            <a:off x="7964496" y="4017962"/>
            <a:ext cx="965201" cy="0"/>
          </a:xfrm>
          <a:prstGeom prst="line">
            <a:avLst/>
          </a:prstGeom>
          <a:noFill/>
          <a:ln w="76200">
            <a:solidFill>
              <a:schemeClr val="accent2">
                <a:lumMod val="75000"/>
              </a:schemeClr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5" name="Freeform 28"/>
          <p:cNvSpPr/>
          <p:nvPr/>
        </p:nvSpPr>
        <p:spPr bwMode="auto">
          <a:xfrm>
            <a:off x="7951796" y="3332162"/>
            <a:ext cx="992189" cy="1296988"/>
          </a:xfrm>
          <a:custGeom>
            <a:avLst/>
            <a:gdLst>
              <a:gd name="T0" fmla="*/ 0 w 625"/>
              <a:gd name="T1" fmla="*/ 816 h 817"/>
              <a:gd name="T2" fmla="*/ 240 w 625"/>
              <a:gd name="T3" fmla="*/ 816 h 817"/>
              <a:gd name="T4" fmla="*/ 384 w 625"/>
              <a:gd name="T5" fmla="*/ 0 h 817"/>
              <a:gd name="T6" fmla="*/ 624 w 625"/>
              <a:gd name="T7" fmla="*/ 0 h 817"/>
              <a:gd name="T8" fmla="*/ 0 60000 65536"/>
              <a:gd name="T9" fmla="*/ 0 60000 65536"/>
              <a:gd name="T10" fmla="*/ 0 60000 65536"/>
              <a:gd name="T11" fmla="*/ 0 60000 65536"/>
              <a:gd name="T12" fmla="*/ 0 w 625"/>
              <a:gd name="T13" fmla="*/ 0 h 817"/>
              <a:gd name="T14" fmla="*/ 625 w 625"/>
              <a:gd name="T15" fmla="*/ 817 h 8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5" h="817">
                <a:moveTo>
                  <a:pt x="0" y="816"/>
                </a:moveTo>
                <a:lnTo>
                  <a:pt x="240" y="816"/>
                </a:lnTo>
                <a:lnTo>
                  <a:pt x="384" y="0"/>
                </a:lnTo>
                <a:lnTo>
                  <a:pt x="624" y="0"/>
                </a:ln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3" name="Rectangle 29"/>
          <p:cNvSpPr>
            <a:spLocks noChangeArrowheads="1"/>
          </p:cNvSpPr>
          <p:nvPr/>
        </p:nvSpPr>
        <p:spPr bwMode="auto">
          <a:xfrm>
            <a:off x="7162800" y="1524000"/>
            <a:ext cx="1581150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True Sum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34824" name="Rectangle 30"/>
          <p:cNvSpPr>
            <a:spLocks noChangeArrowheads="1"/>
          </p:cNvSpPr>
          <p:nvPr/>
        </p:nvSpPr>
        <p:spPr bwMode="auto">
          <a:xfrm>
            <a:off x="8763000" y="2286000"/>
            <a:ext cx="1958340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 err="1">
                <a:latin typeface="Calibri" pitchFamily="34" charset="0"/>
              </a:rPr>
              <a:t>TAdd</a:t>
            </a:r>
            <a:r>
              <a:rPr lang="en-US" dirty="0">
                <a:latin typeface="Calibri" pitchFamily="34" charset="0"/>
              </a:rPr>
              <a:t> Result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34825" name="Rectangle 31"/>
          <p:cNvSpPr>
            <a:spLocks noChangeArrowheads="1"/>
          </p:cNvSpPr>
          <p:nvPr/>
        </p:nvSpPr>
        <p:spPr bwMode="auto">
          <a:xfrm>
            <a:off x="5867400" y="4727575"/>
            <a:ext cx="902970" cy="30416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1</a:t>
            </a:r>
            <a:r>
              <a:rPr lang="en-US" sz="1400" b="0" dirty="0">
                <a:latin typeface="Calibri" pitchFamily="34" charset="0"/>
              </a:rPr>
              <a:t> 000…0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26" name="Rectangle 32"/>
          <p:cNvSpPr>
            <a:spLocks noChangeArrowheads="1"/>
          </p:cNvSpPr>
          <p:nvPr/>
        </p:nvSpPr>
        <p:spPr bwMode="auto">
          <a:xfrm>
            <a:off x="5867400" y="4041775"/>
            <a:ext cx="902970" cy="30416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1</a:t>
            </a:r>
            <a:r>
              <a:rPr lang="en-US" sz="1400" b="0" dirty="0">
                <a:latin typeface="Calibri" pitchFamily="34" charset="0"/>
              </a:rPr>
              <a:t> 011…1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27" name="Rectangle 33"/>
          <p:cNvSpPr>
            <a:spLocks noChangeArrowheads="1"/>
          </p:cNvSpPr>
          <p:nvPr/>
        </p:nvSpPr>
        <p:spPr bwMode="auto">
          <a:xfrm>
            <a:off x="5867400" y="3355975"/>
            <a:ext cx="902970" cy="30416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0</a:t>
            </a:r>
            <a:r>
              <a:rPr lang="en-US" sz="1400" b="0" dirty="0">
                <a:latin typeface="Calibri" pitchFamily="34" charset="0"/>
              </a:rPr>
              <a:t> 000…0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28" name="Rectangle 34"/>
          <p:cNvSpPr>
            <a:spLocks noChangeArrowheads="1"/>
          </p:cNvSpPr>
          <p:nvPr/>
        </p:nvSpPr>
        <p:spPr bwMode="auto">
          <a:xfrm>
            <a:off x="5867400" y="2670175"/>
            <a:ext cx="902970" cy="30416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0</a:t>
            </a:r>
            <a:r>
              <a:rPr lang="en-US" sz="1400" b="0" dirty="0">
                <a:latin typeface="Calibri" pitchFamily="34" charset="0"/>
              </a:rPr>
              <a:t> 100…0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29" name="Rectangle 35"/>
          <p:cNvSpPr>
            <a:spLocks noChangeArrowheads="1"/>
          </p:cNvSpPr>
          <p:nvPr/>
        </p:nvSpPr>
        <p:spPr bwMode="auto">
          <a:xfrm>
            <a:off x="5867400" y="1984375"/>
            <a:ext cx="902970" cy="30416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0</a:t>
            </a:r>
            <a:r>
              <a:rPr lang="en-US" sz="1400" b="0" dirty="0">
                <a:latin typeface="Calibri" pitchFamily="34" charset="0"/>
              </a:rPr>
              <a:t> 111…1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30" name="Rectangle 36"/>
          <p:cNvSpPr>
            <a:spLocks noChangeArrowheads="1"/>
          </p:cNvSpPr>
          <p:nvPr/>
        </p:nvSpPr>
        <p:spPr bwMode="auto">
          <a:xfrm>
            <a:off x="9372600" y="4117975"/>
            <a:ext cx="754380" cy="30416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>
                <a:latin typeface="Calibri" pitchFamily="34" charset="0"/>
              </a:rPr>
              <a:t>100…0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31" name="Rectangle 37"/>
          <p:cNvSpPr>
            <a:spLocks noChangeArrowheads="1"/>
          </p:cNvSpPr>
          <p:nvPr/>
        </p:nvSpPr>
        <p:spPr bwMode="auto">
          <a:xfrm>
            <a:off x="9372600" y="3432175"/>
            <a:ext cx="754380" cy="30416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>
                <a:latin typeface="Calibri" pitchFamily="34" charset="0"/>
              </a:rPr>
              <a:t>000…0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32" name="Rectangle 38"/>
          <p:cNvSpPr>
            <a:spLocks noChangeArrowheads="1"/>
          </p:cNvSpPr>
          <p:nvPr/>
        </p:nvSpPr>
        <p:spPr bwMode="auto">
          <a:xfrm>
            <a:off x="9372600" y="2746375"/>
            <a:ext cx="754380" cy="30416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>
                <a:latin typeface="Calibri" pitchFamily="34" charset="0"/>
              </a:rPr>
              <a:t>011…1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33" name="Text Box 39"/>
          <p:cNvSpPr txBox="1">
            <a:spLocks noChangeArrowheads="1"/>
          </p:cNvSpPr>
          <p:nvPr/>
        </p:nvSpPr>
        <p:spPr bwMode="auto">
          <a:xfrm>
            <a:off x="7848600" y="2243137"/>
            <a:ext cx="867410" cy="30670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PosOver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34" name="Text Box 40"/>
          <p:cNvSpPr txBox="1">
            <a:spLocks noChangeArrowheads="1"/>
          </p:cNvSpPr>
          <p:nvPr/>
        </p:nvSpPr>
        <p:spPr bwMode="auto">
          <a:xfrm>
            <a:off x="7924800" y="4681537"/>
            <a:ext cx="887095" cy="30670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NegOver</a:t>
            </a:r>
            <a:endParaRPr lang="en-US" sz="1400" b="0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6019800" y="2057400"/>
          <a:ext cx="4560888" cy="397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7" name="Chart" r:id="rId1" imgW="6141085" imgH="5351780" progId="Excel.Sheet.8">
                  <p:embed/>
                </p:oleObj>
              </mc:Choice>
              <mc:Fallback>
                <p:oleObj name="Chart" r:id="rId1" imgW="6141085" imgH="535178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057400"/>
                        <a:ext cx="4560888" cy="397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1" name="Rectangle 3"/>
          <p:cNvSpPr>
            <a:spLocks noGrp="1" noChangeArrowheads="1"/>
          </p:cNvSpPr>
          <p:nvPr>
            <p:ph type="title"/>
          </p:nvPr>
        </p:nvSpPr>
        <p:spPr>
          <a:xfrm>
            <a:off x="1752600" y="587375"/>
            <a:ext cx="7983538" cy="555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sym typeface="+mn-ea"/>
              </a:rPr>
              <a:t>二进制补码的加法</a:t>
            </a:r>
            <a:endParaRPr lang="en-US" dirty="0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52600" y="1752600"/>
            <a:ext cx="4086225" cy="4592955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/>
              <a:t>Values</a:t>
            </a:r>
            <a:endParaRPr lang="en-US"/>
          </a:p>
          <a:p>
            <a:pPr lvl="1" eaLnBrk="1" hangingPunct="1">
              <a:defRPr/>
            </a:pPr>
            <a:r>
              <a:rPr lang="en-US"/>
              <a:t>4-bit two’s comp.</a:t>
            </a:r>
            <a:endParaRPr lang="en-US"/>
          </a:p>
          <a:p>
            <a:pPr lvl="1" eaLnBrk="1" hangingPunct="1">
              <a:defRPr/>
            </a:pPr>
            <a:r>
              <a:rPr lang="en-US"/>
              <a:t>Range from -8 to +7</a:t>
            </a:r>
            <a:endParaRPr lang="en-US"/>
          </a:p>
          <a:p>
            <a:pPr eaLnBrk="1" hangingPunct="1">
              <a:defRPr/>
            </a:pPr>
            <a:r>
              <a:rPr lang="en-US"/>
              <a:t>Wraps Around</a:t>
            </a:r>
            <a:endParaRPr lang="en-US"/>
          </a:p>
          <a:p>
            <a:pPr lvl="1" eaLnBrk="1" hangingPunct="1">
              <a:defRPr/>
            </a:pPr>
            <a:r>
              <a:rPr lang="en-US"/>
              <a:t>If sum </a:t>
            </a:r>
            <a:r>
              <a:rPr lang="en-US">
                <a:sym typeface="Symbol" pitchFamily="18" charset="2"/>
              </a:rPr>
              <a:t> </a:t>
            </a:r>
            <a:r>
              <a:rPr lang="en-US"/>
              <a:t>2</a:t>
            </a:r>
            <a:r>
              <a:rPr lang="en-US" i="1" baseline="30000"/>
              <a:t>w</a:t>
            </a:r>
            <a:r>
              <a:rPr lang="en-US" baseline="30000"/>
              <a:t>–1</a:t>
            </a:r>
            <a:endParaRPr lang="en-US"/>
          </a:p>
          <a:p>
            <a:pPr lvl="2" eaLnBrk="1" hangingPunct="1">
              <a:defRPr/>
            </a:pPr>
            <a:r>
              <a:rPr lang="en-US"/>
              <a:t>Becomes negative</a:t>
            </a:r>
            <a:endParaRPr lang="en-US"/>
          </a:p>
          <a:p>
            <a:pPr lvl="2" eaLnBrk="1" hangingPunct="1">
              <a:defRPr/>
            </a:pPr>
            <a:r>
              <a:rPr lang="en-US"/>
              <a:t>At most once</a:t>
            </a:r>
            <a:endParaRPr lang="en-US"/>
          </a:p>
          <a:p>
            <a:pPr lvl="1" eaLnBrk="1" hangingPunct="1">
              <a:defRPr/>
            </a:pPr>
            <a:r>
              <a:rPr lang="en-US"/>
              <a:t>If sum &lt; –2</a:t>
            </a:r>
            <a:r>
              <a:rPr lang="en-US" i="1" baseline="30000"/>
              <a:t>w</a:t>
            </a:r>
            <a:r>
              <a:rPr lang="en-US" baseline="30000"/>
              <a:t>–1</a:t>
            </a:r>
            <a:endParaRPr lang="en-US"/>
          </a:p>
          <a:p>
            <a:pPr lvl="2" eaLnBrk="1" hangingPunct="1">
              <a:defRPr/>
            </a:pPr>
            <a:r>
              <a:rPr lang="en-US"/>
              <a:t>Becomes positive</a:t>
            </a:r>
            <a:endParaRPr lang="en-US"/>
          </a:p>
          <a:p>
            <a:pPr lvl="2" eaLnBrk="1" hangingPunct="1">
              <a:defRPr/>
            </a:pPr>
            <a:r>
              <a:rPr lang="en-US"/>
              <a:t>At most once</a:t>
            </a:r>
            <a:endParaRPr 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7772400" y="2133600"/>
            <a:ext cx="1835150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30000"/>
              </a:spcBef>
            </a:pP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TAdd</a:t>
            </a:r>
            <a:r>
              <a:rPr lang="en-US" baseline="-25000" dirty="0">
                <a:solidFill>
                  <a:schemeClr val="tx2"/>
                </a:solidFill>
                <a:latin typeface="Calibri" pitchFamily="34" charset="0"/>
              </a:rPr>
              <a:t>4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(</a:t>
            </a: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u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 , </a:t>
            </a: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v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)</a:t>
            </a:r>
            <a:endParaRPr lang="en-US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6781800" y="5562600"/>
            <a:ext cx="36639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30000"/>
              </a:spcBef>
            </a:pP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u</a:t>
            </a:r>
            <a:endParaRPr lang="en-US" i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9448800" y="5029200"/>
            <a:ext cx="338455" cy="45783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30000"/>
              </a:spcBef>
            </a:pPr>
            <a:r>
              <a:rPr lang="en-US" i="1" dirty="0">
                <a:solidFill>
                  <a:schemeClr val="tx2"/>
                </a:solidFill>
                <a:latin typeface="Calibri" pitchFamily="34" charset="0"/>
              </a:rPr>
              <a:t>v</a:t>
            </a:r>
            <a:endParaRPr lang="en-US" i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9525000" y="5562600"/>
            <a:ext cx="1010920" cy="33718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latin typeface="Calibri" pitchFamily="34" charset="0"/>
              </a:rPr>
              <a:t>PosOver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562600" y="1371600"/>
            <a:ext cx="1033780" cy="33718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latin typeface="Calibri" pitchFamily="34" charset="0"/>
              </a:rPr>
              <a:t>NegOver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6172200" y="1752600"/>
            <a:ext cx="838200" cy="17526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 flipH="1" flipV="1">
            <a:off x="9677400" y="4191000"/>
            <a:ext cx="609600" cy="12954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87375"/>
            <a:ext cx="590867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Multiplication</a:t>
            </a:r>
            <a:r>
              <a:rPr lang="zh-CN" altLang="en-US"/>
              <a:t>乘法</a:t>
            </a:r>
            <a:endParaRPr lang="zh-CN" alt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328737"/>
            <a:ext cx="8307388" cy="5224463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zh-CN" altLang="en-US" dirty="0"/>
              <a:t>目标</a:t>
            </a:r>
            <a:r>
              <a:rPr lang="en-US" dirty="0"/>
              <a:t>: </a:t>
            </a:r>
            <a:r>
              <a:rPr lang="zh-CN" altLang="en-US" dirty="0"/>
              <a:t>计算</a:t>
            </a:r>
            <a:r>
              <a:rPr lang="en-US" dirty="0"/>
              <a:t> </a:t>
            </a:r>
            <a:r>
              <a:rPr lang="en-US" b="0" i="1" dirty="0"/>
              <a:t>w</a:t>
            </a:r>
            <a:r>
              <a:rPr lang="en-US" dirty="0"/>
              <a:t>-bit </a:t>
            </a:r>
            <a:r>
              <a:rPr lang="zh-CN" altLang="en-US" dirty="0"/>
              <a:t>数字</a:t>
            </a:r>
            <a:r>
              <a:rPr lang="en-US" dirty="0"/>
              <a:t> </a:t>
            </a:r>
            <a:r>
              <a:rPr lang="en-US" b="0" i="1" dirty="0"/>
              <a:t>x</a:t>
            </a:r>
            <a:r>
              <a:rPr lang="en-US" dirty="0"/>
              <a:t>, </a:t>
            </a:r>
            <a:r>
              <a:rPr lang="en-US" b="0" i="1" dirty="0"/>
              <a:t>y </a:t>
            </a:r>
            <a:r>
              <a:rPr lang="zh-CN" altLang="en-US" b="0" dirty="0"/>
              <a:t>的乘积</a:t>
            </a:r>
            <a:endParaRPr lang="en-US" b="0" i="1" dirty="0"/>
          </a:p>
          <a:p>
            <a:pPr lvl="1" eaLnBrk="1" hangingPunct="1">
              <a:defRPr/>
            </a:pPr>
            <a:r>
              <a:rPr lang="en-US" dirty="0"/>
              <a:t>Either signed or unsigned</a:t>
            </a:r>
            <a:endParaRPr lang="en-US" dirty="0"/>
          </a:p>
          <a:p>
            <a:pPr eaLnBrk="1" hangingPunct="1">
              <a:defRPr/>
            </a:pPr>
            <a:r>
              <a:rPr lang="zh-CN" altLang="en-US" dirty="0"/>
              <a:t>但是</a:t>
            </a:r>
            <a:r>
              <a:rPr lang="en-US" altLang="zh-CN" dirty="0"/>
              <a:t>，</a:t>
            </a:r>
            <a:r>
              <a:rPr lang="zh-CN" altLang="en-US" dirty="0"/>
              <a:t>数学上的积很可能超过</a:t>
            </a:r>
            <a:r>
              <a:rPr lang="en-US" dirty="0"/>
              <a:t> </a:t>
            </a:r>
            <a:r>
              <a:rPr lang="en-US" b="0" i="1" dirty="0" err="1"/>
              <a:t>w</a:t>
            </a:r>
            <a:r>
              <a:rPr lang="en-US" b="0" i="1" dirty="0"/>
              <a:t> </a:t>
            </a:r>
            <a:r>
              <a:rPr lang="zh-CN" altLang="en-US" b="0" dirty="0"/>
              <a:t>位</a:t>
            </a:r>
            <a:endParaRPr lang="en-US" i="1" dirty="0"/>
          </a:p>
          <a:p>
            <a:pPr lvl="1" eaLnBrk="1" hangingPunct="1">
              <a:defRPr/>
            </a:pPr>
            <a:r>
              <a:rPr lang="zh-CN" altLang="en-US" dirty="0"/>
              <a:t>无符号</a:t>
            </a:r>
            <a:r>
              <a:rPr lang="en-US" dirty="0"/>
              <a:t>: </a:t>
            </a:r>
            <a:r>
              <a:rPr lang="zh-CN" altLang="en-US" dirty="0"/>
              <a:t>多达</a:t>
            </a:r>
            <a:r>
              <a:rPr lang="en-US" dirty="0"/>
              <a:t>2</a:t>
            </a:r>
            <a:r>
              <a:rPr lang="en-US" i="1" dirty="0"/>
              <a:t>w</a:t>
            </a:r>
            <a:r>
              <a:rPr lang="en-US" dirty="0"/>
              <a:t> </a:t>
            </a:r>
            <a:r>
              <a:rPr lang="zh-CN" altLang="en-US" dirty="0"/>
              <a:t>位宽</a:t>
            </a:r>
            <a:endParaRPr lang="en-US" dirty="0"/>
          </a:p>
          <a:p>
            <a:pPr lvl="2">
              <a:defRPr/>
            </a:pPr>
            <a:r>
              <a:rPr lang="zh-CN" altLang="en-US" b="0" dirty="0"/>
              <a:t>结果的范围</a:t>
            </a:r>
            <a:r>
              <a:rPr lang="en-US" b="0" dirty="0"/>
              <a:t>: 0 ≤ </a:t>
            </a:r>
            <a:r>
              <a:rPr lang="en-US" b="0" i="1" dirty="0"/>
              <a:t>x</a:t>
            </a:r>
            <a:r>
              <a:rPr lang="en-US" b="0" dirty="0"/>
              <a:t> * </a:t>
            </a:r>
            <a:r>
              <a:rPr lang="en-US" b="0" i="1" dirty="0"/>
              <a:t>y</a:t>
            </a:r>
            <a:r>
              <a:rPr lang="en-US" b="0" dirty="0"/>
              <a:t> ≤ (2</a:t>
            </a:r>
            <a:r>
              <a:rPr lang="en-US" b="0" i="1" baseline="30000" dirty="0"/>
              <a:t>w</a:t>
            </a:r>
            <a:r>
              <a:rPr lang="en-US" b="0" dirty="0"/>
              <a:t> – 1) </a:t>
            </a:r>
            <a:r>
              <a:rPr lang="en-US" b="0" baseline="30000" dirty="0"/>
              <a:t>2</a:t>
            </a:r>
            <a:r>
              <a:rPr lang="en-US" b="0" dirty="0"/>
              <a:t>  =  2</a:t>
            </a:r>
            <a:r>
              <a:rPr lang="en-US" b="0" baseline="30000" dirty="0"/>
              <a:t>2</a:t>
            </a:r>
            <a:r>
              <a:rPr lang="en-US" b="0" i="1" baseline="30000" dirty="0"/>
              <a:t>w</a:t>
            </a:r>
            <a:r>
              <a:rPr lang="en-US" b="0" dirty="0"/>
              <a:t> – 2</a:t>
            </a:r>
            <a:r>
              <a:rPr lang="en-US" b="0" i="1" baseline="30000" dirty="0"/>
              <a:t>w</a:t>
            </a:r>
            <a:r>
              <a:rPr lang="en-US" b="0" baseline="30000" dirty="0"/>
              <a:t>+1</a:t>
            </a:r>
            <a:r>
              <a:rPr lang="en-US" b="0" dirty="0"/>
              <a:t> + 1</a:t>
            </a:r>
            <a:endParaRPr lang="en-US" b="0" dirty="0"/>
          </a:p>
          <a:p>
            <a:pPr lvl="1" eaLnBrk="1" hangingPunct="1">
              <a:defRPr/>
            </a:pPr>
            <a:r>
              <a:rPr lang="zh-CN" altLang="en-US" dirty="0"/>
              <a:t>有符号</a:t>
            </a:r>
            <a:r>
              <a:rPr lang="en-US" dirty="0"/>
              <a:t> (</a:t>
            </a:r>
            <a:r>
              <a:rPr lang="zh-CN" altLang="en-US" dirty="0"/>
              <a:t>负数</a:t>
            </a:r>
            <a:r>
              <a:rPr lang="en-US" dirty="0"/>
              <a:t>): </a:t>
            </a:r>
            <a:r>
              <a:rPr lang="zh-CN" altLang="en-US" dirty="0"/>
              <a:t>多达</a:t>
            </a:r>
            <a:r>
              <a:rPr lang="en-US" dirty="0"/>
              <a:t> 2</a:t>
            </a:r>
            <a:r>
              <a:rPr lang="en-US" i="1" dirty="0"/>
              <a:t>w</a:t>
            </a:r>
            <a:r>
              <a:rPr lang="en-US" dirty="0"/>
              <a:t>-1 </a:t>
            </a:r>
            <a:r>
              <a:rPr lang="zh-CN" altLang="en-US" dirty="0"/>
              <a:t>位宽</a:t>
            </a:r>
            <a:endParaRPr lang="en-US" dirty="0"/>
          </a:p>
          <a:p>
            <a:pPr lvl="2">
              <a:defRPr/>
            </a:pPr>
            <a:r>
              <a:rPr lang="zh-CN" altLang="en-US" b="0" dirty="0"/>
              <a:t>结果的范围</a:t>
            </a:r>
            <a:r>
              <a:rPr lang="en-US" b="0" i="1" dirty="0"/>
              <a:t>: </a:t>
            </a:r>
            <a:r>
              <a:rPr lang="en-US" b="0" i="1" dirty="0" err="1"/>
              <a:t>x</a:t>
            </a:r>
            <a:r>
              <a:rPr lang="en-US" b="0" dirty="0"/>
              <a:t> * </a:t>
            </a:r>
            <a:r>
              <a:rPr lang="en-US" b="0" i="1" dirty="0"/>
              <a:t>y</a:t>
            </a:r>
            <a:r>
              <a:rPr lang="en-US" b="0" dirty="0"/>
              <a:t>  ≥ (–2</a:t>
            </a:r>
            <a:r>
              <a:rPr lang="en-US" b="0" i="1" baseline="30000" dirty="0"/>
              <a:t>w</a:t>
            </a:r>
            <a:r>
              <a:rPr lang="en-US" b="0" baseline="30000" dirty="0"/>
              <a:t>–1</a:t>
            </a:r>
            <a:r>
              <a:rPr lang="en-US" b="0" dirty="0"/>
              <a:t>)*(2</a:t>
            </a:r>
            <a:r>
              <a:rPr lang="en-US" b="0" i="1" baseline="30000" dirty="0"/>
              <a:t>w</a:t>
            </a:r>
            <a:r>
              <a:rPr lang="en-US" b="0" baseline="30000" dirty="0"/>
              <a:t>–1</a:t>
            </a:r>
            <a:r>
              <a:rPr lang="en-US" b="0" dirty="0"/>
              <a:t>–1)  =  –2</a:t>
            </a:r>
            <a:r>
              <a:rPr lang="en-US" b="0" baseline="30000" dirty="0"/>
              <a:t>2</a:t>
            </a:r>
            <a:r>
              <a:rPr lang="en-US" b="0" i="1" baseline="30000" dirty="0"/>
              <a:t>w</a:t>
            </a:r>
            <a:r>
              <a:rPr lang="en-US" b="0" baseline="30000" dirty="0"/>
              <a:t>–2 </a:t>
            </a:r>
            <a:r>
              <a:rPr lang="en-US" b="0" dirty="0"/>
              <a:t>+ 2</a:t>
            </a:r>
            <a:r>
              <a:rPr lang="en-US" b="0" i="1" baseline="30000" dirty="0"/>
              <a:t>w</a:t>
            </a:r>
            <a:r>
              <a:rPr lang="en-US" b="0" baseline="30000" dirty="0"/>
              <a:t>–1</a:t>
            </a:r>
            <a:endParaRPr lang="en-US" b="0" baseline="30000" dirty="0"/>
          </a:p>
          <a:p>
            <a:pPr lvl="1">
              <a:defRPr/>
            </a:pPr>
            <a:r>
              <a:rPr lang="zh-CN" altLang="en-US" dirty="0">
                <a:sym typeface="+mn-ea"/>
              </a:rPr>
              <a:t>有符号</a:t>
            </a:r>
            <a:r>
              <a:rPr lang="en-US" dirty="0">
                <a:sym typeface="+mn-ea"/>
              </a:rPr>
              <a:t> (</a:t>
            </a:r>
            <a:r>
              <a:rPr lang="zh-CN" altLang="en-US" dirty="0">
                <a:sym typeface="+mn-ea"/>
              </a:rPr>
              <a:t>正数</a:t>
            </a:r>
            <a:r>
              <a:rPr lang="en-US" dirty="0">
                <a:sym typeface="+mn-ea"/>
              </a:rPr>
              <a:t>)</a:t>
            </a:r>
            <a:r>
              <a:rPr lang="en-US" dirty="0"/>
              <a:t>: </a:t>
            </a:r>
            <a:r>
              <a:rPr lang="zh-CN" altLang="en-US" dirty="0"/>
              <a:t>当计算</a:t>
            </a:r>
            <a:r>
              <a:rPr lang="en-US" dirty="0"/>
              <a:t> (</a:t>
            </a:r>
            <a:r>
              <a:rPr lang="en-US" i="1" dirty="0"/>
              <a:t>TMin</a:t>
            </a:r>
            <a:r>
              <a:rPr lang="en-US" i="1" baseline="-25000" dirty="0"/>
              <a:t>w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zh-CN" altLang="en-US" dirty="0"/>
              <a:t>时</a:t>
            </a:r>
            <a:r>
              <a:rPr lang="en-US" altLang="zh-CN" dirty="0"/>
              <a:t>，</a:t>
            </a:r>
            <a:r>
              <a:rPr lang="zh-CN" altLang="en-US" dirty="0"/>
              <a:t>多达</a:t>
            </a:r>
            <a:r>
              <a:rPr lang="en-US" altLang="zh-CN" dirty="0"/>
              <a:t>2w</a:t>
            </a:r>
            <a:r>
              <a:rPr lang="zh-CN" altLang="en-US" dirty="0"/>
              <a:t>位宽</a:t>
            </a:r>
            <a:endParaRPr lang="en-US" baseline="30000" dirty="0"/>
          </a:p>
          <a:p>
            <a:pPr lvl="2">
              <a:defRPr/>
            </a:pPr>
            <a:r>
              <a:rPr lang="zh-CN" altLang="en-US" dirty="0">
                <a:sym typeface="+mn-ea"/>
              </a:rPr>
              <a:t>结果的范围</a:t>
            </a:r>
            <a:r>
              <a:rPr lang="en-US" b="0" dirty="0"/>
              <a:t>: </a:t>
            </a:r>
            <a:r>
              <a:rPr lang="en-US" b="0" i="1" dirty="0" err="1"/>
              <a:t>x</a:t>
            </a:r>
            <a:r>
              <a:rPr lang="en-US" b="0" dirty="0"/>
              <a:t> * </a:t>
            </a:r>
            <a:r>
              <a:rPr lang="en-US" b="0" i="1" dirty="0"/>
              <a:t>y</a:t>
            </a:r>
            <a:r>
              <a:rPr lang="en-US" b="0" dirty="0"/>
              <a:t> ≤ (–2</a:t>
            </a:r>
            <a:r>
              <a:rPr lang="en-US" b="0" i="1" baseline="30000" dirty="0"/>
              <a:t>w</a:t>
            </a:r>
            <a:r>
              <a:rPr lang="en-US" b="0" baseline="30000" dirty="0"/>
              <a:t>–1</a:t>
            </a:r>
            <a:r>
              <a:rPr lang="en-US" b="0" dirty="0"/>
              <a:t>) </a:t>
            </a:r>
            <a:r>
              <a:rPr lang="en-US" b="0" baseline="30000" dirty="0"/>
              <a:t>2</a:t>
            </a:r>
            <a:r>
              <a:rPr lang="en-US" b="0" dirty="0"/>
              <a:t>  =  2</a:t>
            </a:r>
            <a:r>
              <a:rPr lang="en-US" b="0" baseline="30000" dirty="0"/>
              <a:t>2</a:t>
            </a:r>
            <a:r>
              <a:rPr lang="en-US" b="0" i="1" baseline="30000" dirty="0"/>
              <a:t>w</a:t>
            </a:r>
            <a:r>
              <a:rPr lang="en-US" b="0" baseline="30000" dirty="0"/>
              <a:t>–2</a:t>
            </a:r>
            <a:endParaRPr lang="en-US" b="0" baseline="30000" dirty="0"/>
          </a:p>
          <a:p>
            <a:pPr eaLnBrk="1" hangingPunct="1">
              <a:defRPr/>
            </a:pPr>
            <a:r>
              <a:rPr lang="zh-CN" altLang="en-US" dirty="0"/>
              <a:t>因此</a:t>
            </a:r>
            <a:r>
              <a:rPr lang="en-US" altLang="zh-CN" dirty="0"/>
              <a:t>，</a:t>
            </a:r>
            <a:r>
              <a:rPr lang="zh-CN" altLang="en-US" dirty="0"/>
              <a:t>要想保留数学上的精确结果</a:t>
            </a:r>
            <a:r>
              <a:rPr lang="en-US" dirty="0"/>
              <a:t>…</a:t>
            </a:r>
            <a:endParaRPr lang="en-US" dirty="0"/>
          </a:p>
          <a:p>
            <a:pPr lvl="1" eaLnBrk="1" hangingPunct="1">
              <a:defRPr/>
            </a:pPr>
            <a:r>
              <a:rPr lang="zh-CN" altLang="en-US" dirty="0"/>
              <a:t>需要用软件方法</a:t>
            </a:r>
            <a:r>
              <a:rPr lang="en-US" altLang="zh-CN" dirty="0"/>
              <a:t>，</a:t>
            </a:r>
            <a:r>
              <a:rPr lang="zh-CN" altLang="en-US" dirty="0"/>
              <a:t>将高位结果保留在额外的位置</a:t>
            </a:r>
            <a:endParaRPr lang="en-US" dirty="0"/>
          </a:p>
          <a:p>
            <a:pPr lvl="2">
              <a:defRPr/>
            </a:pPr>
            <a:r>
              <a:rPr lang="en-US" dirty="0"/>
              <a:t>e.g., by</a:t>
            </a:r>
            <a:r>
              <a:rPr lang="en-US" dirty="0">
                <a:solidFill>
                  <a:srgbClr val="FF0000"/>
                </a:solidFill>
              </a:rPr>
              <a:t> “arbitrary precision</a:t>
            </a:r>
            <a:r>
              <a:rPr lang="en-US" dirty="0"/>
              <a:t>” arithmetic packages</a:t>
            </a:r>
            <a:endParaRPr lang="en-US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87375"/>
            <a:ext cx="768667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C</a:t>
            </a:r>
            <a:r>
              <a:rPr lang="zh-CN" altLang="en-US"/>
              <a:t>语言中的无符号</a:t>
            </a:r>
            <a:r>
              <a:rPr lang="zh-CN" altLang="en-US"/>
              <a:t>乘法</a:t>
            </a:r>
            <a:endParaRPr lang="zh-CN" alt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84350" y="3689350"/>
            <a:ext cx="5911850" cy="1643380"/>
          </a:xfrm>
        </p:spPr>
        <p:txBody>
          <a:bodyPr lIns="90487" tIns="44450" rIns="90487" bIns="44450"/>
          <a:lstStyle/>
          <a:p>
            <a:pPr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zh-CN" altLang="en-US"/>
              <a:t>标准的乘法运算</a:t>
            </a:r>
            <a:endParaRPr lang="en-US"/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zh-CN" altLang="en-US">
                <a:solidFill>
                  <a:srgbClr val="00B050"/>
                </a:solidFill>
              </a:rPr>
              <a:t>忽略高</a:t>
            </a:r>
            <a:r>
              <a:rPr lang="en-US" altLang="zh-CN">
                <a:solidFill>
                  <a:srgbClr val="00B050"/>
                </a:solidFill>
              </a:rPr>
              <a:t>w</a:t>
            </a:r>
            <a:r>
              <a:rPr lang="zh-CN" altLang="en-US">
                <a:solidFill>
                  <a:srgbClr val="00B050"/>
                </a:solidFill>
              </a:rPr>
              <a:t>位</a:t>
            </a:r>
            <a:endParaRPr lang="en-US"/>
          </a:p>
          <a:p>
            <a:pPr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zh-CN" altLang="en-US"/>
              <a:t>实现的模乘法运算</a:t>
            </a:r>
            <a:endParaRPr lang="en-US"/>
          </a:p>
          <a:p>
            <a:pPr lvl="1" eaLnBrk="1" hangingPunct="1">
              <a:buFont typeface="Wingdings" panose="05000000000000000000" pitchFamily="2" charset="2"/>
              <a:buNone/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 b="0"/>
              <a:t>UMult</a:t>
            </a:r>
            <a:r>
              <a:rPr lang="en-US" b="0" i="1" baseline="-25000"/>
              <a:t>w</a:t>
            </a:r>
            <a:r>
              <a:rPr lang="en-US" b="0"/>
              <a:t>(</a:t>
            </a:r>
            <a:r>
              <a:rPr lang="en-US" b="0" i="1"/>
              <a:t>u</a:t>
            </a:r>
            <a:r>
              <a:rPr lang="en-US" b="0"/>
              <a:t> , </a:t>
            </a:r>
            <a:r>
              <a:rPr lang="en-US" b="0" i="1"/>
              <a:t>v</a:t>
            </a:r>
            <a:r>
              <a:rPr lang="en-US" b="0"/>
              <a:t>)	=	</a:t>
            </a:r>
            <a:r>
              <a:rPr lang="en-US" b="0" i="1"/>
              <a:t>u</a:t>
            </a:r>
            <a:r>
              <a:rPr lang="en-US" b="0"/>
              <a:t>   · </a:t>
            </a:r>
            <a:r>
              <a:rPr lang="en-US" b="0" i="1"/>
              <a:t>v</a:t>
            </a:r>
            <a:r>
              <a:rPr lang="en-US" b="0"/>
              <a:t>  mod 2</a:t>
            </a:r>
            <a:r>
              <a:rPr lang="en-US" b="0" i="1" baseline="30000"/>
              <a:t>w</a:t>
            </a:r>
            <a:endParaRPr lang="en-US" b="0" i="1" baseline="3000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7696200" y="1524000"/>
            <a:ext cx="2743200" cy="228600"/>
            <a:chOff x="2976" y="816"/>
            <a:chExt cx="1728" cy="144"/>
          </a:xfrm>
        </p:grpSpPr>
        <p:sp>
          <p:nvSpPr>
            <p:cNvPr id="36911" name="Rectangle 5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2" name="Rectangle 6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3" name="Rectangle 7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4" name="Rectangle 8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5" name="Rectangle 9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6" name="Rectangle 10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7" name="Rectangle 11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7696200" y="1981200"/>
            <a:ext cx="2743200" cy="228600"/>
            <a:chOff x="2976" y="1104"/>
            <a:chExt cx="1728" cy="144"/>
          </a:xfrm>
        </p:grpSpPr>
        <p:sp>
          <p:nvSpPr>
            <p:cNvPr id="36904" name="Rectangle 13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5" name="Rectangle 14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6" name="Rectangle 15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7" name="Rectangle 16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8" name="Rectangle 17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9" name="Rectangle 18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0" name="Rectangle 19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36870" name="Rectangle 20"/>
          <p:cNvSpPr>
            <a:spLocks noChangeArrowheads="1"/>
          </p:cNvSpPr>
          <p:nvPr/>
        </p:nvSpPr>
        <p:spPr bwMode="auto">
          <a:xfrm>
            <a:off x="7086600" y="1447800"/>
            <a:ext cx="33528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36871" name="Rectangle 21"/>
          <p:cNvSpPr>
            <a:spLocks noChangeArrowheads="1"/>
          </p:cNvSpPr>
          <p:nvPr/>
        </p:nvSpPr>
        <p:spPr bwMode="auto">
          <a:xfrm>
            <a:off x="7086600" y="1905000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v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36872" name="Line 22"/>
          <p:cNvSpPr>
            <a:spLocks noChangeShapeType="1"/>
          </p:cNvSpPr>
          <p:nvPr/>
        </p:nvSpPr>
        <p:spPr bwMode="auto">
          <a:xfrm>
            <a:off x="4267200" y="22860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Rectangle 23"/>
          <p:cNvSpPr>
            <a:spLocks noChangeArrowheads="1"/>
          </p:cNvSpPr>
          <p:nvPr/>
        </p:nvSpPr>
        <p:spPr bwMode="auto">
          <a:xfrm>
            <a:off x="6705600" y="1905000"/>
            <a:ext cx="2800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*</a:t>
            </a:r>
            <a:endParaRPr lang="en-US"/>
          </a:p>
        </p:txBody>
      </p:sp>
      <p:grpSp>
        <p:nvGrpSpPr>
          <p:cNvPr id="4" name="Group 24"/>
          <p:cNvGrpSpPr/>
          <p:nvPr/>
        </p:nvGrpSpPr>
        <p:grpSpPr bwMode="auto">
          <a:xfrm>
            <a:off x="7696200" y="2438400"/>
            <a:ext cx="2743200" cy="228600"/>
            <a:chOff x="2976" y="1392"/>
            <a:chExt cx="1728" cy="144"/>
          </a:xfrm>
        </p:grpSpPr>
        <p:sp>
          <p:nvSpPr>
            <p:cNvPr id="36897" name="Rectangle 25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8" name="Rectangle 26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9" name="Rectangle 27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0" name="Rectangle 28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1" name="Rectangle 29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2" name="Rectangle 30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3" name="Rectangle 31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36875" name="Rectangle 32"/>
          <p:cNvSpPr>
            <a:spLocks noChangeArrowheads="1"/>
          </p:cNvSpPr>
          <p:nvPr/>
        </p:nvSpPr>
        <p:spPr bwMode="auto">
          <a:xfrm>
            <a:off x="4228465" y="2286000"/>
            <a:ext cx="7245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 </a:t>
            </a:r>
            <a:r>
              <a:rPr lang="en-US" b="0">
                <a:latin typeface="Times" panose="00000500000000020000" pitchFamily="18" charset="0"/>
              </a:rPr>
              <a:t>· </a:t>
            </a:r>
            <a:r>
              <a:rPr lang="en-US" b="0" i="1">
                <a:latin typeface="Times" panose="00000500000000020000" pitchFamily="18" charset="0"/>
              </a:rPr>
              <a:t>v</a:t>
            </a:r>
            <a:endParaRPr lang="en-US" b="0" i="1">
              <a:latin typeface="Times" panose="00000500000000020000" pitchFamily="18" charset="0"/>
            </a:endParaRPr>
          </a:p>
        </p:txBody>
      </p:sp>
      <p:grpSp>
        <p:nvGrpSpPr>
          <p:cNvPr id="5" name="Group 33"/>
          <p:cNvGrpSpPr/>
          <p:nvPr/>
        </p:nvGrpSpPr>
        <p:grpSpPr bwMode="auto">
          <a:xfrm>
            <a:off x="7696200" y="2895600"/>
            <a:ext cx="2743200" cy="228600"/>
            <a:chOff x="2976" y="1392"/>
            <a:chExt cx="1728" cy="144"/>
          </a:xfrm>
        </p:grpSpPr>
        <p:sp>
          <p:nvSpPr>
            <p:cNvPr id="36890" name="Rectangle 34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1" name="Rectangle 35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2" name="Rectangle 36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3" name="Rectangle 37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4" name="Rectangle 38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5" name="Rectangle 39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6" name="Rectangle 40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36877" name="Line 41"/>
          <p:cNvSpPr>
            <a:spLocks noChangeShapeType="1"/>
          </p:cNvSpPr>
          <p:nvPr/>
        </p:nvSpPr>
        <p:spPr bwMode="auto">
          <a:xfrm flipV="1">
            <a:off x="4267200" y="27432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8" name="Text Box 42"/>
          <p:cNvSpPr txBox="1">
            <a:spLocks noChangeArrowheads="1"/>
          </p:cNvSpPr>
          <p:nvPr/>
        </p:nvSpPr>
        <p:spPr bwMode="auto">
          <a:xfrm>
            <a:off x="1449705" y="2352675"/>
            <a:ext cx="257238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数学上的积</a:t>
            </a:r>
            <a:r>
              <a:rPr lang="en-US" sz="2000" b="0" dirty="0">
                <a:latin typeface="Calibri" pitchFamily="34" charset="0"/>
              </a:rPr>
              <a:t>: 2*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36879" name="Text Box 43"/>
          <p:cNvSpPr txBox="1">
            <a:spLocks noChangeArrowheads="1"/>
          </p:cNvSpPr>
          <p:nvPr/>
        </p:nvSpPr>
        <p:spPr bwMode="auto">
          <a:xfrm>
            <a:off x="1524000" y="1676400"/>
            <a:ext cx="176339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操作数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36880" name="Text Box 44"/>
          <p:cNvSpPr txBox="1">
            <a:spLocks noChangeArrowheads="1"/>
          </p:cNvSpPr>
          <p:nvPr/>
        </p:nvSpPr>
        <p:spPr bwMode="auto">
          <a:xfrm>
            <a:off x="1524000" y="2819400"/>
            <a:ext cx="266763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抛弃高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zh-CN" altLang="en-US" sz="2000" b="0" dirty="0">
                <a:latin typeface="Calibri" pitchFamily="34" charset="0"/>
              </a:rPr>
              <a:t>位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36881" name="Rectangle 45"/>
          <p:cNvSpPr>
            <a:spLocks noChangeArrowheads="1"/>
          </p:cNvSpPr>
          <p:nvPr/>
        </p:nvSpPr>
        <p:spPr bwMode="auto">
          <a:xfrm>
            <a:off x="5696585" y="2743200"/>
            <a:ext cx="184721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>
                <a:latin typeface="Times" panose="00000500000000020000" pitchFamily="18" charset="0"/>
              </a:rPr>
              <a:t>UMult</a:t>
            </a:r>
            <a:r>
              <a:rPr lang="en-US" b="0" i="1" baseline="-25000">
                <a:latin typeface="Times" panose="00000500000000020000" pitchFamily="18" charset="0"/>
              </a:rPr>
              <a:t>w</a:t>
            </a:r>
            <a:r>
              <a:rPr lang="en-US" b="0">
                <a:latin typeface="Times" panose="00000500000000020000" pitchFamily="18" charset="0"/>
              </a:rPr>
              <a:t>(</a:t>
            </a:r>
            <a:r>
              <a:rPr lang="en-US" b="0" i="1">
                <a:latin typeface="Times" panose="00000500000000020000" pitchFamily="18" charset="0"/>
              </a:rPr>
              <a:t>u</a:t>
            </a:r>
            <a:r>
              <a:rPr lang="en-US" b="0">
                <a:latin typeface="Times" panose="00000500000000020000" pitchFamily="18" charset="0"/>
              </a:rPr>
              <a:t> , </a:t>
            </a:r>
            <a:r>
              <a:rPr lang="en-US" b="0" i="1">
                <a:latin typeface="Times" panose="00000500000000020000" pitchFamily="18" charset="0"/>
              </a:rPr>
              <a:t>v</a:t>
            </a:r>
            <a:r>
              <a:rPr lang="en-US" b="0">
                <a:latin typeface="Times" panose="00000500000000020000" pitchFamily="18" charset="0"/>
              </a:rPr>
              <a:t>)</a:t>
            </a:r>
            <a:endParaRPr lang="en-US" b="0">
              <a:latin typeface="Times" panose="00000500000000020000" pitchFamily="18" charset="0"/>
            </a:endParaRPr>
          </a:p>
        </p:txBody>
      </p:sp>
      <p:grpSp>
        <p:nvGrpSpPr>
          <p:cNvPr id="6" name="Group 46"/>
          <p:cNvGrpSpPr/>
          <p:nvPr/>
        </p:nvGrpSpPr>
        <p:grpSpPr bwMode="auto">
          <a:xfrm>
            <a:off x="4953000" y="2438400"/>
            <a:ext cx="2743200" cy="228600"/>
            <a:chOff x="2976" y="1392"/>
            <a:chExt cx="1728" cy="14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6883" name="Rectangle 47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4" name="Rectangle 48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5" name="Rectangle 49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6" name="Rectangle 50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7" name="Rectangle 51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8" name="Rectangle 52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9" name="Rectangle 53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87375"/>
            <a:ext cx="768667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</a:t>
            </a:r>
            <a:r>
              <a:rPr lang="zh-CN" altLang="en-US" dirty="0"/>
              <a:t>语言中的有符号</a:t>
            </a:r>
            <a:r>
              <a:rPr lang="zh-CN" altLang="en-US" dirty="0"/>
              <a:t>乘法</a:t>
            </a:r>
            <a:endParaRPr lang="zh-CN" altLang="en-US" dirty="0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0630" y="3352800"/>
            <a:ext cx="9253855" cy="1138555"/>
          </a:xfrm>
        </p:spPr>
        <p:txBody>
          <a:bodyPr lIns="90487" tIns="44450" rIns="90487" bIns="44450"/>
          <a:lstStyle/>
          <a:p>
            <a:pPr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zh-CN" altLang="en-US" dirty="0"/>
              <a:t>标准的乘法运算</a:t>
            </a:r>
            <a:endParaRPr lang="en-US" dirty="0">
              <a:solidFill>
                <a:srgbClr val="FF0000"/>
              </a:solidFill>
            </a:endParaRP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zh-CN" altLang="en-US">
                <a:solidFill>
                  <a:srgbClr val="00B050"/>
                </a:solidFill>
                <a:sym typeface="+mn-ea"/>
              </a:rPr>
              <a:t>忽略高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w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位</a:t>
            </a:r>
            <a:endParaRPr lang="en-US" dirty="0">
              <a:solidFill>
                <a:srgbClr val="FF0000"/>
              </a:solidFill>
            </a:endParaRP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</a:rPr>
              <a:t>同样位模式的无符号乘法</a:t>
            </a:r>
            <a:r>
              <a:rPr lang="en-US" altLang="zh-CN" dirty="0">
                <a:solidFill>
                  <a:srgbClr val="FF0000"/>
                </a:solidFill>
              </a:rPr>
              <a:t> vs </a:t>
            </a:r>
            <a:r>
              <a:rPr lang="zh-CN" altLang="en-US" dirty="0">
                <a:solidFill>
                  <a:srgbClr val="FF0000"/>
                </a:solidFill>
              </a:rPr>
              <a:t>有符号乘法</a:t>
            </a:r>
            <a:r>
              <a:rPr lang="en-US" altLang="zh-CN" dirty="0">
                <a:solidFill>
                  <a:srgbClr val="FF0000"/>
                </a:solidFill>
              </a:rPr>
              <a:t>，</a:t>
            </a:r>
            <a:r>
              <a:rPr lang="zh-CN" altLang="en-US" dirty="0">
                <a:solidFill>
                  <a:srgbClr val="FF0000"/>
                </a:solidFill>
              </a:rPr>
              <a:t>有些高位不一样</a:t>
            </a:r>
            <a:r>
              <a:rPr lang="en-US" altLang="zh-CN" dirty="0">
                <a:solidFill>
                  <a:srgbClr val="FF0000"/>
                </a:solidFill>
              </a:rPr>
              <a:t>，</a:t>
            </a:r>
            <a:r>
              <a:rPr lang="zh-CN" altLang="en-US" dirty="0">
                <a:solidFill>
                  <a:srgbClr val="FF0000"/>
                </a:solidFill>
              </a:rPr>
              <a:t>但是低位</a:t>
            </a:r>
            <a:r>
              <a:rPr lang="zh-CN" altLang="en-US" dirty="0">
                <a:solidFill>
                  <a:srgbClr val="FF0000"/>
                </a:solidFill>
              </a:rPr>
              <a:t>一样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7696200" y="1504890"/>
            <a:ext cx="2743200" cy="228600"/>
            <a:chOff x="2976" y="816"/>
            <a:chExt cx="1728" cy="144"/>
          </a:xfrm>
        </p:grpSpPr>
        <p:sp>
          <p:nvSpPr>
            <p:cNvPr id="41007" name="Rectangle 5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8" name="Rectangle 6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9" name="Rectangle 7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10" name="Rectangle 8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11" name="Rectangle 9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12" name="Rectangle 10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13" name="Rectangle 11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7696200" y="1962090"/>
            <a:ext cx="2743200" cy="228600"/>
            <a:chOff x="2976" y="1104"/>
            <a:chExt cx="1728" cy="144"/>
          </a:xfrm>
        </p:grpSpPr>
        <p:sp>
          <p:nvSpPr>
            <p:cNvPr id="41000" name="Rectangle 13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1" name="Rectangle 14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2" name="Rectangle 15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3" name="Rectangle 16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4" name="Rectangle 17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5" name="Rectangle 18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6" name="Rectangle 19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40966" name="Rectangle 20"/>
          <p:cNvSpPr>
            <a:spLocks noChangeArrowheads="1"/>
          </p:cNvSpPr>
          <p:nvPr/>
        </p:nvSpPr>
        <p:spPr bwMode="auto">
          <a:xfrm>
            <a:off x="7086600" y="1428690"/>
            <a:ext cx="33528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0967" name="Rectangle 21"/>
          <p:cNvSpPr>
            <a:spLocks noChangeArrowheads="1"/>
          </p:cNvSpPr>
          <p:nvPr/>
        </p:nvSpPr>
        <p:spPr bwMode="auto">
          <a:xfrm>
            <a:off x="7086600" y="1885890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v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0968" name="Line 22"/>
          <p:cNvSpPr>
            <a:spLocks noChangeShapeType="1"/>
          </p:cNvSpPr>
          <p:nvPr/>
        </p:nvSpPr>
        <p:spPr bwMode="auto">
          <a:xfrm>
            <a:off x="4267200" y="226689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9" name="Rectangle 23"/>
          <p:cNvSpPr>
            <a:spLocks noChangeArrowheads="1"/>
          </p:cNvSpPr>
          <p:nvPr/>
        </p:nvSpPr>
        <p:spPr bwMode="auto">
          <a:xfrm>
            <a:off x="6705600" y="1885890"/>
            <a:ext cx="2800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*</a:t>
            </a:r>
            <a:endParaRPr lang="en-US"/>
          </a:p>
        </p:txBody>
      </p:sp>
      <p:grpSp>
        <p:nvGrpSpPr>
          <p:cNvPr id="4" name="Group 24"/>
          <p:cNvGrpSpPr/>
          <p:nvPr/>
        </p:nvGrpSpPr>
        <p:grpSpPr bwMode="auto">
          <a:xfrm>
            <a:off x="7696200" y="2419290"/>
            <a:ext cx="2743200" cy="228600"/>
            <a:chOff x="2976" y="1392"/>
            <a:chExt cx="1728" cy="144"/>
          </a:xfrm>
        </p:grpSpPr>
        <p:sp>
          <p:nvSpPr>
            <p:cNvPr id="40993" name="Rectangle 25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4" name="Rectangle 26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5" name="Rectangle 27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6" name="Rectangle 28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7" name="Rectangle 29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8" name="Rectangle 30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9" name="Rectangle 31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40971" name="Rectangle 32"/>
          <p:cNvSpPr>
            <a:spLocks noChangeArrowheads="1"/>
          </p:cNvSpPr>
          <p:nvPr/>
        </p:nvSpPr>
        <p:spPr bwMode="auto">
          <a:xfrm>
            <a:off x="4228465" y="2266890"/>
            <a:ext cx="7245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 </a:t>
            </a:r>
            <a:r>
              <a:rPr lang="en-US" b="0">
                <a:latin typeface="Times" panose="00000500000000020000" pitchFamily="18" charset="0"/>
              </a:rPr>
              <a:t>· </a:t>
            </a:r>
            <a:r>
              <a:rPr lang="en-US" b="0" i="1">
                <a:latin typeface="Times" panose="00000500000000020000" pitchFamily="18" charset="0"/>
              </a:rPr>
              <a:t>v</a:t>
            </a:r>
            <a:endParaRPr lang="en-US" b="0" i="1">
              <a:latin typeface="Times" panose="00000500000000020000" pitchFamily="18" charset="0"/>
            </a:endParaRPr>
          </a:p>
        </p:txBody>
      </p:sp>
      <p:grpSp>
        <p:nvGrpSpPr>
          <p:cNvPr id="5" name="Group 33"/>
          <p:cNvGrpSpPr/>
          <p:nvPr/>
        </p:nvGrpSpPr>
        <p:grpSpPr bwMode="auto">
          <a:xfrm>
            <a:off x="7696200" y="2876490"/>
            <a:ext cx="2743200" cy="228600"/>
            <a:chOff x="2976" y="1392"/>
            <a:chExt cx="1728" cy="144"/>
          </a:xfrm>
        </p:grpSpPr>
        <p:sp>
          <p:nvSpPr>
            <p:cNvPr id="40986" name="Rectangle 34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7" name="Rectangle 35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8" name="Rectangle 36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9" name="Rectangle 37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0" name="Rectangle 38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1" name="Rectangle 39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2" name="Rectangle 40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sp>
        <p:nvSpPr>
          <p:cNvPr id="40973" name="Line 41"/>
          <p:cNvSpPr>
            <a:spLocks noChangeShapeType="1"/>
          </p:cNvSpPr>
          <p:nvPr/>
        </p:nvSpPr>
        <p:spPr bwMode="auto">
          <a:xfrm flipV="1">
            <a:off x="4267200" y="272409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4" name="Text Box 42"/>
          <p:cNvSpPr txBox="1">
            <a:spLocks noChangeArrowheads="1"/>
          </p:cNvSpPr>
          <p:nvPr/>
        </p:nvSpPr>
        <p:spPr bwMode="auto">
          <a:xfrm>
            <a:off x="1524000" y="2343090"/>
            <a:ext cx="257238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数学上的积</a:t>
            </a:r>
            <a:r>
              <a:rPr lang="en-US" sz="2000" b="0" dirty="0">
                <a:latin typeface="Calibri" pitchFamily="34" charset="0"/>
              </a:rPr>
              <a:t>: 2*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40975" name="Text Box 43"/>
          <p:cNvSpPr txBox="1">
            <a:spLocks noChangeArrowheads="1"/>
          </p:cNvSpPr>
          <p:nvPr/>
        </p:nvSpPr>
        <p:spPr bwMode="auto">
          <a:xfrm>
            <a:off x="1752600" y="1657290"/>
            <a:ext cx="176339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操作数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40976" name="Text Box 44"/>
          <p:cNvSpPr txBox="1">
            <a:spLocks noChangeArrowheads="1"/>
          </p:cNvSpPr>
          <p:nvPr/>
        </p:nvSpPr>
        <p:spPr bwMode="auto">
          <a:xfrm>
            <a:off x="1524000" y="2952750"/>
            <a:ext cx="266700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  <a:sym typeface="+mn-ea"/>
              </a:rPr>
              <a:t>抛弃高</a:t>
            </a:r>
            <a:r>
              <a:rPr lang="en-US" sz="2000" b="0" i="1" dirty="0">
                <a:latin typeface="Calibri" pitchFamily="34" charset="0"/>
                <a:sym typeface="+mn-ea"/>
              </a:rPr>
              <a:t>w</a:t>
            </a:r>
            <a:r>
              <a:rPr lang="zh-CN" altLang="en-US" sz="2000" b="0" dirty="0">
                <a:latin typeface="Calibri" pitchFamily="34" charset="0"/>
                <a:sym typeface="+mn-ea"/>
              </a:rPr>
              <a:t>位</a:t>
            </a:r>
            <a:r>
              <a:rPr lang="en-US" sz="2000" b="0" dirty="0">
                <a:latin typeface="Calibri" pitchFamily="34" charset="0"/>
              </a:rPr>
              <a:t>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40977" name="Rectangle 45"/>
          <p:cNvSpPr>
            <a:spLocks noChangeArrowheads="1"/>
          </p:cNvSpPr>
          <p:nvPr/>
        </p:nvSpPr>
        <p:spPr bwMode="auto">
          <a:xfrm>
            <a:off x="5768975" y="2724090"/>
            <a:ext cx="181292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 err="1">
                <a:latin typeface="Times" panose="00000500000000020000" pitchFamily="18" charset="0"/>
              </a:rPr>
              <a:t>TMult</a:t>
            </a:r>
            <a:r>
              <a:rPr lang="en-US" b="0" i="1" baseline="-25000" dirty="0" err="1">
                <a:latin typeface="Times" panose="00000500000000020000" pitchFamily="18" charset="0"/>
              </a:rPr>
              <a:t>w</a:t>
            </a:r>
            <a:r>
              <a:rPr lang="en-US" b="0" dirty="0">
                <a:latin typeface="Times" panose="00000500000000020000" pitchFamily="18" charset="0"/>
              </a:rPr>
              <a:t>(</a:t>
            </a:r>
            <a:r>
              <a:rPr lang="en-US" b="0" i="1" dirty="0">
                <a:latin typeface="Times" panose="00000500000000020000" pitchFamily="18" charset="0"/>
              </a:rPr>
              <a:t>u</a:t>
            </a:r>
            <a:r>
              <a:rPr lang="en-US" b="0" dirty="0">
                <a:latin typeface="Times" panose="00000500000000020000" pitchFamily="18" charset="0"/>
              </a:rPr>
              <a:t> , </a:t>
            </a:r>
            <a:r>
              <a:rPr lang="en-US" b="0" i="1" dirty="0">
                <a:latin typeface="Times" panose="00000500000000020000" pitchFamily="18" charset="0"/>
              </a:rPr>
              <a:t>v</a:t>
            </a:r>
            <a:r>
              <a:rPr lang="en-US" b="0" dirty="0">
                <a:latin typeface="Times" panose="00000500000000020000" pitchFamily="18" charset="0"/>
              </a:rPr>
              <a:t>)</a:t>
            </a:r>
            <a:endParaRPr lang="en-US" b="0" dirty="0">
              <a:latin typeface="Times" panose="00000500000000020000" pitchFamily="18" charset="0"/>
            </a:endParaRPr>
          </a:p>
        </p:txBody>
      </p:sp>
      <p:grpSp>
        <p:nvGrpSpPr>
          <p:cNvPr id="6" name="Group 46"/>
          <p:cNvGrpSpPr/>
          <p:nvPr/>
        </p:nvGrpSpPr>
        <p:grpSpPr bwMode="auto">
          <a:xfrm>
            <a:off x="4953000" y="2419290"/>
            <a:ext cx="2743200" cy="228600"/>
            <a:chOff x="2976" y="1392"/>
            <a:chExt cx="1728" cy="144"/>
          </a:xfrm>
        </p:grpSpPr>
        <p:sp>
          <p:nvSpPr>
            <p:cNvPr id="40979" name="Rectangle 47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0" name="Rectangle 48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1" name="Rectangle 49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2" name="Rectangle 50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3" name="Rectangle 51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4" name="Rectangle 52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5" name="Rectangle 53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  <a:endParaRPr lang="en-US" b="0"/>
            </a:p>
          </p:txBody>
        </p:sp>
      </p:grp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2819400" y="4648200"/>
          <a:ext cx="2033270" cy="196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270"/>
              </a:tblGrid>
              <a:tr h="392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  1 1 0 0 </a:t>
                      </a:r>
                      <a:r>
                        <a:rPr lang="zh-CN" altLang="en-US"/>
                        <a:t>被</a:t>
                      </a:r>
                      <a:r>
                        <a:rPr lang="zh-CN" altLang="en-US"/>
                        <a:t>乘数</a:t>
                      </a: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92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     0 0 1 1  </a:t>
                      </a:r>
                      <a:r>
                        <a:rPr lang="zh-CN" altLang="en-US"/>
                        <a:t>乘数</a:t>
                      </a:r>
                      <a:endParaRPr lang="zh-CN" alt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92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  1 1 0 0  </a:t>
                      </a:r>
                      <a:r>
                        <a:rPr lang="zh-CN" altLang="en-US"/>
                        <a:t>部分</a:t>
                      </a:r>
                      <a:r>
                        <a:rPr lang="zh-CN" altLang="en-US"/>
                        <a:t>积</a:t>
                      </a:r>
                      <a:endParaRPr lang="zh-CN" altLang="en-US"/>
                    </a:p>
                  </a:txBody>
                  <a:tcPr/>
                </a:tc>
              </a:tr>
              <a:tr h="392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1 1 0 0     </a:t>
                      </a:r>
                      <a:r>
                        <a:rPr lang="zh-CN" altLang="en-US" sz="1800">
                          <a:sym typeface="+mn-ea"/>
                        </a:rPr>
                        <a:t>部分积</a:t>
                      </a:r>
                      <a:endParaRPr lang="en-US" altLang="zh-CN"/>
                    </a:p>
                  </a:txBody>
                  <a:tcPr/>
                </a:tc>
              </a:tr>
              <a:tr h="392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altLang="zh-CN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highlight>
                            <a:srgbClr val="000080"/>
                          </a:highlight>
                        </a:rPr>
                        <a:t>1 0</a:t>
                      </a:r>
                      <a:r>
                        <a:rPr lang="en-US" altLang="zh-CN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en-US" altLang="zh-CN">
                          <a:solidFill>
                            <a:srgbClr val="00B050"/>
                          </a:solidFill>
                        </a:rPr>
                        <a:t>0</a:t>
                      </a:r>
                      <a:r>
                        <a:rPr lang="en-US" altLang="zh-CN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zh-CN" b="1">
                          <a:solidFill>
                            <a:srgbClr val="00B050"/>
                          </a:solidFill>
                          <a:latin typeface="Arial Narrow Bold" panose="020B0706020202030204" charset="0"/>
                          <a:cs typeface="Arial Narrow Bold" panose="020B0706020202030204" charset="0"/>
                        </a:rPr>
                        <a:t>1 0 0 </a:t>
                      </a:r>
                      <a:r>
                        <a:rPr lang="en-US" altLang="zh-CN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</a:t>
                      </a:r>
                      <a:r>
                        <a:rPr lang="zh-CN" alt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积</a:t>
                      </a:r>
                      <a:r>
                        <a:rPr lang="en-US" altLang="zh-CN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endParaRPr lang="en-US" altLang="zh-CN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925695" y="4648200"/>
            <a:ext cx="562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0" dirty="0" smtClean="0">
                <a:solidFill>
                  <a:schemeClr val="tx1"/>
                </a:solidFill>
                <a:latin typeface="Calibri" pitchFamily="34" charset="0"/>
              </a:rPr>
              <a:t>w=4,</a:t>
            </a:r>
            <a:r>
              <a:rPr lang="en-US" altLang="zh-CN" sz="2000" b="0" dirty="0" smtClean="0">
                <a:solidFill>
                  <a:schemeClr val="tx1"/>
                </a:solidFill>
                <a:latin typeface="Calibri" pitchFamily="34" charset="0"/>
              </a:rPr>
              <a:t> unsigned</a:t>
            </a:r>
            <a:r>
              <a:rPr lang="zh-CN" altLang="en-US" sz="2000" b="0" dirty="0" smtClean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：</a:t>
            </a:r>
            <a:r>
              <a:rPr lang="en-US" altLang="zh-CN" sz="2000" b="0" dirty="0" smtClean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12*3 = 36%16 = 4 (</a:t>
            </a:r>
            <a:r>
              <a:rPr lang="en-US" altLang="zh-CN" sz="2000" b="0" dirty="0" smtClean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0100</a:t>
            </a:r>
            <a:r>
              <a:rPr lang="en-US" altLang="zh-CN" sz="2000" b="0" dirty="0" smtClean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)</a:t>
            </a:r>
            <a:endParaRPr lang="en-US" altLang="zh-CN" sz="2000" b="0" dirty="0" smtClean="0">
              <a:solidFill>
                <a:schemeClr val="tx1"/>
              </a:solidFill>
              <a:latin typeface="Calibri" pitchFamily="34" charset="0"/>
              <a:ea typeface="SimSun" charset="0"/>
            </a:endParaRPr>
          </a:p>
          <a:p>
            <a:r>
              <a:rPr lang="en-US" altLang="zh-CN" sz="2000" b="0" dirty="0" smtClean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w=4, signed:   (-4)*3 = -12%16 = 4 (</a:t>
            </a:r>
            <a:r>
              <a:rPr lang="en-US" altLang="zh-CN" sz="2000" b="0" dirty="0" smtClean="0">
                <a:solidFill>
                  <a:srgbClr val="00B050"/>
                </a:solidFill>
                <a:latin typeface="Calibri" pitchFamily="34" charset="0"/>
                <a:ea typeface="SimSun" charset="0"/>
              </a:rPr>
              <a:t>0100</a:t>
            </a:r>
            <a:r>
              <a:rPr lang="en-US" altLang="zh-CN" sz="2000" b="0" dirty="0" smtClean="0">
                <a:solidFill>
                  <a:schemeClr val="tx1"/>
                </a:solidFill>
                <a:latin typeface="Calibri" pitchFamily="34" charset="0"/>
                <a:ea typeface="SimSun" charset="0"/>
              </a:rPr>
              <a:t>)</a:t>
            </a:r>
            <a:endParaRPr lang="en-US" altLang="zh-CN" sz="2000" b="0" dirty="0" smtClean="0">
              <a:solidFill>
                <a:srgbClr val="FF0000"/>
              </a:solidFill>
              <a:latin typeface="Calibri" pitchFamily="34" charset="0"/>
              <a:ea typeface="SimSun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计算机中整数运算的精度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整数表示只有</a:t>
            </a:r>
            <a:r>
              <a:rPr lang="en-US" altLang="zh-CN"/>
              <a:t>32</a:t>
            </a:r>
            <a:r>
              <a:rPr lang="zh-CN" altLang="en-US"/>
              <a:t>位或</a:t>
            </a:r>
            <a:r>
              <a:rPr lang="en-US" altLang="zh-CN"/>
              <a:t>64</a:t>
            </a:r>
            <a:r>
              <a:rPr lang="zh-CN" altLang="en-US"/>
              <a:t>位</a:t>
            </a:r>
            <a:r>
              <a:rPr lang="en-US" altLang="zh-CN"/>
              <a:t>，</a:t>
            </a:r>
            <a:r>
              <a:rPr lang="zh-CN" altLang="en-US"/>
              <a:t>范围有限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如果地球的年龄为</a:t>
            </a:r>
            <a:r>
              <a:rPr lang="en-US" altLang="zh-CN">
                <a:sym typeface="+mn-ea"/>
              </a:rPr>
              <a:t>45.5</a:t>
            </a:r>
            <a:r>
              <a:rPr lang="zh-CN" altLang="en-US">
                <a:sym typeface="+mn-ea"/>
              </a:rPr>
              <a:t>亿年，一共有</a:t>
            </a:r>
            <a:r>
              <a:rPr lang="zh-CN" altLang="en-US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≈</a:t>
            </a:r>
            <a:r>
              <a:rPr lang="zh-CN" altLang="en-US">
                <a:sym typeface="+mn-ea"/>
              </a:rPr>
              <a:t>1.42×10¹</a:t>
            </a:r>
            <a:r>
              <a:rPr lang="en-US" altLang="zh-CN" baseline="30000">
                <a:sym typeface="+mn-ea"/>
              </a:rPr>
              <a:t>7</a:t>
            </a:r>
            <a:r>
              <a:rPr lang="zh-CN" altLang="en-US">
                <a:sym typeface="+mn-ea"/>
              </a:rPr>
              <a:t>秒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这个范围怎么表示</a:t>
            </a:r>
            <a:r>
              <a:rPr lang="en-US" altLang="zh-CN">
                <a:sym typeface="+mn-ea"/>
              </a:rPr>
              <a:t>？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但是，</a:t>
            </a:r>
            <a:r>
              <a:rPr lang="en-US" altLang="zh-CN">
                <a:sym typeface="+mn-ea"/>
              </a:rPr>
              <a:t>64</a:t>
            </a:r>
            <a:r>
              <a:rPr lang="zh-CN" altLang="en-US">
                <a:sym typeface="+mn-ea"/>
              </a:rPr>
              <a:t>位的表示范围：2</a:t>
            </a:r>
            <a:r>
              <a:rPr lang="zh-CN" altLang="en-US" baseline="30000">
                <a:sym typeface="+mn-ea"/>
              </a:rPr>
              <a:t>64</a:t>
            </a:r>
            <a:r>
              <a:rPr lang="zh-CN" altLang="en-US">
                <a:sym typeface="+mn-ea"/>
              </a:rPr>
              <a:t> - 1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≈</a:t>
            </a:r>
            <a:r>
              <a:rPr lang="en-US" altLang="zh-CN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 1.8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10</a:t>
            </a:r>
            <a:r>
              <a:rPr lang="en-US" altLang="zh-CN" baseline="30000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9</a:t>
            </a:r>
            <a:endParaRPr lang="en-US" altLang="zh-CN" baseline="30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  <a:p>
            <a:pPr lvl="1"/>
            <a:endParaRPr lang="zh-CN" altLang="en-US"/>
          </a:p>
          <a:p>
            <a:r>
              <a:rPr lang="zh-CN" altLang="en-US"/>
              <a:t>整数的加法运算中，总是会丢掉高位</a:t>
            </a:r>
            <a:r>
              <a:rPr lang="en-US" altLang="zh-CN"/>
              <a:t>，</a:t>
            </a:r>
            <a:r>
              <a:rPr lang="zh-CN" altLang="en-US"/>
              <a:t>跟数学上</a:t>
            </a:r>
            <a:r>
              <a:rPr lang="zh-CN" altLang="en-US"/>
              <a:t>不一样</a:t>
            </a:r>
            <a:endParaRPr lang="zh-CN" altLang="en-US"/>
          </a:p>
          <a:p>
            <a:pPr lvl="1"/>
            <a:r>
              <a:rPr lang="en-US" altLang="zh-CN"/>
              <a:t>32</a:t>
            </a:r>
            <a:r>
              <a:rPr lang="zh-CN" altLang="en-US"/>
              <a:t>位</a:t>
            </a:r>
            <a:r>
              <a:rPr lang="en-US" altLang="zh-CN"/>
              <a:t>int</a:t>
            </a:r>
            <a:r>
              <a:rPr lang="zh-CN" altLang="en-US"/>
              <a:t>类型的加法运算，</a:t>
            </a:r>
            <a:r>
              <a:rPr lang="en-US" altLang="zh-CN"/>
              <a:t>sum</a:t>
            </a:r>
            <a:r>
              <a:rPr lang="zh-CN" altLang="en-US"/>
              <a:t>也只有</a:t>
            </a:r>
            <a:r>
              <a:rPr lang="en-US" altLang="zh-CN"/>
              <a:t>32</a:t>
            </a:r>
            <a:r>
              <a:rPr lang="zh-CN" altLang="en-US"/>
              <a:t>位</a:t>
            </a:r>
            <a:endParaRPr lang="zh-CN" altLang="en-US"/>
          </a:p>
          <a:p>
            <a:pPr lvl="1"/>
            <a:r>
              <a:rPr lang="en-US" altLang="zh-CN"/>
              <a:t>64</a:t>
            </a:r>
            <a:r>
              <a:rPr lang="zh-CN" altLang="en-US"/>
              <a:t>位</a:t>
            </a:r>
            <a:r>
              <a:rPr lang="en-US" altLang="zh-CN"/>
              <a:t>long</a:t>
            </a:r>
            <a:r>
              <a:rPr lang="zh-CN" altLang="en-US"/>
              <a:t>类型的加法运算，</a:t>
            </a:r>
            <a:r>
              <a:rPr lang="en-US" altLang="zh-CN"/>
              <a:t>sum</a:t>
            </a:r>
            <a:r>
              <a:rPr lang="zh-CN" altLang="en-US"/>
              <a:t>也只有</a:t>
            </a:r>
            <a:r>
              <a:rPr lang="en-US" altLang="zh-CN"/>
              <a:t>64</a:t>
            </a:r>
            <a:r>
              <a:rPr lang="zh-CN" altLang="en-US"/>
              <a:t>位</a:t>
            </a:r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整数的乘法运算中</a:t>
            </a:r>
            <a:r>
              <a:rPr lang="en-US" altLang="zh-CN"/>
              <a:t>，</a:t>
            </a:r>
            <a:r>
              <a:rPr lang="zh-CN" altLang="en-US"/>
              <a:t>会丢掉高位的</a:t>
            </a:r>
            <a:r>
              <a:rPr lang="zh-CN" altLang="en-US"/>
              <a:t>结果</a:t>
            </a:r>
            <a:endParaRPr lang="zh-CN" altLang="en-US"/>
          </a:p>
          <a:p>
            <a:pPr lvl="2"/>
            <a:endParaRPr lang="en-US" altLang="zh-CN" baseline="30000">
              <a:latin typeface="Arial" panose="020B0704020202020204" pitchFamily="34" charset="0"/>
              <a:cs typeface="Arial" panose="020B07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0870" y="435610"/>
            <a:ext cx="7802880" cy="762000"/>
          </a:xfrm>
        </p:spPr>
        <p:txBody>
          <a:bodyPr/>
          <a:lstStyle/>
          <a:p>
            <a:r>
              <a:rPr lang="zh-CN" altLang="en-US" sz="2800" dirty="0" err="1"/>
              <a:t>扩展：</a:t>
            </a:r>
            <a:r>
              <a:rPr lang="en-US" sz="2800" dirty="0" err="1"/>
              <a:t>Multiprecision</a:t>
            </a:r>
            <a:r>
              <a:rPr lang="en-US" sz="2800"/>
              <a:t> arithmetic </a:t>
            </a:r>
            <a:r>
              <a:rPr lang="zh-CN" altLang="en-US" sz="2800"/>
              <a:t>多精度算术</a:t>
            </a:r>
            <a:endParaRPr lang="zh-CN" alt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0562" y="1362075"/>
            <a:ext cx="5276850" cy="23717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562" y="3908941"/>
            <a:ext cx="5581650" cy="24835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69912"/>
            <a:ext cx="7399338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用移位实现乘法</a:t>
            </a:r>
            <a:endParaRPr lang="zh-CN" alt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0875" y="1352550"/>
            <a:ext cx="8441690" cy="4972050"/>
          </a:xfrm>
        </p:spPr>
        <p:txBody>
          <a:bodyPr/>
          <a:lstStyle/>
          <a:p>
            <a:pPr eaLnBrk="1" hangingPunct="1">
              <a:tabLst>
                <a:tab pos="2971800" algn="l"/>
              </a:tabLst>
              <a:defRPr/>
            </a:pPr>
            <a:r>
              <a:rPr lang="en-US" dirty="0"/>
              <a:t>Operation</a:t>
            </a:r>
            <a:endParaRPr lang="en-US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latin typeface="Courier New" panose="02070609020205020404" pitchFamily="49" charset="0"/>
              </a:rPr>
              <a:t>u &lt;&lt; k</a:t>
            </a:r>
            <a:r>
              <a:rPr lang="en-US" b="1" dirty="0"/>
              <a:t> </a:t>
            </a:r>
            <a:r>
              <a:rPr lang="zh-CN" altLang="en-US" b="1" dirty="0"/>
              <a:t>等价于</a:t>
            </a:r>
            <a:r>
              <a:rPr lang="en-US" altLang="zh-CN" b="1" dirty="0"/>
              <a:t> </a:t>
            </a:r>
            <a:r>
              <a:rPr lang="en-US" b="1" dirty="0">
                <a:latin typeface="Courier New" panose="02070609020205020404" pitchFamily="49" charset="0"/>
              </a:rPr>
              <a:t>u * </a:t>
            </a:r>
            <a:r>
              <a:rPr lang="en-US" b="1" i="1" dirty="0"/>
              <a:t>2</a:t>
            </a:r>
            <a:r>
              <a:rPr lang="en-US" b="1" i="1" baseline="30000" dirty="0"/>
              <a:t>k     </a:t>
            </a:r>
            <a:r>
              <a:rPr lang="zh-CN" altLang="en-US" dirty="0">
                <a:solidFill>
                  <a:srgbClr val="00B050"/>
                </a:solidFill>
              </a:rPr>
              <a:t>无论</a:t>
            </a:r>
            <a:r>
              <a:rPr lang="en-US" dirty="0">
                <a:solidFill>
                  <a:srgbClr val="00B050"/>
                </a:solidFill>
              </a:rPr>
              <a:t>signed</a:t>
            </a:r>
            <a:r>
              <a:rPr lang="zh-CN" altLang="en-US" dirty="0">
                <a:solidFill>
                  <a:srgbClr val="00B050"/>
                </a:solidFill>
              </a:rPr>
              <a:t>还是</a:t>
            </a:r>
            <a:r>
              <a:rPr lang="en-US" dirty="0">
                <a:solidFill>
                  <a:srgbClr val="00B050"/>
                </a:solidFill>
              </a:rPr>
              <a:t>unsigned</a:t>
            </a:r>
            <a:r>
              <a:rPr lang="zh-CN" altLang="en-US" dirty="0">
                <a:solidFill>
                  <a:srgbClr val="00B050"/>
                </a:solidFill>
                <a:ea typeface="SimSun" charset="0"/>
              </a:rPr>
              <a:t>，都成立</a:t>
            </a:r>
            <a:endParaRPr lang="en-US" dirty="0">
              <a:solidFill>
                <a:srgbClr val="00B050"/>
              </a:solidFill>
            </a:endParaRPr>
          </a:p>
          <a:p>
            <a:pPr eaLnBrk="1" hangingPunct="1">
              <a:tabLst>
                <a:tab pos="2971800" algn="l"/>
              </a:tabLst>
              <a:defRPr/>
            </a:pPr>
            <a:endParaRPr lang="en-US" dirty="0"/>
          </a:p>
          <a:p>
            <a:pPr eaLnBrk="1" hangingPunct="1">
              <a:tabLst>
                <a:tab pos="2971800" algn="l"/>
              </a:tabLst>
              <a:defRPr/>
            </a:pPr>
            <a:endParaRPr lang="en-US" dirty="0"/>
          </a:p>
          <a:p>
            <a:pPr eaLnBrk="1" hangingPunct="1">
              <a:tabLst>
                <a:tab pos="2971800" algn="l"/>
              </a:tabLst>
              <a:defRPr/>
            </a:pPr>
            <a:endParaRPr lang="en-US" dirty="0"/>
          </a:p>
          <a:p>
            <a:pPr eaLnBrk="1" hangingPunct="1">
              <a:tabLst>
                <a:tab pos="2971800" algn="l"/>
              </a:tabLst>
              <a:defRPr/>
            </a:pPr>
            <a:endParaRPr lang="en-US" dirty="0"/>
          </a:p>
          <a:p>
            <a:pPr eaLnBrk="1" hangingPunct="1">
              <a:tabLst>
                <a:tab pos="2971800" algn="l"/>
              </a:tabLst>
              <a:defRPr/>
            </a:pPr>
            <a:endParaRPr lang="en-US" dirty="0"/>
          </a:p>
          <a:p>
            <a:pPr eaLnBrk="1" hangingPunct="1">
              <a:tabLst>
                <a:tab pos="2971800" algn="l"/>
              </a:tabLst>
              <a:defRPr/>
            </a:pPr>
            <a:r>
              <a:rPr lang="en-US" dirty="0"/>
              <a:t>Examples</a:t>
            </a:r>
            <a:r>
              <a:rPr lang="zh-CN" altLang="en-US" dirty="0">
                <a:ea typeface="SimSun" charset="0"/>
              </a:rPr>
              <a:t>（乘数</a:t>
            </a:r>
            <a:r>
              <a:rPr lang="zh-CN" altLang="en-US">
                <a:sym typeface="+mn-ea"/>
              </a:rPr>
              <a:t>可以是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的幂以外的</a:t>
            </a:r>
            <a:r>
              <a:rPr lang="zh-CN" altLang="en-US">
                <a:sym typeface="+mn-ea"/>
              </a:rPr>
              <a:t>数）</a:t>
            </a:r>
            <a:endParaRPr lang="en-US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latin typeface="Courier New" panose="02070609020205020404" pitchFamily="49" charset="0"/>
              </a:rPr>
              <a:t>u &lt;&lt; 3	==	u * 8</a:t>
            </a:r>
            <a:endParaRPr lang="en-US" b="1" dirty="0">
              <a:latin typeface="Courier New" panose="02070609020205020404" pitchFamily="49" charset="0"/>
            </a:endParaRP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latin typeface="Courier New" panose="02070609020205020404" pitchFamily="49" charset="0"/>
              </a:rPr>
              <a:t>(u &lt;&lt; 5) – (u &lt;&lt; 3)	==	u * 24</a:t>
            </a:r>
            <a:endParaRPr lang="en-US" b="1" dirty="0">
              <a:latin typeface="Courier New" panose="02070609020205020404" pitchFamily="49" charset="0"/>
            </a:endParaRP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dirty="0">
                <a:solidFill>
                  <a:srgbClr val="00B050"/>
                </a:solidFill>
              </a:rPr>
              <a:t>On most machines</a:t>
            </a:r>
            <a:r>
              <a:rPr lang="zh-CN" altLang="en-US" dirty="0">
                <a:solidFill>
                  <a:srgbClr val="00B050"/>
                </a:solidFill>
                <a:ea typeface="SimSun" charset="0"/>
              </a:rPr>
              <a:t>，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shift</a:t>
            </a:r>
            <a:r>
              <a:rPr lang="en-US" dirty="0">
                <a:solidFill>
                  <a:srgbClr val="00B050"/>
                </a:solidFill>
              </a:rPr>
              <a:t> and </a:t>
            </a:r>
            <a:r>
              <a:rPr lang="en-US" b="1" dirty="0">
                <a:solidFill>
                  <a:srgbClr val="00B050"/>
                </a:solidFill>
              </a:rPr>
              <a:t>add </a:t>
            </a:r>
            <a:r>
              <a:rPr lang="en-US" dirty="0">
                <a:solidFill>
                  <a:srgbClr val="00B050"/>
                </a:solidFill>
              </a:rPr>
              <a:t>are much faster than </a:t>
            </a:r>
            <a:r>
              <a:rPr lang="en-US" b="1" dirty="0">
                <a:solidFill>
                  <a:srgbClr val="00B050"/>
                </a:solidFill>
              </a:rPr>
              <a:t>multiply</a:t>
            </a:r>
            <a:endParaRPr lang="en-US" dirty="0">
              <a:solidFill>
                <a:srgbClr val="00B050"/>
              </a:solidFill>
            </a:endParaRPr>
          </a:p>
          <a:p>
            <a:pPr lvl="2" eaLnBrk="1" hangingPunct="1">
              <a:tabLst>
                <a:tab pos="2971800" algn="l"/>
              </a:tabLst>
              <a:defRPr/>
            </a:pPr>
            <a:r>
              <a:rPr lang="en-US" dirty="0"/>
              <a:t>Compiler generates this code automatically</a:t>
            </a:r>
            <a:endParaRPr lang="en-US" dirty="0"/>
          </a:p>
          <a:p>
            <a:pPr lvl="1" eaLnBrk="1" hangingPunct="1">
              <a:tabLst>
                <a:tab pos="2971800" algn="l"/>
              </a:tabLst>
              <a:defRPr/>
            </a:pPr>
            <a:endParaRPr lang="en-US" dirty="0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7467600" y="23622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7696200" y="23622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7924800" y="23622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9525000" y="23622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9753600" y="23622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9982200" y="23622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8153400" y="2362200"/>
            <a:ext cx="1371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• • •</a:t>
            </a: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7467600" y="2819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8382000" y="2819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8610600" y="2819400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1998" name="Rectangle 14"/>
          <p:cNvSpPr>
            <a:spLocks noChangeArrowheads="1"/>
          </p:cNvSpPr>
          <p:nvPr/>
        </p:nvSpPr>
        <p:spPr bwMode="auto">
          <a:xfrm>
            <a:off x="8839200" y="2819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9753600" y="2819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9982200" y="2819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7696200" y="28194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02" name="Rectangle 18"/>
          <p:cNvSpPr>
            <a:spLocks noChangeArrowheads="1"/>
          </p:cNvSpPr>
          <p:nvPr/>
        </p:nvSpPr>
        <p:spPr bwMode="auto">
          <a:xfrm>
            <a:off x="6858000" y="2286000"/>
            <a:ext cx="33528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6858000" y="2743200"/>
            <a:ext cx="42291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anose="00000500000000020000" pitchFamily="18" charset="0"/>
              </a:rPr>
              <a:t>2</a:t>
            </a:r>
            <a:r>
              <a:rPr lang="en-US" b="0" i="1" baseline="30000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2004" name="Line 20"/>
          <p:cNvSpPr>
            <a:spLocks noChangeShapeType="1"/>
          </p:cNvSpPr>
          <p:nvPr/>
        </p:nvSpPr>
        <p:spPr bwMode="auto">
          <a:xfrm>
            <a:off x="4038600" y="31242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5" name="Rectangle 21"/>
          <p:cNvSpPr>
            <a:spLocks noChangeArrowheads="1"/>
          </p:cNvSpPr>
          <p:nvPr/>
        </p:nvSpPr>
        <p:spPr bwMode="auto">
          <a:xfrm>
            <a:off x="6477000" y="2743200"/>
            <a:ext cx="2800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*</a:t>
            </a:r>
            <a:endParaRPr lang="en-US"/>
          </a:p>
        </p:txBody>
      </p:sp>
      <p:sp>
        <p:nvSpPr>
          <p:cNvPr id="42006" name="Rectangle 22"/>
          <p:cNvSpPr>
            <a:spLocks noChangeArrowheads="1"/>
          </p:cNvSpPr>
          <p:nvPr/>
        </p:nvSpPr>
        <p:spPr bwMode="auto">
          <a:xfrm>
            <a:off x="5233353" y="3124200"/>
            <a:ext cx="82931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 </a:t>
            </a:r>
            <a:r>
              <a:rPr lang="en-US" b="0">
                <a:latin typeface="Times" panose="00000500000000020000" pitchFamily="18" charset="0"/>
              </a:rPr>
              <a:t>· 2</a:t>
            </a:r>
            <a:r>
              <a:rPr lang="en-US" b="0" i="1" baseline="30000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2007" name="Line 23"/>
          <p:cNvSpPr>
            <a:spLocks noChangeShapeType="1"/>
          </p:cNvSpPr>
          <p:nvPr/>
        </p:nvSpPr>
        <p:spPr bwMode="auto">
          <a:xfrm flipV="1">
            <a:off x="4038600" y="35814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8" name="Text Box 24"/>
          <p:cNvSpPr txBox="1">
            <a:spLocks noChangeArrowheads="1"/>
          </p:cNvSpPr>
          <p:nvPr/>
        </p:nvSpPr>
        <p:spPr bwMode="auto">
          <a:xfrm>
            <a:off x="1676400" y="3200400"/>
            <a:ext cx="282765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True Product: </a:t>
            </a:r>
            <a:r>
              <a:rPr lang="en-US" sz="2000" b="0" i="1" dirty="0" err="1">
                <a:latin typeface="Calibri" pitchFamily="34" charset="0"/>
              </a:rPr>
              <a:t>w</a:t>
            </a:r>
            <a:r>
              <a:rPr lang="en-US" sz="2000" b="0" dirty="0" err="1">
                <a:latin typeface="Calibri" pitchFamily="34" charset="0"/>
              </a:rPr>
              <a:t>+</a:t>
            </a:r>
            <a:r>
              <a:rPr lang="en-US" sz="2000" b="0" i="1" dirty="0" err="1">
                <a:latin typeface="Calibri" pitchFamily="34" charset="0"/>
              </a:rPr>
              <a:t>k</a:t>
            </a:r>
            <a:r>
              <a:rPr lang="en-US" sz="2000" b="0" dirty="0">
                <a:latin typeface="Calibri" pitchFamily="34" charset="0"/>
              </a:rPr>
              <a:t> 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42009" name="Text Box 25"/>
          <p:cNvSpPr txBox="1">
            <a:spLocks noChangeArrowheads="1"/>
          </p:cNvSpPr>
          <p:nvPr/>
        </p:nvSpPr>
        <p:spPr bwMode="auto">
          <a:xfrm>
            <a:off x="1676400" y="2514600"/>
            <a:ext cx="212090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42010" name="Text Box 26"/>
          <p:cNvSpPr txBox="1">
            <a:spLocks noChangeArrowheads="1"/>
          </p:cNvSpPr>
          <p:nvPr/>
        </p:nvSpPr>
        <p:spPr bwMode="auto">
          <a:xfrm>
            <a:off x="1676400" y="3642995"/>
            <a:ext cx="288607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Discard </a:t>
            </a:r>
            <a:r>
              <a:rPr lang="en-US" sz="2000" b="0" i="1" dirty="0">
                <a:latin typeface="Calibri" pitchFamily="34" charset="0"/>
              </a:rPr>
              <a:t>k </a:t>
            </a:r>
            <a:r>
              <a:rPr lang="en-US" sz="2000" b="0" dirty="0">
                <a:latin typeface="Calibri" pitchFamily="34" charset="0"/>
              </a:rPr>
              <a:t> bits: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42011" name="Rectangle 27"/>
          <p:cNvSpPr>
            <a:spLocks noChangeArrowheads="1"/>
          </p:cNvSpPr>
          <p:nvPr/>
        </p:nvSpPr>
        <p:spPr bwMode="auto">
          <a:xfrm>
            <a:off x="5926456" y="3643312"/>
            <a:ext cx="1363345" cy="33718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b="0">
                <a:latin typeface="Times" panose="00000500000000020000" pitchFamily="18" charset="0"/>
              </a:rPr>
              <a:t>UMult</a:t>
            </a:r>
            <a:r>
              <a:rPr lang="en-US" sz="1600" b="0" i="1" baseline="-25000">
                <a:latin typeface="Times" panose="00000500000000020000" pitchFamily="18" charset="0"/>
              </a:rPr>
              <a:t>w</a:t>
            </a:r>
            <a:r>
              <a:rPr lang="en-US" sz="1600" b="0">
                <a:latin typeface="Times" panose="00000500000000020000" pitchFamily="18" charset="0"/>
              </a:rPr>
              <a:t>(</a:t>
            </a:r>
            <a:r>
              <a:rPr lang="en-US" sz="1600" b="0" i="1">
                <a:latin typeface="Times" panose="00000500000000020000" pitchFamily="18" charset="0"/>
              </a:rPr>
              <a:t>u</a:t>
            </a:r>
            <a:r>
              <a:rPr lang="en-US" sz="1600" b="0">
                <a:latin typeface="Times" panose="00000500000000020000" pitchFamily="18" charset="0"/>
              </a:rPr>
              <a:t> , 2</a:t>
            </a:r>
            <a:r>
              <a:rPr lang="en-US" sz="1600" b="0" i="1" baseline="30000">
                <a:latin typeface="Times" panose="00000500000000020000" pitchFamily="18" charset="0"/>
              </a:rPr>
              <a:t>k</a:t>
            </a:r>
            <a:r>
              <a:rPr lang="en-US" sz="1600" b="0">
                <a:latin typeface="Times" panose="00000500000000020000" pitchFamily="18" charset="0"/>
              </a:rPr>
              <a:t>)</a:t>
            </a:r>
            <a:endParaRPr lang="en-US" sz="1600" b="0">
              <a:latin typeface="Times" panose="00000500000000020000" pitchFamily="18" charset="0"/>
            </a:endParaRPr>
          </a:p>
        </p:txBody>
      </p:sp>
      <p:sp>
        <p:nvSpPr>
          <p:cNvPr id="42012" name="Rectangle 28"/>
          <p:cNvSpPr>
            <a:spLocks noChangeArrowheads="1"/>
          </p:cNvSpPr>
          <p:nvPr/>
        </p:nvSpPr>
        <p:spPr bwMode="auto">
          <a:xfrm>
            <a:off x="9067800" y="28194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13" name="Rectangle 29"/>
          <p:cNvSpPr>
            <a:spLocks noChangeArrowheads="1"/>
          </p:cNvSpPr>
          <p:nvPr/>
        </p:nvSpPr>
        <p:spPr bwMode="auto">
          <a:xfrm>
            <a:off x="8629650" y="1981200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grpSp>
        <p:nvGrpSpPr>
          <p:cNvPr id="2" name="Group 30"/>
          <p:cNvGrpSpPr/>
          <p:nvPr/>
        </p:nvGrpSpPr>
        <p:grpSpPr bwMode="auto">
          <a:xfrm>
            <a:off x="6096000" y="3276600"/>
            <a:ext cx="2743200" cy="228600"/>
            <a:chOff x="2976" y="816"/>
            <a:chExt cx="1728" cy="144"/>
          </a:xfrm>
        </p:grpSpPr>
        <p:sp>
          <p:nvSpPr>
            <p:cNvPr id="42028" name="Rectangle 31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29" name="Rectangle 32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0" name="Rectangle 33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1" name="Rectangle 34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2" name="Rectangle 35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3" name="Rectangle 36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4" name="Rectangle 37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sz="2000" b="0" dirty="0">
                  <a:latin typeface="Calibri"/>
                  <a:cs typeface="Calibri"/>
                </a:rPr>
                <a:t>• • •</a:t>
              </a:r>
              <a:endParaRPr lang="en-US" sz="2000" b="0" dirty="0">
                <a:latin typeface="Calibri"/>
                <a:cs typeface="Calibri"/>
              </a:endParaRPr>
            </a:p>
          </p:txBody>
        </p:sp>
      </p:grpSp>
      <p:sp>
        <p:nvSpPr>
          <p:cNvPr id="42015" name="Rectangle 38"/>
          <p:cNvSpPr>
            <a:spLocks noChangeArrowheads="1"/>
          </p:cNvSpPr>
          <p:nvPr/>
        </p:nvSpPr>
        <p:spPr bwMode="auto">
          <a:xfrm>
            <a:off x="8839200" y="3276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16" name="Rectangle 39"/>
          <p:cNvSpPr>
            <a:spLocks noChangeArrowheads="1"/>
          </p:cNvSpPr>
          <p:nvPr/>
        </p:nvSpPr>
        <p:spPr bwMode="auto">
          <a:xfrm>
            <a:off x="9753600" y="3276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17" name="Rectangle 40"/>
          <p:cNvSpPr>
            <a:spLocks noChangeArrowheads="1"/>
          </p:cNvSpPr>
          <p:nvPr/>
        </p:nvSpPr>
        <p:spPr bwMode="auto">
          <a:xfrm>
            <a:off x="9982200" y="3276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18" name="Rectangle 41"/>
          <p:cNvSpPr>
            <a:spLocks noChangeArrowheads="1"/>
          </p:cNvSpPr>
          <p:nvPr/>
        </p:nvSpPr>
        <p:spPr bwMode="auto">
          <a:xfrm>
            <a:off x="9067800" y="32766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19" name="Rectangle 42"/>
          <p:cNvSpPr>
            <a:spLocks noChangeArrowheads="1"/>
          </p:cNvSpPr>
          <p:nvPr/>
        </p:nvSpPr>
        <p:spPr bwMode="auto">
          <a:xfrm>
            <a:off x="5941379" y="3914358"/>
            <a:ext cx="1340485" cy="33718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b="0" dirty="0" err="1">
                <a:latin typeface="Times" panose="00000500000000020000" pitchFamily="18" charset="0"/>
              </a:rPr>
              <a:t>TMult</a:t>
            </a:r>
            <a:r>
              <a:rPr lang="en-US" sz="1600" b="0" i="1" baseline="-25000" dirty="0" err="1">
                <a:latin typeface="Times" panose="00000500000000020000" pitchFamily="18" charset="0"/>
              </a:rPr>
              <a:t>w</a:t>
            </a:r>
            <a:r>
              <a:rPr lang="en-US" sz="1600" b="0" dirty="0">
                <a:latin typeface="Times" panose="00000500000000020000" pitchFamily="18" charset="0"/>
              </a:rPr>
              <a:t>(</a:t>
            </a:r>
            <a:r>
              <a:rPr lang="en-US" sz="1600" b="0" i="1" dirty="0">
                <a:latin typeface="Times" panose="00000500000000020000" pitchFamily="18" charset="0"/>
              </a:rPr>
              <a:t>u</a:t>
            </a:r>
            <a:r>
              <a:rPr lang="en-US" sz="1600" b="0" dirty="0">
                <a:latin typeface="Times" panose="00000500000000020000" pitchFamily="18" charset="0"/>
              </a:rPr>
              <a:t> , 2</a:t>
            </a:r>
            <a:r>
              <a:rPr lang="en-US" sz="1600" b="0" i="1" baseline="30000" dirty="0">
                <a:latin typeface="Times" panose="00000500000000020000" pitchFamily="18" charset="0"/>
              </a:rPr>
              <a:t>k</a:t>
            </a:r>
            <a:r>
              <a:rPr lang="en-US" sz="1600" b="0" dirty="0">
                <a:latin typeface="Times" panose="00000500000000020000" pitchFamily="18" charset="0"/>
              </a:rPr>
              <a:t>)</a:t>
            </a:r>
            <a:endParaRPr lang="en-US" sz="1600" b="0" dirty="0">
              <a:latin typeface="Times" panose="00000500000000020000" pitchFamily="18" charset="0"/>
            </a:endParaRPr>
          </a:p>
        </p:txBody>
      </p:sp>
      <p:sp>
        <p:nvSpPr>
          <p:cNvPr id="42020" name="Rectangle 43"/>
          <p:cNvSpPr>
            <a:spLocks noChangeArrowheads="1"/>
          </p:cNvSpPr>
          <p:nvPr/>
        </p:nvSpPr>
        <p:spPr bwMode="auto">
          <a:xfrm>
            <a:off x="8839200" y="3733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21" name="Rectangle 44"/>
          <p:cNvSpPr>
            <a:spLocks noChangeArrowheads="1"/>
          </p:cNvSpPr>
          <p:nvPr/>
        </p:nvSpPr>
        <p:spPr bwMode="auto">
          <a:xfrm>
            <a:off x="9753600" y="3733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22" name="Rectangle 45"/>
          <p:cNvSpPr>
            <a:spLocks noChangeArrowheads="1"/>
          </p:cNvSpPr>
          <p:nvPr/>
        </p:nvSpPr>
        <p:spPr bwMode="auto">
          <a:xfrm>
            <a:off x="9982200" y="3733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2023" name="Rectangle 46"/>
          <p:cNvSpPr>
            <a:spLocks noChangeArrowheads="1"/>
          </p:cNvSpPr>
          <p:nvPr/>
        </p:nvSpPr>
        <p:spPr bwMode="auto">
          <a:xfrm>
            <a:off x="9067800" y="37338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•••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2024" name="Rectangle 47"/>
          <p:cNvSpPr>
            <a:spLocks noChangeArrowheads="1"/>
          </p:cNvSpPr>
          <p:nvPr/>
        </p:nvSpPr>
        <p:spPr bwMode="auto">
          <a:xfrm>
            <a:off x="8153400" y="37338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25" name="Rectangle 48"/>
          <p:cNvSpPr>
            <a:spLocks noChangeArrowheads="1"/>
          </p:cNvSpPr>
          <p:nvPr/>
        </p:nvSpPr>
        <p:spPr bwMode="auto">
          <a:xfrm>
            <a:off x="8382000" y="37338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26" name="Rectangle 49"/>
          <p:cNvSpPr>
            <a:spLocks noChangeArrowheads="1"/>
          </p:cNvSpPr>
          <p:nvPr/>
        </p:nvSpPr>
        <p:spPr bwMode="auto">
          <a:xfrm>
            <a:off x="8610600" y="37338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27" name="Rectangle 50"/>
          <p:cNvSpPr>
            <a:spLocks noChangeArrowheads="1"/>
          </p:cNvSpPr>
          <p:nvPr/>
        </p:nvSpPr>
        <p:spPr bwMode="auto">
          <a:xfrm>
            <a:off x="7467600" y="3733800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•••</a:t>
            </a:r>
            <a:endParaRPr lang="en-US" sz="1800" b="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6" grpId="0"/>
      <p:bldP spid="42007" grpId="0" bldLvl="0" animBg="1"/>
      <p:bldP spid="42007" grpId="1" bldLvl="0" animBg="1"/>
      <p:bldP spid="42008" grpId="0"/>
      <p:bldP spid="42010" grpId="0"/>
      <p:bldP spid="42011" grpId="0"/>
      <p:bldP spid="42015" grpId="0" bldLvl="0" animBg="1"/>
      <p:bldP spid="42016" grpId="0" bldLvl="0" animBg="1"/>
      <p:bldP spid="42017" grpId="0" bldLvl="0" animBg="1"/>
      <p:bldP spid="42018" grpId="0" bldLvl="0" animBg="1"/>
      <p:bldP spid="42019" grpId="0"/>
      <p:bldP spid="42020" grpId="0" bldLvl="0" animBg="1"/>
      <p:bldP spid="42021" grpId="0" bldLvl="0" animBg="1"/>
      <p:bldP spid="42022" grpId="0" bldLvl="0" animBg="1"/>
      <p:bldP spid="42023" grpId="0" bldLvl="0" animBg="1"/>
      <p:bldP spid="42024" grpId="0" bldLvl="0" animBg="1"/>
      <p:bldP spid="42025" grpId="0" bldLvl="0" animBg="1"/>
      <p:bldP spid="42026" grpId="0" bldLvl="0" animBg="1"/>
      <p:bldP spid="42027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93712"/>
            <a:ext cx="8382000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>
                <a:sym typeface="+mn-ea"/>
              </a:rPr>
              <a:t>用移位实现</a:t>
            </a:r>
            <a:r>
              <a:rPr lang="zh-CN" altLang="en-US" sz="3200" dirty="0">
                <a:solidFill>
                  <a:srgbClr val="FF0000"/>
                </a:solidFill>
                <a:latin typeface="Arial Bold" panose="020B0704020202020204" charset="0"/>
              </a:rPr>
              <a:t>无符号</a:t>
            </a:r>
            <a:r>
              <a:rPr lang="zh-CN" altLang="en-US" sz="3200" dirty="0"/>
              <a:t>除法</a:t>
            </a:r>
            <a:r>
              <a:rPr lang="en-US" sz="3200" dirty="0"/>
              <a:t> </a:t>
            </a:r>
            <a:endParaRPr lang="en-US" altLang="zh-CN" sz="3200" dirty="0">
              <a:ea typeface="SimSun" charset="0"/>
            </a:endParaRP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4513" y="1220788"/>
            <a:ext cx="8307387" cy="1268412"/>
          </a:xfrm>
        </p:spPr>
        <p:txBody>
          <a:bodyPr/>
          <a:lstStyle/>
          <a:p>
            <a:pPr eaLnBrk="1" hangingPunct="1">
              <a:tabLst>
                <a:tab pos="2971800" algn="l"/>
              </a:tabLst>
              <a:defRPr/>
            </a:pPr>
            <a:r>
              <a:rPr lang="en-US" dirty="0"/>
              <a:t>Quotient of Unsigned by Power of 2</a:t>
            </a:r>
            <a:endParaRPr lang="en-US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solidFill>
                  <a:srgbClr val="00B050"/>
                </a:solidFill>
                <a:latin typeface="Courier New" panose="02070609020205020404" pitchFamily="49" charset="0"/>
              </a:rPr>
              <a:t>u &gt;&gt; k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gives  </a:t>
            </a:r>
            <a:r>
              <a:rPr lang="en-US" b="1" dirty="0">
                <a:solidFill>
                  <a:srgbClr val="00B050"/>
                </a:solidFill>
                <a:sym typeface="Symbol" pitchFamily="18" charset="2"/>
              </a:rPr>
              <a:t> </a:t>
            </a:r>
            <a:r>
              <a:rPr lang="en-US" b="1" dirty="0">
                <a:solidFill>
                  <a:srgbClr val="00B050"/>
                </a:solidFill>
                <a:latin typeface="Courier New" panose="02070609020205020404" pitchFamily="49" charset="0"/>
              </a:rPr>
              <a:t>u / </a:t>
            </a:r>
            <a:r>
              <a:rPr lang="en-US" b="1" i="1" dirty="0">
                <a:solidFill>
                  <a:srgbClr val="00B050"/>
                </a:solidFill>
              </a:rPr>
              <a:t>2</a:t>
            </a:r>
            <a:r>
              <a:rPr lang="en-US" b="1" i="1" baseline="30000" dirty="0">
                <a:solidFill>
                  <a:srgbClr val="00B050"/>
                </a:solidFill>
              </a:rPr>
              <a:t>k </a:t>
            </a:r>
            <a:r>
              <a:rPr lang="en-US" b="1" dirty="0">
                <a:solidFill>
                  <a:srgbClr val="00B050"/>
                </a:solidFill>
                <a:sym typeface="Symbol" pitchFamily="18" charset="2"/>
              </a:rPr>
              <a:t></a:t>
            </a:r>
            <a:endParaRPr lang="en-US" b="1" i="1" baseline="30000" dirty="0">
              <a:solidFill>
                <a:srgbClr val="00B050"/>
              </a:solidFill>
            </a:endParaRP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dirty="0">
                <a:solidFill>
                  <a:schemeClr val="tx2"/>
                </a:solidFill>
              </a:rPr>
              <a:t>Uses logical shift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2286000" y="4686300"/>
          <a:ext cx="76835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68" name="Document" r:id="rId1" imgW="7988300" imgH="1650365" progId="Word.Document.8">
                  <p:embed/>
                </p:oleObj>
              </mc:Choice>
              <mc:Fallback>
                <p:oleObj name="Document" r:id="rId1" imgW="7988300" imgH="165036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686300"/>
                        <a:ext cx="7683500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5486400" y="27432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5715000" y="27432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6629400" y="27432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4864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64008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6629400" y="3200400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68580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77724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80010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5715000" y="32004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4876800" y="2667000"/>
            <a:ext cx="33528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4876800" y="3124200"/>
            <a:ext cx="42291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anose="00000500000000020000" pitchFamily="18" charset="0"/>
              </a:rPr>
              <a:t>2</a:t>
            </a:r>
            <a:r>
              <a:rPr lang="en-US" b="0" i="1" baseline="30000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13329" name="Line 17"/>
          <p:cNvSpPr>
            <a:spLocks noChangeShapeType="1"/>
          </p:cNvSpPr>
          <p:nvPr/>
        </p:nvSpPr>
        <p:spPr bwMode="auto">
          <a:xfrm>
            <a:off x="3733800" y="35052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4495800" y="3124200"/>
            <a:ext cx="25209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/</a:t>
            </a:r>
            <a:endParaRPr lang="en-US"/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4418648" y="3581400"/>
            <a:ext cx="81216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u </a:t>
            </a:r>
            <a:r>
              <a:rPr lang="en-US" b="0">
                <a:latin typeface="Times" panose="00000500000000020000" pitchFamily="18" charset="0"/>
              </a:rPr>
              <a:t>/ 2</a:t>
            </a:r>
            <a:r>
              <a:rPr lang="en-US" b="0" i="1" baseline="30000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13332" name="Text Box 20"/>
          <p:cNvSpPr txBox="1">
            <a:spLocks noChangeArrowheads="1"/>
          </p:cNvSpPr>
          <p:nvPr/>
        </p:nvSpPr>
        <p:spPr bwMode="auto">
          <a:xfrm>
            <a:off x="2057400" y="3581400"/>
            <a:ext cx="141986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Division: 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2057400" y="2895600"/>
            <a:ext cx="161226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Operands: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7086600" y="32004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6553200" y="2362200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5943600" y="27432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•••</a:t>
            </a:r>
            <a:endParaRPr lang="en-US" sz="2000" b="0">
              <a:latin typeface="Calibri"/>
              <a:cs typeface="Calibri"/>
            </a:endParaRPr>
          </a:p>
        </p:txBody>
      </p:sp>
      <p:grpSp>
        <p:nvGrpSpPr>
          <p:cNvPr id="2" name="Group 25"/>
          <p:cNvGrpSpPr/>
          <p:nvPr/>
        </p:nvGrpSpPr>
        <p:grpSpPr bwMode="auto">
          <a:xfrm>
            <a:off x="6858000" y="2743200"/>
            <a:ext cx="1371600" cy="228600"/>
            <a:chOff x="3744" y="1488"/>
            <a:chExt cx="864" cy="144"/>
          </a:xfrm>
        </p:grpSpPr>
        <p:sp>
          <p:nvSpPr>
            <p:cNvPr id="13367" name="Rectangle 26"/>
            <p:cNvSpPr>
              <a:spLocks noChangeArrowheads="1"/>
            </p:cNvSpPr>
            <p:nvPr/>
          </p:nvSpPr>
          <p:spPr bwMode="auto">
            <a:xfrm>
              <a:off x="3744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13368" name="Rectangle 27"/>
            <p:cNvSpPr>
              <a:spLocks noChangeArrowheads="1"/>
            </p:cNvSpPr>
            <p:nvPr/>
          </p:nvSpPr>
          <p:spPr bwMode="auto">
            <a:xfrm>
              <a:off x="4320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13369" name="Rectangle 28"/>
            <p:cNvSpPr>
              <a:spLocks noChangeArrowheads="1"/>
            </p:cNvSpPr>
            <p:nvPr/>
          </p:nvSpPr>
          <p:spPr bwMode="auto">
            <a:xfrm>
              <a:off x="4464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13370" name="Rectangle 29"/>
            <p:cNvSpPr>
              <a:spLocks noChangeArrowheads="1"/>
            </p:cNvSpPr>
            <p:nvPr/>
          </p:nvSpPr>
          <p:spPr bwMode="auto">
            <a:xfrm>
              <a:off x="3888" y="1488"/>
              <a:ext cx="432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•••</a:t>
              </a:r>
              <a:endParaRPr lang="en-US" sz="2000" b="0">
                <a:latin typeface="Calibri"/>
                <a:cs typeface="Calibri"/>
              </a:endParaRPr>
            </a:p>
          </p:txBody>
        </p:sp>
      </p:grpSp>
      <p:sp>
        <p:nvSpPr>
          <p:cNvPr id="13338" name="Rectangle 30"/>
          <p:cNvSpPr>
            <a:spLocks noChangeArrowheads="1"/>
          </p:cNvSpPr>
          <p:nvPr/>
        </p:nvSpPr>
        <p:spPr bwMode="auto">
          <a:xfrm>
            <a:off x="6858000" y="3657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39" name="Rectangle 31"/>
          <p:cNvSpPr>
            <a:spLocks noChangeArrowheads="1"/>
          </p:cNvSpPr>
          <p:nvPr/>
        </p:nvSpPr>
        <p:spPr bwMode="auto">
          <a:xfrm>
            <a:off x="7086600" y="3657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40" name="Rectangle 32"/>
          <p:cNvSpPr>
            <a:spLocks noChangeArrowheads="1"/>
          </p:cNvSpPr>
          <p:nvPr/>
        </p:nvSpPr>
        <p:spPr bwMode="auto">
          <a:xfrm>
            <a:off x="8001000" y="3657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41" name="Rectangle 33"/>
          <p:cNvSpPr>
            <a:spLocks noChangeArrowheads="1"/>
          </p:cNvSpPr>
          <p:nvPr/>
        </p:nvSpPr>
        <p:spPr bwMode="auto">
          <a:xfrm>
            <a:off x="7315200" y="36576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42" name="Rectangle 34"/>
          <p:cNvSpPr>
            <a:spLocks noChangeArrowheads="1"/>
          </p:cNvSpPr>
          <p:nvPr/>
        </p:nvSpPr>
        <p:spPr bwMode="auto">
          <a:xfrm>
            <a:off x="5486400" y="3657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43" name="Rectangle 35"/>
          <p:cNvSpPr>
            <a:spLocks noChangeArrowheads="1"/>
          </p:cNvSpPr>
          <p:nvPr/>
        </p:nvSpPr>
        <p:spPr bwMode="auto">
          <a:xfrm>
            <a:off x="6400800" y="3657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3344" name="Rectangle 36"/>
          <p:cNvSpPr>
            <a:spLocks noChangeArrowheads="1"/>
          </p:cNvSpPr>
          <p:nvPr/>
        </p:nvSpPr>
        <p:spPr bwMode="auto">
          <a:xfrm>
            <a:off x="6629400" y="3657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3345" name="Rectangle 37"/>
          <p:cNvSpPr>
            <a:spLocks noChangeArrowheads="1"/>
          </p:cNvSpPr>
          <p:nvPr/>
        </p:nvSpPr>
        <p:spPr bwMode="auto">
          <a:xfrm>
            <a:off x="5715000" y="36576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grpSp>
        <p:nvGrpSpPr>
          <p:cNvPr id="3" name="Group 38"/>
          <p:cNvGrpSpPr/>
          <p:nvPr/>
        </p:nvGrpSpPr>
        <p:grpSpPr bwMode="auto">
          <a:xfrm>
            <a:off x="8305800" y="3657600"/>
            <a:ext cx="1371600" cy="228600"/>
            <a:chOff x="4416" y="2256"/>
            <a:chExt cx="864" cy="144"/>
          </a:xfrm>
        </p:grpSpPr>
        <p:sp>
          <p:nvSpPr>
            <p:cNvPr id="13363" name="Rectangle 39"/>
            <p:cNvSpPr>
              <a:spLocks noChangeArrowheads="1"/>
            </p:cNvSpPr>
            <p:nvPr/>
          </p:nvSpPr>
          <p:spPr bwMode="auto">
            <a:xfrm>
              <a:off x="4416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1800" b="0">
                <a:latin typeface="Calibri"/>
                <a:cs typeface="Calibri"/>
              </a:endParaRPr>
            </a:p>
          </p:txBody>
        </p:sp>
        <p:sp>
          <p:nvSpPr>
            <p:cNvPr id="13364" name="Rectangle 40"/>
            <p:cNvSpPr>
              <a:spLocks noChangeArrowheads="1"/>
            </p:cNvSpPr>
            <p:nvPr/>
          </p:nvSpPr>
          <p:spPr bwMode="auto">
            <a:xfrm>
              <a:off x="4992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1800" b="0">
                <a:latin typeface="Calibri"/>
                <a:cs typeface="Calibri"/>
              </a:endParaRPr>
            </a:p>
          </p:txBody>
        </p:sp>
        <p:sp>
          <p:nvSpPr>
            <p:cNvPr id="13365" name="Rectangle 41"/>
            <p:cNvSpPr>
              <a:spLocks noChangeArrowheads="1"/>
            </p:cNvSpPr>
            <p:nvPr/>
          </p:nvSpPr>
          <p:spPr bwMode="auto">
            <a:xfrm>
              <a:off x="5136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1800" b="0">
                <a:latin typeface="Calibri"/>
                <a:cs typeface="Calibri"/>
              </a:endParaRPr>
            </a:p>
          </p:txBody>
        </p:sp>
        <p:sp>
          <p:nvSpPr>
            <p:cNvPr id="13366" name="Rectangle 42"/>
            <p:cNvSpPr>
              <a:spLocks noChangeArrowheads="1"/>
            </p:cNvSpPr>
            <p:nvPr/>
          </p:nvSpPr>
          <p:spPr bwMode="auto">
            <a:xfrm>
              <a:off x="4560" y="2256"/>
              <a:ext cx="432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/>
                  <a:cs typeface="Calibri"/>
                </a:rPr>
                <a:t>•••</a:t>
              </a:r>
              <a:endParaRPr lang="en-US" sz="1800" b="0">
                <a:latin typeface="Calibri"/>
                <a:cs typeface="Calibri"/>
              </a:endParaRPr>
            </a:p>
          </p:txBody>
        </p:sp>
      </p:grpSp>
      <p:sp>
        <p:nvSpPr>
          <p:cNvPr id="13347" name="Line 43"/>
          <p:cNvSpPr>
            <a:spLocks noChangeShapeType="1"/>
          </p:cNvSpPr>
          <p:nvPr/>
        </p:nvSpPr>
        <p:spPr bwMode="auto">
          <a:xfrm>
            <a:off x="3733800" y="40386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48" name="Rectangle 44"/>
          <p:cNvSpPr>
            <a:spLocks noChangeArrowheads="1"/>
          </p:cNvSpPr>
          <p:nvPr/>
        </p:nvSpPr>
        <p:spPr bwMode="auto">
          <a:xfrm>
            <a:off x="4183064" y="4133850"/>
            <a:ext cx="114617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solidFill>
                  <a:schemeClr val="tx2"/>
                </a:solidFill>
                <a:latin typeface="Calibri" pitchFamily="34" charset="0"/>
                <a:sym typeface="Symbol" pitchFamily="18" charset="2"/>
              </a:rPr>
              <a:t></a:t>
            </a:r>
            <a:r>
              <a:rPr lang="en-US" sz="1600" b="0" i="1" dirty="0">
                <a:latin typeface="Times" panose="00000500000000020000" pitchFamily="18" charset="0"/>
              </a:rPr>
              <a:t> </a:t>
            </a:r>
            <a:r>
              <a:rPr lang="en-US" b="0" i="1" dirty="0">
                <a:latin typeface="Times" panose="00000500000000020000" pitchFamily="18" charset="0"/>
              </a:rPr>
              <a:t>u </a:t>
            </a:r>
            <a:r>
              <a:rPr lang="en-US" b="0" dirty="0">
                <a:latin typeface="Times" panose="00000500000000020000" pitchFamily="18" charset="0"/>
              </a:rPr>
              <a:t>/ 2</a:t>
            </a:r>
            <a:r>
              <a:rPr lang="en-US" b="0" i="1" baseline="30000" dirty="0">
                <a:latin typeface="Times" panose="00000500000000020000" pitchFamily="18" charset="0"/>
              </a:rPr>
              <a:t>k </a:t>
            </a:r>
            <a:r>
              <a:rPr lang="en-US" b="0" dirty="0">
                <a:solidFill>
                  <a:schemeClr val="tx2"/>
                </a:solidFill>
                <a:latin typeface="Calibri" pitchFamily="34" charset="0"/>
                <a:sym typeface="Symbol" pitchFamily="18" charset="2"/>
              </a:rPr>
              <a:t></a:t>
            </a:r>
            <a:endParaRPr lang="en-US" b="0" dirty="0">
              <a:solidFill>
                <a:schemeClr val="tx2"/>
              </a:solidFill>
              <a:latin typeface="Calibri" pitchFamily="34" charset="0"/>
              <a:sym typeface="Symbol" pitchFamily="18" charset="2"/>
            </a:endParaRPr>
          </a:p>
        </p:txBody>
      </p:sp>
      <p:sp>
        <p:nvSpPr>
          <p:cNvPr id="13349" name="Rectangle 45"/>
          <p:cNvSpPr>
            <a:spLocks noChangeArrowheads="1"/>
          </p:cNvSpPr>
          <p:nvPr/>
        </p:nvSpPr>
        <p:spPr bwMode="auto">
          <a:xfrm>
            <a:off x="6858000" y="4191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50" name="Rectangle 46"/>
          <p:cNvSpPr>
            <a:spLocks noChangeArrowheads="1"/>
          </p:cNvSpPr>
          <p:nvPr/>
        </p:nvSpPr>
        <p:spPr bwMode="auto">
          <a:xfrm>
            <a:off x="7086600" y="4191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51" name="Rectangle 47"/>
          <p:cNvSpPr>
            <a:spLocks noChangeArrowheads="1"/>
          </p:cNvSpPr>
          <p:nvPr/>
        </p:nvSpPr>
        <p:spPr bwMode="auto">
          <a:xfrm>
            <a:off x="8001000" y="4191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52" name="Rectangle 48"/>
          <p:cNvSpPr>
            <a:spLocks noChangeArrowheads="1"/>
          </p:cNvSpPr>
          <p:nvPr/>
        </p:nvSpPr>
        <p:spPr bwMode="auto">
          <a:xfrm>
            <a:off x="7315200" y="41910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53" name="Text Box 49"/>
          <p:cNvSpPr txBox="1">
            <a:spLocks noChangeArrowheads="1"/>
          </p:cNvSpPr>
          <p:nvPr/>
        </p:nvSpPr>
        <p:spPr bwMode="auto">
          <a:xfrm>
            <a:off x="2057400" y="4114800"/>
            <a:ext cx="112585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Result: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13354" name="Text Box 50"/>
          <p:cNvSpPr txBox="1">
            <a:spLocks noChangeArrowheads="1"/>
          </p:cNvSpPr>
          <p:nvPr/>
        </p:nvSpPr>
        <p:spPr bwMode="auto">
          <a:xfrm>
            <a:off x="8153400" y="3581400"/>
            <a:ext cx="246380" cy="3683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.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3355" name="Text Box 51"/>
          <p:cNvSpPr txBox="1">
            <a:spLocks noChangeArrowheads="1"/>
          </p:cNvSpPr>
          <p:nvPr/>
        </p:nvSpPr>
        <p:spPr bwMode="auto">
          <a:xfrm>
            <a:off x="8458200" y="2667000"/>
            <a:ext cx="183769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Binary Point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13356" name="Line 52"/>
          <p:cNvSpPr>
            <a:spLocks noChangeShapeType="1"/>
          </p:cNvSpPr>
          <p:nvPr/>
        </p:nvSpPr>
        <p:spPr bwMode="auto">
          <a:xfrm flipH="1">
            <a:off x="8305800" y="3048000"/>
            <a:ext cx="304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57" name="Rectangle 53"/>
          <p:cNvSpPr>
            <a:spLocks noChangeArrowheads="1"/>
          </p:cNvSpPr>
          <p:nvPr/>
        </p:nvSpPr>
        <p:spPr bwMode="auto">
          <a:xfrm>
            <a:off x="5486400" y="3657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3358" name="Rectangle 54"/>
          <p:cNvSpPr>
            <a:spLocks noChangeArrowheads="1"/>
          </p:cNvSpPr>
          <p:nvPr/>
        </p:nvSpPr>
        <p:spPr bwMode="auto">
          <a:xfrm>
            <a:off x="5486400" y="4191000"/>
            <a:ext cx="228600" cy="228600"/>
          </a:xfrm>
          <a:prstGeom prst="rect">
            <a:avLst/>
          </a:prstGeom>
          <a:solidFill>
            <a:srgbClr val="00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59" name="Rectangle 55"/>
          <p:cNvSpPr>
            <a:spLocks noChangeArrowheads="1"/>
          </p:cNvSpPr>
          <p:nvPr/>
        </p:nvSpPr>
        <p:spPr bwMode="auto">
          <a:xfrm>
            <a:off x="6400800" y="4191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3360" name="Rectangle 56"/>
          <p:cNvSpPr>
            <a:spLocks noChangeArrowheads="1"/>
          </p:cNvSpPr>
          <p:nvPr/>
        </p:nvSpPr>
        <p:spPr bwMode="auto">
          <a:xfrm>
            <a:off x="6629400" y="4191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3361" name="Rectangle 57"/>
          <p:cNvSpPr>
            <a:spLocks noChangeArrowheads="1"/>
          </p:cNvSpPr>
          <p:nvPr/>
        </p:nvSpPr>
        <p:spPr bwMode="auto">
          <a:xfrm>
            <a:off x="5715000" y="41910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62" name="Rectangle 58"/>
          <p:cNvSpPr>
            <a:spLocks noChangeArrowheads="1"/>
          </p:cNvSpPr>
          <p:nvPr/>
        </p:nvSpPr>
        <p:spPr bwMode="auto">
          <a:xfrm>
            <a:off x="5486400" y="4191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  <a:endParaRPr lang="en-US" sz="1800" b="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1" grpId="0"/>
      <p:bldP spid="13332" grpId="0"/>
      <p:bldP spid="13338" grpId="0" bldLvl="0" animBg="1"/>
      <p:bldP spid="13339" grpId="0" bldLvl="0" animBg="1"/>
      <p:bldP spid="13340" grpId="0" bldLvl="0" animBg="1"/>
      <p:bldP spid="13341" grpId="0" bldLvl="0" animBg="1"/>
      <p:bldP spid="13342" grpId="0" bldLvl="0" animBg="1"/>
      <p:bldP spid="13343" grpId="0" bldLvl="0" animBg="1"/>
      <p:bldP spid="13344" grpId="0" bldLvl="0" animBg="1"/>
      <p:bldP spid="13345" grpId="0" bldLvl="0" animBg="1"/>
      <p:bldP spid="13347" grpId="0" bldLvl="0" animBg="1"/>
      <p:bldP spid="13348" grpId="0"/>
      <p:bldP spid="13349" grpId="0" bldLvl="0" animBg="1"/>
      <p:bldP spid="13350" grpId="0" bldLvl="0" animBg="1"/>
      <p:bldP spid="13351" grpId="0" bldLvl="0" animBg="1"/>
      <p:bldP spid="13352" grpId="0" bldLvl="0" animBg="1"/>
      <p:bldP spid="13353" grpId="0"/>
      <p:bldP spid="13354" grpId="0"/>
      <p:bldP spid="13355" grpId="0"/>
      <p:bldP spid="13356" grpId="0" bldLvl="0" animBg="1"/>
      <p:bldP spid="13357" grpId="0" bldLvl="0" animBg="1"/>
      <p:bldP spid="13358" grpId="0" bldLvl="0" animBg="1"/>
      <p:bldP spid="13359" grpId="0" bldLvl="0" animBg="1"/>
      <p:bldP spid="13360" grpId="0" bldLvl="0" animBg="1"/>
      <p:bldP spid="13361" grpId="0" bldLvl="0" animBg="1"/>
      <p:bldP spid="13362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trike="sngStrike" dirty="0">
                <a:sym typeface="+mn-ea"/>
              </a:rPr>
              <a:t>用移位实现</a:t>
            </a:r>
            <a:r>
              <a:rPr lang="zh-CN" altLang="en-US" strike="sngStrike" dirty="0">
                <a:solidFill>
                  <a:srgbClr val="FF0000"/>
                </a:solidFill>
                <a:sym typeface="+mn-ea"/>
              </a:rPr>
              <a:t>有</a:t>
            </a:r>
            <a:r>
              <a:rPr lang="zh-CN" altLang="en-US" strike="sngStrike" dirty="0">
                <a:solidFill>
                  <a:srgbClr val="FF0000"/>
                </a:solidFill>
                <a:sym typeface="+mn-ea"/>
              </a:rPr>
              <a:t>符号</a:t>
            </a:r>
            <a:r>
              <a:rPr lang="zh-CN" altLang="en-US" strike="sngStrike" dirty="0">
                <a:sym typeface="+mn-ea"/>
              </a:rPr>
              <a:t>除法</a:t>
            </a:r>
            <a:r>
              <a:rPr lang="en-US" strike="sngStrike" dirty="0">
                <a:sym typeface="+mn-ea"/>
              </a:rPr>
              <a:t> </a:t>
            </a:r>
            <a:endParaRPr lang="zh-CN" altLang="en-US" strike="sngStrike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1"/>
            <a:r>
              <a:rPr lang="zh-CN" altLang="en-US" sz="2400">
                <a:solidFill>
                  <a:srgbClr val="00B050"/>
                </a:solidFill>
                <a:sym typeface="+mn-ea"/>
              </a:rPr>
              <a:t>然而，有符号数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s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右移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k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位，并不总是等于算术上的除以</a:t>
            </a:r>
            <a:r>
              <a:rPr lang="en-US" sz="2400" i="1" dirty="0">
                <a:solidFill>
                  <a:srgbClr val="00B050"/>
                </a:solidFill>
                <a:sym typeface="+mn-ea"/>
              </a:rPr>
              <a:t>2</a:t>
            </a:r>
            <a:r>
              <a:rPr lang="en-US" sz="2400" i="1" baseline="30000" dirty="0">
                <a:solidFill>
                  <a:srgbClr val="00B050"/>
                </a:solidFill>
                <a:sym typeface="+mn-ea"/>
              </a:rPr>
              <a:t>k </a:t>
            </a:r>
            <a:endParaRPr lang="en-US" altLang="en-US" sz="2400" baseline="30000">
              <a:solidFill>
                <a:srgbClr val="00B050"/>
              </a:solidFill>
            </a:endParaRPr>
          </a:p>
          <a:p>
            <a:pPr lvl="1"/>
            <a:r>
              <a:rPr lang="zh-CN" altLang="en-US" sz="2400">
                <a:sym typeface="+mn-ea"/>
              </a:rPr>
              <a:t>当被除数是负</a:t>
            </a:r>
            <a:r>
              <a:rPr lang="zh-CN" altLang="en-US" sz="2400">
                <a:sym typeface="+mn-ea"/>
              </a:rPr>
              <a:t>整数时，会失效</a:t>
            </a:r>
            <a:endParaRPr lang="zh-CN" altLang="en-US" sz="2400"/>
          </a:p>
          <a:p>
            <a:pPr lvl="1"/>
            <a:r>
              <a:rPr lang="en-US" altLang="en-US" sz="2400">
                <a:sym typeface="+mn-ea"/>
              </a:rPr>
              <a:t>C</a:t>
            </a:r>
            <a:r>
              <a:rPr lang="zh-CN" altLang="en-US" sz="2400">
                <a:sym typeface="+mn-ea"/>
              </a:rPr>
              <a:t>语言算术的语义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整数除法结果应该</a:t>
            </a:r>
            <a:r>
              <a:rPr lang="zh-CN" altLang="en-US" sz="2400">
                <a:latin typeface="Arial Bold" panose="020B0704020202020204" charset="0"/>
                <a:cs typeface="Arial Bold" panose="020B0704020202020204" charset="0"/>
                <a:sym typeface="+mn-ea"/>
              </a:rPr>
              <a:t>向</a:t>
            </a:r>
            <a:r>
              <a:rPr lang="en-US" altLang="zh-CN" sz="2400">
                <a:latin typeface="Arial Bold" panose="020B0704020202020204" charset="0"/>
                <a:cs typeface="Arial Bold" panose="020B0704020202020204" charset="0"/>
                <a:sym typeface="+mn-ea"/>
              </a:rPr>
              <a:t>0</a:t>
            </a:r>
            <a:r>
              <a:rPr lang="zh-CN" altLang="en-US" sz="2400">
                <a:latin typeface="Arial Bold" panose="020B0704020202020204" charset="0"/>
                <a:cs typeface="Arial Bold" panose="020B0704020202020204" charset="0"/>
                <a:sym typeface="+mn-ea"/>
              </a:rPr>
              <a:t>取整</a:t>
            </a:r>
            <a:r>
              <a:rPr lang="zh-CN" altLang="en-US" sz="2400">
                <a:sym typeface="+mn-ea"/>
              </a:rPr>
              <a:t>（截断小数部分）</a:t>
            </a:r>
            <a:endParaRPr lang="zh-CN" altLang="en-US" sz="2400"/>
          </a:p>
          <a:p>
            <a:pPr lvl="2"/>
            <a:r>
              <a:rPr lang="en-US" altLang="zh-CN" sz="2400">
                <a:sym typeface="+mn-ea"/>
              </a:rPr>
              <a:t>-5/4 = -1(-1.25</a:t>
            </a:r>
            <a:r>
              <a:rPr lang="en-US" altLang="en-US" sz="2400">
                <a:sym typeface="+mn-ea"/>
              </a:rPr>
              <a:t> )</a:t>
            </a:r>
            <a:endParaRPr lang="en-US" altLang="en-US" sz="2400"/>
          </a:p>
          <a:p>
            <a:pPr lvl="2"/>
            <a:r>
              <a:rPr lang="en-US" altLang="en-US" sz="2400">
                <a:sym typeface="+mn-ea"/>
              </a:rPr>
              <a:t>-7/4 = -1(-1.75)</a:t>
            </a:r>
            <a:endParaRPr lang="en-US" altLang="en-US" sz="2400"/>
          </a:p>
          <a:p>
            <a:pPr lvl="1"/>
            <a:r>
              <a:rPr lang="zh-CN" altLang="en-US" sz="2400">
                <a:sym typeface="+mn-ea"/>
              </a:rPr>
              <a:t>然而，右移是</a:t>
            </a:r>
            <a:r>
              <a:rPr lang="zh-CN" altLang="en-US" sz="2400">
                <a:latin typeface="Arial Bold" panose="020B0704020202020204" charset="0"/>
                <a:sym typeface="+mn-ea"/>
              </a:rPr>
              <a:t>向下取整</a:t>
            </a:r>
            <a:endParaRPr lang="zh-CN" altLang="en-US" sz="2400"/>
          </a:p>
          <a:p>
            <a:pPr lvl="2"/>
            <a:r>
              <a:rPr lang="en-US" altLang="zh-CN" sz="2400">
                <a:sym typeface="+mn-ea"/>
              </a:rPr>
              <a:t>-5 &gt;&gt; 2 = -2</a:t>
            </a:r>
            <a:r>
              <a:rPr lang="en-US" altLang="zh-CN" sz="2400">
                <a:sym typeface="+mn-ea"/>
              </a:rPr>
              <a:t>(-1.25</a:t>
            </a:r>
            <a:r>
              <a:rPr lang="en-US" altLang="en-US" sz="2400">
                <a:sym typeface="+mn-ea"/>
              </a:rPr>
              <a:t> )</a:t>
            </a:r>
            <a:endParaRPr lang="en-US" altLang="zh-CN" sz="2400"/>
          </a:p>
          <a:p>
            <a:pPr lvl="2"/>
            <a:r>
              <a:rPr lang="en-US" altLang="zh-CN" sz="2400">
                <a:sym typeface="+mn-ea"/>
              </a:rPr>
              <a:t>-7 &gt;&gt; 2 = -2</a:t>
            </a:r>
            <a:r>
              <a:rPr lang="en-US" altLang="en-US" sz="2400">
                <a:sym typeface="+mn-ea"/>
              </a:rPr>
              <a:t>(-1.75)</a:t>
            </a:r>
            <a:endParaRPr lang="en-US" altLang="en-US" sz="2400"/>
          </a:p>
          <a:p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/>
              <a:t>Integers</a:t>
            </a:r>
            <a:endParaRPr lang="en-US" dirty="0"/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b="1" dirty="0"/>
              <a:t>Summary</a:t>
            </a:r>
            <a:endParaRPr lang="en-US" b="1" dirty="0"/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总结：</a:t>
            </a:r>
            <a:r>
              <a:rPr lang="zh-CN" altLang="en-US" dirty="0"/>
              <a:t>机器算术的基本</a:t>
            </a:r>
            <a:r>
              <a:rPr lang="zh-CN" altLang="en-US" dirty="0"/>
              <a:t>规则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5" y="1197610"/>
            <a:ext cx="8468360" cy="513651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zh-CN" altLang="en-US" dirty="0" smtClean="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811655" y="1295400"/>
            <a:ext cx="93954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 smtClean="0">
                <a:solidFill>
                  <a:srgbClr val="FF0000"/>
                </a:solidFill>
                <a:latin typeface="Calibri" pitchFamily="34" charset="0"/>
              </a:rPr>
              <a:t>定长的运算</a:t>
            </a:r>
            <a:r>
              <a:rPr lang="en-US" altLang="zh-CN" dirty="0" smtClean="0">
                <a:solidFill>
                  <a:srgbClr val="FF0000"/>
                </a:solidFill>
                <a:latin typeface="Calibri" pitchFamily="34" charset="0"/>
              </a:rPr>
              <a:t>，</a:t>
            </a:r>
            <a:r>
              <a:rPr lang="zh-CN" altLang="en-US" dirty="0" smtClean="0">
                <a:solidFill>
                  <a:srgbClr val="00B050"/>
                </a:solidFill>
                <a:latin typeface="Calibri" pitchFamily="34" charset="0"/>
              </a:rPr>
              <a:t>补码和无符号运算的位级别行为是一样的</a:t>
            </a:r>
            <a:r>
              <a:rPr lang="en-US" altLang="zh-CN" dirty="0" smtClean="0">
                <a:solidFill>
                  <a:srgbClr val="00B050"/>
                </a:solidFill>
                <a:latin typeface="Calibri" pitchFamily="34" charset="0"/>
              </a:rPr>
              <a:t>，</a:t>
            </a:r>
            <a:r>
              <a:rPr lang="zh-CN" altLang="en-US" dirty="0" smtClean="0">
                <a:solidFill>
                  <a:srgbClr val="00B050"/>
                </a:solidFill>
                <a:latin typeface="Calibri" pitchFamily="34" charset="0"/>
              </a:rPr>
              <a:t>都是模运算</a:t>
            </a:r>
            <a:endParaRPr lang="zh-CN" altLang="en-US" dirty="0" smtClean="0">
              <a:solidFill>
                <a:srgbClr val="00B050"/>
              </a:solidFill>
              <a:latin typeface="Calibri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8270" y="2184400"/>
            <a:ext cx="5774690" cy="33305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noAutofit/>
          </a:bodyPr>
          <a:p>
            <a:pPr algn="l"/>
            <a:r>
              <a:rPr lang="zh-CN" altLang="en-US" sz="1600" dirty="0" smtClean="0">
                <a:latin typeface="Calibri" pitchFamily="34" charset="0"/>
              </a:rPr>
              <a:t>#include&lt;stdio.h&gt;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int main()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{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        int x = 0xc0000000, y = 0x3;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        int z = x*y;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        if(x*y &lt; 0)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                printf("x*y&lt;0\n");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        else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                printf("x*y&gt;=0\n");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        printf("0x%x,x=%d, y=%d, z=%d\n", x*y, x, y, z);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        return 0;</a:t>
            </a:r>
            <a:endParaRPr lang="zh-CN" altLang="en-US" sz="1600" dirty="0" smtClean="0">
              <a:latin typeface="Calibri" pitchFamily="34" charset="0"/>
            </a:endParaRPr>
          </a:p>
          <a:p>
            <a:pPr algn="l"/>
            <a:r>
              <a:rPr lang="zh-CN" altLang="en-US" sz="1600" dirty="0" smtClean="0">
                <a:latin typeface="Calibri" pitchFamily="34" charset="0"/>
              </a:rPr>
              <a:t>}</a:t>
            </a:r>
            <a:endParaRPr lang="zh-CN" altLang="en-US" sz="1600" dirty="0" smtClean="0">
              <a:latin typeface="Calibri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91400" y="3124200"/>
            <a:ext cx="4295140" cy="80391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5" name="文本框 4"/>
          <p:cNvSpPr txBox="1"/>
          <p:nvPr/>
        </p:nvSpPr>
        <p:spPr>
          <a:xfrm>
            <a:off x="7239000" y="4495800"/>
            <a:ext cx="462915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dirty="0" smtClean="0">
                <a:latin typeface="Calibri" pitchFamily="34" charset="0"/>
              </a:rPr>
              <a:t>x</a:t>
            </a:r>
            <a:r>
              <a:rPr lang="zh-CN" altLang="en-US" sz="2000" dirty="0" smtClean="0">
                <a:latin typeface="Calibri" pitchFamily="34" charset="0"/>
              </a:rPr>
              <a:t>为负数</a:t>
            </a:r>
            <a:r>
              <a:rPr lang="en-US" altLang="zh-CN" sz="2000" dirty="0" smtClean="0">
                <a:latin typeface="Calibri" pitchFamily="34" charset="0"/>
              </a:rPr>
              <a:t>，y</a:t>
            </a:r>
            <a:r>
              <a:rPr lang="zh-CN" altLang="en-US" sz="2000" dirty="0" smtClean="0">
                <a:latin typeface="Calibri" pitchFamily="34" charset="0"/>
              </a:rPr>
              <a:t>为</a:t>
            </a:r>
            <a:r>
              <a:rPr lang="zh-CN" altLang="en-US" sz="2000" dirty="0" smtClean="0">
                <a:latin typeface="Calibri" pitchFamily="34" charset="0"/>
              </a:rPr>
              <a:t>正数</a:t>
            </a:r>
            <a:r>
              <a:rPr lang="en-US" altLang="zh-CN" sz="2000" dirty="0" smtClean="0">
                <a:latin typeface="Calibri" pitchFamily="34" charset="0"/>
              </a:rPr>
              <a:t>；</a:t>
            </a:r>
            <a:endParaRPr lang="en-US" altLang="zh-CN" sz="2000" dirty="0" smtClean="0">
              <a:latin typeface="Calibri" pitchFamily="34" charset="0"/>
            </a:endParaRPr>
          </a:p>
          <a:p>
            <a:r>
              <a:rPr lang="en-US" altLang="zh-CN" sz="2000" dirty="0" smtClean="0">
                <a:latin typeface="Calibri" pitchFamily="34" charset="0"/>
              </a:rPr>
              <a:t>x*y</a:t>
            </a:r>
            <a:r>
              <a:rPr lang="zh-CN" altLang="en-US" sz="2000" dirty="0" smtClean="0">
                <a:latin typeface="Calibri" pitchFamily="34" charset="0"/>
              </a:rPr>
              <a:t>的数学值为负数</a:t>
            </a:r>
            <a:r>
              <a:rPr lang="en-US" altLang="zh-CN" sz="2000" dirty="0" smtClean="0">
                <a:latin typeface="Calibri" pitchFamily="34" charset="0"/>
              </a:rPr>
              <a:t>；</a:t>
            </a:r>
            <a:r>
              <a:rPr lang="zh-CN" altLang="en-US" sz="2000" dirty="0" smtClean="0">
                <a:latin typeface="Calibri" pitchFamily="34" charset="0"/>
              </a:rPr>
              <a:t>但是溢出</a:t>
            </a:r>
            <a:r>
              <a:rPr lang="en-US" altLang="zh-CN" sz="2000" dirty="0" smtClean="0">
                <a:latin typeface="Calibri" pitchFamily="34" charset="0"/>
              </a:rPr>
              <a:t>，</a:t>
            </a:r>
            <a:r>
              <a:rPr lang="zh-CN" altLang="en-US" sz="2000" dirty="0" smtClean="0">
                <a:latin typeface="Calibri" pitchFamily="34" charset="0"/>
              </a:rPr>
              <a:t>为</a:t>
            </a:r>
            <a:r>
              <a:rPr lang="zh-CN" altLang="en-US" sz="2000" dirty="0" smtClean="0">
                <a:latin typeface="Calibri" pitchFamily="34" charset="0"/>
              </a:rPr>
              <a:t>正数</a:t>
            </a:r>
            <a:endParaRPr lang="zh-CN" altLang="en-US" sz="2000" dirty="0" smtClean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7450138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什么时候使用</a:t>
            </a:r>
            <a:r>
              <a:rPr lang="en-US" dirty="0"/>
              <a:t>Unsigned?</a:t>
            </a:r>
            <a:endParaRPr lang="en-US" dirty="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3412" y="1404937"/>
            <a:ext cx="8307388" cy="52244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非必要不使用</a:t>
            </a:r>
            <a:r>
              <a:rPr lang="en-US" altLang="zh-CN" dirty="0"/>
              <a:t>unsigned</a:t>
            </a:r>
            <a:r>
              <a:rPr lang="zh-CN" altLang="en-US" dirty="0"/>
              <a:t>类型</a:t>
            </a:r>
            <a:endParaRPr lang="en-US" dirty="0"/>
          </a:p>
          <a:p>
            <a:pPr lvl="1" eaLnBrk="1" hangingPunct="1">
              <a:defRPr/>
            </a:pPr>
            <a:r>
              <a:rPr lang="zh-CN" altLang="en-US" dirty="0"/>
              <a:t>很容易犯错</a:t>
            </a:r>
            <a:endParaRPr lang="en-US" dirty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unsigned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for (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 = cnt-2;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 &gt;= 0;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--)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  a[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] += a[i+1];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zh-CN" altLang="en-US" dirty="0"/>
              <a:t>错误可能隐藏得比较深</a:t>
            </a:r>
            <a:endParaRPr lang="en-US" dirty="0"/>
          </a:p>
          <a:p>
            <a:pPr lvl="2"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#define DELTA </a:t>
            </a:r>
            <a:r>
              <a:rPr lang="en-US" sz="1800" b="1" dirty="0" err="1">
                <a:latin typeface="Courier New" panose="02070609020205020404" pitchFamily="49" charset="0"/>
              </a:rPr>
              <a:t>sizeof</a:t>
            </a:r>
            <a:r>
              <a:rPr lang="en-US" sz="1800" b="1" dirty="0">
                <a:latin typeface="Courier New" panose="02070609020205020404" pitchFamily="49" charset="0"/>
              </a:rPr>
              <a:t>(</a:t>
            </a:r>
            <a:r>
              <a:rPr lang="en-US" sz="1800" b="1" dirty="0" err="1">
                <a:latin typeface="Courier New" panose="02070609020205020404" pitchFamily="49" charset="0"/>
              </a:rPr>
              <a:t>int</a:t>
            </a:r>
            <a:r>
              <a:rPr lang="en-US" sz="1800" b="1" dirty="0">
                <a:latin typeface="Courier New" panose="02070609020205020404" pitchFamily="49" charset="0"/>
              </a:rPr>
              <a:t>)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>
              <a:buNone/>
              <a:defRPr/>
            </a:pPr>
            <a:r>
              <a:rPr lang="en-US" sz="1800" b="1" dirty="0" err="1">
                <a:latin typeface="Courier New" panose="02070609020205020404" pitchFamily="49" charset="0"/>
              </a:rPr>
              <a:t>int</a:t>
            </a:r>
            <a:r>
              <a:rPr lang="en-US" sz="1800" b="1" dirty="0">
                <a:latin typeface="Courier New" panose="02070609020205020404" pitchFamily="49" charset="0"/>
              </a:rPr>
              <a:t>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for (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 = CNT;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-DELTA &gt;= 0;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-= DELTA)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  . . .</a:t>
            </a:r>
            <a:endParaRPr lang="en-US" sz="1800" b="1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74501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Counting Down with Unsigned</a:t>
            </a:r>
            <a:endParaRPr lang="en-US" dirty="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3412" y="1404937"/>
            <a:ext cx="8307388" cy="52244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unsigned</a:t>
            </a:r>
            <a:r>
              <a:rPr lang="zh-CN" altLang="en-US" dirty="0"/>
              <a:t>作循环索引的正确使用方式</a:t>
            </a:r>
            <a:endParaRPr lang="en-US" dirty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unsigned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for (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 = cnt-2;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</a:rPr>
              <a:t>&lt;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</a:rPr>
              <a:t>cnt</a:t>
            </a:r>
            <a:r>
              <a:rPr lang="en-US" sz="1800" b="1" dirty="0">
                <a:latin typeface="Courier New" panose="02070609020205020404" pitchFamily="49" charset="0"/>
              </a:rPr>
              <a:t>;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--)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  a[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] += a[i+1];</a:t>
            </a:r>
            <a:endParaRPr lang="en-US" dirty="0"/>
          </a:p>
          <a:p>
            <a:pPr>
              <a:defRPr/>
            </a:pPr>
            <a:r>
              <a:rPr lang="en-US" dirty="0"/>
              <a:t>See Robert </a:t>
            </a:r>
            <a:r>
              <a:rPr lang="en-US" dirty="0" err="1"/>
              <a:t>Seacord</a:t>
            </a:r>
            <a:r>
              <a:rPr lang="en-US" dirty="0"/>
              <a:t>, </a:t>
            </a:r>
            <a:r>
              <a:rPr lang="en-US" i="1" dirty="0"/>
              <a:t>Secure Coding in C and C++</a:t>
            </a:r>
            <a:endParaRPr lang="en-US" i="1" dirty="0"/>
          </a:p>
          <a:p>
            <a:pPr lvl="1">
              <a:defRPr/>
            </a:pPr>
            <a:r>
              <a:rPr lang="en-US" dirty="0"/>
              <a:t>C</a:t>
            </a:r>
            <a:r>
              <a:rPr lang="zh-CN" altLang="en-US" dirty="0"/>
              <a:t>语言标准规定</a:t>
            </a:r>
            <a:r>
              <a:rPr lang="en-US" altLang="zh-CN" dirty="0"/>
              <a:t>，</a:t>
            </a:r>
            <a:r>
              <a:rPr lang="zh-CN" altLang="en-US" dirty="0"/>
              <a:t>无符号运算满足模运算</a:t>
            </a:r>
            <a:endParaRPr lang="en-US" dirty="0"/>
          </a:p>
          <a:p>
            <a:pPr lvl="2">
              <a:defRPr/>
            </a:pPr>
            <a:r>
              <a:rPr lang="en-US" dirty="0"/>
              <a:t>0 – 1 </a:t>
            </a:r>
            <a:r>
              <a:rPr lang="en-US" dirty="0">
                <a:sym typeface="Wingdings" panose="05000000000000000000"/>
              </a:rPr>
              <a:t> </a:t>
            </a:r>
            <a:r>
              <a:rPr lang="en-US" i="1" dirty="0" err="1">
                <a:sym typeface="Wingdings" panose="05000000000000000000"/>
              </a:rPr>
              <a:t>UMax</a:t>
            </a:r>
            <a:endParaRPr lang="en-US" i="1" dirty="0">
              <a:sym typeface="Wingdings" panose="05000000000000000000"/>
            </a:endParaRPr>
          </a:p>
          <a:p>
            <a:pPr>
              <a:defRPr/>
            </a:pPr>
            <a:r>
              <a:rPr lang="en-US" dirty="0"/>
              <a:t>Even better</a:t>
            </a:r>
            <a:endParaRPr lang="en-US" dirty="0"/>
          </a:p>
          <a:p>
            <a:pPr lvl="2">
              <a:buNone/>
              <a:defRPr/>
            </a:pP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</a:rPr>
              <a:t>size_t</a:t>
            </a:r>
            <a:r>
              <a:rPr lang="en-US" sz="1800" b="1" dirty="0">
                <a:latin typeface="Courier New" panose="02070609020205020404" pitchFamily="49" charset="0"/>
              </a:rPr>
              <a:t>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for (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 = cnt-2;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 &lt; </a:t>
            </a:r>
            <a:r>
              <a:rPr lang="en-US" sz="1800" b="1" dirty="0" err="1">
                <a:latin typeface="Courier New" panose="02070609020205020404" pitchFamily="49" charset="0"/>
              </a:rPr>
              <a:t>cnt</a:t>
            </a:r>
            <a:r>
              <a:rPr lang="en-US" sz="1800" b="1" dirty="0">
                <a:latin typeface="Courier New" panose="02070609020205020404" pitchFamily="49" charset="0"/>
              </a:rPr>
              <a:t>; 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--)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2">
              <a:buNone/>
              <a:defRPr/>
            </a:pPr>
            <a:r>
              <a:rPr lang="en-US" sz="1800" b="1" dirty="0">
                <a:latin typeface="Courier New" panose="02070609020205020404" pitchFamily="49" charset="0"/>
              </a:rPr>
              <a:t>  a[</a:t>
            </a:r>
            <a:r>
              <a:rPr lang="en-US" sz="1800" b="1" dirty="0" err="1">
                <a:latin typeface="Courier New" panose="02070609020205020404" pitchFamily="49" charset="0"/>
              </a:rPr>
              <a:t>i</a:t>
            </a:r>
            <a:r>
              <a:rPr lang="en-US" sz="1800" b="1" dirty="0">
                <a:latin typeface="Courier New" panose="02070609020205020404" pitchFamily="49" charset="0"/>
              </a:rPr>
              <a:t>] += a[i+1];</a:t>
            </a:r>
            <a:endParaRPr lang="en-US" sz="1800" b="1" dirty="0">
              <a:latin typeface="Courier New" panose="02070609020205020404" pitchFamily="49" charset="0"/>
            </a:endParaRPr>
          </a:p>
          <a:p>
            <a:pPr lvl="1">
              <a:defRPr/>
            </a:pPr>
            <a:r>
              <a:rPr lang="en-US" sz="1800" dirty="0"/>
              <a:t>Data type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Courier New" panose="02070609020205020404"/>
                <a:cs typeface="Courier New" panose="02070609020205020404"/>
              </a:rPr>
              <a:t>size_t</a:t>
            </a:r>
            <a:r>
              <a:rPr lang="en-US" sz="1800" dirty="0"/>
              <a:t> </a:t>
            </a:r>
            <a:r>
              <a:rPr lang="zh-CN" altLang="en-US" sz="1800" dirty="0"/>
              <a:t>为无符号字长</a:t>
            </a:r>
            <a:r>
              <a:rPr lang="en-US" altLang="zh-CN" sz="1800" dirty="0"/>
              <a:t>（32</a:t>
            </a:r>
            <a:r>
              <a:rPr lang="zh-CN" altLang="en-US" sz="1800" dirty="0"/>
              <a:t>或</a:t>
            </a:r>
            <a:r>
              <a:rPr lang="en-US" altLang="zh-CN" sz="1800" dirty="0"/>
              <a:t>64）</a:t>
            </a:r>
            <a:r>
              <a:rPr lang="zh-CN" altLang="en-US" sz="1800" dirty="0"/>
              <a:t>类型</a:t>
            </a:r>
            <a:endParaRPr lang="en-US" sz="1800" dirty="0"/>
          </a:p>
          <a:p>
            <a:pPr lvl="1">
              <a:defRPr/>
            </a:pPr>
            <a:r>
              <a:rPr lang="en-US" sz="1800" dirty="0"/>
              <a:t>Code will work even if</a:t>
            </a:r>
            <a:r>
              <a:rPr lang="en-US" sz="1800" b="1" dirty="0"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800" b="1" dirty="0" err="1">
                <a:latin typeface="Courier New" panose="02070609020205020404"/>
                <a:cs typeface="Courier New" panose="02070609020205020404"/>
              </a:rPr>
              <a:t>cnt</a:t>
            </a:r>
            <a:r>
              <a:rPr lang="en-US" sz="1800" dirty="0"/>
              <a:t> = </a:t>
            </a:r>
            <a:r>
              <a:rPr lang="en-US" sz="1800" i="1" dirty="0" err="1"/>
              <a:t>UMax</a:t>
            </a:r>
            <a:endParaRPr lang="en-US" sz="1800" i="1" dirty="0"/>
          </a:p>
          <a:p>
            <a:pPr lvl="1">
              <a:defRPr/>
            </a:pPr>
            <a:r>
              <a:rPr lang="en-US" sz="1800" dirty="0"/>
              <a:t>What if </a:t>
            </a:r>
            <a:r>
              <a:rPr lang="en-US" sz="1800" b="1" dirty="0" err="1">
                <a:latin typeface="Courier New" panose="02070609020205020404"/>
                <a:cs typeface="Courier New" panose="02070609020205020404"/>
              </a:rPr>
              <a:t>cnt</a:t>
            </a:r>
            <a:r>
              <a:rPr lang="en-US" sz="1800" dirty="0"/>
              <a:t> is signed and &lt; 0?</a:t>
            </a:r>
            <a:endParaRPr lang="en-US" sz="1800" dirty="0"/>
          </a:p>
          <a:p>
            <a:pPr lvl="2">
              <a:buNone/>
              <a:defRPr/>
            </a:pPr>
            <a:endParaRPr lang="en-US" sz="1800" b="1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7450138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什么时候使用</a:t>
            </a:r>
            <a:r>
              <a:rPr lang="en-US" dirty="0"/>
              <a:t>Unsigned? (cont.)</a:t>
            </a:r>
            <a:endParaRPr lang="en-US" dirty="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3412" y="1404937"/>
            <a:ext cx="8307388" cy="52244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Arial Bold" panose="020B0704020202020204" charset="0"/>
              </a:rPr>
              <a:t>需要使用模算术的时候</a:t>
            </a:r>
            <a:endParaRPr lang="en-US" dirty="0">
              <a:latin typeface="Arial Bold" panose="020B0704020202020204" charset="0"/>
            </a:endParaRPr>
          </a:p>
          <a:p>
            <a:pPr lvl="1" eaLnBrk="1" hangingPunct="1">
              <a:defRPr/>
            </a:pPr>
            <a:r>
              <a:rPr lang="zh-CN" altLang="en-US" dirty="0" err="1"/>
              <a:t>多精度算术</a:t>
            </a:r>
            <a:endParaRPr lang="en-US" dirty="0"/>
          </a:p>
          <a:p>
            <a:pPr eaLnBrk="1" hangingPunct="1">
              <a:defRPr/>
            </a:pPr>
            <a:r>
              <a:rPr lang="zh-CN" altLang="en-US" dirty="0">
                <a:latin typeface="Arial Bold" panose="020B0704020202020204" charset="0"/>
              </a:rPr>
              <a:t>需要使用位向量来表示集合的时候</a:t>
            </a:r>
            <a:endParaRPr lang="en-US" dirty="0">
              <a:latin typeface="Arial Bold" panose="020B0704020202020204" charset="0"/>
            </a:endParaRPr>
          </a:p>
          <a:p>
            <a:pPr lvl="1" eaLnBrk="1" hangingPunct="1">
              <a:defRPr/>
            </a:pPr>
            <a:r>
              <a:rPr lang="zh-CN" altLang="en-US" dirty="0"/>
              <a:t>逻辑右移</a:t>
            </a:r>
            <a:r>
              <a:rPr lang="en-US" dirty="0"/>
              <a:t>, </a:t>
            </a:r>
            <a:r>
              <a:rPr lang="zh-CN" altLang="en-US" dirty="0"/>
              <a:t>无需符号扩展</a:t>
            </a: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>
              <a:defRPr/>
            </a:pPr>
            <a:r>
              <a:rPr lang="zh-CN" altLang="en-US" dirty="0">
                <a:solidFill>
                  <a:srgbClr val="00B050"/>
                </a:solidFill>
              </a:rPr>
              <a:t>什么时候使用有符号类型</a:t>
            </a:r>
            <a:r>
              <a:rPr lang="en-US" dirty="0">
                <a:solidFill>
                  <a:srgbClr val="00B050"/>
                </a:solidFill>
              </a:rPr>
              <a:t>?</a:t>
            </a:r>
            <a:endParaRPr lang="en-US" dirty="0">
              <a:solidFill>
                <a:srgbClr val="00B050"/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rgbClr val="00B050"/>
                </a:solidFill>
              </a:rPr>
              <a:t>任何其他地方</a:t>
            </a:r>
            <a:endParaRPr lang="zh-CN" altLang="en-US" dirty="0">
              <a:solidFill>
                <a:srgbClr val="00B050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rgbClr val="00B050"/>
                </a:solidFill>
              </a:rPr>
              <a:t>Java</a:t>
            </a:r>
            <a:r>
              <a:rPr lang="zh-CN" altLang="en-US" dirty="0">
                <a:solidFill>
                  <a:srgbClr val="00B050"/>
                </a:solidFill>
                <a:ea typeface="SimSun" charset="0"/>
              </a:rPr>
              <a:t>、</a:t>
            </a:r>
            <a:r>
              <a:rPr lang="en-US" altLang="zh-CN" dirty="0">
                <a:solidFill>
                  <a:srgbClr val="00B050"/>
                </a:solidFill>
                <a:ea typeface="SimSun" charset="0"/>
              </a:rPr>
              <a:t>Python</a:t>
            </a:r>
            <a:r>
              <a:rPr lang="zh-CN" altLang="en-US" dirty="0">
                <a:solidFill>
                  <a:srgbClr val="00B050"/>
                </a:solidFill>
                <a:ea typeface="SimSun" charset="0"/>
              </a:rPr>
              <a:t>语言中没有无符号</a:t>
            </a:r>
            <a:r>
              <a:rPr lang="zh-CN" altLang="en-US" dirty="0">
                <a:solidFill>
                  <a:srgbClr val="00B050"/>
                </a:solidFill>
                <a:ea typeface="SimSun" charset="0"/>
              </a:rPr>
              <a:t>类型</a:t>
            </a:r>
            <a:endParaRPr lang="zh-CN" altLang="en-US" dirty="0">
              <a:solidFill>
                <a:srgbClr val="00B050"/>
              </a:solidFill>
              <a:ea typeface="SimSun" charset="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Integers</a:t>
            </a:r>
            <a:endParaRPr lang="en-US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  <a:endParaRPr lang="en-US" dirty="0">
              <a:solidFill>
                <a:srgbClr val="A6A6A6"/>
              </a:solidFill>
            </a:endParaRP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  <a:endParaRPr lang="en-US" dirty="0">
              <a:solidFill>
                <a:srgbClr val="A6A6A6"/>
              </a:solidFill>
            </a:endParaRPr>
          </a:p>
          <a:p>
            <a:r>
              <a:rPr lang="en-US" dirty="0"/>
              <a:t>Representations in memory, pointers, strings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type="title"/>
          </p:nvPr>
        </p:nvSpPr>
        <p:spPr>
          <a:xfrm>
            <a:off x="1880870" y="435610"/>
            <a:ext cx="8502650" cy="762000"/>
          </a:xfrm>
        </p:spPr>
        <p:txBody>
          <a:bodyPr/>
          <a:lstStyle/>
          <a:p>
            <a:pPr marL="119380" indent="-119380" eaLnBrk="1" hangingPunct="1"/>
            <a:r>
              <a:rPr lang="en-US" sz="3200"/>
              <a:t>Byte-Oriented Memory Organization</a:t>
            </a:r>
            <a:br>
              <a:rPr lang="en-US" sz="3200"/>
            </a:br>
            <a:r>
              <a:rPr lang="zh-CN" altLang="en-US" sz="3200"/>
              <a:t>以字节为单位</a:t>
            </a:r>
            <a:r>
              <a:rPr lang="zh-CN" altLang="en-US" sz="3200"/>
              <a:t>组织的内存</a:t>
            </a:r>
            <a:endParaRPr lang="zh-CN" altLang="en-US" sz="3200"/>
          </a:p>
        </p:txBody>
      </p:sp>
      <p:sp>
        <p:nvSpPr>
          <p:cNvPr id="44037" name="Rectangle 4"/>
          <p:cNvSpPr>
            <a:spLocks noGrp="1" noChangeArrowheads="1"/>
          </p:cNvSpPr>
          <p:nvPr>
            <p:ph idx="1"/>
          </p:nvPr>
        </p:nvSpPr>
        <p:spPr>
          <a:xfrm>
            <a:off x="1752600" y="2691765"/>
            <a:ext cx="8686800" cy="3861435"/>
          </a:xfrm>
        </p:spPr>
        <p:txBody>
          <a:bodyPr/>
          <a:lstStyle/>
          <a:p>
            <a:pPr eaLnBrk="1" hangingPunct="1"/>
            <a:r>
              <a:rPr lang="zh-CN" altLang="en-US" dirty="0"/>
              <a:t>程序通过地址来访问内存中的数据</a:t>
            </a:r>
            <a:endParaRPr lang="en-US" dirty="0"/>
          </a:p>
          <a:p>
            <a:pPr marL="552450" lvl="1" eaLnBrk="1" hangingPunct="1"/>
            <a:r>
              <a:rPr lang="zh-CN" altLang="en-US" dirty="0"/>
              <a:t>概念上，内存可以视为一个巨大的字节数组</a:t>
            </a:r>
            <a:endParaRPr lang="zh-CN" altLang="en-US" dirty="0"/>
          </a:p>
          <a:p>
            <a:pPr marL="1009650" lvl="2" eaLnBrk="1" hangingPunct="1"/>
            <a:r>
              <a:rPr lang="zh-CN" altLang="en-US" dirty="0">
                <a:solidFill>
                  <a:srgbClr val="00B050"/>
                </a:solidFill>
              </a:rPr>
              <a:t>地址</a:t>
            </a:r>
            <a:r>
              <a:rPr lang="zh-CN" altLang="en-US" dirty="0"/>
              <a:t>，就是该字节数组的索引</a:t>
            </a:r>
            <a:endParaRPr lang="zh-CN" altLang="en-US" dirty="0"/>
          </a:p>
          <a:p>
            <a:pPr marL="1009650" lvl="2" eaLnBrk="1" hangingPunct="1"/>
            <a:r>
              <a:rPr lang="zh-CN" altLang="en-US" dirty="0"/>
              <a:t>指针变量</a:t>
            </a:r>
            <a:r>
              <a:rPr lang="zh-CN" altLang="en-US" dirty="0"/>
              <a:t>存储存储</a:t>
            </a:r>
            <a:r>
              <a:rPr lang="zh-CN" altLang="en-US" dirty="0">
                <a:solidFill>
                  <a:srgbClr val="00B050"/>
                </a:solidFill>
              </a:rPr>
              <a:t>地址</a:t>
            </a:r>
            <a:endParaRPr lang="en-US" dirty="0"/>
          </a:p>
          <a:p>
            <a:pPr marL="952500" lvl="2"/>
            <a:endParaRPr lang="en-US" dirty="0"/>
          </a:p>
          <a:p>
            <a:pPr marL="152400"/>
            <a:r>
              <a:rPr lang="zh-CN" altLang="en-US" dirty="0"/>
              <a:t>系统为每个进程提供了私有的地址空间</a:t>
            </a:r>
            <a:endParaRPr lang="en-US" dirty="0"/>
          </a:p>
          <a:p>
            <a:pPr marL="438150" lvl="1"/>
            <a:r>
              <a:rPr lang="zh-CN" altLang="en-US" dirty="0">
                <a:solidFill>
                  <a:srgbClr val="00B050"/>
                </a:solidFill>
              </a:rPr>
              <a:t>进程</a:t>
            </a:r>
            <a:r>
              <a:rPr lang="zh-CN" altLang="en-US" dirty="0"/>
              <a:t>，就是正在运行的一个程序的实</a:t>
            </a:r>
            <a:r>
              <a:rPr lang="zh-CN" altLang="en-US" dirty="0"/>
              <a:t>例</a:t>
            </a:r>
            <a:endParaRPr lang="zh-CN" altLang="en-US" dirty="0"/>
          </a:p>
          <a:p>
            <a:pPr marL="438150" lvl="1"/>
            <a:r>
              <a:rPr lang="zh-CN" altLang="en-US" dirty="0"/>
              <a:t>因此</a:t>
            </a:r>
            <a:r>
              <a:rPr lang="en-US" dirty="0"/>
              <a:t>, </a:t>
            </a:r>
            <a:r>
              <a:rPr lang="zh-CN" altLang="en-US" dirty="0"/>
              <a:t>一个程序只能修改自己的数据（通过私有的地址</a:t>
            </a:r>
            <a:r>
              <a:rPr lang="zh-CN" altLang="en-US" dirty="0"/>
              <a:t>空间）</a:t>
            </a:r>
            <a:endParaRPr lang="zh-CN" altLang="en-US" dirty="0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2282825" y="1470373"/>
            <a:ext cx="6407150" cy="1200100"/>
            <a:chOff x="-2" y="171"/>
            <a:chExt cx="4036" cy="755"/>
          </a:xfrm>
        </p:grpSpPr>
        <p:sp>
          <p:nvSpPr>
            <p:cNvPr id="44039" name="Rectangle 6"/>
            <p:cNvSpPr/>
            <p:nvPr/>
          </p:nvSpPr>
          <p:spPr bwMode="auto">
            <a:xfrm>
              <a:off x="22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0" name="Rectangle 7"/>
            <p:cNvSpPr/>
            <p:nvPr/>
          </p:nvSpPr>
          <p:spPr bwMode="auto">
            <a:xfrm>
              <a:off x="46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1" name="Rectangle 8"/>
            <p:cNvSpPr/>
            <p:nvPr/>
          </p:nvSpPr>
          <p:spPr bwMode="auto">
            <a:xfrm>
              <a:off x="70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2" name="Rectangle 9"/>
            <p:cNvSpPr/>
            <p:nvPr/>
          </p:nvSpPr>
          <p:spPr bwMode="auto">
            <a:xfrm>
              <a:off x="94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3" name="Rectangle 10"/>
            <p:cNvSpPr/>
            <p:nvPr/>
          </p:nvSpPr>
          <p:spPr bwMode="auto">
            <a:xfrm>
              <a:off x="118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4" name="Rectangle 11"/>
            <p:cNvSpPr/>
            <p:nvPr/>
          </p:nvSpPr>
          <p:spPr bwMode="auto">
            <a:xfrm>
              <a:off x="1338" y="520"/>
              <a:ext cx="96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5" name="Rectangle 12"/>
            <p:cNvSpPr/>
            <p:nvPr/>
          </p:nvSpPr>
          <p:spPr bwMode="auto">
            <a:xfrm>
              <a:off x="238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6" name="Rectangle 13"/>
            <p:cNvSpPr/>
            <p:nvPr/>
          </p:nvSpPr>
          <p:spPr bwMode="auto">
            <a:xfrm>
              <a:off x="262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7" name="Rectangle 14"/>
            <p:cNvSpPr/>
            <p:nvPr/>
          </p:nvSpPr>
          <p:spPr bwMode="auto">
            <a:xfrm>
              <a:off x="286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8" name="Rectangle 15"/>
            <p:cNvSpPr/>
            <p:nvPr/>
          </p:nvSpPr>
          <p:spPr bwMode="auto">
            <a:xfrm>
              <a:off x="310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49" name="Rectangle 16"/>
            <p:cNvSpPr/>
            <p:nvPr/>
          </p:nvSpPr>
          <p:spPr bwMode="auto">
            <a:xfrm>
              <a:off x="334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50" name="Rectangle 17"/>
            <p:cNvSpPr/>
            <p:nvPr/>
          </p:nvSpPr>
          <p:spPr bwMode="auto">
            <a:xfrm>
              <a:off x="3582" y="520"/>
              <a:ext cx="80" cy="406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4051" name="Rectangle 18"/>
            <p:cNvSpPr/>
            <p:nvPr/>
          </p:nvSpPr>
          <p:spPr bwMode="auto">
            <a:xfrm>
              <a:off x="1332" y="484"/>
              <a:ext cx="968" cy="296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50800" tIns="50800" rIns="45720" bIns="50800"/>
            <a:lstStyle/>
            <a:p>
              <a:pPr algn="ctr" eaLnBrk="1" hangingPunct="1">
                <a:lnSpc>
                  <a:spcPct val="90000"/>
                </a:lnSpc>
              </a:pPr>
              <a:r>
                <a:rPr lang="en-US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• • •</a:t>
              </a:r>
              <a:endParaRPr lang="en-US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4052" name="Rectangle 19"/>
            <p:cNvSpPr/>
            <p:nvPr/>
          </p:nvSpPr>
          <p:spPr bwMode="auto">
            <a:xfrm rot="-2580000">
              <a:off x="-2" y="171"/>
              <a:ext cx="579" cy="22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none" lIns="50800" tIns="50800" rIns="45720" bIns="50800">
              <a:spAutoFit/>
            </a:bodyPr>
            <a:lstStyle/>
            <a:p>
              <a:pPr eaLnBrk="1" hangingPunct="1">
                <a:lnSpc>
                  <a:spcPct val="90000"/>
                </a:lnSpc>
              </a:pP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00•••0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44053" name="Rectangle 20"/>
            <p:cNvSpPr/>
            <p:nvPr/>
          </p:nvSpPr>
          <p:spPr bwMode="auto">
            <a:xfrm rot="-2580000">
              <a:off x="3455" y="171"/>
              <a:ext cx="579" cy="22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none" lIns="50800" tIns="50800" rIns="45720" bIns="50800">
              <a:spAutoFit/>
            </a:bodyPr>
            <a:lstStyle/>
            <a:p>
              <a:pPr eaLnBrk="1" hangingPunct="1">
                <a:lnSpc>
                  <a:spcPct val="90000"/>
                </a:lnSpc>
              </a:pPr>
              <a:r>
                <a: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FF•••F</a:t>
              </a:r>
              <a:endPara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/>
              <a:t>Machine Words </a:t>
            </a:r>
            <a:r>
              <a:rPr lang="zh-CN" altLang="en-US"/>
              <a:t>机器的字</a:t>
            </a:r>
            <a:endParaRPr lang="zh-CN" altLang="en-US"/>
          </a:p>
        </p:txBody>
      </p:sp>
      <p:sp>
        <p:nvSpPr>
          <p:cNvPr id="45061" name="Rectangle 4"/>
          <p:cNvSpPr>
            <a:spLocks noGrp="1" noChangeArrowheads="1"/>
          </p:cNvSpPr>
          <p:nvPr>
            <p:ph idx="1"/>
          </p:nvPr>
        </p:nvSpPr>
        <p:spPr>
          <a:xfrm>
            <a:off x="1920875" y="1362075"/>
            <a:ext cx="8645525" cy="4972050"/>
          </a:xfrm>
        </p:spPr>
        <p:txBody>
          <a:bodyPr/>
          <a:lstStyle/>
          <a:p>
            <a:pPr eaLnBrk="1" hangingPunct="1"/>
            <a:r>
              <a:rPr lang="en-US" dirty="0"/>
              <a:t>Any given computer has a “Word Size”</a:t>
            </a:r>
            <a:r>
              <a:rPr lang="zh-CN" altLang="en-US" dirty="0">
                <a:ea typeface="SimSun" charset="0"/>
              </a:rPr>
              <a:t>（字长）</a:t>
            </a:r>
            <a:endParaRPr lang="en-US" dirty="0"/>
          </a:p>
          <a:p>
            <a:pPr marL="552450" lvl="1" eaLnBrk="1" hangingPunct="1"/>
            <a:r>
              <a:rPr lang="zh-CN" altLang="en-US" dirty="0"/>
              <a:t>通常指单个寄存器的长度（</a:t>
            </a:r>
            <a:r>
              <a:rPr lang="en-US" altLang="zh-CN" dirty="0"/>
              <a:t>ALU</a:t>
            </a:r>
            <a:r>
              <a:rPr lang="zh-CN" altLang="en-US" dirty="0"/>
              <a:t>的数据总线宽度）</a:t>
            </a:r>
            <a:endParaRPr lang="en-US" dirty="0"/>
          </a:p>
          <a:p>
            <a:pPr marL="1009650" lvl="2" eaLnBrk="1" hangingPunct="1"/>
            <a:r>
              <a:rPr lang="zh-CN" altLang="en-US" dirty="0"/>
              <a:t>以及地址的宽度（地址总线宽度）</a:t>
            </a:r>
            <a:endParaRPr lang="en-US" dirty="0"/>
          </a:p>
          <a:p>
            <a:pPr marL="552450" lvl="1" eaLnBrk="1" hangingPunct="1"/>
            <a:r>
              <a:rPr lang="zh-CN" altLang="en-US" dirty="0"/>
              <a:t>以前，大部分机器的字长是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dirty="0"/>
              <a:t>(4 </a:t>
            </a:r>
            <a:r>
              <a:rPr lang="zh-CN" altLang="en-US" dirty="0"/>
              <a:t>字节</a:t>
            </a:r>
            <a:r>
              <a:rPr lang="en-US" dirty="0"/>
              <a:t>) </a:t>
            </a:r>
            <a:endParaRPr lang="en-US" dirty="0"/>
          </a:p>
          <a:p>
            <a:pPr marL="838200" lvl="2" eaLnBrk="1" hangingPunct="1"/>
            <a:r>
              <a:rPr lang="zh-CN" altLang="en-US" dirty="0"/>
              <a:t>地址空间只有</a:t>
            </a:r>
            <a:r>
              <a:rPr lang="en-US" dirty="0"/>
              <a:t>4GB (2</a:t>
            </a:r>
            <a:r>
              <a:rPr lang="en-US" baseline="30000" dirty="0"/>
              <a:t>32</a:t>
            </a:r>
            <a:r>
              <a:rPr lang="en-US" dirty="0"/>
              <a:t> bytes)</a:t>
            </a:r>
            <a:endParaRPr lang="en-US" dirty="0"/>
          </a:p>
          <a:p>
            <a:pPr marL="438150" lvl="1"/>
            <a:endParaRPr lang="en-US" dirty="0"/>
          </a:p>
          <a:p>
            <a:pPr marL="438150" lvl="1"/>
            <a:r>
              <a:rPr lang="zh-CN" altLang="en-US" dirty="0"/>
              <a:t>现在，主流机器是</a:t>
            </a:r>
            <a:r>
              <a:rPr lang="en-US" altLang="zh-CN" dirty="0"/>
              <a:t>64</a:t>
            </a:r>
            <a:r>
              <a:rPr lang="zh-CN" altLang="en-US" dirty="0"/>
              <a:t>位</a:t>
            </a:r>
            <a:endParaRPr lang="en-US" dirty="0"/>
          </a:p>
          <a:p>
            <a:pPr marL="838200" lvl="2" eaLnBrk="1" hangingPunct="1"/>
            <a:r>
              <a:rPr lang="zh-CN" altLang="en-US" dirty="0"/>
              <a:t>理论上</a:t>
            </a:r>
            <a:r>
              <a:rPr lang="en-US" altLang="zh-CN" dirty="0"/>
              <a:t>，</a:t>
            </a:r>
            <a:r>
              <a:rPr lang="zh-CN" altLang="en-US" dirty="0"/>
              <a:t>可以有</a:t>
            </a:r>
            <a:r>
              <a:rPr lang="en-US" dirty="0"/>
              <a:t>18 EB (</a:t>
            </a:r>
            <a:r>
              <a:rPr lang="en-US" dirty="0" err="1"/>
              <a:t>exabytes</a:t>
            </a:r>
            <a:r>
              <a:rPr lang="en-US" dirty="0"/>
              <a:t>) </a:t>
            </a:r>
            <a:r>
              <a:rPr lang="zh-CN" altLang="en-US" dirty="0"/>
              <a:t>可寻址的内存容量</a:t>
            </a:r>
            <a:endParaRPr lang="en-US" dirty="0"/>
          </a:p>
          <a:p>
            <a:pPr marL="838200" lvl="2" eaLnBrk="1" hangingPunct="1"/>
            <a:r>
              <a:rPr lang="en-US" dirty="0"/>
              <a:t>That’s 18.4 </a:t>
            </a:r>
            <a:r>
              <a:rPr lang="en-US"/>
              <a:t>X 10</a:t>
            </a:r>
            <a:r>
              <a:rPr lang="en-US" baseline="30000"/>
              <a:t>18</a:t>
            </a:r>
            <a:endParaRPr lang="en-US" baseline="30000" dirty="0"/>
          </a:p>
          <a:p>
            <a:pPr marL="552450" lvl="1" eaLnBrk="1" hangingPunct="1"/>
            <a:endParaRPr lang="en-US" dirty="0"/>
          </a:p>
          <a:p>
            <a:pPr marL="552450" lvl="1" eaLnBrk="1" hangingPunct="1"/>
            <a:r>
              <a:rPr lang="zh-CN" altLang="en-US" dirty="0"/>
              <a:t>机器支持多字节数据</a:t>
            </a:r>
            <a:endParaRPr lang="en-US" dirty="0"/>
          </a:p>
          <a:p>
            <a:pPr marL="838200" lvl="2" eaLnBrk="1" hangingPunct="1"/>
            <a:r>
              <a:rPr lang="en-US" dirty="0"/>
              <a:t>Fractions or multiples of word size</a:t>
            </a:r>
            <a:r>
              <a:rPr lang="zh-CN" altLang="en-US" dirty="0">
                <a:ea typeface="SimSun" charset="0"/>
              </a:rPr>
              <a:t>（</a:t>
            </a:r>
            <a:r>
              <a:rPr lang="en-US" altLang="zh-CN" dirty="0">
                <a:ea typeface="SimSun" charset="0"/>
              </a:rPr>
              <a:t>64</a:t>
            </a:r>
            <a:r>
              <a:rPr lang="zh-CN" altLang="en-US" dirty="0">
                <a:ea typeface="SimSun" charset="0"/>
              </a:rPr>
              <a:t>位：</a:t>
            </a:r>
            <a:r>
              <a:rPr lang="en-US" altLang="zh-CN" dirty="0">
                <a:ea typeface="SimSun" charset="0"/>
              </a:rPr>
              <a:t>1</a:t>
            </a:r>
            <a:r>
              <a:rPr lang="zh-CN" altLang="en-US" dirty="0">
                <a:ea typeface="SimSun" charset="0"/>
              </a:rPr>
              <a:t>、</a:t>
            </a:r>
            <a:r>
              <a:rPr lang="en-US" altLang="zh-CN" dirty="0">
                <a:ea typeface="SimSun" charset="0"/>
              </a:rPr>
              <a:t>2</a:t>
            </a:r>
            <a:r>
              <a:rPr lang="zh-CN" altLang="en-US" dirty="0">
                <a:ea typeface="SimSun" charset="0"/>
              </a:rPr>
              <a:t>、</a:t>
            </a:r>
            <a:r>
              <a:rPr lang="en-US" altLang="zh-CN" dirty="0">
                <a:ea typeface="SimSun" charset="0"/>
              </a:rPr>
              <a:t>4</a:t>
            </a:r>
            <a:r>
              <a:rPr lang="zh-CN" altLang="en-US" dirty="0">
                <a:ea typeface="SimSun" charset="0"/>
              </a:rPr>
              <a:t>、</a:t>
            </a:r>
            <a:r>
              <a:rPr lang="en-US" altLang="zh-CN" dirty="0">
                <a:ea typeface="SimSun" charset="0"/>
              </a:rPr>
              <a:t>8</a:t>
            </a:r>
            <a:r>
              <a:rPr lang="zh-CN" altLang="en-US" dirty="0">
                <a:ea typeface="SimSun" charset="0"/>
              </a:rPr>
              <a:t>字节数据）</a:t>
            </a:r>
            <a:endParaRPr lang="en-US" dirty="0"/>
          </a:p>
          <a:p>
            <a:pPr marL="838200" lvl="2" eaLnBrk="1" hangingPunct="1"/>
            <a:r>
              <a:rPr lang="zh-CN" altLang="en-US" dirty="0"/>
              <a:t>总是字节的</a:t>
            </a:r>
            <a:r>
              <a:rPr lang="zh-CN" altLang="en-US" dirty="0"/>
              <a:t>整数倍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zh-CN" altLang="en-US" dirty="0"/>
              <a:t>例子：数据的多字节</a:t>
            </a:r>
            <a:r>
              <a:rPr lang="zh-CN" altLang="en-US" dirty="0"/>
              <a:t>形式</a:t>
            </a:r>
            <a:endParaRPr lang="zh-CN" altLang="en-US" dirty="0"/>
          </a:p>
        </p:txBody>
      </p:sp>
      <p:graphicFrame>
        <p:nvGraphicFramePr>
          <p:cNvPr id="12292" name="Group 4"/>
          <p:cNvGraphicFramePr>
            <a:graphicFrameLocks noGrp="1"/>
          </p:cNvGraphicFramePr>
          <p:nvPr/>
        </p:nvGraphicFramePr>
        <p:xfrm>
          <a:off x="3073400" y="1524000"/>
          <a:ext cx="6032500" cy="4187190"/>
        </p:xfrm>
        <a:graphic>
          <a:graphicData uri="http://schemas.openxmlformats.org/drawingml/2006/table">
            <a:tbl>
              <a:tblPr/>
              <a:tblGrid>
                <a:gridCol w="1651000"/>
                <a:gridCol w="1460500"/>
                <a:gridCol w="1460500"/>
                <a:gridCol w="1460500"/>
              </a:tblGrid>
              <a:tr h="650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C Data Type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/>
                        <a:ea typeface="Arial Narrow Bold" panose="020B0706020202030204" charset="0"/>
                        <a:cs typeface="Calibri"/>
                        <a:sym typeface="Arial Narrow Bold" panose="020B070602020203020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Typical 32-bit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/>
                        <a:ea typeface="Arial Narrow Bold" panose="020B0706020202030204" charset="0"/>
                        <a:cs typeface="Calibri"/>
                        <a:sym typeface="Arial Narrow Bold" panose="020B070602020203020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Typical 64-bit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/>
                        <a:ea typeface="Arial Narrow Bold" panose="020B0706020202030204" charset="0"/>
                        <a:cs typeface="Calibri"/>
                        <a:sym typeface="Arial Narrow Bold" panose="020B070602020203020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panose="020B0706020202030204" charset="0"/>
                          <a:cs typeface="Calibri"/>
                          <a:sym typeface="Arial Narrow Bold" panose="020B0706020202030204" charset="0"/>
                        </a:rPr>
                        <a:t>x86-64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/>
                        <a:ea typeface="Arial Narrow Bold" panose="020B0706020202030204" charset="0"/>
                        <a:cs typeface="Calibri"/>
                        <a:sym typeface="Arial Narrow Bold" panose="020B070602020203020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char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short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int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long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float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double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609020205020404"/>
                          <a:ea typeface="Arial Narrow" panose="020B0706020202030204" pitchFamily="34" charset="0"/>
                          <a:cs typeface="Courier New" panose="02070609020205020404"/>
                          <a:sym typeface="Arial Narrow" panose="020B0706020202030204" pitchFamily="34" charset="0"/>
                        </a:rPr>
                        <a:t>long double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/>
                        <a:ea typeface="Arial Narrow" panose="020B0706020202030204" pitchFamily="34" charset="0"/>
                        <a:cs typeface="Courier New" panose="02070609020205020404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panose="020B0706020202030204" pitchFamily="34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panose="020B0706020202030204" pitchFamily="34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10/16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pointer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panose="020B0706020202030204" pitchFamily="34" charset="0"/>
                          <a:cs typeface="Calibri"/>
                          <a:sym typeface="Arial Narrow" panose="020B0706020202030204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panose="020B0706020202030204" pitchFamily="34" charset="0"/>
                        <a:cs typeface="Calibri"/>
                        <a:sym typeface="Arial Narrow" panose="020B070602020203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 sz="2800"/>
              <a:t>Word-Oriented Memory Organization</a:t>
            </a:r>
            <a:br>
              <a:rPr lang="en-US" sz="2800"/>
            </a:br>
            <a:r>
              <a:rPr lang="zh-CN" altLang="en-US" sz="2800"/>
              <a:t>以字为单位的内存</a:t>
            </a:r>
            <a:r>
              <a:rPr lang="zh-CN" altLang="en-US" sz="2800"/>
              <a:t>组织视图</a:t>
            </a:r>
            <a:endParaRPr lang="zh-CN" altLang="en-US" sz="2800"/>
          </a:p>
        </p:txBody>
      </p:sp>
      <p:sp>
        <p:nvSpPr>
          <p:cNvPr id="46085" name="Rectangle 4"/>
          <p:cNvSpPr>
            <a:spLocks noGrp="1" noChangeArrowheads="1"/>
          </p:cNvSpPr>
          <p:nvPr>
            <p:ph idx="1"/>
          </p:nvPr>
        </p:nvSpPr>
        <p:spPr>
          <a:xfrm>
            <a:off x="1920875" y="1362075"/>
            <a:ext cx="4822190" cy="4972050"/>
          </a:xfrm>
        </p:spPr>
        <p:txBody>
          <a:bodyPr/>
          <a:lstStyle/>
          <a:p>
            <a:pPr eaLnBrk="1" hangingPunct="1"/>
            <a:r>
              <a:rPr lang="zh-CN" altLang="en-US" dirty="0"/>
              <a:t>仍然使用</a:t>
            </a:r>
            <a:r>
              <a:rPr lang="zh-CN" altLang="en-US" dirty="0">
                <a:solidFill>
                  <a:srgbClr val="FF0000"/>
                </a:solidFill>
              </a:rPr>
              <a:t>字节地址</a:t>
            </a:r>
            <a:endParaRPr lang="en-US" dirty="0">
              <a:solidFill>
                <a:srgbClr val="00B050"/>
              </a:solidFill>
            </a:endParaRPr>
          </a:p>
          <a:p>
            <a:pPr marL="552450" lvl="1" eaLnBrk="1" hangingPunct="1"/>
            <a:r>
              <a:rPr lang="zh-CN" altLang="en-US" dirty="0"/>
              <a:t>用字中的第一个字节所在的地址</a:t>
            </a:r>
            <a:endParaRPr lang="zh-CN" altLang="en-US" dirty="0"/>
          </a:p>
          <a:p>
            <a:pPr marL="1009650" lvl="2" eaLnBrk="1" hangingPunct="1"/>
            <a:r>
              <a:rPr lang="zh-CN" altLang="en-US" dirty="0">
                <a:solidFill>
                  <a:srgbClr val="00B050"/>
                </a:solidFill>
              </a:rPr>
              <a:t>什么是第一个字节？</a:t>
            </a:r>
            <a:endParaRPr lang="zh-CN" altLang="en-US" dirty="0">
              <a:solidFill>
                <a:srgbClr val="00B050"/>
              </a:solidFill>
            </a:endParaRPr>
          </a:p>
          <a:p>
            <a:pPr marL="552450" lvl="1" eaLnBrk="1" hangingPunct="1"/>
            <a:r>
              <a:rPr lang="zh-CN" altLang="en-US" dirty="0"/>
              <a:t>相邻</a:t>
            </a:r>
            <a:r>
              <a:rPr lang="zh-CN" altLang="en-US" dirty="0"/>
              <a:t>的字的地址之间相差</a:t>
            </a:r>
            <a:r>
              <a:rPr lang="en-US" dirty="0"/>
              <a:t> </a:t>
            </a:r>
            <a:endParaRPr lang="en-US" dirty="0"/>
          </a:p>
          <a:p>
            <a:pPr marL="1009650" lvl="2" eaLnBrk="1" hangingPunct="1"/>
            <a:r>
              <a:rPr lang="en-US" dirty="0"/>
              <a:t>4</a:t>
            </a:r>
            <a:r>
              <a:rPr lang="zh-CN" altLang="en-US" dirty="0"/>
              <a:t>字节</a:t>
            </a:r>
            <a:r>
              <a:rPr lang="en-US" dirty="0"/>
              <a:t> (32</a:t>
            </a:r>
            <a:r>
              <a:rPr lang="zh-CN" altLang="en-US" dirty="0"/>
              <a:t>位机器</a:t>
            </a:r>
            <a:r>
              <a:rPr lang="en-US" dirty="0"/>
              <a:t>) </a:t>
            </a:r>
            <a:endParaRPr lang="en-US" dirty="0"/>
          </a:p>
          <a:p>
            <a:pPr marL="1009650" lvl="2" eaLnBrk="1" hangingPunct="1"/>
            <a:r>
              <a:rPr lang="en-US" dirty="0"/>
              <a:t>8</a:t>
            </a:r>
            <a:r>
              <a:rPr lang="zh-CN" altLang="en-US" dirty="0"/>
              <a:t>字节</a:t>
            </a:r>
            <a:r>
              <a:rPr lang="en-US" dirty="0"/>
              <a:t> (64</a:t>
            </a:r>
            <a:r>
              <a:rPr lang="zh-CN" altLang="en-US" dirty="0"/>
              <a:t>位机器</a:t>
            </a:r>
            <a:r>
              <a:rPr lang="en-US" dirty="0"/>
              <a:t>)</a:t>
            </a:r>
            <a:endParaRPr lang="en-US" dirty="0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6772275" y="1143000"/>
            <a:ext cx="3414713" cy="5613400"/>
            <a:chOff x="18" y="0"/>
            <a:chExt cx="2151" cy="3536"/>
          </a:xfrm>
        </p:grpSpPr>
        <p:sp>
          <p:nvSpPr>
            <p:cNvPr id="46087" name="Rectangle 6"/>
            <p:cNvSpPr/>
            <p:nvPr/>
          </p:nvSpPr>
          <p:spPr bwMode="auto">
            <a:xfrm>
              <a:off x="1253" y="41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88" name="Rectangle 7"/>
            <p:cNvSpPr/>
            <p:nvPr/>
          </p:nvSpPr>
          <p:spPr bwMode="auto">
            <a:xfrm>
              <a:off x="1253" y="610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89" name="Rectangle 8"/>
            <p:cNvSpPr/>
            <p:nvPr/>
          </p:nvSpPr>
          <p:spPr bwMode="auto">
            <a:xfrm>
              <a:off x="1253" y="802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0" name="Rectangle 9"/>
            <p:cNvSpPr/>
            <p:nvPr/>
          </p:nvSpPr>
          <p:spPr bwMode="auto">
            <a:xfrm>
              <a:off x="1253" y="994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1" name="Rectangle 10"/>
            <p:cNvSpPr/>
            <p:nvPr/>
          </p:nvSpPr>
          <p:spPr bwMode="auto">
            <a:xfrm>
              <a:off x="1253" y="1186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2" name="Rectangle 11"/>
            <p:cNvSpPr/>
            <p:nvPr/>
          </p:nvSpPr>
          <p:spPr bwMode="auto">
            <a:xfrm>
              <a:off x="1253" y="137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3" name="Rectangle 12"/>
            <p:cNvSpPr/>
            <p:nvPr/>
          </p:nvSpPr>
          <p:spPr bwMode="auto">
            <a:xfrm>
              <a:off x="1253" y="1570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4" name="Rectangle 13"/>
            <p:cNvSpPr/>
            <p:nvPr/>
          </p:nvSpPr>
          <p:spPr bwMode="auto">
            <a:xfrm>
              <a:off x="1253" y="1762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5" name="Rectangle 14"/>
            <p:cNvSpPr/>
            <p:nvPr/>
          </p:nvSpPr>
          <p:spPr bwMode="auto">
            <a:xfrm>
              <a:off x="1253" y="1954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6" name="Rectangle 15"/>
            <p:cNvSpPr/>
            <p:nvPr/>
          </p:nvSpPr>
          <p:spPr bwMode="auto">
            <a:xfrm>
              <a:off x="1253" y="2146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7" name="Rectangle 16"/>
            <p:cNvSpPr/>
            <p:nvPr/>
          </p:nvSpPr>
          <p:spPr bwMode="auto">
            <a:xfrm>
              <a:off x="1253" y="233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8" name="Rectangle 17"/>
            <p:cNvSpPr/>
            <p:nvPr/>
          </p:nvSpPr>
          <p:spPr bwMode="auto">
            <a:xfrm>
              <a:off x="1253" y="2530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099" name="Rectangle 18"/>
            <p:cNvSpPr/>
            <p:nvPr/>
          </p:nvSpPr>
          <p:spPr bwMode="auto">
            <a:xfrm>
              <a:off x="1733" y="418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0000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0" name="Rectangle 19"/>
            <p:cNvSpPr/>
            <p:nvPr/>
          </p:nvSpPr>
          <p:spPr bwMode="auto">
            <a:xfrm>
              <a:off x="1733" y="610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0001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1" name="Rectangle 20"/>
            <p:cNvSpPr/>
            <p:nvPr/>
          </p:nvSpPr>
          <p:spPr bwMode="auto">
            <a:xfrm>
              <a:off x="1733" y="802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0002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2" name="Rectangle 21"/>
            <p:cNvSpPr/>
            <p:nvPr/>
          </p:nvSpPr>
          <p:spPr bwMode="auto">
            <a:xfrm>
              <a:off x="1733" y="994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0003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3" name="Rectangle 22"/>
            <p:cNvSpPr/>
            <p:nvPr/>
          </p:nvSpPr>
          <p:spPr bwMode="auto">
            <a:xfrm>
              <a:off x="1733" y="1186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0004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4" name="Rectangle 23"/>
            <p:cNvSpPr/>
            <p:nvPr/>
          </p:nvSpPr>
          <p:spPr bwMode="auto">
            <a:xfrm>
              <a:off x="1733" y="1378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0005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5" name="Rectangle 24"/>
            <p:cNvSpPr/>
            <p:nvPr/>
          </p:nvSpPr>
          <p:spPr bwMode="auto">
            <a:xfrm>
              <a:off x="1733" y="1570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0006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6" name="Rectangle 25"/>
            <p:cNvSpPr/>
            <p:nvPr/>
          </p:nvSpPr>
          <p:spPr bwMode="auto">
            <a:xfrm>
              <a:off x="1733" y="1762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0007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7" name="Rectangle 26"/>
            <p:cNvSpPr/>
            <p:nvPr/>
          </p:nvSpPr>
          <p:spPr bwMode="auto">
            <a:xfrm>
              <a:off x="1733" y="1954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0008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8" name="Rectangle 27"/>
            <p:cNvSpPr/>
            <p:nvPr/>
          </p:nvSpPr>
          <p:spPr bwMode="auto">
            <a:xfrm>
              <a:off x="1733" y="2146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0009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09" name="Rectangle 28"/>
            <p:cNvSpPr/>
            <p:nvPr/>
          </p:nvSpPr>
          <p:spPr bwMode="auto">
            <a:xfrm>
              <a:off x="1733" y="2338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0010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10" name="Rectangle 29"/>
            <p:cNvSpPr/>
            <p:nvPr/>
          </p:nvSpPr>
          <p:spPr bwMode="auto">
            <a:xfrm>
              <a:off x="1733" y="2530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0011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grpSp>
          <p:nvGrpSpPr>
            <p:cNvPr id="3" name="Group 30"/>
            <p:cNvGrpSpPr/>
            <p:nvPr/>
          </p:nvGrpSpPr>
          <p:grpSpPr bwMode="auto">
            <a:xfrm>
              <a:off x="657" y="418"/>
              <a:ext cx="384" cy="3072"/>
              <a:chOff x="0" y="0"/>
              <a:chExt cx="384" cy="3072"/>
            </a:xfrm>
          </p:grpSpPr>
          <p:sp>
            <p:nvSpPr>
              <p:cNvPr id="46155" name="Rectangle 31"/>
              <p:cNvSpPr/>
              <p:nvPr/>
            </p:nvSpPr>
            <p:spPr bwMode="auto">
              <a:xfrm>
                <a:off x="0" y="1536"/>
                <a:ext cx="384" cy="15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6156" name="Rectangle 32"/>
              <p:cNvSpPr/>
              <p:nvPr/>
            </p:nvSpPr>
            <p:spPr bwMode="auto">
              <a:xfrm>
                <a:off x="0" y="0"/>
                <a:ext cx="384" cy="15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</p:grpSp>
        <p:grpSp>
          <p:nvGrpSpPr>
            <p:cNvPr id="4" name="Group 33"/>
            <p:cNvGrpSpPr/>
            <p:nvPr/>
          </p:nvGrpSpPr>
          <p:grpSpPr bwMode="auto">
            <a:xfrm>
              <a:off x="81" y="418"/>
              <a:ext cx="384" cy="3072"/>
              <a:chOff x="0" y="0"/>
              <a:chExt cx="384" cy="3072"/>
            </a:xfrm>
          </p:grpSpPr>
          <p:sp>
            <p:nvSpPr>
              <p:cNvPr id="46151" name="Rectangle 34"/>
              <p:cNvSpPr/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6152" name="Rectangle 35"/>
              <p:cNvSpPr/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6153" name="Rectangle 36"/>
              <p:cNvSpPr/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6154" name="Rectangle 37"/>
              <p:cNvSpPr/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</p:grpSp>
        <p:sp>
          <p:nvSpPr>
            <p:cNvPr id="46113" name="Rectangle 38"/>
            <p:cNvSpPr/>
            <p:nvPr/>
          </p:nvSpPr>
          <p:spPr bwMode="auto">
            <a:xfrm>
              <a:off x="18" y="0"/>
              <a:ext cx="508" cy="413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6114" name="Rectangle 39"/>
            <p:cNvSpPr/>
            <p:nvPr/>
          </p:nvSpPr>
          <p:spPr bwMode="auto">
            <a:xfrm>
              <a:off x="1217" y="82"/>
              <a:ext cx="452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6115" name="Rectangle 40"/>
            <p:cNvSpPr/>
            <p:nvPr/>
          </p:nvSpPr>
          <p:spPr bwMode="auto">
            <a:xfrm>
              <a:off x="1733" y="82"/>
              <a:ext cx="436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6116" name="Rectangle 41"/>
            <p:cNvSpPr/>
            <p:nvPr/>
          </p:nvSpPr>
          <p:spPr bwMode="auto">
            <a:xfrm>
              <a:off x="1253" y="2722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117" name="Rectangle 42"/>
            <p:cNvSpPr/>
            <p:nvPr/>
          </p:nvSpPr>
          <p:spPr bwMode="auto">
            <a:xfrm>
              <a:off x="1733" y="2722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0012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18" name="Rectangle 43"/>
            <p:cNvSpPr/>
            <p:nvPr/>
          </p:nvSpPr>
          <p:spPr bwMode="auto">
            <a:xfrm>
              <a:off x="1253" y="2914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119" name="Rectangle 44"/>
            <p:cNvSpPr/>
            <p:nvPr/>
          </p:nvSpPr>
          <p:spPr bwMode="auto">
            <a:xfrm>
              <a:off x="1733" y="2914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0013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20" name="Rectangle 45"/>
            <p:cNvSpPr/>
            <p:nvPr/>
          </p:nvSpPr>
          <p:spPr bwMode="auto">
            <a:xfrm>
              <a:off x="1253" y="3106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121" name="Rectangle 46"/>
            <p:cNvSpPr/>
            <p:nvPr/>
          </p:nvSpPr>
          <p:spPr bwMode="auto">
            <a:xfrm>
              <a:off x="1733" y="3106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0014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22" name="Rectangle 47"/>
            <p:cNvSpPr/>
            <p:nvPr/>
          </p:nvSpPr>
          <p:spPr bwMode="auto">
            <a:xfrm>
              <a:off x="1253" y="329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6123" name="Rectangle 48"/>
            <p:cNvSpPr/>
            <p:nvPr/>
          </p:nvSpPr>
          <p:spPr bwMode="auto">
            <a:xfrm>
              <a:off x="1733" y="3298"/>
              <a:ext cx="435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0015</a:t>
              </a:r>
              <a:endParaRPr lang="en-US" sz="18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24" name="Rectangle 49"/>
            <p:cNvSpPr/>
            <p:nvPr/>
          </p:nvSpPr>
          <p:spPr bwMode="auto">
            <a:xfrm>
              <a:off x="594" y="0"/>
              <a:ext cx="508" cy="413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64-bit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46125" name="Rectangle 50"/>
            <p:cNvSpPr/>
            <p:nvPr/>
          </p:nvSpPr>
          <p:spPr bwMode="auto">
            <a:xfrm>
              <a:off x="657" y="946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??</a:t>
              </a:r>
              <a:endParaRPr lang="en-US" sz="14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26" name="Rectangle 51"/>
            <p:cNvSpPr/>
            <p:nvPr/>
          </p:nvSpPr>
          <p:spPr bwMode="auto">
            <a:xfrm>
              <a:off x="657" y="2434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??</a:t>
              </a:r>
              <a:endParaRPr lang="en-US" sz="14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27" name="Rectangle 52"/>
            <p:cNvSpPr/>
            <p:nvPr/>
          </p:nvSpPr>
          <p:spPr bwMode="auto">
            <a:xfrm>
              <a:off x="81" y="562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??</a:t>
              </a:r>
              <a:endParaRPr lang="en-US" sz="14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28" name="Rectangle 53"/>
            <p:cNvSpPr/>
            <p:nvPr/>
          </p:nvSpPr>
          <p:spPr bwMode="auto">
            <a:xfrm>
              <a:off x="81" y="1330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??</a:t>
              </a:r>
              <a:endParaRPr lang="en-US" sz="14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29" name="Rectangle 54"/>
            <p:cNvSpPr/>
            <p:nvPr/>
          </p:nvSpPr>
          <p:spPr bwMode="auto">
            <a:xfrm>
              <a:off x="81" y="2098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??</a:t>
              </a:r>
              <a:endParaRPr lang="en-US" sz="14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sp>
          <p:nvSpPr>
            <p:cNvPr id="46130" name="Rectangle 55"/>
            <p:cNvSpPr/>
            <p:nvPr/>
          </p:nvSpPr>
          <p:spPr bwMode="auto">
            <a:xfrm>
              <a:off x="81" y="2866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  <a:endParaRPr lang="en-US" sz="14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panose="02070609020205020404" pitchFamily="49" charset="0"/>
                  <a:ea typeface="Courier New" panose="02070609020205020404" pitchFamily="49" charset="0"/>
                  <a:cs typeface="Courier New" panose="02070609020205020404" pitchFamily="49" charset="0"/>
                  <a:sym typeface="Courier New" panose="02070609020205020404" pitchFamily="49" charset="0"/>
                </a:rPr>
                <a:t>??</a:t>
              </a:r>
              <a:endParaRPr lang="en-US" sz="1400" b="0">
                <a:solidFill>
                  <a:srgbClr val="000066"/>
                </a:solidFill>
                <a:latin typeface="Courier New" panose="02070609020205020404" pitchFamily="49" charset="0"/>
                <a:ea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endParaRPr>
            </a:p>
          </p:txBody>
        </p:sp>
        <p:grpSp>
          <p:nvGrpSpPr>
            <p:cNvPr id="5" name="Group 56"/>
            <p:cNvGrpSpPr/>
            <p:nvPr/>
          </p:nvGrpSpPr>
          <p:grpSpPr bwMode="auto">
            <a:xfrm>
              <a:off x="108" y="829"/>
              <a:ext cx="330" cy="2489"/>
              <a:chOff x="5" y="3"/>
              <a:chExt cx="330" cy="2489"/>
            </a:xfrm>
          </p:grpSpPr>
          <p:grpSp>
            <p:nvGrpSpPr>
              <p:cNvPr id="6" name="Group 57"/>
              <p:cNvGrpSpPr/>
              <p:nvPr/>
            </p:nvGrpSpPr>
            <p:grpSpPr bwMode="auto">
              <a:xfrm>
                <a:off x="5" y="3"/>
                <a:ext cx="330" cy="186"/>
                <a:chOff x="5" y="3"/>
                <a:chExt cx="330" cy="186"/>
              </a:xfrm>
            </p:grpSpPr>
            <p:sp>
              <p:nvSpPr>
                <p:cNvPr id="46149" name="Rectangle 58"/>
                <p:cNvSpPr/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6150" name="Rectangle 59"/>
                <p:cNvSpPr/>
                <p:nvPr/>
              </p:nvSpPr>
              <p:spPr bwMode="auto">
                <a:xfrm>
                  <a:off x="5" y="3"/>
                  <a:ext cx="330" cy="18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rIns="45720" bIns="50800" anchor="ctr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panose="02070609020205020404" pitchFamily="49" charset="0"/>
                      <a:ea typeface="Courier New" panose="02070609020205020404" pitchFamily="49" charset="0"/>
                      <a:cs typeface="Courier New" panose="02070609020205020404" pitchFamily="49" charset="0"/>
                      <a:sym typeface="Courier New" panose="02070609020205020404" pitchFamily="49" charset="0"/>
                    </a:rPr>
                    <a:t>0000</a:t>
                  </a:r>
                  <a:endParaRPr lang="en-US" sz="1400" b="0">
                    <a:solidFill>
                      <a:srgbClr val="000066"/>
                    </a:solidFill>
                    <a:latin typeface="Courier New" panose="02070609020205020404" pitchFamily="49" charset="0"/>
                    <a:ea typeface="Courier New" panose="02070609020205020404" pitchFamily="49" charset="0"/>
                    <a:cs typeface="Courier New" panose="02070609020205020404" pitchFamily="49" charset="0"/>
                    <a:sym typeface="Courier New" panose="02070609020205020404" pitchFamily="49" charset="0"/>
                  </a:endParaRPr>
                </a:p>
              </p:txBody>
            </p:sp>
          </p:grpSp>
          <p:grpSp>
            <p:nvGrpSpPr>
              <p:cNvPr id="7" name="Group 60"/>
              <p:cNvGrpSpPr/>
              <p:nvPr/>
            </p:nvGrpSpPr>
            <p:grpSpPr bwMode="auto">
              <a:xfrm>
                <a:off x="5" y="771"/>
                <a:ext cx="330" cy="185"/>
                <a:chOff x="5" y="3"/>
                <a:chExt cx="330" cy="185"/>
              </a:xfrm>
            </p:grpSpPr>
            <p:sp>
              <p:nvSpPr>
                <p:cNvPr id="46147" name="Rectangle 61"/>
                <p:cNvSpPr/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6148" name="Rectangle 62"/>
                <p:cNvSpPr/>
                <p:nvPr/>
              </p:nvSpPr>
              <p:spPr bwMode="auto">
                <a:xfrm>
                  <a:off x="5" y="3"/>
                  <a:ext cx="330" cy="18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rIns="45720" bIns="50800" anchor="ctr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panose="02070609020205020404" pitchFamily="49" charset="0"/>
                      <a:ea typeface="Courier New" panose="02070609020205020404" pitchFamily="49" charset="0"/>
                      <a:cs typeface="Courier New" panose="02070609020205020404" pitchFamily="49" charset="0"/>
                      <a:sym typeface="Courier New" panose="02070609020205020404" pitchFamily="49" charset="0"/>
                    </a:rPr>
                    <a:t>0004</a:t>
                  </a:r>
                  <a:endParaRPr lang="en-US" sz="1400" b="0">
                    <a:solidFill>
                      <a:srgbClr val="000066"/>
                    </a:solidFill>
                    <a:latin typeface="Courier New" panose="02070609020205020404" pitchFamily="49" charset="0"/>
                    <a:ea typeface="Courier New" panose="02070609020205020404" pitchFamily="49" charset="0"/>
                    <a:cs typeface="Courier New" panose="02070609020205020404" pitchFamily="49" charset="0"/>
                    <a:sym typeface="Courier New" panose="02070609020205020404" pitchFamily="49" charset="0"/>
                  </a:endParaRPr>
                </a:p>
              </p:txBody>
            </p:sp>
          </p:grpSp>
          <p:grpSp>
            <p:nvGrpSpPr>
              <p:cNvPr id="8" name="Group 63"/>
              <p:cNvGrpSpPr/>
              <p:nvPr/>
            </p:nvGrpSpPr>
            <p:grpSpPr bwMode="auto">
              <a:xfrm>
                <a:off x="5" y="1539"/>
                <a:ext cx="330" cy="185"/>
                <a:chOff x="5" y="3"/>
                <a:chExt cx="330" cy="185"/>
              </a:xfrm>
            </p:grpSpPr>
            <p:sp>
              <p:nvSpPr>
                <p:cNvPr id="46145" name="Rectangle 64"/>
                <p:cNvSpPr/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6146" name="Rectangle 65"/>
                <p:cNvSpPr/>
                <p:nvPr/>
              </p:nvSpPr>
              <p:spPr bwMode="auto">
                <a:xfrm>
                  <a:off x="5" y="3"/>
                  <a:ext cx="330" cy="18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rIns="45720" bIns="50800" anchor="ctr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panose="02070609020205020404" pitchFamily="49" charset="0"/>
                      <a:ea typeface="Courier New" panose="02070609020205020404" pitchFamily="49" charset="0"/>
                      <a:cs typeface="Courier New" panose="02070609020205020404" pitchFamily="49" charset="0"/>
                      <a:sym typeface="Courier New" panose="02070609020205020404" pitchFamily="49" charset="0"/>
                    </a:rPr>
                    <a:t>0008</a:t>
                  </a:r>
                  <a:endParaRPr lang="en-US" sz="1400" b="0">
                    <a:solidFill>
                      <a:srgbClr val="000066"/>
                    </a:solidFill>
                    <a:latin typeface="Courier New" panose="02070609020205020404" pitchFamily="49" charset="0"/>
                    <a:ea typeface="Courier New" panose="02070609020205020404" pitchFamily="49" charset="0"/>
                    <a:cs typeface="Courier New" panose="02070609020205020404" pitchFamily="49" charset="0"/>
                    <a:sym typeface="Courier New" panose="02070609020205020404" pitchFamily="49" charset="0"/>
                  </a:endParaRPr>
                </a:p>
              </p:txBody>
            </p:sp>
          </p:grpSp>
          <p:grpSp>
            <p:nvGrpSpPr>
              <p:cNvPr id="9" name="Group 66"/>
              <p:cNvGrpSpPr/>
              <p:nvPr/>
            </p:nvGrpSpPr>
            <p:grpSpPr bwMode="auto">
              <a:xfrm>
                <a:off x="5" y="2307"/>
                <a:ext cx="330" cy="185"/>
                <a:chOff x="5" y="3"/>
                <a:chExt cx="330" cy="185"/>
              </a:xfrm>
            </p:grpSpPr>
            <p:sp>
              <p:nvSpPr>
                <p:cNvPr id="46143" name="Rectangle 67"/>
                <p:cNvSpPr/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6144" name="Rectangle 68"/>
                <p:cNvSpPr/>
                <p:nvPr/>
              </p:nvSpPr>
              <p:spPr bwMode="auto">
                <a:xfrm>
                  <a:off x="5" y="3"/>
                  <a:ext cx="330" cy="18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rIns="45720" bIns="50800" anchor="ctr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panose="02070609020205020404" pitchFamily="49" charset="0"/>
                      <a:ea typeface="Courier New" panose="02070609020205020404" pitchFamily="49" charset="0"/>
                      <a:cs typeface="Courier New" panose="02070609020205020404" pitchFamily="49" charset="0"/>
                      <a:sym typeface="Courier New" panose="02070609020205020404" pitchFamily="49" charset="0"/>
                    </a:rPr>
                    <a:t>0012</a:t>
                  </a:r>
                  <a:endParaRPr lang="en-US" sz="1400" b="0">
                    <a:solidFill>
                      <a:srgbClr val="000066"/>
                    </a:solidFill>
                    <a:latin typeface="Courier New" panose="02070609020205020404" pitchFamily="49" charset="0"/>
                    <a:ea typeface="Courier New" panose="02070609020205020404" pitchFamily="49" charset="0"/>
                    <a:cs typeface="Courier New" panose="02070609020205020404" pitchFamily="49" charset="0"/>
                    <a:sym typeface="Courier New" panose="02070609020205020404" pitchFamily="49" charset="0"/>
                  </a:endParaRPr>
                </a:p>
              </p:txBody>
            </p:sp>
          </p:grpSp>
        </p:grpSp>
        <p:grpSp>
          <p:nvGrpSpPr>
            <p:cNvPr id="10" name="Group 69"/>
            <p:cNvGrpSpPr/>
            <p:nvPr/>
          </p:nvGrpSpPr>
          <p:grpSpPr bwMode="auto">
            <a:xfrm>
              <a:off x="684" y="1213"/>
              <a:ext cx="330" cy="1673"/>
              <a:chOff x="5" y="3"/>
              <a:chExt cx="330" cy="1673"/>
            </a:xfrm>
          </p:grpSpPr>
          <p:grpSp>
            <p:nvGrpSpPr>
              <p:cNvPr id="11" name="Group 70"/>
              <p:cNvGrpSpPr/>
              <p:nvPr/>
            </p:nvGrpSpPr>
            <p:grpSpPr bwMode="auto">
              <a:xfrm>
                <a:off x="5" y="3"/>
                <a:ext cx="330" cy="186"/>
                <a:chOff x="5" y="3"/>
                <a:chExt cx="330" cy="186"/>
              </a:xfrm>
            </p:grpSpPr>
            <p:sp>
              <p:nvSpPr>
                <p:cNvPr id="46137" name="Rectangle 71"/>
                <p:cNvSpPr/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6138" name="Rectangle 72"/>
                <p:cNvSpPr/>
                <p:nvPr/>
              </p:nvSpPr>
              <p:spPr bwMode="auto">
                <a:xfrm>
                  <a:off x="5" y="3"/>
                  <a:ext cx="330" cy="18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rIns="45720" bIns="50800" anchor="ctr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panose="02070609020205020404" pitchFamily="49" charset="0"/>
                      <a:ea typeface="Courier New" panose="02070609020205020404" pitchFamily="49" charset="0"/>
                      <a:cs typeface="Courier New" panose="02070609020205020404" pitchFamily="49" charset="0"/>
                      <a:sym typeface="Courier New" panose="02070609020205020404" pitchFamily="49" charset="0"/>
                    </a:rPr>
                    <a:t>0000</a:t>
                  </a:r>
                  <a:endParaRPr lang="en-US" sz="1400" b="0">
                    <a:solidFill>
                      <a:srgbClr val="000066"/>
                    </a:solidFill>
                    <a:latin typeface="Courier New" panose="02070609020205020404" pitchFamily="49" charset="0"/>
                    <a:ea typeface="Courier New" panose="02070609020205020404" pitchFamily="49" charset="0"/>
                    <a:cs typeface="Courier New" panose="02070609020205020404" pitchFamily="49" charset="0"/>
                    <a:sym typeface="Courier New" panose="02070609020205020404" pitchFamily="49" charset="0"/>
                  </a:endParaRPr>
                </a:p>
              </p:txBody>
            </p:sp>
          </p:grpSp>
          <p:grpSp>
            <p:nvGrpSpPr>
              <p:cNvPr id="12" name="Group 73"/>
              <p:cNvGrpSpPr/>
              <p:nvPr/>
            </p:nvGrpSpPr>
            <p:grpSpPr bwMode="auto">
              <a:xfrm>
                <a:off x="5" y="1491"/>
                <a:ext cx="330" cy="185"/>
                <a:chOff x="5" y="3"/>
                <a:chExt cx="330" cy="185"/>
              </a:xfrm>
            </p:grpSpPr>
            <p:sp>
              <p:nvSpPr>
                <p:cNvPr id="46135" name="Rectangle 74"/>
                <p:cNvSpPr/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46136" name="Rectangle 75"/>
                <p:cNvSpPr/>
                <p:nvPr/>
              </p:nvSpPr>
              <p:spPr bwMode="auto">
                <a:xfrm>
                  <a:off x="5" y="3"/>
                  <a:ext cx="330" cy="18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rIns="45720" bIns="50800" anchor="ctr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panose="02070609020205020404" pitchFamily="49" charset="0"/>
                      <a:ea typeface="Courier New" panose="02070609020205020404" pitchFamily="49" charset="0"/>
                      <a:cs typeface="Courier New" panose="02070609020205020404" pitchFamily="49" charset="0"/>
                      <a:sym typeface="Courier New" panose="02070609020205020404" pitchFamily="49" charset="0"/>
                    </a:rPr>
                    <a:t>0008</a:t>
                  </a:r>
                  <a:endParaRPr lang="en-US" sz="1400" b="0">
                    <a:solidFill>
                      <a:srgbClr val="000066"/>
                    </a:solidFill>
                    <a:latin typeface="Courier New" panose="02070609020205020404" pitchFamily="49" charset="0"/>
                    <a:ea typeface="Courier New" panose="02070609020205020404" pitchFamily="49" charset="0"/>
                    <a:cs typeface="Courier New" panose="02070609020205020404" pitchFamily="49" charset="0"/>
                    <a:sym typeface="Courier New" panose="02070609020205020404" pitchFamily="49" charset="0"/>
                  </a:endParaRPr>
                </a:p>
              </p:txBody>
            </p:sp>
          </p:grpSp>
        </p:grpSp>
      </p:grp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/>
              <a:t>Byte Ordering</a:t>
            </a:r>
            <a:r>
              <a:rPr lang="zh-CN" altLang="en-US"/>
              <a:t>字节的</a:t>
            </a:r>
            <a:r>
              <a:rPr lang="zh-CN" altLang="en-US"/>
              <a:t>顺序</a:t>
            </a:r>
            <a:endParaRPr lang="zh-CN" altLang="en-US"/>
          </a:p>
        </p:txBody>
      </p:sp>
      <p:sp>
        <p:nvSpPr>
          <p:cNvPr id="4813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So, how are the bytes within a multi-byte word ordered in memory?</a:t>
            </a:r>
            <a:endParaRPr lang="en-US" dirty="0"/>
          </a:p>
          <a:p>
            <a:pPr eaLnBrk="1" hangingPunct="1"/>
            <a:r>
              <a:rPr lang="en-US" dirty="0"/>
              <a:t>Conventions</a:t>
            </a:r>
            <a:endParaRPr lang="en-US" dirty="0"/>
          </a:p>
          <a:p>
            <a:pPr marL="552450" lvl="1" eaLnBrk="1" hangingPunct="1"/>
            <a:r>
              <a:rPr lang="en-US" dirty="0"/>
              <a:t>Big </a:t>
            </a:r>
            <a:r>
              <a:rPr lang="en-US" dirty="0" err="1"/>
              <a:t>Endian</a:t>
            </a:r>
            <a:r>
              <a:rPr lang="zh-CN" altLang="en-US" dirty="0" err="1"/>
              <a:t>大端模式</a:t>
            </a:r>
            <a:r>
              <a:rPr lang="en-US" dirty="0"/>
              <a:t>: </a:t>
            </a:r>
            <a:endParaRPr lang="en-US" dirty="0"/>
          </a:p>
          <a:p>
            <a:pPr marL="1009650" lvl="2" eaLnBrk="1" hangingPunct="1"/>
            <a:r>
              <a:rPr lang="en-US" dirty="0"/>
              <a:t>Sun, PPC Mac, Internet</a:t>
            </a:r>
            <a:endParaRPr lang="en-US" dirty="0"/>
          </a:p>
          <a:p>
            <a:pPr marL="1009650" lvl="2" eaLnBrk="1" hangingPunct="1"/>
            <a:r>
              <a:rPr lang="en-US" dirty="0"/>
              <a:t>Least significant byte has highest address</a:t>
            </a:r>
            <a:endParaRPr lang="en-US" dirty="0"/>
          </a:p>
          <a:p>
            <a:pPr marL="552450" lvl="1" eaLnBrk="1" hangingPunct="1"/>
            <a:r>
              <a:rPr lang="en-US" dirty="0"/>
              <a:t>Little Endian</a:t>
            </a:r>
            <a:r>
              <a:rPr lang="zh-CN" altLang="en-US" dirty="0"/>
              <a:t>小端模式</a:t>
            </a:r>
            <a:r>
              <a:rPr lang="en-US" dirty="0"/>
              <a:t>: </a:t>
            </a:r>
            <a:endParaRPr lang="en-US" dirty="0"/>
          </a:p>
          <a:p>
            <a:pPr marL="1009650" lvl="2" eaLnBrk="1" hangingPunct="1"/>
            <a:r>
              <a:rPr lang="en-US" dirty="0"/>
              <a:t>x86, ARM processors running Android, </a:t>
            </a:r>
            <a:r>
              <a:rPr lang="en-US" dirty="0" err="1"/>
              <a:t>iOS</a:t>
            </a:r>
            <a:r>
              <a:rPr lang="en-US" dirty="0"/>
              <a:t>, and Windows</a:t>
            </a:r>
            <a:endParaRPr lang="en-US" dirty="0"/>
          </a:p>
          <a:p>
            <a:pPr marL="1009650" lvl="2" eaLnBrk="1" hangingPunct="1"/>
            <a:r>
              <a:rPr lang="en-US" dirty="0"/>
              <a:t>Least significant byte has lowest address</a:t>
            </a: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zh-CN" altLang="en-US"/>
              <a:t>例子：字节顺序</a:t>
            </a:r>
            <a:endParaRPr lang="zh-CN" altLang="en-US"/>
          </a:p>
        </p:txBody>
      </p:sp>
      <p:sp>
        <p:nvSpPr>
          <p:cNvPr id="49157" name="Rectangle 4"/>
          <p:cNvSpPr>
            <a:spLocks noGrp="1" noChangeArrowheads="1"/>
          </p:cNvSpPr>
          <p:nvPr>
            <p:ph idx="1"/>
          </p:nvPr>
        </p:nvSpPr>
        <p:spPr>
          <a:xfrm>
            <a:off x="1920875" y="1524001"/>
            <a:ext cx="7896225" cy="4810124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  <a:endParaRPr lang="en-US" dirty="0"/>
          </a:p>
          <a:p>
            <a:pPr marL="552450" lvl="1" eaLnBrk="1" hangingPunct="1"/>
            <a:r>
              <a:rPr lang="en-US" dirty="0"/>
              <a:t>Variable </a:t>
            </a:r>
            <a:r>
              <a:rPr lang="en-US" dirty="0" err="1"/>
              <a:t>x</a:t>
            </a:r>
            <a:r>
              <a:rPr lang="en-US" dirty="0"/>
              <a:t> has 4-byte value of 0x01234567</a:t>
            </a:r>
            <a:endParaRPr lang="en-US" dirty="0"/>
          </a:p>
          <a:p>
            <a:pPr marL="552450" lvl="1" eaLnBrk="1" hangingPunct="1"/>
            <a:r>
              <a:rPr lang="en-US" dirty="0"/>
              <a:t>Address given by &amp;</a:t>
            </a:r>
            <a:r>
              <a:rPr lang="en-US" dirty="0" err="1"/>
              <a:t>x</a:t>
            </a:r>
            <a:r>
              <a:rPr lang="en-US" dirty="0"/>
              <a:t> is 0x100</a:t>
            </a:r>
            <a:endParaRPr lang="en-US" dirty="0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3581400" y="3473450"/>
            <a:ext cx="5486400" cy="652463"/>
            <a:chOff x="0" y="-4"/>
            <a:chExt cx="3456" cy="411"/>
          </a:xfrm>
        </p:grpSpPr>
        <p:grpSp>
          <p:nvGrpSpPr>
            <p:cNvPr id="3" name="Group 6"/>
            <p:cNvGrpSpPr/>
            <p:nvPr/>
          </p:nvGrpSpPr>
          <p:grpSpPr bwMode="auto">
            <a:xfrm>
              <a:off x="864" y="-4"/>
              <a:ext cx="432" cy="200"/>
              <a:chOff x="0" y="-4"/>
              <a:chExt cx="432" cy="200"/>
            </a:xfrm>
          </p:grpSpPr>
          <p:sp>
            <p:nvSpPr>
              <p:cNvPr id="49242" name="Rectangle 7"/>
              <p:cNvSpPr/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43" name="Rectangle 8"/>
              <p:cNvSpPr/>
              <p:nvPr/>
            </p:nvSpPr>
            <p:spPr bwMode="auto">
              <a:xfrm>
                <a:off x="0" y="-4"/>
                <a:ext cx="426" cy="20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eaLnBrk="1" hangingPunct="1"/>
                <a:r>
                  <a:rPr lang="en-US" sz="1400" b="0" dirty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0x100</a:t>
                </a:r>
                <a:endParaRPr lang="en-US" sz="1400" b="0" dirty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4" name="Group 9"/>
            <p:cNvGrpSpPr/>
            <p:nvPr/>
          </p:nvGrpSpPr>
          <p:grpSpPr bwMode="auto">
            <a:xfrm>
              <a:off x="1296" y="-4"/>
              <a:ext cx="432" cy="200"/>
              <a:chOff x="0" y="-4"/>
              <a:chExt cx="432" cy="200"/>
            </a:xfrm>
          </p:grpSpPr>
          <p:sp>
            <p:nvSpPr>
              <p:cNvPr id="49240" name="Rectangle 10"/>
              <p:cNvSpPr/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41" name="Rectangle 11"/>
              <p:cNvSpPr/>
              <p:nvPr/>
            </p:nvSpPr>
            <p:spPr bwMode="auto">
              <a:xfrm>
                <a:off x="0" y="-4"/>
                <a:ext cx="426" cy="20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0x101</a:t>
                </a:r>
                <a:endParaRPr lang="en-US" sz="14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5" name="Group 12"/>
            <p:cNvGrpSpPr/>
            <p:nvPr/>
          </p:nvGrpSpPr>
          <p:grpSpPr bwMode="auto">
            <a:xfrm>
              <a:off x="1728" y="-4"/>
              <a:ext cx="432" cy="200"/>
              <a:chOff x="0" y="-4"/>
              <a:chExt cx="432" cy="200"/>
            </a:xfrm>
          </p:grpSpPr>
          <p:sp>
            <p:nvSpPr>
              <p:cNvPr id="49238" name="Rectangle 13"/>
              <p:cNvSpPr/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39" name="Rectangle 14"/>
              <p:cNvSpPr/>
              <p:nvPr/>
            </p:nvSpPr>
            <p:spPr bwMode="auto">
              <a:xfrm>
                <a:off x="0" y="-4"/>
                <a:ext cx="426" cy="20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0x102</a:t>
                </a:r>
                <a:endParaRPr lang="en-US" sz="14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6" name="Group 15"/>
            <p:cNvGrpSpPr/>
            <p:nvPr/>
          </p:nvGrpSpPr>
          <p:grpSpPr bwMode="auto">
            <a:xfrm>
              <a:off x="2160" y="-4"/>
              <a:ext cx="432" cy="200"/>
              <a:chOff x="0" y="-4"/>
              <a:chExt cx="432" cy="200"/>
            </a:xfrm>
          </p:grpSpPr>
          <p:sp>
            <p:nvSpPr>
              <p:cNvPr id="49236" name="Rectangle 16"/>
              <p:cNvSpPr/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37" name="Rectangle 17"/>
              <p:cNvSpPr/>
              <p:nvPr/>
            </p:nvSpPr>
            <p:spPr bwMode="auto">
              <a:xfrm>
                <a:off x="0" y="-4"/>
                <a:ext cx="426" cy="20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0x103</a:t>
                </a:r>
                <a:endParaRPr lang="en-US" sz="14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sp>
          <p:nvSpPr>
            <p:cNvPr id="49220" name="Rectangle 18"/>
            <p:cNvSpPr/>
            <p:nvPr/>
          </p:nvSpPr>
          <p:spPr bwMode="auto">
            <a:xfrm>
              <a:off x="0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9221" name="Rectangle 19"/>
            <p:cNvSpPr/>
            <p:nvPr/>
          </p:nvSpPr>
          <p:spPr bwMode="auto">
            <a:xfrm>
              <a:off x="432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grpSp>
          <p:nvGrpSpPr>
            <p:cNvPr id="7" name="Group 20"/>
            <p:cNvGrpSpPr/>
            <p:nvPr/>
          </p:nvGrpSpPr>
          <p:grpSpPr bwMode="auto">
            <a:xfrm>
              <a:off x="864" y="169"/>
              <a:ext cx="432" cy="238"/>
              <a:chOff x="0" y="-7"/>
              <a:chExt cx="432" cy="238"/>
            </a:xfrm>
          </p:grpSpPr>
          <p:sp>
            <p:nvSpPr>
              <p:cNvPr id="49234" name="Rectangle 21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35" name="Rectangle 22"/>
              <p:cNvSpPr/>
              <p:nvPr/>
            </p:nvSpPr>
            <p:spPr bwMode="auto">
              <a:xfrm>
                <a:off x="84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01</a:t>
                </a:r>
                <a:endPara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8" name="Group 23"/>
            <p:cNvGrpSpPr/>
            <p:nvPr/>
          </p:nvGrpSpPr>
          <p:grpSpPr bwMode="auto">
            <a:xfrm>
              <a:off x="1296" y="169"/>
              <a:ext cx="432" cy="238"/>
              <a:chOff x="0" y="-7"/>
              <a:chExt cx="432" cy="238"/>
            </a:xfrm>
          </p:grpSpPr>
          <p:sp>
            <p:nvSpPr>
              <p:cNvPr id="49232" name="Rectangle 24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33" name="Rectangle 25"/>
              <p:cNvSpPr/>
              <p:nvPr/>
            </p:nvSpPr>
            <p:spPr bwMode="auto">
              <a:xfrm>
                <a:off x="84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23</a:t>
                </a:r>
                <a:endPara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9" name="Group 26"/>
            <p:cNvGrpSpPr/>
            <p:nvPr/>
          </p:nvGrpSpPr>
          <p:grpSpPr bwMode="auto">
            <a:xfrm>
              <a:off x="1728" y="169"/>
              <a:ext cx="432" cy="238"/>
              <a:chOff x="0" y="-7"/>
              <a:chExt cx="432" cy="238"/>
            </a:xfrm>
          </p:grpSpPr>
          <p:sp>
            <p:nvSpPr>
              <p:cNvPr id="49230" name="Rectangle 27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31" name="Rectangle 28"/>
              <p:cNvSpPr/>
              <p:nvPr/>
            </p:nvSpPr>
            <p:spPr bwMode="auto">
              <a:xfrm>
                <a:off x="84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45</a:t>
                </a:r>
                <a:endPara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10" name="Group 29"/>
            <p:cNvGrpSpPr/>
            <p:nvPr/>
          </p:nvGrpSpPr>
          <p:grpSpPr bwMode="auto">
            <a:xfrm>
              <a:off x="2160" y="169"/>
              <a:ext cx="432" cy="238"/>
              <a:chOff x="0" y="-7"/>
              <a:chExt cx="432" cy="238"/>
            </a:xfrm>
          </p:grpSpPr>
          <p:sp>
            <p:nvSpPr>
              <p:cNvPr id="49228" name="Rectangle 30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29" name="Rectangle 31"/>
              <p:cNvSpPr/>
              <p:nvPr/>
            </p:nvSpPr>
            <p:spPr bwMode="auto">
              <a:xfrm>
                <a:off x="84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67</a:t>
                </a:r>
                <a:endPara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sp>
          <p:nvSpPr>
            <p:cNvPr id="49226" name="Rectangle 32"/>
            <p:cNvSpPr/>
            <p:nvPr/>
          </p:nvSpPr>
          <p:spPr bwMode="auto">
            <a:xfrm>
              <a:off x="2592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9227" name="Rectangle 33"/>
            <p:cNvSpPr/>
            <p:nvPr/>
          </p:nvSpPr>
          <p:spPr bwMode="auto">
            <a:xfrm>
              <a:off x="3024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</p:grpSp>
      <p:grpSp>
        <p:nvGrpSpPr>
          <p:cNvPr id="11" name="Group 34"/>
          <p:cNvGrpSpPr/>
          <p:nvPr/>
        </p:nvGrpSpPr>
        <p:grpSpPr bwMode="auto">
          <a:xfrm>
            <a:off x="3581400" y="4311650"/>
            <a:ext cx="5486400" cy="652463"/>
            <a:chOff x="0" y="-4"/>
            <a:chExt cx="3456" cy="411"/>
          </a:xfrm>
        </p:grpSpPr>
        <p:grpSp>
          <p:nvGrpSpPr>
            <p:cNvPr id="12" name="Group 35"/>
            <p:cNvGrpSpPr/>
            <p:nvPr/>
          </p:nvGrpSpPr>
          <p:grpSpPr bwMode="auto">
            <a:xfrm>
              <a:off x="864" y="-4"/>
              <a:ext cx="432" cy="200"/>
              <a:chOff x="0" y="-4"/>
              <a:chExt cx="432" cy="200"/>
            </a:xfrm>
          </p:grpSpPr>
          <p:sp>
            <p:nvSpPr>
              <p:cNvPr id="49214" name="Rectangle 36"/>
              <p:cNvSpPr/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15" name="Rectangle 37"/>
              <p:cNvSpPr/>
              <p:nvPr/>
            </p:nvSpPr>
            <p:spPr bwMode="auto">
              <a:xfrm>
                <a:off x="0" y="-4"/>
                <a:ext cx="426" cy="20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0x100</a:t>
                </a:r>
                <a:endParaRPr lang="en-US" sz="14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13" name="Group 38"/>
            <p:cNvGrpSpPr/>
            <p:nvPr/>
          </p:nvGrpSpPr>
          <p:grpSpPr bwMode="auto">
            <a:xfrm>
              <a:off x="1296" y="-4"/>
              <a:ext cx="432" cy="200"/>
              <a:chOff x="0" y="-4"/>
              <a:chExt cx="432" cy="200"/>
            </a:xfrm>
          </p:grpSpPr>
          <p:sp>
            <p:nvSpPr>
              <p:cNvPr id="49212" name="Rectangle 39"/>
              <p:cNvSpPr/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13" name="Rectangle 40"/>
              <p:cNvSpPr/>
              <p:nvPr/>
            </p:nvSpPr>
            <p:spPr bwMode="auto">
              <a:xfrm>
                <a:off x="0" y="-4"/>
                <a:ext cx="426" cy="20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0x101</a:t>
                </a:r>
                <a:endParaRPr lang="en-US" sz="14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14" name="Group 41"/>
            <p:cNvGrpSpPr/>
            <p:nvPr/>
          </p:nvGrpSpPr>
          <p:grpSpPr bwMode="auto">
            <a:xfrm>
              <a:off x="1728" y="-4"/>
              <a:ext cx="432" cy="200"/>
              <a:chOff x="0" y="-4"/>
              <a:chExt cx="432" cy="200"/>
            </a:xfrm>
          </p:grpSpPr>
          <p:sp>
            <p:nvSpPr>
              <p:cNvPr id="49210" name="Rectangle 42"/>
              <p:cNvSpPr/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11" name="Rectangle 43"/>
              <p:cNvSpPr/>
              <p:nvPr/>
            </p:nvSpPr>
            <p:spPr bwMode="auto">
              <a:xfrm>
                <a:off x="0" y="-4"/>
                <a:ext cx="426" cy="20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0x102</a:t>
                </a:r>
                <a:endParaRPr lang="en-US" sz="14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15" name="Group 44"/>
            <p:cNvGrpSpPr/>
            <p:nvPr/>
          </p:nvGrpSpPr>
          <p:grpSpPr bwMode="auto">
            <a:xfrm>
              <a:off x="2160" y="-4"/>
              <a:ext cx="432" cy="200"/>
              <a:chOff x="0" y="-4"/>
              <a:chExt cx="432" cy="200"/>
            </a:xfrm>
          </p:grpSpPr>
          <p:sp>
            <p:nvSpPr>
              <p:cNvPr id="49208" name="Rectangle 45"/>
              <p:cNvSpPr/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09" name="Rectangle 46"/>
              <p:cNvSpPr/>
              <p:nvPr/>
            </p:nvSpPr>
            <p:spPr bwMode="auto">
              <a:xfrm>
                <a:off x="0" y="-4"/>
                <a:ext cx="426" cy="20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0x103</a:t>
                </a:r>
                <a:endParaRPr lang="en-US" sz="14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sp>
          <p:nvSpPr>
            <p:cNvPr id="49192" name="Rectangle 47"/>
            <p:cNvSpPr/>
            <p:nvPr/>
          </p:nvSpPr>
          <p:spPr bwMode="auto">
            <a:xfrm>
              <a:off x="0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9193" name="Rectangle 48"/>
            <p:cNvSpPr/>
            <p:nvPr/>
          </p:nvSpPr>
          <p:spPr bwMode="auto">
            <a:xfrm>
              <a:off x="432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grpSp>
          <p:nvGrpSpPr>
            <p:cNvPr id="16" name="Group 49"/>
            <p:cNvGrpSpPr/>
            <p:nvPr/>
          </p:nvGrpSpPr>
          <p:grpSpPr bwMode="auto">
            <a:xfrm>
              <a:off x="864" y="169"/>
              <a:ext cx="432" cy="238"/>
              <a:chOff x="0" y="-7"/>
              <a:chExt cx="432" cy="238"/>
            </a:xfrm>
          </p:grpSpPr>
          <p:sp>
            <p:nvSpPr>
              <p:cNvPr id="49206" name="Rectangle 50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07" name="Rectangle 51"/>
              <p:cNvSpPr/>
              <p:nvPr/>
            </p:nvSpPr>
            <p:spPr bwMode="auto">
              <a:xfrm>
                <a:off x="84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67</a:t>
                </a:r>
                <a:endPara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17" name="Group 52"/>
            <p:cNvGrpSpPr/>
            <p:nvPr/>
          </p:nvGrpSpPr>
          <p:grpSpPr bwMode="auto">
            <a:xfrm>
              <a:off x="1296" y="169"/>
              <a:ext cx="432" cy="238"/>
              <a:chOff x="0" y="-7"/>
              <a:chExt cx="432" cy="238"/>
            </a:xfrm>
          </p:grpSpPr>
          <p:sp>
            <p:nvSpPr>
              <p:cNvPr id="49204" name="Rectangle 53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05" name="Rectangle 54"/>
              <p:cNvSpPr/>
              <p:nvPr/>
            </p:nvSpPr>
            <p:spPr bwMode="auto">
              <a:xfrm>
                <a:off x="84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45</a:t>
                </a:r>
                <a:endPara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18" name="Group 55"/>
            <p:cNvGrpSpPr/>
            <p:nvPr/>
          </p:nvGrpSpPr>
          <p:grpSpPr bwMode="auto">
            <a:xfrm>
              <a:off x="1728" y="169"/>
              <a:ext cx="432" cy="238"/>
              <a:chOff x="0" y="-7"/>
              <a:chExt cx="432" cy="238"/>
            </a:xfrm>
          </p:grpSpPr>
          <p:sp>
            <p:nvSpPr>
              <p:cNvPr id="49202" name="Rectangle 56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03" name="Rectangle 57"/>
              <p:cNvSpPr/>
              <p:nvPr/>
            </p:nvSpPr>
            <p:spPr bwMode="auto">
              <a:xfrm>
                <a:off x="84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23</a:t>
                </a:r>
                <a:endPara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19" name="Group 58"/>
            <p:cNvGrpSpPr/>
            <p:nvPr/>
          </p:nvGrpSpPr>
          <p:grpSpPr bwMode="auto">
            <a:xfrm>
              <a:off x="2160" y="169"/>
              <a:ext cx="432" cy="238"/>
              <a:chOff x="0" y="-7"/>
              <a:chExt cx="432" cy="238"/>
            </a:xfrm>
          </p:grpSpPr>
          <p:sp>
            <p:nvSpPr>
              <p:cNvPr id="49200" name="Rectangle 59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201" name="Rectangle 60"/>
              <p:cNvSpPr/>
              <p:nvPr/>
            </p:nvSpPr>
            <p:spPr bwMode="auto">
              <a:xfrm>
                <a:off x="84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01</a:t>
                </a:r>
                <a:endParaRPr lang="en-US" sz="1800" b="0">
                  <a:solidFill>
                    <a:srgbClr val="FFFFFF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sp>
          <p:nvSpPr>
            <p:cNvPr id="49198" name="Rectangle 61"/>
            <p:cNvSpPr/>
            <p:nvPr/>
          </p:nvSpPr>
          <p:spPr bwMode="auto">
            <a:xfrm>
              <a:off x="2592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49199" name="Rectangle 62"/>
            <p:cNvSpPr/>
            <p:nvPr/>
          </p:nvSpPr>
          <p:spPr bwMode="auto">
            <a:xfrm>
              <a:off x="3024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</p:grpSp>
      <p:sp>
        <p:nvSpPr>
          <p:cNvPr id="49160" name="Rectangle 63"/>
          <p:cNvSpPr/>
          <p:nvPr/>
        </p:nvSpPr>
        <p:spPr bwMode="auto">
          <a:xfrm>
            <a:off x="2362200" y="3403600"/>
            <a:ext cx="1790700" cy="3302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25400" tIns="25400" rIns="63500" bIns="25400"/>
          <a:lstStyle/>
          <a:p>
            <a:pPr marL="12700" eaLnBrk="1" hangingPunct="1">
              <a:lnSpc>
                <a:spcPct val="95000"/>
              </a:lnSpc>
            </a:pPr>
            <a:r>
              <a:rPr lang="en-US" sz="1800">
                <a:solidFill>
                  <a:srgbClr val="980002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Big Endian</a:t>
            </a:r>
            <a:endParaRPr lang="en-US" sz="1800">
              <a:solidFill>
                <a:srgbClr val="980002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49161" name="Rectangle 64"/>
          <p:cNvSpPr/>
          <p:nvPr/>
        </p:nvSpPr>
        <p:spPr bwMode="auto">
          <a:xfrm>
            <a:off x="2362200" y="4241800"/>
            <a:ext cx="1790700" cy="3302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25400" tIns="25400" rIns="63500" bIns="25400"/>
          <a:lstStyle/>
          <a:p>
            <a:pPr marL="12700" eaLnBrk="1" hangingPunct="1">
              <a:lnSpc>
                <a:spcPct val="95000"/>
              </a:lnSpc>
            </a:pPr>
            <a:r>
              <a:rPr lang="en-US" sz="1800">
                <a:solidFill>
                  <a:srgbClr val="980002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Little Endian</a:t>
            </a:r>
            <a:endParaRPr lang="en-US" sz="1800">
              <a:solidFill>
                <a:srgbClr val="980002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grpSp>
        <p:nvGrpSpPr>
          <p:cNvPr id="20" name="Group 65"/>
          <p:cNvGrpSpPr/>
          <p:nvPr/>
        </p:nvGrpSpPr>
        <p:grpSpPr bwMode="auto">
          <a:xfrm>
            <a:off x="4953000" y="3762375"/>
            <a:ext cx="2743200" cy="349250"/>
            <a:chOff x="0" y="2"/>
            <a:chExt cx="1728" cy="220"/>
          </a:xfrm>
        </p:grpSpPr>
        <p:grpSp>
          <p:nvGrpSpPr>
            <p:cNvPr id="21" name="Group 66"/>
            <p:cNvGrpSpPr/>
            <p:nvPr/>
          </p:nvGrpSpPr>
          <p:grpSpPr bwMode="auto">
            <a:xfrm>
              <a:off x="0" y="2"/>
              <a:ext cx="432" cy="220"/>
              <a:chOff x="0" y="2"/>
              <a:chExt cx="432" cy="220"/>
            </a:xfrm>
          </p:grpSpPr>
          <p:sp>
            <p:nvSpPr>
              <p:cNvPr id="49186" name="Rectangle 67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187" name="Rectangle 68"/>
              <p:cNvSpPr/>
              <p:nvPr/>
            </p:nvSpPr>
            <p:spPr bwMode="auto">
              <a:xfrm>
                <a:off x="99" y="2"/>
                <a:ext cx="234" cy="22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rIns="45720" bIns="5080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01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22" name="Group 69"/>
            <p:cNvGrpSpPr/>
            <p:nvPr/>
          </p:nvGrpSpPr>
          <p:grpSpPr bwMode="auto">
            <a:xfrm>
              <a:off x="432" y="2"/>
              <a:ext cx="432" cy="220"/>
              <a:chOff x="0" y="2"/>
              <a:chExt cx="432" cy="220"/>
            </a:xfrm>
          </p:grpSpPr>
          <p:sp>
            <p:nvSpPr>
              <p:cNvPr id="49184" name="Rectangle 70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185" name="Rectangle 71"/>
              <p:cNvSpPr/>
              <p:nvPr/>
            </p:nvSpPr>
            <p:spPr bwMode="auto">
              <a:xfrm>
                <a:off x="99" y="2"/>
                <a:ext cx="234" cy="22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rIns="45720" bIns="5080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23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23" name="Group 72"/>
            <p:cNvGrpSpPr/>
            <p:nvPr/>
          </p:nvGrpSpPr>
          <p:grpSpPr bwMode="auto">
            <a:xfrm>
              <a:off x="864" y="2"/>
              <a:ext cx="432" cy="220"/>
              <a:chOff x="0" y="2"/>
              <a:chExt cx="432" cy="220"/>
            </a:xfrm>
          </p:grpSpPr>
          <p:sp>
            <p:nvSpPr>
              <p:cNvPr id="49182" name="Rectangle 73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183" name="Rectangle 74"/>
              <p:cNvSpPr/>
              <p:nvPr/>
            </p:nvSpPr>
            <p:spPr bwMode="auto">
              <a:xfrm>
                <a:off x="99" y="2"/>
                <a:ext cx="234" cy="22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rIns="45720" bIns="5080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45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24" name="Group 75"/>
            <p:cNvGrpSpPr/>
            <p:nvPr/>
          </p:nvGrpSpPr>
          <p:grpSpPr bwMode="auto">
            <a:xfrm>
              <a:off x="1296" y="2"/>
              <a:ext cx="432" cy="220"/>
              <a:chOff x="0" y="2"/>
              <a:chExt cx="432" cy="220"/>
            </a:xfrm>
          </p:grpSpPr>
          <p:sp>
            <p:nvSpPr>
              <p:cNvPr id="49180" name="Rectangle 76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181" name="Rectangle 77"/>
              <p:cNvSpPr/>
              <p:nvPr/>
            </p:nvSpPr>
            <p:spPr bwMode="auto">
              <a:xfrm>
                <a:off x="99" y="2"/>
                <a:ext cx="234" cy="22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rIns="45720" bIns="5080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67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</p:grpSp>
      <p:grpSp>
        <p:nvGrpSpPr>
          <p:cNvPr id="25" name="Group 78"/>
          <p:cNvGrpSpPr/>
          <p:nvPr/>
        </p:nvGrpSpPr>
        <p:grpSpPr bwMode="auto">
          <a:xfrm>
            <a:off x="4953000" y="4600575"/>
            <a:ext cx="2743200" cy="349250"/>
            <a:chOff x="0" y="2"/>
            <a:chExt cx="1728" cy="220"/>
          </a:xfrm>
        </p:grpSpPr>
        <p:grpSp>
          <p:nvGrpSpPr>
            <p:cNvPr id="26" name="Group 79"/>
            <p:cNvGrpSpPr/>
            <p:nvPr/>
          </p:nvGrpSpPr>
          <p:grpSpPr bwMode="auto">
            <a:xfrm>
              <a:off x="0" y="2"/>
              <a:ext cx="432" cy="220"/>
              <a:chOff x="0" y="2"/>
              <a:chExt cx="432" cy="220"/>
            </a:xfrm>
          </p:grpSpPr>
          <p:sp>
            <p:nvSpPr>
              <p:cNvPr id="49174" name="Rectangle 80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175" name="Rectangle 81"/>
              <p:cNvSpPr/>
              <p:nvPr/>
            </p:nvSpPr>
            <p:spPr bwMode="auto">
              <a:xfrm>
                <a:off x="99" y="2"/>
                <a:ext cx="234" cy="22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rIns="45720" bIns="5080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 dirty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67</a:t>
                </a:r>
                <a:endParaRPr lang="en-US" sz="1800" b="0" dirty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27" name="Group 82"/>
            <p:cNvGrpSpPr/>
            <p:nvPr/>
          </p:nvGrpSpPr>
          <p:grpSpPr bwMode="auto">
            <a:xfrm>
              <a:off x="432" y="2"/>
              <a:ext cx="432" cy="220"/>
              <a:chOff x="0" y="2"/>
              <a:chExt cx="432" cy="220"/>
            </a:xfrm>
          </p:grpSpPr>
          <p:sp>
            <p:nvSpPr>
              <p:cNvPr id="49172" name="Rectangle 83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173" name="Rectangle 84"/>
              <p:cNvSpPr/>
              <p:nvPr/>
            </p:nvSpPr>
            <p:spPr bwMode="auto">
              <a:xfrm>
                <a:off x="99" y="2"/>
                <a:ext cx="234" cy="22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rIns="45720" bIns="5080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45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28" name="Group 85"/>
            <p:cNvGrpSpPr/>
            <p:nvPr/>
          </p:nvGrpSpPr>
          <p:grpSpPr bwMode="auto">
            <a:xfrm>
              <a:off x="864" y="2"/>
              <a:ext cx="432" cy="220"/>
              <a:chOff x="0" y="2"/>
              <a:chExt cx="432" cy="220"/>
            </a:xfrm>
          </p:grpSpPr>
          <p:sp>
            <p:nvSpPr>
              <p:cNvPr id="49170" name="Rectangle 86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171" name="Rectangle 87"/>
              <p:cNvSpPr/>
              <p:nvPr/>
            </p:nvSpPr>
            <p:spPr bwMode="auto">
              <a:xfrm>
                <a:off x="99" y="2"/>
                <a:ext cx="234" cy="22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rIns="45720" bIns="5080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23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29" name="Group 88"/>
            <p:cNvGrpSpPr/>
            <p:nvPr/>
          </p:nvGrpSpPr>
          <p:grpSpPr bwMode="auto">
            <a:xfrm>
              <a:off x="1296" y="2"/>
              <a:ext cx="432" cy="220"/>
              <a:chOff x="0" y="2"/>
              <a:chExt cx="432" cy="220"/>
            </a:xfrm>
          </p:grpSpPr>
          <p:sp>
            <p:nvSpPr>
              <p:cNvPr id="49168" name="Rectangle 89"/>
              <p:cNvSpPr/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49169" name="Rectangle 90"/>
              <p:cNvSpPr/>
              <p:nvPr/>
            </p:nvSpPr>
            <p:spPr bwMode="auto">
              <a:xfrm>
                <a:off x="99" y="2"/>
                <a:ext cx="234" cy="22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rIns="45720" bIns="5080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01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/>
          <p:nvPr/>
        </p:nvSpPr>
        <p:spPr bwMode="auto">
          <a:xfrm>
            <a:off x="5956300" y="2324100"/>
            <a:ext cx="4381500" cy="3149600"/>
          </a:xfrm>
          <a:prstGeom prst="rect">
            <a:avLst/>
          </a:prstGeom>
          <a:solidFill>
            <a:srgbClr val="F2F2F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ctr" eaLnBrk="1" hangingPunct="1">
              <a:defRPr/>
            </a:pPr>
            <a:endParaRPr lang="en-US" sz="4200" b="0">
              <a:solidFill>
                <a:srgbClr val="000000"/>
              </a:solidFill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8434" name="Rectangle 2"/>
          <p:cNvSpPr/>
          <p:nvPr/>
        </p:nvSpPr>
        <p:spPr bwMode="auto">
          <a:xfrm>
            <a:off x="2273300" y="4762500"/>
            <a:ext cx="2730500" cy="1841500"/>
          </a:xfrm>
          <a:prstGeom prst="rect">
            <a:avLst/>
          </a:prstGeom>
          <a:solidFill>
            <a:srgbClr val="F2F2F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ctr" eaLnBrk="1" hangingPunct="1">
              <a:defRPr/>
            </a:pPr>
            <a:endParaRPr lang="en-US" sz="4200" b="0">
              <a:solidFill>
                <a:srgbClr val="000000"/>
              </a:solidFill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8435" name="Rectangle 3"/>
          <p:cNvSpPr/>
          <p:nvPr/>
        </p:nvSpPr>
        <p:spPr bwMode="auto">
          <a:xfrm>
            <a:off x="2273300" y="2222500"/>
            <a:ext cx="2730500" cy="1841500"/>
          </a:xfrm>
          <a:prstGeom prst="rect">
            <a:avLst/>
          </a:prstGeom>
          <a:solidFill>
            <a:srgbClr val="F2F2F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ctr" eaLnBrk="1" hangingPunct="1">
              <a:defRPr/>
            </a:pPr>
            <a:endParaRPr lang="en-US" sz="4200" b="0">
              <a:solidFill>
                <a:srgbClr val="000000"/>
              </a:solidFill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5325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/>
              <a:t>Representing Integers</a:t>
            </a:r>
            <a:endParaRPr lang="en-US"/>
          </a:p>
        </p:txBody>
      </p:sp>
      <p:sp>
        <p:nvSpPr>
          <p:cNvPr id="18439" name="Rectangle 7"/>
          <p:cNvSpPr/>
          <p:nvPr/>
        </p:nvSpPr>
        <p:spPr bwMode="auto">
          <a:xfrm>
            <a:off x="6870700" y="495300"/>
            <a:ext cx="3975100" cy="1295400"/>
          </a:xfrm>
          <a:prstGeom prst="rect">
            <a:avLst/>
          </a:prstGeom>
          <a:solidFill>
            <a:srgbClr val="FFFF99"/>
          </a:solidFill>
          <a:ln w="12700" cap="flat">
            <a:solidFill>
              <a:srgbClr val="000066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50800" tIns="50800" bIns="50800"/>
          <a:lstStyle/>
          <a:p>
            <a:pPr eaLnBrk="1" hangingPunct="1">
              <a:spcBef>
                <a:spcPts val="1100"/>
              </a:spcBef>
              <a:tabLst>
                <a:tab pos="1130300" algn="l"/>
                <a:tab pos="1866900" algn="l"/>
                <a:tab pos="1130300" algn="l"/>
                <a:tab pos="1866900" algn="l"/>
                <a:tab pos="1130300" algn="l"/>
                <a:tab pos="1866900" algn="l"/>
              </a:tabLst>
              <a:defRPr/>
            </a:pPr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Decimal:	</a:t>
            </a:r>
            <a:r>
              <a:rPr lang="en-US" sz="1800" b="0" dirty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15213</a:t>
            </a:r>
            <a:endParaRPr lang="en-US" sz="1800" b="0" dirty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>
              <a:spcBef>
                <a:spcPts val="1100"/>
              </a:spcBef>
              <a:tabLst>
                <a:tab pos="1130300" algn="l"/>
                <a:tab pos="1866900" algn="l"/>
                <a:tab pos="1130300" algn="l"/>
                <a:tab pos="1866900" algn="l"/>
                <a:tab pos="1130300" algn="l"/>
                <a:tab pos="1866900" algn="l"/>
              </a:tabLst>
              <a:defRPr/>
            </a:pPr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Binary:</a:t>
            </a:r>
            <a:r>
              <a:rPr lang="en-US" sz="1800" b="0" dirty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	0011 1011 0110 1101</a:t>
            </a:r>
            <a:endParaRPr lang="en-US" sz="1800" b="0" dirty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>
              <a:spcBef>
                <a:spcPts val="1100"/>
              </a:spcBef>
              <a:tabLst>
                <a:tab pos="1130300" algn="l"/>
                <a:tab pos="1866900" algn="l"/>
                <a:tab pos="1130300" algn="l"/>
                <a:tab pos="1866900" algn="l"/>
                <a:tab pos="1130300" algn="l"/>
                <a:tab pos="1866900" algn="l"/>
              </a:tabLst>
              <a:defRPr/>
            </a:pPr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Hex:</a:t>
            </a:r>
            <a:r>
              <a:rPr lang="en-US" sz="1800" b="0" dirty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 	  3    B    6    D</a:t>
            </a:r>
            <a:endParaRPr lang="en-US" sz="1800" b="0" dirty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2260600" y="2208213"/>
            <a:ext cx="1444625" cy="1716087"/>
            <a:chOff x="0" y="0"/>
            <a:chExt cx="910" cy="1081"/>
          </a:xfrm>
        </p:grpSpPr>
        <p:grpSp>
          <p:nvGrpSpPr>
            <p:cNvPr id="3" name="Group 9"/>
            <p:cNvGrpSpPr/>
            <p:nvPr/>
          </p:nvGrpSpPr>
          <p:grpSpPr bwMode="auto">
            <a:xfrm>
              <a:off x="144" y="266"/>
              <a:ext cx="384" cy="815"/>
              <a:chOff x="0" y="-7"/>
              <a:chExt cx="384" cy="815"/>
            </a:xfrm>
          </p:grpSpPr>
          <p:grpSp>
            <p:nvGrpSpPr>
              <p:cNvPr id="4" name="Group 10"/>
              <p:cNvGrpSpPr/>
              <p:nvPr/>
            </p:nvGrpSpPr>
            <p:grpSpPr bwMode="auto">
              <a:xfrm>
                <a:off x="0" y="-7"/>
                <a:ext cx="384" cy="238"/>
                <a:chOff x="0" y="-7"/>
                <a:chExt cx="384" cy="238"/>
              </a:xfrm>
            </p:grpSpPr>
            <p:sp>
              <p:nvSpPr>
                <p:cNvPr id="53398" name="Rectangle 11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99" name="Rectangle 12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6D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" name="Group 13"/>
              <p:cNvGrpSpPr/>
              <p:nvPr/>
            </p:nvGrpSpPr>
            <p:grpSpPr bwMode="auto">
              <a:xfrm>
                <a:off x="0" y="184"/>
                <a:ext cx="384" cy="240"/>
                <a:chOff x="0" y="-8"/>
                <a:chExt cx="384" cy="240"/>
              </a:xfrm>
            </p:grpSpPr>
            <p:sp>
              <p:nvSpPr>
                <p:cNvPr id="53396" name="Rectangle 14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97" name="Rectangle 15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3B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6" name="Group 16"/>
              <p:cNvGrpSpPr/>
              <p:nvPr/>
            </p:nvGrpSpPr>
            <p:grpSpPr bwMode="auto">
              <a:xfrm>
                <a:off x="0" y="376"/>
                <a:ext cx="384" cy="240"/>
                <a:chOff x="0" y="-8"/>
                <a:chExt cx="384" cy="240"/>
              </a:xfrm>
            </p:grpSpPr>
            <p:sp>
              <p:nvSpPr>
                <p:cNvPr id="53394" name="Rectangle 17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95" name="Rectangle 18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7" name="Group 19"/>
              <p:cNvGrpSpPr/>
              <p:nvPr/>
            </p:nvGrpSpPr>
            <p:grpSpPr bwMode="auto">
              <a:xfrm>
                <a:off x="0" y="568"/>
                <a:ext cx="384" cy="240"/>
                <a:chOff x="0" y="-8"/>
                <a:chExt cx="384" cy="240"/>
              </a:xfrm>
            </p:grpSpPr>
            <p:sp>
              <p:nvSpPr>
                <p:cNvPr id="53392" name="Rectangle 20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93" name="Rectangle 21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</p:grpSp>
        <p:sp>
          <p:nvSpPr>
            <p:cNvPr id="53387" name="Rectangle 22"/>
            <p:cNvSpPr/>
            <p:nvPr/>
          </p:nvSpPr>
          <p:spPr bwMode="auto">
            <a:xfrm>
              <a:off x="0" y="0"/>
              <a:ext cx="910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IA32, x86-64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8" name="Group 23"/>
          <p:cNvGrpSpPr/>
          <p:nvPr/>
        </p:nvGrpSpPr>
        <p:grpSpPr bwMode="auto">
          <a:xfrm>
            <a:off x="4165600" y="2208213"/>
            <a:ext cx="609600" cy="1714499"/>
            <a:chOff x="0" y="0"/>
            <a:chExt cx="384" cy="1080"/>
          </a:xfrm>
        </p:grpSpPr>
        <p:grpSp>
          <p:nvGrpSpPr>
            <p:cNvPr id="9" name="Group 24"/>
            <p:cNvGrpSpPr/>
            <p:nvPr/>
          </p:nvGrpSpPr>
          <p:grpSpPr bwMode="auto">
            <a:xfrm>
              <a:off x="0" y="266"/>
              <a:ext cx="384" cy="814"/>
              <a:chOff x="0" y="-7"/>
              <a:chExt cx="384" cy="814"/>
            </a:xfrm>
          </p:grpSpPr>
          <p:grpSp>
            <p:nvGrpSpPr>
              <p:cNvPr id="10" name="Group 25"/>
              <p:cNvGrpSpPr/>
              <p:nvPr/>
            </p:nvGrpSpPr>
            <p:grpSpPr bwMode="auto">
              <a:xfrm>
                <a:off x="0" y="377"/>
                <a:ext cx="384" cy="238"/>
                <a:chOff x="0" y="-7"/>
                <a:chExt cx="384" cy="238"/>
              </a:xfrm>
            </p:grpSpPr>
            <p:sp>
              <p:nvSpPr>
                <p:cNvPr id="53384" name="Rectangle 26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85" name="Rectangle 27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3B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1" name="Group 28"/>
              <p:cNvGrpSpPr/>
              <p:nvPr/>
            </p:nvGrpSpPr>
            <p:grpSpPr bwMode="auto">
              <a:xfrm>
                <a:off x="0" y="569"/>
                <a:ext cx="384" cy="238"/>
                <a:chOff x="0" y="-7"/>
                <a:chExt cx="384" cy="238"/>
              </a:xfrm>
            </p:grpSpPr>
            <p:sp>
              <p:nvSpPr>
                <p:cNvPr id="53382" name="Rectangle 29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83" name="Rectangle 30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6D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2" name="Group 31"/>
              <p:cNvGrpSpPr/>
              <p:nvPr/>
            </p:nvGrpSpPr>
            <p:grpSpPr bwMode="auto">
              <a:xfrm>
                <a:off x="0" y="-7"/>
                <a:ext cx="384" cy="238"/>
                <a:chOff x="0" y="-7"/>
                <a:chExt cx="384" cy="238"/>
              </a:xfrm>
            </p:grpSpPr>
            <p:sp>
              <p:nvSpPr>
                <p:cNvPr id="53380" name="Rectangle 32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81" name="Rectangle 33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3" name="Group 34"/>
              <p:cNvGrpSpPr/>
              <p:nvPr/>
            </p:nvGrpSpPr>
            <p:grpSpPr bwMode="auto">
              <a:xfrm>
                <a:off x="0" y="184"/>
                <a:ext cx="384" cy="240"/>
                <a:chOff x="0" y="-8"/>
                <a:chExt cx="384" cy="240"/>
              </a:xfrm>
            </p:grpSpPr>
            <p:sp>
              <p:nvSpPr>
                <p:cNvPr id="53378" name="Rectangle 35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79" name="Rectangle 36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</p:grpSp>
        <p:sp>
          <p:nvSpPr>
            <p:cNvPr id="53373" name="Rectangle 37"/>
            <p:cNvSpPr/>
            <p:nvPr/>
          </p:nvSpPr>
          <p:spPr bwMode="auto">
            <a:xfrm>
              <a:off x="31" y="0"/>
              <a:ext cx="347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Sun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14" name="Group 38"/>
          <p:cNvGrpSpPr/>
          <p:nvPr/>
        </p:nvGrpSpPr>
        <p:grpSpPr bwMode="auto">
          <a:xfrm>
            <a:off x="3098800" y="2819400"/>
            <a:ext cx="1066800" cy="914400"/>
            <a:chOff x="0" y="0"/>
            <a:chExt cx="672" cy="576"/>
          </a:xfrm>
        </p:grpSpPr>
        <p:sp>
          <p:nvSpPr>
            <p:cNvPr id="53368" name="Line 39"/>
            <p:cNvSpPr>
              <a:spLocks noChangeShapeType="1"/>
            </p:cNvSpPr>
            <p:nvPr/>
          </p:nvSpPr>
          <p:spPr bwMode="auto">
            <a:xfrm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369" name="Line 40"/>
            <p:cNvSpPr>
              <a:spLocks noChangeShapeType="1"/>
            </p:cNvSpPr>
            <p:nvPr/>
          </p:nvSpPr>
          <p:spPr bwMode="auto">
            <a:xfrm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370" name="Line 41"/>
            <p:cNvSpPr>
              <a:spLocks noChangeShapeType="1"/>
            </p:cNvSpPr>
            <p:nvPr/>
          </p:nvSpPr>
          <p:spPr bwMode="auto">
            <a:xfrm rot="10800000" flipH="1"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371" name="Line 42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</p:grpSp>
      <p:sp>
        <p:nvSpPr>
          <p:cNvPr id="53260" name="Rectangle 43"/>
          <p:cNvSpPr/>
          <p:nvPr/>
        </p:nvSpPr>
        <p:spPr bwMode="auto">
          <a:xfrm>
            <a:off x="1881188" y="1752600"/>
            <a:ext cx="3048000" cy="4572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0" tIns="0" rIns="0" bIns="0"/>
          <a:lstStyle/>
          <a:p>
            <a:pPr eaLnBrk="1" hangingPunct="1"/>
            <a:r>
              <a:rPr lang="en-US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A = 15213;</a:t>
            </a:r>
            <a:endParaRPr lang="en-US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grpSp>
        <p:nvGrpSpPr>
          <p:cNvPr id="15" name="Group 44"/>
          <p:cNvGrpSpPr/>
          <p:nvPr/>
        </p:nvGrpSpPr>
        <p:grpSpPr bwMode="auto">
          <a:xfrm>
            <a:off x="2273300" y="4773613"/>
            <a:ext cx="1444625" cy="1716087"/>
            <a:chOff x="0" y="0"/>
            <a:chExt cx="910" cy="1081"/>
          </a:xfrm>
        </p:grpSpPr>
        <p:grpSp>
          <p:nvGrpSpPr>
            <p:cNvPr id="16" name="Group 45"/>
            <p:cNvGrpSpPr/>
            <p:nvPr/>
          </p:nvGrpSpPr>
          <p:grpSpPr bwMode="auto">
            <a:xfrm>
              <a:off x="144" y="266"/>
              <a:ext cx="384" cy="815"/>
              <a:chOff x="0" y="-7"/>
              <a:chExt cx="384" cy="815"/>
            </a:xfrm>
          </p:grpSpPr>
          <p:grpSp>
            <p:nvGrpSpPr>
              <p:cNvPr id="17" name="Group 46"/>
              <p:cNvGrpSpPr/>
              <p:nvPr/>
            </p:nvGrpSpPr>
            <p:grpSpPr bwMode="auto">
              <a:xfrm>
                <a:off x="0" y="-7"/>
                <a:ext cx="384" cy="238"/>
                <a:chOff x="0" y="-7"/>
                <a:chExt cx="384" cy="238"/>
              </a:xfrm>
            </p:grpSpPr>
            <p:sp>
              <p:nvSpPr>
                <p:cNvPr id="53366" name="Rectangle 47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67" name="Rectangle 48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93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8" name="Group 49"/>
              <p:cNvGrpSpPr/>
              <p:nvPr/>
            </p:nvGrpSpPr>
            <p:grpSpPr bwMode="auto">
              <a:xfrm>
                <a:off x="0" y="184"/>
                <a:ext cx="384" cy="240"/>
                <a:chOff x="0" y="-8"/>
                <a:chExt cx="384" cy="240"/>
              </a:xfrm>
            </p:grpSpPr>
            <p:sp>
              <p:nvSpPr>
                <p:cNvPr id="53364" name="Rectangle 50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65" name="Rectangle 51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C4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19" name="Group 52"/>
              <p:cNvGrpSpPr/>
              <p:nvPr/>
            </p:nvGrpSpPr>
            <p:grpSpPr bwMode="auto">
              <a:xfrm>
                <a:off x="0" y="376"/>
                <a:ext cx="384" cy="240"/>
                <a:chOff x="0" y="-8"/>
                <a:chExt cx="384" cy="240"/>
              </a:xfrm>
            </p:grpSpPr>
            <p:sp>
              <p:nvSpPr>
                <p:cNvPr id="53362" name="Rectangle 53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63" name="Rectangle 54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FF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0" name="Group 55"/>
              <p:cNvGrpSpPr/>
              <p:nvPr/>
            </p:nvGrpSpPr>
            <p:grpSpPr bwMode="auto">
              <a:xfrm>
                <a:off x="0" y="568"/>
                <a:ext cx="384" cy="240"/>
                <a:chOff x="0" y="-8"/>
                <a:chExt cx="384" cy="240"/>
              </a:xfrm>
            </p:grpSpPr>
            <p:sp>
              <p:nvSpPr>
                <p:cNvPr id="53360" name="Rectangle 56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61" name="Rectangle 57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FF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</p:grpSp>
        <p:sp>
          <p:nvSpPr>
            <p:cNvPr id="53355" name="Rectangle 58"/>
            <p:cNvSpPr/>
            <p:nvPr/>
          </p:nvSpPr>
          <p:spPr bwMode="auto">
            <a:xfrm>
              <a:off x="0" y="0"/>
              <a:ext cx="910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IA32, x86-64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21" name="Group 59"/>
          <p:cNvGrpSpPr/>
          <p:nvPr/>
        </p:nvGrpSpPr>
        <p:grpSpPr bwMode="auto">
          <a:xfrm>
            <a:off x="4178300" y="4773613"/>
            <a:ext cx="609600" cy="1714499"/>
            <a:chOff x="0" y="0"/>
            <a:chExt cx="384" cy="1080"/>
          </a:xfrm>
        </p:grpSpPr>
        <p:grpSp>
          <p:nvGrpSpPr>
            <p:cNvPr id="22" name="Group 60"/>
            <p:cNvGrpSpPr/>
            <p:nvPr/>
          </p:nvGrpSpPr>
          <p:grpSpPr bwMode="auto">
            <a:xfrm>
              <a:off x="0" y="266"/>
              <a:ext cx="384" cy="814"/>
              <a:chOff x="0" y="-7"/>
              <a:chExt cx="384" cy="814"/>
            </a:xfrm>
          </p:grpSpPr>
          <p:grpSp>
            <p:nvGrpSpPr>
              <p:cNvPr id="23" name="Group 61"/>
              <p:cNvGrpSpPr/>
              <p:nvPr/>
            </p:nvGrpSpPr>
            <p:grpSpPr bwMode="auto">
              <a:xfrm>
                <a:off x="0" y="377"/>
                <a:ext cx="384" cy="238"/>
                <a:chOff x="0" y="-7"/>
                <a:chExt cx="384" cy="238"/>
              </a:xfrm>
            </p:grpSpPr>
            <p:sp>
              <p:nvSpPr>
                <p:cNvPr id="53352" name="Rectangle 62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53" name="Rectangle 63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C4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4" name="Group 64"/>
              <p:cNvGrpSpPr/>
              <p:nvPr/>
            </p:nvGrpSpPr>
            <p:grpSpPr bwMode="auto">
              <a:xfrm>
                <a:off x="0" y="569"/>
                <a:ext cx="384" cy="238"/>
                <a:chOff x="0" y="-7"/>
                <a:chExt cx="384" cy="238"/>
              </a:xfrm>
            </p:grpSpPr>
            <p:sp>
              <p:nvSpPr>
                <p:cNvPr id="53350" name="Rectangle 65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51" name="Rectangle 66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93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5" name="Group 67"/>
              <p:cNvGrpSpPr/>
              <p:nvPr/>
            </p:nvGrpSpPr>
            <p:grpSpPr bwMode="auto">
              <a:xfrm>
                <a:off x="0" y="-7"/>
                <a:ext cx="384" cy="238"/>
                <a:chOff x="0" y="-7"/>
                <a:chExt cx="384" cy="238"/>
              </a:xfrm>
            </p:grpSpPr>
            <p:sp>
              <p:nvSpPr>
                <p:cNvPr id="53348" name="Rectangle 68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49" name="Rectangle 69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FF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26" name="Group 70"/>
              <p:cNvGrpSpPr/>
              <p:nvPr/>
            </p:nvGrpSpPr>
            <p:grpSpPr bwMode="auto">
              <a:xfrm>
                <a:off x="0" y="184"/>
                <a:ext cx="384" cy="240"/>
                <a:chOff x="0" y="-8"/>
                <a:chExt cx="384" cy="240"/>
              </a:xfrm>
            </p:grpSpPr>
            <p:sp>
              <p:nvSpPr>
                <p:cNvPr id="53346" name="Rectangle 71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47" name="Rectangle 72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FF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</p:grpSp>
        <p:sp>
          <p:nvSpPr>
            <p:cNvPr id="53341" name="Rectangle 73"/>
            <p:cNvSpPr/>
            <p:nvPr/>
          </p:nvSpPr>
          <p:spPr bwMode="auto">
            <a:xfrm>
              <a:off x="31" y="0"/>
              <a:ext cx="347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Sun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27" name="Group 74"/>
          <p:cNvGrpSpPr/>
          <p:nvPr/>
        </p:nvGrpSpPr>
        <p:grpSpPr bwMode="auto">
          <a:xfrm>
            <a:off x="3111500" y="5384800"/>
            <a:ext cx="1066800" cy="914400"/>
            <a:chOff x="0" y="0"/>
            <a:chExt cx="672" cy="576"/>
          </a:xfrm>
        </p:grpSpPr>
        <p:sp>
          <p:nvSpPr>
            <p:cNvPr id="53336" name="Line 75"/>
            <p:cNvSpPr>
              <a:spLocks noChangeShapeType="1"/>
            </p:cNvSpPr>
            <p:nvPr/>
          </p:nvSpPr>
          <p:spPr bwMode="auto">
            <a:xfrm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337" name="Line 76"/>
            <p:cNvSpPr>
              <a:spLocks noChangeShapeType="1"/>
            </p:cNvSpPr>
            <p:nvPr/>
          </p:nvSpPr>
          <p:spPr bwMode="auto">
            <a:xfrm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338" name="Line 77"/>
            <p:cNvSpPr>
              <a:spLocks noChangeShapeType="1"/>
            </p:cNvSpPr>
            <p:nvPr/>
          </p:nvSpPr>
          <p:spPr bwMode="auto">
            <a:xfrm rot="10800000" flipH="1"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339" name="Line 78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</p:grpSp>
      <p:sp>
        <p:nvSpPr>
          <p:cNvPr id="53264" name="Rectangle 79"/>
          <p:cNvSpPr/>
          <p:nvPr/>
        </p:nvSpPr>
        <p:spPr bwMode="auto">
          <a:xfrm>
            <a:off x="5334000" y="6030913"/>
            <a:ext cx="3590925" cy="3784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Two’s complement representation</a:t>
            </a:r>
            <a:endParaRPr lang="en-US" sz="1800" dirty="0">
              <a:solidFill>
                <a:srgbClr val="000066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53265" name="Line 80"/>
          <p:cNvSpPr>
            <a:spLocks noChangeShapeType="1"/>
          </p:cNvSpPr>
          <p:nvPr/>
        </p:nvSpPr>
        <p:spPr bwMode="auto">
          <a:xfrm rot="10800000">
            <a:off x="4876800" y="5638800"/>
            <a:ext cx="914400" cy="3810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tailEnd type="triangle" w="med" len="med"/>
          </a:ln>
        </p:spPr>
        <p:txBody>
          <a:bodyPr lIns="0" tIns="0" rIns="0" bIns="0"/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53266" name="Rectangle 81"/>
          <p:cNvSpPr/>
          <p:nvPr/>
        </p:nvSpPr>
        <p:spPr bwMode="auto">
          <a:xfrm>
            <a:off x="1879600" y="4318000"/>
            <a:ext cx="3048000" cy="4572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0" tIns="0" rIns="0" bIns="0"/>
          <a:lstStyle/>
          <a:p>
            <a:pPr eaLnBrk="1" hangingPunct="1"/>
            <a:r>
              <a:rPr lang="en-US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 B = -15213;</a:t>
            </a:r>
            <a:endParaRPr lang="en-US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53267" name="Rectangle 82"/>
          <p:cNvSpPr/>
          <p:nvPr/>
        </p:nvSpPr>
        <p:spPr bwMode="auto">
          <a:xfrm>
            <a:off x="5676900" y="1866900"/>
            <a:ext cx="3733800" cy="4572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0" tIns="0" rIns="0" bIns="0"/>
          <a:lstStyle/>
          <a:p>
            <a:pPr eaLnBrk="1" hangingPunct="1"/>
            <a:r>
              <a:rPr lang="en-US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long int C = 15213;</a:t>
            </a:r>
            <a:endParaRPr lang="en-US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grpSp>
        <p:nvGrpSpPr>
          <p:cNvPr id="28" name="Group 83"/>
          <p:cNvGrpSpPr/>
          <p:nvPr/>
        </p:nvGrpSpPr>
        <p:grpSpPr bwMode="auto">
          <a:xfrm>
            <a:off x="7861300" y="4040188"/>
            <a:ext cx="609600" cy="1292225"/>
            <a:chOff x="0" y="-7"/>
            <a:chExt cx="384" cy="814"/>
          </a:xfrm>
        </p:grpSpPr>
        <p:grpSp>
          <p:nvGrpSpPr>
            <p:cNvPr id="29" name="Group 84"/>
            <p:cNvGrpSpPr/>
            <p:nvPr/>
          </p:nvGrpSpPr>
          <p:grpSpPr bwMode="auto">
            <a:xfrm>
              <a:off x="0" y="-7"/>
              <a:ext cx="384" cy="238"/>
              <a:chOff x="0" y="-7"/>
              <a:chExt cx="384" cy="238"/>
            </a:xfrm>
          </p:grpSpPr>
          <p:sp>
            <p:nvSpPr>
              <p:cNvPr id="53334" name="Rectangle 85"/>
              <p:cNvSpPr/>
              <p:nvPr/>
            </p:nvSpPr>
            <p:spPr bwMode="auto">
              <a:xfrm>
                <a:off x="0" y="16"/>
                <a:ext cx="384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53335" name="Rectangle 86"/>
              <p:cNvSpPr/>
              <p:nvPr/>
            </p:nvSpPr>
            <p:spPr bwMode="auto">
              <a:xfrm>
                <a:off x="60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00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30" name="Group 87"/>
            <p:cNvGrpSpPr/>
            <p:nvPr/>
          </p:nvGrpSpPr>
          <p:grpSpPr bwMode="auto">
            <a:xfrm>
              <a:off x="0" y="185"/>
              <a:ext cx="384" cy="238"/>
              <a:chOff x="0" y="-7"/>
              <a:chExt cx="384" cy="238"/>
            </a:xfrm>
          </p:grpSpPr>
          <p:sp>
            <p:nvSpPr>
              <p:cNvPr id="53332" name="Rectangle 88"/>
              <p:cNvSpPr/>
              <p:nvPr/>
            </p:nvSpPr>
            <p:spPr bwMode="auto">
              <a:xfrm>
                <a:off x="0" y="16"/>
                <a:ext cx="384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53333" name="Rectangle 89"/>
              <p:cNvSpPr/>
              <p:nvPr/>
            </p:nvSpPr>
            <p:spPr bwMode="auto">
              <a:xfrm>
                <a:off x="60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00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31" name="Group 90"/>
            <p:cNvGrpSpPr/>
            <p:nvPr/>
          </p:nvGrpSpPr>
          <p:grpSpPr bwMode="auto">
            <a:xfrm>
              <a:off x="0" y="377"/>
              <a:ext cx="384" cy="238"/>
              <a:chOff x="0" y="-7"/>
              <a:chExt cx="384" cy="238"/>
            </a:xfrm>
          </p:grpSpPr>
          <p:sp>
            <p:nvSpPr>
              <p:cNvPr id="53330" name="Rectangle 91"/>
              <p:cNvSpPr/>
              <p:nvPr/>
            </p:nvSpPr>
            <p:spPr bwMode="auto">
              <a:xfrm>
                <a:off x="0" y="16"/>
                <a:ext cx="384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53331" name="Rectangle 92"/>
              <p:cNvSpPr/>
              <p:nvPr/>
            </p:nvSpPr>
            <p:spPr bwMode="auto">
              <a:xfrm>
                <a:off x="60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00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  <p:grpSp>
          <p:nvGrpSpPr>
            <p:cNvPr id="53312" name="Group 93"/>
            <p:cNvGrpSpPr/>
            <p:nvPr/>
          </p:nvGrpSpPr>
          <p:grpSpPr bwMode="auto">
            <a:xfrm>
              <a:off x="0" y="569"/>
              <a:ext cx="384" cy="238"/>
              <a:chOff x="0" y="-7"/>
              <a:chExt cx="384" cy="238"/>
            </a:xfrm>
          </p:grpSpPr>
          <p:sp>
            <p:nvSpPr>
              <p:cNvPr id="53328" name="Rectangle 94"/>
              <p:cNvSpPr/>
              <p:nvPr/>
            </p:nvSpPr>
            <p:spPr bwMode="auto">
              <a:xfrm>
                <a:off x="0" y="16"/>
                <a:ext cx="384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panose="020B0502020104020203" charset="0"/>
                  <a:ea typeface="ヒラギノ角ゴ ProN W3" panose="020B0300000000000000" charset="-128"/>
                  <a:cs typeface="ヒラギノ角ゴ ProN W3" panose="020B0300000000000000" charset="-128"/>
                  <a:sym typeface="Gill Sans" panose="020B0502020104020203" charset="0"/>
                </a:endParaRPr>
              </a:p>
            </p:txBody>
          </p:sp>
          <p:sp>
            <p:nvSpPr>
              <p:cNvPr id="53329" name="Rectangle 95"/>
              <p:cNvSpPr/>
              <p:nvPr/>
            </p:nvSpPr>
            <p:spPr bwMode="auto">
              <a:xfrm>
                <a:off x="60" y="-7"/>
                <a:ext cx="262" cy="238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 lIns="50800" tIns="50800" bIns="50800" anchor="ctr"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rPr>
                  <a:t>00</a:t>
                </a:r>
                <a:endParaRPr lang="en-US" sz="1800" b="0">
                  <a:solidFill>
                    <a:srgbClr val="000066"/>
                  </a:solidFill>
                  <a:latin typeface="Courier New Bold" panose="02070609020205020404" charset="0"/>
                  <a:ea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endParaRPr>
              </a:p>
            </p:txBody>
          </p:sp>
        </p:grpSp>
      </p:grpSp>
      <p:grpSp>
        <p:nvGrpSpPr>
          <p:cNvPr id="53313" name="Group 96"/>
          <p:cNvGrpSpPr/>
          <p:nvPr/>
        </p:nvGrpSpPr>
        <p:grpSpPr bwMode="auto">
          <a:xfrm>
            <a:off x="7631113" y="2398713"/>
            <a:ext cx="844509" cy="1716087"/>
            <a:chOff x="0" y="0"/>
            <a:chExt cx="531" cy="1081"/>
          </a:xfrm>
        </p:grpSpPr>
        <p:grpSp>
          <p:nvGrpSpPr>
            <p:cNvPr id="53314" name="Group 97"/>
            <p:cNvGrpSpPr/>
            <p:nvPr/>
          </p:nvGrpSpPr>
          <p:grpSpPr bwMode="auto">
            <a:xfrm>
              <a:off x="144" y="266"/>
              <a:ext cx="384" cy="815"/>
              <a:chOff x="0" y="-7"/>
              <a:chExt cx="384" cy="815"/>
            </a:xfrm>
          </p:grpSpPr>
          <p:grpSp>
            <p:nvGrpSpPr>
              <p:cNvPr id="53315" name="Group 98"/>
              <p:cNvGrpSpPr/>
              <p:nvPr/>
            </p:nvGrpSpPr>
            <p:grpSpPr bwMode="auto">
              <a:xfrm>
                <a:off x="0" y="-7"/>
                <a:ext cx="384" cy="238"/>
                <a:chOff x="0" y="-7"/>
                <a:chExt cx="384" cy="238"/>
              </a:xfrm>
            </p:grpSpPr>
            <p:sp>
              <p:nvSpPr>
                <p:cNvPr id="53322" name="Rectangle 99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23" name="Rectangle 100"/>
                <p:cNvSpPr/>
                <p:nvPr/>
              </p:nvSpPr>
              <p:spPr bwMode="auto">
                <a:xfrm>
                  <a:off x="61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6D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3324" name="Group 101"/>
              <p:cNvGrpSpPr/>
              <p:nvPr/>
            </p:nvGrpSpPr>
            <p:grpSpPr bwMode="auto">
              <a:xfrm>
                <a:off x="0" y="184"/>
                <a:ext cx="384" cy="240"/>
                <a:chOff x="0" y="-8"/>
                <a:chExt cx="384" cy="240"/>
              </a:xfrm>
            </p:grpSpPr>
            <p:sp>
              <p:nvSpPr>
                <p:cNvPr id="53320" name="Rectangle 102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21" name="Rectangle 103"/>
                <p:cNvSpPr/>
                <p:nvPr/>
              </p:nvSpPr>
              <p:spPr bwMode="auto">
                <a:xfrm>
                  <a:off x="61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3B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3325" name="Group 104"/>
              <p:cNvGrpSpPr/>
              <p:nvPr/>
            </p:nvGrpSpPr>
            <p:grpSpPr bwMode="auto">
              <a:xfrm>
                <a:off x="0" y="376"/>
                <a:ext cx="384" cy="240"/>
                <a:chOff x="0" y="-8"/>
                <a:chExt cx="384" cy="240"/>
              </a:xfrm>
            </p:grpSpPr>
            <p:sp>
              <p:nvSpPr>
                <p:cNvPr id="53318" name="Rectangle 105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19" name="Rectangle 106"/>
                <p:cNvSpPr/>
                <p:nvPr/>
              </p:nvSpPr>
              <p:spPr bwMode="auto">
                <a:xfrm>
                  <a:off x="61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3326" name="Group 107"/>
              <p:cNvGrpSpPr/>
              <p:nvPr/>
            </p:nvGrpSpPr>
            <p:grpSpPr bwMode="auto">
              <a:xfrm>
                <a:off x="0" y="568"/>
                <a:ext cx="384" cy="240"/>
                <a:chOff x="0" y="-8"/>
                <a:chExt cx="384" cy="240"/>
              </a:xfrm>
            </p:grpSpPr>
            <p:sp>
              <p:nvSpPr>
                <p:cNvPr id="53316" name="Rectangle 108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17" name="Rectangle 109"/>
                <p:cNvSpPr/>
                <p:nvPr/>
              </p:nvSpPr>
              <p:spPr bwMode="auto">
                <a:xfrm>
                  <a:off x="61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</p:grpSp>
        <p:sp>
          <p:nvSpPr>
            <p:cNvPr id="53311" name="Rectangle 110"/>
            <p:cNvSpPr/>
            <p:nvPr/>
          </p:nvSpPr>
          <p:spPr bwMode="auto">
            <a:xfrm>
              <a:off x="0" y="0"/>
              <a:ext cx="531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x86-64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53327" name="Group 111"/>
          <p:cNvGrpSpPr/>
          <p:nvPr/>
        </p:nvGrpSpPr>
        <p:grpSpPr bwMode="auto">
          <a:xfrm>
            <a:off x="9537700" y="2398713"/>
            <a:ext cx="609600" cy="1714499"/>
            <a:chOff x="0" y="0"/>
            <a:chExt cx="384" cy="1080"/>
          </a:xfrm>
        </p:grpSpPr>
        <p:grpSp>
          <p:nvGrpSpPr>
            <p:cNvPr id="53340" name="Group 112"/>
            <p:cNvGrpSpPr/>
            <p:nvPr/>
          </p:nvGrpSpPr>
          <p:grpSpPr bwMode="auto">
            <a:xfrm>
              <a:off x="0" y="266"/>
              <a:ext cx="384" cy="814"/>
              <a:chOff x="0" y="-7"/>
              <a:chExt cx="384" cy="814"/>
            </a:xfrm>
          </p:grpSpPr>
          <p:grpSp>
            <p:nvGrpSpPr>
              <p:cNvPr id="53342" name="Group 113"/>
              <p:cNvGrpSpPr/>
              <p:nvPr/>
            </p:nvGrpSpPr>
            <p:grpSpPr bwMode="auto">
              <a:xfrm>
                <a:off x="0" y="377"/>
                <a:ext cx="384" cy="238"/>
                <a:chOff x="0" y="-7"/>
                <a:chExt cx="384" cy="238"/>
              </a:xfrm>
            </p:grpSpPr>
            <p:sp>
              <p:nvSpPr>
                <p:cNvPr id="53308" name="Rectangle 114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09" name="Rectangle 115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3B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3343" name="Group 116"/>
              <p:cNvGrpSpPr/>
              <p:nvPr/>
            </p:nvGrpSpPr>
            <p:grpSpPr bwMode="auto">
              <a:xfrm>
                <a:off x="0" y="569"/>
                <a:ext cx="384" cy="238"/>
                <a:chOff x="0" y="-7"/>
                <a:chExt cx="384" cy="238"/>
              </a:xfrm>
            </p:grpSpPr>
            <p:sp>
              <p:nvSpPr>
                <p:cNvPr id="53306" name="Rectangle 117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07" name="Rectangle 118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6D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3344" name="Group 119"/>
              <p:cNvGrpSpPr/>
              <p:nvPr/>
            </p:nvGrpSpPr>
            <p:grpSpPr bwMode="auto">
              <a:xfrm>
                <a:off x="0" y="-7"/>
                <a:ext cx="384" cy="238"/>
                <a:chOff x="0" y="-7"/>
                <a:chExt cx="384" cy="238"/>
              </a:xfrm>
            </p:grpSpPr>
            <p:sp>
              <p:nvSpPr>
                <p:cNvPr id="53304" name="Rectangle 120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05" name="Rectangle 121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3345" name="Group 122"/>
              <p:cNvGrpSpPr/>
              <p:nvPr/>
            </p:nvGrpSpPr>
            <p:grpSpPr bwMode="auto">
              <a:xfrm>
                <a:off x="0" y="184"/>
                <a:ext cx="384" cy="240"/>
                <a:chOff x="0" y="-8"/>
                <a:chExt cx="384" cy="240"/>
              </a:xfrm>
            </p:grpSpPr>
            <p:sp>
              <p:nvSpPr>
                <p:cNvPr id="53302" name="Rectangle 123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303" name="Rectangle 124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</p:grpSp>
        <p:sp>
          <p:nvSpPr>
            <p:cNvPr id="53297" name="Rectangle 125"/>
            <p:cNvSpPr/>
            <p:nvPr/>
          </p:nvSpPr>
          <p:spPr bwMode="auto">
            <a:xfrm>
              <a:off x="31" y="0"/>
              <a:ext cx="347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Sun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53354" name="Group 126"/>
          <p:cNvGrpSpPr/>
          <p:nvPr/>
        </p:nvGrpSpPr>
        <p:grpSpPr bwMode="auto">
          <a:xfrm>
            <a:off x="8470900" y="3009900"/>
            <a:ext cx="1066800" cy="914400"/>
            <a:chOff x="0" y="0"/>
            <a:chExt cx="672" cy="576"/>
          </a:xfrm>
        </p:grpSpPr>
        <p:sp>
          <p:nvSpPr>
            <p:cNvPr id="53292" name="Line 127"/>
            <p:cNvSpPr>
              <a:spLocks noChangeShapeType="1"/>
            </p:cNvSpPr>
            <p:nvPr/>
          </p:nvSpPr>
          <p:spPr bwMode="auto">
            <a:xfrm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293" name="Line 128"/>
            <p:cNvSpPr>
              <a:spLocks noChangeShapeType="1"/>
            </p:cNvSpPr>
            <p:nvPr/>
          </p:nvSpPr>
          <p:spPr bwMode="auto">
            <a:xfrm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294" name="Line 129"/>
            <p:cNvSpPr>
              <a:spLocks noChangeShapeType="1"/>
            </p:cNvSpPr>
            <p:nvPr/>
          </p:nvSpPr>
          <p:spPr bwMode="auto">
            <a:xfrm rot="10800000" flipH="1"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295" name="Line 130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</p:grpSp>
      <p:grpSp>
        <p:nvGrpSpPr>
          <p:cNvPr id="53356" name="Group 131"/>
          <p:cNvGrpSpPr/>
          <p:nvPr/>
        </p:nvGrpSpPr>
        <p:grpSpPr bwMode="auto">
          <a:xfrm>
            <a:off x="5956300" y="2398713"/>
            <a:ext cx="838200" cy="1716087"/>
            <a:chOff x="0" y="0"/>
            <a:chExt cx="528" cy="1081"/>
          </a:xfrm>
        </p:grpSpPr>
        <p:grpSp>
          <p:nvGrpSpPr>
            <p:cNvPr id="53357" name="Group 132"/>
            <p:cNvGrpSpPr/>
            <p:nvPr/>
          </p:nvGrpSpPr>
          <p:grpSpPr bwMode="auto">
            <a:xfrm>
              <a:off x="144" y="266"/>
              <a:ext cx="384" cy="815"/>
              <a:chOff x="0" y="-7"/>
              <a:chExt cx="384" cy="815"/>
            </a:xfrm>
          </p:grpSpPr>
          <p:grpSp>
            <p:nvGrpSpPr>
              <p:cNvPr id="53358" name="Group 133"/>
              <p:cNvGrpSpPr/>
              <p:nvPr/>
            </p:nvGrpSpPr>
            <p:grpSpPr bwMode="auto">
              <a:xfrm>
                <a:off x="0" y="-7"/>
                <a:ext cx="384" cy="238"/>
                <a:chOff x="0" y="-7"/>
                <a:chExt cx="384" cy="238"/>
              </a:xfrm>
            </p:grpSpPr>
            <p:sp>
              <p:nvSpPr>
                <p:cNvPr id="53290" name="Rectangle 134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291" name="Rectangle 135"/>
                <p:cNvSpPr/>
                <p:nvPr/>
              </p:nvSpPr>
              <p:spPr bwMode="auto">
                <a:xfrm>
                  <a:off x="60" y="-7"/>
                  <a:ext cx="262" cy="2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6D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3359" name="Group 136"/>
              <p:cNvGrpSpPr/>
              <p:nvPr/>
            </p:nvGrpSpPr>
            <p:grpSpPr bwMode="auto">
              <a:xfrm>
                <a:off x="0" y="184"/>
                <a:ext cx="384" cy="240"/>
                <a:chOff x="0" y="-8"/>
                <a:chExt cx="384" cy="240"/>
              </a:xfrm>
            </p:grpSpPr>
            <p:sp>
              <p:nvSpPr>
                <p:cNvPr id="53288" name="Rectangle 137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289" name="Rectangle 138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3B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3372" name="Group 139"/>
              <p:cNvGrpSpPr/>
              <p:nvPr/>
            </p:nvGrpSpPr>
            <p:grpSpPr bwMode="auto">
              <a:xfrm>
                <a:off x="0" y="376"/>
                <a:ext cx="384" cy="240"/>
                <a:chOff x="0" y="-8"/>
                <a:chExt cx="384" cy="240"/>
              </a:xfrm>
            </p:grpSpPr>
            <p:sp>
              <p:nvSpPr>
                <p:cNvPr id="53286" name="Rectangle 140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287" name="Rectangle 141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  <p:grpSp>
            <p:nvGrpSpPr>
              <p:cNvPr id="53374" name="Group 142"/>
              <p:cNvGrpSpPr/>
              <p:nvPr/>
            </p:nvGrpSpPr>
            <p:grpSpPr bwMode="auto">
              <a:xfrm>
                <a:off x="0" y="568"/>
                <a:ext cx="384" cy="240"/>
                <a:chOff x="0" y="-8"/>
                <a:chExt cx="384" cy="240"/>
              </a:xfrm>
            </p:grpSpPr>
            <p:sp>
              <p:nvSpPr>
                <p:cNvPr id="53284" name="Rectangle 143"/>
                <p:cNvSpPr/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panose="020B0502020104020203" charset="0"/>
                    <a:ea typeface="ヒラギノ角ゴ ProN W3" panose="020B0300000000000000" charset="-128"/>
                    <a:cs typeface="ヒラギノ角ゴ ProN W3" panose="020B0300000000000000" charset="-128"/>
                    <a:sym typeface="Gill Sans" panose="020B0502020104020203" charset="0"/>
                  </a:endParaRPr>
                </a:p>
              </p:txBody>
            </p:sp>
            <p:sp>
              <p:nvSpPr>
                <p:cNvPr id="53285" name="Rectangle 144"/>
                <p:cNvSpPr/>
                <p:nvPr/>
              </p:nvSpPr>
              <p:spPr bwMode="auto">
                <a:xfrm>
                  <a:off x="60" y="-8"/>
                  <a:ext cx="262" cy="24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</p:spPr>
              <p:txBody>
                <a:bodyPr wrap="none" lIns="50800" tIns="50800" bIns="50800" anchor="ctr"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panose="02070609020205020404" charset="0"/>
                      <a:ea typeface="Courier New Bold" panose="02070609020205020404" charset="0"/>
                      <a:cs typeface="Courier New Bold" panose="02070609020205020404" charset="0"/>
                      <a:sym typeface="Courier New Bold" panose="02070609020205020404" charset="0"/>
                    </a:rPr>
                    <a:t>00</a:t>
                  </a:r>
                  <a:endParaRPr lang="en-US" sz="1800" b="0">
                    <a:solidFill>
                      <a:srgbClr val="000066"/>
                    </a:solidFill>
                    <a:latin typeface="Courier New Bold" panose="02070609020205020404" charset="0"/>
                    <a:ea typeface="Courier New Bold" panose="02070609020205020404" charset="0"/>
                    <a:cs typeface="Courier New Bold" panose="02070609020205020404" charset="0"/>
                    <a:sym typeface="Courier New Bold" panose="02070609020205020404" charset="0"/>
                  </a:endParaRPr>
                </a:p>
              </p:txBody>
            </p:sp>
          </p:grpSp>
        </p:grpSp>
        <p:sp>
          <p:nvSpPr>
            <p:cNvPr id="53279" name="Rectangle 145"/>
            <p:cNvSpPr/>
            <p:nvPr/>
          </p:nvSpPr>
          <p:spPr bwMode="auto">
            <a:xfrm>
              <a:off x="0" y="0"/>
              <a:ext cx="387" cy="23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50800" tIns="50800" bIns="50800"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IA32</a:t>
              </a:r>
              <a:endPara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53375" name="Group 146"/>
          <p:cNvGrpSpPr/>
          <p:nvPr/>
        </p:nvGrpSpPr>
        <p:grpSpPr bwMode="auto">
          <a:xfrm>
            <a:off x="6794500" y="3009900"/>
            <a:ext cx="1066800" cy="915988"/>
            <a:chOff x="0" y="0"/>
            <a:chExt cx="672" cy="577"/>
          </a:xfrm>
        </p:grpSpPr>
        <p:sp>
          <p:nvSpPr>
            <p:cNvPr id="53274" name="Line 147"/>
            <p:cNvSpPr>
              <a:spLocks noChangeShapeType="1"/>
            </p:cNvSpPr>
            <p:nvPr/>
          </p:nvSpPr>
          <p:spPr bwMode="auto">
            <a:xfrm>
              <a:off x="0" y="576"/>
              <a:ext cx="67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275" name="Line 148"/>
            <p:cNvSpPr>
              <a:spLocks noChangeShapeType="1"/>
            </p:cNvSpPr>
            <p:nvPr/>
          </p:nvSpPr>
          <p:spPr bwMode="auto">
            <a:xfrm>
              <a:off x="0" y="192"/>
              <a:ext cx="67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276" name="Line 149"/>
            <p:cNvSpPr>
              <a:spLocks noChangeShapeType="1"/>
            </p:cNvSpPr>
            <p:nvPr/>
          </p:nvSpPr>
          <p:spPr bwMode="auto">
            <a:xfrm rot="10800000" flipH="1">
              <a:off x="0" y="384"/>
              <a:ext cx="67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3277" name="Line 150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 sz="3200"/>
              <a:t>Examining Data Representations</a:t>
            </a:r>
            <a:br>
              <a:rPr lang="en-US" sz="3200"/>
            </a:br>
            <a:r>
              <a:rPr lang="zh-CN" altLang="en-US" sz="3200"/>
              <a:t>检查数据的字节顺序</a:t>
            </a:r>
            <a:endParaRPr lang="zh-CN" altLang="en-US" sz="3200"/>
          </a:p>
        </p:txBody>
      </p:sp>
      <p:sp>
        <p:nvSpPr>
          <p:cNvPr id="51206" name="Rectangle 5"/>
          <p:cNvSpPr/>
          <p:nvPr/>
        </p:nvSpPr>
        <p:spPr bwMode="auto">
          <a:xfrm>
            <a:off x="6616700" y="5307013"/>
            <a:ext cx="2857500" cy="9652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0" tIns="0" rIns="40639" bIns="0"/>
          <a:lstStyle/>
          <a:p>
            <a:pPr marL="40005" eaLnBrk="1" hangingPunct="1">
              <a:tabLst>
                <a:tab pos="785495" algn="l"/>
              </a:tabLst>
            </a:pPr>
            <a:r>
              <a:rPr lang="en-US" sz="18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Printf directives:</a:t>
            </a:r>
            <a:endParaRPr lang="en-US" sz="1800">
              <a:solidFill>
                <a:srgbClr val="0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marL="40005" eaLnBrk="1" hangingPunct="1">
              <a:tabLst>
                <a:tab pos="785495" algn="l"/>
              </a:tabLst>
            </a:pPr>
            <a:r>
              <a:rPr lang="en-US" sz="1800" b="0">
                <a:solidFill>
                  <a:srgbClr val="000000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%p</a:t>
            </a:r>
            <a:r>
              <a:rPr lang="en-US" sz="18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:	</a:t>
            </a:r>
            <a:r>
              <a:rPr lang="en-US" sz="1800" b="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Print pointer</a:t>
            </a:r>
            <a:endParaRPr lang="en-US" sz="1800">
              <a:solidFill>
                <a:srgbClr val="0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marL="40005" eaLnBrk="1" hangingPunct="1">
              <a:tabLst>
                <a:tab pos="785495" algn="l"/>
              </a:tabLst>
            </a:pPr>
            <a:r>
              <a:rPr lang="en-US" sz="1800" b="0">
                <a:solidFill>
                  <a:srgbClr val="000000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%x</a:t>
            </a:r>
            <a:r>
              <a:rPr lang="en-US" sz="18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:	</a:t>
            </a:r>
            <a:r>
              <a:rPr lang="en-US" sz="1800" b="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Print Hexadecimal</a:t>
            </a:r>
            <a:endParaRPr lang="en-US" sz="1800" b="0">
              <a:solidFill>
                <a:srgbClr val="0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17412" name="Rectangle 4"/>
          <p:cNvSpPr/>
          <p:nvPr>
            <p:custDataLst>
              <p:tags r:id="rId1"/>
            </p:custDataLst>
          </p:nvPr>
        </p:nvSpPr>
        <p:spPr bwMode="auto">
          <a:xfrm>
            <a:off x="2331085" y="1508760"/>
            <a:ext cx="7226300" cy="1371600"/>
          </a:xfrm>
          <a:prstGeom prst="rect">
            <a:avLst/>
          </a:prstGeom>
          <a:solidFill>
            <a:srgbClr val="FFFF9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40639" bIns="0"/>
          <a:p>
            <a:pPr marL="40005" eaLnBrk="1" hangingPunct="1">
              <a:spcBef>
                <a:spcPts val="300"/>
              </a:spcBef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a = 15213;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40005" eaLnBrk="1" hangingPunct="1">
              <a:spcBef>
                <a:spcPts val="300"/>
              </a:spcBef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printf("int</a:t>
            </a: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a = 15213;\n");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40005" eaLnBrk="1" hangingPunct="1">
              <a:spcBef>
                <a:spcPts val="300"/>
              </a:spcBef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show_bytes((</a:t>
            </a:r>
            <a:r>
              <a:rPr lang="en-US" sz="20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char *pointer</a:t>
            </a: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) &amp;a, </a:t>
            </a:r>
            <a:r>
              <a:rPr lang="en-US" sz="2000" b="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sizeof(int</a:t>
            </a: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));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17414" name="Rectangle 6"/>
          <p:cNvSpPr/>
          <p:nvPr>
            <p:custDataLst>
              <p:tags r:id="rId2"/>
            </p:custDataLst>
          </p:nvPr>
        </p:nvSpPr>
        <p:spPr bwMode="auto">
          <a:xfrm>
            <a:off x="2332355" y="4869180"/>
            <a:ext cx="3340100" cy="1739900"/>
          </a:xfrm>
          <a:prstGeom prst="rect">
            <a:avLst/>
          </a:prstGeom>
          <a:solidFill>
            <a:srgbClr val="E0E0E0"/>
          </a:solidFill>
          <a:ln w="6350" cap="flat">
            <a:solidFill>
              <a:srgbClr val="DBF2DA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40639" bIns="0"/>
          <a:p>
            <a:pPr marL="40005" eaLnBrk="1" hangingPunct="1">
              <a:spcBef>
                <a:spcPts val="300"/>
              </a:spcBef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a = 15213;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40005" eaLnBrk="1" hangingPunct="1">
              <a:spcBef>
                <a:spcPts val="30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0x7fffb7f71dbc	6d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40005" eaLnBrk="1" hangingPunct="1">
              <a:spcBef>
                <a:spcPts val="30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0x7fffb7f71dbd	3b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40005" eaLnBrk="1" hangingPunct="1">
              <a:spcBef>
                <a:spcPts val="30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0x7fffb7f71dbe	00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40005" eaLnBrk="1" hangingPunct="1">
              <a:spcBef>
                <a:spcPts val="30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0x7fffb7f71dbf	00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3" name="Rectangle 6"/>
          <p:cNvSpPr/>
          <p:nvPr>
            <p:custDataLst>
              <p:tags r:id="rId3"/>
            </p:custDataLst>
          </p:nvPr>
        </p:nvSpPr>
        <p:spPr bwMode="auto">
          <a:xfrm>
            <a:off x="2331085" y="2924810"/>
            <a:ext cx="7106285" cy="1783715"/>
          </a:xfrm>
          <a:prstGeom prst="rect">
            <a:avLst/>
          </a:prstGeom>
          <a:solidFill>
            <a:srgbClr val="FFFF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rgbClr val="000000">
                <a:alpha val="75000"/>
              </a:srgbClr>
            </a:outerShdw>
          </a:effectLst>
        </p:spPr>
        <p:txBody>
          <a:bodyPr lIns="50800" tIns="50800" bIns="50800"/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void 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show_bytes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char *pointer 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start, 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size_t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len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){</a:t>
            </a:r>
            <a:endParaRPr lang="en-US" sz="180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 </a:t>
            </a:r>
            <a:r>
              <a:rPr lang="en-US" sz="180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size_t 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;</a:t>
            </a:r>
            <a:endParaRPr lang="en-US" sz="180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 for (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&lt; 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len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++)</a:t>
            </a:r>
            <a:endParaRPr lang="en-US" sz="180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   printf(”%p\t0x%.2x\n",start+i, 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start[i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]);</a:t>
            </a:r>
            <a:endParaRPr lang="en-US" sz="180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printf("\n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");</a:t>
            </a:r>
            <a:endParaRPr lang="en-US" sz="180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}</a:t>
            </a:r>
            <a:endParaRPr lang="en-US" sz="180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检查多字节整数类型的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</a:rPr>
              <a:t>16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进制表示</a:t>
            </a:r>
            <a:endParaRPr lang="zh-CN" altLang="en-US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67000" y="5635625"/>
            <a:ext cx="61417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 smtClean="0">
                <a:latin typeface="Microsoft YaHei" charset="0"/>
                <a:ea typeface="Microsoft YaHei" charset="0"/>
              </a:rPr>
              <a:t>https://csapp.cs.cmu.edu/3e/code.html</a:t>
            </a:r>
            <a:endParaRPr lang="zh-CN" altLang="en-US" dirty="0" smtClean="0">
              <a:latin typeface="Microsoft YaHei" charset="0"/>
              <a:ea typeface="Microsoft YaHei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38400" y="1219200"/>
            <a:ext cx="767016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void show_bytes(</a:t>
            </a:r>
            <a:r>
              <a:rPr lang="zh-CN" altLang="en-US" sz="1800" dirty="0" smtClean="0">
                <a:latin typeface="Microsoft YaHei" charset="0"/>
                <a:ea typeface="Microsoft YaHei" charset="0"/>
                <a:sym typeface="+mn-ea"/>
              </a:rPr>
              <a:t>unsigned char</a:t>
            </a:r>
            <a:r>
              <a:rPr lang="en-US" altLang="zh-CN" sz="1800" dirty="0" smtClean="0">
                <a:latin typeface="Microsoft YaHei" charset="0"/>
                <a:ea typeface="Microsoft YaHei" charset="0"/>
                <a:sym typeface="+mn-ea"/>
              </a:rPr>
              <a:t> *</a:t>
            </a:r>
            <a:r>
              <a:rPr lang="zh-CN" altLang="en-US" sz="1800" dirty="0" smtClean="0">
                <a:latin typeface="Microsoft YaHei" charset="0"/>
                <a:ea typeface="Microsoft YaHei" charset="0"/>
              </a:rPr>
              <a:t> start, size_t len) {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    size_t i;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    for (i = 0; i &lt; len; i++)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	printf(" %.2x", start[i]);   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    printf("\n");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}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void show_int(int x) {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    show_bytes((</a:t>
            </a:r>
            <a:r>
              <a:rPr lang="zh-CN" altLang="en-US" sz="1800" dirty="0" smtClean="0">
                <a:latin typeface="Microsoft YaHei" charset="0"/>
                <a:ea typeface="Microsoft YaHei" charset="0"/>
                <a:sym typeface="+mn-ea"/>
              </a:rPr>
              <a:t>unsigned char</a:t>
            </a:r>
            <a:r>
              <a:rPr lang="en-US" altLang="zh-CN" sz="1800" dirty="0" smtClean="0">
                <a:latin typeface="Microsoft YaHei" charset="0"/>
                <a:ea typeface="Microsoft YaHei" charset="0"/>
                <a:sym typeface="+mn-ea"/>
              </a:rPr>
              <a:t> *</a:t>
            </a:r>
            <a:r>
              <a:rPr lang="zh-CN" altLang="en-US" sz="1800" dirty="0" smtClean="0">
                <a:latin typeface="Microsoft YaHei" charset="0"/>
                <a:ea typeface="Microsoft YaHei" charset="0"/>
              </a:rPr>
              <a:t>) &amp;x, sizeof(int)); }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void show_float(float x) {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    show_bytes((</a:t>
            </a:r>
            <a:r>
              <a:rPr lang="zh-CN" altLang="en-US" sz="1800" dirty="0" smtClean="0">
                <a:latin typeface="Microsoft YaHei" charset="0"/>
                <a:ea typeface="Microsoft YaHei" charset="0"/>
                <a:sym typeface="+mn-ea"/>
              </a:rPr>
              <a:t>unsigned char</a:t>
            </a:r>
            <a:r>
              <a:rPr lang="en-US" altLang="zh-CN" sz="1800" dirty="0" smtClean="0">
                <a:latin typeface="Microsoft YaHei" charset="0"/>
                <a:ea typeface="Microsoft YaHei" charset="0"/>
                <a:sym typeface="+mn-ea"/>
              </a:rPr>
              <a:t> *</a:t>
            </a:r>
            <a:r>
              <a:rPr lang="zh-CN" altLang="en-US" sz="1800" dirty="0" smtClean="0">
                <a:latin typeface="Microsoft YaHei" charset="0"/>
                <a:ea typeface="Microsoft YaHei" charset="0"/>
              </a:rPr>
              <a:t>) &amp;x, sizeof(float)); }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void show_pointer(void *x) {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    show_bytes((</a:t>
            </a:r>
            <a:r>
              <a:rPr lang="zh-CN" altLang="en-US" sz="1800" dirty="0" smtClean="0">
                <a:latin typeface="Microsoft YaHei" charset="0"/>
                <a:ea typeface="Microsoft YaHei" charset="0"/>
                <a:sym typeface="+mn-ea"/>
              </a:rPr>
              <a:t>unsigned char</a:t>
            </a:r>
            <a:r>
              <a:rPr lang="en-US" altLang="zh-CN" sz="1800" dirty="0" smtClean="0">
                <a:latin typeface="Microsoft YaHei" charset="0"/>
                <a:ea typeface="Microsoft YaHei" charset="0"/>
                <a:sym typeface="+mn-ea"/>
              </a:rPr>
              <a:t> *</a:t>
            </a:r>
            <a:r>
              <a:rPr lang="zh-CN" altLang="en-US" sz="1800" dirty="0" smtClean="0">
                <a:latin typeface="Microsoft YaHei" charset="0"/>
                <a:ea typeface="Microsoft YaHei" charset="0"/>
              </a:rPr>
              <a:t>) &amp;x, sizeof(void *)); 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  <a:p>
            <a:r>
              <a:rPr lang="zh-CN" altLang="en-US" sz="1800" dirty="0" smtClean="0">
                <a:latin typeface="Microsoft YaHei" charset="0"/>
                <a:ea typeface="Microsoft YaHei" charset="0"/>
              </a:rPr>
              <a:t>}</a:t>
            </a:r>
            <a:endParaRPr lang="zh-CN" altLang="en-US" sz="1800" dirty="0" smtClean="0">
              <a:latin typeface="Microsoft YaHei" charset="0"/>
              <a:ea typeface="Microsoft YaHei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 dirty="0"/>
              <a:t>Representing Pointers</a:t>
            </a:r>
            <a:r>
              <a:rPr lang="zh-CN" altLang="en-US" dirty="0"/>
              <a:t>指针的</a:t>
            </a:r>
            <a:r>
              <a:rPr lang="zh-CN" altLang="en-US" dirty="0"/>
              <a:t>表示</a:t>
            </a:r>
            <a:endParaRPr lang="zh-CN" altLang="en-US" dirty="0"/>
          </a:p>
        </p:txBody>
      </p:sp>
      <p:sp>
        <p:nvSpPr>
          <p:cNvPr id="54277" name="Rectangle 4"/>
          <p:cNvSpPr/>
          <p:nvPr/>
        </p:nvSpPr>
        <p:spPr bwMode="auto">
          <a:xfrm>
            <a:off x="1676400" y="5575300"/>
            <a:ext cx="8839200" cy="673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50800" tIns="50800" bIns="50800"/>
          <a:lstStyle/>
          <a:p>
            <a:pPr eaLnBrk="1" hangingPunct="1"/>
            <a:r>
              <a:rPr lang="zh-CN" altLang="en-US" sz="2000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不同的编译器</a:t>
            </a:r>
            <a:r>
              <a:rPr lang="en-US" altLang="zh-CN" sz="2000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/</a:t>
            </a:r>
            <a:r>
              <a:rPr lang="zh-CN" altLang="en-US" sz="2000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机器会给对象分配不同的地址</a:t>
            </a:r>
            <a:endParaRPr lang="en-US" sz="2000" b="0" dirty="0">
              <a:solidFill>
                <a:srgbClr val="000066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eaLnBrk="1" hangingPunct="1"/>
            <a:r>
              <a:rPr lang="zh-CN" altLang="en-US" sz="2000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甚至</a:t>
            </a:r>
            <a:r>
              <a:rPr lang="en-US" altLang="zh-CN" sz="2000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，</a:t>
            </a:r>
            <a:r>
              <a:rPr lang="zh-CN" altLang="en-US" sz="2000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程序的每次不同运行</a:t>
            </a:r>
            <a:r>
              <a:rPr lang="en-US" altLang="zh-CN" sz="2000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，</a:t>
            </a:r>
            <a:r>
              <a:rPr lang="zh-CN" altLang="en-US" sz="2000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都会有不同的</a:t>
            </a:r>
            <a:r>
              <a:rPr lang="zh-CN" altLang="en-US" sz="2000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地址</a:t>
            </a:r>
            <a:endParaRPr lang="zh-CN" altLang="en-US" sz="2000" b="0" dirty="0">
              <a:solidFill>
                <a:srgbClr val="000066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9461" name="Rectangle 5"/>
          <p:cNvSpPr/>
          <p:nvPr/>
        </p:nvSpPr>
        <p:spPr bwMode="auto">
          <a:xfrm>
            <a:off x="1936750" y="1365647"/>
            <a:ext cx="2286000" cy="615315"/>
          </a:xfrm>
          <a:prstGeom prst="rect">
            <a:avLst/>
          </a:prstGeom>
          <a:solidFill>
            <a:srgbClr val="FFFF9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eaLnBrk="1" hangingPunct="1"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B = -15213;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eaLnBrk="1" hangingPunct="1"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*P = &amp;B;</a:t>
            </a:r>
            <a:endParaRPr lang="en-US" sz="2000" b="0" dirty="0">
              <a:solidFill>
                <a:srgbClr val="00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54279" name="Rectangle 6"/>
          <p:cNvSpPr/>
          <p:nvPr/>
        </p:nvSpPr>
        <p:spPr bwMode="auto">
          <a:xfrm>
            <a:off x="7308850" y="2133600"/>
            <a:ext cx="844550" cy="3784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x86-64</a:t>
            </a:r>
            <a:endParaRPr lang="en-US" sz="1800">
              <a:solidFill>
                <a:srgbClr val="000066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54280" name="Rectangle 7"/>
          <p:cNvSpPr/>
          <p:nvPr/>
        </p:nvSpPr>
        <p:spPr bwMode="auto">
          <a:xfrm>
            <a:off x="5123022" y="2133600"/>
            <a:ext cx="550545" cy="3784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algn="ctr" eaLnBrk="1" hangingPunct="1"/>
            <a:r>
              <a: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Sun</a:t>
            </a:r>
            <a:endParaRPr lang="en-US" sz="1800">
              <a:solidFill>
                <a:srgbClr val="000066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54281" name="Rectangle 8"/>
          <p:cNvSpPr/>
          <p:nvPr/>
        </p:nvSpPr>
        <p:spPr bwMode="auto">
          <a:xfrm>
            <a:off x="6268879" y="2133600"/>
            <a:ext cx="614680" cy="3784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algn="ctr" eaLnBrk="1" hangingPunct="1"/>
            <a:r>
              <a: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IA32</a:t>
            </a:r>
            <a:endParaRPr lang="en-US" sz="1800">
              <a:solidFill>
                <a:srgbClr val="000066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graphicFrame>
        <p:nvGraphicFramePr>
          <p:cNvPr id="19465" name="Group 9"/>
          <p:cNvGraphicFramePr>
            <a:graphicFrameLocks noGrp="1"/>
          </p:cNvGraphicFramePr>
          <p:nvPr/>
        </p:nvGraphicFramePr>
        <p:xfrm>
          <a:off x="5114925" y="2527300"/>
          <a:ext cx="635000" cy="1524000"/>
        </p:xfrm>
        <a:graphic>
          <a:graphicData uri="http://schemas.openxmlformats.org/drawingml/2006/table">
            <a:tbl>
              <a:tblPr/>
              <a:tblGrid>
                <a:gridCol w="6350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EF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4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FF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4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FB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4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2C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4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483" name="Group 27"/>
          <p:cNvGraphicFramePr>
            <a:graphicFrameLocks noGrp="1"/>
          </p:cNvGraphicFramePr>
          <p:nvPr/>
        </p:nvGraphicFramePr>
        <p:xfrm>
          <a:off x="6270625" y="2527300"/>
          <a:ext cx="635000" cy="1524000"/>
        </p:xfrm>
        <a:graphic>
          <a:graphicData uri="http://schemas.openxmlformats.org/drawingml/2006/table">
            <a:tbl>
              <a:tblPr/>
              <a:tblGrid>
                <a:gridCol w="6350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AC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28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F5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FF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501" name="Group 45"/>
          <p:cNvGraphicFramePr>
            <a:graphicFrameLocks noGrp="1"/>
          </p:cNvGraphicFramePr>
          <p:nvPr/>
        </p:nvGraphicFramePr>
        <p:xfrm>
          <a:off x="7426325" y="2527300"/>
          <a:ext cx="635000" cy="3048000"/>
        </p:xfrm>
        <a:graphic>
          <a:graphicData uri="http://schemas.openxmlformats.org/drawingml/2006/table">
            <a:tbl>
              <a:tblPr/>
              <a:tblGrid>
                <a:gridCol w="6350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3C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1B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FE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82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FD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7F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00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/>
          <p:nvPr/>
        </p:nvSpPr>
        <p:spPr bwMode="auto">
          <a:xfrm>
            <a:off x="6515100" y="1206500"/>
            <a:ext cx="3911600" cy="457200"/>
          </a:xfrm>
          <a:prstGeom prst="rect">
            <a:avLst/>
          </a:prstGeom>
          <a:solidFill>
            <a:srgbClr val="FFFF9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rgbClr val="000000">
                <a:alpha val="75000"/>
              </a:srgbClr>
            </a:outerShdw>
          </a:effectLst>
        </p:spPr>
        <p:txBody>
          <a:bodyPr lIns="25400" tIns="25400" rIns="65086" bIns="25400"/>
          <a:lstStyle/>
          <a:p>
            <a:pPr marL="398780" indent="-386080" algn="ctr" eaLnBrk="1" hangingPunct="1">
              <a:lnSpc>
                <a:spcPct val="95000"/>
              </a:lnSpc>
              <a:spcBef>
                <a:spcPts val="115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char S[6] = "18213";</a:t>
            </a:r>
            <a:endParaRPr lang="en-US" sz="2000" b="0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 sz="3200" dirty="0"/>
              <a:t>Representing Strings </a:t>
            </a:r>
            <a:r>
              <a:rPr lang="zh-CN" altLang="en-US" sz="3200" dirty="0"/>
              <a:t>字符串的表示</a:t>
            </a:r>
            <a:endParaRPr lang="zh-CN" altLang="en-US" sz="3200" dirty="0"/>
          </a:p>
        </p:txBody>
      </p:sp>
      <p:sp>
        <p:nvSpPr>
          <p:cNvPr id="55301" name="Rectangle 4"/>
          <p:cNvSpPr>
            <a:spLocks noGrp="1" noChangeArrowheads="1"/>
          </p:cNvSpPr>
          <p:nvPr>
            <p:ph idx="1"/>
          </p:nvPr>
        </p:nvSpPr>
        <p:spPr>
          <a:xfrm>
            <a:off x="1920875" y="1428750"/>
            <a:ext cx="7896225" cy="49720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SimSun" charset="0"/>
              </a:rPr>
              <a:t>C</a:t>
            </a:r>
            <a:r>
              <a:rPr lang="zh-CN" altLang="en-US" dirty="0">
                <a:ea typeface="SimSun" charset="0"/>
              </a:rPr>
              <a:t>语言中的字符串</a:t>
            </a:r>
            <a:endParaRPr lang="en-US" dirty="0"/>
          </a:p>
          <a:p>
            <a:pPr marL="552450" lvl="1" eaLnBrk="1" hangingPunct="1"/>
            <a:r>
              <a:rPr lang="zh-CN" altLang="en-US" dirty="0"/>
              <a:t>表示为：字符的数组</a:t>
            </a:r>
            <a:endParaRPr lang="en-US" dirty="0"/>
          </a:p>
          <a:p>
            <a:pPr marL="552450" lvl="1" eaLnBrk="1" hangingPunct="1"/>
            <a:r>
              <a:rPr lang="zh-CN" altLang="en-US" dirty="0">
                <a:solidFill>
                  <a:srgbClr val="00B050"/>
                </a:solidFill>
              </a:rPr>
              <a:t>每个字符都用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ASCII </a:t>
            </a:r>
            <a:r>
              <a:rPr lang="zh-CN" altLang="en-US" b="1" dirty="0">
                <a:solidFill>
                  <a:srgbClr val="00B050"/>
                </a:solidFill>
              </a:rPr>
              <a:t>编码</a:t>
            </a:r>
            <a:endParaRPr lang="en-US" dirty="0"/>
          </a:p>
          <a:p>
            <a:pPr marL="838200" lvl="2" eaLnBrk="1" hangingPunct="1"/>
            <a:r>
              <a:rPr lang="zh-CN" altLang="en-US" b="1" dirty="0"/>
              <a:t>数字</a:t>
            </a:r>
            <a:r>
              <a:rPr lang="en-US" b="1" dirty="0"/>
              <a:t> “0” </a:t>
            </a:r>
            <a:r>
              <a:rPr lang="zh-CN" altLang="en-US" b="1" dirty="0"/>
              <a:t>的编码为</a:t>
            </a:r>
            <a:r>
              <a:rPr lang="en-US" b="1" dirty="0"/>
              <a:t> 0x30</a:t>
            </a:r>
            <a:endParaRPr lang="en-US" b="1" dirty="0"/>
          </a:p>
          <a:p>
            <a:pPr marL="1181100" lvl="3" eaLnBrk="1" hangingPunct="1"/>
            <a:r>
              <a:rPr lang="zh-CN" altLang="en-US" b="1" dirty="0"/>
              <a:t>数字</a:t>
            </a:r>
            <a:r>
              <a:rPr lang="en-US" b="1" i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i</a:t>
            </a:r>
            <a:r>
              <a:rPr lang="en-US" b="1" dirty="0"/>
              <a:t>  </a:t>
            </a:r>
            <a:r>
              <a:rPr lang="zh-CN" altLang="en-US" b="1" dirty="0"/>
              <a:t>的编码为</a:t>
            </a:r>
            <a:r>
              <a:rPr lang="en-US" b="1" dirty="0"/>
              <a:t> 0x30+</a:t>
            </a:r>
            <a:r>
              <a:rPr lang="en-US" b="1" i="1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i</a:t>
            </a:r>
            <a:endParaRPr lang="en-US" b="1" i="1" dirty="0"/>
          </a:p>
          <a:p>
            <a:pPr marL="552450" lvl="1" eaLnBrk="1" hangingPunct="1"/>
            <a:r>
              <a:rPr lang="zh-CN" altLang="en-US" dirty="0"/>
              <a:t>字符串应该以空字符结束</a:t>
            </a:r>
            <a:endParaRPr lang="zh-CN" altLang="en-US" dirty="0"/>
          </a:p>
          <a:p>
            <a:pPr marL="1009650" lvl="2" eaLnBrk="1" hangingPunct="1"/>
            <a:r>
              <a:rPr lang="zh-CN" altLang="en-US" dirty="0"/>
              <a:t>空字符的编码为</a:t>
            </a:r>
            <a:r>
              <a:rPr lang="en-US" dirty="0"/>
              <a:t> 0</a:t>
            </a:r>
            <a:r>
              <a:rPr lang="en-US" dirty="0"/>
              <a:t>x0</a:t>
            </a:r>
            <a:endParaRPr lang="en-US" dirty="0"/>
          </a:p>
          <a:p>
            <a:pPr eaLnBrk="1" hangingPunct="1"/>
            <a:r>
              <a:rPr lang="zh-CN" altLang="en-US" dirty="0"/>
              <a:t>兼容性</a:t>
            </a:r>
            <a:endParaRPr lang="en-US" dirty="0"/>
          </a:p>
          <a:p>
            <a:pPr marL="552450" lvl="1" eaLnBrk="1" hangingPunct="1"/>
            <a:r>
              <a:rPr lang="zh-CN" altLang="en-US" dirty="0"/>
              <a:t>字节序不是问题（</a:t>
            </a:r>
            <a:r>
              <a:rPr lang="zh-CN" altLang="en-US" dirty="0"/>
              <a:t>为什么）</a:t>
            </a:r>
            <a:endParaRPr lang="zh-CN" altLang="en-US" dirty="0"/>
          </a:p>
        </p:txBody>
      </p:sp>
      <p:sp>
        <p:nvSpPr>
          <p:cNvPr id="55302" name="Rectangle 5"/>
          <p:cNvSpPr/>
          <p:nvPr/>
        </p:nvSpPr>
        <p:spPr bwMode="auto">
          <a:xfrm>
            <a:off x="7787082" y="2246313"/>
            <a:ext cx="614680" cy="3784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algn="ctr" eaLnBrk="1" hangingPunct="1"/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IA32</a:t>
            </a:r>
            <a:endParaRPr lang="en-US" sz="1800" dirty="0">
              <a:solidFill>
                <a:srgbClr val="000066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55303" name="Rectangle 6"/>
          <p:cNvSpPr/>
          <p:nvPr/>
        </p:nvSpPr>
        <p:spPr bwMode="auto">
          <a:xfrm>
            <a:off x="9436259" y="2246313"/>
            <a:ext cx="550545" cy="37846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algn="ctr" eaLnBrk="1" hangingPunct="1"/>
            <a:r>
              <a: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Sun</a:t>
            </a:r>
            <a:endParaRPr lang="en-US" sz="1800">
              <a:solidFill>
                <a:srgbClr val="000066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grpSp>
        <p:nvGrpSpPr>
          <p:cNvPr id="2" name="Group 7"/>
          <p:cNvGrpSpPr/>
          <p:nvPr/>
        </p:nvGrpSpPr>
        <p:grpSpPr bwMode="auto">
          <a:xfrm>
            <a:off x="8459787" y="2832100"/>
            <a:ext cx="914400" cy="1906588"/>
            <a:chOff x="0" y="0"/>
            <a:chExt cx="576" cy="1201"/>
          </a:xfrm>
        </p:grpSpPr>
        <p:sp>
          <p:nvSpPr>
            <p:cNvPr id="55337" name="Line 8"/>
            <p:cNvSpPr>
              <a:spLocks noChangeShapeType="1"/>
            </p:cNvSpPr>
            <p:nvPr/>
          </p:nvSpPr>
          <p:spPr bwMode="auto">
            <a:xfrm>
              <a:off x="0" y="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 panose="02070609020205020404"/>
                <a:ea typeface="ヒラギノ角ゴ ProN W3" panose="020B0300000000000000" charset="-128"/>
                <a:cs typeface="Courier New" panose="02070609020205020404"/>
                <a:sym typeface="Gill Sans" panose="020B0502020104020203" charset="0"/>
              </a:endParaRPr>
            </a:p>
          </p:txBody>
        </p:sp>
        <p:sp>
          <p:nvSpPr>
            <p:cNvPr id="55338" name="Line 9"/>
            <p:cNvSpPr>
              <a:spLocks noChangeShapeType="1"/>
            </p:cNvSpPr>
            <p:nvPr/>
          </p:nvSpPr>
          <p:spPr bwMode="auto">
            <a:xfrm>
              <a:off x="0" y="24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 panose="02070609020205020404"/>
                <a:ea typeface="ヒラギノ角ゴ ProN W3" panose="020B0300000000000000" charset="-128"/>
                <a:cs typeface="Courier New" panose="02070609020205020404"/>
                <a:sym typeface="Gill Sans" panose="020B0502020104020203" charset="0"/>
              </a:endParaRPr>
            </a:p>
          </p:txBody>
        </p:sp>
        <p:sp>
          <p:nvSpPr>
            <p:cNvPr id="55339" name="Line 10"/>
            <p:cNvSpPr>
              <a:spLocks noChangeShapeType="1"/>
            </p:cNvSpPr>
            <p:nvPr/>
          </p:nvSpPr>
          <p:spPr bwMode="auto">
            <a:xfrm>
              <a:off x="0" y="48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 panose="02070609020205020404"/>
                <a:ea typeface="ヒラギノ角ゴ ProN W3" panose="020B0300000000000000" charset="-128"/>
                <a:cs typeface="Courier New" panose="02070609020205020404"/>
                <a:sym typeface="Gill Sans" panose="020B0502020104020203" charset="0"/>
              </a:endParaRPr>
            </a:p>
          </p:txBody>
        </p:sp>
        <p:sp>
          <p:nvSpPr>
            <p:cNvPr id="55340" name="Line 11"/>
            <p:cNvSpPr>
              <a:spLocks noChangeShapeType="1"/>
            </p:cNvSpPr>
            <p:nvPr/>
          </p:nvSpPr>
          <p:spPr bwMode="auto">
            <a:xfrm>
              <a:off x="0" y="72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 panose="02070609020205020404"/>
                <a:ea typeface="ヒラギノ角ゴ ProN W3" panose="020B0300000000000000" charset="-128"/>
                <a:cs typeface="Courier New" panose="02070609020205020404"/>
                <a:sym typeface="Gill Sans" panose="020B0502020104020203" charset="0"/>
              </a:endParaRPr>
            </a:p>
          </p:txBody>
        </p:sp>
        <p:sp>
          <p:nvSpPr>
            <p:cNvPr id="55341" name="Line 12"/>
            <p:cNvSpPr>
              <a:spLocks noChangeShapeType="1"/>
            </p:cNvSpPr>
            <p:nvPr/>
          </p:nvSpPr>
          <p:spPr bwMode="auto">
            <a:xfrm>
              <a:off x="0" y="96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 panose="02070609020205020404"/>
                <a:ea typeface="ヒラギノ角ゴ ProN W3" panose="020B0300000000000000" charset="-128"/>
                <a:cs typeface="Courier New" panose="02070609020205020404"/>
                <a:sym typeface="Gill Sans" panose="020B0502020104020203" charset="0"/>
              </a:endParaRPr>
            </a:p>
          </p:txBody>
        </p:sp>
        <p:sp>
          <p:nvSpPr>
            <p:cNvPr id="55342" name="Line 13"/>
            <p:cNvSpPr>
              <a:spLocks noChangeShapeType="1"/>
            </p:cNvSpPr>
            <p:nvPr/>
          </p:nvSpPr>
          <p:spPr bwMode="auto">
            <a:xfrm>
              <a:off x="0" y="120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 panose="02070609020205020404"/>
                <a:ea typeface="ヒラギノ角ゴ ProN W3" panose="020B0300000000000000" charset="-128"/>
                <a:cs typeface="Courier New" panose="02070609020205020404"/>
                <a:sym typeface="Gill Sans" panose="020B0502020104020203" charset="0"/>
              </a:endParaRPr>
            </a:p>
          </p:txBody>
        </p:sp>
      </p:grpSp>
      <p:graphicFrame>
        <p:nvGraphicFramePr>
          <p:cNvPr id="20494" name="Group 14"/>
          <p:cNvGraphicFramePr>
            <a:graphicFrameLocks noGrp="1"/>
          </p:cNvGraphicFramePr>
          <p:nvPr/>
        </p:nvGraphicFramePr>
        <p:xfrm>
          <a:off x="7815262" y="2667000"/>
          <a:ext cx="635000" cy="2286000"/>
        </p:xfrm>
        <a:graphic>
          <a:graphicData uri="http://schemas.openxmlformats.org/drawingml/2006/table">
            <a:tbl>
              <a:tblPr/>
              <a:tblGrid>
                <a:gridCol w="6350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33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20" name="Group 40"/>
          <p:cNvGraphicFramePr>
            <a:graphicFrameLocks noGrp="1"/>
          </p:cNvGraphicFramePr>
          <p:nvPr/>
        </p:nvGraphicFramePr>
        <p:xfrm>
          <a:off x="9390062" y="2667000"/>
          <a:ext cx="635000" cy="2286000"/>
        </p:xfrm>
        <a:graphic>
          <a:graphicData uri="http://schemas.openxmlformats.org/drawingml/2006/table">
            <a:tbl>
              <a:tblPr/>
              <a:tblGrid>
                <a:gridCol w="6350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33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 panose="02070609020205020404"/>
                          <a:ea typeface="Monaco" charset="0"/>
                          <a:cs typeface="Courier New" panose="02070609020205020404"/>
                          <a:sym typeface="Monaco" charset="0"/>
                        </a:rPr>
                        <a:t>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Courier New" panose="02070609020205020404"/>
                        <a:ea typeface="Monaco" charset="0"/>
                        <a:cs typeface="Courier New" panose="02070609020205020404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extras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/>
              <a:t>Application of Boolean Algebra</a:t>
            </a:r>
            <a:endParaRPr lang="en-US"/>
          </a:p>
        </p:txBody>
      </p:sp>
      <p:sp>
        <p:nvSpPr>
          <p:cNvPr id="5734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Applied to Digital Systems by Claude Shannon</a:t>
            </a:r>
            <a:endParaRPr lang="en-US"/>
          </a:p>
          <a:p>
            <a:pPr marL="552450" lvl="1" eaLnBrk="1" hangingPunct="1"/>
            <a:r>
              <a:rPr lang="en-US"/>
              <a:t>1937 MIT Master’s Thesis</a:t>
            </a:r>
            <a:endParaRPr lang="en-US"/>
          </a:p>
          <a:p>
            <a:pPr marL="552450" lvl="1" eaLnBrk="1" hangingPunct="1"/>
            <a:r>
              <a:rPr lang="en-US"/>
              <a:t>Reason about networks of relay switches</a:t>
            </a:r>
            <a:endParaRPr lang="en-US"/>
          </a:p>
          <a:p>
            <a:pPr marL="838200" lvl="2" eaLnBrk="1" hangingPunct="1"/>
            <a:r>
              <a:rPr lang="en-US"/>
              <a:t>Encode closed switch as 1, open switch as 0</a:t>
            </a:r>
            <a:endParaRPr lang="en-US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3051175" y="3863975"/>
            <a:ext cx="3048000" cy="1143000"/>
            <a:chOff x="0" y="0"/>
            <a:chExt cx="1920" cy="720"/>
          </a:xfrm>
        </p:grpSpPr>
        <p:sp>
          <p:nvSpPr>
            <p:cNvPr id="57359" name="Line 6"/>
            <p:cNvSpPr>
              <a:spLocks noChangeShapeType="1"/>
            </p:cNvSpPr>
            <p:nvPr/>
          </p:nvSpPr>
          <p:spPr bwMode="auto">
            <a:xfrm rot="10800000" flipH="1">
              <a:off x="288" y="0"/>
              <a:ext cx="672" cy="384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7360" name="Line 7"/>
            <p:cNvSpPr>
              <a:spLocks noChangeShapeType="1"/>
            </p:cNvSpPr>
            <p:nvPr/>
          </p:nvSpPr>
          <p:spPr bwMode="auto">
            <a:xfrm>
              <a:off x="288" y="384"/>
              <a:ext cx="672" cy="33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7361" name="Line 8"/>
            <p:cNvSpPr>
              <a:spLocks noChangeShapeType="1"/>
            </p:cNvSpPr>
            <p:nvPr/>
          </p:nvSpPr>
          <p:spPr bwMode="auto">
            <a:xfrm>
              <a:off x="960" y="0"/>
              <a:ext cx="672" cy="33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7362" name="Line 9"/>
            <p:cNvSpPr>
              <a:spLocks noChangeShapeType="1"/>
            </p:cNvSpPr>
            <p:nvPr/>
          </p:nvSpPr>
          <p:spPr bwMode="auto">
            <a:xfrm rot="10800000" flipH="1">
              <a:off x="960" y="336"/>
              <a:ext cx="672" cy="384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7363" name="Rectangle 10"/>
            <p:cNvSpPr/>
            <p:nvPr/>
          </p:nvSpPr>
          <p:spPr bwMode="auto">
            <a:xfrm>
              <a:off x="567" y="3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</a:t>
              </a:r>
              <a:endParaRPr lang="en-US" sz="1800" b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57364" name="Rectangle 11"/>
            <p:cNvSpPr/>
            <p:nvPr/>
          </p:nvSpPr>
          <p:spPr bwMode="auto">
            <a:xfrm>
              <a:off x="577" y="48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~A</a:t>
              </a:r>
              <a:endParaRPr lang="en-US" sz="1800" b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57365" name="Rectangle 12"/>
            <p:cNvSpPr/>
            <p:nvPr/>
          </p:nvSpPr>
          <p:spPr bwMode="auto">
            <a:xfrm>
              <a:off x="1057" y="3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~B</a:t>
              </a:r>
              <a:endParaRPr lang="en-US" sz="1800" b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57366" name="Rectangle 13"/>
            <p:cNvSpPr/>
            <p:nvPr/>
          </p:nvSpPr>
          <p:spPr bwMode="auto">
            <a:xfrm>
              <a:off x="1067" y="48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</a:ln>
          </p:spPr>
          <p:txBody>
            <a:bodyPr lIns="50800" tIns="50800" bIns="50800"/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</a:t>
              </a:r>
              <a:endParaRPr lang="en-US" sz="1800" b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57367" name="Line 14"/>
            <p:cNvSpPr>
              <a:spLocks noChangeShapeType="1"/>
            </p:cNvSpPr>
            <p:nvPr/>
          </p:nvSpPr>
          <p:spPr bwMode="auto">
            <a:xfrm>
              <a:off x="1632" y="336"/>
              <a:ext cx="19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7368" name="Line 15"/>
            <p:cNvSpPr>
              <a:spLocks noChangeShapeType="1"/>
            </p:cNvSpPr>
            <p:nvPr/>
          </p:nvSpPr>
          <p:spPr bwMode="auto">
            <a:xfrm>
              <a:off x="96" y="384"/>
              <a:ext cx="19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7369" name="Oval 16"/>
            <p:cNvSpPr/>
            <p:nvPr/>
          </p:nvSpPr>
          <p:spPr bwMode="auto">
            <a:xfrm>
              <a:off x="0" y="336"/>
              <a:ext cx="96" cy="9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7370" name="Oval 17"/>
            <p:cNvSpPr/>
            <p:nvPr/>
          </p:nvSpPr>
          <p:spPr bwMode="auto">
            <a:xfrm>
              <a:off x="1824" y="288"/>
              <a:ext cx="96" cy="9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</p:grpSp>
      <p:sp>
        <p:nvSpPr>
          <p:cNvPr id="22546" name="Rectangle 18"/>
          <p:cNvSpPr/>
          <p:nvPr/>
        </p:nvSpPr>
        <p:spPr bwMode="auto">
          <a:xfrm>
            <a:off x="6464300" y="3530600"/>
            <a:ext cx="2507615" cy="19481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50800" tIns="50800" bIns="50800">
            <a:spAutoFit/>
          </a:bodyPr>
          <a:lstStyle/>
          <a:p>
            <a:pPr eaLnBrk="1" hangingPunct="1"/>
            <a:r>
              <a:rPr lang="en-US">
                <a:solidFill>
                  <a:srgbClr val="8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Connection when</a:t>
            </a:r>
            <a:endParaRPr lang="en-US">
              <a:solidFill>
                <a:srgbClr val="8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eaLnBrk="1" hangingPunct="1"/>
            <a:r>
              <a:rPr lang="en-US">
                <a:solidFill>
                  <a:srgbClr val="8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  </a:t>
            </a:r>
            <a:endParaRPr lang="en-US">
              <a:solidFill>
                <a:srgbClr val="8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eaLnBrk="1" hangingPunct="1"/>
            <a:r>
              <a:rPr lang="en-US">
                <a:solidFill>
                  <a:srgbClr val="8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 A&amp;~B | ~A&amp;B</a:t>
            </a:r>
            <a:endParaRPr lang="en-US">
              <a:solidFill>
                <a:srgbClr val="8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eaLnBrk="1" hangingPunct="1"/>
            <a:endParaRPr lang="en-US">
              <a:solidFill>
                <a:srgbClr val="8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eaLnBrk="1" hangingPunct="1"/>
            <a:r>
              <a:rPr lang="en-US">
                <a:solidFill>
                  <a:srgbClr val="8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  </a:t>
            </a:r>
            <a:endParaRPr lang="en-US">
              <a:solidFill>
                <a:srgbClr val="8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grpSp>
        <p:nvGrpSpPr>
          <p:cNvPr id="3" name="Group 19"/>
          <p:cNvGrpSpPr/>
          <p:nvPr/>
        </p:nvGrpSpPr>
        <p:grpSpPr bwMode="auto">
          <a:xfrm>
            <a:off x="3187700" y="3378200"/>
            <a:ext cx="2819400" cy="838200"/>
            <a:chOff x="0" y="0"/>
            <a:chExt cx="1776" cy="528"/>
          </a:xfrm>
        </p:grpSpPr>
        <p:sp>
          <p:nvSpPr>
            <p:cNvPr id="57357" name="Freeform 20"/>
            <p:cNvSpPr/>
            <p:nvPr/>
          </p:nvSpPr>
          <p:spPr bwMode="auto">
            <a:xfrm>
              <a:off x="0" y="240"/>
              <a:ext cx="1776" cy="288"/>
            </a:xfrm>
            <a:custGeom>
              <a:avLst/>
              <a:gdLst>
                <a:gd name="T0" fmla="*/ 0 w 21600"/>
                <a:gd name="T1" fmla="*/ 21600 h 21600"/>
                <a:gd name="T2" fmla="*/ 3503 w 21600"/>
                <a:gd name="T3" fmla="*/ 21600 h 21600"/>
                <a:gd name="T4" fmla="*/ 11092 w 21600"/>
                <a:gd name="T5" fmla="*/ 0 h 21600"/>
                <a:gd name="T6" fmla="*/ 18681 w 21600"/>
                <a:gd name="T7" fmla="*/ 18000 h 21600"/>
                <a:gd name="T8" fmla="*/ 21600 w 21600"/>
                <a:gd name="T9" fmla="*/ 1800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600"/>
                <a:gd name="T16" fmla="*/ 0 h 21600"/>
                <a:gd name="T17" fmla="*/ 21600 w 21600"/>
                <a:gd name="T18" fmla="*/ 21600 h 21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0" h="21600">
                  <a:moveTo>
                    <a:pt x="0" y="21600"/>
                  </a:moveTo>
                  <a:lnTo>
                    <a:pt x="3503" y="21600"/>
                  </a:lnTo>
                  <a:cubicBezTo>
                    <a:pt x="5351" y="18000"/>
                    <a:pt x="8891" y="0"/>
                    <a:pt x="11092" y="0"/>
                  </a:cubicBezTo>
                  <a:cubicBezTo>
                    <a:pt x="13293" y="0"/>
                    <a:pt x="16930" y="15000"/>
                    <a:pt x="18681" y="18000"/>
                  </a:cubicBezTo>
                  <a:lnTo>
                    <a:pt x="21600" y="18000"/>
                  </a:lnTo>
                </a:path>
              </a:pathLst>
            </a:custGeom>
            <a:noFill/>
            <a:ln w="28575">
              <a:solidFill>
                <a:srgbClr val="FF5050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7358" name="Rectangle 21"/>
            <p:cNvSpPr/>
            <p:nvPr/>
          </p:nvSpPr>
          <p:spPr bwMode="auto">
            <a:xfrm>
              <a:off x="731" y="0"/>
              <a:ext cx="434" cy="22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none" lIns="50800" tIns="50800" rIns="45720" bIns="50800"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r>
                <a:rPr lang="en-US" sz="1800">
                  <a:solidFill>
                    <a:srgbClr val="CC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A&amp;~B</a:t>
              </a:r>
              <a:endParaRPr lang="en-US" sz="1800">
                <a:solidFill>
                  <a:srgbClr val="CC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  <p:grpSp>
        <p:nvGrpSpPr>
          <p:cNvPr id="4" name="Group 22"/>
          <p:cNvGrpSpPr/>
          <p:nvPr/>
        </p:nvGrpSpPr>
        <p:grpSpPr bwMode="auto">
          <a:xfrm>
            <a:off x="3111500" y="4673600"/>
            <a:ext cx="2819400" cy="882650"/>
            <a:chOff x="0" y="0"/>
            <a:chExt cx="1776" cy="556"/>
          </a:xfrm>
        </p:grpSpPr>
        <p:sp>
          <p:nvSpPr>
            <p:cNvPr id="57355" name="Freeform 23"/>
            <p:cNvSpPr/>
            <p:nvPr/>
          </p:nvSpPr>
          <p:spPr bwMode="auto">
            <a:xfrm rot="10800000" flipH="1">
              <a:off x="0" y="0"/>
              <a:ext cx="1776" cy="288"/>
            </a:xfrm>
            <a:custGeom>
              <a:avLst/>
              <a:gdLst>
                <a:gd name="T0" fmla="*/ 0 w 21600"/>
                <a:gd name="T1" fmla="*/ 21600 h 21600"/>
                <a:gd name="T2" fmla="*/ 3503 w 21600"/>
                <a:gd name="T3" fmla="*/ 21600 h 21600"/>
                <a:gd name="T4" fmla="*/ 11092 w 21600"/>
                <a:gd name="T5" fmla="*/ 0 h 21600"/>
                <a:gd name="T6" fmla="*/ 18681 w 21600"/>
                <a:gd name="T7" fmla="*/ 18000 h 21600"/>
                <a:gd name="T8" fmla="*/ 21600 w 21600"/>
                <a:gd name="T9" fmla="*/ 1800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600"/>
                <a:gd name="T16" fmla="*/ 0 h 21600"/>
                <a:gd name="T17" fmla="*/ 21600 w 21600"/>
                <a:gd name="T18" fmla="*/ 21600 h 21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0" h="21600">
                  <a:moveTo>
                    <a:pt x="0" y="21600"/>
                  </a:moveTo>
                  <a:lnTo>
                    <a:pt x="3503" y="21600"/>
                  </a:lnTo>
                  <a:cubicBezTo>
                    <a:pt x="5351" y="18000"/>
                    <a:pt x="8891" y="0"/>
                    <a:pt x="11092" y="0"/>
                  </a:cubicBezTo>
                  <a:cubicBezTo>
                    <a:pt x="13293" y="0"/>
                    <a:pt x="16930" y="15000"/>
                    <a:pt x="18681" y="18000"/>
                  </a:cubicBezTo>
                  <a:lnTo>
                    <a:pt x="21600" y="18000"/>
                  </a:lnTo>
                </a:path>
              </a:pathLst>
            </a:custGeom>
            <a:noFill/>
            <a:ln w="28575">
              <a:solidFill>
                <a:srgbClr val="FF5050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7356" name="Rectangle 24"/>
            <p:cNvSpPr/>
            <p:nvPr/>
          </p:nvSpPr>
          <p:spPr bwMode="auto">
            <a:xfrm>
              <a:off x="779" y="336"/>
              <a:ext cx="434" cy="22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none" lIns="50800" tIns="50800" rIns="45720" bIns="50800"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r>
                <a:rPr lang="en-US" sz="1800">
                  <a:solidFill>
                    <a:srgbClr val="CC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~A&amp;B</a:t>
              </a:r>
              <a:endParaRPr lang="en-US" sz="1800">
                <a:solidFill>
                  <a:srgbClr val="CC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endParaRPr>
            </a:p>
          </p:txBody>
        </p:sp>
      </p:grpSp>
      <p:sp>
        <p:nvSpPr>
          <p:cNvPr id="22553" name="Rectangle 25"/>
          <p:cNvSpPr/>
          <p:nvPr/>
        </p:nvSpPr>
        <p:spPr bwMode="auto">
          <a:xfrm>
            <a:off x="6653213" y="5130800"/>
            <a:ext cx="911225" cy="470535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 lIns="50800" tIns="50800" rIns="45720" bIns="50800">
            <a:spAutoFit/>
          </a:bodyPr>
          <a:lstStyle/>
          <a:p>
            <a:pPr algn="ctr" eaLnBrk="1" hangingPunct="1"/>
            <a:r>
              <a:rPr lang="en-US">
                <a:solidFill>
                  <a:srgbClr val="8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= A^B</a:t>
            </a:r>
            <a:endParaRPr lang="en-US">
              <a:solidFill>
                <a:srgbClr val="8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6" grpId="0" autoUpdateAnimBg="0"/>
      <p:bldP spid="22553" grpId="0" autoUpdateAnimBg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60562" y="493712"/>
            <a:ext cx="61166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Binary Number Property</a:t>
            </a:r>
            <a:endParaRPr lang="en-US" dirty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0" y="3124200"/>
            <a:ext cx="8305800" cy="3505200"/>
          </a:xfrm>
        </p:spPr>
        <p:txBody>
          <a:bodyPr/>
          <a:lstStyle/>
          <a:p>
            <a:pPr>
              <a:defRPr/>
            </a:pPr>
            <a:r>
              <a:rPr lang="en-US" dirty="0"/>
              <a:t>w = 0:</a:t>
            </a:r>
            <a:endParaRPr lang="en-US" dirty="0"/>
          </a:p>
          <a:p>
            <a:pPr lvl="1">
              <a:defRPr/>
            </a:pPr>
            <a:r>
              <a:rPr lang="en-US" dirty="0"/>
              <a:t>1 = 2</a:t>
            </a:r>
            <a:r>
              <a:rPr lang="en-US" baseline="30000" dirty="0"/>
              <a:t>0</a:t>
            </a:r>
            <a:endParaRPr lang="en-US" dirty="0"/>
          </a:p>
          <a:p>
            <a:pPr eaLnBrk="1" hangingPunct="1">
              <a:defRPr/>
            </a:pPr>
            <a:r>
              <a:rPr lang="en-US" dirty="0"/>
              <a:t>Assume true for w-1:</a:t>
            </a:r>
            <a:endParaRPr lang="en-US" dirty="0"/>
          </a:p>
          <a:p>
            <a:pPr lvl="1">
              <a:defRPr/>
            </a:pPr>
            <a:r>
              <a:rPr lang="en-US" dirty="0"/>
              <a:t>1 + 1 + 2 + 4 + 8 + … + 2</a:t>
            </a:r>
            <a:r>
              <a:rPr lang="en-US" i="1" baseline="30000" dirty="0"/>
              <a:t>w</a:t>
            </a:r>
            <a:r>
              <a:rPr lang="en-US" baseline="30000" dirty="0"/>
              <a:t>-1 </a:t>
            </a:r>
            <a:r>
              <a:rPr lang="en-US" dirty="0"/>
              <a:t>+ 2</a:t>
            </a:r>
            <a:r>
              <a:rPr lang="en-US" i="1" baseline="30000" dirty="0"/>
              <a:t>w</a:t>
            </a:r>
            <a:r>
              <a:rPr lang="en-US" baseline="30000" dirty="0"/>
              <a:t>    </a:t>
            </a:r>
            <a:r>
              <a:rPr lang="en-US" dirty="0"/>
              <a:t>=    2</a:t>
            </a:r>
            <a:r>
              <a:rPr lang="en-US" i="1" baseline="30000" dirty="0"/>
              <a:t>w </a:t>
            </a:r>
            <a:r>
              <a:rPr lang="en-US" dirty="0"/>
              <a:t>+</a:t>
            </a:r>
            <a:r>
              <a:rPr lang="en-US" i="1" dirty="0"/>
              <a:t> </a:t>
            </a:r>
            <a:r>
              <a:rPr lang="en-US" dirty="0"/>
              <a:t>2</a:t>
            </a:r>
            <a:r>
              <a:rPr lang="en-US" i="1" baseline="30000" dirty="0"/>
              <a:t>w    </a:t>
            </a:r>
            <a:r>
              <a:rPr lang="en-US" dirty="0"/>
              <a:t>=    2</a:t>
            </a:r>
            <a:r>
              <a:rPr lang="en-US" i="1" baseline="30000" dirty="0"/>
              <a:t>w</a:t>
            </a:r>
            <a:r>
              <a:rPr lang="en-US" baseline="30000" dirty="0"/>
              <a:t>+1</a:t>
            </a:r>
            <a:r>
              <a:rPr lang="en-US" i="1" baseline="30000" dirty="0"/>
              <a:t>  </a:t>
            </a:r>
            <a:endParaRPr lang="en-US" i="1" baseline="30000" dirty="0"/>
          </a:p>
          <a:p>
            <a:pPr lvl="1">
              <a:defRPr/>
            </a:pPr>
            <a:endParaRPr lang="en-US" dirty="0"/>
          </a:p>
        </p:txBody>
      </p:sp>
      <p:graphicFrame>
        <p:nvGraphicFramePr>
          <p:cNvPr id="1027" name="Object 6"/>
          <p:cNvGraphicFramePr>
            <a:graphicFrameLocks noChangeAspect="1"/>
          </p:cNvGraphicFramePr>
          <p:nvPr/>
        </p:nvGraphicFramePr>
        <p:xfrm>
          <a:off x="4346575" y="2089150"/>
          <a:ext cx="2349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Equation" r:id="rId1" imgW="2340610" imgH="1014730" progId="Equation.3">
                  <p:embed/>
                </p:oleObj>
              </mc:Choice>
              <mc:Fallback>
                <p:oleObj name="Equation" r:id="rId1" imgW="2340610" imgH="1014730" progId="Equation.3">
                  <p:embed/>
                  <p:pic>
                    <p:nvPicPr>
                      <p:cNvPr id="0" name="Picture 10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6575" y="2089150"/>
                        <a:ext cx="2349500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7"/>
          <p:cNvSpPr txBox="1">
            <a:spLocks noChangeArrowheads="1"/>
          </p:cNvSpPr>
          <p:nvPr/>
        </p:nvSpPr>
        <p:spPr bwMode="auto">
          <a:xfrm>
            <a:off x="2438400" y="1143000"/>
            <a:ext cx="101790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Claim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49051" y="1609356"/>
            <a:ext cx="46507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latin typeface="Calibri" pitchFamily="34" charset="0"/>
              </a:rPr>
              <a:t>1 + 1 + 2 + 4 + 8 + … + 2</a:t>
            </a:r>
            <a:r>
              <a:rPr lang="en-US" b="0" i="1" baseline="30000" dirty="0">
                <a:latin typeface="Calibri" pitchFamily="34" charset="0"/>
              </a:rPr>
              <a:t>w</a:t>
            </a:r>
            <a:r>
              <a:rPr lang="en-US" b="0" baseline="30000" dirty="0">
                <a:latin typeface="Calibri" pitchFamily="34" charset="0"/>
              </a:rPr>
              <a:t>-1  </a:t>
            </a:r>
            <a:r>
              <a:rPr lang="en-US" b="0" dirty="0">
                <a:latin typeface="Calibri" pitchFamily="34" charset="0"/>
              </a:rPr>
              <a:t>= 2</a:t>
            </a:r>
            <a:r>
              <a:rPr lang="en-US" b="0" i="1" baseline="30000" dirty="0">
                <a:latin typeface="Calibri" pitchFamily="34" charset="0"/>
              </a:rPr>
              <a:t>w</a:t>
            </a:r>
            <a:endParaRPr lang="en-US" b="0" i="1" baseline="30000" dirty="0">
              <a:latin typeface="Calibri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743200" y="4724400"/>
            <a:ext cx="2743200" cy="848682"/>
            <a:chOff x="1219200" y="4724400"/>
            <a:chExt cx="2743200" cy="848682"/>
          </a:xfrm>
        </p:grpSpPr>
        <p:sp>
          <p:nvSpPr>
            <p:cNvPr id="3" name="Left Brace 2"/>
            <p:cNvSpPr/>
            <p:nvPr/>
          </p:nvSpPr>
          <p:spPr bwMode="auto">
            <a:xfrm rot="16200000">
              <a:off x="2400300" y="3543300"/>
              <a:ext cx="381000" cy="2743200"/>
            </a:xfrm>
            <a:prstGeom prst="leftBrace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706020202030204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133600" y="5112707"/>
              <a:ext cx="1023620" cy="4603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0" kern="0" dirty="0">
                  <a:solidFill>
                    <a:srgbClr val="000000"/>
                  </a:solidFill>
                  <a:latin typeface="Calibri" pitchFamily="34" charset="0"/>
                </a:rPr>
                <a:t>=    2</a:t>
              </a:r>
              <a:r>
                <a:rPr lang="en-US" b="0" i="1" kern="0" baseline="30000" dirty="0">
                  <a:solidFill>
                    <a:srgbClr val="000000"/>
                  </a:solidFill>
                  <a:latin typeface="Calibri" pitchFamily="34" charset="0"/>
                </a:rPr>
                <a:t>w</a:t>
              </a:r>
              <a:endParaRPr lang="en-US" b="0" dirty="0"/>
            </a:p>
          </p:txBody>
        </p:sp>
      </p:grp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80870" y="435610"/>
            <a:ext cx="8324215" cy="762000"/>
          </a:xfrm>
        </p:spPr>
        <p:txBody>
          <a:bodyPr/>
          <a:lstStyle/>
          <a:p>
            <a:r>
              <a:rPr lang="zh-CN" altLang="en-US" sz="3200"/>
              <a:t>代码安全的例子</a:t>
            </a:r>
            <a:r>
              <a:rPr lang="en-US" sz="3200"/>
              <a:t> #1 </a:t>
            </a:r>
            <a:r>
              <a:rPr lang="zh-CN" altLang="en-US" sz="3200">
                <a:ea typeface="SimSun" charset="0"/>
              </a:rPr>
              <a:t>（教材</a:t>
            </a:r>
            <a:r>
              <a:rPr lang="en-US" altLang="zh-CN" sz="3200">
                <a:ea typeface="SimSun" charset="0"/>
              </a:rPr>
              <a:t>59</a:t>
            </a:r>
            <a:r>
              <a:rPr lang="zh-CN" altLang="en-US" sz="3200">
                <a:ea typeface="SimSun" charset="0"/>
              </a:rPr>
              <a:t>页）</a:t>
            </a:r>
            <a:endParaRPr lang="zh-CN" altLang="en-US" sz="3200">
              <a:ea typeface="SimSun" charset="0"/>
            </a:endParaRP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5345" y="4759038"/>
            <a:ext cx="8307387" cy="1644650"/>
          </a:xfrm>
        </p:spPr>
        <p:txBody>
          <a:bodyPr/>
          <a:lstStyle/>
          <a:p>
            <a:r>
              <a:rPr lang="en-US" dirty="0"/>
              <a:t>Similar to code found in FreeBSD’s implementation of </a:t>
            </a:r>
            <a:r>
              <a:rPr lang="en-US" dirty="0" err="1"/>
              <a:t>getpeername</a:t>
            </a:r>
            <a:endParaRPr lang="en-US" dirty="0"/>
          </a:p>
          <a:p>
            <a:r>
              <a:rPr lang="en-US" dirty="0"/>
              <a:t>There are legions of smart people trying to find vulnerabilities in programs</a:t>
            </a:r>
            <a:endParaRPr lang="en-US" dirty="0"/>
          </a:p>
        </p:txBody>
      </p:sp>
      <p:sp>
        <p:nvSpPr>
          <p:cNvPr id="134148" name="Rectangle 4"/>
          <p:cNvSpPr>
            <a:spLocks noChangeArrowheads="1"/>
          </p:cNvSpPr>
          <p:nvPr/>
        </p:nvSpPr>
        <p:spPr bwMode="auto">
          <a:xfrm>
            <a:off x="2011644" y="1447800"/>
            <a:ext cx="6885940" cy="2797175"/>
          </a:xfrm>
          <a:prstGeom prst="rect">
            <a:avLst/>
          </a:prstGeom>
          <a:solidFill>
            <a:srgbClr val="F7F5CD"/>
          </a:solidFill>
          <a:ln w="6350" cmpd="dbl">
            <a:solidFill>
              <a:schemeClr val="tx1"/>
            </a:solidFill>
            <a:miter lim="800000"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/* Kernel memory region holding user-accessible data */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#define KSIZE 1024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char </a:t>
            </a:r>
            <a:r>
              <a:rPr lang="en-US" sz="1600" dirty="0" err="1">
                <a:latin typeface="Courier New" panose="02070609020205020404" pitchFamily="49" charset="0"/>
              </a:rPr>
              <a:t>kbuf</a:t>
            </a:r>
            <a:r>
              <a:rPr lang="en-US" sz="1600" dirty="0">
                <a:latin typeface="Courier New" panose="02070609020205020404" pitchFamily="49" charset="0"/>
              </a:rPr>
              <a:t>[KSIZE];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sym typeface="+mn-ea"/>
              </a:rPr>
              <a:t>/* </a:t>
            </a:r>
            <a:r>
              <a:rPr lang="zh-CN" altLang="en-US" sz="1600" dirty="0">
                <a:latin typeface="Courier New" panose="02070609020205020404" pitchFamily="49" charset="0"/>
                <a:sym typeface="+mn-ea"/>
              </a:rPr>
              <a:t>从内核区域拷贝最多</a:t>
            </a:r>
            <a:r>
              <a:rPr lang="en-US" sz="1600" dirty="0">
                <a:latin typeface="Courier New" panose="02070609020205020404" pitchFamily="49" charset="0"/>
                <a:sym typeface="+mn-ea"/>
              </a:rPr>
              <a:t>maxlen</a:t>
            </a:r>
            <a:r>
              <a:rPr lang="zh-CN" altLang="en-US" sz="1600" dirty="0">
                <a:latin typeface="Courier New" panose="02070609020205020404" pitchFamily="49" charset="0"/>
                <a:sym typeface="+mn-ea"/>
              </a:rPr>
              <a:t>字节到用户缓冲区</a:t>
            </a:r>
            <a:r>
              <a:rPr lang="en-US" sz="1600" dirty="0">
                <a:latin typeface="Courier New" panose="02070609020205020404" pitchFamily="49" charset="0"/>
                <a:sym typeface="+mn-ea"/>
              </a:rPr>
              <a:t> */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 err="1">
                <a:latin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</a:rPr>
              <a:t>copy_from_kernel</a:t>
            </a:r>
            <a:r>
              <a:rPr lang="en-US" sz="1600" dirty="0">
                <a:latin typeface="Courier New" panose="02070609020205020404" pitchFamily="49" charset="0"/>
              </a:rPr>
              <a:t>(void *</a:t>
            </a:r>
            <a:r>
              <a:rPr lang="en-US" sz="1600" dirty="0" err="1">
                <a:latin typeface="Courier New" panose="02070609020205020404" pitchFamily="49" charset="0"/>
              </a:rPr>
              <a:t>user_dest</a:t>
            </a:r>
            <a:r>
              <a:rPr lang="en-US" sz="1600" dirty="0">
                <a:latin typeface="Courier New" panose="02070609020205020404" pitchFamily="49" charset="0"/>
              </a:rPr>
              <a:t>, </a:t>
            </a:r>
            <a:r>
              <a:rPr lang="en-US" sz="1600" dirty="0" err="1">
                <a:latin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</a:rPr>
              <a:t>maxlen</a:t>
            </a:r>
            <a:r>
              <a:rPr lang="en-US" sz="1600" dirty="0">
                <a:latin typeface="Courier New" panose="02070609020205020404" pitchFamily="49" charset="0"/>
              </a:rPr>
              <a:t>) {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/* </a:t>
            </a:r>
            <a:r>
              <a:rPr lang="zh-CN" altLang="en-US" sz="1600" dirty="0">
                <a:latin typeface="Courier New" panose="02070609020205020404" pitchFamily="49" charset="0"/>
              </a:rPr>
              <a:t>复制的字节数</a:t>
            </a:r>
            <a:r>
              <a:rPr lang="en-US" altLang="zh-CN" sz="1600" dirty="0">
                <a:latin typeface="Courier New" panose="02070609020205020404" pitchFamily="49" charset="0"/>
              </a:rPr>
              <a:t>，</a:t>
            </a:r>
            <a:r>
              <a:rPr lang="zh-CN" altLang="en-US" sz="1600" dirty="0">
                <a:latin typeface="Courier New" panose="02070609020205020404" pitchFamily="49" charset="0"/>
              </a:rPr>
              <a:t>必须同时小于</a:t>
            </a:r>
            <a:r>
              <a:rPr lang="zh-CN" altLang="en-US" sz="1600" dirty="0" err="1">
                <a:latin typeface="Courier New" panose="02070609020205020404" pitchFamily="49" charset="0"/>
              </a:rPr>
              <a:t>缓冲区大小</a:t>
            </a:r>
            <a:r>
              <a:rPr lang="en-US" altLang="zh-CN" sz="1600" dirty="0" err="1">
                <a:latin typeface="Courier New" panose="02070609020205020404" pitchFamily="49" charset="0"/>
              </a:rPr>
              <a:t> &amp; </a:t>
            </a:r>
            <a:r>
              <a:rPr lang="en-US" sz="1600" dirty="0" err="1">
                <a:latin typeface="Courier New" panose="02070609020205020404" pitchFamily="49" charset="0"/>
              </a:rPr>
              <a:t>maxlen</a:t>
            </a:r>
            <a:r>
              <a:rPr lang="en-US" sz="1600" dirty="0">
                <a:latin typeface="Courier New" panose="02070609020205020404" pitchFamily="49" charset="0"/>
              </a:rPr>
              <a:t> */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</a:t>
            </a:r>
            <a:r>
              <a:rPr lang="en-US" sz="1600" dirty="0" err="1">
                <a:latin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</a:rPr>
              <a:t>len</a:t>
            </a:r>
            <a:r>
              <a:rPr lang="en-US" sz="1600" dirty="0">
                <a:latin typeface="Courier New" panose="02070609020205020404" pitchFamily="49" charset="0"/>
              </a:rPr>
              <a:t> = KSIZE &lt; </a:t>
            </a:r>
            <a:r>
              <a:rPr lang="en-US" sz="1600" dirty="0" err="1">
                <a:latin typeface="Courier New" panose="02070609020205020404" pitchFamily="49" charset="0"/>
              </a:rPr>
              <a:t>maxlen</a:t>
            </a:r>
            <a:r>
              <a:rPr lang="en-US" sz="1600" dirty="0">
                <a:latin typeface="Courier New" panose="02070609020205020404" pitchFamily="49" charset="0"/>
              </a:rPr>
              <a:t> ? KSIZE : </a:t>
            </a:r>
            <a:r>
              <a:rPr lang="en-US" sz="1600" dirty="0" err="1">
                <a:latin typeface="Courier New" panose="02070609020205020404" pitchFamily="49" charset="0"/>
              </a:rPr>
              <a:t>maxlen</a:t>
            </a:r>
            <a:r>
              <a:rPr lang="en-US" sz="1600" dirty="0">
                <a:latin typeface="Courier New" panose="02070609020205020404" pitchFamily="49" charset="0"/>
              </a:rPr>
              <a:t>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</a:t>
            </a:r>
            <a:r>
              <a:rPr lang="en-US" sz="1600" dirty="0" err="1">
                <a:latin typeface="Courier New" panose="02070609020205020404" pitchFamily="49" charset="0"/>
              </a:rPr>
              <a:t>memcpy</a:t>
            </a:r>
            <a:r>
              <a:rPr lang="en-US" sz="1600" dirty="0">
                <a:latin typeface="Courier New" panose="02070609020205020404" pitchFamily="49" charset="0"/>
              </a:rPr>
              <a:t>(</a:t>
            </a:r>
            <a:r>
              <a:rPr lang="en-US" sz="1600" dirty="0" err="1">
                <a:latin typeface="Courier New" panose="02070609020205020404" pitchFamily="49" charset="0"/>
              </a:rPr>
              <a:t>user_dest</a:t>
            </a:r>
            <a:r>
              <a:rPr lang="en-US" sz="1600" dirty="0">
                <a:latin typeface="Courier New" panose="02070609020205020404" pitchFamily="49" charset="0"/>
              </a:rPr>
              <a:t>, </a:t>
            </a:r>
            <a:r>
              <a:rPr lang="en-US" sz="1600" dirty="0" err="1">
                <a:latin typeface="Courier New" panose="02070609020205020404" pitchFamily="49" charset="0"/>
              </a:rPr>
              <a:t>kbuf</a:t>
            </a:r>
            <a:r>
              <a:rPr lang="en-US" sz="1600" dirty="0">
                <a:latin typeface="Courier New" panose="02070609020205020404" pitchFamily="49" charset="0"/>
              </a:rPr>
              <a:t>, </a:t>
            </a:r>
            <a:r>
              <a:rPr lang="en-US" sz="1600" dirty="0" err="1">
                <a:latin typeface="Courier New" panose="02070609020205020404" pitchFamily="49" charset="0"/>
              </a:rPr>
              <a:t>len</a:t>
            </a:r>
            <a:r>
              <a:rPr lang="en-US" sz="1600" dirty="0">
                <a:latin typeface="Courier New" panose="02070609020205020404" pitchFamily="49" charset="0"/>
              </a:rPr>
              <a:t>);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return </a:t>
            </a:r>
            <a:r>
              <a:rPr lang="en-US" sz="1600" dirty="0" err="1">
                <a:latin typeface="Courier New" panose="02070609020205020404" pitchFamily="49" charset="0"/>
              </a:rPr>
              <a:t>len</a:t>
            </a:r>
            <a:r>
              <a:rPr lang="en-US" sz="1600" dirty="0">
                <a:latin typeface="Courier New" panose="02070609020205020404" pitchFamily="49" charset="0"/>
              </a:rPr>
              <a:t>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}</a:t>
            </a:r>
            <a:endParaRPr lang="en-US" sz="1600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典型</a:t>
            </a:r>
            <a:r>
              <a:rPr lang="zh-CN" altLang="en-US"/>
              <a:t>使用</a:t>
            </a:r>
            <a:endParaRPr lang="zh-CN" altLang="en-US"/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2046288" y="1450975"/>
            <a:ext cx="8470900" cy="2797175"/>
          </a:xfrm>
          <a:prstGeom prst="rect">
            <a:avLst/>
          </a:prstGeom>
          <a:solidFill>
            <a:srgbClr val="F7F5CD"/>
          </a:solidFill>
          <a:ln w="6350" cmpd="dbl">
            <a:solidFill>
              <a:schemeClr val="tx1"/>
            </a:solidFill>
            <a:miter lim="800000"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/* Kernel memory region holding user-accessible data */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#define KSIZE 1024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char kbuf[KSIZE];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/* </a:t>
            </a:r>
            <a:r>
              <a:rPr lang="zh-CN" altLang="en-US" sz="1600" dirty="0">
                <a:latin typeface="Courier New" panose="02070609020205020404" pitchFamily="49" charset="0"/>
              </a:rPr>
              <a:t>从内核区域拷贝最多</a:t>
            </a:r>
            <a:r>
              <a:rPr lang="en-US" sz="1600" dirty="0">
                <a:latin typeface="Courier New" panose="02070609020205020404" pitchFamily="49" charset="0"/>
              </a:rPr>
              <a:t>maxlen</a:t>
            </a:r>
            <a:r>
              <a:rPr lang="zh-CN" altLang="en-US" sz="1600" dirty="0">
                <a:latin typeface="Courier New" panose="02070609020205020404" pitchFamily="49" charset="0"/>
              </a:rPr>
              <a:t>字节到用户缓冲区</a:t>
            </a:r>
            <a:r>
              <a:rPr lang="en-US" sz="1600" dirty="0">
                <a:latin typeface="Courier New" panose="02070609020205020404" pitchFamily="49" charset="0"/>
              </a:rPr>
              <a:t> */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int copy_from_kernel(void *user_dest, int maxlen) {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</a:t>
            </a:r>
            <a:r>
              <a:rPr lang="en-US" sz="1600" dirty="0">
                <a:latin typeface="Courier New" panose="02070609020205020404" pitchFamily="49" charset="0"/>
                <a:sym typeface="+mn-ea"/>
              </a:rPr>
              <a:t>/* </a:t>
            </a:r>
            <a:r>
              <a:rPr lang="zh-CN" altLang="en-US" sz="1600" dirty="0">
                <a:latin typeface="Courier New" panose="02070609020205020404" pitchFamily="49" charset="0"/>
                <a:sym typeface="+mn-ea"/>
              </a:rPr>
              <a:t>复制的字节数</a:t>
            </a:r>
            <a:r>
              <a:rPr lang="en-US" altLang="zh-CN" sz="1600" dirty="0">
                <a:latin typeface="Courier New" panose="02070609020205020404" pitchFamily="49" charset="0"/>
                <a:sym typeface="+mn-ea"/>
              </a:rPr>
              <a:t>，</a:t>
            </a:r>
            <a:r>
              <a:rPr lang="zh-CN" altLang="en-US" sz="1600" dirty="0">
                <a:latin typeface="Courier New" panose="02070609020205020404" pitchFamily="49" charset="0"/>
                <a:sym typeface="+mn-ea"/>
              </a:rPr>
              <a:t>必须同时小于</a:t>
            </a:r>
            <a:r>
              <a:rPr lang="zh-CN" altLang="en-US" sz="1600" dirty="0" err="1">
                <a:latin typeface="Courier New" panose="02070609020205020404" pitchFamily="49" charset="0"/>
                <a:sym typeface="+mn-ea"/>
              </a:rPr>
              <a:t>缓冲区大小</a:t>
            </a:r>
            <a:r>
              <a:rPr lang="en-US" altLang="zh-CN" sz="1600" dirty="0" err="1">
                <a:latin typeface="Courier New" panose="02070609020205020404" pitchFamily="49" charset="0"/>
                <a:sym typeface="+mn-ea"/>
              </a:rPr>
              <a:t> &amp; </a:t>
            </a:r>
            <a:r>
              <a:rPr lang="en-US" sz="1600" dirty="0" err="1">
                <a:latin typeface="Courier New" panose="02070609020205020404" pitchFamily="49" charset="0"/>
                <a:sym typeface="+mn-ea"/>
              </a:rPr>
              <a:t>maxlen</a:t>
            </a:r>
            <a:r>
              <a:rPr lang="en-US" sz="1600" dirty="0">
                <a:latin typeface="Courier New" panose="02070609020205020404" pitchFamily="49" charset="0"/>
                <a:sym typeface="+mn-ea"/>
              </a:rPr>
              <a:t> */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int </a:t>
            </a:r>
            <a:r>
              <a:rPr lang="en-US" sz="1600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</a:rPr>
              <a:t>len = KSIZE &lt; maxlen ? KSIZE : maxlen;</a:t>
            </a:r>
            <a:r>
              <a:rPr lang="en-US" sz="1600" dirty="0">
                <a:solidFill>
                  <a:srgbClr val="00B050"/>
                </a:solidFill>
                <a:latin typeface="Courier New" panose="02070609020205020404" pitchFamily="49" charset="0"/>
              </a:rPr>
              <a:t> </a:t>
            </a:r>
            <a:r>
              <a:rPr lang="en-US" sz="1600" dirty="0">
                <a:latin typeface="Courier New" panose="02070609020205020404" pitchFamily="49" charset="0"/>
              </a:rPr>
              <a:t>// </a:t>
            </a:r>
            <a:r>
              <a:rPr lang="en-US" sz="1600" dirty="0">
                <a:solidFill>
                  <a:schemeClr val="tx1"/>
                </a:solidFill>
                <a:latin typeface="Courier New" panose="02070609020205020404" pitchFamily="49" charset="0"/>
                <a:sym typeface="+mn-ea"/>
              </a:rPr>
              <a:t>min{maxlen, KSIZE}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memcpy(user_dest, kbuf, len);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return len;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}</a:t>
            </a:r>
            <a:endParaRPr lang="en-US" sz="1600" dirty="0">
              <a:latin typeface="Courier New" panose="02070609020205020404" pitchFamily="49" charset="0"/>
            </a:endParaRPr>
          </a:p>
        </p:txBody>
      </p:sp>
      <p:sp>
        <p:nvSpPr>
          <p:cNvPr id="136197" name="Rectangle 5"/>
          <p:cNvSpPr>
            <a:spLocks noChangeArrowheads="1"/>
          </p:cNvSpPr>
          <p:nvPr/>
        </p:nvSpPr>
        <p:spPr bwMode="auto">
          <a:xfrm>
            <a:off x="2046288" y="4495800"/>
            <a:ext cx="4447540" cy="1812290"/>
          </a:xfrm>
          <a:prstGeom prst="rect">
            <a:avLst/>
          </a:prstGeom>
          <a:solidFill>
            <a:srgbClr val="CDF1C5"/>
          </a:solidFill>
          <a:ln w="6350" cmpd="dbl">
            <a:solidFill>
              <a:schemeClr val="tx1"/>
            </a:solidFill>
            <a:miter lim="800000"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>
                <a:latin typeface="Courier New" panose="02070609020205020404" pitchFamily="49" charset="0"/>
              </a:rPr>
              <a:t>#define MSIZE 528</a:t>
            </a:r>
            <a:endParaRPr lang="en-US" sz="160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endParaRPr lang="en-US" sz="160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>
                <a:latin typeface="Courier New" panose="02070609020205020404" pitchFamily="49" charset="0"/>
              </a:rPr>
              <a:t>void getstuff() {</a:t>
            </a:r>
            <a:endParaRPr lang="en-US" sz="160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>
                <a:latin typeface="Courier New" panose="02070609020205020404" pitchFamily="49" charset="0"/>
              </a:rPr>
              <a:t>    char mybuf[MSIZE];</a:t>
            </a:r>
            <a:endParaRPr lang="en-US" sz="160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>
                <a:latin typeface="Courier New" panose="02070609020205020404" pitchFamily="49" charset="0"/>
              </a:rPr>
              <a:t>    copy_from_kernel(mybuf, MSIZE);</a:t>
            </a:r>
            <a:endParaRPr lang="en-US" sz="160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>
                <a:latin typeface="Courier New" panose="02070609020205020404" pitchFamily="49" charset="0"/>
              </a:rPr>
              <a:t>    printf(“%s\n”, mybuf);</a:t>
            </a:r>
            <a:endParaRPr lang="en-US" sz="160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>
                <a:latin typeface="Courier New" panose="02070609020205020404" pitchFamily="49" charset="0"/>
              </a:rPr>
              <a:t>}</a:t>
            </a:r>
            <a:endParaRPr lang="en-US" sz="1600">
              <a:latin typeface="Courier New" panose="02070609020205020404" pitchFamily="49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859004" y="3670345"/>
            <a:ext cx="5788660" cy="5810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mpd="dbl">
            <a:solidFill>
              <a:schemeClr val="tx1"/>
            </a:solidFill>
            <a:miter lim="800000"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/* Declaration of library function memcpy */</a:t>
            </a:r>
            <a:endParaRPr lang="en-US" sz="1600" dirty="0">
              <a:latin typeface="Courier New" panose="02070609020205020404" pitchFamily="49" charset="0"/>
            </a:endParaRPr>
          </a:p>
          <a:p>
            <a:pPr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00B050"/>
                </a:solidFill>
                <a:latin typeface="Courier New" panose="02070609020205020404" pitchFamily="49" charset="0"/>
              </a:rPr>
              <a:t>void *memcpy(void *dest, void *src, size_t n);</a:t>
            </a:r>
            <a:endParaRPr lang="en-US" sz="1600" dirty="0">
              <a:solidFill>
                <a:srgbClr val="00B050"/>
              </a:solidFill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恶意</a:t>
            </a:r>
            <a:r>
              <a:rPr lang="zh-CN" altLang="en-US"/>
              <a:t>使用</a:t>
            </a:r>
            <a:endParaRPr lang="zh-CN" altLang="en-US"/>
          </a:p>
        </p:txBody>
      </p:sp>
      <p:sp>
        <p:nvSpPr>
          <p:cNvPr id="139267" name="Rectangle 3"/>
          <p:cNvSpPr>
            <a:spLocks noChangeArrowheads="1"/>
          </p:cNvSpPr>
          <p:nvPr/>
        </p:nvSpPr>
        <p:spPr bwMode="auto">
          <a:xfrm>
            <a:off x="1904683" y="1447800"/>
            <a:ext cx="9004300" cy="2797175"/>
          </a:xfrm>
          <a:prstGeom prst="rect">
            <a:avLst/>
          </a:prstGeom>
          <a:solidFill>
            <a:srgbClr val="F7F5CD"/>
          </a:solidFill>
          <a:ln w="6350" cmpd="dbl">
            <a:solidFill>
              <a:schemeClr val="tx1"/>
            </a:solidFill>
            <a:miter lim="800000"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/* Kernel memory region holding user-accessible data */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#define KSIZE 1024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char </a:t>
            </a:r>
            <a:r>
              <a:rPr lang="en-US" sz="1600" dirty="0" err="1">
                <a:latin typeface="Courier New" panose="02070609020205020404" pitchFamily="49" charset="0"/>
              </a:rPr>
              <a:t>kbuf[KSIZE</a:t>
            </a:r>
            <a:r>
              <a:rPr lang="en-US" sz="1600" dirty="0">
                <a:latin typeface="Courier New" panose="02070609020205020404" pitchFamily="49" charset="0"/>
              </a:rPr>
              <a:t>];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sym typeface="+mn-ea"/>
              </a:rPr>
              <a:t>/* </a:t>
            </a:r>
            <a:r>
              <a:rPr lang="zh-CN" altLang="en-US" sz="1600" dirty="0">
                <a:latin typeface="Courier New" panose="02070609020205020404" pitchFamily="49" charset="0"/>
                <a:sym typeface="+mn-ea"/>
              </a:rPr>
              <a:t>从内核区域拷贝最多</a:t>
            </a:r>
            <a:r>
              <a:rPr lang="en-US" sz="1600" dirty="0">
                <a:latin typeface="Courier New" panose="02070609020205020404" pitchFamily="49" charset="0"/>
                <a:sym typeface="+mn-ea"/>
              </a:rPr>
              <a:t>maxlen</a:t>
            </a:r>
            <a:r>
              <a:rPr lang="zh-CN" altLang="en-US" sz="1600" dirty="0">
                <a:latin typeface="Courier New" panose="02070609020205020404" pitchFamily="49" charset="0"/>
                <a:sym typeface="+mn-ea"/>
              </a:rPr>
              <a:t>字节到用户缓冲区</a:t>
            </a:r>
            <a:r>
              <a:rPr lang="en-US" sz="1600" dirty="0">
                <a:latin typeface="Courier New" panose="02070609020205020404" pitchFamily="49" charset="0"/>
                <a:sym typeface="+mn-ea"/>
              </a:rPr>
              <a:t> */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 err="1">
                <a:latin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</a:rPr>
              <a:t>copy_from_kernel(void</a:t>
            </a:r>
            <a:r>
              <a:rPr lang="en-US" sz="1600" dirty="0">
                <a:latin typeface="Courier New" panose="02070609020205020404" pitchFamily="49" charset="0"/>
              </a:rPr>
              <a:t> *</a:t>
            </a:r>
            <a:r>
              <a:rPr lang="en-US" sz="1600" dirty="0" err="1">
                <a:latin typeface="Courier New" panose="02070609020205020404" pitchFamily="49" charset="0"/>
              </a:rPr>
              <a:t>user_dest</a:t>
            </a:r>
            <a:r>
              <a:rPr lang="en-US" sz="1600" dirty="0">
                <a:latin typeface="Courier New" panose="02070609020205020404" pitchFamily="49" charset="0"/>
              </a:rPr>
              <a:t>, </a:t>
            </a:r>
            <a:r>
              <a:rPr lang="en-US" sz="1600" dirty="0" err="1">
                <a:latin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00B050"/>
                </a:solidFill>
                <a:latin typeface="Courier New" panose="02070609020205020404" pitchFamily="49" charset="0"/>
              </a:rPr>
              <a:t>maxlen</a:t>
            </a:r>
            <a:r>
              <a:rPr lang="en-US" sz="1600" dirty="0">
                <a:latin typeface="Courier New" panose="02070609020205020404" pitchFamily="49" charset="0"/>
              </a:rPr>
              <a:t>) {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</a:t>
            </a:r>
            <a:r>
              <a:rPr lang="en-US" sz="1600" dirty="0">
                <a:latin typeface="Courier New" panose="02070609020205020404" pitchFamily="49" charset="0"/>
                <a:sym typeface="+mn-ea"/>
              </a:rPr>
              <a:t>/* </a:t>
            </a:r>
            <a:r>
              <a:rPr lang="zh-CN" altLang="en-US" sz="1600" dirty="0">
                <a:latin typeface="Courier New" panose="02070609020205020404" pitchFamily="49" charset="0"/>
                <a:sym typeface="+mn-ea"/>
              </a:rPr>
              <a:t>复制的字节数为</a:t>
            </a:r>
            <a:r>
              <a:rPr lang="en-US" altLang="zh-CN" sz="1600" dirty="0">
                <a:latin typeface="Courier New" panose="02070609020205020404" pitchFamily="49" charset="0"/>
                <a:sym typeface="+mn-ea"/>
              </a:rPr>
              <a:t>：min{</a:t>
            </a:r>
            <a:r>
              <a:rPr lang="zh-CN" altLang="en-US" sz="1600" dirty="0" err="1">
                <a:latin typeface="Courier New" panose="02070609020205020404" pitchFamily="49" charset="0"/>
                <a:sym typeface="+mn-ea"/>
              </a:rPr>
              <a:t>缓冲区大小</a:t>
            </a:r>
            <a:r>
              <a:rPr lang="en-US" altLang="zh-CN" sz="1600" dirty="0" err="1">
                <a:latin typeface="Courier New" panose="02070609020205020404" pitchFamily="49" charset="0"/>
                <a:sym typeface="+mn-ea"/>
              </a:rPr>
              <a:t>, </a:t>
            </a:r>
            <a:r>
              <a:rPr lang="en-US" sz="1600" dirty="0" err="1">
                <a:latin typeface="Courier New" panose="02070609020205020404" pitchFamily="49" charset="0"/>
                <a:sym typeface="+mn-ea"/>
              </a:rPr>
              <a:t>maxlen}</a:t>
            </a:r>
            <a:r>
              <a:rPr lang="en-US" sz="1600" dirty="0">
                <a:latin typeface="Courier New" panose="02070609020205020404" pitchFamily="49" charset="0"/>
                <a:sym typeface="+mn-ea"/>
              </a:rPr>
              <a:t> */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</a:t>
            </a:r>
            <a:r>
              <a:rPr lang="en-US" sz="1600" dirty="0" err="1">
                <a:latin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</a:rPr>
              <a:t>len</a:t>
            </a:r>
            <a:r>
              <a:rPr lang="en-US" sz="1600" dirty="0">
                <a:latin typeface="Courier New" panose="02070609020205020404" pitchFamily="49" charset="0"/>
              </a:rPr>
              <a:t> = KSIZE &lt; </a:t>
            </a:r>
            <a:r>
              <a:rPr lang="en-US" sz="1600" dirty="0" err="1">
                <a:solidFill>
                  <a:srgbClr val="00B050"/>
                </a:solidFill>
                <a:latin typeface="Courier New" panose="02070609020205020404" pitchFamily="49" charset="0"/>
              </a:rPr>
              <a:t>maxlen</a:t>
            </a:r>
            <a:r>
              <a:rPr lang="en-US" sz="1600" dirty="0">
                <a:solidFill>
                  <a:srgbClr val="00B050"/>
                </a:solidFill>
                <a:latin typeface="Courier New" panose="02070609020205020404" pitchFamily="49" charset="0"/>
              </a:rPr>
              <a:t> </a:t>
            </a:r>
            <a:r>
              <a:rPr lang="en-US" sz="1600" dirty="0">
                <a:latin typeface="Courier New" panose="02070609020205020404" pitchFamily="49" charset="0"/>
              </a:rPr>
              <a:t>? KSIZE : </a:t>
            </a:r>
            <a:r>
              <a:rPr lang="en-US" sz="1600" dirty="0" err="1">
                <a:latin typeface="Courier New" panose="02070609020205020404" pitchFamily="49" charset="0"/>
              </a:rPr>
              <a:t>maxlen</a:t>
            </a:r>
            <a:r>
              <a:rPr lang="en-US" sz="1600" dirty="0">
                <a:latin typeface="Courier New" panose="02070609020205020404" pitchFamily="49" charset="0"/>
              </a:rPr>
              <a:t>; // </a:t>
            </a:r>
            <a:r>
              <a:rPr lang="en-US" sz="1600" dirty="0">
                <a:solidFill>
                  <a:srgbClr val="00B050"/>
                </a:solidFill>
                <a:latin typeface="Courier New" panose="02070609020205020404" pitchFamily="49" charset="0"/>
              </a:rPr>
              <a:t>min{maxlen, KSIZE}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</a:t>
            </a:r>
            <a:r>
              <a:rPr lang="en-US" sz="1600" dirty="0" err="1">
                <a:latin typeface="Courier New" panose="02070609020205020404" pitchFamily="49" charset="0"/>
              </a:rPr>
              <a:t>memcpy(user_dest</a:t>
            </a:r>
            <a:r>
              <a:rPr lang="en-US" sz="1600" dirty="0">
                <a:latin typeface="Courier New" panose="02070609020205020404" pitchFamily="49" charset="0"/>
              </a:rPr>
              <a:t>, </a:t>
            </a:r>
            <a:r>
              <a:rPr lang="en-US" sz="1600" dirty="0" err="1">
                <a:latin typeface="Courier New" panose="02070609020205020404" pitchFamily="49" charset="0"/>
              </a:rPr>
              <a:t>kbuf</a:t>
            </a:r>
            <a:r>
              <a:rPr lang="en-US" sz="1600" dirty="0">
                <a:latin typeface="Courier New" panose="02070609020205020404" pitchFamily="49" charset="0"/>
              </a:rPr>
              <a:t>, </a:t>
            </a:r>
            <a:r>
              <a:rPr lang="en-US" sz="1600" dirty="0" err="1">
                <a:latin typeface="Courier New" panose="02070609020205020404" pitchFamily="49" charset="0"/>
              </a:rPr>
              <a:t>len</a:t>
            </a:r>
            <a:r>
              <a:rPr lang="en-US" sz="1600" dirty="0">
                <a:latin typeface="Courier New" panose="02070609020205020404" pitchFamily="49" charset="0"/>
              </a:rPr>
              <a:t>);  //</a:t>
            </a:r>
            <a:r>
              <a:rPr lang="en-US" sz="1600" dirty="0">
                <a:solidFill>
                  <a:srgbClr val="FF0000"/>
                </a:solidFill>
                <a:latin typeface="Courier New" panose="02070609020205020404" pitchFamily="49" charset="0"/>
              </a:rPr>
              <a:t> &lt;- 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609020205020404" pitchFamily="49" charset="0"/>
              </a:rPr>
              <a:t>此处发生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609020205020404" pitchFamily="49" charset="0"/>
              </a:rPr>
              <a:t>signed -&gt; unsigned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609020205020404" pitchFamily="49" charset="0"/>
              </a:rPr>
              <a:t>类型转换</a:t>
            </a:r>
            <a:endParaRPr lang="en-US" sz="1600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return </a:t>
            </a:r>
            <a:r>
              <a:rPr lang="en-US" sz="1600" dirty="0" err="1">
                <a:latin typeface="Courier New" panose="02070609020205020404" pitchFamily="49" charset="0"/>
              </a:rPr>
              <a:t>len</a:t>
            </a:r>
            <a:r>
              <a:rPr lang="en-US" sz="1600" dirty="0">
                <a:latin typeface="Courier New" panose="02070609020205020404" pitchFamily="49" charset="0"/>
              </a:rPr>
              <a:t>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}</a:t>
            </a:r>
            <a:endParaRPr lang="en-US" sz="1600" dirty="0">
              <a:latin typeface="Courier New" panose="02070609020205020404" pitchFamily="49" charset="0"/>
            </a:endParaRPr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2046288" y="4495800"/>
            <a:ext cx="4569460" cy="1812290"/>
          </a:xfrm>
          <a:prstGeom prst="rect">
            <a:avLst/>
          </a:prstGeom>
          <a:solidFill>
            <a:srgbClr val="CDF1C5"/>
          </a:solidFill>
          <a:ln w="6350" cmpd="dbl">
            <a:solidFill>
              <a:srgbClr val="CDF1C5"/>
            </a:solidFill>
            <a:miter lim="800000"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#define MSIZE 528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endParaRPr lang="en-US" sz="1600" dirty="0">
              <a:ln>
                <a:solidFill>
                  <a:srgbClr val="CDF1C5"/>
                </a:solidFill>
              </a:ln>
              <a:solidFill>
                <a:srgbClr val="CDF1C5"/>
              </a:solidFill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void </a:t>
            </a:r>
            <a:r>
              <a:rPr lang="en-US" sz="1600" dirty="0" err="1">
                <a:latin typeface="Courier New" panose="02070609020205020404" pitchFamily="49" charset="0"/>
              </a:rPr>
              <a:t>getstuff</a:t>
            </a:r>
            <a:r>
              <a:rPr lang="en-US" sz="1600" dirty="0">
                <a:latin typeface="Courier New" panose="02070609020205020404" pitchFamily="49" charset="0"/>
              </a:rPr>
              <a:t>() {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char </a:t>
            </a:r>
            <a:r>
              <a:rPr lang="en-US" sz="1600" dirty="0" err="1">
                <a:latin typeface="Courier New" panose="02070609020205020404" pitchFamily="49" charset="0"/>
              </a:rPr>
              <a:t>mybuf[MSIZE</a:t>
            </a:r>
            <a:r>
              <a:rPr lang="en-US" sz="1600" dirty="0">
                <a:latin typeface="Courier New" panose="02070609020205020404" pitchFamily="49" charset="0"/>
              </a:rPr>
              <a:t>];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</a:t>
            </a:r>
            <a:r>
              <a:rPr lang="en-US" sz="1600" dirty="0" err="1">
                <a:latin typeface="Courier New" panose="02070609020205020404" pitchFamily="49" charset="0"/>
              </a:rPr>
              <a:t>copy_from_kernel</a:t>
            </a:r>
            <a:r>
              <a:rPr lang="en-US" sz="1600" dirty="0">
                <a:latin typeface="Courier New" panose="02070609020205020404" pitchFamily="49" charset="0"/>
              </a:rPr>
              <a:t>(</a:t>
            </a:r>
            <a:r>
              <a:rPr lang="en-US" sz="1600" dirty="0" err="1">
                <a:latin typeface="Courier New" panose="02070609020205020404" pitchFamily="49" charset="0"/>
              </a:rPr>
              <a:t>mybuf</a:t>
            </a:r>
            <a:r>
              <a:rPr lang="en-US" sz="1600" dirty="0">
                <a:latin typeface="Courier New" panose="02070609020205020404" pitchFamily="49" charset="0"/>
              </a:rPr>
              <a:t>, </a:t>
            </a:r>
            <a:r>
              <a:rPr lang="en-US" sz="1600" dirty="0">
                <a:solidFill>
                  <a:srgbClr val="00B050"/>
                </a:solidFill>
                <a:latin typeface="Courier New" panose="02070609020205020404" pitchFamily="49" charset="0"/>
              </a:rPr>
              <a:t>-MSIZE</a:t>
            </a:r>
            <a:r>
              <a:rPr lang="en-US" sz="1600" dirty="0">
                <a:latin typeface="Courier New" panose="02070609020205020404" pitchFamily="49" charset="0"/>
              </a:rPr>
              <a:t>);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    . . .</a:t>
            </a:r>
            <a:endParaRPr lang="en-US" sz="16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}</a:t>
            </a:r>
            <a:endParaRPr lang="en-US" sz="1600" dirty="0">
              <a:latin typeface="Courier New" panose="02070609020205020404" pitchFamily="49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4859020" y="3746500"/>
            <a:ext cx="6356985" cy="1073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mpd="dbl">
            <a:solidFill>
              <a:schemeClr val="tx1"/>
            </a:solidFill>
            <a:miter lim="800000"/>
          </a:ln>
          <a:effectLst/>
        </p:spPr>
        <p:txBody>
          <a:bodyPr wrap="square" lIns="90487" tIns="44450" rIns="90487" bIns="44450">
            <a:spAutoFit/>
          </a:bodyPr>
          <a:p>
            <a:pPr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</a:rPr>
              <a:t>/* </a:t>
            </a:r>
            <a:r>
              <a:rPr lang="zh-CN" altLang="en-US" sz="1600" dirty="0">
                <a:latin typeface="Courier New" panose="02070609020205020404" pitchFamily="49" charset="0"/>
              </a:rPr>
              <a:t>库函数</a:t>
            </a:r>
            <a:r>
              <a:rPr lang="en-US" sz="1600" dirty="0">
                <a:latin typeface="Courier New" panose="02070609020205020404" pitchFamily="49" charset="0"/>
              </a:rPr>
              <a:t>memcpy</a:t>
            </a:r>
            <a:r>
              <a:rPr lang="zh-CN" altLang="en-US" sz="1600" dirty="0">
                <a:latin typeface="Courier New" panose="02070609020205020404" pitchFamily="49" charset="0"/>
              </a:rPr>
              <a:t>的声明</a:t>
            </a:r>
            <a:r>
              <a:rPr lang="en-US" sz="1600" dirty="0">
                <a:latin typeface="Courier New" panose="02070609020205020404" pitchFamily="49" charset="0"/>
              </a:rPr>
              <a:t>*/</a:t>
            </a:r>
            <a:endParaRPr lang="en-US" sz="1600" dirty="0">
              <a:latin typeface="Courier New" panose="02070609020205020404" pitchFamily="49" charset="0"/>
            </a:endParaRPr>
          </a:p>
          <a:p>
            <a:pPr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00B050"/>
                </a:solidFill>
                <a:latin typeface="Courier New" panose="02070609020205020404" pitchFamily="49" charset="0"/>
              </a:rPr>
              <a:t>void *memcpy(void *dest, void *src, size_t n);</a:t>
            </a:r>
            <a:endParaRPr lang="en-US" sz="1600" dirty="0">
              <a:solidFill>
                <a:srgbClr val="00B050"/>
              </a:solidFill>
              <a:latin typeface="Courier New" panose="02070609020205020404" pitchFamily="49" charset="0"/>
            </a:endParaRPr>
          </a:p>
          <a:p>
            <a:pPr>
              <a:tabLst>
                <a:tab pos="914400" algn="l"/>
                <a:tab pos="2286000" algn="l"/>
              </a:tabLst>
            </a:pPr>
            <a:endParaRPr lang="en-US" sz="1600" dirty="0">
              <a:solidFill>
                <a:srgbClr val="00B050"/>
              </a:solidFill>
              <a:latin typeface="Courier New" panose="02070609020205020404" pitchFamily="49" charset="0"/>
            </a:endParaRPr>
          </a:p>
          <a:p>
            <a:pPr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00B050"/>
                </a:solidFill>
                <a:latin typeface="Courier New" panose="02070609020205020404" pitchFamily="49" charset="0"/>
              </a:rPr>
              <a:t>size_t is unsigned!</a:t>
            </a:r>
            <a:endParaRPr lang="en-US" sz="1600" dirty="0">
              <a:solidFill>
                <a:srgbClr val="00B050"/>
              </a:solidFill>
              <a:latin typeface="Courier New" panose="020706090202050204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73875" y="5340985"/>
            <a:ext cx="47104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 smtClean="0">
                <a:solidFill>
                  <a:srgbClr val="FF0000"/>
                </a:solidFill>
                <a:latin typeface="Calibri" pitchFamily="34" charset="0"/>
              </a:rPr>
              <a:t>signed/unsigned</a:t>
            </a:r>
            <a:r>
              <a:rPr lang="zh-CN" altLang="en-US" dirty="0" smtClean="0">
                <a:solidFill>
                  <a:srgbClr val="FF0000"/>
                </a:solidFill>
                <a:latin typeface="Calibri" pitchFamily="34" charset="0"/>
              </a:rPr>
              <a:t>之间的转换</a:t>
            </a:r>
            <a:r>
              <a:rPr lang="en-US" altLang="zh-CN" dirty="0" smtClean="0">
                <a:solidFill>
                  <a:srgbClr val="FF0000"/>
                </a:solidFill>
                <a:latin typeface="Calibri" pitchFamily="34" charset="0"/>
              </a:rPr>
              <a:t>：</a:t>
            </a:r>
            <a:r>
              <a:rPr lang="zh-CN" altLang="en-US" dirty="0" smtClean="0">
                <a:solidFill>
                  <a:srgbClr val="FF0000"/>
                </a:solidFill>
                <a:latin typeface="Calibri" pitchFamily="34" charset="0"/>
              </a:rPr>
              <a:t>传入的</a:t>
            </a:r>
            <a:r>
              <a:rPr lang="en-US" altLang="zh-CN" dirty="0" smtClean="0">
                <a:solidFill>
                  <a:srgbClr val="FF0000"/>
                </a:solidFill>
                <a:latin typeface="Calibri" pitchFamily="34" charset="0"/>
              </a:rPr>
              <a:t>maxlen</a:t>
            </a:r>
            <a:r>
              <a:rPr lang="zh-CN" altLang="en-US" dirty="0" smtClean="0">
                <a:solidFill>
                  <a:srgbClr val="FF0000"/>
                </a:solidFill>
                <a:latin typeface="Calibri" pitchFamily="34" charset="0"/>
              </a:rPr>
              <a:t>为负数</a:t>
            </a:r>
            <a:r>
              <a:rPr lang="en-US" altLang="zh-CN" dirty="0" smtClean="0">
                <a:solidFill>
                  <a:srgbClr val="FF0000"/>
                </a:solidFill>
                <a:latin typeface="Calibri" pitchFamily="34" charset="0"/>
              </a:rPr>
              <a:t> -&gt; memcpy</a:t>
            </a:r>
            <a:r>
              <a:rPr lang="zh-CN" altLang="en-US" dirty="0" smtClean="0">
                <a:solidFill>
                  <a:srgbClr val="FF0000"/>
                </a:solidFill>
                <a:latin typeface="Calibri" pitchFamily="34" charset="0"/>
              </a:rPr>
              <a:t>一个巨大的正数</a:t>
            </a:r>
            <a:endParaRPr lang="zh-CN" altLang="en-US" dirty="0" smtClean="0">
              <a:solidFill>
                <a:srgbClr val="FF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78560" y="435610"/>
            <a:ext cx="924496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>
                <a:sym typeface="+mn-ea"/>
              </a:rPr>
              <a:t>代码安全的例子</a:t>
            </a:r>
            <a:r>
              <a:rPr lang="en-US" sz="3200"/>
              <a:t> #2</a:t>
            </a:r>
            <a:r>
              <a:rPr lang="zh-CN" altLang="en-US" sz="3200">
                <a:ea typeface="SimSun" charset="0"/>
              </a:rPr>
              <a:t>（教材</a:t>
            </a:r>
            <a:r>
              <a:rPr lang="en-US" altLang="zh-CN" sz="3200">
                <a:ea typeface="SimSun" charset="0"/>
              </a:rPr>
              <a:t>67</a:t>
            </a:r>
            <a:r>
              <a:rPr lang="zh-CN" altLang="en-US" sz="3200">
                <a:ea typeface="SimSun" charset="0"/>
              </a:rPr>
              <a:t>页</a:t>
            </a:r>
            <a:r>
              <a:rPr lang="en-US" altLang="zh-CN" sz="3200">
                <a:ea typeface="SimSun" charset="0"/>
              </a:rPr>
              <a:t>，</a:t>
            </a:r>
            <a:r>
              <a:rPr lang="zh-CN" altLang="en-US" sz="3200">
                <a:ea typeface="SimSun" charset="0"/>
              </a:rPr>
              <a:t>自学）</a:t>
            </a:r>
            <a:endParaRPr lang="zh-CN" altLang="en-US" sz="3200">
              <a:ea typeface="SimSun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50950"/>
            <a:ext cx="8307388" cy="1644650"/>
          </a:xfrm>
        </p:spPr>
        <p:txBody>
          <a:bodyPr/>
          <a:lstStyle/>
          <a:p>
            <a:r>
              <a:rPr lang="en-US" dirty="0"/>
              <a:t>SUN XDR library</a:t>
            </a:r>
            <a:endParaRPr lang="en-US" dirty="0"/>
          </a:p>
          <a:p>
            <a:pPr lvl="1"/>
            <a:r>
              <a:rPr lang="zh-CN" altLang="en-US" dirty="0"/>
              <a:t>一个</a:t>
            </a:r>
            <a:r>
              <a:rPr lang="zh-CN" altLang="en-US" dirty="0"/>
              <a:t>广泛用于机器间进行数据传输的</a:t>
            </a:r>
            <a:r>
              <a:rPr lang="zh-CN" altLang="en-US" dirty="0"/>
              <a:t>库</a:t>
            </a:r>
            <a:endParaRPr lang="zh-CN" altLang="en-US" dirty="0"/>
          </a:p>
        </p:txBody>
      </p:sp>
      <p:sp>
        <p:nvSpPr>
          <p:cNvPr id="37892" name="Rectangle 10"/>
          <p:cNvSpPr>
            <a:spLocks noChangeArrowheads="1"/>
          </p:cNvSpPr>
          <p:nvPr/>
        </p:nvSpPr>
        <p:spPr bwMode="auto">
          <a:xfrm>
            <a:off x="1905000" y="2362200"/>
            <a:ext cx="8348980" cy="334645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>
                <a:latin typeface="Courier New" panose="02070609020205020404" pitchFamily="49" charset="0"/>
                <a:cs typeface="Courier New" panose="02070609020205020404" pitchFamily="49" charset="0"/>
              </a:rPr>
              <a:t>void* copy_elements(void *ele_src[], int ele_cnt, size_t ele_size);</a:t>
            </a:r>
            <a:endParaRPr lang="en-US" sz="160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grpSp>
        <p:nvGrpSpPr>
          <p:cNvPr id="4" name="Group 32"/>
          <p:cNvGrpSpPr/>
          <p:nvPr/>
        </p:nvGrpSpPr>
        <p:grpSpPr bwMode="auto">
          <a:xfrm>
            <a:off x="2228850" y="2968064"/>
            <a:ext cx="6762750" cy="1714500"/>
            <a:chOff x="1308" y="1224"/>
            <a:chExt cx="4260" cy="1080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2400" y="1296"/>
              <a:ext cx="384" cy="528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2"/>
              </a:solidFill>
              <a:miter lim="800000"/>
              <a:tailEnd type="none" w="sm" len="sm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3168" y="1488"/>
              <a:ext cx="384" cy="528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2"/>
              </a:solidFill>
              <a:miter lim="800000"/>
              <a:tailEnd type="none" w="sm" len="sm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4032" y="1296"/>
              <a:ext cx="384" cy="528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2"/>
              </a:solidFill>
              <a:miter lim="800000"/>
              <a:tailEnd type="none" w="sm" len="sm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5184" y="1728"/>
              <a:ext cx="384" cy="52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tx2"/>
              </a:solidFill>
              <a:miter lim="800000"/>
              <a:tailEnd type="none" w="sm" len="sm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  <p:grpSp>
          <p:nvGrpSpPr>
            <p:cNvPr id="15" name="Group 22"/>
            <p:cNvGrpSpPr/>
            <p:nvPr/>
          </p:nvGrpSpPr>
          <p:grpSpPr bwMode="auto">
            <a:xfrm>
              <a:off x="1392" y="1584"/>
              <a:ext cx="384" cy="720"/>
              <a:chOff x="288" y="2352"/>
              <a:chExt cx="384" cy="720"/>
            </a:xfrm>
          </p:grpSpPr>
          <p:sp>
            <p:nvSpPr>
              <p:cNvPr id="16" name="Oval 11"/>
              <p:cNvSpPr>
                <a:spLocks noChangeArrowheads="1"/>
              </p:cNvSpPr>
              <p:nvPr/>
            </p:nvSpPr>
            <p:spPr bwMode="auto">
              <a:xfrm>
                <a:off x="432" y="235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tailEnd type="none" w="sm" len="sm"/>
              </a:ln>
            </p:spPr>
            <p:txBody>
              <a:bodyPr wrap="none" lIns="45720" rIns="45720" anchor="ctr">
                <a:spAutoFit/>
              </a:bodyPr>
              <a:p>
                <a:endParaRPr lang="en-US"/>
              </a:p>
            </p:txBody>
          </p:sp>
          <p:grpSp>
            <p:nvGrpSpPr>
              <p:cNvPr id="17" name="Group 13"/>
              <p:cNvGrpSpPr/>
              <p:nvPr/>
            </p:nvGrpSpPr>
            <p:grpSpPr bwMode="auto">
              <a:xfrm>
                <a:off x="288" y="2496"/>
                <a:ext cx="384" cy="192"/>
                <a:chOff x="288" y="2304"/>
                <a:chExt cx="384" cy="192"/>
              </a:xfrm>
            </p:grpSpPr>
            <p:sp>
              <p:nvSpPr>
                <p:cNvPr id="18" name="Rectangle 14"/>
                <p:cNvSpPr>
                  <a:spLocks noChangeArrowheads="1"/>
                </p:cNvSpPr>
                <p:nvPr/>
              </p:nvSpPr>
              <p:spPr bwMode="auto">
                <a:xfrm>
                  <a:off x="288" y="2304"/>
                  <a:ext cx="384" cy="192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tailEnd type="none" w="sm" len="sm"/>
                </a:ln>
              </p:spPr>
              <p:txBody>
                <a:bodyPr lIns="45720" rIns="45720" anchor="ctr">
                  <a:spAutoFit/>
                </a:bodyPr>
                <a:p>
                  <a:endParaRPr lang="en-US"/>
                </a:p>
              </p:txBody>
            </p:sp>
            <p:sp>
              <p:nvSpPr>
                <p:cNvPr id="19" name="Oval 15"/>
                <p:cNvSpPr>
                  <a:spLocks noChangeArrowheads="1"/>
                </p:cNvSpPr>
                <p:nvPr/>
              </p:nvSpPr>
              <p:spPr bwMode="auto">
                <a:xfrm>
                  <a:off x="432" y="235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p>
                  <a:endParaRPr lang="en-US"/>
                </a:p>
              </p:txBody>
            </p:sp>
          </p:grpSp>
          <p:grpSp>
            <p:nvGrpSpPr>
              <p:cNvPr id="20" name="Group 16"/>
              <p:cNvGrpSpPr/>
              <p:nvPr/>
            </p:nvGrpSpPr>
            <p:grpSpPr bwMode="auto">
              <a:xfrm>
                <a:off x="288" y="2688"/>
                <a:ext cx="384" cy="192"/>
                <a:chOff x="288" y="2304"/>
                <a:chExt cx="384" cy="192"/>
              </a:xfrm>
            </p:grpSpPr>
            <p:sp>
              <p:nvSpPr>
                <p:cNvPr id="21" name="Rectangle 17"/>
                <p:cNvSpPr>
                  <a:spLocks noChangeArrowheads="1"/>
                </p:cNvSpPr>
                <p:nvPr/>
              </p:nvSpPr>
              <p:spPr bwMode="auto">
                <a:xfrm>
                  <a:off x="288" y="2304"/>
                  <a:ext cx="384" cy="192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tailEnd type="none" w="sm" len="sm"/>
                </a:ln>
              </p:spPr>
              <p:txBody>
                <a:bodyPr lIns="45720" rIns="45720" anchor="ctr">
                  <a:spAutoFit/>
                </a:bodyPr>
                <a:p>
                  <a:endParaRPr lang="en-US"/>
                </a:p>
              </p:txBody>
            </p:sp>
            <p:sp>
              <p:nvSpPr>
                <p:cNvPr id="22" name="Oval 18"/>
                <p:cNvSpPr>
                  <a:spLocks noChangeArrowheads="1"/>
                </p:cNvSpPr>
                <p:nvPr/>
              </p:nvSpPr>
              <p:spPr bwMode="auto">
                <a:xfrm>
                  <a:off x="432" y="235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p>
                  <a:endParaRPr lang="en-US"/>
                </a:p>
              </p:txBody>
            </p:sp>
          </p:grpSp>
          <p:grpSp>
            <p:nvGrpSpPr>
              <p:cNvPr id="23" name="Group 19"/>
              <p:cNvGrpSpPr/>
              <p:nvPr/>
            </p:nvGrpSpPr>
            <p:grpSpPr bwMode="auto">
              <a:xfrm>
                <a:off x="288" y="2880"/>
                <a:ext cx="384" cy="192"/>
                <a:chOff x="288" y="2304"/>
                <a:chExt cx="384" cy="192"/>
              </a:xfrm>
            </p:grpSpPr>
            <p:sp>
              <p:nvSpPr>
                <p:cNvPr id="24" name="Rectangle 20"/>
                <p:cNvSpPr>
                  <a:spLocks noChangeArrowheads="1"/>
                </p:cNvSpPr>
                <p:nvPr/>
              </p:nvSpPr>
              <p:spPr bwMode="auto">
                <a:xfrm>
                  <a:off x="288" y="2304"/>
                  <a:ext cx="384" cy="192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tailEnd type="none" w="sm" len="sm"/>
                </a:ln>
              </p:spPr>
              <p:txBody>
                <a:bodyPr lIns="45720" rIns="45720" anchor="ctr">
                  <a:spAutoFit/>
                </a:bodyPr>
                <a:p>
                  <a:endParaRPr lang="en-US"/>
                </a:p>
              </p:txBody>
            </p:sp>
            <p:sp>
              <p:nvSpPr>
                <p:cNvPr id="25" name="Oval 21"/>
                <p:cNvSpPr>
                  <a:spLocks noChangeArrowheads="1"/>
                </p:cNvSpPr>
                <p:nvPr/>
              </p:nvSpPr>
              <p:spPr bwMode="auto">
                <a:xfrm>
                  <a:off x="432" y="235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p>
                  <a:endParaRPr lang="en-US"/>
                </a:p>
              </p:txBody>
            </p:sp>
          </p:grpSp>
        </p:grpSp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1308" y="1224"/>
              <a:ext cx="660" cy="214"/>
            </a:xfrm>
            <a:prstGeom prst="rect">
              <a:avLst/>
            </a:prstGeom>
            <a:noFill/>
            <a:ln w="19050">
              <a:noFill/>
              <a:miter lim="800000"/>
              <a:tailEnd type="none" w="sm" len="sm"/>
            </a:ln>
          </p:spPr>
          <p:txBody>
            <a:bodyPr wrap="none" lIns="45720" rIns="45720">
              <a:spAutoFit/>
            </a:bodyPr>
            <a:p>
              <a:r>
                <a:rPr lang="en-US"/>
                <a:t>ele_src</a:t>
              </a:r>
              <a:endParaRPr lang="en-US"/>
            </a:p>
          </p:txBody>
        </p:sp>
        <p:sp>
          <p:nvSpPr>
            <p:cNvPr id="27" name="Freeform 24"/>
            <p:cNvSpPr/>
            <p:nvPr/>
          </p:nvSpPr>
          <p:spPr bwMode="auto">
            <a:xfrm>
              <a:off x="1584" y="1776"/>
              <a:ext cx="3600" cy="488"/>
            </a:xfrm>
            <a:custGeom>
              <a:avLst/>
              <a:gdLst>
                <a:gd name="T0" fmla="*/ 0 w 3600"/>
                <a:gd name="T1" fmla="*/ 432 h 488"/>
                <a:gd name="T2" fmla="*/ 2736 w 3600"/>
                <a:gd name="T3" fmla="*/ 432 h 488"/>
                <a:gd name="T4" fmla="*/ 3408 w 3600"/>
                <a:gd name="T5" fmla="*/ 96 h 488"/>
                <a:gd name="T6" fmla="*/ 3600 w 3600"/>
                <a:gd name="T7" fmla="*/ 0 h 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0"/>
                <a:gd name="T13" fmla="*/ 0 h 488"/>
                <a:gd name="T14" fmla="*/ 3600 w 3600"/>
                <a:gd name="T15" fmla="*/ 488 h 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0" h="488">
                  <a:moveTo>
                    <a:pt x="0" y="432"/>
                  </a:moveTo>
                  <a:cubicBezTo>
                    <a:pt x="1084" y="460"/>
                    <a:pt x="2168" y="488"/>
                    <a:pt x="2736" y="432"/>
                  </a:cubicBezTo>
                  <a:cubicBezTo>
                    <a:pt x="3304" y="376"/>
                    <a:pt x="3264" y="168"/>
                    <a:pt x="3408" y="96"/>
                  </a:cubicBezTo>
                  <a:cubicBezTo>
                    <a:pt x="3552" y="24"/>
                    <a:pt x="3576" y="12"/>
                    <a:pt x="360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  <p:sp>
          <p:nvSpPr>
            <p:cNvPr id="28" name="Freeform 25"/>
            <p:cNvSpPr/>
            <p:nvPr/>
          </p:nvSpPr>
          <p:spPr bwMode="auto">
            <a:xfrm>
              <a:off x="1584" y="1294"/>
              <a:ext cx="2448" cy="932"/>
            </a:xfrm>
            <a:custGeom>
              <a:avLst/>
              <a:gdLst>
                <a:gd name="T0" fmla="*/ 0 w 2448"/>
                <a:gd name="T1" fmla="*/ 722 h 932"/>
                <a:gd name="T2" fmla="*/ 930 w 2448"/>
                <a:gd name="T3" fmla="*/ 812 h 932"/>
                <a:gd name="T4" fmla="*/ 2064 w 2448"/>
                <a:gd name="T5" fmla="*/ 818 h 932"/>
                <a:gd name="T6" fmla="*/ 2148 w 2448"/>
                <a:gd name="T7" fmla="*/ 128 h 932"/>
                <a:gd name="T8" fmla="*/ 2448 w 2448"/>
                <a:gd name="T9" fmla="*/ 50 h 9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48"/>
                <a:gd name="T16" fmla="*/ 0 h 932"/>
                <a:gd name="T17" fmla="*/ 2448 w 2448"/>
                <a:gd name="T18" fmla="*/ 932 h 9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48" h="932">
                  <a:moveTo>
                    <a:pt x="0" y="722"/>
                  </a:moveTo>
                  <a:cubicBezTo>
                    <a:pt x="155" y="737"/>
                    <a:pt x="586" y="796"/>
                    <a:pt x="930" y="812"/>
                  </a:cubicBezTo>
                  <a:cubicBezTo>
                    <a:pt x="1274" y="828"/>
                    <a:pt x="1861" y="932"/>
                    <a:pt x="2064" y="818"/>
                  </a:cubicBezTo>
                  <a:cubicBezTo>
                    <a:pt x="2267" y="704"/>
                    <a:pt x="2084" y="256"/>
                    <a:pt x="2148" y="128"/>
                  </a:cubicBezTo>
                  <a:cubicBezTo>
                    <a:pt x="2212" y="0"/>
                    <a:pt x="2386" y="66"/>
                    <a:pt x="2448" y="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  <p:sp>
          <p:nvSpPr>
            <p:cNvPr id="29" name="Freeform 26"/>
            <p:cNvSpPr/>
            <p:nvPr/>
          </p:nvSpPr>
          <p:spPr bwMode="auto">
            <a:xfrm>
              <a:off x="1584" y="1505"/>
              <a:ext cx="1584" cy="416"/>
            </a:xfrm>
            <a:custGeom>
              <a:avLst/>
              <a:gdLst>
                <a:gd name="T0" fmla="*/ 0 w 1584"/>
                <a:gd name="T1" fmla="*/ 319 h 416"/>
                <a:gd name="T2" fmla="*/ 960 w 1584"/>
                <a:gd name="T3" fmla="*/ 415 h 416"/>
                <a:gd name="T4" fmla="*/ 1296 w 1584"/>
                <a:gd name="T5" fmla="*/ 325 h 416"/>
                <a:gd name="T6" fmla="*/ 1422 w 1584"/>
                <a:gd name="T7" fmla="*/ 49 h 416"/>
                <a:gd name="T8" fmla="*/ 1584 w 1584"/>
                <a:gd name="T9" fmla="*/ 31 h 4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84"/>
                <a:gd name="T16" fmla="*/ 0 h 416"/>
                <a:gd name="T17" fmla="*/ 1584 w 1584"/>
                <a:gd name="T18" fmla="*/ 416 h 4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84" h="416">
                  <a:moveTo>
                    <a:pt x="0" y="319"/>
                  </a:moveTo>
                  <a:cubicBezTo>
                    <a:pt x="364" y="367"/>
                    <a:pt x="744" y="414"/>
                    <a:pt x="960" y="415"/>
                  </a:cubicBezTo>
                  <a:cubicBezTo>
                    <a:pt x="1176" y="416"/>
                    <a:pt x="1219" y="386"/>
                    <a:pt x="1296" y="325"/>
                  </a:cubicBezTo>
                  <a:cubicBezTo>
                    <a:pt x="1373" y="264"/>
                    <a:pt x="1374" y="98"/>
                    <a:pt x="1422" y="49"/>
                  </a:cubicBezTo>
                  <a:cubicBezTo>
                    <a:pt x="1470" y="0"/>
                    <a:pt x="1550" y="35"/>
                    <a:pt x="1584" y="3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  <p:sp>
          <p:nvSpPr>
            <p:cNvPr id="30" name="Freeform 27"/>
            <p:cNvSpPr/>
            <p:nvPr/>
          </p:nvSpPr>
          <p:spPr bwMode="auto">
            <a:xfrm>
              <a:off x="1584" y="1384"/>
              <a:ext cx="816" cy="304"/>
            </a:xfrm>
            <a:custGeom>
              <a:avLst/>
              <a:gdLst>
                <a:gd name="T0" fmla="*/ 0 w 816"/>
                <a:gd name="T1" fmla="*/ 248 h 304"/>
                <a:gd name="T2" fmla="*/ 342 w 816"/>
                <a:gd name="T3" fmla="*/ 272 h 304"/>
                <a:gd name="T4" fmla="*/ 576 w 816"/>
                <a:gd name="T5" fmla="*/ 56 h 304"/>
                <a:gd name="T6" fmla="*/ 816 w 816"/>
                <a:gd name="T7" fmla="*/ 8 h 3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6"/>
                <a:gd name="T13" fmla="*/ 0 h 304"/>
                <a:gd name="T14" fmla="*/ 816 w 816"/>
                <a:gd name="T15" fmla="*/ 304 h 3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6" h="304">
                  <a:moveTo>
                    <a:pt x="0" y="248"/>
                  </a:moveTo>
                  <a:cubicBezTo>
                    <a:pt x="57" y="252"/>
                    <a:pt x="246" y="304"/>
                    <a:pt x="342" y="272"/>
                  </a:cubicBezTo>
                  <a:cubicBezTo>
                    <a:pt x="438" y="240"/>
                    <a:pt x="497" y="100"/>
                    <a:pt x="576" y="56"/>
                  </a:cubicBezTo>
                  <a:cubicBezTo>
                    <a:pt x="655" y="12"/>
                    <a:pt x="736" y="0"/>
                    <a:pt x="816" y="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</p:grpSp>
      <p:grpSp>
        <p:nvGrpSpPr>
          <p:cNvPr id="31" name="Group 44"/>
          <p:cNvGrpSpPr/>
          <p:nvPr/>
        </p:nvGrpSpPr>
        <p:grpSpPr bwMode="auto">
          <a:xfrm>
            <a:off x="2133600" y="5065717"/>
            <a:ext cx="2590800" cy="1335088"/>
            <a:chOff x="864" y="3191"/>
            <a:chExt cx="1632" cy="841"/>
          </a:xfrm>
        </p:grpSpPr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960" y="3504"/>
              <a:ext cx="1536" cy="528"/>
            </a:xfrm>
            <a:prstGeom prst="rect">
              <a:avLst/>
            </a:prstGeom>
            <a:noFill/>
            <a:ln w="57150">
              <a:solidFill>
                <a:schemeClr val="tx2"/>
              </a:solidFill>
              <a:miter lim="800000"/>
              <a:tailEnd type="none" w="sm" len="sm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  <p:sp>
          <p:nvSpPr>
            <p:cNvPr id="33" name="Text Box 42"/>
            <p:cNvSpPr txBox="1">
              <a:spLocks noChangeArrowheads="1"/>
            </p:cNvSpPr>
            <p:nvPr/>
          </p:nvSpPr>
          <p:spPr bwMode="auto">
            <a:xfrm>
              <a:off x="864" y="3191"/>
              <a:ext cx="1432" cy="213"/>
            </a:xfrm>
            <a:prstGeom prst="rect">
              <a:avLst/>
            </a:prstGeom>
            <a:noFill/>
            <a:ln w="19050">
              <a:noFill/>
              <a:miter lim="800000"/>
              <a:tailEnd type="none" w="sm" len="sm"/>
            </a:ln>
          </p:spPr>
          <p:txBody>
            <a:bodyPr wrap="none" lIns="45720" rIns="45720">
              <a:spAutoFit/>
            </a:bodyPr>
            <a:p>
              <a:r>
                <a:rPr lang="en-US" sz="1600" dirty="0" err="1">
                  <a:latin typeface="Calibri" pitchFamily="34" charset="0"/>
                </a:rPr>
                <a:t>malloc</a:t>
              </a:r>
              <a:r>
                <a:rPr lang="en-US" sz="1600" dirty="0">
                  <a:latin typeface="Calibri" pitchFamily="34" charset="0"/>
                </a:rPr>
                <a:t>(</a:t>
              </a:r>
              <a:r>
                <a:rPr lang="en-US" sz="1600" dirty="0" err="1">
                  <a:latin typeface="Calibri" pitchFamily="34" charset="0"/>
                </a:rPr>
                <a:t>ele_cnt</a:t>
              </a:r>
              <a:r>
                <a:rPr lang="en-US" sz="1600" dirty="0">
                  <a:latin typeface="Calibri" pitchFamily="34" charset="0"/>
                </a:rPr>
                <a:t> * </a:t>
              </a:r>
              <a:r>
                <a:rPr lang="en-US" sz="1600" dirty="0" err="1">
                  <a:latin typeface="Calibri" pitchFamily="34" charset="0"/>
                </a:rPr>
                <a:t>ele_size</a:t>
              </a:r>
              <a:r>
                <a:rPr lang="en-US" sz="1600" dirty="0">
                  <a:latin typeface="Calibri" pitchFamily="34" charset="0"/>
                </a:rPr>
                <a:t>)</a:t>
              </a:r>
              <a:endParaRPr lang="en-US" sz="1600" dirty="0">
                <a:latin typeface="Calibri" pitchFamily="34" charset="0"/>
              </a:endParaRPr>
            </a:p>
          </p:txBody>
        </p:sp>
      </p:grpSp>
      <p:grpSp>
        <p:nvGrpSpPr>
          <p:cNvPr id="34" name="Group 41"/>
          <p:cNvGrpSpPr/>
          <p:nvPr/>
        </p:nvGrpSpPr>
        <p:grpSpPr bwMode="auto">
          <a:xfrm>
            <a:off x="2286000" y="5562600"/>
            <a:ext cx="2438400" cy="838200"/>
            <a:chOff x="2976" y="3504"/>
            <a:chExt cx="1536" cy="528"/>
          </a:xfrm>
        </p:grpSpPr>
        <p:grpSp>
          <p:nvGrpSpPr>
            <p:cNvPr id="35" name="Group 35"/>
            <p:cNvGrpSpPr/>
            <p:nvPr/>
          </p:nvGrpSpPr>
          <p:grpSpPr bwMode="auto">
            <a:xfrm>
              <a:off x="2976" y="3504"/>
              <a:ext cx="1536" cy="528"/>
              <a:chOff x="960" y="3504"/>
              <a:chExt cx="1536" cy="528"/>
            </a:xfrm>
          </p:grpSpPr>
          <p:sp>
            <p:nvSpPr>
              <p:cNvPr id="36" name="Rectangle 36"/>
              <p:cNvSpPr>
                <a:spLocks noChangeArrowheads="1"/>
              </p:cNvSpPr>
              <p:nvPr/>
            </p:nvSpPr>
            <p:spPr bwMode="auto">
              <a:xfrm>
                <a:off x="960" y="3504"/>
                <a:ext cx="384" cy="528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2"/>
                </a:solidFill>
                <a:miter lim="800000"/>
                <a:tailEnd type="none" w="sm" len="sm"/>
              </a:ln>
            </p:spPr>
            <p:txBody>
              <a:bodyPr wrap="none" lIns="45720" rIns="45720" anchor="ctr">
                <a:spAutoFit/>
              </a:bodyPr>
              <a:p>
                <a:endParaRPr lang="en-US"/>
              </a:p>
            </p:txBody>
          </p:sp>
          <p:sp>
            <p:nvSpPr>
              <p:cNvPr id="37" name="Rectangle 37"/>
              <p:cNvSpPr>
                <a:spLocks noChangeArrowheads="1"/>
              </p:cNvSpPr>
              <p:nvPr/>
            </p:nvSpPr>
            <p:spPr bwMode="auto">
              <a:xfrm>
                <a:off x="1344" y="3504"/>
                <a:ext cx="384" cy="528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2"/>
                </a:solidFill>
                <a:miter lim="800000"/>
                <a:tailEnd type="none" w="sm" len="sm"/>
              </a:ln>
            </p:spPr>
            <p:txBody>
              <a:bodyPr wrap="none" lIns="45720" rIns="45720" anchor="ctr">
                <a:spAutoFit/>
              </a:bodyPr>
              <a:p>
                <a:endParaRPr lang="en-US"/>
              </a:p>
            </p:txBody>
          </p:sp>
          <p:sp>
            <p:nvSpPr>
              <p:cNvPr id="39" name="Rectangle 38"/>
              <p:cNvSpPr>
                <a:spLocks noChangeArrowheads="1"/>
              </p:cNvSpPr>
              <p:nvPr/>
            </p:nvSpPr>
            <p:spPr bwMode="auto">
              <a:xfrm>
                <a:off x="1728" y="3504"/>
                <a:ext cx="384" cy="52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2"/>
                </a:solidFill>
                <a:miter lim="800000"/>
                <a:tailEnd type="none" w="sm" len="sm"/>
              </a:ln>
            </p:spPr>
            <p:txBody>
              <a:bodyPr wrap="none" lIns="45720" rIns="45720" anchor="ctr">
                <a:spAutoFit/>
              </a:bodyPr>
              <a:p>
                <a:endParaRPr lang="en-US"/>
              </a:p>
            </p:txBody>
          </p:sp>
          <p:sp>
            <p:nvSpPr>
              <p:cNvPr id="40" name="Rectangle 39"/>
              <p:cNvSpPr>
                <a:spLocks noChangeArrowheads="1"/>
              </p:cNvSpPr>
              <p:nvPr/>
            </p:nvSpPr>
            <p:spPr bwMode="auto">
              <a:xfrm>
                <a:off x="2112" y="3504"/>
                <a:ext cx="384" cy="52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2"/>
                </a:solidFill>
                <a:miter lim="800000"/>
                <a:tailEnd type="none" w="sm" len="sm"/>
              </a:ln>
            </p:spPr>
            <p:txBody>
              <a:bodyPr wrap="none" lIns="45720" rIns="45720" anchor="ctr">
                <a:spAutoFit/>
              </a:bodyPr>
              <a:p>
                <a:endParaRPr lang="en-US"/>
              </a:p>
            </p:txBody>
          </p:sp>
        </p:grp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2976" y="3504"/>
              <a:ext cx="1536" cy="528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tailEnd type="none" w="sm" len="sm"/>
            </a:ln>
          </p:spPr>
          <p:txBody>
            <a:bodyPr wrap="none" lIns="45720" rIns="45720" anchor="ctr">
              <a:spAutoFit/>
            </a:bodyPr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XDR Code</a:t>
            </a:r>
            <a:endParaRPr lang="en-US" dirty="0"/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1905000" y="1400175"/>
            <a:ext cx="8925560" cy="4520565"/>
          </a:xfrm>
          <a:prstGeom prst="rect">
            <a:avLst/>
          </a:prstGeom>
          <a:solidFill>
            <a:srgbClr val="F7F5CD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void*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copy_elements(void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ele_src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[],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ele_cnt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ele_size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) {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/*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 * </a:t>
            </a:r>
            <a:r>
              <a:rPr lang="zh-CN" alt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分配大小为</a:t>
            </a:r>
            <a:r>
              <a:rPr lang="en-US" altLang="zh-CN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ele_cnt * ele_size</a:t>
            </a:r>
            <a:r>
              <a:rPr lang="zh-CN" alt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的缓冲区</a:t>
            </a:r>
            <a:r>
              <a:rPr lang="en-US" altLang="zh-CN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，</a:t>
            </a:r>
            <a:r>
              <a:rPr lang="zh-CN" alt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并从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ele_src</a:t>
            </a:r>
            <a:r>
              <a:rPr lang="zh-CN" alt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拷贝数据到缓冲区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 */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void *result =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malloc(</a:t>
            </a:r>
            <a:r>
              <a:rPr lang="en-US" sz="1600" dirty="0" err="1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ele_cnt</a:t>
            </a:r>
            <a:r>
              <a:rPr lang="en-US" sz="1600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 </a:t>
            </a:r>
            <a:r>
              <a:rPr lang="en-US" sz="1600" dirty="0" err="1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ele_size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); // </a:t>
            </a:r>
            <a:r>
              <a:rPr lang="en-US" sz="1600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&lt;- 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此处整数乘法可能溢出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if (result == NULL)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	/*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malloc</a:t>
            </a:r>
            <a:r>
              <a:rPr lang="zh-CN" alt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失败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*/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	return NULL;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void *next = result;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for (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= 0;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&lt;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ele_cnt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;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++) {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    /* </a:t>
            </a:r>
            <a:r>
              <a:rPr lang="zh-CN" alt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拷贝第</a:t>
            </a:r>
            <a:r>
              <a:rPr lang="en-US" altLang="zh-CN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zh-CN" alt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个对象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*/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   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memcpy(next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ele_src[i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], </a:t>
            </a:r>
            <a:r>
              <a:rPr lang="en-US" sz="1600" dirty="0" err="1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ele_size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	/* </a:t>
            </a:r>
            <a:r>
              <a:rPr lang="zh-CN" alt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移动缓冲区指针到下一个区域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*/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	next +=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ele_size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}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   return result;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087604" y="774745"/>
            <a:ext cx="5087620" cy="519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mpd="dbl">
            <a:solidFill>
              <a:schemeClr val="tx1"/>
            </a:solidFill>
            <a:miter lim="800000"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tabLst>
                <a:tab pos="914400" algn="l"/>
                <a:tab pos="2286000" algn="l"/>
              </a:tabLst>
            </a:pPr>
            <a:r>
              <a:rPr lang="en-US" sz="1400" dirty="0">
                <a:latin typeface="Courier New" panose="02070609020205020404" pitchFamily="49" charset="0"/>
              </a:rPr>
              <a:t>/* </a:t>
            </a:r>
            <a:r>
              <a:rPr lang="zh-CN" altLang="en-US" sz="1400" dirty="0">
                <a:latin typeface="Courier New" panose="02070609020205020404" pitchFamily="49" charset="0"/>
              </a:rPr>
              <a:t>库函数</a:t>
            </a:r>
            <a:r>
              <a:rPr lang="en-US" sz="1400" dirty="0">
                <a:latin typeface="Courier New" panose="02070609020205020404" pitchFamily="49" charset="0"/>
              </a:rPr>
              <a:t>malloc</a:t>
            </a:r>
            <a:r>
              <a:rPr lang="zh-CN" altLang="en-US" sz="1400" dirty="0">
                <a:latin typeface="Courier New" panose="02070609020205020404" pitchFamily="49" charset="0"/>
              </a:rPr>
              <a:t>的声明</a:t>
            </a:r>
            <a:r>
              <a:rPr lang="en-US" sz="1400" dirty="0">
                <a:latin typeface="Courier New" panose="02070609020205020404" pitchFamily="49" charset="0"/>
              </a:rPr>
              <a:t> */</a:t>
            </a:r>
            <a:endParaRPr lang="en-US" sz="1400" dirty="0">
              <a:latin typeface="Courier New" panose="02070609020205020404" pitchFamily="49" charset="0"/>
            </a:endParaRPr>
          </a:p>
          <a:p>
            <a:pPr>
              <a:tabLst>
                <a:tab pos="914400" algn="l"/>
                <a:tab pos="2286000" algn="l"/>
              </a:tabLst>
            </a:pPr>
            <a:r>
              <a:rPr lang="en-US" sz="1400" dirty="0">
                <a:latin typeface="Courier New" panose="02070609020205020404" pitchFamily="49" charset="0"/>
              </a:rPr>
              <a:t>void *malloc(void *dest, void *src, </a:t>
            </a:r>
            <a:r>
              <a:rPr lang="en-US" sz="1400" dirty="0">
                <a:solidFill>
                  <a:srgbClr val="00B050"/>
                </a:solidFill>
                <a:latin typeface="Courier New" panose="02070609020205020404" pitchFamily="49" charset="0"/>
              </a:rPr>
              <a:t>size_t</a:t>
            </a:r>
            <a:r>
              <a:rPr lang="en-US" sz="1400" b="0" dirty="0">
                <a:latin typeface="Courier New" panose="02070609020205020404" pitchFamily="49" charset="0"/>
              </a:rPr>
              <a:t> </a:t>
            </a:r>
            <a:r>
              <a:rPr lang="en-US" sz="1400" dirty="0">
                <a:latin typeface="Courier New" panose="02070609020205020404" pitchFamily="49" charset="0"/>
              </a:rPr>
              <a:t>n);</a:t>
            </a:r>
            <a:endParaRPr lang="en-US" sz="1400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XDR Vulnerability</a:t>
            </a:r>
            <a:endParaRPr lang="en-US"/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2089150"/>
            <a:ext cx="8307387" cy="45402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What if:</a:t>
            </a:r>
            <a:endParaRPr lang="en-US" dirty="0"/>
          </a:p>
          <a:p>
            <a:pPr lvl="1" eaLnBrk="1" hangingPunct="1">
              <a:defRPr/>
            </a:pPr>
            <a:r>
              <a:rPr lang="en-US" b="1" dirty="0" err="1">
                <a:latin typeface="Courier New" panose="02070609020205020404" pitchFamily="49" charset="0"/>
              </a:rPr>
              <a:t>ele_cnt</a:t>
            </a:r>
            <a:r>
              <a:rPr lang="en-US" b="1" dirty="0">
                <a:latin typeface="Courier New" panose="02070609020205020404" pitchFamily="49" charset="0"/>
              </a:rPr>
              <a:t> </a:t>
            </a:r>
            <a:r>
              <a:rPr lang="en-US" dirty="0"/>
              <a:t>	= 2</a:t>
            </a:r>
            <a:r>
              <a:rPr lang="en-US" baseline="30000" dirty="0"/>
              <a:t>20</a:t>
            </a:r>
            <a:r>
              <a:rPr lang="en-US" dirty="0"/>
              <a:t> + 1</a:t>
            </a:r>
            <a:endParaRPr lang="en-US" dirty="0"/>
          </a:p>
          <a:p>
            <a:pPr lvl="1" eaLnBrk="1" hangingPunct="1">
              <a:defRPr/>
            </a:pPr>
            <a:r>
              <a:rPr lang="en-US" b="1" dirty="0" err="1">
                <a:latin typeface="Courier New" panose="02070609020205020404" pitchFamily="49" charset="0"/>
              </a:rPr>
              <a:t>ele_size</a:t>
            </a:r>
            <a:r>
              <a:rPr lang="en-US" dirty="0"/>
              <a:t> 	= 4096 		= 2</a:t>
            </a:r>
            <a:r>
              <a:rPr lang="en-US" baseline="30000" dirty="0"/>
              <a:t>12</a:t>
            </a:r>
            <a:endParaRPr lang="en-US" baseline="30000" dirty="0"/>
          </a:p>
          <a:p>
            <a:pPr lvl="1" eaLnBrk="1" hangingPunct="1">
              <a:defRPr/>
            </a:pPr>
            <a:r>
              <a:rPr lang="en-US" dirty="0"/>
              <a:t>Allocation	= ?? 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  <a:sym typeface="+mn-ea"/>
              </a:rPr>
              <a:t>2</a:t>
            </a:r>
            <a:r>
              <a:rPr lang="en-US" baseline="30000" dirty="0">
                <a:solidFill>
                  <a:srgbClr val="FF0000"/>
                </a:solidFill>
                <a:sym typeface="+mn-ea"/>
              </a:rPr>
              <a:t>20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+ 1) * 2</a:t>
            </a:r>
            <a:r>
              <a:rPr lang="en-US" baseline="30000" dirty="0">
                <a:solidFill>
                  <a:srgbClr val="FF0000"/>
                </a:solidFill>
                <a:sym typeface="+mn-ea"/>
              </a:rPr>
              <a:t>12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= 2</a:t>
            </a:r>
            <a:r>
              <a:rPr lang="en-US" baseline="30000" dirty="0">
                <a:solidFill>
                  <a:srgbClr val="FF0000"/>
                </a:solidFill>
                <a:sym typeface="+mn-ea"/>
              </a:rPr>
              <a:t>32</a:t>
            </a:r>
            <a:r>
              <a:rPr lang="en-US" dirty="0">
                <a:solidFill>
                  <a:srgbClr val="FF0000"/>
                </a:solidFill>
                <a:sym typeface="+mn-ea"/>
              </a:rPr>
              <a:t>+ 2</a:t>
            </a:r>
            <a:r>
              <a:rPr lang="en-US" baseline="30000" dirty="0">
                <a:solidFill>
                  <a:srgbClr val="FF0000"/>
                </a:solidFill>
                <a:sym typeface="+mn-ea"/>
              </a:rPr>
              <a:t>12</a:t>
            </a:r>
            <a:r>
              <a:rPr lang="en-US" dirty="0">
                <a:solidFill>
                  <a:srgbClr val="FF0000"/>
                </a:solidFill>
                <a:sym typeface="+mn-ea"/>
              </a:rPr>
              <a:t>= 2</a:t>
            </a:r>
            <a:r>
              <a:rPr lang="en-US" baseline="30000" dirty="0">
                <a:solidFill>
                  <a:srgbClr val="FF0000"/>
                </a:solidFill>
                <a:sym typeface="+mn-ea"/>
              </a:rPr>
              <a:t>12</a:t>
            </a:r>
            <a:endParaRPr lang="en-US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dirty="0"/>
              <a:t>How can I make this function secure?</a:t>
            </a:r>
            <a:endParaRPr lang="en-US" dirty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905000" y="1367135"/>
            <a:ext cx="3737610" cy="460375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malloc</a:t>
            </a:r>
            <a:r>
              <a:rPr lang="en-US" sz="2400" dirty="0">
                <a:latin typeface="Calibri" pitchFamily="34" charset="0"/>
              </a:rPr>
              <a:t>(</a:t>
            </a:r>
            <a:r>
              <a:rPr lang="en-US" sz="2400" dirty="0" err="1">
                <a:latin typeface="Calibri" pitchFamily="34" charset="0"/>
              </a:rPr>
              <a:t>ele_cnt</a:t>
            </a:r>
            <a:r>
              <a:rPr lang="en-US" sz="2400" dirty="0">
                <a:latin typeface="Calibri" pitchFamily="34" charset="0"/>
              </a:rPr>
              <a:t> * </a:t>
            </a:r>
            <a:r>
              <a:rPr lang="en-US" sz="2400" dirty="0" err="1">
                <a:latin typeface="Calibri" pitchFamily="34" charset="0"/>
              </a:rPr>
              <a:t>ele_size</a:t>
            </a:r>
            <a:r>
              <a:rPr lang="en-US" sz="2400" dirty="0">
                <a:latin typeface="Calibri" pitchFamily="34" charset="0"/>
              </a:rPr>
              <a:t>)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01870" y="4800600"/>
            <a:ext cx="57969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 smtClean="0">
                <a:solidFill>
                  <a:srgbClr val="FF0000"/>
                </a:solidFill>
                <a:latin typeface="Calibri" pitchFamily="34" charset="0"/>
              </a:rPr>
              <a:t>整数乘法的溢出</a:t>
            </a:r>
            <a:r>
              <a:rPr lang="en-US" altLang="zh-CN" dirty="0" smtClean="0">
                <a:solidFill>
                  <a:srgbClr val="FF0000"/>
                </a:solidFill>
                <a:latin typeface="Calibri" pitchFamily="34" charset="0"/>
              </a:rPr>
              <a:t>：</a:t>
            </a:r>
            <a:endParaRPr lang="en-US" altLang="zh-CN" dirty="0" smtClean="0">
              <a:solidFill>
                <a:srgbClr val="FF0000"/>
              </a:solidFill>
              <a:latin typeface="Calibri" pitchFamily="34" charset="0"/>
            </a:endParaRPr>
          </a:p>
          <a:p>
            <a:r>
              <a:rPr lang="zh-CN" altLang="en-US" dirty="0" smtClean="0">
                <a:solidFill>
                  <a:srgbClr val="FF0000"/>
                </a:solidFill>
                <a:latin typeface="Calibri" pitchFamily="34" charset="0"/>
              </a:rPr>
              <a:t>两个大整数相乘</a:t>
            </a:r>
            <a:r>
              <a:rPr lang="en-US" altLang="zh-CN" dirty="0" smtClean="0">
                <a:solidFill>
                  <a:srgbClr val="FF0000"/>
                </a:solidFill>
                <a:latin typeface="Calibri" pitchFamily="34" charset="0"/>
              </a:rPr>
              <a:t>，</a:t>
            </a:r>
            <a:r>
              <a:rPr lang="zh-CN" altLang="en-US" dirty="0" smtClean="0">
                <a:solidFill>
                  <a:srgbClr val="FF0000"/>
                </a:solidFill>
                <a:latin typeface="Calibri" pitchFamily="34" charset="0"/>
              </a:rPr>
              <a:t>结果是个小</a:t>
            </a:r>
            <a:r>
              <a:rPr lang="zh-CN" altLang="en-US" dirty="0" smtClean="0">
                <a:solidFill>
                  <a:srgbClr val="FF0000"/>
                </a:solidFill>
                <a:latin typeface="Calibri" pitchFamily="34" charset="0"/>
              </a:rPr>
              <a:t>整数</a:t>
            </a:r>
            <a:endParaRPr lang="zh-CN" altLang="en-US" dirty="0" smtClean="0">
              <a:solidFill>
                <a:srgbClr val="FF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905000" y="3733800"/>
            <a:ext cx="4495800" cy="645160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leaq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(%rax,%rax,2), 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rax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salq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$2, 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rax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title"/>
          </p:nvPr>
        </p:nvSpPr>
        <p:spPr>
          <a:xfrm>
            <a:off x="1820862" y="457200"/>
            <a:ext cx="7170738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乘法运算对应的</a:t>
            </a:r>
            <a:r>
              <a:rPr lang="zh-CN" altLang="en-US"/>
              <a:t>汇编代码</a:t>
            </a:r>
            <a:endParaRPr lang="zh-CN" altLang="en-US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14513" y="5257800"/>
            <a:ext cx="8307387" cy="1187450"/>
          </a:xfrm>
        </p:spPr>
        <p:txBody>
          <a:bodyPr/>
          <a:lstStyle/>
          <a:p>
            <a:r>
              <a:rPr lang="zh-CN" altLang="en-US" dirty="0"/>
              <a:t>当乘以一个常量时</a:t>
            </a:r>
            <a:r>
              <a:rPr lang="en-US" altLang="zh-CN" dirty="0"/>
              <a:t>，C</a:t>
            </a:r>
            <a:r>
              <a:rPr lang="zh-CN" altLang="en-US" dirty="0"/>
              <a:t>编译器自动生成</a:t>
            </a:r>
            <a:r>
              <a:rPr lang="en-US" altLang="zh-CN" dirty="0"/>
              <a:t> </a:t>
            </a:r>
            <a:r>
              <a:rPr lang="zh-CN" altLang="en-US" dirty="0"/>
              <a:t>移位</a:t>
            </a:r>
            <a:r>
              <a:rPr lang="en-US" altLang="zh-CN" dirty="0"/>
              <a:t>/</a:t>
            </a:r>
            <a:r>
              <a:rPr lang="zh-CN" altLang="en-US" dirty="0"/>
              <a:t>加法</a:t>
            </a:r>
            <a:r>
              <a:rPr lang="en-US" altLang="zh-CN" dirty="0"/>
              <a:t> </a:t>
            </a:r>
            <a:r>
              <a:rPr lang="zh-CN" altLang="en-US" dirty="0"/>
              <a:t>指令</a:t>
            </a:r>
            <a:endParaRPr lang="zh-CN" altLang="en-US" dirty="0"/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1905000" y="1600200"/>
            <a:ext cx="2895600" cy="1198880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long mul12(long x)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return x*12;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7010400" y="3733800"/>
            <a:ext cx="2797810" cy="645160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t &lt;- 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x+（x &lt;&lt; 1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）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return t &lt;&lt; 2;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2240907" y="1179513"/>
            <a:ext cx="1407795" cy="3987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C Function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1938361" y="3254375"/>
            <a:ext cx="3987800" cy="3987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Compiled Arithmetic Operations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7339453" y="3254375"/>
            <a:ext cx="1515745" cy="3987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Explanation</a:t>
            </a:r>
            <a:endParaRPr lang="en-US" sz="2000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2057400" y="3897868"/>
            <a:ext cx="4495800" cy="368300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shrq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$3, 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rax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569595"/>
            <a:ext cx="8537575" cy="57340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无符号整数的除法运算对应的</a:t>
            </a:r>
            <a:r>
              <a:rPr lang="zh-CN" altLang="en-US"/>
              <a:t>汇编代码</a:t>
            </a:r>
            <a:endParaRPr lang="zh-CN" altLang="en-US"/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14513" y="4953000"/>
            <a:ext cx="8307387" cy="118745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使用逻辑移位</a:t>
            </a:r>
            <a:endParaRPr lang="en-US" dirty="0"/>
          </a:p>
          <a:p>
            <a:pPr eaLnBrk="1" hangingPunct="1">
              <a:defRPr/>
            </a:pPr>
            <a:r>
              <a:rPr lang="en-US" dirty="0"/>
              <a:t>Java</a:t>
            </a:r>
            <a:r>
              <a:rPr lang="zh-CN" altLang="en-US" dirty="0"/>
              <a:t>语言中</a:t>
            </a:r>
            <a:endParaRPr lang="en-US" dirty="0"/>
          </a:p>
          <a:p>
            <a:pPr lvl="1" eaLnBrk="1" hangingPunct="1">
              <a:defRPr/>
            </a:pPr>
            <a:r>
              <a:rPr lang="zh-CN" altLang="en-US" dirty="0"/>
              <a:t>逻辑移位</a:t>
            </a:r>
            <a:r>
              <a:rPr lang="en-US" altLang="zh-CN" dirty="0"/>
              <a:t>：</a:t>
            </a:r>
            <a:r>
              <a:rPr lang="en-US" dirty="0">
                <a:latin typeface="Courier New" panose="02070609020205020404" pitchFamily="49" charset="0"/>
              </a:rPr>
              <a:t>&gt;&gt;&gt;</a:t>
            </a:r>
            <a:endParaRPr lang="en-US" dirty="0">
              <a:latin typeface="Courier New" panose="02070609020205020404" pitchFamily="49" charset="0"/>
            </a:endParaRP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2057400" y="1764268"/>
            <a:ext cx="4572000" cy="1476375"/>
          </a:xfrm>
          <a:prstGeom prst="rect">
            <a:avLst/>
          </a:prstGeom>
          <a:solidFill>
            <a:srgbClr val="E0F4E3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unsigned long udiv8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    (unsigned long x)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endParaRPr lang="en-US" sz="180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  return x/8;</a:t>
            </a:r>
            <a:endParaRPr lang="en-US" sz="180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80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7010400" y="3886200"/>
            <a:ext cx="3352800" cy="645160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# Logical shift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return x &gt;&gt; 3;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1883719" y="1343581"/>
            <a:ext cx="1407795" cy="3987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C Function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1752624" y="3497758"/>
            <a:ext cx="3987800" cy="3987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Compiled Arithmetic Operations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6852090" y="3505200"/>
            <a:ext cx="1515745" cy="3987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Explanation</a:t>
            </a:r>
            <a:endParaRPr lang="en-US" sz="2000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8863965" cy="57340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有符号整数除以</a:t>
            </a:r>
            <a:r>
              <a:rPr lang="en-US" altLang="zh-CN" dirty="0"/>
              <a:t>2</a:t>
            </a:r>
            <a:r>
              <a:rPr lang="zh-CN" altLang="en-US" dirty="0"/>
              <a:t>的幂时</a:t>
            </a:r>
            <a:r>
              <a:rPr lang="en-US" altLang="zh-CN" dirty="0"/>
              <a:t>，</a:t>
            </a:r>
            <a:r>
              <a:rPr lang="zh-CN" altLang="en-US" dirty="0"/>
              <a:t>使用移位的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4513" y="1220788"/>
            <a:ext cx="8307387" cy="1268412"/>
          </a:xfrm>
        </p:spPr>
        <p:txBody>
          <a:bodyPr/>
          <a:lstStyle/>
          <a:p>
            <a:pPr eaLnBrk="1" hangingPunct="1">
              <a:tabLst>
                <a:tab pos="2971800" algn="l"/>
              </a:tabLst>
              <a:defRPr/>
            </a:pPr>
            <a:r>
              <a:rPr lang="zh-CN" altLang="en-US" dirty="0">
                <a:sym typeface="+mn-ea"/>
              </a:rPr>
              <a:t>使用算术右移</a:t>
            </a:r>
            <a:r>
              <a:rPr lang="en-US" altLang="zh-CN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来表示有符号整数除以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的幂</a:t>
            </a:r>
            <a:endParaRPr lang="zh-CN" altLang="en-US" dirty="0">
              <a:sym typeface="+mn-ea"/>
            </a:endParaRP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latin typeface="Courier New" panose="02070609020205020404" pitchFamily="49" charset="0"/>
              </a:rPr>
              <a:t>x &gt;&gt; k</a:t>
            </a:r>
            <a:r>
              <a:rPr lang="en-US" b="1" dirty="0"/>
              <a:t> </a:t>
            </a:r>
            <a:r>
              <a:rPr lang="zh-CN" altLang="en-US" dirty="0"/>
              <a:t>的结果是</a:t>
            </a:r>
            <a:r>
              <a:rPr lang="en-US" altLang="zh-CN" dirty="0"/>
              <a:t>：</a:t>
            </a:r>
            <a:r>
              <a:rPr lang="en-US" b="1" dirty="0">
                <a:sym typeface="Symbol" pitchFamily="18" charset="2"/>
              </a:rPr>
              <a:t> </a:t>
            </a:r>
            <a:r>
              <a:rPr lang="en-US" b="1" dirty="0">
                <a:latin typeface="Courier New" panose="02070609020205020404" pitchFamily="49" charset="0"/>
              </a:rPr>
              <a:t>x / </a:t>
            </a:r>
            <a:r>
              <a:rPr lang="en-US" b="1" i="1" dirty="0"/>
              <a:t>2</a:t>
            </a:r>
            <a:r>
              <a:rPr lang="en-US" b="1" i="1" baseline="30000" dirty="0"/>
              <a:t>k </a:t>
            </a:r>
            <a:r>
              <a:rPr lang="en-US" b="1" dirty="0">
                <a:sym typeface="Symbol" pitchFamily="18" charset="2"/>
              </a:rPr>
              <a:t></a:t>
            </a:r>
            <a:endParaRPr lang="en-US" b="1" i="1" baseline="30000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zh-CN" altLang="en-US" dirty="0">
                <a:solidFill>
                  <a:schemeClr val="tx2"/>
                </a:solidFill>
              </a:rPr>
              <a:t>当</a:t>
            </a:r>
            <a:r>
              <a:rPr lang="en-US" altLang="zh-CN" dirty="0">
                <a:solidFill>
                  <a:srgbClr val="00B050"/>
                </a:solidFill>
              </a:rPr>
              <a:t>x&lt;0</a:t>
            </a:r>
            <a:r>
              <a:rPr lang="zh-CN" altLang="en-US" dirty="0">
                <a:solidFill>
                  <a:schemeClr val="tx2"/>
                </a:solidFill>
              </a:rPr>
              <a:t>时</a:t>
            </a:r>
            <a:r>
              <a:rPr lang="en-US" altLang="zh-CN" dirty="0">
                <a:solidFill>
                  <a:schemeClr val="tx2"/>
                </a:solidFill>
              </a:rPr>
              <a:t>，</a:t>
            </a:r>
            <a:r>
              <a:rPr lang="zh-CN" altLang="en-US" dirty="0">
                <a:solidFill>
                  <a:schemeClr val="tx2"/>
                </a:solidFill>
              </a:rPr>
              <a:t>向下舍入</a:t>
            </a:r>
            <a:r>
              <a:rPr lang="en-US" altLang="zh-CN" dirty="0">
                <a:solidFill>
                  <a:schemeClr val="tx2"/>
                </a:solidFill>
              </a:rPr>
              <a:t>；</a:t>
            </a:r>
            <a:r>
              <a:rPr lang="zh-CN" altLang="en-US" dirty="0">
                <a:solidFill>
                  <a:srgbClr val="FF0000"/>
                </a:solidFill>
              </a:rPr>
              <a:t>跟有符号整数除法的语义不一致</a:t>
            </a:r>
            <a:endParaRPr lang="en-US" dirty="0">
              <a:solidFill>
                <a:srgbClr val="FF0000"/>
              </a:solidFill>
            </a:endParaRP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solidFill>
                  <a:srgbClr val="00B050"/>
                </a:solidFill>
                <a:latin typeface="Courier New" panose="02070609020205020404" pitchFamily="49" charset="0"/>
              </a:rPr>
              <a:t> </a:t>
            </a:r>
            <a:endParaRPr lang="en-US" altLang="zh-CN" b="1" dirty="0">
              <a:solidFill>
                <a:srgbClr val="00B050"/>
              </a:solidFill>
              <a:latin typeface="Courier New" panose="02070609020205020404" pitchFamily="49" charset="0"/>
              <a:ea typeface="SimSun" charset="0"/>
            </a:endParaRP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5486400" y="29622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auto">
          <a:xfrm>
            <a:off x="5715000" y="296227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44" name="Rectangle 7"/>
          <p:cNvSpPr>
            <a:spLocks noChangeArrowheads="1"/>
          </p:cNvSpPr>
          <p:nvPr/>
        </p:nvSpPr>
        <p:spPr bwMode="auto">
          <a:xfrm>
            <a:off x="6629400" y="296227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45" name="Rectangle 8"/>
          <p:cNvSpPr>
            <a:spLocks noChangeArrowheads="1"/>
          </p:cNvSpPr>
          <p:nvPr/>
        </p:nvSpPr>
        <p:spPr bwMode="auto">
          <a:xfrm>
            <a:off x="5486400" y="34194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auto">
          <a:xfrm>
            <a:off x="6400800" y="34194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4347" name="Rectangle 10"/>
          <p:cNvSpPr>
            <a:spLocks noChangeArrowheads="1"/>
          </p:cNvSpPr>
          <p:nvPr/>
        </p:nvSpPr>
        <p:spPr bwMode="auto">
          <a:xfrm>
            <a:off x="6629400" y="3419475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14348" name="Rectangle 11"/>
          <p:cNvSpPr>
            <a:spLocks noChangeArrowheads="1"/>
          </p:cNvSpPr>
          <p:nvPr/>
        </p:nvSpPr>
        <p:spPr bwMode="auto">
          <a:xfrm>
            <a:off x="6858000" y="34194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4349" name="Rectangle 12"/>
          <p:cNvSpPr>
            <a:spLocks noChangeArrowheads="1"/>
          </p:cNvSpPr>
          <p:nvPr/>
        </p:nvSpPr>
        <p:spPr bwMode="auto">
          <a:xfrm>
            <a:off x="7772400" y="34194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4350" name="Rectangle 13"/>
          <p:cNvSpPr>
            <a:spLocks noChangeArrowheads="1"/>
          </p:cNvSpPr>
          <p:nvPr/>
        </p:nvSpPr>
        <p:spPr bwMode="auto">
          <a:xfrm>
            <a:off x="8001000" y="34194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14351" name="Rectangle 14"/>
          <p:cNvSpPr>
            <a:spLocks noChangeArrowheads="1"/>
          </p:cNvSpPr>
          <p:nvPr/>
        </p:nvSpPr>
        <p:spPr bwMode="auto">
          <a:xfrm>
            <a:off x="5715000" y="3419475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•••</a:t>
            </a:r>
            <a:endParaRPr lang="en-US" sz="2000" b="0" dirty="0">
              <a:latin typeface="Calibri"/>
              <a:cs typeface="Calibri"/>
            </a:endParaRPr>
          </a:p>
        </p:txBody>
      </p:sp>
      <p:sp>
        <p:nvSpPr>
          <p:cNvPr id="14352" name="Rectangle 15"/>
          <p:cNvSpPr>
            <a:spLocks noChangeArrowheads="1"/>
          </p:cNvSpPr>
          <p:nvPr/>
        </p:nvSpPr>
        <p:spPr bwMode="auto">
          <a:xfrm>
            <a:off x="4876800" y="2886075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x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14353" name="Rectangle 16"/>
          <p:cNvSpPr>
            <a:spLocks noChangeArrowheads="1"/>
          </p:cNvSpPr>
          <p:nvPr/>
        </p:nvSpPr>
        <p:spPr bwMode="auto">
          <a:xfrm>
            <a:off x="4876800" y="3343275"/>
            <a:ext cx="42291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anose="00000500000000020000" pitchFamily="18" charset="0"/>
              </a:rPr>
              <a:t>2</a:t>
            </a:r>
            <a:r>
              <a:rPr lang="en-US" b="0" i="1" baseline="30000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14354" name="Line 17"/>
          <p:cNvSpPr>
            <a:spLocks noChangeShapeType="1"/>
          </p:cNvSpPr>
          <p:nvPr/>
        </p:nvSpPr>
        <p:spPr bwMode="auto">
          <a:xfrm>
            <a:off x="3733800" y="3724275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Rectangle 18"/>
          <p:cNvSpPr>
            <a:spLocks noChangeArrowheads="1"/>
          </p:cNvSpPr>
          <p:nvPr/>
        </p:nvSpPr>
        <p:spPr bwMode="auto">
          <a:xfrm>
            <a:off x="4495800" y="3343275"/>
            <a:ext cx="25209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/</a:t>
            </a:r>
            <a:endParaRPr lang="en-US"/>
          </a:p>
        </p:txBody>
      </p:sp>
      <p:sp>
        <p:nvSpPr>
          <p:cNvPr id="14356" name="Rectangle 19"/>
          <p:cNvSpPr>
            <a:spLocks noChangeArrowheads="1"/>
          </p:cNvSpPr>
          <p:nvPr/>
        </p:nvSpPr>
        <p:spPr bwMode="auto">
          <a:xfrm>
            <a:off x="4435793" y="3800475"/>
            <a:ext cx="79502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x </a:t>
            </a:r>
            <a:r>
              <a:rPr lang="en-US" b="0">
                <a:latin typeface="Times" panose="00000500000000020000" pitchFamily="18" charset="0"/>
              </a:rPr>
              <a:t>/ 2</a:t>
            </a:r>
            <a:r>
              <a:rPr lang="en-US" b="0" i="1" baseline="30000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14357" name="Text Box 20"/>
          <p:cNvSpPr txBox="1">
            <a:spLocks noChangeArrowheads="1"/>
          </p:cNvSpPr>
          <p:nvPr/>
        </p:nvSpPr>
        <p:spPr bwMode="auto">
          <a:xfrm>
            <a:off x="2057400" y="3800475"/>
            <a:ext cx="83185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除法</a:t>
            </a:r>
            <a:r>
              <a:rPr lang="en-US" sz="2000" b="0" dirty="0">
                <a:latin typeface="Calibri" pitchFamily="34" charset="0"/>
              </a:rPr>
              <a:t>: 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14358" name="Text Box 21"/>
          <p:cNvSpPr txBox="1">
            <a:spLocks noChangeArrowheads="1"/>
          </p:cNvSpPr>
          <p:nvPr/>
        </p:nvSpPr>
        <p:spPr bwMode="auto">
          <a:xfrm>
            <a:off x="2057400" y="3114675"/>
            <a:ext cx="101536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操作数</a:t>
            </a:r>
            <a:r>
              <a:rPr lang="en-US" sz="2000" b="0" dirty="0">
                <a:latin typeface="Calibri" pitchFamily="34" charset="0"/>
              </a:rPr>
              <a:t>: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14359" name="Rectangle 22"/>
          <p:cNvSpPr>
            <a:spLocks noChangeArrowheads="1"/>
          </p:cNvSpPr>
          <p:nvPr/>
        </p:nvSpPr>
        <p:spPr bwMode="auto">
          <a:xfrm>
            <a:off x="7086600" y="3419475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•••</a:t>
            </a:r>
            <a:endParaRPr lang="en-US" sz="2000" b="0">
              <a:latin typeface="Calibri"/>
              <a:cs typeface="Calibri"/>
            </a:endParaRPr>
          </a:p>
        </p:txBody>
      </p:sp>
      <p:sp>
        <p:nvSpPr>
          <p:cNvPr id="14360" name="Rectangle 23"/>
          <p:cNvSpPr>
            <a:spLocks noChangeArrowheads="1"/>
          </p:cNvSpPr>
          <p:nvPr/>
        </p:nvSpPr>
        <p:spPr bwMode="auto">
          <a:xfrm>
            <a:off x="6553200" y="2581275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14361" name="Rectangle 24"/>
          <p:cNvSpPr>
            <a:spLocks noChangeArrowheads="1"/>
          </p:cNvSpPr>
          <p:nvPr/>
        </p:nvSpPr>
        <p:spPr bwMode="auto">
          <a:xfrm>
            <a:off x="5943600" y="2962275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  <a:endParaRPr lang="en-US" b="0"/>
          </a:p>
        </p:txBody>
      </p:sp>
      <p:grpSp>
        <p:nvGrpSpPr>
          <p:cNvPr id="3" name="Group 25"/>
          <p:cNvGrpSpPr/>
          <p:nvPr/>
        </p:nvGrpSpPr>
        <p:grpSpPr bwMode="auto">
          <a:xfrm>
            <a:off x="6858000" y="2962275"/>
            <a:ext cx="1371600" cy="228600"/>
            <a:chOff x="3744" y="1488"/>
            <a:chExt cx="864" cy="144"/>
          </a:xfrm>
        </p:grpSpPr>
        <p:sp>
          <p:nvSpPr>
            <p:cNvPr id="14392" name="Rectangle 26"/>
            <p:cNvSpPr>
              <a:spLocks noChangeArrowheads="1"/>
            </p:cNvSpPr>
            <p:nvPr/>
          </p:nvSpPr>
          <p:spPr bwMode="auto">
            <a:xfrm>
              <a:off x="3744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3" name="Rectangle 27"/>
            <p:cNvSpPr>
              <a:spLocks noChangeArrowheads="1"/>
            </p:cNvSpPr>
            <p:nvPr/>
          </p:nvSpPr>
          <p:spPr bwMode="auto">
            <a:xfrm>
              <a:off x="4320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4" name="Rectangle 28"/>
            <p:cNvSpPr>
              <a:spLocks noChangeArrowheads="1"/>
            </p:cNvSpPr>
            <p:nvPr/>
          </p:nvSpPr>
          <p:spPr bwMode="auto">
            <a:xfrm>
              <a:off x="4464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5" name="Rectangle 29"/>
            <p:cNvSpPr>
              <a:spLocks noChangeArrowheads="1"/>
            </p:cNvSpPr>
            <p:nvPr/>
          </p:nvSpPr>
          <p:spPr bwMode="auto">
            <a:xfrm>
              <a:off x="3888" y="1488"/>
              <a:ext cx="432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•••</a:t>
              </a:r>
              <a:endParaRPr lang="en-US" b="0"/>
            </a:p>
          </p:txBody>
        </p:sp>
      </p:grpSp>
      <p:sp>
        <p:nvSpPr>
          <p:cNvPr id="14363" name="Rectangle 30"/>
          <p:cNvSpPr>
            <a:spLocks noChangeArrowheads="1"/>
          </p:cNvSpPr>
          <p:nvPr/>
        </p:nvSpPr>
        <p:spPr bwMode="auto">
          <a:xfrm>
            <a:off x="6858000" y="38766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64" name="Rectangle 31"/>
          <p:cNvSpPr>
            <a:spLocks noChangeArrowheads="1"/>
          </p:cNvSpPr>
          <p:nvPr/>
        </p:nvSpPr>
        <p:spPr bwMode="auto">
          <a:xfrm>
            <a:off x="7086600" y="387667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65" name="Rectangle 32"/>
          <p:cNvSpPr>
            <a:spLocks noChangeArrowheads="1"/>
          </p:cNvSpPr>
          <p:nvPr/>
        </p:nvSpPr>
        <p:spPr bwMode="auto">
          <a:xfrm>
            <a:off x="8001000" y="387667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66" name="Rectangle 33"/>
          <p:cNvSpPr>
            <a:spLocks noChangeArrowheads="1"/>
          </p:cNvSpPr>
          <p:nvPr/>
        </p:nvSpPr>
        <p:spPr bwMode="auto">
          <a:xfrm>
            <a:off x="7315200" y="3876675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  <a:endParaRPr lang="en-US" b="0"/>
          </a:p>
        </p:txBody>
      </p:sp>
      <p:sp>
        <p:nvSpPr>
          <p:cNvPr id="14367" name="Rectangle 34"/>
          <p:cNvSpPr>
            <a:spLocks noChangeArrowheads="1"/>
          </p:cNvSpPr>
          <p:nvPr/>
        </p:nvSpPr>
        <p:spPr bwMode="auto">
          <a:xfrm>
            <a:off x="5486400" y="38766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0</a:t>
            </a:r>
            <a:endParaRPr lang="en-US" b="0"/>
          </a:p>
        </p:txBody>
      </p:sp>
      <p:sp>
        <p:nvSpPr>
          <p:cNvPr id="14368" name="Rectangle 35"/>
          <p:cNvSpPr>
            <a:spLocks noChangeArrowheads="1"/>
          </p:cNvSpPr>
          <p:nvPr/>
        </p:nvSpPr>
        <p:spPr bwMode="auto">
          <a:xfrm>
            <a:off x="6400800" y="38766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69" name="Rectangle 36"/>
          <p:cNvSpPr>
            <a:spLocks noChangeArrowheads="1"/>
          </p:cNvSpPr>
          <p:nvPr/>
        </p:nvSpPr>
        <p:spPr bwMode="auto">
          <a:xfrm>
            <a:off x="6629400" y="38766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70" name="Rectangle 37"/>
          <p:cNvSpPr>
            <a:spLocks noChangeArrowheads="1"/>
          </p:cNvSpPr>
          <p:nvPr/>
        </p:nvSpPr>
        <p:spPr bwMode="auto">
          <a:xfrm>
            <a:off x="5715000" y="3876675"/>
            <a:ext cx="6858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  <a:endParaRPr lang="en-US" b="0"/>
          </a:p>
        </p:txBody>
      </p:sp>
      <p:grpSp>
        <p:nvGrpSpPr>
          <p:cNvPr id="4" name="Group 38"/>
          <p:cNvGrpSpPr/>
          <p:nvPr/>
        </p:nvGrpSpPr>
        <p:grpSpPr bwMode="auto">
          <a:xfrm>
            <a:off x="8305800" y="3876675"/>
            <a:ext cx="1371600" cy="228600"/>
            <a:chOff x="4416" y="2256"/>
            <a:chExt cx="864" cy="144"/>
          </a:xfrm>
        </p:grpSpPr>
        <p:sp>
          <p:nvSpPr>
            <p:cNvPr id="14388" name="Rectangle 39"/>
            <p:cNvSpPr>
              <a:spLocks noChangeArrowheads="1"/>
            </p:cNvSpPr>
            <p:nvPr/>
          </p:nvSpPr>
          <p:spPr bwMode="auto">
            <a:xfrm>
              <a:off x="4416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89" name="Rectangle 40"/>
            <p:cNvSpPr>
              <a:spLocks noChangeArrowheads="1"/>
            </p:cNvSpPr>
            <p:nvPr/>
          </p:nvSpPr>
          <p:spPr bwMode="auto">
            <a:xfrm>
              <a:off x="4992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0" name="Rectangle 41"/>
            <p:cNvSpPr>
              <a:spLocks noChangeArrowheads="1"/>
            </p:cNvSpPr>
            <p:nvPr/>
          </p:nvSpPr>
          <p:spPr bwMode="auto">
            <a:xfrm>
              <a:off x="5136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1" name="Rectangle 42"/>
            <p:cNvSpPr>
              <a:spLocks noChangeArrowheads="1"/>
            </p:cNvSpPr>
            <p:nvPr/>
          </p:nvSpPr>
          <p:spPr bwMode="auto">
            <a:xfrm>
              <a:off x="4560" y="2256"/>
              <a:ext cx="432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•••</a:t>
              </a:r>
              <a:endParaRPr lang="en-US" b="0"/>
            </a:p>
          </p:txBody>
        </p:sp>
      </p:grpSp>
      <p:sp>
        <p:nvSpPr>
          <p:cNvPr id="14372" name="Line 43"/>
          <p:cNvSpPr>
            <a:spLocks noChangeShapeType="1"/>
          </p:cNvSpPr>
          <p:nvPr/>
        </p:nvSpPr>
        <p:spPr bwMode="auto">
          <a:xfrm>
            <a:off x="3733800" y="4257675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3" name="Rectangle 44"/>
          <p:cNvSpPr>
            <a:spLocks noChangeArrowheads="1"/>
          </p:cNvSpPr>
          <p:nvPr/>
        </p:nvSpPr>
        <p:spPr bwMode="auto">
          <a:xfrm>
            <a:off x="3152775" y="4267200"/>
            <a:ext cx="225742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0" dirty="0" err="1">
                <a:latin typeface="Times" panose="00000500000000020000" pitchFamily="18" charset="0"/>
              </a:rPr>
              <a:t>RoundDown</a:t>
            </a:r>
            <a:r>
              <a:rPr lang="en-US" sz="2000" b="0" dirty="0">
                <a:latin typeface="Times" panose="00000500000000020000" pitchFamily="18" charset="0"/>
              </a:rPr>
              <a:t>(</a:t>
            </a:r>
            <a:r>
              <a:rPr lang="en-US" sz="2000" b="0" i="1" dirty="0">
                <a:latin typeface="Times" panose="00000500000000020000" pitchFamily="18" charset="0"/>
              </a:rPr>
              <a:t>x</a:t>
            </a:r>
            <a:r>
              <a:rPr lang="en-US" b="0" i="1" dirty="0">
                <a:latin typeface="Times" panose="00000500000000020000" pitchFamily="18" charset="0"/>
              </a:rPr>
              <a:t> </a:t>
            </a:r>
            <a:r>
              <a:rPr lang="en-US" b="0" dirty="0">
                <a:latin typeface="Times" panose="00000500000000020000" pitchFamily="18" charset="0"/>
              </a:rPr>
              <a:t>/ 2</a:t>
            </a:r>
            <a:r>
              <a:rPr lang="en-US" b="0" i="1" baseline="30000" dirty="0">
                <a:latin typeface="Times" panose="00000500000000020000" pitchFamily="18" charset="0"/>
              </a:rPr>
              <a:t>k</a:t>
            </a:r>
            <a:r>
              <a:rPr lang="en-US" b="0" dirty="0">
                <a:latin typeface="Times" panose="00000500000000020000" pitchFamily="18" charset="0"/>
                <a:sym typeface="Symbol" pitchFamily="18" charset="2"/>
              </a:rPr>
              <a:t>)</a:t>
            </a:r>
            <a:endParaRPr lang="en-US" b="0" dirty="0">
              <a:latin typeface="Times" panose="00000500000000020000" pitchFamily="18" charset="0"/>
            </a:endParaRPr>
          </a:p>
        </p:txBody>
      </p:sp>
      <p:sp>
        <p:nvSpPr>
          <p:cNvPr id="14374" name="Rectangle 45"/>
          <p:cNvSpPr>
            <a:spLocks noChangeArrowheads="1"/>
          </p:cNvSpPr>
          <p:nvPr/>
        </p:nvSpPr>
        <p:spPr bwMode="auto">
          <a:xfrm>
            <a:off x="6858000" y="44100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75" name="Rectangle 46"/>
          <p:cNvSpPr>
            <a:spLocks noChangeArrowheads="1"/>
          </p:cNvSpPr>
          <p:nvPr/>
        </p:nvSpPr>
        <p:spPr bwMode="auto">
          <a:xfrm>
            <a:off x="7086600" y="441007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76" name="Rectangle 47"/>
          <p:cNvSpPr>
            <a:spLocks noChangeArrowheads="1"/>
          </p:cNvSpPr>
          <p:nvPr/>
        </p:nvSpPr>
        <p:spPr bwMode="auto">
          <a:xfrm>
            <a:off x="8001000" y="441007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77" name="Rectangle 48"/>
          <p:cNvSpPr>
            <a:spLocks noChangeArrowheads="1"/>
          </p:cNvSpPr>
          <p:nvPr/>
        </p:nvSpPr>
        <p:spPr bwMode="auto">
          <a:xfrm>
            <a:off x="7315200" y="4410075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  <a:endParaRPr lang="en-US" b="0"/>
          </a:p>
        </p:txBody>
      </p:sp>
      <p:sp>
        <p:nvSpPr>
          <p:cNvPr id="14378" name="Text Box 49"/>
          <p:cNvSpPr txBox="1">
            <a:spLocks noChangeArrowheads="1"/>
          </p:cNvSpPr>
          <p:nvPr/>
        </p:nvSpPr>
        <p:spPr bwMode="auto">
          <a:xfrm>
            <a:off x="2057400" y="4333875"/>
            <a:ext cx="761365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结果</a:t>
            </a:r>
            <a:r>
              <a:rPr lang="en-US" sz="2000" b="0" dirty="0">
                <a:latin typeface="Calibri" pitchFamily="34" charset="0"/>
              </a:rPr>
              <a:t>: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14379" name="Text Box 50"/>
          <p:cNvSpPr txBox="1">
            <a:spLocks noChangeArrowheads="1"/>
          </p:cNvSpPr>
          <p:nvPr/>
        </p:nvSpPr>
        <p:spPr bwMode="auto">
          <a:xfrm>
            <a:off x="8153400" y="3800475"/>
            <a:ext cx="2673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.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14380" name="Text Box 51"/>
          <p:cNvSpPr txBox="1">
            <a:spLocks noChangeArrowheads="1"/>
          </p:cNvSpPr>
          <p:nvPr/>
        </p:nvSpPr>
        <p:spPr bwMode="auto">
          <a:xfrm>
            <a:off x="8458200" y="2886075"/>
            <a:ext cx="183769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Binary Point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14381" name="Line 52"/>
          <p:cNvSpPr>
            <a:spLocks noChangeShapeType="1"/>
          </p:cNvSpPr>
          <p:nvPr/>
        </p:nvSpPr>
        <p:spPr bwMode="auto">
          <a:xfrm flipH="1">
            <a:off x="8305800" y="3267075"/>
            <a:ext cx="304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Rectangle 53"/>
          <p:cNvSpPr>
            <a:spLocks noChangeArrowheads="1"/>
          </p:cNvSpPr>
          <p:nvPr/>
        </p:nvSpPr>
        <p:spPr bwMode="auto">
          <a:xfrm>
            <a:off x="5486400" y="38766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83" name="Rectangle 54"/>
          <p:cNvSpPr>
            <a:spLocks noChangeArrowheads="1"/>
          </p:cNvSpPr>
          <p:nvPr/>
        </p:nvSpPr>
        <p:spPr bwMode="auto">
          <a:xfrm>
            <a:off x="5486400" y="4410075"/>
            <a:ext cx="228600" cy="228600"/>
          </a:xfrm>
          <a:prstGeom prst="rect">
            <a:avLst/>
          </a:prstGeom>
          <a:solidFill>
            <a:srgbClr val="00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0</a:t>
            </a:r>
            <a:endParaRPr lang="en-US" b="0"/>
          </a:p>
        </p:txBody>
      </p:sp>
      <p:sp>
        <p:nvSpPr>
          <p:cNvPr id="14384" name="Rectangle 55"/>
          <p:cNvSpPr>
            <a:spLocks noChangeArrowheads="1"/>
          </p:cNvSpPr>
          <p:nvPr/>
        </p:nvSpPr>
        <p:spPr bwMode="auto">
          <a:xfrm>
            <a:off x="6400800" y="44100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85" name="Rectangle 56"/>
          <p:cNvSpPr>
            <a:spLocks noChangeArrowheads="1"/>
          </p:cNvSpPr>
          <p:nvPr/>
        </p:nvSpPr>
        <p:spPr bwMode="auto">
          <a:xfrm>
            <a:off x="6629400" y="44100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86" name="Rectangle 57"/>
          <p:cNvSpPr>
            <a:spLocks noChangeArrowheads="1"/>
          </p:cNvSpPr>
          <p:nvPr/>
        </p:nvSpPr>
        <p:spPr bwMode="auto">
          <a:xfrm>
            <a:off x="5715000" y="4410075"/>
            <a:ext cx="6858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  <a:endParaRPr lang="en-US" b="0"/>
          </a:p>
        </p:txBody>
      </p:sp>
      <p:sp>
        <p:nvSpPr>
          <p:cNvPr id="14387" name="Rectangle 58"/>
          <p:cNvSpPr>
            <a:spLocks noChangeArrowheads="1"/>
          </p:cNvSpPr>
          <p:nvPr/>
        </p:nvSpPr>
        <p:spPr bwMode="auto">
          <a:xfrm>
            <a:off x="5486400" y="44100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0" y="4876800"/>
            <a:ext cx="7451725" cy="18764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6" grpId="0"/>
      <p:bldP spid="14357" grpId="0"/>
      <p:bldP spid="14363" grpId="0" bldLvl="0" animBg="1"/>
      <p:bldP spid="14364" grpId="0" bldLvl="0" animBg="1"/>
      <p:bldP spid="14365" grpId="0" bldLvl="0" animBg="1"/>
      <p:bldP spid="14366" grpId="0" bldLvl="0" animBg="1"/>
      <p:bldP spid="14367" grpId="0" bldLvl="0" animBg="1"/>
      <p:bldP spid="14368" grpId="0" bldLvl="0" animBg="1"/>
      <p:bldP spid="14369" grpId="0" bldLvl="0" animBg="1"/>
      <p:bldP spid="14370" grpId="0" bldLvl="0" animBg="1"/>
      <p:bldP spid="14372" grpId="0" bldLvl="0" animBg="1"/>
      <p:bldP spid="14372" grpId="1" bldLvl="0" animBg="1"/>
      <p:bldP spid="14373" grpId="0"/>
      <p:bldP spid="14374" grpId="0" bldLvl="0" animBg="1"/>
      <p:bldP spid="14375" grpId="0" bldLvl="0" animBg="1"/>
      <p:bldP spid="14376" grpId="0" bldLvl="0" animBg="1"/>
      <p:bldP spid="14377" grpId="0" bldLvl="0" animBg="1"/>
      <p:bldP spid="14378" grpId="0"/>
      <p:bldP spid="14379" grpId="0"/>
      <p:bldP spid="14380" grpId="0"/>
      <p:bldP spid="14381" grpId="0" bldLvl="0" animBg="1"/>
      <p:bldP spid="14382" grpId="0" bldLvl="0" animBg="1"/>
      <p:bldP spid="14383" grpId="0" bldLvl="0" animBg="1"/>
      <p:bldP spid="14384" grpId="0" bldLvl="0" animBg="1"/>
      <p:bldP spid="14385" grpId="0" bldLvl="0" animBg="1"/>
      <p:bldP spid="14386" grpId="0" bldLvl="0" animBg="1"/>
      <p:bldP spid="14387" grpId="0" bldLvl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33562" y="533400"/>
            <a:ext cx="7081838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如何</a:t>
            </a:r>
            <a:r>
              <a:rPr lang="zh-CN" altLang="en-US"/>
              <a:t>纠正</a:t>
            </a:r>
            <a:endParaRPr lang="zh-CN" altLang="en-US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4513" y="1220788"/>
            <a:ext cx="8307387" cy="5484812"/>
          </a:xfrm>
        </p:spPr>
        <p:txBody>
          <a:bodyPr/>
          <a:lstStyle/>
          <a:p>
            <a:pPr eaLnBrk="1" hangingPunct="1">
              <a:tabLst>
                <a:tab pos="2971800" algn="l"/>
              </a:tabLst>
              <a:defRPr/>
            </a:pPr>
            <a:r>
              <a:rPr lang="en-US" altLang="zh-CN" dirty="0"/>
              <a:t>C</a:t>
            </a:r>
            <a:r>
              <a:rPr lang="zh-CN" altLang="en-US" dirty="0"/>
              <a:t>语言整数除法的语义</a:t>
            </a:r>
            <a:r>
              <a:rPr lang="en-US" altLang="zh-CN" dirty="0"/>
              <a:t>：</a:t>
            </a:r>
            <a:r>
              <a:rPr lang="zh-CN" altLang="en-US" dirty="0"/>
              <a:t>靠</a:t>
            </a:r>
            <a:r>
              <a:rPr lang="en-US" altLang="zh-CN" dirty="0"/>
              <a:t>0</a:t>
            </a:r>
            <a:r>
              <a:rPr lang="zh-CN" altLang="en-US" dirty="0"/>
              <a:t>舍入</a:t>
            </a:r>
            <a:endParaRPr lang="zh-CN" altLang="en-US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zh-CN" altLang="en-US" sz="2000" dirty="0">
                <a:sym typeface="+mn-ea"/>
              </a:rPr>
              <a:t>负数: 向上舍入</a:t>
            </a:r>
            <a:endParaRPr lang="zh-CN" altLang="en-US" sz="2000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zh-CN" altLang="en-US" sz="2000" dirty="0">
                <a:sym typeface="+mn-ea"/>
              </a:rPr>
              <a:t>正数: 向下舍入</a:t>
            </a:r>
            <a:endParaRPr lang="zh-CN" altLang="en-US" dirty="0"/>
          </a:p>
          <a:p>
            <a:pPr eaLnBrk="1" hangingPunct="1">
              <a:tabLst>
                <a:tab pos="2971800" algn="l"/>
              </a:tabLst>
              <a:defRPr/>
            </a:pPr>
            <a:r>
              <a:rPr lang="zh-CN" altLang="en-US" dirty="0"/>
              <a:t>负整数</a:t>
            </a:r>
            <a:r>
              <a:rPr lang="zh-CN" altLang="en-US" dirty="0">
                <a:sym typeface="+mn-ea"/>
              </a:rPr>
              <a:t>除以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的幂时</a:t>
            </a:r>
            <a:r>
              <a:rPr lang="en-US" altLang="zh-CN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结果应该是</a:t>
            </a:r>
            <a:endParaRPr lang="en-US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dirty="0"/>
              <a:t> </a:t>
            </a:r>
            <a:r>
              <a:rPr lang="en-US" b="1" dirty="0">
                <a:sym typeface="Symbol" pitchFamily="18" charset="2"/>
              </a:rPr>
              <a:t> </a:t>
            </a:r>
            <a:r>
              <a:rPr lang="en-US" b="1" dirty="0">
                <a:latin typeface="Courier New" panose="02070609020205020404" pitchFamily="49" charset="0"/>
              </a:rPr>
              <a:t>x / </a:t>
            </a:r>
            <a:r>
              <a:rPr lang="en-US" b="1" dirty="0"/>
              <a:t>2</a:t>
            </a:r>
            <a:r>
              <a:rPr lang="en-US" b="1" i="1" baseline="30000" dirty="0"/>
              <a:t>k </a:t>
            </a:r>
            <a:r>
              <a:rPr lang="en-US" b="1" dirty="0">
                <a:sym typeface="Symbol" pitchFamily="18" charset="2"/>
              </a:rPr>
              <a:t>    </a:t>
            </a:r>
            <a:r>
              <a:rPr lang="zh-CN" altLang="en-US" dirty="0"/>
              <a:t>等价于</a:t>
            </a:r>
            <a:r>
              <a:rPr lang="en-US" dirty="0"/>
              <a:t> </a:t>
            </a:r>
            <a:r>
              <a:rPr lang="en-US" b="1" dirty="0">
                <a:sym typeface="Symbol" pitchFamily="18" charset="2"/>
              </a:rPr>
              <a:t> </a:t>
            </a:r>
            <a:r>
              <a:rPr lang="en-US" b="1" dirty="0">
                <a:latin typeface="Courier New" panose="02070609020205020404" pitchFamily="49" charset="0"/>
              </a:rPr>
              <a:t>(x+</a:t>
            </a:r>
            <a:r>
              <a:rPr lang="en-US" b="1" dirty="0"/>
              <a:t>2</a:t>
            </a:r>
            <a:r>
              <a:rPr lang="en-US" b="1" i="1" baseline="30000" dirty="0"/>
              <a:t>k</a:t>
            </a:r>
            <a:r>
              <a:rPr lang="en-US" b="1" dirty="0">
                <a:latin typeface="Courier New" panose="02070609020205020404" pitchFamily="49" charset="0"/>
              </a:rPr>
              <a:t>-1)/ </a:t>
            </a:r>
            <a:r>
              <a:rPr lang="en-US" b="1" dirty="0"/>
              <a:t>2</a:t>
            </a:r>
            <a:r>
              <a:rPr lang="en-US" b="1" i="1" baseline="30000" dirty="0"/>
              <a:t>k </a:t>
            </a:r>
            <a:r>
              <a:rPr lang="en-US" b="1" dirty="0">
                <a:sym typeface="Symbol" pitchFamily="18" charset="2"/>
              </a:rPr>
              <a:t></a:t>
            </a:r>
            <a:endParaRPr lang="en-US" b="1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zh-CN" altLang="en-US" dirty="0"/>
              <a:t>等价于</a:t>
            </a:r>
            <a:r>
              <a:rPr lang="en-US" dirty="0"/>
              <a:t>C</a:t>
            </a:r>
            <a:r>
              <a:rPr lang="zh-CN" altLang="en-US" dirty="0"/>
              <a:t>语言</a:t>
            </a:r>
            <a:r>
              <a:rPr lang="en-US" dirty="0"/>
              <a:t>: </a:t>
            </a:r>
            <a:r>
              <a:rPr lang="en-US" b="1" dirty="0">
                <a:solidFill>
                  <a:srgbClr val="00B050"/>
                </a:solidFill>
                <a:latin typeface="Courier New" panose="02070609020205020404" pitchFamily="49" charset="0"/>
              </a:rPr>
              <a:t>(x + (1&lt;&lt;k)-1) &gt;&gt; k</a:t>
            </a:r>
            <a:endParaRPr lang="en-US" b="1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tabLst>
                <a:tab pos="2971800" algn="l"/>
              </a:tabLst>
              <a:defRPr/>
            </a:pPr>
            <a:r>
              <a:rPr lang="zh-CN" altLang="en-US" dirty="0">
                <a:effectLst/>
              </a:rPr>
              <a:t>情形</a:t>
            </a:r>
            <a:r>
              <a:rPr lang="en-US" dirty="0">
                <a:effectLst/>
              </a:rPr>
              <a:t> 1: </a:t>
            </a:r>
            <a:r>
              <a:rPr lang="zh-CN" altLang="en-US" dirty="0">
                <a:effectLst/>
              </a:rPr>
              <a:t>无需</a:t>
            </a:r>
            <a:r>
              <a:rPr lang="zh-CN" altLang="en-US" dirty="0">
                <a:effectLst/>
              </a:rPr>
              <a:t>舍入</a:t>
            </a:r>
            <a:endParaRPr lang="zh-CN" altLang="en-US" dirty="0">
              <a:effectLst/>
            </a:endParaRP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362200" y="5029200"/>
            <a:ext cx="96139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 dirty="0">
                <a:latin typeface="Calibri" pitchFamily="34" charset="0"/>
              </a:rPr>
              <a:t>除数</a:t>
            </a:r>
            <a:r>
              <a:rPr lang="en-US" b="0" dirty="0">
                <a:latin typeface="Calibri" pitchFamily="34" charset="0"/>
              </a:rPr>
              <a:t>: 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2252345" y="4194175"/>
            <a:ext cx="11817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 dirty="0">
                <a:latin typeface="Calibri" pitchFamily="34" charset="0"/>
              </a:rPr>
              <a:t>被除数</a:t>
            </a:r>
            <a:r>
              <a:rPr lang="en-US" b="0" dirty="0">
                <a:latin typeface="Calibri" pitchFamily="34" charset="0"/>
              </a:rPr>
              <a:t>: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5638800" y="5105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6553200" y="5105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6781800" y="5105400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7010400" y="5105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7924800" y="5105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67" name="Rectangle 11"/>
          <p:cNvSpPr>
            <a:spLocks noChangeArrowheads="1"/>
          </p:cNvSpPr>
          <p:nvPr/>
        </p:nvSpPr>
        <p:spPr bwMode="auto">
          <a:xfrm>
            <a:off x="8153400" y="5105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>
            <a:off x="5867400" y="51054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5029200" y="3813175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x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5029200" y="5029200"/>
            <a:ext cx="42291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anose="00000500000000020000" pitchFamily="18" charset="0"/>
              </a:rPr>
              <a:t>2</a:t>
            </a:r>
            <a:r>
              <a:rPr lang="en-US" b="0" i="1" baseline="30000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5071" name="Line 15"/>
          <p:cNvSpPr>
            <a:spLocks noChangeShapeType="1"/>
          </p:cNvSpPr>
          <p:nvPr/>
        </p:nvSpPr>
        <p:spPr bwMode="auto">
          <a:xfrm>
            <a:off x="3886200" y="54102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2" name="Rectangle 16"/>
          <p:cNvSpPr>
            <a:spLocks noChangeArrowheads="1"/>
          </p:cNvSpPr>
          <p:nvPr/>
        </p:nvSpPr>
        <p:spPr bwMode="auto">
          <a:xfrm>
            <a:off x="4648200" y="5029200"/>
            <a:ext cx="25209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/</a:t>
            </a:r>
            <a:endParaRPr lang="en-US"/>
          </a:p>
        </p:txBody>
      </p:sp>
      <p:sp>
        <p:nvSpPr>
          <p:cNvPr id="45073" name="Rectangle 17"/>
          <p:cNvSpPr>
            <a:spLocks noChangeArrowheads="1"/>
          </p:cNvSpPr>
          <p:nvPr/>
        </p:nvSpPr>
        <p:spPr bwMode="auto">
          <a:xfrm>
            <a:off x="4182428" y="5486400"/>
            <a:ext cx="128016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b="0">
                <a:latin typeface="Times" panose="00000500000000020000" pitchFamily="18" charset="0"/>
              </a:rPr>
              <a:t> </a:t>
            </a:r>
            <a:r>
              <a:rPr lang="en-US" b="0">
                <a:latin typeface="Times" panose="00000500000000020000" pitchFamily="18" charset="0"/>
                <a:sym typeface="Symbol" pitchFamily="18" charset="2"/>
              </a:rPr>
              <a:t> </a:t>
            </a:r>
            <a:r>
              <a:rPr lang="en-US" b="0" i="1">
                <a:latin typeface="Times New Roman Italic" panose="02020603050405020304" charset="0"/>
                <a:cs typeface="Times New Roman Italic" panose="02020603050405020304" charset="0"/>
                <a:sym typeface="Symbol" pitchFamily="18" charset="2"/>
              </a:rPr>
              <a:t>x</a:t>
            </a:r>
            <a:r>
              <a:rPr lang="en-US" b="0" i="1">
                <a:latin typeface="Times" panose="00000500000000020000" pitchFamily="18" charset="0"/>
              </a:rPr>
              <a:t> </a:t>
            </a:r>
            <a:r>
              <a:rPr lang="en-US" b="0">
                <a:latin typeface="Times" panose="00000500000000020000" pitchFamily="18" charset="0"/>
              </a:rPr>
              <a:t>/ 2</a:t>
            </a:r>
            <a:r>
              <a:rPr lang="en-US" b="0" i="1" baseline="30000">
                <a:latin typeface="Times" panose="00000500000000020000" pitchFamily="18" charset="0"/>
              </a:rPr>
              <a:t>k </a:t>
            </a:r>
            <a:r>
              <a:rPr lang="en-US" i="1" baseline="30000">
                <a:latin typeface="Times" panose="00000500000000020000" pitchFamily="18" charset="0"/>
              </a:rPr>
              <a:t> </a:t>
            </a:r>
            <a:r>
              <a:rPr lang="en-US" b="0">
                <a:latin typeface="Times" panose="00000500000000020000" pitchFamily="18" charset="0"/>
                <a:sym typeface="Symbol" pitchFamily="18" charset="2"/>
              </a:rPr>
              <a:t></a:t>
            </a:r>
            <a:endParaRPr lang="en-US" sz="2400" b="0">
              <a:latin typeface="Times" panose="00000500000000020000" pitchFamily="18" charset="0"/>
              <a:sym typeface="Symbol" pitchFamily="18" charset="2"/>
            </a:endParaRPr>
          </a:p>
        </p:txBody>
      </p:sp>
      <p:sp>
        <p:nvSpPr>
          <p:cNvPr id="45074" name="Rectangle 18"/>
          <p:cNvSpPr>
            <a:spLocks noChangeArrowheads="1"/>
          </p:cNvSpPr>
          <p:nvPr/>
        </p:nvSpPr>
        <p:spPr bwMode="auto">
          <a:xfrm>
            <a:off x="7239000" y="51054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6746850" y="3518950"/>
            <a:ext cx="29591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i="1">
                <a:latin typeface="Times" panose="00000500000000020000" pitchFamily="18" charset="0"/>
              </a:rPr>
              <a:t>k</a:t>
            </a:r>
            <a:endParaRPr lang="en-US" sz="2000" b="0" i="1">
              <a:latin typeface="Times" panose="00000500000000020000" pitchFamily="18" charset="0"/>
            </a:endParaRPr>
          </a:p>
        </p:txBody>
      </p:sp>
      <p:sp>
        <p:nvSpPr>
          <p:cNvPr id="45076" name="Rectangle 20"/>
          <p:cNvSpPr>
            <a:spLocks noChangeArrowheads="1"/>
          </p:cNvSpPr>
          <p:nvPr/>
        </p:nvSpPr>
        <p:spPr bwMode="auto">
          <a:xfrm>
            <a:off x="5638800" y="388937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5867400" y="388937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6781800" y="388937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6096000" y="3889375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0" name="Rectangle 24"/>
          <p:cNvSpPr>
            <a:spLocks noChangeArrowheads="1"/>
          </p:cNvSpPr>
          <p:nvPr/>
        </p:nvSpPr>
        <p:spPr bwMode="auto">
          <a:xfrm>
            <a:off x="7010400" y="38893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1" name="Rectangle 25"/>
          <p:cNvSpPr>
            <a:spLocks noChangeArrowheads="1"/>
          </p:cNvSpPr>
          <p:nvPr/>
        </p:nvSpPr>
        <p:spPr bwMode="auto">
          <a:xfrm>
            <a:off x="7924800" y="38893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8153400" y="38893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3" name="Rectangle 27"/>
          <p:cNvSpPr>
            <a:spLocks noChangeArrowheads="1"/>
          </p:cNvSpPr>
          <p:nvPr/>
        </p:nvSpPr>
        <p:spPr bwMode="auto">
          <a:xfrm>
            <a:off x="7239000" y="3889375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4" name="Rectangle 28"/>
          <p:cNvSpPr>
            <a:spLocks noChangeArrowheads="1"/>
          </p:cNvSpPr>
          <p:nvPr/>
        </p:nvSpPr>
        <p:spPr bwMode="auto">
          <a:xfrm>
            <a:off x="7010400" y="55626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5" name="Rectangle 29"/>
          <p:cNvSpPr>
            <a:spLocks noChangeArrowheads="1"/>
          </p:cNvSpPr>
          <p:nvPr/>
        </p:nvSpPr>
        <p:spPr bwMode="auto">
          <a:xfrm>
            <a:off x="7239000" y="5562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6" name="Rectangle 30"/>
          <p:cNvSpPr>
            <a:spLocks noChangeArrowheads="1"/>
          </p:cNvSpPr>
          <p:nvPr/>
        </p:nvSpPr>
        <p:spPr bwMode="auto">
          <a:xfrm>
            <a:off x="8153400" y="5562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7" name="Rectangle 31"/>
          <p:cNvSpPr>
            <a:spLocks noChangeArrowheads="1"/>
          </p:cNvSpPr>
          <p:nvPr/>
        </p:nvSpPr>
        <p:spPr bwMode="auto">
          <a:xfrm>
            <a:off x="7467600" y="55626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8" name="Rectangle 32"/>
          <p:cNvSpPr>
            <a:spLocks noChangeArrowheads="1"/>
          </p:cNvSpPr>
          <p:nvPr/>
        </p:nvSpPr>
        <p:spPr bwMode="auto">
          <a:xfrm>
            <a:off x="5638800" y="5562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9" name="Rectangle 33"/>
          <p:cNvSpPr>
            <a:spLocks noChangeArrowheads="1"/>
          </p:cNvSpPr>
          <p:nvPr/>
        </p:nvSpPr>
        <p:spPr bwMode="auto">
          <a:xfrm>
            <a:off x="6553200" y="55626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90" name="Rectangle 34"/>
          <p:cNvSpPr>
            <a:spLocks noChangeArrowheads="1"/>
          </p:cNvSpPr>
          <p:nvPr/>
        </p:nvSpPr>
        <p:spPr bwMode="auto">
          <a:xfrm>
            <a:off x="6781800" y="55626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91" name="Rectangle 35"/>
          <p:cNvSpPr>
            <a:spLocks noChangeArrowheads="1"/>
          </p:cNvSpPr>
          <p:nvPr/>
        </p:nvSpPr>
        <p:spPr bwMode="auto">
          <a:xfrm>
            <a:off x="5867400" y="5562600"/>
            <a:ext cx="6858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92" name="Text Box 36"/>
          <p:cNvSpPr txBox="1">
            <a:spLocks noChangeArrowheads="1"/>
          </p:cNvSpPr>
          <p:nvPr/>
        </p:nvSpPr>
        <p:spPr bwMode="auto">
          <a:xfrm>
            <a:off x="8305800" y="5486400"/>
            <a:ext cx="246380" cy="3683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.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5093" name="Text Box 37"/>
          <p:cNvSpPr txBox="1">
            <a:spLocks noChangeArrowheads="1"/>
          </p:cNvSpPr>
          <p:nvPr/>
        </p:nvSpPr>
        <p:spPr bwMode="auto">
          <a:xfrm>
            <a:off x="8610600" y="4572000"/>
            <a:ext cx="1560830" cy="39878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Binary Point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45094" name="Line 38"/>
          <p:cNvSpPr>
            <a:spLocks noChangeShapeType="1"/>
          </p:cNvSpPr>
          <p:nvPr/>
        </p:nvSpPr>
        <p:spPr bwMode="auto">
          <a:xfrm flipH="1">
            <a:off x="8458200" y="4953000"/>
            <a:ext cx="304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95" name="Rectangle 39"/>
          <p:cNvSpPr>
            <a:spLocks noChangeArrowheads="1"/>
          </p:cNvSpPr>
          <p:nvPr/>
        </p:nvSpPr>
        <p:spPr bwMode="auto">
          <a:xfrm>
            <a:off x="5638800" y="55626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96" name="Rectangle 40"/>
          <p:cNvSpPr>
            <a:spLocks noChangeArrowheads="1"/>
          </p:cNvSpPr>
          <p:nvPr/>
        </p:nvSpPr>
        <p:spPr bwMode="auto">
          <a:xfrm>
            <a:off x="5638800" y="42703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97" name="Rectangle 41"/>
          <p:cNvSpPr>
            <a:spLocks noChangeArrowheads="1"/>
          </p:cNvSpPr>
          <p:nvPr/>
        </p:nvSpPr>
        <p:spPr bwMode="auto">
          <a:xfrm>
            <a:off x="6553200" y="42703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98" name="Rectangle 42"/>
          <p:cNvSpPr>
            <a:spLocks noChangeArrowheads="1"/>
          </p:cNvSpPr>
          <p:nvPr/>
        </p:nvSpPr>
        <p:spPr bwMode="auto">
          <a:xfrm>
            <a:off x="6781800" y="42703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99" name="Rectangle 43"/>
          <p:cNvSpPr>
            <a:spLocks noChangeArrowheads="1"/>
          </p:cNvSpPr>
          <p:nvPr/>
        </p:nvSpPr>
        <p:spPr bwMode="auto">
          <a:xfrm>
            <a:off x="7010400" y="42703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00" name="Rectangle 44"/>
          <p:cNvSpPr>
            <a:spLocks noChangeArrowheads="1"/>
          </p:cNvSpPr>
          <p:nvPr/>
        </p:nvSpPr>
        <p:spPr bwMode="auto">
          <a:xfrm>
            <a:off x="7924800" y="42703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01" name="Rectangle 45"/>
          <p:cNvSpPr>
            <a:spLocks noChangeArrowheads="1"/>
          </p:cNvSpPr>
          <p:nvPr/>
        </p:nvSpPr>
        <p:spPr bwMode="auto">
          <a:xfrm>
            <a:off x="8153400" y="4270375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02" name="Rectangle 46"/>
          <p:cNvSpPr>
            <a:spLocks noChangeArrowheads="1"/>
          </p:cNvSpPr>
          <p:nvPr/>
        </p:nvSpPr>
        <p:spPr bwMode="auto">
          <a:xfrm>
            <a:off x="5867400" y="4270375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03" name="Rectangle 47"/>
          <p:cNvSpPr>
            <a:spLocks noChangeArrowheads="1"/>
          </p:cNvSpPr>
          <p:nvPr/>
        </p:nvSpPr>
        <p:spPr bwMode="auto">
          <a:xfrm>
            <a:off x="4437063" y="4194175"/>
            <a:ext cx="94932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>
                <a:latin typeface="Times" panose="00000500000000020000" pitchFamily="18" charset="0"/>
              </a:rPr>
              <a:t>+2</a:t>
            </a:r>
            <a:r>
              <a:rPr lang="en-US" b="0" i="1" baseline="30000">
                <a:latin typeface="Times" panose="00000500000000020000" pitchFamily="18" charset="0"/>
              </a:rPr>
              <a:t>k </a:t>
            </a:r>
            <a:r>
              <a:rPr lang="en-US" b="0">
                <a:latin typeface="Times" panose="00000500000000020000" pitchFamily="18" charset="0"/>
              </a:rPr>
              <a:t>–1</a:t>
            </a:r>
            <a:endParaRPr lang="en-US" b="0">
              <a:latin typeface="Times" panose="00000500000000020000" pitchFamily="18" charset="0"/>
            </a:endParaRPr>
          </a:p>
        </p:txBody>
      </p:sp>
      <p:sp>
        <p:nvSpPr>
          <p:cNvPr id="45104" name="Rectangle 48"/>
          <p:cNvSpPr>
            <a:spLocks noChangeArrowheads="1"/>
          </p:cNvSpPr>
          <p:nvPr/>
        </p:nvSpPr>
        <p:spPr bwMode="auto">
          <a:xfrm>
            <a:off x="7239000" y="4270375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05" name="Rectangle 49"/>
          <p:cNvSpPr>
            <a:spLocks noChangeArrowheads="1"/>
          </p:cNvSpPr>
          <p:nvPr/>
        </p:nvSpPr>
        <p:spPr bwMode="auto">
          <a:xfrm>
            <a:off x="8534400" y="55626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06" name="Rectangle 50"/>
          <p:cNvSpPr>
            <a:spLocks noChangeArrowheads="1"/>
          </p:cNvSpPr>
          <p:nvPr/>
        </p:nvSpPr>
        <p:spPr bwMode="auto">
          <a:xfrm>
            <a:off x="9448800" y="55626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5107" name="Rectangle 51"/>
          <p:cNvSpPr>
            <a:spLocks noChangeArrowheads="1"/>
          </p:cNvSpPr>
          <p:nvPr/>
        </p:nvSpPr>
        <p:spPr bwMode="auto">
          <a:xfrm>
            <a:off x="9677400" y="55626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08" name="Rectangle 52"/>
          <p:cNvSpPr>
            <a:spLocks noChangeArrowheads="1"/>
          </p:cNvSpPr>
          <p:nvPr/>
        </p:nvSpPr>
        <p:spPr bwMode="auto">
          <a:xfrm>
            <a:off x="8763000" y="5562600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09" name="Line 53"/>
          <p:cNvSpPr>
            <a:spLocks noChangeShapeType="1"/>
          </p:cNvSpPr>
          <p:nvPr/>
        </p:nvSpPr>
        <p:spPr bwMode="auto">
          <a:xfrm>
            <a:off x="4038600" y="45720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110" name="Rectangle 54"/>
          <p:cNvSpPr>
            <a:spLocks noChangeArrowheads="1"/>
          </p:cNvSpPr>
          <p:nvPr/>
        </p:nvSpPr>
        <p:spPr bwMode="auto">
          <a:xfrm>
            <a:off x="56388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11" name="Rectangle 55"/>
          <p:cNvSpPr>
            <a:spLocks noChangeArrowheads="1"/>
          </p:cNvSpPr>
          <p:nvPr/>
        </p:nvSpPr>
        <p:spPr bwMode="auto">
          <a:xfrm>
            <a:off x="5867400" y="47244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12" name="Rectangle 56"/>
          <p:cNvSpPr>
            <a:spLocks noChangeArrowheads="1"/>
          </p:cNvSpPr>
          <p:nvPr/>
        </p:nvSpPr>
        <p:spPr bwMode="auto">
          <a:xfrm>
            <a:off x="6781800" y="47244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13" name="Rectangle 57"/>
          <p:cNvSpPr>
            <a:spLocks noChangeArrowheads="1"/>
          </p:cNvSpPr>
          <p:nvPr/>
        </p:nvSpPr>
        <p:spPr bwMode="auto">
          <a:xfrm>
            <a:off x="6096000" y="47244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14" name="Rectangle 58"/>
          <p:cNvSpPr>
            <a:spLocks noChangeArrowheads="1"/>
          </p:cNvSpPr>
          <p:nvPr/>
        </p:nvSpPr>
        <p:spPr bwMode="auto">
          <a:xfrm>
            <a:off x="7010400" y="47244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5115" name="Rectangle 59"/>
          <p:cNvSpPr>
            <a:spLocks noChangeArrowheads="1"/>
          </p:cNvSpPr>
          <p:nvPr/>
        </p:nvSpPr>
        <p:spPr bwMode="auto">
          <a:xfrm>
            <a:off x="7924800" y="47244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16" name="Rectangle 60"/>
          <p:cNvSpPr>
            <a:spLocks noChangeArrowheads="1"/>
          </p:cNvSpPr>
          <p:nvPr/>
        </p:nvSpPr>
        <p:spPr bwMode="auto">
          <a:xfrm>
            <a:off x="8153400" y="47244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17" name="Rectangle 61"/>
          <p:cNvSpPr>
            <a:spLocks noChangeArrowheads="1"/>
          </p:cNvSpPr>
          <p:nvPr/>
        </p:nvSpPr>
        <p:spPr bwMode="auto">
          <a:xfrm>
            <a:off x="7239000" y="4724400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18" name="Rectangle 62"/>
          <p:cNvSpPr>
            <a:spLocks noChangeArrowheads="1"/>
          </p:cNvSpPr>
          <p:nvPr/>
        </p:nvSpPr>
        <p:spPr bwMode="auto">
          <a:xfrm>
            <a:off x="2743200" y="6110288"/>
            <a:ext cx="407670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marL="228600" lvl="2">
              <a:lnSpc>
                <a:spcPct val="100000"/>
              </a:lnSpc>
            </a:pPr>
            <a:r>
              <a:rPr lang="zh-CN" altLang="en-US" i="1" dirty="0">
                <a:latin typeface="Calibri" pitchFamily="34" charset="0"/>
              </a:rPr>
              <a:t>此时的调整</a:t>
            </a:r>
            <a:r>
              <a:rPr lang="en-US" altLang="zh-CN" i="1" dirty="0">
                <a:latin typeface="Calibri" pitchFamily="34" charset="0"/>
              </a:rPr>
              <a:t>，</a:t>
            </a:r>
            <a:r>
              <a:rPr lang="zh-CN" altLang="en-US" i="1" dirty="0">
                <a:latin typeface="Calibri" pitchFamily="34" charset="0"/>
              </a:rPr>
              <a:t>不会影响</a:t>
            </a:r>
            <a:r>
              <a:rPr lang="zh-CN" altLang="en-US" i="1" dirty="0">
                <a:latin typeface="Calibri" pitchFamily="34" charset="0"/>
              </a:rPr>
              <a:t>结果</a:t>
            </a:r>
            <a:endParaRPr lang="zh-CN" altLang="en-US" i="1" dirty="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45061" grpId="0"/>
      <p:bldP spid="45062" grpId="0" bldLvl="0" animBg="1"/>
      <p:bldP spid="45063" grpId="0" bldLvl="0" animBg="1"/>
      <p:bldP spid="45064" grpId="0" bldLvl="0" animBg="1"/>
      <p:bldP spid="45065" grpId="0" bldLvl="0" animBg="1"/>
      <p:bldP spid="45066" grpId="0" bldLvl="0" animBg="1"/>
      <p:bldP spid="45067" grpId="0" bldLvl="0" animBg="1"/>
      <p:bldP spid="45068" grpId="0" bldLvl="0" animBg="1"/>
      <p:bldP spid="45069" grpId="0"/>
      <p:bldP spid="45070" grpId="0"/>
      <p:bldP spid="45071" grpId="0" bldLvl="0" animBg="1"/>
      <p:bldP spid="45072" grpId="0"/>
      <p:bldP spid="45073" grpId="0"/>
      <p:bldP spid="45074" grpId="0" bldLvl="0" animBg="1"/>
      <p:bldP spid="45075" grpId="0"/>
      <p:bldP spid="45076" grpId="0" bldLvl="0" animBg="1"/>
      <p:bldP spid="45077" grpId="0" bldLvl="0" animBg="1"/>
      <p:bldP spid="45078" grpId="0" bldLvl="0" animBg="1"/>
      <p:bldP spid="45079" grpId="0" bldLvl="0" animBg="1"/>
      <p:bldP spid="45080" grpId="0" bldLvl="0" animBg="1"/>
      <p:bldP spid="45081" grpId="0" bldLvl="0" animBg="1"/>
      <p:bldP spid="45082" grpId="0" bldLvl="0" animBg="1"/>
      <p:bldP spid="45083" grpId="0" bldLvl="0" animBg="1"/>
      <p:bldP spid="45084" grpId="0" bldLvl="0" animBg="1"/>
      <p:bldP spid="45085" grpId="0" bldLvl="0" animBg="1"/>
      <p:bldP spid="45086" grpId="0" bldLvl="0" animBg="1"/>
      <p:bldP spid="45087" grpId="0" bldLvl="0" animBg="1"/>
      <p:bldP spid="45088" grpId="0" bldLvl="0" animBg="1"/>
      <p:bldP spid="45089" grpId="0" bldLvl="0" animBg="1"/>
      <p:bldP spid="45090" grpId="0" bldLvl="0" animBg="1"/>
      <p:bldP spid="45091" grpId="0" bldLvl="0" animBg="1"/>
      <p:bldP spid="45092" grpId="0"/>
      <p:bldP spid="45093" grpId="0"/>
      <p:bldP spid="45094" grpId="0" bldLvl="0" animBg="1"/>
      <p:bldP spid="45095" grpId="0" bldLvl="0" animBg="1"/>
      <p:bldP spid="45096" grpId="0" bldLvl="0" animBg="1"/>
      <p:bldP spid="45097" grpId="0" bldLvl="0" animBg="1"/>
      <p:bldP spid="45098" grpId="0" bldLvl="0" animBg="1"/>
      <p:bldP spid="45099" grpId="0" bldLvl="0" animBg="1"/>
      <p:bldP spid="45100" grpId="0" bldLvl="0" animBg="1"/>
      <p:bldP spid="45101" grpId="0" bldLvl="0" animBg="1"/>
      <p:bldP spid="45102" grpId="0" bldLvl="0" animBg="1"/>
      <p:bldP spid="45103" grpId="0"/>
      <p:bldP spid="45104" grpId="0" bldLvl="0" animBg="1"/>
      <p:bldP spid="45105" grpId="0" bldLvl="0" animBg="1"/>
      <p:bldP spid="45106" grpId="0" bldLvl="0" animBg="1"/>
      <p:bldP spid="45107" grpId="0" bldLvl="0" animBg="1"/>
      <p:bldP spid="45108" grpId="0" bldLvl="0" animBg="1"/>
      <p:bldP spid="45109" grpId="0" bldLvl="0" animBg="1"/>
      <p:bldP spid="45110" grpId="0" bldLvl="0" animBg="1"/>
      <p:bldP spid="45111" grpId="0" bldLvl="0" animBg="1"/>
      <p:bldP spid="45112" grpId="0" bldLvl="0" animBg="1"/>
      <p:bldP spid="45113" grpId="0" bldLvl="0" animBg="1"/>
      <p:bldP spid="45114" grpId="0" bldLvl="0" animBg="1"/>
      <p:bldP spid="45115" grpId="0" bldLvl="0" animBg="1"/>
      <p:bldP spid="45116" grpId="0" bldLvl="0" animBg="1"/>
      <p:bldP spid="45117" grpId="0" bldLvl="0" animBg="1"/>
      <p:bldP spid="45118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722312"/>
            <a:ext cx="7881938" cy="573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sym typeface="+mn-ea"/>
              </a:rPr>
              <a:t>如何纠正</a:t>
            </a:r>
            <a:r>
              <a:rPr lang="en-US"/>
              <a:t> (Cont.)</a:t>
            </a:r>
            <a:endParaRPr lang="en-US"/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2362200" y="4191000"/>
            <a:ext cx="96139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 dirty="0">
                <a:latin typeface="Calibri" pitchFamily="34" charset="0"/>
              </a:rPr>
              <a:t>除数</a:t>
            </a:r>
            <a:r>
              <a:rPr lang="en-US" b="0" dirty="0">
                <a:latin typeface="Calibri" pitchFamily="34" charset="0"/>
              </a:rPr>
              <a:t>: 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2286000" y="2209800"/>
            <a:ext cx="11817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 dirty="0">
                <a:latin typeface="Calibri" pitchFamily="34" charset="0"/>
              </a:rPr>
              <a:t>被除数</a:t>
            </a:r>
            <a:r>
              <a:rPr lang="en-US" b="0" dirty="0">
                <a:latin typeface="Calibri" pitchFamily="34" charset="0"/>
              </a:rPr>
              <a:t>: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1828800" y="1597025"/>
            <a:ext cx="239141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>
              <a:lnSpc>
                <a:spcPct val="100000"/>
              </a:lnSpc>
              <a:buFont typeface="Arial" panose="020B07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Calibri" pitchFamily="34" charset="0"/>
              </a:rPr>
              <a:t>情形</a:t>
            </a: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2: </a:t>
            </a:r>
            <a:r>
              <a:rPr lang="zh-CN" altLang="en-US" sz="2400" dirty="0">
                <a:solidFill>
                  <a:schemeClr val="tx2"/>
                </a:solidFill>
                <a:latin typeface="Calibri" pitchFamily="34" charset="0"/>
              </a:rPr>
              <a:t>有</a:t>
            </a:r>
            <a:r>
              <a:rPr lang="zh-CN" altLang="en-US" sz="2400" dirty="0">
                <a:solidFill>
                  <a:schemeClr val="tx2"/>
                </a:solidFill>
                <a:latin typeface="Calibri" pitchFamily="34" charset="0"/>
              </a:rPr>
              <a:t>舍入</a:t>
            </a:r>
            <a:endParaRPr lang="zh-CN" alt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56388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65532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6781800" y="4267200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089" name="Rectangle 9"/>
          <p:cNvSpPr>
            <a:spLocks noChangeArrowheads="1"/>
          </p:cNvSpPr>
          <p:nvPr/>
        </p:nvSpPr>
        <p:spPr bwMode="auto">
          <a:xfrm>
            <a:off x="70104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090" name="Rectangle 10"/>
          <p:cNvSpPr>
            <a:spLocks noChangeArrowheads="1"/>
          </p:cNvSpPr>
          <p:nvPr/>
        </p:nvSpPr>
        <p:spPr bwMode="auto">
          <a:xfrm>
            <a:off x="79248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81534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092" name="Rectangle 12"/>
          <p:cNvSpPr>
            <a:spLocks noChangeArrowheads="1"/>
          </p:cNvSpPr>
          <p:nvPr/>
        </p:nvSpPr>
        <p:spPr bwMode="auto">
          <a:xfrm>
            <a:off x="5867400" y="42672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5029200" y="2209800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x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6094" name="Rectangle 14"/>
          <p:cNvSpPr>
            <a:spLocks noChangeArrowheads="1"/>
          </p:cNvSpPr>
          <p:nvPr/>
        </p:nvSpPr>
        <p:spPr bwMode="auto">
          <a:xfrm>
            <a:off x="5029200" y="4191000"/>
            <a:ext cx="42291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anose="00000500000000020000" pitchFamily="18" charset="0"/>
              </a:rPr>
              <a:t>2</a:t>
            </a:r>
            <a:r>
              <a:rPr lang="en-US" b="0" i="1" baseline="30000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6095" name="Line 15"/>
          <p:cNvSpPr>
            <a:spLocks noChangeShapeType="1"/>
          </p:cNvSpPr>
          <p:nvPr/>
        </p:nvSpPr>
        <p:spPr bwMode="auto">
          <a:xfrm>
            <a:off x="3886200" y="45720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6" name="Rectangle 16"/>
          <p:cNvSpPr>
            <a:spLocks noChangeArrowheads="1"/>
          </p:cNvSpPr>
          <p:nvPr/>
        </p:nvSpPr>
        <p:spPr bwMode="auto">
          <a:xfrm>
            <a:off x="4648200" y="4191000"/>
            <a:ext cx="25209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/</a:t>
            </a:r>
            <a:endParaRPr lang="en-US"/>
          </a:p>
        </p:txBody>
      </p:sp>
      <p:sp>
        <p:nvSpPr>
          <p:cNvPr id="46097" name="Rectangle 17"/>
          <p:cNvSpPr>
            <a:spLocks noChangeArrowheads="1"/>
          </p:cNvSpPr>
          <p:nvPr/>
        </p:nvSpPr>
        <p:spPr bwMode="auto">
          <a:xfrm>
            <a:off x="4103053" y="4572000"/>
            <a:ext cx="128016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b="0">
                <a:latin typeface="Times" panose="00000500000000020000" pitchFamily="18" charset="0"/>
              </a:rPr>
              <a:t> </a:t>
            </a:r>
            <a:r>
              <a:rPr lang="en-US" b="0">
                <a:latin typeface="Times" panose="00000500000000020000" pitchFamily="18" charset="0"/>
                <a:sym typeface="Symbol" pitchFamily="18" charset="2"/>
              </a:rPr>
              <a:t> </a:t>
            </a:r>
            <a:r>
              <a:rPr lang="en-US" b="0" i="1">
                <a:latin typeface="Times" panose="00000500000000020000" pitchFamily="18" charset="0"/>
              </a:rPr>
              <a:t>x </a:t>
            </a:r>
            <a:r>
              <a:rPr lang="en-US" b="0">
                <a:latin typeface="Times" panose="00000500000000020000" pitchFamily="18" charset="0"/>
              </a:rPr>
              <a:t>/ 2</a:t>
            </a:r>
            <a:r>
              <a:rPr lang="en-US" b="0" i="1" baseline="30000">
                <a:latin typeface="Times" panose="00000500000000020000" pitchFamily="18" charset="0"/>
              </a:rPr>
              <a:t>k </a:t>
            </a:r>
            <a:r>
              <a:rPr lang="en-US" i="1" baseline="30000">
                <a:latin typeface="Times" panose="00000500000000020000" pitchFamily="18" charset="0"/>
              </a:rPr>
              <a:t> </a:t>
            </a:r>
            <a:r>
              <a:rPr lang="en-US" b="0">
                <a:latin typeface="Times" panose="00000500000000020000" pitchFamily="18" charset="0"/>
                <a:sym typeface="Symbol" pitchFamily="18" charset="2"/>
              </a:rPr>
              <a:t></a:t>
            </a:r>
            <a:endParaRPr lang="en-US" sz="2400" b="0">
              <a:latin typeface="Times" panose="00000500000000020000" pitchFamily="18" charset="0"/>
              <a:sym typeface="Symbol" pitchFamily="18" charset="2"/>
            </a:endParaRPr>
          </a:p>
        </p:txBody>
      </p:sp>
      <p:sp>
        <p:nvSpPr>
          <p:cNvPr id="46098" name="Rectangle 18"/>
          <p:cNvSpPr>
            <a:spLocks noChangeArrowheads="1"/>
          </p:cNvSpPr>
          <p:nvPr/>
        </p:nvSpPr>
        <p:spPr bwMode="auto">
          <a:xfrm>
            <a:off x="7239000" y="42672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6739465" y="1905000"/>
            <a:ext cx="31813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anose="00000500000000020000" pitchFamily="18" charset="0"/>
              </a:rPr>
              <a:t>k</a:t>
            </a:r>
            <a:endParaRPr lang="en-US" b="0" i="1">
              <a:latin typeface="Times" panose="00000500000000020000" pitchFamily="18" charset="0"/>
            </a:endParaRPr>
          </a:p>
        </p:txBody>
      </p:sp>
      <p:sp>
        <p:nvSpPr>
          <p:cNvPr id="46100" name="Rectangle 20"/>
          <p:cNvSpPr>
            <a:spLocks noChangeArrowheads="1"/>
          </p:cNvSpPr>
          <p:nvPr/>
        </p:nvSpPr>
        <p:spPr bwMode="auto">
          <a:xfrm>
            <a:off x="5638800" y="22860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1" name="Rectangle 21"/>
          <p:cNvSpPr>
            <a:spLocks noChangeArrowheads="1"/>
          </p:cNvSpPr>
          <p:nvPr/>
        </p:nvSpPr>
        <p:spPr bwMode="auto">
          <a:xfrm>
            <a:off x="5867400" y="2286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2" name="Rectangle 22"/>
          <p:cNvSpPr>
            <a:spLocks noChangeArrowheads="1"/>
          </p:cNvSpPr>
          <p:nvPr/>
        </p:nvSpPr>
        <p:spPr bwMode="auto">
          <a:xfrm>
            <a:off x="6781800" y="2286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3" name="Rectangle 23"/>
          <p:cNvSpPr>
            <a:spLocks noChangeArrowheads="1"/>
          </p:cNvSpPr>
          <p:nvPr/>
        </p:nvSpPr>
        <p:spPr bwMode="auto">
          <a:xfrm>
            <a:off x="6096000" y="22860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4" name="Rectangle 24"/>
          <p:cNvSpPr>
            <a:spLocks noChangeArrowheads="1"/>
          </p:cNvSpPr>
          <p:nvPr/>
        </p:nvSpPr>
        <p:spPr bwMode="auto">
          <a:xfrm>
            <a:off x="7010400" y="2286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5" name="Rectangle 25"/>
          <p:cNvSpPr>
            <a:spLocks noChangeArrowheads="1"/>
          </p:cNvSpPr>
          <p:nvPr/>
        </p:nvSpPr>
        <p:spPr bwMode="auto">
          <a:xfrm>
            <a:off x="7924800" y="2286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6" name="Rectangle 26"/>
          <p:cNvSpPr>
            <a:spLocks noChangeArrowheads="1"/>
          </p:cNvSpPr>
          <p:nvPr/>
        </p:nvSpPr>
        <p:spPr bwMode="auto">
          <a:xfrm>
            <a:off x="8153400" y="2286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7" name="Rectangle 27"/>
          <p:cNvSpPr>
            <a:spLocks noChangeArrowheads="1"/>
          </p:cNvSpPr>
          <p:nvPr/>
        </p:nvSpPr>
        <p:spPr bwMode="auto">
          <a:xfrm>
            <a:off x="7239000" y="22860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8" name="Rectangle 28"/>
          <p:cNvSpPr>
            <a:spLocks noChangeArrowheads="1"/>
          </p:cNvSpPr>
          <p:nvPr/>
        </p:nvSpPr>
        <p:spPr bwMode="auto">
          <a:xfrm>
            <a:off x="70104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9" name="Rectangle 29"/>
          <p:cNvSpPr>
            <a:spLocks noChangeArrowheads="1"/>
          </p:cNvSpPr>
          <p:nvPr/>
        </p:nvSpPr>
        <p:spPr bwMode="auto">
          <a:xfrm>
            <a:off x="7239000" y="47244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10" name="Rectangle 30"/>
          <p:cNvSpPr>
            <a:spLocks noChangeArrowheads="1"/>
          </p:cNvSpPr>
          <p:nvPr/>
        </p:nvSpPr>
        <p:spPr bwMode="auto">
          <a:xfrm>
            <a:off x="8153400" y="47244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11" name="Rectangle 31"/>
          <p:cNvSpPr>
            <a:spLocks noChangeArrowheads="1"/>
          </p:cNvSpPr>
          <p:nvPr/>
        </p:nvSpPr>
        <p:spPr bwMode="auto">
          <a:xfrm>
            <a:off x="7467600" y="47244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12" name="Rectangle 32"/>
          <p:cNvSpPr>
            <a:spLocks noChangeArrowheads="1"/>
          </p:cNvSpPr>
          <p:nvPr/>
        </p:nvSpPr>
        <p:spPr bwMode="auto">
          <a:xfrm>
            <a:off x="5638800" y="4724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13" name="Rectangle 33"/>
          <p:cNvSpPr>
            <a:spLocks noChangeArrowheads="1"/>
          </p:cNvSpPr>
          <p:nvPr/>
        </p:nvSpPr>
        <p:spPr bwMode="auto">
          <a:xfrm>
            <a:off x="65532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14" name="Rectangle 34"/>
          <p:cNvSpPr>
            <a:spLocks noChangeArrowheads="1"/>
          </p:cNvSpPr>
          <p:nvPr/>
        </p:nvSpPr>
        <p:spPr bwMode="auto">
          <a:xfrm>
            <a:off x="67818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15" name="Rectangle 35"/>
          <p:cNvSpPr>
            <a:spLocks noChangeArrowheads="1"/>
          </p:cNvSpPr>
          <p:nvPr/>
        </p:nvSpPr>
        <p:spPr bwMode="auto">
          <a:xfrm>
            <a:off x="5867400" y="4724400"/>
            <a:ext cx="6858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16" name="Text Box 36"/>
          <p:cNvSpPr txBox="1">
            <a:spLocks noChangeArrowheads="1"/>
          </p:cNvSpPr>
          <p:nvPr/>
        </p:nvSpPr>
        <p:spPr bwMode="auto">
          <a:xfrm>
            <a:off x="8305800" y="4648200"/>
            <a:ext cx="246380" cy="3683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.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6117" name="Text Box 37"/>
          <p:cNvSpPr txBox="1">
            <a:spLocks noChangeArrowheads="1"/>
          </p:cNvSpPr>
          <p:nvPr/>
        </p:nvSpPr>
        <p:spPr bwMode="auto">
          <a:xfrm>
            <a:off x="8610600" y="3733800"/>
            <a:ext cx="183769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Binary Point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46118" name="Line 38"/>
          <p:cNvSpPr>
            <a:spLocks noChangeShapeType="1"/>
          </p:cNvSpPr>
          <p:nvPr/>
        </p:nvSpPr>
        <p:spPr bwMode="auto">
          <a:xfrm flipH="1">
            <a:off x="8458200" y="4114800"/>
            <a:ext cx="304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6119" name="Rectangle 39"/>
          <p:cNvSpPr>
            <a:spLocks noChangeArrowheads="1"/>
          </p:cNvSpPr>
          <p:nvPr/>
        </p:nvSpPr>
        <p:spPr bwMode="auto">
          <a:xfrm>
            <a:off x="56388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20" name="Rectangle 40"/>
          <p:cNvSpPr>
            <a:spLocks noChangeArrowheads="1"/>
          </p:cNvSpPr>
          <p:nvPr/>
        </p:nvSpPr>
        <p:spPr bwMode="auto">
          <a:xfrm>
            <a:off x="56388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21" name="Rectangle 41"/>
          <p:cNvSpPr>
            <a:spLocks noChangeArrowheads="1"/>
          </p:cNvSpPr>
          <p:nvPr/>
        </p:nvSpPr>
        <p:spPr bwMode="auto">
          <a:xfrm>
            <a:off x="65532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22" name="Rectangle 42"/>
          <p:cNvSpPr>
            <a:spLocks noChangeArrowheads="1"/>
          </p:cNvSpPr>
          <p:nvPr/>
        </p:nvSpPr>
        <p:spPr bwMode="auto">
          <a:xfrm>
            <a:off x="67818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23" name="Rectangle 43"/>
          <p:cNvSpPr>
            <a:spLocks noChangeArrowheads="1"/>
          </p:cNvSpPr>
          <p:nvPr/>
        </p:nvSpPr>
        <p:spPr bwMode="auto">
          <a:xfrm>
            <a:off x="70104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24" name="Rectangle 44"/>
          <p:cNvSpPr>
            <a:spLocks noChangeArrowheads="1"/>
          </p:cNvSpPr>
          <p:nvPr/>
        </p:nvSpPr>
        <p:spPr bwMode="auto">
          <a:xfrm>
            <a:off x="79248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25" name="Rectangle 45"/>
          <p:cNvSpPr>
            <a:spLocks noChangeArrowheads="1"/>
          </p:cNvSpPr>
          <p:nvPr/>
        </p:nvSpPr>
        <p:spPr bwMode="auto">
          <a:xfrm>
            <a:off x="81534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26" name="Rectangle 46"/>
          <p:cNvSpPr>
            <a:spLocks noChangeArrowheads="1"/>
          </p:cNvSpPr>
          <p:nvPr/>
        </p:nvSpPr>
        <p:spPr bwMode="auto">
          <a:xfrm>
            <a:off x="5867400" y="26670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27" name="Rectangle 47"/>
          <p:cNvSpPr>
            <a:spLocks noChangeArrowheads="1"/>
          </p:cNvSpPr>
          <p:nvPr/>
        </p:nvSpPr>
        <p:spPr bwMode="auto">
          <a:xfrm>
            <a:off x="4437063" y="2590800"/>
            <a:ext cx="94932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>
                <a:latin typeface="Times" panose="00000500000000020000" pitchFamily="18" charset="0"/>
              </a:rPr>
              <a:t>+2</a:t>
            </a:r>
            <a:r>
              <a:rPr lang="en-US" b="0" i="1" baseline="30000">
                <a:latin typeface="Times" panose="00000500000000020000" pitchFamily="18" charset="0"/>
              </a:rPr>
              <a:t>k </a:t>
            </a:r>
            <a:r>
              <a:rPr lang="en-US" b="0">
                <a:latin typeface="Times" panose="00000500000000020000" pitchFamily="18" charset="0"/>
              </a:rPr>
              <a:t>–1</a:t>
            </a:r>
            <a:endParaRPr lang="en-US" b="0">
              <a:latin typeface="Times" panose="00000500000000020000" pitchFamily="18" charset="0"/>
            </a:endParaRPr>
          </a:p>
        </p:txBody>
      </p:sp>
      <p:sp>
        <p:nvSpPr>
          <p:cNvPr id="46128" name="Rectangle 48"/>
          <p:cNvSpPr>
            <a:spLocks noChangeArrowheads="1"/>
          </p:cNvSpPr>
          <p:nvPr/>
        </p:nvSpPr>
        <p:spPr bwMode="auto">
          <a:xfrm>
            <a:off x="7239000" y="26670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29" name="Line 49"/>
          <p:cNvSpPr>
            <a:spLocks noChangeShapeType="1"/>
          </p:cNvSpPr>
          <p:nvPr/>
        </p:nvSpPr>
        <p:spPr bwMode="auto">
          <a:xfrm>
            <a:off x="4038600" y="2968625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30" name="Rectangle 50"/>
          <p:cNvSpPr>
            <a:spLocks noChangeArrowheads="1"/>
          </p:cNvSpPr>
          <p:nvPr/>
        </p:nvSpPr>
        <p:spPr bwMode="auto">
          <a:xfrm>
            <a:off x="5638800" y="312102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  <a:endParaRPr lang="en-US" sz="1800" b="0" dirty="0">
              <a:latin typeface="Calibri"/>
              <a:cs typeface="Calibri"/>
            </a:endParaRPr>
          </a:p>
        </p:txBody>
      </p:sp>
      <p:sp>
        <p:nvSpPr>
          <p:cNvPr id="46131" name="Rectangle 51"/>
          <p:cNvSpPr>
            <a:spLocks noChangeArrowheads="1"/>
          </p:cNvSpPr>
          <p:nvPr/>
        </p:nvSpPr>
        <p:spPr bwMode="auto">
          <a:xfrm>
            <a:off x="5867400" y="312102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2" name="Rectangle 52"/>
          <p:cNvSpPr>
            <a:spLocks noChangeArrowheads="1"/>
          </p:cNvSpPr>
          <p:nvPr/>
        </p:nvSpPr>
        <p:spPr bwMode="auto">
          <a:xfrm>
            <a:off x="6781800" y="312102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3" name="Rectangle 53"/>
          <p:cNvSpPr>
            <a:spLocks noChangeArrowheads="1"/>
          </p:cNvSpPr>
          <p:nvPr/>
        </p:nvSpPr>
        <p:spPr bwMode="auto">
          <a:xfrm>
            <a:off x="6096000" y="3121025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4" name="Rectangle 54"/>
          <p:cNvSpPr>
            <a:spLocks noChangeArrowheads="1"/>
          </p:cNvSpPr>
          <p:nvPr/>
        </p:nvSpPr>
        <p:spPr bwMode="auto">
          <a:xfrm>
            <a:off x="7010400" y="3121025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5" name="Rectangle 55"/>
          <p:cNvSpPr>
            <a:spLocks noChangeArrowheads="1"/>
          </p:cNvSpPr>
          <p:nvPr/>
        </p:nvSpPr>
        <p:spPr bwMode="auto">
          <a:xfrm>
            <a:off x="7924800" y="3121025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6" name="Rectangle 56"/>
          <p:cNvSpPr>
            <a:spLocks noChangeArrowheads="1"/>
          </p:cNvSpPr>
          <p:nvPr/>
        </p:nvSpPr>
        <p:spPr bwMode="auto">
          <a:xfrm>
            <a:off x="8153400" y="3121025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7" name="Rectangle 57"/>
          <p:cNvSpPr>
            <a:spLocks noChangeArrowheads="1"/>
          </p:cNvSpPr>
          <p:nvPr/>
        </p:nvSpPr>
        <p:spPr bwMode="auto">
          <a:xfrm>
            <a:off x="7239000" y="3121025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8" name="Rectangle 58"/>
          <p:cNvSpPr>
            <a:spLocks noChangeArrowheads="1"/>
          </p:cNvSpPr>
          <p:nvPr/>
        </p:nvSpPr>
        <p:spPr bwMode="auto">
          <a:xfrm>
            <a:off x="2209800" y="5939135"/>
            <a:ext cx="4734560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marL="228600" lvl="2">
              <a:lnSpc>
                <a:spcPct val="100000"/>
              </a:lnSpc>
            </a:pPr>
            <a:r>
              <a:rPr lang="zh-CN" altLang="en-US" i="1" dirty="0">
                <a:latin typeface="Calibri" pitchFamily="34" charset="0"/>
              </a:rPr>
              <a:t>此时的调整</a:t>
            </a:r>
            <a:r>
              <a:rPr lang="en-US" altLang="zh-CN" i="1" dirty="0">
                <a:latin typeface="Calibri" pitchFamily="34" charset="0"/>
              </a:rPr>
              <a:t>，</a:t>
            </a:r>
            <a:r>
              <a:rPr lang="zh-CN" altLang="en-US" i="1" dirty="0">
                <a:latin typeface="Calibri" pitchFamily="34" charset="0"/>
              </a:rPr>
              <a:t>会导致最后结果</a:t>
            </a:r>
            <a:r>
              <a:rPr lang="en-US" altLang="zh-CN" i="1" dirty="0">
                <a:latin typeface="Calibri" pitchFamily="34" charset="0"/>
              </a:rPr>
              <a:t>+1</a:t>
            </a:r>
            <a:endParaRPr lang="en-US" altLang="zh-CN" i="1" dirty="0">
              <a:latin typeface="Calibri" pitchFamily="34" charset="0"/>
            </a:endParaRPr>
          </a:p>
        </p:txBody>
      </p:sp>
      <p:sp>
        <p:nvSpPr>
          <p:cNvPr id="46139" name="Rectangle 59"/>
          <p:cNvSpPr>
            <a:spLocks noChangeArrowheads="1"/>
          </p:cNvSpPr>
          <p:nvPr/>
        </p:nvSpPr>
        <p:spPr bwMode="auto">
          <a:xfrm>
            <a:off x="8534400" y="47244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40" name="Rectangle 60"/>
          <p:cNvSpPr>
            <a:spLocks noChangeArrowheads="1"/>
          </p:cNvSpPr>
          <p:nvPr/>
        </p:nvSpPr>
        <p:spPr bwMode="auto">
          <a:xfrm>
            <a:off x="9448800" y="47244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41" name="Rectangle 61"/>
          <p:cNvSpPr>
            <a:spLocks noChangeArrowheads="1"/>
          </p:cNvSpPr>
          <p:nvPr/>
        </p:nvSpPr>
        <p:spPr bwMode="auto">
          <a:xfrm>
            <a:off x="9677400" y="47244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42" name="Rectangle 62"/>
          <p:cNvSpPr>
            <a:spLocks noChangeArrowheads="1"/>
          </p:cNvSpPr>
          <p:nvPr/>
        </p:nvSpPr>
        <p:spPr bwMode="auto">
          <a:xfrm>
            <a:off x="8763000" y="4724400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43" name="AutoShape 63"/>
          <p:cNvSpPr/>
          <p:nvPr/>
        </p:nvSpPr>
        <p:spPr bwMode="auto">
          <a:xfrm rot="-5400000">
            <a:off x="6324600" y="297180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6144" name="Text Box 64"/>
          <p:cNvSpPr txBox="1">
            <a:spLocks noChangeArrowheads="1"/>
          </p:cNvSpPr>
          <p:nvPr/>
        </p:nvSpPr>
        <p:spPr bwMode="auto">
          <a:xfrm>
            <a:off x="5486400" y="3505200"/>
            <a:ext cx="236410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 dirty="0">
                <a:latin typeface="Calibri" pitchFamily="34" charset="0"/>
              </a:rPr>
              <a:t>该区域的值会</a:t>
            </a:r>
            <a:r>
              <a:rPr lang="en-US" altLang="zh-CN" b="0" dirty="0">
                <a:latin typeface="Calibri" pitchFamily="34" charset="0"/>
              </a:rPr>
              <a:t>+</a:t>
            </a:r>
            <a:r>
              <a:rPr lang="en-US" b="0" dirty="0">
                <a:latin typeface="Calibri" pitchFamily="34" charset="0"/>
              </a:rPr>
              <a:t>1</a:t>
            </a:r>
            <a:endParaRPr lang="en-US" b="0" dirty="0">
              <a:latin typeface="Calibri" pitchFamily="34" charset="0"/>
            </a:endParaRPr>
          </a:p>
        </p:txBody>
      </p:sp>
      <p:sp>
        <p:nvSpPr>
          <p:cNvPr id="46145" name="AutoShape 65"/>
          <p:cNvSpPr/>
          <p:nvPr/>
        </p:nvSpPr>
        <p:spPr bwMode="auto">
          <a:xfrm rot="-5400000">
            <a:off x="7696200" y="464820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6146" name="Text Box 66"/>
          <p:cNvSpPr txBox="1">
            <a:spLocks noChangeArrowheads="1"/>
          </p:cNvSpPr>
          <p:nvPr/>
        </p:nvSpPr>
        <p:spPr bwMode="auto">
          <a:xfrm>
            <a:off x="7010400" y="5334000"/>
            <a:ext cx="1754505" cy="46037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 dirty="0">
                <a:latin typeface="Calibri" pitchFamily="34" charset="0"/>
              </a:rPr>
              <a:t>商的值会</a:t>
            </a:r>
            <a:r>
              <a:rPr lang="en-US" altLang="zh-CN" b="0" dirty="0">
                <a:latin typeface="Calibri" pitchFamily="34" charset="0"/>
              </a:rPr>
              <a:t>+1</a:t>
            </a:r>
            <a:endParaRPr lang="en-US" altLang="zh-CN" b="0" dirty="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086" grpId="0" bldLvl="0" animBg="1"/>
      <p:bldP spid="46087" grpId="0" bldLvl="0" animBg="1"/>
      <p:bldP spid="46088" grpId="0" bldLvl="0" animBg="1"/>
      <p:bldP spid="46089" grpId="0" bldLvl="0" animBg="1"/>
      <p:bldP spid="46090" grpId="0" bldLvl="0" animBg="1"/>
      <p:bldP spid="46091" grpId="0" bldLvl="0" animBg="1"/>
      <p:bldP spid="46092" grpId="0" bldLvl="0" animBg="1"/>
      <p:bldP spid="46094" grpId="0"/>
      <p:bldP spid="46095" grpId="0" bldLvl="0" animBg="1"/>
      <p:bldP spid="46096" grpId="0"/>
      <p:bldP spid="46097" grpId="0"/>
      <p:bldP spid="46098" grpId="0" bldLvl="0" animBg="1"/>
      <p:bldP spid="46108" grpId="0" bldLvl="0" animBg="1"/>
      <p:bldP spid="46109" grpId="0" bldLvl="0" animBg="1"/>
      <p:bldP spid="46110" grpId="0" bldLvl="0" animBg="1"/>
      <p:bldP spid="46111" grpId="0" bldLvl="0" animBg="1"/>
      <p:bldP spid="46112" grpId="0" bldLvl="0" animBg="1"/>
      <p:bldP spid="46113" grpId="0" bldLvl="0" animBg="1"/>
      <p:bldP spid="46114" grpId="0" bldLvl="0" animBg="1"/>
      <p:bldP spid="46115" grpId="0" bldLvl="0" animBg="1"/>
      <p:bldP spid="46116" grpId="0"/>
      <p:bldP spid="46117" grpId="0"/>
      <p:bldP spid="46118" grpId="0" bldLvl="0" animBg="1"/>
      <p:bldP spid="46119" grpId="0" bldLvl="0" animBg="1"/>
      <p:bldP spid="46138" grpId="0"/>
      <p:bldP spid="46139" grpId="0" bldLvl="0" animBg="1"/>
      <p:bldP spid="46140" grpId="0" bldLvl="0" animBg="1"/>
      <p:bldP spid="46141" grpId="0" bldLvl="0" animBg="1"/>
      <p:bldP spid="46142" grpId="0" bldLvl="0" animBg="1"/>
      <p:bldP spid="46143" grpId="0" bldLvl="0" animBg="1"/>
      <p:bldP spid="46144" grpId="0"/>
      <p:bldP spid="46145" grpId="0" bldLvl="0" animBg="1"/>
      <p:bldP spid="4614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1905000" y="3451225"/>
            <a:ext cx="4495800" cy="2306955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testq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rax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, 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rax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js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L4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L3: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sarq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$3, 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rax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ret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L4: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addq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$7, 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rax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jmp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L3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8853170" cy="57340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sym typeface="+mn-ea"/>
              </a:rPr>
              <a:t>有符号整数的除法运算对应的汇编代码</a:t>
            </a:r>
            <a:endParaRPr lang="en-US"/>
          </a:p>
        </p:txBody>
      </p:sp>
      <p:sp>
        <p:nvSpPr>
          <p:cNvPr id="179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400800" y="4984750"/>
            <a:ext cx="5128260" cy="118745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使用了算术移位</a:t>
            </a:r>
            <a:endParaRPr lang="en-US" dirty="0"/>
          </a:p>
          <a:p>
            <a:pPr eaLnBrk="1" hangingPunct="1">
              <a:defRPr/>
            </a:pPr>
            <a:r>
              <a:rPr lang="en-US" dirty="0"/>
              <a:t>Java</a:t>
            </a:r>
            <a:r>
              <a:rPr lang="zh-CN" altLang="en-US" dirty="0"/>
              <a:t>语言中</a:t>
            </a:r>
            <a:r>
              <a:rPr lang="en-US" dirty="0"/>
              <a:t> </a:t>
            </a:r>
            <a:endParaRPr lang="en-US" dirty="0"/>
          </a:p>
          <a:p>
            <a:pPr lvl="1" eaLnBrk="1" hangingPunct="1">
              <a:defRPr/>
            </a:pPr>
            <a:r>
              <a:rPr lang="zh-CN" altLang="en-US" dirty="0" err="1"/>
              <a:t>算术移位</a:t>
            </a:r>
            <a:r>
              <a:rPr lang="en-US" altLang="zh-CN" dirty="0" err="1"/>
              <a:t>：</a:t>
            </a:r>
            <a:r>
              <a:rPr lang="en-US" dirty="0"/>
              <a:t> </a:t>
            </a:r>
            <a:r>
              <a:rPr lang="en-US" dirty="0">
                <a:latin typeface="Courier New" panose="02070609020205020404" pitchFamily="49" charset="0"/>
              </a:rPr>
              <a:t>&gt;&gt;</a:t>
            </a:r>
            <a:endParaRPr lang="en-US" dirty="0">
              <a:latin typeface="Courier New" panose="02070609020205020404" pitchFamily="49" charset="0"/>
            </a:endParaRPr>
          </a:p>
          <a:p>
            <a:pPr lvl="1" eaLnBrk="1" hangingPunct="1">
              <a:defRPr/>
            </a:pPr>
            <a:endParaRPr lang="en-US" dirty="0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905000" y="1600200"/>
            <a:ext cx="3886200" cy="1198880"/>
          </a:xfrm>
          <a:prstGeom prst="rect">
            <a:avLst/>
          </a:prstGeom>
          <a:solidFill>
            <a:srgbClr val="E0F4E3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long idiv8(long x)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endParaRPr lang="en-US" sz="180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  return x/8;</a:t>
            </a:r>
            <a:endParaRPr lang="en-US" sz="180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800" dirty="0" err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7010400" y="3451225"/>
            <a:ext cx="3352800" cy="1198880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if x &lt; 0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   x += 7;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# Arithmetic shift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	return x &gt;&gt; 3;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1731319" y="1219200"/>
            <a:ext cx="1407795" cy="3987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C Function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1600224" y="3048000"/>
            <a:ext cx="3987800" cy="3987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Compiled Arithmetic Operations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6852090" y="3028890"/>
            <a:ext cx="1515745" cy="398780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Explanation</a:t>
            </a:r>
            <a:endParaRPr lang="en-US" sz="2000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算术的基本规则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无符号整数</a:t>
            </a:r>
            <a:r>
              <a:rPr lang="en-US" altLang="zh-CN" dirty="0"/>
              <a:t>、</a:t>
            </a:r>
            <a:r>
              <a:rPr lang="zh-CN" altLang="en-US" dirty="0"/>
              <a:t>有符号整数之间构成了同构环</a:t>
            </a:r>
            <a:r>
              <a:rPr lang="en-US" dirty="0"/>
              <a:t>: </a:t>
            </a:r>
            <a:endParaRPr lang="en-US" dirty="0"/>
          </a:p>
          <a:p>
            <a:pPr lvl="1"/>
            <a:r>
              <a:rPr lang="en-US" dirty="0"/>
              <a:t>isomorphism = casting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Left shift</a:t>
            </a:r>
            <a:endParaRPr lang="en-US" dirty="0"/>
          </a:p>
          <a:p>
            <a:pPr lvl="1"/>
            <a:r>
              <a:rPr lang="en-US" dirty="0"/>
              <a:t>Unsigned/signed: multiplication by 2</a:t>
            </a:r>
            <a:r>
              <a:rPr lang="en-US" baseline="30000" dirty="0"/>
              <a:t>k</a:t>
            </a:r>
            <a:endParaRPr lang="en-US" baseline="30000" dirty="0"/>
          </a:p>
          <a:p>
            <a:pPr lvl="1"/>
            <a:r>
              <a:rPr lang="en-US" dirty="0"/>
              <a:t>Always logical shift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Right shift</a:t>
            </a:r>
            <a:endParaRPr lang="en-US" dirty="0"/>
          </a:p>
          <a:p>
            <a:pPr lvl="1"/>
            <a:r>
              <a:rPr lang="en-US" dirty="0"/>
              <a:t>Unsigned: logical shift, div (division + round to zero) by 2</a:t>
            </a:r>
            <a:r>
              <a:rPr lang="en-US" baseline="30000" dirty="0"/>
              <a:t>k</a:t>
            </a:r>
            <a:endParaRPr lang="en-US" baseline="30000" dirty="0"/>
          </a:p>
          <a:p>
            <a:pPr lvl="1"/>
            <a:r>
              <a:rPr lang="en-US" dirty="0"/>
              <a:t>Signed: arithmetic shift</a:t>
            </a:r>
            <a:endParaRPr lang="en-US" dirty="0"/>
          </a:p>
          <a:p>
            <a:pPr lvl="2"/>
            <a:r>
              <a:rPr lang="en-US" dirty="0"/>
              <a:t>Positive numbers: div (division + round to zero) by 2</a:t>
            </a:r>
            <a:r>
              <a:rPr lang="en-US" baseline="30000" dirty="0"/>
              <a:t>k</a:t>
            </a:r>
            <a:endParaRPr lang="en-US" baseline="30000" dirty="0"/>
          </a:p>
          <a:p>
            <a:pPr lvl="2"/>
            <a:r>
              <a:rPr lang="en-US" dirty="0"/>
              <a:t>Negative numbers: div (division + round away from zero) by 2</a:t>
            </a:r>
            <a:r>
              <a:rPr lang="en-US" baseline="30000" dirty="0"/>
              <a:t>k</a:t>
            </a:r>
            <a:br>
              <a:rPr lang="en-US" baseline="30000" dirty="0"/>
            </a:br>
            <a:r>
              <a:rPr lang="en-US" dirty="0"/>
              <a:t>Use biasing to fix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20875" y="587375"/>
            <a:ext cx="8393113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Properties of Unsigned Arithmetic</a:t>
            </a:r>
            <a:endParaRPr 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Unsigned Multiplication with Addition Forms Commutative Ring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Addition is commutative group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Closed under multiplication</a:t>
            </a:r>
            <a:endParaRPr lang="en-US" dirty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0  </a:t>
            </a:r>
            <a:r>
              <a:rPr lang="en-US" dirty="0">
                <a:sym typeface="Symbol" pitchFamily="18" charset="2"/>
              </a:rPr>
              <a:t></a:t>
            </a:r>
            <a:r>
              <a:rPr lang="en-US" dirty="0"/>
              <a:t> </a:t>
            </a: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u</a:t>
            </a:r>
            <a:r>
              <a:rPr lang="en-US" dirty="0"/>
              <a:t> , </a:t>
            </a:r>
            <a:r>
              <a:rPr lang="en-US" i="1" dirty="0"/>
              <a:t>v</a:t>
            </a:r>
            <a:r>
              <a:rPr lang="en-US" dirty="0"/>
              <a:t>)  </a:t>
            </a:r>
            <a:r>
              <a:rPr lang="en-US" dirty="0">
                <a:sym typeface="Symbol" pitchFamily="18" charset="2"/>
              </a:rPr>
              <a:t></a:t>
            </a:r>
            <a:r>
              <a:rPr lang="en-US" dirty="0"/>
              <a:t>  2</a:t>
            </a:r>
            <a:r>
              <a:rPr lang="en-US" i="1" baseline="30000" dirty="0"/>
              <a:t>w</a:t>
            </a:r>
            <a:r>
              <a:rPr lang="en-US" dirty="0"/>
              <a:t> –1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Multiplication Commutative</a:t>
            </a:r>
            <a:endParaRPr lang="en-US" dirty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u</a:t>
            </a:r>
            <a:r>
              <a:rPr lang="en-US" dirty="0"/>
              <a:t> , </a:t>
            </a:r>
            <a:r>
              <a:rPr lang="en-US" i="1" dirty="0"/>
              <a:t>v</a:t>
            </a:r>
            <a:r>
              <a:rPr lang="en-US" dirty="0"/>
              <a:t>)  =   </a:t>
            </a: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 , </a:t>
            </a:r>
            <a:r>
              <a:rPr lang="en-US" i="1" dirty="0"/>
              <a:t>u</a:t>
            </a:r>
            <a:r>
              <a:rPr lang="en-US" dirty="0"/>
              <a:t>)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Multiplication is Associative</a:t>
            </a:r>
            <a:endParaRPr lang="en-US" dirty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, </a:t>
            </a: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u</a:t>
            </a:r>
            <a:r>
              <a:rPr lang="en-US" dirty="0"/>
              <a:t> , </a:t>
            </a:r>
            <a:r>
              <a:rPr lang="en-US" i="1" dirty="0"/>
              <a:t>v</a:t>
            </a:r>
            <a:r>
              <a:rPr lang="en-US" dirty="0"/>
              <a:t>))  =   </a:t>
            </a: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, </a:t>
            </a:r>
            <a:r>
              <a:rPr lang="en-US" i="1" dirty="0"/>
              <a:t>u</a:t>
            </a:r>
            <a:r>
              <a:rPr lang="en-US" dirty="0"/>
              <a:t> ), </a:t>
            </a:r>
            <a:r>
              <a:rPr lang="en-US" i="1" dirty="0"/>
              <a:t>v</a:t>
            </a:r>
            <a:r>
              <a:rPr lang="en-US" dirty="0"/>
              <a:t>)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1 is multiplicative identity</a:t>
            </a:r>
            <a:endParaRPr lang="en-US" dirty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u</a:t>
            </a:r>
            <a:r>
              <a:rPr lang="en-US" dirty="0"/>
              <a:t> , 1)  =  </a:t>
            </a:r>
            <a:r>
              <a:rPr lang="en-US" i="1" dirty="0"/>
              <a:t>u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Multiplication distributes over </a:t>
            </a:r>
            <a:r>
              <a:rPr lang="en-US" dirty="0" err="1"/>
              <a:t>addtion</a:t>
            </a:r>
            <a:endParaRPr lang="en-US" dirty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, </a:t>
            </a:r>
            <a:r>
              <a:rPr lang="en-US" dirty="0" err="1"/>
              <a:t>UAdd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u</a:t>
            </a:r>
            <a:r>
              <a:rPr lang="en-US" dirty="0"/>
              <a:t> , </a:t>
            </a:r>
            <a:r>
              <a:rPr lang="en-US" i="1" dirty="0"/>
              <a:t>v</a:t>
            </a:r>
            <a:r>
              <a:rPr lang="en-US" dirty="0"/>
              <a:t>))  =   </a:t>
            </a:r>
            <a:r>
              <a:rPr lang="en-US" dirty="0" err="1"/>
              <a:t>UAdd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, </a:t>
            </a:r>
            <a:r>
              <a:rPr lang="en-US" i="1" dirty="0"/>
              <a:t>u</a:t>
            </a:r>
            <a:r>
              <a:rPr lang="en-US" dirty="0"/>
              <a:t> ), </a:t>
            </a:r>
            <a:r>
              <a:rPr lang="en-US" dirty="0" err="1"/>
              <a:t>UMult</a:t>
            </a:r>
            <a:r>
              <a:rPr lang="en-US" i="1" baseline="-25000" dirty="0" err="1"/>
              <a:t>w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dirty="0"/>
              <a:t>))</a:t>
            </a:r>
            <a:endParaRPr lang="en-US" dirty="0"/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/>
          <p:nvPr/>
        </p:nvSpPr>
        <p:spPr bwMode="auto">
          <a:xfrm>
            <a:off x="2019300" y="3048000"/>
            <a:ext cx="8166100" cy="119380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</a:ln>
        </p:spPr>
        <p:txBody>
          <a:bodyPr lIns="50800" tIns="50800" rIns="45720" bIns="50800"/>
          <a:lstStyle/>
          <a:p>
            <a:pPr eaLnBrk="1" hangingPunct="1">
              <a:tabLst>
                <a:tab pos="1651000" algn="l"/>
                <a:tab pos="4737100" algn="l"/>
                <a:tab pos="5486400" algn="l"/>
              </a:tabLst>
            </a:pPr>
            <a:r>
              <a: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</a:t>
            </a:r>
            <a:r>
              <a:rPr lang="en-US" sz="1800">
                <a:solidFill>
                  <a:srgbClr val="8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Address	Instruction Code	Assembly Rendition</a:t>
            </a:r>
            <a:endParaRPr lang="en-US" sz="1800">
              <a:solidFill>
                <a:srgbClr val="8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eaLnBrk="1" hangingPunct="1">
              <a:tabLst>
                <a:tab pos="1651000" algn="l"/>
                <a:tab pos="4737100" algn="l"/>
                <a:tab pos="5486400" algn="l"/>
              </a:tabLst>
            </a:pPr>
            <a:r>
              <a: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8048365:	5b                   	pop    %ebx</a:t>
            </a:r>
            <a:endParaRPr lang="en-US" sz="18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>
              <a:tabLst>
                <a:tab pos="1651000" algn="l"/>
                <a:tab pos="4737100" algn="l"/>
                <a:tab pos="5486400" algn="l"/>
              </a:tabLst>
            </a:pPr>
            <a:r>
              <a: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8048366:	81 c3 ab 12 00 00    	add    $0x12ab,%ebx</a:t>
            </a:r>
            <a:endParaRPr lang="en-US" sz="18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eaLnBrk="1" hangingPunct="1">
              <a:tabLst>
                <a:tab pos="1651000" algn="l"/>
                <a:tab pos="4737100" algn="l"/>
                <a:tab pos="5486400" algn="l"/>
              </a:tabLst>
            </a:pPr>
            <a:r>
              <a:rPr lang="en-US" sz="1800" b="0">
                <a:solidFill>
                  <a:srgbClr val="000066"/>
                </a:solidFill>
                <a:latin typeface="Courier New Bold" panose="02070609020205020404" charset="0"/>
                <a:ea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804836c:	83 bb 28 00 00 00 00 	cmpl   $0x0,0x28(%ebx)</a:t>
            </a:r>
            <a:endParaRPr lang="en-US" sz="1800" b="0">
              <a:solidFill>
                <a:srgbClr val="000066"/>
              </a:solidFill>
              <a:latin typeface="Courier New Bold" panose="02070609020205020404" charset="0"/>
              <a:ea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018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 eaLnBrk="1" hangingPunct="1"/>
            <a:r>
              <a:rPr lang="en-US"/>
              <a:t>Reading Byte-Reversed Listings</a:t>
            </a: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5981700" algn="r"/>
              </a:tabLst>
            </a:pPr>
            <a:r>
              <a:rPr lang="zh-CN" altLang="en-US"/>
              <a:t>反汇编代码</a:t>
            </a:r>
            <a:endParaRPr lang="en-US"/>
          </a:p>
          <a:p>
            <a:pPr marL="552450" lvl="1" eaLnBrk="1" hangingPunct="1">
              <a:tabLst>
                <a:tab pos="5981700" algn="r"/>
              </a:tabLst>
            </a:pPr>
            <a:r>
              <a:rPr lang="zh-CN" altLang="en-US"/>
              <a:t>从二进制机器码</a:t>
            </a:r>
            <a:r>
              <a:rPr lang="en-US" altLang="zh-CN"/>
              <a:t>，</a:t>
            </a:r>
            <a:r>
              <a:rPr lang="zh-CN" altLang="en-US"/>
              <a:t>解码出来</a:t>
            </a:r>
            <a:r>
              <a:rPr lang="zh-CN" altLang="en-US"/>
              <a:t>的可读的文本表示</a:t>
            </a:r>
            <a:endParaRPr lang="en-US"/>
          </a:p>
          <a:p>
            <a:pPr marL="552450" lvl="1" eaLnBrk="1" hangingPunct="1">
              <a:tabLst>
                <a:tab pos="5981700" algn="r"/>
              </a:tabLst>
            </a:pPr>
            <a:r>
              <a:rPr lang="zh-CN" altLang="en-US"/>
              <a:t>由机器码的解码器</a:t>
            </a:r>
            <a:r>
              <a:rPr lang="en-US" altLang="zh-CN"/>
              <a:t>（</a:t>
            </a:r>
            <a:r>
              <a:rPr lang="zh-CN" altLang="en-US"/>
              <a:t>比如反汇编器</a:t>
            </a:r>
            <a:r>
              <a:rPr lang="en-US" altLang="zh-CN"/>
              <a:t>、objdump</a:t>
            </a:r>
            <a:r>
              <a:rPr lang="zh-CN" altLang="en-US"/>
              <a:t>完成</a:t>
            </a:r>
            <a:endParaRPr lang="en-US"/>
          </a:p>
          <a:p>
            <a:pPr eaLnBrk="1" hangingPunct="1">
              <a:tabLst>
                <a:tab pos="5981700" algn="r"/>
              </a:tabLst>
            </a:pPr>
            <a:r>
              <a:rPr lang="zh-CN" altLang="en-US"/>
              <a:t>示例片段</a:t>
            </a:r>
            <a:endParaRPr lang="en-US"/>
          </a:p>
          <a:p>
            <a:pPr eaLnBrk="1" hangingPunct="1">
              <a:spcBef>
                <a:spcPts val="11100"/>
              </a:spcBef>
              <a:tabLst>
                <a:tab pos="5981700" algn="r"/>
              </a:tabLst>
            </a:pPr>
            <a:r>
              <a:rPr lang="zh-CN" altLang="en-US"/>
              <a:t>数字</a:t>
            </a:r>
            <a:r>
              <a:rPr lang="en-US" altLang="zh-CN"/>
              <a:t>ab120000</a:t>
            </a:r>
            <a:r>
              <a:rPr lang="zh-CN" altLang="en-US"/>
              <a:t>的解读</a:t>
            </a:r>
            <a:endParaRPr lang="en-US"/>
          </a:p>
          <a:p>
            <a:pPr marL="552450" lvl="1" eaLnBrk="1" hangingPunct="1">
              <a:tabLst>
                <a:tab pos="5981700" algn="r"/>
              </a:tabLst>
            </a:pPr>
            <a:r>
              <a:rPr lang="zh-CN" altLang="en-US"/>
              <a:t>值</a:t>
            </a:r>
            <a:r>
              <a:rPr lang="en-US"/>
              <a:t>:	</a:t>
            </a:r>
            <a:r>
              <a:rPr lang="en-US" sz="1800">
                <a:latin typeface="Monaco" charset="0"/>
                <a:ea typeface="Monaco" charset="0"/>
                <a:cs typeface="Monaco" charset="0"/>
                <a:sym typeface="Monaco" charset="0"/>
              </a:rPr>
              <a:t>0x12ab</a:t>
            </a:r>
            <a:endParaRPr lang="en-US"/>
          </a:p>
          <a:p>
            <a:pPr marL="552450" lvl="1" eaLnBrk="1" hangingPunct="1">
              <a:tabLst>
                <a:tab pos="5981700" algn="r"/>
              </a:tabLst>
            </a:pPr>
            <a:r>
              <a:rPr lang="zh-CN" altLang="en-US"/>
              <a:t>填充到</a:t>
            </a:r>
            <a:r>
              <a:rPr lang="en-US" altLang="zh-CN"/>
              <a:t>32</a:t>
            </a:r>
            <a:r>
              <a:rPr lang="zh-CN" altLang="en-US"/>
              <a:t>位</a:t>
            </a:r>
            <a:r>
              <a:rPr lang="en-US"/>
              <a:t>:	</a:t>
            </a:r>
            <a:r>
              <a:rPr lang="en-US" sz="1800">
                <a:latin typeface="Monaco" charset="0"/>
                <a:ea typeface="Monaco" charset="0"/>
                <a:cs typeface="Monaco" charset="0"/>
                <a:sym typeface="Monaco" charset="0"/>
              </a:rPr>
              <a:t>0x000012ab</a:t>
            </a:r>
            <a:endParaRPr lang="en-US"/>
          </a:p>
          <a:p>
            <a:pPr marL="552450" lvl="1" eaLnBrk="1" hangingPunct="1">
              <a:tabLst>
                <a:tab pos="5981700" algn="r"/>
              </a:tabLst>
            </a:pPr>
            <a:r>
              <a:rPr lang="zh-CN" altLang="en-US"/>
              <a:t>划分成字节</a:t>
            </a:r>
            <a:r>
              <a:rPr lang="en-US"/>
              <a:t>:	</a:t>
            </a:r>
            <a:r>
              <a:rPr lang="en-US" sz="1800">
                <a:latin typeface="Monaco" charset="0"/>
                <a:ea typeface="Monaco" charset="0"/>
                <a:cs typeface="Monaco" charset="0"/>
                <a:sym typeface="Monaco" charset="0"/>
              </a:rPr>
              <a:t>00 00 12 ab</a:t>
            </a:r>
            <a:endParaRPr lang="en-US"/>
          </a:p>
          <a:p>
            <a:pPr marL="552450" lvl="1" eaLnBrk="1" hangingPunct="1">
              <a:tabLst>
                <a:tab pos="5981700" algn="r"/>
              </a:tabLst>
            </a:pPr>
            <a:r>
              <a:rPr lang="zh-CN" altLang="en-US"/>
              <a:t>反向</a:t>
            </a:r>
            <a:r>
              <a:rPr lang="en-US"/>
              <a:t>:	</a:t>
            </a:r>
            <a:r>
              <a:rPr lang="en-US" sz="1800">
                <a:latin typeface="Monaco" charset="0"/>
                <a:ea typeface="Monaco" charset="0"/>
                <a:cs typeface="Monaco" charset="0"/>
                <a:sym typeface="Monaco" charset="0"/>
              </a:rPr>
              <a:t>ab 12 00 00</a:t>
            </a:r>
            <a:endParaRPr lang="en-US" sz="1800">
              <a:latin typeface="Monaco" charset="0"/>
              <a:sym typeface="Monaco" charset="0"/>
            </a:endParaRPr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 flipH="1">
            <a:off x="7391400" y="3886200"/>
            <a:ext cx="609600" cy="914400"/>
          </a:xfrm>
          <a:prstGeom prst="line">
            <a:avLst/>
          </a:prstGeom>
          <a:noFill/>
          <a:ln w="38100">
            <a:solidFill>
              <a:srgbClr val="FF5050"/>
            </a:solidFill>
            <a:round/>
            <a:tailEnd type="triangle" w="med" len="med"/>
          </a:ln>
        </p:spPr>
        <p:txBody>
          <a:bodyPr lIns="0" tIns="0" rIns="0" bIns="0"/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grpSp>
        <p:nvGrpSpPr>
          <p:cNvPr id="2" name="Group 7"/>
          <p:cNvGrpSpPr/>
          <p:nvPr/>
        </p:nvGrpSpPr>
        <p:grpSpPr bwMode="auto">
          <a:xfrm>
            <a:off x="4495800" y="3886200"/>
            <a:ext cx="1866900" cy="2286000"/>
            <a:chOff x="0" y="0"/>
            <a:chExt cx="1176" cy="1440"/>
          </a:xfrm>
        </p:grpSpPr>
        <p:sp>
          <p:nvSpPr>
            <p:cNvPr id="50185" name="Freeform 8"/>
            <p:cNvSpPr/>
            <p:nvPr/>
          </p:nvSpPr>
          <p:spPr bwMode="auto">
            <a:xfrm rot="-5400000">
              <a:off x="476" y="-476"/>
              <a:ext cx="56" cy="1007"/>
            </a:xfrm>
            <a:custGeom>
              <a:avLst/>
              <a:gdLst>
                <a:gd name="T0" fmla="*/ 21600 w 21600"/>
                <a:gd name="T1" fmla="*/ 0 h 21600"/>
                <a:gd name="T2" fmla="*/ 10800 w 21600"/>
                <a:gd name="T3" fmla="*/ 1800 h 21600"/>
                <a:gd name="T4" fmla="*/ 10800 w 21600"/>
                <a:gd name="T5" fmla="*/ 9000 h 21600"/>
                <a:gd name="T6" fmla="*/ 0 w 21600"/>
                <a:gd name="T7" fmla="*/ 10800 h 21600"/>
                <a:gd name="T8" fmla="*/ 10800 w 21600"/>
                <a:gd name="T9" fmla="*/ 12600 h 21600"/>
                <a:gd name="T10" fmla="*/ 10800 w 21600"/>
                <a:gd name="T11" fmla="*/ 19800 h 21600"/>
                <a:gd name="T12" fmla="*/ 21600 w 21600"/>
                <a:gd name="T13" fmla="*/ 21600 h 21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1600"/>
                <a:gd name="T23" fmla="*/ 21600 w 21600"/>
                <a:gd name="T24" fmla="*/ 21600 h 216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1600">
                  <a:moveTo>
                    <a:pt x="21600" y="0"/>
                  </a:moveTo>
                  <a:cubicBezTo>
                    <a:pt x="1563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5965" y="10800"/>
                    <a:pt x="0" y="10800"/>
                  </a:cubicBezTo>
                  <a:cubicBezTo>
                    <a:pt x="596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15635" y="21600"/>
                    <a:pt x="21600" y="21600"/>
                  </a:cubicBezTo>
                </a:path>
              </a:pathLst>
            </a:custGeom>
            <a:noFill/>
            <a:ln w="28575">
              <a:solidFill>
                <a:srgbClr val="FF5050"/>
              </a:solidFill>
              <a:round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  <p:sp>
          <p:nvSpPr>
            <p:cNvPr id="50186" name="Line 9"/>
            <p:cNvSpPr>
              <a:spLocks noChangeShapeType="1"/>
            </p:cNvSpPr>
            <p:nvPr/>
          </p:nvSpPr>
          <p:spPr bwMode="auto">
            <a:xfrm rot="10800000">
              <a:off x="512" y="60"/>
              <a:ext cx="664" cy="1380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tailEnd type="triangle" w="med" len="med"/>
            </a:ln>
          </p:spPr>
          <p:txBody>
            <a:bodyPr lIns="0" tIns="0" rIns="0" bIns="0"/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panose="020B0502020104020203" charset="0"/>
                <a:ea typeface="ヒラギノ角ゴ ProN W3" panose="020B0300000000000000" charset="-128"/>
                <a:cs typeface="ヒラギノ角ゴ ProN W3" panose="020B0300000000000000" charset="-128"/>
                <a:sym typeface="Gill Sans" panose="020B0502020104020203" charset="0"/>
              </a:endParaRPr>
            </a:p>
          </p:txBody>
        </p:sp>
      </p:grp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可以准备</a:t>
            </a:r>
            <a:r>
              <a:rPr lang="en-US" altLang="zh-CN"/>
              <a:t>datalab</a:t>
            </a:r>
            <a:r>
              <a:rPr lang="zh-CN" altLang="en-US"/>
              <a:t>了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E56B6492DE355DB9C24435EF4FA3B9D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045" y="1915795"/>
            <a:ext cx="4759325" cy="415544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385" y="1915795"/>
            <a:ext cx="4264660" cy="229489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ABLE_ENDDRAG_ORIGIN_RECT" val="160*154"/>
  <p:tag name="TABLE_ENDDRAG_RECT" val="12*388*160*154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706020202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706020202030204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0</TotalTime>
  <Words>21423</Words>
  <Application>WPS Presentation</Application>
  <PresentationFormat>On-screen Show (4:3)</PresentationFormat>
  <Paragraphs>2880</Paragraphs>
  <Slides>95</Slides>
  <Notes>64</Notes>
  <HiddenSlides>0</HiddenSlides>
  <MMClips>0</MMClips>
  <ScaleCrop>false</ScaleCrop>
  <HeadingPairs>
    <vt:vector size="8" baseType="variant">
      <vt:variant>
        <vt:lpstr>已用的字体</vt:lpstr>
      </vt:variant>
      <vt:variant>
        <vt:i4>46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95</vt:i4>
      </vt:variant>
    </vt:vector>
  </HeadingPairs>
  <TitlesOfParts>
    <vt:vector size="158" baseType="lpstr">
      <vt:lpstr>Arial</vt:lpstr>
      <vt:lpstr>SimSun</vt:lpstr>
      <vt:lpstr>Wingdings</vt:lpstr>
      <vt:lpstr>Arial Narrow</vt:lpstr>
      <vt:lpstr>Calibri</vt:lpstr>
      <vt:lpstr>Helvetica Neue</vt:lpstr>
      <vt:lpstr>Times New Roman</vt:lpstr>
      <vt:lpstr>MS PGothic</vt:lpstr>
      <vt:lpstr>Wingdings 2</vt:lpstr>
      <vt:lpstr>Gill Sans</vt:lpstr>
      <vt:lpstr>ヒラギノ角ゴ ProN W3</vt:lpstr>
      <vt:lpstr>Calibri Bold</vt:lpstr>
      <vt:lpstr>苹方-简</vt:lpstr>
      <vt:lpstr>ヒラギノ角ゴ ProN W6</vt:lpstr>
      <vt:lpstr>Helvetica</vt:lpstr>
      <vt:lpstr>Times</vt:lpstr>
      <vt:lpstr>SimSun</vt:lpstr>
      <vt:lpstr>汉仪书宋二KW</vt:lpstr>
      <vt:lpstr>Courier New Bold</vt:lpstr>
      <vt:lpstr>Calibri</vt:lpstr>
      <vt:lpstr>Arial Narrow Bold</vt:lpstr>
      <vt:lpstr>Courier New</vt:lpstr>
      <vt:lpstr>ＭＳ ゴシック</vt:lpstr>
      <vt:lpstr>SimSun</vt:lpstr>
      <vt:lpstr>Microsoft YaHei</vt:lpstr>
      <vt:lpstr>汉仪旗黑</vt:lpstr>
      <vt:lpstr>Arial Unicode MS</vt:lpstr>
      <vt:lpstr>Monaco</vt:lpstr>
      <vt:lpstr>Zapf Dingbats</vt:lpstr>
      <vt:lpstr>Arial Bold</vt:lpstr>
      <vt:lpstr>Courier New Bold Italic</vt:lpstr>
      <vt:lpstr>Courier New</vt:lpstr>
      <vt:lpstr>Symbol</vt:lpstr>
      <vt:lpstr>Kingsoft Sign</vt:lpstr>
      <vt:lpstr>Wingdings</vt:lpstr>
      <vt:lpstr>Microsoft YaHei</vt:lpstr>
      <vt:lpstr>Calibri Italic</vt:lpstr>
      <vt:lpstr>Times New Roman Italic</vt:lpstr>
      <vt:lpstr>冬青黑体简体中文</vt:lpstr>
      <vt:lpstr>Thonburi</vt:lpstr>
      <vt:lpstr>Symbol</vt:lpstr>
      <vt:lpstr>Wingdings</vt:lpstr>
      <vt:lpstr>Wingdings 2</vt:lpstr>
      <vt:lpstr>Zapf Dingbats</vt:lpstr>
      <vt:lpstr>ＭＳ ゴシック</vt:lpstr>
      <vt:lpstr>宋体-简</vt:lpstr>
      <vt:lpstr>template2007</vt:lpstr>
      <vt:lpstr>Title and Content</vt:lpstr>
      <vt:lpstr>Title Only</vt:lpstr>
      <vt:lpstr>Equation.3</vt:lpstr>
      <vt:lpstr>Excel.Sheet.8</vt:lpstr>
      <vt:lpstr>Excel.Sheet.8</vt:lpstr>
      <vt:lpstr>Excel.Sheet.8</vt:lpstr>
      <vt:lpstr>Word.Document.8</vt:lpstr>
      <vt:lpstr>Equation.3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Equation.3</vt:lpstr>
      <vt:lpstr>Bits, Bytes, and Integers 从位、字节到整数类型  15-213: Introduction to Computer Systems 2nd and 3rd Lectures,  Sep. 3 and Sep. 8, 2015</vt:lpstr>
      <vt:lpstr>Today: Bits, Bytes, and Integers</vt:lpstr>
      <vt:lpstr>Everything is bits</vt:lpstr>
      <vt:lpstr>举例：数字的二进制表示</vt:lpstr>
      <vt:lpstr>位与字节（bit and byte）</vt:lpstr>
      <vt:lpstr>多字节的表示（C语言）</vt:lpstr>
      <vt:lpstr>Today: Bits, Bytes, and Integers</vt:lpstr>
      <vt:lpstr>Boolean Algebra 布尔代数</vt:lpstr>
      <vt:lpstr>乔治布尔</vt:lpstr>
      <vt:lpstr>位向量及运算</vt:lpstr>
      <vt:lpstr>例子：用布尔代数表示集合及其运算</vt:lpstr>
      <vt:lpstr>C语言中的位运算</vt:lpstr>
      <vt:lpstr>对比: C语言中的逻辑运算</vt:lpstr>
      <vt:lpstr>对比: C语言中的逻辑运算</vt:lpstr>
      <vt:lpstr>移位运算</vt:lpstr>
      <vt:lpstr>Today: Bits, Bytes, and Integers</vt:lpstr>
      <vt:lpstr>整数的编码</vt:lpstr>
      <vt:lpstr>二进制补码的例子 (Cont.)</vt:lpstr>
      <vt:lpstr>二进制补码的例子 (Cont.)</vt:lpstr>
      <vt:lpstr>数值的范围</vt:lpstr>
      <vt:lpstr>不同字长的表示范围</vt:lpstr>
      <vt:lpstr>二进制表示的例子</vt:lpstr>
      <vt:lpstr>PowerPoint 演示文稿</vt:lpstr>
      <vt:lpstr>Today: Bits, Bytes, and Integers</vt:lpstr>
      <vt:lpstr>signed 和 unsigned之间的类型转换</vt:lpstr>
      <vt:lpstr>Mapping Signed  Unsigned</vt:lpstr>
      <vt:lpstr>Mapping Signed  Unsigned</vt:lpstr>
      <vt:lpstr>无符号编码、有符号编码值的关系</vt:lpstr>
      <vt:lpstr>Conversion Visualized</vt:lpstr>
      <vt:lpstr>相反数的编码: 按位取反，再加1</vt:lpstr>
      <vt:lpstr>C语言中的Signed vs. Unsigned </vt:lpstr>
      <vt:lpstr>C语言类型转换中的奇怪现象</vt:lpstr>
      <vt:lpstr>规则小结</vt:lpstr>
      <vt:lpstr>思考与扩展</vt:lpstr>
      <vt:lpstr>PowerPoint 演示文稿</vt:lpstr>
      <vt:lpstr>思考与扩展</vt:lpstr>
      <vt:lpstr>思考与扩展</vt:lpstr>
      <vt:lpstr>Today: Bits, Bytes, and Integers</vt:lpstr>
      <vt:lpstr>Sign Extension有符号扩展</vt:lpstr>
      <vt:lpstr>C语言中有符号扩展的例子</vt:lpstr>
      <vt:lpstr>总结：类型扩展与截断的基本规则</vt:lpstr>
      <vt:lpstr>Today: Bits, Bytes, and Integers</vt:lpstr>
      <vt:lpstr>Unsigned Addition（无符号整数加法）</vt:lpstr>
      <vt:lpstr>数学上的整数加法</vt:lpstr>
      <vt:lpstr>无符号编码的加法</vt:lpstr>
      <vt:lpstr>二进制补码的加法</vt:lpstr>
      <vt:lpstr>补码加法的溢出Overflow</vt:lpstr>
      <vt:lpstr>二进制补码的加法</vt:lpstr>
      <vt:lpstr>Multiplication乘法</vt:lpstr>
      <vt:lpstr>C语言中的无符号乘法</vt:lpstr>
      <vt:lpstr>C语言中的有符号乘法</vt:lpstr>
      <vt:lpstr>计算机中整数运算的精度问题</vt:lpstr>
      <vt:lpstr>扩展：Multiprecision arithmetic 多精度算术</vt:lpstr>
      <vt:lpstr>用移位实现乘法</vt:lpstr>
      <vt:lpstr>用移位实现无符号除法 </vt:lpstr>
      <vt:lpstr>PowerPoint 演示文稿</vt:lpstr>
      <vt:lpstr>用移位实现有符号除法 </vt:lpstr>
      <vt:lpstr>Today: Bits, Bytes, and Integers</vt:lpstr>
      <vt:lpstr>总结：机器算术的基本规则</vt:lpstr>
      <vt:lpstr>什么时候使用Unsigned?</vt:lpstr>
      <vt:lpstr>Counting Down with Unsigned</vt:lpstr>
      <vt:lpstr>PowerPoint 演示文稿</vt:lpstr>
      <vt:lpstr>什么时候使用Unsigned? (cont.)</vt:lpstr>
      <vt:lpstr>Today: Bits, Bytes, and Integers</vt:lpstr>
      <vt:lpstr>Byte-Oriented Memory Organization 以字节为单位组织的内存</vt:lpstr>
      <vt:lpstr>Machine Words 机器的字</vt:lpstr>
      <vt:lpstr>例子：数据的多字节形式</vt:lpstr>
      <vt:lpstr>Word-Oriented Memory Organization 以字为单位的内存组织视图</vt:lpstr>
      <vt:lpstr>Byte Ordering字节的顺序</vt:lpstr>
      <vt:lpstr>例子：字节顺序</vt:lpstr>
      <vt:lpstr>Representing Integers</vt:lpstr>
      <vt:lpstr>Examining Data Representations 检查数据的字节顺序</vt:lpstr>
      <vt:lpstr>检查多字节整数类型的16进制表示</vt:lpstr>
      <vt:lpstr>Representing Pointers指针的表示</vt:lpstr>
      <vt:lpstr>Representing Strings 字符串的表示</vt:lpstr>
      <vt:lpstr>Bonus extras</vt:lpstr>
      <vt:lpstr>Application of Boolean Algebra</vt:lpstr>
      <vt:lpstr>Binary Number Property</vt:lpstr>
      <vt:lpstr>代码安全的例子 #1 （教材59页）</vt:lpstr>
      <vt:lpstr>典型使用</vt:lpstr>
      <vt:lpstr>恶意使用</vt:lpstr>
      <vt:lpstr>代码安全的例子 #2（教材67页，自学）</vt:lpstr>
      <vt:lpstr>XDR Code</vt:lpstr>
      <vt:lpstr>XDR Vulnerability</vt:lpstr>
      <vt:lpstr>乘法运算对应的汇编代码</vt:lpstr>
      <vt:lpstr>无符号整数的除法运算对应的汇编代码</vt:lpstr>
      <vt:lpstr>有符号整数除以2的幂时，使用移位的问题</vt:lpstr>
      <vt:lpstr>如何纠正</vt:lpstr>
      <vt:lpstr>如何纠正 (Cont.)</vt:lpstr>
      <vt:lpstr>有符号整数的除法运算对应的汇编代码</vt:lpstr>
      <vt:lpstr>算术的基本规则</vt:lpstr>
      <vt:lpstr>Properties of Unsigned Arithmetic</vt:lpstr>
      <vt:lpstr>Reading Byte-Reversed Listings</vt:lpstr>
      <vt:lpstr>可以准备datalab了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00030832</cp:lastModifiedBy>
  <cp:revision>721</cp:revision>
  <cp:lastPrinted>2026-03-09T03:05:49Z</cp:lastPrinted>
  <dcterms:created xsi:type="dcterms:W3CDTF">2026-03-09T03:05:49Z</dcterms:created>
  <dcterms:modified xsi:type="dcterms:W3CDTF">2026-03-09T03:05:49Z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E7D3E70A55C2619A906E00658D9C85D1_42</vt:lpwstr>
  </property>
</Properties>
</file>