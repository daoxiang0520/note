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handoutMasterIdLst>
    <p:handoutMasterId r:id="rId57"/>
  </p:handoutMasterIdLst>
  <p:sldIdLst>
    <p:sldId id="542" r:id="rId3"/>
    <p:sldId id="1496" r:id="rId5"/>
    <p:sldId id="543" r:id="rId6"/>
    <p:sldId id="1477" r:id="rId7"/>
    <p:sldId id="1476" r:id="rId8"/>
    <p:sldId id="1478" r:id="rId9"/>
    <p:sldId id="1479" r:id="rId10"/>
    <p:sldId id="545" r:id="rId11"/>
    <p:sldId id="1490" r:id="rId12"/>
    <p:sldId id="1497" r:id="rId13"/>
    <p:sldId id="1491" r:id="rId14"/>
    <p:sldId id="1493" r:id="rId15"/>
    <p:sldId id="1494" r:id="rId16"/>
    <p:sldId id="1498" r:id="rId17"/>
    <p:sldId id="1483" r:id="rId18"/>
    <p:sldId id="1484" r:id="rId19"/>
    <p:sldId id="1499" r:id="rId20"/>
    <p:sldId id="1438" r:id="rId21"/>
    <p:sldId id="1440" r:id="rId22"/>
    <p:sldId id="1439" r:id="rId23"/>
    <p:sldId id="1441" r:id="rId24"/>
    <p:sldId id="1400" r:id="rId25"/>
    <p:sldId id="1404" r:id="rId26"/>
    <p:sldId id="1452" r:id="rId27"/>
    <p:sldId id="1453" r:id="rId28"/>
    <p:sldId id="1401" r:id="rId29"/>
    <p:sldId id="1396" r:id="rId30"/>
    <p:sldId id="1514" r:id="rId31"/>
    <p:sldId id="1515" r:id="rId32"/>
    <p:sldId id="1516" r:id="rId33"/>
    <p:sldId id="1517" r:id="rId34"/>
    <p:sldId id="1500" r:id="rId35"/>
    <p:sldId id="1503" r:id="rId36"/>
    <p:sldId id="1504" r:id="rId37"/>
    <p:sldId id="1505" r:id="rId38"/>
    <p:sldId id="1506" r:id="rId39"/>
    <p:sldId id="1507" r:id="rId40"/>
    <p:sldId id="1434" r:id="rId41"/>
    <p:sldId id="1471" r:id="rId42"/>
    <p:sldId id="1473" r:id="rId43"/>
    <p:sldId id="1474" r:id="rId44"/>
    <p:sldId id="1472" r:id="rId45"/>
    <p:sldId id="1501" r:id="rId46"/>
    <p:sldId id="1508" r:id="rId47"/>
    <p:sldId id="1509" r:id="rId48"/>
    <p:sldId id="1510" r:id="rId49"/>
    <p:sldId id="1511" r:id="rId50"/>
    <p:sldId id="1512" r:id="rId51"/>
    <p:sldId id="1513" r:id="rId52"/>
    <p:sldId id="1485" r:id="rId53"/>
    <p:sldId id="1486" r:id="rId54"/>
    <p:sldId id="1487" r:id="rId55"/>
    <p:sldId id="1489" r:id="rId56"/>
  </p:sldIdLst>
  <p:sldSz cx="12192000" cy="6858000"/>
  <p:notesSz cx="7302500" cy="9586595"/>
  <p:custDataLst>
    <p:tags r:id="rId6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89" userDrawn="1">
          <p15:clr>
            <a:srgbClr val="A4A3A4"/>
          </p15:clr>
        </p15:guide>
        <p15:guide id="2" pos="52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  <a:srgbClr val="ACACEA"/>
    <a:srgbClr val="F1C7C7"/>
    <a:srgbClr val="DEDFF5"/>
    <a:srgbClr val="D5F1CF"/>
    <a:srgbClr val="EBEBEB"/>
    <a:srgbClr val="F6D2D2"/>
    <a:srgbClr val="F5F5F5"/>
    <a:srgbClr val="FFFFFF"/>
    <a:srgbClr val="DBF2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19" autoAdjust="0"/>
    <p:restoredTop sz="91602" autoAdjust="0"/>
  </p:normalViewPr>
  <p:slideViewPr>
    <p:cSldViewPr snapToObjects="1" showGuides="1">
      <p:cViewPr varScale="1">
        <p:scale>
          <a:sx n="111" d="100"/>
          <a:sy n="111" d="100"/>
        </p:scale>
        <p:origin x="414" y="114"/>
      </p:cViewPr>
      <p:guideLst>
        <p:guide orient="horz" pos="1289"/>
        <p:guide pos="523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8640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1" Type="http://schemas.openxmlformats.org/officeDocument/2006/relationships/tags" Target="tags/tag9.xml"/><Relationship Id="rId60" Type="http://schemas.openxmlformats.org/officeDocument/2006/relationships/tableStyles" Target="tableStyles.xml"/><Relationship Id="rId6" Type="http://schemas.openxmlformats.org/officeDocument/2006/relationships/slide" Target="slides/slide3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handoutMaster" Target="handoutMasters/handoutMaster1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30550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t" anchorCtr="0" compatLnSpc="1"/>
          <a:lstStyle>
            <a:lvl1pPr defTabSz="9652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/>
              <a:t>DAC 2001 Tutorial</a:t>
            </a:r>
            <a:endParaRPr lang="en-US"/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71950" y="0"/>
            <a:ext cx="3130550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t" anchorCtr="0" compatLnSpc="1"/>
          <a:lstStyle>
            <a:lvl1pPr algn="r" defTabSz="9652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b" anchorCtr="0" compatLnSpc="1"/>
          <a:lstStyle>
            <a:lvl1pPr defTabSz="965200">
              <a:defRPr sz="1200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/>
              <a:t>©R.A. Rutenbar, 2001</a:t>
            </a:r>
            <a:endParaRPr lang="en-US"/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7195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b" anchorCtr="0" compatLnSpc="1"/>
          <a:lstStyle>
            <a:lvl1pPr algn="r" defTabSz="9652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6400" y="685800"/>
            <a:ext cx="65024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Shape 1489"/>
          <p:cNvSpPr txBox="1"/>
          <p:nvPr/>
        </p:nvSpPr>
        <p:spPr>
          <a:xfrm>
            <a:off x="1264660" y="726233"/>
            <a:ext cx="4774840" cy="358197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4900" tIns="47450" rIns="94900" bIns="47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490" name="Shape 1490"/>
          <p:cNvSpPr txBox="1">
            <a:spLocks noGrp="1"/>
          </p:cNvSpPr>
          <p:nvPr>
            <p:ph type="body" idx="1"/>
          </p:nvPr>
        </p:nvSpPr>
        <p:spPr>
          <a:xfrm>
            <a:off x="972560" y="4554112"/>
            <a:ext cx="5357380" cy="4316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91" name="Shape 1491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7475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7680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757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ext Box 1"/>
          <p:cNvSpPr txBox="1">
            <a:spLocks noChangeArrowheads="1"/>
          </p:cNvSpPr>
          <p:nvPr/>
        </p:nvSpPr>
        <p:spPr bwMode="auto"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7782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4101"/>
            <a:ext cx="5356434" cy="431633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4505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r>
              <a:rPr lang="en-US" dirty="0"/>
              <a:t>Reference bit – used in LRU</a:t>
            </a:r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4505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614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6656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6758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6758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6861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For each of the three standard I/O versions, the user CPU time is larger than the</a:t>
            </a:r>
            <a:endParaRPr lang="en-US"/>
          </a:p>
          <a:p>
            <a:r>
              <a:rPr lang="en-US"/>
              <a:t>best read version from Figure 3.6, because the character-at-a-time standard I/O</a:t>
            </a:r>
            <a:endParaRPr lang="en-US"/>
          </a:p>
          <a:p>
            <a:r>
              <a:rPr lang="en-US"/>
              <a:t>versions have a loop that is executed 100 million times, and the loop in the line-at-at ime version is executed 3,144,984 times. In the read version, its loop is executed only 25,224 times (for a buffer size of 4,096). This difference in clock times stems from the difference in user times and the difference in the times spent waiting for I/O to complete, as the system times are comparable.</a:t>
            </a:r>
            <a:endParaRPr lang="en-US"/>
          </a:p>
          <a:p>
            <a:endParaRPr lang="en-US"/>
          </a:p>
          <a:p>
            <a:r>
              <a:rPr lang="en-US"/>
              <a:t>The system CPU time is about the same as before, because roughly the same</a:t>
            </a:r>
            <a:endParaRPr lang="en-US"/>
          </a:p>
          <a:p>
            <a:r>
              <a:rPr lang="en-US"/>
              <a:t>number of kernel requests are being made. One advantage of using the standard I/O</a:t>
            </a:r>
            <a:endParaRPr lang="en-US"/>
          </a:p>
          <a:p>
            <a:r>
              <a:rPr lang="en-US"/>
              <a:t>routines is that we don’t have to worry about buffering or choosing the optimal I/O</a:t>
            </a:r>
            <a:endParaRPr lang="en-US"/>
          </a:p>
          <a:p>
            <a:r>
              <a:rPr lang="en-US"/>
              <a:t>size. We do have to determine the maximum line size for the version that uses fgets,</a:t>
            </a:r>
            <a:endParaRPr lang="en-US"/>
          </a:p>
          <a:p>
            <a:r>
              <a:rPr lang="en-US"/>
              <a:t>but that’s easier than trying to choose the optimal I/O size.</a:t>
            </a:r>
            <a:endParaRPr lang="en-US"/>
          </a:p>
          <a:p>
            <a:endParaRPr lang="en-US"/>
          </a:p>
          <a:p>
            <a:r>
              <a:rPr lang="en-US"/>
              <a:t>The last point of interest with these timing numbers is that the fgetc version is so</a:t>
            </a:r>
            <a:endParaRPr lang="en-US"/>
          </a:p>
          <a:p>
            <a:r>
              <a:rPr lang="en-US"/>
              <a:t>much faster than the BUFFSIZE=1 version from Figure 3.6. Both involve the same</a:t>
            </a:r>
            <a:endParaRPr lang="en-US"/>
          </a:p>
          <a:p>
            <a:r>
              <a:rPr lang="en-US"/>
              <a:t>number of function calls—about 200 million—yet the fgetc version is more than 16</a:t>
            </a:r>
            <a:endParaRPr lang="en-US"/>
          </a:p>
          <a:p>
            <a:r>
              <a:rPr lang="en-US"/>
              <a:t>times faster in terms of user CPU time and almost 39 times faster in terms of clock time.</a:t>
            </a:r>
            <a:endParaRPr lang="en-US"/>
          </a:p>
          <a:p>
            <a:r>
              <a:rPr lang="en-US"/>
              <a:t>The difference is that the version using read executes 200 million function calls, which</a:t>
            </a:r>
            <a:endParaRPr lang="en-US"/>
          </a:p>
          <a:p>
            <a:r>
              <a:rPr lang="en-US"/>
              <a:t>in turn execute 200 million system calls.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08013"/>
            <a:ext cx="103632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10236656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025" y="435678"/>
            <a:ext cx="10122791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0901" y="1362075"/>
            <a:ext cx="5162551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651" y="1362075"/>
            <a:ext cx="5162549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017" y="445070"/>
            <a:ext cx="10121900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352" y="228601"/>
            <a:ext cx="2914649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9167" y="228601"/>
            <a:ext cx="8544984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168" y="228600"/>
            <a:ext cx="11662833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0901" y="1362075"/>
            <a:ext cx="5162551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216651" y="1362076"/>
            <a:ext cx="5162549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216651" y="3924301"/>
            <a:ext cx="5162549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168" y="228600"/>
            <a:ext cx="11662833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50901" y="1362075"/>
            <a:ext cx="5162551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651" y="1362075"/>
            <a:ext cx="5162549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8787" y="371182"/>
            <a:ext cx="10121900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9167" y="1362075"/>
            <a:ext cx="10528300" cy="4972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12192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 b="0">
              <a:latin typeface="Times New Roman" panose="02020603050405020304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0530418" y="-26987"/>
            <a:ext cx="1746249" cy="277813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</a:rPr>
              <a:t>Carnegie Mellon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1774458" y="6611780"/>
            <a:ext cx="33855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PGothic" pitchFamily="-96" charset="-128"/>
                <a:cs typeface="MS PGothic" pitchFamily="-96" charset="-128"/>
              </a:rPr>
            </a:fld>
            <a:endParaRPr lang="en-US" sz="2400" dirty="0">
              <a:latin typeface="+mj-lt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-21375" y="6629401"/>
            <a:ext cx="46458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2pPr>
      <a:lvl3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3pPr>
      <a:lvl4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4pPr>
      <a:lvl5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5pPr>
      <a:lvl6pPr marL="5765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6pPr>
      <a:lvl7pPr marL="10337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7pPr>
      <a:lvl8pPr marL="14909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8pPr>
      <a:lvl9pPr marL="19481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anose="05020102010507070707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2209800" y="1708150"/>
            <a:ext cx="7772400" cy="1720850"/>
          </a:xfrm>
        </p:spPr>
        <p:txBody>
          <a:bodyPr/>
          <a:lstStyle/>
          <a:p>
            <a:pPr marL="0" indent="0"/>
            <a:r>
              <a:rPr lang="zh-CN" altLang="en-US" dirty="0" smtClean="0"/>
              <a:t>虚拟内存：详解</a:t>
            </a:r>
            <a:br>
              <a:rPr lang="en-US" dirty="0"/>
            </a:br>
            <a:br>
              <a:rPr lang="en-US" dirty="0"/>
            </a:br>
            <a:r>
              <a:rPr lang="en-US" sz="2000" b="0" dirty="0"/>
              <a:t>15-213/15-503/14-513: Introduction to Computer Systems </a:t>
            </a:r>
            <a:br>
              <a:rPr lang="en-US" sz="2000" b="0" dirty="0"/>
            </a:br>
            <a:r>
              <a:rPr lang="en-GB" sz="2000" b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n-GB" sz="2000" b="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2000" b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Lecture, Oct 2, 2025</a:t>
            </a:r>
            <a:endParaRPr lang="en-US" sz="2000" b="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复</a:t>
            </a:r>
            <a:r>
              <a:rPr lang="zh-CN" altLang="en-US" dirty="0" smtClean="0"/>
              <a:t>习</a:t>
            </a:r>
            <a:endParaRPr lang="en-US" altLang="zh-CN" dirty="0"/>
          </a:p>
          <a:p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缺页故障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概念小测验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虚拟内存系统举例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CSAPP 9.6.4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的“简单内存系统”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Intel Core i7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虚拟内存实现的奇妙功能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分页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交换（磁盘为额外的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</a:rPr>
              <a:t>RAM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）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内存映射的文件（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</a:rPr>
              <a:t>RAM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是磁盘的缓存）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写时复制共享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复习：虚拟寻址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每个进程有其自己的虚拟地址空间</a:t>
            </a:r>
            <a:endParaRPr lang="en-US" i="1" dirty="0"/>
          </a:p>
          <a:p>
            <a:r>
              <a:rPr lang="zh-CN" altLang="en-US" i="1" dirty="0"/>
              <a:t>页</a:t>
            </a:r>
            <a:r>
              <a:rPr lang="zh-CN" altLang="en-US" i="1" dirty="0" smtClean="0"/>
              <a:t>表</a:t>
            </a:r>
            <a:r>
              <a:rPr lang="zh-CN" altLang="en-US" dirty="0" smtClean="0"/>
              <a:t>把虚拟地址映射到物理地址</a:t>
            </a:r>
            <a:endParaRPr lang="en-US" dirty="0"/>
          </a:p>
          <a:p>
            <a:r>
              <a:rPr lang="zh-CN" altLang="en-US" dirty="0" smtClean="0"/>
              <a:t>物理内存可以在进程间共享</a:t>
            </a:r>
            <a:endParaRPr lang="en-US" dirty="0"/>
          </a:p>
        </p:txBody>
      </p:sp>
      <p:sp>
        <p:nvSpPr>
          <p:cNvPr id="4" name="Shape 881"/>
          <p:cNvSpPr/>
          <p:nvPr/>
        </p:nvSpPr>
        <p:spPr>
          <a:xfrm>
            <a:off x="2405246" y="3146286"/>
            <a:ext cx="1480956" cy="1169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i="1" dirty="0" smtClean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进程</a:t>
            </a:r>
            <a:r>
              <a:rPr lang="en-US" altLang="zh-CN" sz="1800" i="1" dirty="0" smtClean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zh-CN" altLang="en-US" sz="1800" i="1" dirty="0" smtClean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的虚拟地址空间：</a:t>
            </a:r>
            <a:endParaRPr dirty="0"/>
          </a:p>
        </p:txBody>
      </p:sp>
      <p:sp>
        <p:nvSpPr>
          <p:cNvPr id="5" name="Shape 882"/>
          <p:cNvSpPr/>
          <p:nvPr/>
        </p:nvSpPr>
        <p:spPr>
          <a:xfrm>
            <a:off x="8255355" y="3120363"/>
            <a:ext cx="1574445" cy="1175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i="1" dirty="0" smtClean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物理地址空间（</a:t>
            </a:r>
            <a:r>
              <a:rPr lang="en-US" altLang="zh-CN" sz="1800" i="1" dirty="0" smtClean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DRAM</a:t>
            </a:r>
            <a:r>
              <a:rPr lang="zh-CN" altLang="en-US" sz="1800" i="1" dirty="0" smtClean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）</a:t>
            </a:r>
            <a:endParaRPr dirty="0"/>
          </a:p>
        </p:txBody>
      </p:sp>
      <p:sp>
        <p:nvSpPr>
          <p:cNvPr id="6" name="Shape 883"/>
          <p:cNvSpPr/>
          <p:nvPr/>
        </p:nvSpPr>
        <p:spPr>
          <a:xfrm>
            <a:off x="3883919" y="3070087"/>
            <a:ext cx="279400" cy="30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lang="en-GB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Shape 884"/>
          <p:cNvSpPr/>
          <p:nvPr/>
        </p:nvSpPr>
        <p:spPr>
          <a:xfrm>
            <a:off x="3716339" y="4369714"/>
            <a:ext cx="446981" cy="30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endParaRPr dirty="0"/>
          </a:p>
        </p:txBody>
      </p:sp>
      <p:sp>
        <p:nvSpPr>
          <p:cNvPr id="8" name="Shape 885"/>
          <p:cNvSpPr/>
          <p:nvPr/>
        </p:nvSpPr>
        <p:spPr>
          <a:xfrm>
            <a:off x="8153400" y="4634041"/>
            <a:ext cx="2184044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（如：只读库代码）</a:t>
            </a:r>
            <a:endParaRPr dirty="0"/>
          </a:p>
        </p:txBody>
      </p:sp>
      <p:sp>
        <p:nvSpPr>
          <p:cNvPr id="9" name="Shape 886"/>
          <p:cNvSpPr/>
          <p:nvPr/>
        </p:nvSpPr>
        <p:spPr>
          <a:xfrm>
            <a:off x="2286000" y="5127488"/>
            <a:ext cx="1600201" cy="1169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i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进</a:t>
            </a:r>
            <a:r>
              <a:rPr lang="zh-CN" altLang="en-US" sz="1800" i="1" dirty="0" smtClean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程</a:t>
            </a:r>
            <a:r>
              <a:rPr lang="en-US" altLang="zh-CN" sz="1800" i="1" dirty="0" smtClean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zh-CN" altLang="en-US" sz="1800" i="1" dirty="0" smtClean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的</a:t>
            </a:r>
            <a:r>
              <a:rPr lang="zh-CN" altLang="en-US" sz="1800" i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虚拟地址空间：</a:t>
            </a:r>
            <a:endParaRPr lang="zh-CN" altLang="en-US" sz="1800" dirty="0"/>
          </a:p>
        </p:txBody>
      </p:sp>
      <p:sp>
        <p:nvSpPr>
          <p:cNvPr id="10" name="Shape 887"/>
          <p:cNvSpPr/>
          <p:nvPr/>
        </p:nvSpPr>
        <p:spPr>
          <a:xfrm>
            <a:off x="4140556" y="3225396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Shape 888"/>
          <p:cNvSpPr/>
          <p:nvPr/>
        </p:nvSpPr>
        <p:spPr>
          <a:xfrm>
            <a:off x="4140556" y="3480983"/>
            <a:ext cx="914400" cy="255587"/>
          </a:xfrm>
          <a:prstGeom prst="rect">
            <a:avLst/>
          </a:prstGeom>
          <a:solidFill>
            <a:srgbClr val="ACACEA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VP 1</a:t>
            </a:r>
            <a:endParaRPr lang="en-GB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Shape 889"/>
          <p:cNvSpPr/>
          <p:nvPr/>
        </p:nvSpPr>
        <p:spPr>
          <a:xfrm>
            <a:off x="4140556" y="3733040"/>
            <a:ext cx="914400" cy="255587"/>
          </a:xfrm>
          <a:prstGeom prst="rect">
            <a:avLst/>
          </a:prstGeom>
          <a:solidFill>
            <a:srgbClr val="ACACEA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VP 2</a:t>
            </a:r>
            <a:endParaRPr lang="en-GB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Shape 890"/>
          <p:cNvSpPr/>
          <p:nvPr/>
        </p:nvSpPr>
        <p:spPr>
          <a:xfrm>
            <a:off x="4140556" y="4242983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Shape 891"/>
          <p:cNvSpPr txBox="1"/>
          <p:nvPr/>
        </p:nvSpPr>
        <p:spPr>
          <a:xfrm>
            <a:off x="4362718" y="3861958"/>
            <a:ext cx="427745" cy="4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lang="en-GB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lang="en-GB">
              <a:solidFill>
                <a:srgbClr val="00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Shape 892"/>
          <p:cNvSpPr/>
          <p:nvPr/>
        </p:nvSpPr>
        <p:spPr>
          <a:xfrm>
            <a:off x="3883919" y="5051287"/>
            <a:ext cx="279400" cy="30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lang="en-GB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Shape 893"/>
          <p:cNvSpPr/>
          <p:nvPr/>
        </p:nvSpPr>
        <p:spPr>
          <a:xfrm>
            <a:off x="3716339" y="6350914"/>
            <a:ext cx="446981" cy="30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endParaRPr lang="en-GB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Shape 894"/>
          <p:cNvSpPr/>
          <p:nvPr/>
        </p:nvSpPr>
        <p:spPr>
          <a:xfrm>
            <a:off x="4140556" y="5202797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Shape 895"/>
          <p:cNvSpPr/>
          <p:nvPr/>
        </p:nvSpPr>
        <p:spPr>
          <a:xfrm>
            <a:off x="4140556" y="5458384"/>
            <a:ext cx="914400" cy="255587"/>
          </a:xfrm>
          <a:prstGeom prst="rect">
            <a:avLst/>
          </a:prstGeom>
          <a:solidFill>
            <a:srgbClr val="ACACEA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VP 1</a:t>
            </a:r>
            <a:endParaRPr lang="en-GB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Shape 896"/>
          <p:cNvSpPr/>
          <p:nvPr/>
        </p:nvSpPr>
        <p:spPr>
          <a:xfrm>
            <a:off x="4140556" y="5710441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  <p:sp>
        <p:nvSpPr>
          <p:cNvPr id="20" name="Shape 897"/>
          <p:cNvSpPr/>
          <p:nvPr/>
        </p:nvSpPr>
        <p:spPr>
          <a:xfrm>
            <a:off x="4140556" y="6220384"/>
            <a:ext cx="914400" cy="255587"/>
          </a:xfrm>
          <a:prstGeom prst="rect">
            <a:avLst/>
          </a:prstGeom>
          <a:solidFill>
            <a:srgbClr val="ACACEA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VP k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Shape 898"/>
          <p:cNvSpPr txBox="1"/>
          <p:nvPr/>
        </p:nvSpPr>
        <p:spPr>
          <a:xfrm>
            <a:off x="4362718" y="5839359"/>
            <a:ext cx="427745" cy="4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lang="en-GB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lang="en-GB">
              <a:solidFill>
                <a:srgbClr val="00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hape 899"/>
          <p:cNvSpPr/>
          <p:nvPr/>
        </p:nvSpPr>
        <p:spPr>
          <a:xfrm>
            <a:off x="7239000" y="3222487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Shape 900"/>
          <p:cNvSpPr/>
          <p:nvPr/>
        </p:nvSpPr>
        <p:spPr>
          <a:xfrm>
            <a:off x="7239000" y="3478074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Shape 901"/>
          <p:cNvSpPr/>
          <p:nvPr/>
        </p:nvSpPr>
        <p:spPr>
          <a:xfrm>
            <a:off x="7239000" y="3736570"/>
            <a:ext cx="914400" cy="255587"/>
          </a:xfrm>
          <a:prstGeom prst="rect">
            <a:avLst/>
          </a:prstGeom>
          <a:solidFill>
            <a:srgbClr val="ACACEA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PP 2</a:t>
            </a:r>
            <a:endParaRPr lang="en-GB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Shape 902"/>
          <p:cNvSpPr/>
          <p:nvPr/>
        </p:nvSpPr>
        <p:spPr>
          <a:xfrm>
            <a:off x="7239000" y="3989695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Shape 903"/>
          <p:cNvSpPr/>
          <p:nvPr/>
        </p:nvSpPr>
        <p:spPr>
          <a:xfrm>
            <a:off x="7239000" y="4245282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Shape 904"/>
          <p:cNvSpPr/>
          <p:nvPr/>
        </p:nvSpPr>
        <p:spPr>
          <a:xfrm>
            <a:off x="7239000" y="4503778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Shape 905"/>
          <p:cNvSpPr/>
          <p:nvPr/>
        </p:nvSpPr>
        <p:spPr>
          <a:xfrm>
            <a:off x="7239000" y="4759365"/>
            <a:ext cx="914400" cy="255587"/>
          </a:xfrm>
          <a:prstGeom prst="rect">
            <a:avLst/>
          </a:prstGeom>
          <a:solidFill>
            <a:srgbClr val="ACACEA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PP 6</a:t>
            </a:r>
            <a:endParaRPr lang="en-GB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Shape 906"/>
          <p:cNvSpPr/>
          <p:nvPr/>
        </p:nvSpPr>
        <p:spPr>
          <a:xfrm>
            <a:off x="7239000" y="5018929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Shape 907"/>
          <p:cNvSpPr/>
          <p:nvPr/>
        </p:nvSpPr>
        <p:spPr>
          <a:xfrm>
            <a:off x="7239000" y="5274516"/>
            <a:ext cx="914400" cy="255587"/>
          </a:xfrm>
          <a:prstGeom prst="rect">
            <a:avLst/>
          </a:prstGeom>
          <a:solidFill>
            <a:srgbClr val="ACACEA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PP 8</a:t>
            </a:r>
            <a:endParaRPr lang="en-GB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Shape 908"/>
          <p:cNvSpPr/>
          <p:nvPr/>
        </p:nvSpPr>
        <p:spPr>
          <a:xfrm>
            <a:off x="7239000" y="5533012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Shape 909"/>
          <p:cNvSpPr/>
          <p:nvPr/>
        </p:nvSpPr>
        <p:spPr>
          <a:xfrm>
            <a:off x="7239000" y="6194287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Shape 910"/>
          <p:cNvSpPr txBox="1"/>
          <p:nvPr/>
        </p:nvSpPr>
        <p:spPr>
          <a:xfrm>
            <a:off x="7484178" y="5742270"/>
            <a:ext cx="427745" cy="4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lang="en-GB">
                <a:solidFill>
                  <a:srgbClr val="003300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lang="en-GB">
              <a:solidFill>
                <a:srgbClr val="00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Shape 911"/>
          <p:cNvSpPr/>
          <p:nvPr/>
        </p:nvSpPr>
        <p:spPr>
          <a:xfrm>
            <a:off x="6998234" y="3070087"/>
            <a:ext cx="279400" cy="30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lang="en-GB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Shape 912"/>
          <p:cNvSpPr/>
          <p:nvPr/>
        </p:nvSpPr>
        <p:spPr>
          <a:xfrm>
            <a:off x="6785581" y="6344475"/>
            <a:ext cx="485453" cy="30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M-1</a:t>
            </a:r>
            <a:endParaRPr lang="en-GB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Shape 913"/>
          <p:cNvCxnSpPr>
            <a:stCxn id="11" idx="3"/>
            <a:endCxn id="24" idx="1"/>
          </p:cNvCxnSpPr>
          <p:nvPr/>
        </p:nvCxnSpPr>
        <p:spPr>
          <a:xfrm>
            <a:off x="5054956" y="3608776"/>
            <a:ext cx="2184000" cy="2556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7" name="Shape 914"/>
          <p:cNvCxnSpPr>
            <a:stCxn id="12" idx="3"/>
            <a:endCxn id="28" idx="1"/>
          </p:cNvCxnSpPr>
          <p:nvPr/>
        </p:nvCxnSpPr>
        <p:spPr>
          <a:xfrm>
            <a:off x="5054956" y="3860833"/>
            <a:ext cx="2184000" cy="10263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8" name="Shape 915"/>
          <p:cNvCxnSpPr>
            <a:stCxn id="20" idx="3"/>
            <a:endCxn id="28" idx="1"/>
          </p:cNvCxnSpPr>
          <p:nvPr/>
        </p:nvCxnSpPr>
        <p:spPr>
          <a:xfrm flipV="1">
            <a:off x="5054956" y="4887159"/>
            <a:ext cx="2184044" cy="1461019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9" name="Shape 916"/>
          <p:cNvCxnSpPr>
            <a:stCxn id="18" idx="3"/>
            <a:endCxn id="30" idx="1"/>
          </p:cNvCxnSpPr>
          <p:nvPr/>
        </p:nvCxnSpPr>
        <p:spPr>
          <a:xfrm rot="10800000" flipH="1">
            <a:off x="5054956" y="5402276"/>
            <a:ext cx="2184000" cy="1839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0" name="Shape 917"/>
          <p:cNvSpPr/>
          <p:nvPr/>
        </p:nvSpPr>
        <p:spPr>
          <a:xfrm>
            <a:off x="5435530" y="2971800"/>
            <a:ext cx="1350050" cy="472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2000" i="1" dirty="0" smtClean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地址转换</a:t>
            </a:r>
            <a:endParaRPr sz="2000" dirty="0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复习：无虚存的内存访问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 bwMode="auto">
          <a:xfrm>
            <a:off x="1896750" y="1489290"/>
            <a:ext cx="2583854" cy="762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 smtClean="0">
                <a:latin typeface="+mn-lt"/>
              </a:rPr>
              <a:t>CPU</a:t>
            </a:r>
            <a:r>
              <a:rPr lang="zh-CN" altLang="en-US" sz="1600" dirty="0" smtClean="0">
                <a:latin typeface="+mn-lt"/>
              </a:rPr>
              <a:t>把物理地址发送</a:t>
            </a:r>
            <a:r>
              <a:rPr lang="zh-CN" altLang="en-US" sz="1600" dirty="0" smtClean="0"/>
              <a:t>给</a:t>
            </a:r>
            <a:r>
              <a:rPr lang="en-US" altLang="zh-CN" sz="1600" dirty="0"/>
              <a:t>cache</a:t>
            </a:r>
            <a:endParaRPr lang="en-US" sz="1600" dirty="0">
              <a:latin typeface="+mn-lt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2312377" y="5638800"/>
            <a:ext cx="1752600" cy="902723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 smtClean="0">
                <a:latin typeface="+mn-lt"/>
              </a:rPr>
              <a:t>Cache</a:t>
            </a:r>
            <a:r>
              <a:rPr lang="zh-CN" altLang="en-US" sz="1600" dirty="0" smtClean="0">
                <a:latin typeface="+mn-lt"/>
              </a:rPr>
              <a:t>把数据发送给</a:t>
            </a:r>
            <a:r>
              <a:rPr lang="en-US" altLang="zh-CN" sz="1600" dirty="0" smtClean="0">
                <a:latin typeface="+mn-lt"/>
              </a:rPr>
              <a:t>CPU</a:t>
            </a:r>
            <a:endParaRPr lang="en-US" sz="1600" dirty="0">
              <a:latin typeface="+mn-lt"/>
            </a:endParaRPr>
          </a:p>
        </p:txBody>
      </p:sp>
      <p:cxnSp>
        <p:nvCxnSpPr>
          <p:cNvPr id="16" name="Straight Arrow Connector 15"/>
          <p:cNvCxnSpPr>
            <a:stCxn id="4" idx="4"/>
            <a:endCxn id="14" idx="0"/>
          </p:cNvCxnSpPr>
          <p:nvPr/>
        </p:nvCxnSpPr>
        <p:spPr bwMode="auto">
          <a:xfrm>
            <a:off x="3188677" y="2251290"/>
            <a:ext cx="0" cy="338751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复习：有虚存的内存访问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 bwMode="auto">
          <a:xfrm>
            <a:off x="2007577" y="1498585"/>
            <a:ext cx="2362200" cy="762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 smtClean="0">
                <a:latin typeface="+mn-lt"/>
              </a:rPr>
              <a:t>CPU </a:t>
            </a:r>
            <a:r>
              <a:rPr lang="zh-CN" altLang="en-US" sz="1600" dirty="0" smtClean="0">
                <a:latin typeface="+mn-lt"/>
              </a:rPr>
              <a:t>把虚拟地址发送给 </a:t>
            </a:r>
            <a:r>
              <a:rPr lang="en-US" sz="1600" dirty="0" smtClean="0">
                <a:latin typeface="+mn-lt"/>
              </a:rPr>
              <a:t>MMU</a:t>
            </a:r>
            <a:endParaRPr lang="en-US" sz="1600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255227" y="2568819"/>
            <a:ext cx="1866900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MMU </a:t>
            </a:r>
            <a:r>
              <a:rPr lang="zh-CN" altLang="en-US" sz="1600" dirty="0" smtClean="0">
                <a:latin typeface="+mn-lt"/>
              </a:rPr>
              <a:t>在页表中查找物理地址</a:t>
            </a:r>
            <a:endParaRPr lang="en-US" sz="1600" dirty="0">
              <a:latin typeface="+mn-lt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045677" y="4267200"/>
            <a:ext cx="2286000" cy="838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MMU </a:t>
            </a:r>
            <a:r>
              <a:rPr lang="zh-CN" altLang="en-US" sz="1600" dirty="0" smtClean="0">
                <a:latin typeface="+mn-lt"/>
              </a:rPr>
              <a:t>把物理地址发送给</a:t>
            </a:r>
            <a:r>
              <a:rPr lang="en-US" sz="1600" dirty="0" smtClean="0">
                <a:latin typeface="+mn-lt"/>
              </a:rPr>
              <a:t> </a:t>
            </a:r>
            <a:r>
              <a:rPr lang="en-US" sz="1600" dirty="0">
                <a:latin typeface="+mn-lt"/>
              </a:rPr>
              <a:t>cache</a:t>
            </a:r>
            <a:endParaRPr lang="en-US" sz="1600" dirty="0">
              <a:latin typeface="+mn-lt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2312377" y="5715000"/>
            <a:ext cx="1752600" cy="826523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Cache </a:t>
            </a:r>
            <a:r>
              <a:rPr lang="zh-CN" altLang="en-US" sz="1600" dirty="0" smtClean="0">
                <a:latin typeface="+mn-lt"/>
              </a:rPr>
              <a:t>把数据发送给</a:t>
            </a:r>
            <a:r>
              <a:rPr lang="en-US" sz="1600" dirty="0" smtClean="0">
                <a:latin typeface="+mn-lt"/>
              </a:rPr>
              <a:t>CPU</a:t>
            </a:r>
            <a:endParaRPr lang="en-US" sz="1600" dirty="0">
              <a:latin typeface="+mn-lt"/>
            </a:endParaRPr>
          </a:p>
        </p:txBody>
      </p:sp>
      <p:cxnSp>
        <p:nvCxnSpPr>
          <p:cNvPr id="16" name="Straight Arrow Connector 15"/>
          <p:cNvCxnSpPr>
            <a:stCxn id="4" idx="4"/>
            <a:endCxn id="5" idx="0"/>
          </p:cNvCxnSpPr>
          <p:nvPr/>
        </p:nvCxnSpPr>
        <p:spPr bwMode="auto">
          <a:xfrm>
            <a:off x="3188677" y="2260585"/>
            <a:ext cx="0" cy="308234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/>
          <p:cNvCxnSpPr>
            <a:stCxn id="5" idx="2"/>
            <a:endCxn id="13" idx="0"/>
          </p:cNvCxnSpPr>
          <p:nvPr/>
        </p:nvCxnSpPr>
        <p:spPr bwMode="auto">
          <a:xfrm>
            <a:off x="3188677" y="3330819"/>
            <a:ext cx="0" cy="936381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Straight Arrow Connector 21"/>
          <p:cNvCxnSpPr>
            <a:stCxn id="13" idx="2"/>
            <a:endCxn id="14" idx="0"/>
          </p:cNvCxnSpPr>
          <p:nvPr/>
        </p:nvCxnSpPr>
        <p:spPr bwMode="auto">
          <a:xfrm>
            <a:off x="3188677" y="5105400"/>
            <a:ext cx="0" cy="60960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复习：有虚存的内存访问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 bwMode="auto">
          <a:xfrm>
            <a:off x="2007577" y="1295400"/>
            <a:ext cx="2362200" cy="762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CPU </a:t>
            </a:r>
            <a:r>
              <a:rPr lang="zh-CN" altLang="en-US" sz="1600" dirty="0" smtClean="0">
                <a:latin typeface="+mn-lt"/>
              </a:rPr>
              <a:t>把虚拟地址发送给</a:t>
            </a:r>
            <a:r>
              <a:rPr lang="en-US" sz="1600" dirty="0" smtClean="0">
                <a:latin typeface="+mn-lt"/>
              </a:rPr>
              <a:t> </a:t>
            </a:r>
            <a:r>
              <a:rPr lang="en-US" sz="1600" dirty="0">
                <a:latin typeface="+mn-lt"/>
              </a:rPr>
              <a:t>MMU</a:t>
            </a:r>
            <a:endParaRPr lang="en-US" sz="1600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255227" y="2365634"/>
            <a:ext cx="1866900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MMU </a:t>
            </a:r>
            <a:r>
              <a:rPr lang="zh-CN" altLang="en-US" sz="1600" dirty="0" smtClean="0">
                <a:latin typeface="+mn-lt"/>
              </a:rPr>
              <a:t>在页表中查找物理地址</a:t>
            </a:r>
            <a:endParaRPr lang="en-US" sz="1600" dirty="0">
              <a:latin typeface="+mn-lt"/>
            </a:endParaRPr>
          </a:p>
        </p:txBody>
      </p:sp>
      <p:sp>
        <p:nvSpPr>
          <p:cNvPr id="6" name="Flowchart: Decision 5"/>
          <p:cNvSpPr/>
          <p:nvPr/>
        </p:nvSpPr>
        <p:spPr bwMode="auto">
          <a:xfrm>
            <a:off x="2185756" y="3435869"/>
            <a:ext cx="2005842" cy="838200"/>
          </a:xfrm>
          <a:prstGeom prst="flowChartDecision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zh-CN" altLang="en-US" sz="1600" dirty="0" smtClean="0">
                <a:latin typeface="+mn-lt"/>
              </a:rPr>
              <a:t>在内存</a:t>
            </a:r>
            <a:r>
              <a:rPr lang="en-US" sz="1600" dirty="0" smtClean="0">
                <a:latin typeface="+mn-lt"/>
              </a:rPr>
              <a:t>?</a:t>
            </a:r>
            <a:endParaRPr lang="en-US" sz="1600" dirty="0"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4991264" y="3509091"/>
            <a:ext cx="1371600" cy="685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MMU </a:t>
            </a:r>
            <a:r>
              <a:rPr lang="zh-CN" altLang="en-US" sz="1600" dirty="0" smtClean="0">
                <a:latin typeface="+mn-lt"/>
              </a:rPr>
              <a:t>触发缺页故障</a:t>
            </a:r>
            <a:endParaRPr lang="en-US" sz="1600" dirty="0"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7086600" y="3432891"/>
            <a:ext cx="2057400" cy="838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OS </a:t>
            </a:r>
            <a:r>
              <a:rPr lang="zh-CN" altLang="en-US" sz="1600" dirty="0" smtClean="0">
                <a:latin typeface="+mn-lt"/>
              </a:rPr>
              <a:t>接管并尝试</a:t>
            </a:r>
            <a:r>
              <a:rPr lang="zh-CN" altLang="en-US" sz="1600" dirty="0" smtClean="0">
                <a:latin typeface="+mn-lt"/>
              </a:rPr>
              <a:t>修复（稍后讨论）</a:t>
            </a:r>
            <a:endParaRPr lang="en-US" sz="1600" dirty="0">
              <a:latin typeface="+mn-lt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045677" y="4582304"/>
            <a:ext cx="2286000" cy="838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MMU </a:t>
            </a:r>
            <a:r>
              <a:rPr lang="zh-CN" altLang="en-US" sz="1600" dirty="0" smtClean="0">
                <a:latin typeface="+mn-lt"/>
              </a:rPr>
              <a:t>把物理地址发送给</a:t>
            </a:r>
            <a:r>
              <a:rPr lang="en-US" sz="1600" dirty="0" smtClean="0">
                <a:latin typeface="+mn-lt"/>
              </a:rPr>
              <a:t> </a:t>
            </a:r>
            <a:r>
              <a:rPr lang="en-US" sz="1600" dirty="0">
                <a:latin typeface="+mn-lt"/>
              </a:rPr>
              <a:t>cache</a:t>
            </a:r>
            <a:endParaRPr lang="en-US" sz="1600" dirty="0">
              <a:latin typeface="+mn-lt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2312377" y="5728738"/>
            <a:ext cx="1752600" cy="90066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Cache </a:t>
            </a:r>
            <a:r>
              <a:rPr lang="zh-CN" altLang="en-US" sz="1600" dirty="0" smtClean="0">
                <a:latin typeface="+mn-lt"/>
              </a:rPr>
              <a:t>把数据发送给 </a:t>
            </a:r>
            <a:r>
              <a:rPr lang="en-US" sz="1600" dirty="0" smtClean="0">
                <a:latin typeface="+mn-lt"/>
              </a:rPr>
              <a:t>CPU</a:t>
            </a:r>
            <a:endParaRPr lang="en-US" sz="1600" dirty="0">
              <a:latin typeface="+mn-lt"/>
            </a:endParaRPr>
          </a:p>
        </p:txBody>
      </p:sp>
      <p:cxnSp>
        <p:nvCxnSpPr>
          <p:cNvPr id="16" name="Straight Arrow Connector 15"/>
          <p:cNvCxnSpPr>
            <a:stCxn id="4" idx="4"/>
            <a:endCxn id="5" idx="0"/>
          </p:cNvCxnSpPr>
          <p:nvPr/>
        </p:nvCxnSpPr>
        <p:spPr bwMode="auto">
          <a:xfrm>
            <a:off x="3188677" y="2057400"/>
            <a:ext cx="0" cy="308234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/>
          <p:cNvCxnSpPr>
            <a:stCxn id="5" idx="2"/>
            <a:endCxn id="6" idx="0"/>
          </p:cNvCxnSpPr>
          <p:nvPr/>
        </p:nvCxnSpPr>
        <p:spPr bwMode="auto">
          <a:xfrm>
            <a:off x="3188677" y="3127635"/>
            <a:ext cx="0" cy="30823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/>
          <p:cNvCxnSpPr>
            <a:stCxn id="6" idx="2"/>
            <a:endCxn id="13" idx="0"/>
          </p:cNvCxnSpPr>
          <p:nvPr/>
        </p:nvCxnSpPr>
        <p:spPr bwMode="auto">
          <a:xfrm>
            <a:off x="3188677" y="4274070"/>
            <a:ext cx="0" cy="30823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Straight Arrow Connector 21"/>
          <p:cNvCxnSpPr>
            <a:stCxn id="13" idx="2"/>
            <a:endCxn id="14" idx="0"/>
          </p:cNvCxnSpPr>
          <p:nvPr/>
        </p:nvCxnSpPr>
        <p:spPr bwMode="auto">
          <a:xfrm>
            <a:off x="3188677" y="5420504"/>
            <a:ext cx="0" cy="308234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Straight Arrow Connector 23"/>
          <p:cNvCxnSpPr>
            <a:stCxn id="6" idx="3"/>
            <a:endCxn id="7" idx="1"/>
          </p:cNvCxnSpPr>
          <p:nvPr/>
        </p:nvCxnSpPr>
        <p:spPr bwMode="auto">
          <a:xfrm flipV="1">
            <a:off x="4191598" y="3851991"/>
            <a:ext cx="799666" cy="297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Straight Arrow Connector 25"/>
          <p:cNvCxnSpPr>
            <a:stCxn id="7" idx="3"/>
            <a:endCxn id="10" idx="1"/>
          </p:cNvCxnSpPr>
          <p:nvPr/>
        </p:nvCxnSpPr>
        <p:spPr bwMode="auto">
          <a:xfrm>
            <a:off x="6362864" y="3851991"/>
            <a:ext cx="723736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4191963" y="3509092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Calibri" pitchFamily="34" charset="0"/>
              </a:rPr>
              <a:t>否</a:t>
            </a:r>
            <a:endParaRPr lang="en-US" sz="1400" dirty="0">
              <a:latin typeface="Calibri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188678" y="4217374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Calibri" pitchFamily="34" charset="0"/>
              </a:rPr>
              <a:t>是</a:t>
            </a:r>
            <a:endParaRPr lang="en-US" sz="1400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 bwMode="auto">
          <a:xfrm>
            <a:off x="2007577" y="1205462"/>
            <a:ext cx="2362200" cy="762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CPU </a:t>
            </a:r>
            <a:r>
              <a:rPr lang="zh-CN" altLang="en-US" sz="1600" dirty="0" smtClean="0">
                <a:latin typeface="+mn-lt"/>
              </a:rPr>
              <a:t>把虚拟地址发送给</a:t>
            </a:r>
            <a:r>
              <a:rPr lang="en-US" sz="1600" dirty="0" smtClean="0">
                <a:latin typeface="+mn-lt"/>
              </a:rPr>
              <a:t> </a:t>
            </a:r>
            <a:r>
              <a:rPr lang="en-US" sz="1600" dirty="0">
                <a:latin typeface="+mn-lt"/>
              </a:rPr>
              <a:t>MMU</a:t>
            </a:r>
            <a:endParaRPr lang="en-US" sz="1600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255227" y="2275696"/>
            <a:ext cx="1866900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MMU </a:t>
            </a:r>
            <a:r>
              <a:rPr lang="zh-CN" altLang="en-US" sz="1600" dirty="0" smtClean="0">
                <a:latin typeface="+mn-lt"/>
              </a:rPr>
              <a:t>在页表中查找物理地址</a:t>
            </a:r>
            <a:endParaRPr lang="en-US" sz="1600" dirty="0">
              <a:latin typeface="+mn-lt"/>
            </a:endParaRPr>
          </a:p>
        </p:txBody>
      </p:sp>
      <p:sp>
        <p:nvSpPr>
          <p:cNvPr id="6" name="Flowchart: Decision 5"/>
          <p:cNvSpPr/>
          <p:nvPr/>
        </p:nvSpPr>
        <p:spPr bwMode="auto">
          <a:xfrm>
            <a:off x="2185756" y="3345931"/>
            <a:ext cx="2005842" cy="838200"/>
          </a:xfrm>
          <a:prstGeom prst="flowChartDecision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zh-CN" altLang="en-US" sz="1600" dirty="0" smtClean="0">
                <a:latin typeface="+mn-lt"/>
              </a:rPr>
              <a:t>在内存？</a:t>
            </a:r>
            <a:endParaRPr lang="en-US" sz="1600" dirty="0"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4991264" y="3419153"/>
            <a:ext cx="1371600" cy="685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MMU </a:t>
            </a:r>
            <a:r>
              <a:rPr lang="zh-CN" altLang="en-US" sz="1600" dirty="0" smtClean="0">
                <a:latin typeface="+mn-lt"/>
              </a:rPr>
              <a:t>触发缺页故障</a:t>
            </a:r>
            <a:endParaRPr lang="en-US" sz="1600" dirty="0">
              <a:latin typeface="+mn-lt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7086600" y="4892414"/>
            <a:ext cx="2209800" cy="10668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OS </a:t>
            </a:r>
            <a:r>
              <a:rPr lang="zh-CN" altLang="en-US" sz="1600" dirty="0" smtClean="0">
                <a:latin typeface="+mn-lt"/>
              </a:rPr>
              <a:t>中止</a:t>
            </a:r>
            <a:endParaRPr lang="en-US" altLang="zh-CN" sz="1600" dirty="0" smtClean="0">
              <a:latin typeface="+mn-lt"/>
            </a:endParaRPr>
          </a:p>
          <a:p>
            <a:pPr algn="ctr"/>
            <a:r>
              <a:rPr lang="zh-CN" altLang="en-US" sz="1600" dirty="0" smtClean="0">
                <a:latin typeface="+mn-lt"/>
              </a:rPr>
              <a:t>故障进程</a:t>
            </a:r>
            <a:endParaRPr lang="en-US" sz="1600" dirty="0"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7086600" y="3342953"/>
            <a:ext cx="2209800" cy="838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OS </a:t>
            </a:r>
            <a:r>
              <a:rPr lang="zh-CN" altLang="en-US" sz="1600" dirty="0" smtClean="0">
                <a:latin typeface="+mn-lt"/>
              </a:rPr>
              <a:t>接管并尝试修复</a:t>
            </a:r>
            <a:endParaRPr lang="en-US" sz="1600" dirty="0">
              <a:latin typeface="+mn-lt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045677" y="4492366"/>
            <a:ext cx="2286000" cy="838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MMU </a:t>
            </a:r>
            <a:r>
              <a:rPr lang="zh-CN" altLang="en-US" sz="1600" dirty="0" smtClean="0">
                <a:latin typeface="+mn-lt"/>
              </a:rPr>
              <a:t>把物理地址发送给</a:t>
            </a:r>
            <a:r>
              <a:rPr lang="en-US" sz="1600" dirty="0" smtClean="0">
                <a:latin typeface="+mn-lt"/>
              </a:rPr>
              <a:t> </a:t>
            </a:r>
            <a:r>
              <a:rPr lang="en-US" sz="1600" dirty="0">
                <a:latin typeface="+mn-lt"/>
              </a:rPr>
              <a:t>cache</a:t>
            </a:r>
            <a:endParaRPr lang="en-US" sz="1600" dirty="0">
              <a:latin typeface="+mn-lt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2312377" y="5638800"/>
            <a:ext cx="1752600" cy="8382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lt"/>
              </a:rPr>
              <a:t>Cache </a:t>
            </a:r>
            <a:r>
              <a:rPr lang="zh-CN" altLang="en-US" sz="1600" dirty="0" smtClean="0">
                <a:latin typeface="+mn-lt"/>
              </a:rPr>
              <a:t>把数据发送给</a:t>
            </a:r>
            <a:r>
              <a:rPr lang="en-US" sz="1600" dirty="0" smtClean="0">
                <a:latin typeface="+mn-lt"/>
              </a:rPr>
              <a:t> </a:t>
            </a:r>
            <a:r>
              <a:rPr lang="en-US" sz="1600" dirty="0">
                <a:latin typeface="+mn-lt"/>
              </a:rPr>
              <a:t>CPU</a:t>
            </a:r>
            <a:endParaRPr lang="en-US" sz="1600" dirty="0">
              <a:latin typeface="+mn-lt"/>
            </a:endParaRPr>
          </a:p>
        </p:txBody>
      </p:sp>
      <p:cxnSp>
        <p:nvCxnSpPr>
          <p:cNvPr id="16" name="Straight Arrow Connector 15"/>
          <p:cNvCxnSpPr>
            <a:stCxn id="4" idx="4"/>
            <a:endCxn id="5" idx="0"/>
          </p:cNvCxnSpPr>
          <p:nvPr/>
        </p:nvCxnSpPr>
        <p:spPr bwMode="auto">
          <a:xfrm>
            <a:off x="3188677" y="1967462"/>
            <a:ext cx="0" cy="308234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/>
          <p:cNvCxnSpPr>
            <a:stCxn id="5" idx="2"/>
            <a:endCxn id="6" idx="0"/>
          </p:cNvCxnSpPr>
          <p:nvPr/>
        </p:nvCxnSpPr>
        <p:spPr bwMode="auto">
          <a:xfrm>
            <a:off x="3188677" y="3037697"/>
            <a:ext cx="0" cy="30823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/>
          <p:cNvCxnSpPr>
            <a:stCxn id="6" idx="2"/>
            <a:endCxn id="13" idx="0"/>
          </p:cNvCxnSpPr>
          <p:nvPr/>
        </p:nvCxnSpPr>
        <p:spPr bwMode="auto">
          <a:xfrm>
            <a:off x="3188677" y="4184132"/>
            <a:ext cx="0" cy="30823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Straight Arrow Connector 21"/>
          <p:cNvCxnSpPr>
            <a:stCxn id="13" idx="2"/>
            <a:endCxn id="14" idx="0"/>
          </p:cNvCxnSpPr>
          <p:nvPr/>
        </p:nvCxnSpPr>
        <p:spPr bwMode="auto">
          <a:xfrm>
            <a:off x="3188677" y="5330566"/>
            <a:ext cx="0" cy="308234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Straight Arrow Connector 23"/>
          <p:cNvCxnSpPr>
            <a:stCxn id="6" idx="3"/>
            <a:endCxn id="7" idx="1"/>
          </p:cNvCxnSpPr>
          <p:nvPr/>
        </p:nvCxnSpPr>
        <p:spPr bwMode="auto">
          <a:xfrm flipV="1">
            <a:off x="4191598" y="3762053"/>
            <a:ext cx="799666" cy="297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Straight Arrow Connector 25"/>
          <p:cNvCxnSpPr>
            <a:stCxn id="7" idx="3"/>
            <a:endCxn id="10" idx="1"/>
          </p:cNvCxnSpPr>
          <p:nvPr/>
        </p:nvCxnSpPr>
        <p:spPr bwMode="auto">
          <a:xfrm>
            <a:off x="6362864" y="3762053"/>
            <a:ext cx="723736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Straight Arrow Connector 27"/>
          <p:cNvCxnSpPr>
            <a:stCxn id="10" idx="2"/>
            <a:endCxn id="9" idx="0"/>
          </p:cNvCxnSpPr>
          <p:nvPr/>
        </p:nvCxnSpPr>
        <p:spPr bwMode="auto">
          <a:xfrm>
            <a:off x="8191500" y="4181154"/>
            <a:ext cx="0" cy="711261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Connector: Elbow 29"/>
          <p:cNvCxnSpPr>
            <a:stCxn id="10" idx="0"/>
            <a:endCxn id="5" idx="3"/>
          </p:cNvCxnSpPr>
          <p:nvPr/>
        </p:nvCxnSpPr>
        <p:spPr bwMode="auto">
          <a:xfrm rot="16200000" flipV="1">
            <a:off x="5813687" y="965139"/>
            <a:ext cx="686257" cy="4069373"/>
          </a:xfrm>
          <a:prstGeom prst="bentConnector2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4191963" y="3419154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Calibri" pitchFamily="34" charset="0"/>
              </a:rPr>
              <a:t>否</a:t>
            </a:r>
            <a:endParaRPr lang="en-US" sz="1400" dirty="0">
              <a:latin typeface="Calibri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188678" y="4127436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Calibri" pitchFamily="34" charset="0"/>
              </a:rPr>
              <a:t>是</a:t>
            </a:r>
            <a:endParaRPr lang="en-US" sz="1400" dirty="0">
              <a:latin typeface="Calibri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188569" y="4466258"/>
            <a:ext cx="1295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OS </a:t>
            </a:r>
            <a:r>
              <a:rPr lang="zh-CN" altLang="en-US" sz="1600" dirty="0" smtClean="0">
                <a:latin typeface="Calibri" pitchFamily="34" charset="0"/>
              </a:rPr>
              <a:t>没有修复</a:t>
            </a:r>
            <a:endParaRPr lang="en-US" sz="1600" dirty="0">
              <a:latin typeface="Calibri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42839" y="2326407"/>
            <a:ext cx="15107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OS </a:t>
            </a:r>
            <a:r>
              <a:rPr lang="zh-CN" altLang="en-US" sz="1600" dirty="0" smtClean="0">
                <a:latin typeface="Calibri" pitchFamily="34" charset="0"/>
              </a:rPr>
              <a:t>修复，告诉 </a:t>
            </a:r>
            <a:r>
              <a:rPr lang="en-US" sz="1600" dirty="0" smtClean="0">
                <a:latin typeface="Calibri" pitchFamily="34" charset="0"/>
              </a:rPr>
              <a:t>MMU </a:t>
            </a:r>
            <a:r>
              <a:rPr lang="zh-CN" altLang="en-US" sz="1600" dirty="0" smtClean="0">
                <a:latin typeface="Calibri" pitchFamily="34" charset="0"/>
              </a:rPr>
              <a:t>重试</a:t>
            </a:r>
            <a:endParaRPr lang="en-US" sz="1600" dirty="0">
              <a:latin typeface="Calibri" pitchFamily="34" charset="0"/>
            </a:endParaRPr>
          </a:p>
        </p:txBody>
      </p:sp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476025" y="435678"/>
            <a:ext cx="10122791" cy="762000"/>
          </a:xfrm>
        </p:spPr>
        <p:txBody>
          <a:bodyPr/>
          <a:lstStyle/>
          <a:p>
            <a:r>
              <a:rPr lang="zh-CN" altLang="en-US" dirty="0" smtClean="0"/>
              <a:t>复习：有虚存的内存访问</a:t>
            </a:r>
            <a:endParaRPr lang="en-US" dirty="0"/>
          </a:p>
        </p:txBody>
      </p:sp>
      <p:sp>
        <p:nvSpPr>
          <p:cNvPr id="2" name="Text Box 1"/>
          <p:cNvSpPr txBox="1"/>
          <p:nvPr/>
        </p:nvSpPr>
        <p:spPr>
          <a:xfrm>
            <a:off x="6355715" y="2091055"/>
            <a:ext cx="309880" cy="339090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endParaRPr lang="en-US" sz="1800" dirty="0" smtClean="0">
              <a:latin typeface="Calibri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638800" y="2259330"/>
            <a:ext cx="2525395" cy="3683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p>
            <a:r>
              <a:rPr lang="zh-CN" altLang="en-US" sz="1800" dirty="0" smtClean="0">
                <a:latin typeface="Calibri" pitchFamily="34" charset="0"/>
              </a:rPr>
              <a:t>虚拟内存</a:t>
            </a:r>
            <a:r>
              <a:rPr lang="en-US" altLang="zh-CN" sz="1800" dirty="0" smtClean="0">
                <a:latin typeface="Calibri" pitchFamily="34" charset="0"/>
              </a:rPr>
              <a:t>VMA</a:t>
            </a:r>
            <a:r>
              <a:rPr lang="zh-CN" altLang="en-US" sz="1800" dirty="0" smtClean="0">
                <a:latin typeface="Calibri" pitchFamily="34" charset="0"/>
              </a:rPr>
              <a:t>已经</a:t>
            </a:r>
            <a:r>
              <a:rPr lang="zh-CN" altLang="en-US" sz="1800" dirty="0" smtClean="0">
                <a:latin typeface="Calibri" pitchFamily="34" charset="0"/>
              </a:rPr>
              <a:t>分配</a:t>
            </a:r>
            <a:endParaRPr lang="zh-CN" altLang="en-US" sz="1800" dirty="0" smtClean="0">
              <a:latin typeface="Calibri" pitchFamily="3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9440545" y="3733800"/>
            <a:ext cx="2525395" cy="6858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noAutofit/>
          </a:bodyPr>
          <a:p>
            <a:r>
              <a:rPr lang="zh-CN" altLang="en-US" sz="1800" dirty="0" smtClean="0">
                <a:latin typeface="Calibri" pitchFamily="34" charset="0"/>
              </a:rPr>
              <a:t>虚拟内存</a:t>
            </a:r>
            <a:r>
              <a:rPr lang="en-US" altLang="zh-CN" sz="1800" dirty="0" smtClean="0">
                <a:latin typeface="Calibri" pitchFamily="34" charset="0"/>
              </a:rPr>
              <a:t>VMA</a:t>
            </a:r>
            <a:r>
              <a:rPr lang="zh-CN" altLang="en-US" sz="1800" dirty="0" smtClean="0">
                <a:latin typeface="Calibri" pitchFamily="34" charset="0"/>
              </a:rPr>
              <a:t>未分配</a:t>
            </a:r>
            <a:r>
              <a:rPr lang="en-US" altLang="zh-CN" sz="1800" dirty="0" smtClean="0">
                <a:latin typeface="Calibri" pitchFamily="34" charset="0"/>
              </a:rPr>
              <a:t>，</a:t>
            </a:r>
            <a:r>
              <a:rPr lang="zh-CN" altLang="en-US" sz="1800" dirty="0" smtClean="0">
                <a:latin typeface="Calibri" pitchFamily="34" charset="0"/>
              </a:rPr>
              <a:t>或是权限检查</a:t>
            </a:r>
            <a:r>
              <a:rPr lang="zh-CN" altLang="en-US" sz="1800" dirty="0" smtClean="0">
                <a:latin typeface="Calibri" pitchFamily="34" charset="0"/>
              </a:rPr>
              <a:t>不对</a:t>
            </a:r>
            <a:endParaRPr lang="zh-CN" altLang="en-US" sz="1800" dirty="0" smtClean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复习：存在的问题</a:t>
            </a:r>
            <a:endParaRPr lang="zh-CN" altLang="en-US"/>
          </a:p>
        </p:txBody>
      </p:sp>
      <p:pic>
        <p:nvPicPr>
          <p:cNvPr id="27" name="Shape 7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881762" y="1524000"/>
            <a:ext cx="2924708" cy="45212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2743200" y="3415268"/>
                <a:ext cx="91440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48</m:t>
                        </m:r>
                      </m:sup>
                    </m:sSup>
                  </m:oMath>
                </a14:m>
                <a:r>
                  <a:rPr lang="en-US" sz="1400" b="0" dirty="0">
                    <a:latin typeface="Calibri" pitchFamily="34" charset="0"/>
                  </a:rPr>
                  <a:t> </a:t>
                </a:r>
                <a:r>
                  <a:rPr lang="zh-CN" altLang="en-US" sz="1400" b="0" dirty="0" smtClean="0">
                    <a:latin typeface="Calibri" pitchFamily="34" charset="0"/>
                  </a:rPr>
                  <a:t>字节的地址空间</a:t>
                </a:r>
                <a:endParaRPr lang="en-US" sz="1400" b="0" dirty="0">
                  <a:latin typeface="Calibri" pitchFamily="34" charset="0"/>
                </a:endParaRP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3415268"/>
                <a:ext cx="914400" cy="738664"/>
              </a:xfrm>
              <a:prstGeom prst="rect">
                <a:avLst/>
              </a:prstGeom>
              <a:blipFill rotWithShape="1">
                <a:blip r:embed="rId2"/>
                <a:stretch>
                  <a:fillRect t="-32" b="5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>
            <a:stCxn id="28" idx="0"/>
          </p:cNvCxnSpPr>
          <p:nvPr/>
        </p:nvCxnSpPr>
        <p:spPr bwMode="auto">
          <a:xfrm flipV="1">
            <a:off x="3200400" y="1828800"/>
            <a:ext cx="0" cy="158646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8" idx="2"/>
          </p:cNvCxnSpPr>
          <p:nvPr/>
        </p:nvCxnSpPr>
        <p:spPr bwMode="auto">
          <a:xfrm>
            <a:off x="3200400" y="4153932"/>
            <a:ext cx="0" cy="133246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80" name="Group 79"/>
          <p:cNvGrpSpPr/>
          <p:nvPr/>
        </p:nvGrpSpPr>
        <p:grpSpPr>
          <a:xfrm>
            <a:off x="5486374" y="2690807"/>
            <a:ext cx="1752599" cy="2187589"/>
            <a:chOff x="3962373" y="2690806"/>
            <a:chExt cx="1752599" cy="2187589"/>
          </a:xfrm>
        </p:grpSpPr>
        <p:sp>
          <p:nvSpPr>
            <p:cNvPr id="33" name="Rectangle 32"/>
            <p:cNvSpPr/>
            <p:nvPr/>
          </p:nvSpPr>
          <p:spPr bwMode="auto">
            <a:xfrm>
              <a:off x="3962373" y="2690806"/>
              <a:ext cx="1752599" cy="762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34" name="Rectangle 33"/>
            <p:cNvSpPr/>
            <p:nvPr/>
          </p:nvSpPr>
          <p:spPr bwMode="auto">
            <a:xfrm>
              <a:off x="3962373" y="2778781"/>
              <a:ext cx="1752599" cy="76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35" name="Rectangle 34"/>
            <p:cNvSpPr/>
            <p:nvPr/>
          </p:nvSpPr>
          <p:spPr bwMode="auto">
            <a:xfrm>
              <a:off x="3962373" y="2866756"/>
              <a:ext cx="1752599" cy="76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36" name="Rectangle 35"/>
            <p:cNvSpPr/>
            <p:nvPr/>
          </p:nvSpPr>
          <p:spPr bwMode="auto">
            <a:xfrm>
              <a:off x="3962373" y="2954731"/>
              <a:ext cx="1752599" cy="76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3962373" y="3042706"/>
              <a:ext cx="1752599" cy="76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3962373" y="3130681"/>
              <a:ext cx="1752599" cy="76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39" name="Rectangle 38"/>
            <p:cNvSpPr/>
            <p:nvPr/>
          </p:nvSpPr>
          <p:spPr bwMode="auto">
            <a:xfrm>
              <a:off x="3962373" y="3218656"/>
              <a:ext cx="1752599" cy="76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40" name="Rectangle 39"/>
            <p:cNvSpPr/>
            <p:nvPr/>
          </p:nvSpPr>
          <p:spPr bwMode="auto">
            <a:xfrm>
              <a:off x="3962373" y="3306631"/>
              <a:ext cx="1752599" cy="76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41" name="Rectangle 40"/>
            <p:cNvSpPr/>
            <p:nvPr/>
          </p:nvSpPr>
          <p:spPr bwMode="auto">
            <a:xfrm>
              <a:off x="3962373" y="3394606"/>
              <a:ext cx="1752599" cy="76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42" name="Rectangle 41"/>
            <p:cNvSpPr/>
            <p:nvPr/>
          </p:nvSpPr>
          <p:spPr bwMode="auto">
            <a:xfrm>
              <a:off x="3962373" y="3482581"/>
              <a:ext cx="1752599" cy="76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43" name="Rectangle 42"/>
            <p:cNvSpPr/>
            <p:nvPr/>
          </p:nvSpPr>
          <p:spPr bwMode="auto">
            <a:xfrm>
              <a:off x="3962373" y="3570556"/>
              <a:ext cx="1752599" cy="76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44" name="Rectangle 43"/>
            <p:cNvSpPr/>
            <p:nvPr/>
          </p:nvSpPr>
          <p:spPr bwMode="auto">
            <a:xfrm>
              <a:off x="3962373" y="3658531"/>
              <a:ext cx="1752599" cy="76200"/>
            </a:xfrm>
            <a:prstGeom prst="rect">
              <a:avLst/>
            </a:prstGeom>
            <a:solidFill>
              <a:srgbClr val="92D05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45" name="Rectangle 44"/>
            <p:cNvSpPr/>
            <p:nvPr/>
          </p:nvSpPr>
          <p:spPr bwMode="auto">
            <a:xfrm>
              <a:off x="3962373" y="3746506"/>
              <a:ext cx="1752599" cy="76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46" name="Rectangle 45"/>
            <p:cNvSpPr/>
            <p:nvPr/>
          </p:nvSpPr>
          <p:spPr bwMode="auto">
            <a:xfrm>
              <a:off x="3962373" y="3834481"/>
              <a:ext cx="1752599" cy="76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47" name="Rectangle 46"/>
            <p:cNvSpPr/>
            <p:nvPr/>
          </p:nvSpPr>
          <p:spPr bwMode="auto">
            <a:xfrm>
              <a:off x="3962373" y="3922456"/>
              <a:ext cx="1752599" cy="76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48" name="Rectangle 47"/>
            <p:cNvSpPr/>
            <p:nvPr/>
          </p:nvSpPr>
          <p:spPr bwMode="auto">
            <a:xfrm>
              <a:off x="3962373" y="4010431"/>
              <a:ext cx="1752599" cy="76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49" name="Rectangle 48"/>
            <p:cNvSpPr/>
            <p:nvPr/>
          </p:nvSpPr>
          <p:spPr bwMode="auto">
            <a:xfrm>
              <a:off x="3962373" y="4098406"/>
              <a:ext cx="1752599" cy="76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50" name="Rectangle 49"/>
            <p:cNvSpPr/>
            <p:nvPr/>
          </p:nvSpPr>
          <p:spPr bwMode="auto">
            <a:xfrm>
              <a:off x="3962373" y="4186381"/>
              <a:ext cx="1752599" cy="76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51" name="Rectangle 50"/>
            <p:cNvSpPr/>
            <p:nvPr/>
          </p:nvSpPr>
          <p:spPr bwMode="auto">
            <a:xfrm>
              <a:off x="3962373" y="4274356"/>
              <a:ext cx="1752599" cy="76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52" name="Rectangle 51"/>
            <p:cNvSpPr/>
            <p:nvPr/>
          </p:nvSpPr>
          <p:spPr bwMode="auto">
            <a:xfrm>
              <a:off x="3962373" y="4362331"/>
              <a:ext cx="1752599" cy="76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53" name="Rectangle 52"/>
            <p:cNvSpPr/>
            <p:nvPr/>
          </p:nvSpPr>
          <p:spPr bwMode="auto">
            <a:xfrm>
              <a:off x="3962373" y="4450306"/>
              <a:ext cx="1752599" cy="76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54" name="Rectangle 53"/>
            <p:cNvSpPr/>
            <p:nvPr/>
          </p:nvSpPr>
          <p:spPr bwMode="auto">
            <a:xfrm>
              <a:off x="3962373" y="4538281"/>
              <a:ext cx="1752599" cy="76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55" name="Rectangle 54"/>
            <p:cNvSpPr/>
            <p:nvPr/>
          </p:nvSpPr>
          <p:spPr bwMode="auto">
            <a:xfrm>
              <a:off x="3962373" y="4626256"/>
              <a:ext cx="1752599" cy="76200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56" name="Rectangle 55"/>
            <p:cNvSpPr/>
            <p:nvPr/>
          </p:nvSpPr>
          <p:spPr bwMode="auto">
            <a:xfrm>
              <a:off x="3962373" y="4714231"/>
              <a:ext cx="1752599" cy="7620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57" name="Rectangle 56"/>
            <p:cNvSpPr/>
            <p:nvPr/>
          </p:nvSpPr>
          <p:spPr bwMode="auto">
            <a:xfrm>
              <a:off x="3962373" y="4802195"/>
              <a:ext cx="1752599" cy="76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</p:grpSp>
      <p:sp>
        <p:nvSpPr>
          <p:cNvPr id="63" name="Right Brace 62"/>
          <p:cNvSpPr/>
          <p:nvPr/>
        </p:nvSpPr>
        <p:spPr bwMode="auto">
          <a:xfrm>
            <a:off x="7315200" y="2690807"/>
            <a:ext cx="152400" cy="2187589"/>
          </a:xfrm>
          <a:prstGeom prst="rightBrace">
            <a:avLst>
              <a:gd name="adj1" fmla="val 8333"/>
              <a:gd name="adj2" fmla="val 51608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/>
              <p:cNvSpPr txBox="1"/>
              <p:nvPr/>
            </p:nvSpPr>
            <p:spPr>
              <a:xfrm>
                <a:off x="7543800" y="2863215"/>
                <a:ext cx="3823335" cy="1565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300"/>
                  </a:lnSpc>
                </a:pPr>
                <a:r>
                  <a:rPr lang="zh-CN" altLang="en-US" sz="1600" b="0" dirty="0" smtClean="0">
                    <a:latin typeface="Calibri" pitchFamily="34" charset="0"/>
                  </a:rPr>
                  <a:t>一个</a:t>
                </a:r>
                <a:r>
                  <a:rPr lang="en-US" altLang="zh-CN" sz="1600" b="0" dirty="0" smtClean="0">
                    <a:latin typeface="Calibri" pitchFamily="34" charset="0"/>
                  </a:rPr>
                  <a:t>64</a:t>
                </a:r>
                <a:r>
                  <a:rPr lang="zh-CN" altLang="en-US" sz="1600" b="0" dirty="0" smtClean="0">
                    <a:latin typeface="Calibri" pitchFamily="34" charset="0"/>
                  </a:rPr>
                  <a:t>位机器使用</a:t>
                </a:r>
                <a:r>
                  <a:rPr lang="en-US" altLang="zh-CN" sz="1600" b="0" dirty="0" smtClean="0">
                    <a:latin typeface="Calibri" pitchFamily="34" charset="0"/>
                  </a:rPr>
                  <a:t>48</a:t>
                </a:r>
                <a:r>
                  <a:rPr lang="zh-CN" altLang="en-US" sz="1600" b="0" dirty="0" smtClean="0">
                    <a:latin typeface="Calibri" pitchFamily="34" charset="0"/>
                  </a:rPr>
                  <a:t>为地址</a:t>
                </a:r>
                <a:r>
                  <a:rPr lang="en-US" altLang="zh-CN" sz="1600" b="0" dirty="0" smtClean="0">
                    <a:latin typeface="Calibri" pitchFamily="34" charset="0"/>
                  </a:rPr>
                  <a:t>，</a:t>
                </a:r>
                <a:br>
                  <a:rPr lang="en-US" sz="1600" b="0" dirty="0">
                    <a:latin typeface="Calibri" pitchFamily="34" charset="0"/>
                  </a:rPr>
                </a:br>
                <a:r>
                  <a:rPr lang="zh-CN" altLang="en-US" sz="1600" b="0" dirty="0">
                    <a:latin typeface="Calibri" pitchFamily="34" charset="0"/>
                  </a:rPr>
                  <a:t>假设页面大小</a:t>
                </a:r>
                <a:r>
                  <a:rPr lang="en-US" sz="1600" b="0" dirty="0" smtClean="0">
                    <a:latin typeface="Calibri" pitchFamily="34" charset="0"/>
                  </a:rPr>
                  <a:t>4096</a:t>
                </a:r>
                <a:r>
                  <a:rPr lang="zh-CN" altLang="en-US" sz="1600" b="0" dirty="0" smtClean="0">
                    <a:latin typeface="Calibri" pitchFamily="34" charset="0"/>
                  </a:rPr>
                  <a:t>字节</a:t>
                </a:r>
                <a:r>
                  <a:rPr lang="en-US" altLang="zh-CN" sz="1600" b="0" dirty="0" smtClean="0">
                    <a:latin typeface="Calibri" pitchFamily="34" charset="0"/>
                  </a:rPr>
                  <a:t>，</a:t>
                </a:r>
                <a:r>
                  <a:rPr lang="zh-CN" altLang="en-US" sz="1600" b="0" dirty="0" smtClean="0">
                    <a:latin typeface="Calibri" pitchFamily="34" charset="0"/>
                  </a:rPr>
                  <a:t>则页表大小</a:t>
                </a:r>
                <a:endParaRPr lang="en-US" altLang="zh-CN" sz="1600" b="0" dirty="0" smtClean="0">
                  <a:latin typeface="Calibri" pitchFamily="34" charset="0"/>
                </a:endParaRPr>
              </a:p>
              <a:p>
                <a:pPr>
                  <a:lnSpc>
                    <a:spcPts val="2300"/>
                  </a:lnSpc>
                </a:pPr>
                <a:r>
                  <a:rPr lang="en-US" sz="1600" b="0" dirty="0">
                    <a:latin typeface="Calibri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16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6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600" b="0" i="1">
                                <a:latin typeface="Cambria Math" panose="02040503050406030204" pitchFamily="18" charset="0"/>
                              </a:rPr>
                              <m:t>48</m:t>
                            </m:r>
                          </m:sup>
                        </m:sSup>
                      </m:num>
                      <m:den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4096</m:t>
                        </m:r>
                      </m:den>
                    </m:f>
                    <m:r>
                      <a:rPr lang="en-US" sz="1600" b="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600" b="0" i="1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1600" b="0" dirty="0">
                    <a:latin typeface="Calibri" pitchFamily="34" charset="0"/>
                  </a:rPr>
                  <a:t> </a:t>
                </a:r>
                <a:r>
                  <a:rPr lang="zh-CN" altLang="en-US" sz="1600" b="0" dirty="0" smtClean="0">
                    <a:latin typeface="Calibri" pitchFamily="34" charset="0"/>
                  </a:rPr>
                  <a:t>字节</a:t>
                </a:r>
                <a:br>
                  <a:rPr lang="en-US" sz="1600" b="0" dirty="0">
                    <a:latin typeface="Calibri" pitchFamily="34" charset="0"/>
                  </a:rPr>
                </a:br>
                <a:r>
                  <a:rPr lang="en-US" sz="1600" b="0" dirty="0">
                    <a:latin typeface="Calibri" pitchFamily="34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39</m:t>
                        </m:r>
                      </m:sup>
                    </m:sSup>
                  </m:oMath>
                </a14:m>
                <a:r>
                  <a:rPr lang="en-US" sz="1600" b="0" dirty="0">
                    <a:latin typeface="Calibri" pitchFamily="34" charset="0"/>
                  </a:rPr>
                  <a:t> </a:t>
                </a:r>
                <a:r>
                  <a:rPr lang="zh-CN" altLang="en-US" sz="1600" b="0" dirty="0" smtClean="0">
                    <a:latin typeface="Calibri" pitchFamily="34" charset="0"/>
                  </a:rPr>
                  <a:t>字节</a:t>
                </a:r>
                <a:r>
                  <a:rPr lang="en-US" sz="1600" b="0" dirty="0" smtClean="0">
                    <a:latin typeface="Calibri" pitchFamily="34" charset="0"/>
                  </a:rPr>
                  <a:t> </a:t>
                </a:r>
                <a:br>
                  <a:rPr lang="en-US" sz="1600" b="0" dirty="0">
                    <a:latin typeface="Calibri" pitchFamily="34" charset="0"/>
                  </a:rPr>
                </a:br>
                <a:r>
                  <a:rPr lang="en-US" sz="1600" b="0" dirty="0">
                    <a:latin typeface="Calibri" pitchFamily="34" charset="0"/>
                  </a:rPr>
                  <a:t>= 512 </a:t>
                </a:r>
                <a:r>
                  <a:rPr lang="en-US" sz="1600" b="0" dirty="0" smtClean="0">
                    <a:latin typeface="Calibri" pitchFamily="34" charset="0"/>
                  </a:rPr>
                  <a:t>GB</a:t>
                </a:r>
                <a:endParaRPr lang="en-US" sz="1600" b="0" dirty="0">
                  <a:latin typeface="Calibri" pitchFamily="34" charset="0"/>
                </a:endParaRPr>
              </a:p>
            </p:txBody>
          </p:sp>
        </mc:Choice>
        <mc:Fallback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800" y="2863215"/>
                <a:ext cx="3823335" cy="156591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Arrow Connector 72"/>
          <p:cNvCxnSpPr>
            <a:stCxn id="33" idx="1"/>
          </p:cNvCxnSpPr>
          <p:nvPr/>
        </p:nvCxnSpPr>
        <p:spPr bwMode="auto">
          <a:xfrm flipH="1" flipV="1">
            <a:off x="4806471" y="1828800"/>
            <a:ext cx="679902" cy="90010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5" name="Straight Arrow Connector 74"/>
          <p:cNvCxnSpPr>
            <a:stCxn id="44" idx="1"/>
          </p:cNvCxnSpPr>
          <p:nvPr/>
        </p:nvCxnSpPr>
        <p:spPr bwMode="auto">
          <a:xfrm flipH="1">
            <a:off x="4806471" y="3696631"/>
            <a:ext cx="679902" cy="225814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7" name="Straight Arrow Connector 76"/>
          <p:cNvCxnSpPr>
            <a:stCxn id="55" idx="1"/>
          </p:cNvCxnSpPr>
          <p:nvPr/>
        </p:nvCxnSpPr>
        <p:spPr bwMode="auto">
          <a:xfrm flipH="1">
            <a:off x="4806471" y="4664356"/>
            <a:ext cx="679902" cy="593444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9" name="Straight Arrow Connector 78"/>
          <p:cNvCxnSpPr>
            <a:stCxn id="56" idx="1"/>
          </p:cNvCxnSpPr>
          <p:nvPr/>
        </p:nvCxnSpPr>
        <p:spPr bwMode="auto">
          <a:xfrm flipH="1">
            <a:off x="4806471" y="4752332"/>
            <a:ext cx="679902" cy="73406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Shape 14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复习：存在的问题（使用</a:t>
            </a:r>
            <a:r>
              <a:rPr lang="en-US" altLang="zh-CN"/>
              <a:t>k</a:t>
            </a:r>
            <a:r>
              <a:rPr lang="zh-CN" altLang="en-US"/>
              <a:t>级页表）</a:t>
            </a:r>
            <a:endParaRPr lang="zh-CN" altLang="en-US"/>
          </a:p>
        </p:txBody>
      </p:sp>
      <p:sp>
        <p:nvSpPr>
          <p:cNvPr id="1494" name="Shape 1494"/>
          <p:cNvSpPr/>
          <p:nvPr/>
        </p:nvSpPr>
        <p:spPr>
          <a:xfrm>
            <a:off x="1701800" y="1833362"/>
            <a:ext cx="1524000" cy="719063"/>
          </a:xfrm>
          <a:prstGeom prst="rect">
            <a:avLst/>
          </a:prstGeom>
          <a:solidFill>
            <a:srgbClr val="F1C7C7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 smtClean="0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页表基址寄存器（</a:t>
            </a:r>
            <a:r>
              <a:rPr lang="en-US" altLang="zh-CN" sz="1600" dirty="0" smtClean="0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PTBR</a:t>
            </a:r>
            <a:r>
              <a:rPr lang="zh-CN" altLang="en-US" sz="1600" dirty="0" smtClean="0">
                <a:solidFill>
                  <a:srgbClr val="000000"/>
                </a:solidFill>
                <a:latin typeface="+mn-ea"/>
                <a:cs typeface="Calibri"/>
                <a:sym typeface="Calibri"/>
              </a:rPr>
              <a:t>）</a:t>
            </a:r>
            <a:endParaRPr dirty="0">
              <a:latin typeface="+mn-ea"/>
            </a:endParaRPr>
          </a:p>
        </p:txBody>
      </p:sp>
      <p:cxnSp>
        <p:nvCxnSpPr>
          <p:cNvPr id="1495" name="Shape 1495"/>
          <p:cNvCxnSpPr>
            <a:stCxn id="1494" idx="2"/>
          </p:cNvCxnSpPr>
          <p:nvPr/>
        </p:nvCxnSpPr>
        <p:spPr>
          <a:xfrm>
            <a:off x="2463800" y="2552424"/>
            <a:ext cx="0" cy="14862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96" name="Shape 1496"/>
          <p:cNvCxnSpPr/>
          <p:nvPr/>
        </p:nvCxnSpPr>
        <p:spPr>
          <a:xfrm>
            <a:off x="2463800" y="4038601"/>
            <a:ext cx="1193800" cy="9525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497" name="Shape 1497"/>
          <p:cNvSpPr/>
          <p:nvPr/>
        </p:nvSpPr>
        <p:spPr>
          <a:xfrm>
            <a:off x="3171336" y="2981325"/>
            <a:ext cx="1239838" cy="3048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600">
                <a:solidFill>
                  <a:schemeClr val="dk1"/>
                </a:solidFill>
                <a:latin typeface="+mn-ea"/>
                <a:cs typeface="Arial Narrow" panose="020B0706020202030204"/>
                <a:sym typeface="Arial Narrow" panose="020B0706020202030204"/>
              </a:rPr>
              <a:t>VPN 1</a:t>
            </a:r>
            <a:endParaRPr>
              <a:latin typeface="+mn-ea"/>
            </a:endParaRPr>
          </a:p>
        </p:txBody>
      </p:sp>
      <p:sp>
        <p:nvSpPr>
          <p:cNvPr id="1498" name="Shape 1498"/>
          <p:cNvSpPr txBox="1"/>
          <p:nvPr/>
        </p:nvSpPr>
        <p:spPr>
          <a:xfrm>
            <a:off x="8912226" y="2692986"/>
            <a:ext cx="27824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600">
                <a:solidFill>
                  <a:schemeClr val="dk1"/>
                </a:solidFill>
                <a:latin typeface="+mn-ea"/>
                <a:cs typeface="Arial Narrow" panose="020B0706020202030204"/>
                <a:sym typeface="Arial Narrow" panose="020B0706020202030204"/>
              </a:rPr>
              <a:t>0</a:t>
            </a:r>
            <a:endParaRPr>
              <a:latin typeface="+mn-ea"/>
            </a:endParaRPr>
          </a:p>
        </p:txBody>
      </p:sp>
      <p:sp>
        <p:nvSpPr>
          <p:cNvPr id="1499" name="Shape 1499"/>
          <p:cNvSpPr txBox="1"/>
          <p:nvPr/>
        </p:nvSpPr>
        <p:spPr>
          <a:xfrm>
            <a:off x="8083550" y="2693035"/>
            <a:ext cx="562610" cy="33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600">
                <a:solidFill>
                  <a:schemeClr val="dk1"/>
                </a:solidFill>
                <a:latin typeface="+mn-ea"/>
                <a:cs typeface="Arial Narrow" panose="020B0706020202030204"/>
                <a:sym typeface="Arial Narrow" panose="020B0706020202030204"/>
              </a:rPr>
              <a:t>p-1</a:t>
            </a:r>
            <a:endParaRPr>
              <a:latin typeface="+mn-ea"/>
            </a:endParaRPr>
          </a:p>
        </p:txBody>
      </p:sp>
      <p:sp>
        <p:nvSpPr>
          <p:cNvPr id="1500" name="Shape 1500"/>
          <p:cNvSpPr txBox="1"/>
          <p:nvPr/>
        </p:nvSpPr>
        <p:spPr>
          <a:xfrm>
            <a:off x="3048000" y="2654935"/>
            <a:ext cx="520700" cy="33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600">
                <a:solidFill>
                  <a:schemeClr val="dk1"/>
                </a:solidFill>
                <a:latin typeface="+mn-ea"/>
                <a:cs typeface="Arial Narrow" panose="020B0706020202030204"/>
                <a:sym typeface="Arial Narrow" panose="020B0706020202030204"/>
              </a:rPr>
              <a:t>n-1</a:t>
            </a:r>
            <a:endParaRPr>
              <a:latin typeface="+mn-ea"/>
            </a:endParaRPr>
          </a:p>
        </p:txBody>
      </p:sp>
      <p:sp>
        <p:nvSpPr>
          <p:cNvPr id="1501" name="Shape 1501"/>
          <p:cNvSpPr/>
          <p:nvPr/>
        </p:nvSpPr>
        <p:spPr>
          <a:xfrm>
            <a:off x="8134350" y="2981325"/>
            <a:ext cx="919162" cy="304800"/>
          </a:xfrm>
          <a:prstGeom prst="rect">
            <a:avLst/>
          </a:prstGeom>
          <a:solidFill>
            <a:srgbClr val="DBF2DA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600">
                <a:solidFill>
                  <a:schemeClr val="dk1"/>
                </a:solidFill>
                <a:latin typeface="+mn-ea"/>
                <a:cs typeface="Arial Narrow" panose="020B0706020202030204"/>
                <a:sym typeface="Arial Narrow" panose="020B0706020202030204"/>
              </a:rPr>
              <a:t>VPO</a:t>
            </a:r>
            <a:endParaRPr>
              <a:latin typeface="+mn-ea"/>
            </a:endParaRPr>
          </a:p>
        </p:txBody>
      </p:sp>
      <p:sp>
        <p:nvSpPr>
          <p:cNvPr id="1502" name="Shape 1502"/>
          <p:cNvSpPr/>
          <p:nvPr/>
        </p:nvSpPr>
        <p:spPr>
          <a:xfrm>
            <a:off x="4403726" y="2981325"/>
            <a:ext cx="1239837" cy="3048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600">
                <a:solidFill>
                  <a:schemeClr val="dk1"/>
                </a:solidFill>
                <a:latin typeface="+mn-ea"/>
                <a:cs typeface="Arial Narrow" panose="020B0706020202030204"/>
                <a:sym typeface="Arial Narrow" panose="020B0706020202030204"/>
              </a:rPr>
              <a:t>VPN 2</a:t>
            </a:r>
            <a:endParaRPr>
              <a:latin typeface="+mn-ea"/>
            </a:endParaRPr>
          </a:p>
        </p:txBody>
      </p:sp>
      <p:sp>
        <p:nvSpPr>
          <p:cNvPr id="1503" name="Shape 1503"/>
          <p:cNvSpPr/>
          <p:nvPr/>
        </p:nvSpPr>
        <p:spPr>
          <a:xfrm>
            <a:off x="5648326" y="2981325"/>
            <a:ext cx="1239837" cy="3048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600">
                <a:solidFill>
                  <a:schemeClr val="dk1"/>
                </a:solidFill>
                <a:latin typeface="+mn-ea"/>
                <a:cs typeface="Arial Narrow" panose="020B0706020202030204"/>
                <a:sym typeface="Arial Narrow" panose="020B0706020202030204"/>
              </a:rPr>
              <a:t>...</a:t>
            </a:r>
            <a:endParaRPr>
              <a:latin typeface="+mn-ea"/>
            </a:endParaRPr>
          </a:p>
        </p:txBody>
      </p:sp>
      <p:sp>
        <p:nvSpPr>
          <p:cNvPr id="1504" name="Shape 1504"/>
          <p:cNvSpPr/>
          <p:nvPr/>
        </p:nvSpPr>
        <p:spPr>
          <a:xfrm>
            <a:off x="6888162" y="2981325"/>
            <a:ext cx="1239838" cy="3048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600">
                <a:solidFill>
                  <a:schemeClr val="dk1"/>
                </a:solidFill>
                <a:latin typeface="+mn-ea"/>
                <a:cs typeface="Arial Narrow" panose="020B0706020202030204"/>
                <a:sym typeface="Arial Narrow" panose="020B0706020202030204"/>
              </a:rPr>
              <a:t>VPN k</a:t>
            </a:r>
            <a:endParaRPr>
              <a:latin typeface="+mn-ea"/>
            </a:endParaRPr>
          </a:p>
        </p:txBody>
      </p:sp>
      <p:cxnSp>
        <p:nvCxnSpPr>
          <p:cNvPr id="1505" name="Shape 1505"/>
          <p:cNvCxnSpPr/>
          <p:nvPr/>
        </p:nvCxnSpPr>
        <p:spPr>
          <a:xfrm>
            <a:off x="3344862" y="3143250"/>
            <a:ext cx="0" cy="1345198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oval" w="sm" len="sm"/>
            <a:tailEnd type="none" w="med" len="med"/>
          </a:ln>
        </p:spPr>
      </p:cxnSp>
      <p:sp>
        <p:nvSpPr>
          <p:cNvPr id="1506" name="Shape 1506"/>
          <p:cNvSpPr/>
          <p:nvPr/>
        </p:nvSpPr>
        <p:spPr>
          <a:xfrm>
            <a:off x="3687762" y="4031248"/>
            <a:ext cx="520700" cy="7747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>
              <a:solidFill>
                <a:schemeClr val="dk1"/>
              </a:solidFill>
              <a:latin typeface="+mn-ea"/>
              <a:cs typeface="Arial Narrow" panose="020B0706020202030204"/>
              <a:sym typeface="Arial Narrow" panose="020B0706020202030204"/>
            </a:endParaRPr>
          </a:p>
        </p:txBody>
      </p:sp>
      <p:cxnSp>
        <p:nvCxnSpPr>
          <p:cNvPr id="1507" name="Shape 1507"/>
          <p:cNvCxnSpPr/>
          <p:nvPr/>
        </p:nvCxnSpPr>
        <p:spPr>
          <a:xfrm>
            <a:off x="3344862" y="4488448"/>
            <a:ext cx="3429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08" name="Shape 1508"/>
          <p:cNvSpPr/>
          <p:nvPr/>
        </p:nvSpPr>
        <p:spPr>
          <a:xfrm>
            <a:off x="3687762" y="4424948"/>
            <a:ext cx="520700" cy="1143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>
              <a:solidFill>
                <a:schemeClr val="dk1"/>
              </a:solidFill>
              <a:latin typeface="+mn-ea"/>
              <a:cs typeface="Arial Narrow" panose="020B0706020202030204"/>
              <a:sym typeface="Arial Narrow" panose="020B0706020202030204"/>
            </a:endParaRPr>
          </a:p>
        </p:txBody>
      </p:sp>
      <p:cxnSp>
        <p:nvCxnSpPr>
          <p:cNvPr id="1509" name="Shape 1509"/>
          <p:cNvCxnSpPr/>
          <p:nvPr/>
        </p:nvCxnSpPr>
        <p:spPr>
          <a:xfrm>
            <a:off x="4551362" y="3143250"/>
            <a:ext cx="0" cy="1103898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oval" w="sm" len="sm"/>
            <a:tailEnd type="none" w="med" len="med"/>
          </a:ln>
        </p:spPr>
      </p:cxnSp>
      <p:sp>
        <p:nvSpPr>
          <p:cNvPr id="1510" name="Shape 1510"/>
          <p:cNvSpPr/>
          <p:nvPr/>
        </p:nvSpPr>
        <p:spPr>
          <a:xfrm>
            <a:off x="4894262" y="4031248"/>
            <a:ext cx="520700" cy="7747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>
              <a:solidFill>
                <a:schemeClr val="dk1"/>
              </a:solidFill>
              <a:latin typeface="+mn-ea"/>
              <a:cs typeface="Arial Narrow" panose="020B0706020202030204"/>
              <a:sym typeface="Arial Narrow" panose="020B0706020202030204"/>
            </a:endParaRPr>
          </a:p>
        </p:txBody>
      </p:sp>
      <p:cxnSp>
        <p:nvCxnSpPr>
          <p:cNvPr id="1511" name="Shape 1511"/>
          <p:cNvCxnSpPr/>
          <p:nvPr/>
        </p:nvCxnSpPr>
        <p:spPr>
          <a:xfrm>
            <a:off x="4551362" y="4247148"/>
            <a:ext cx="3429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12" name="Shape 1512"/>
          <p:cNvSpPr/>
          <p:nvPr/>
        </p:nvSpPr>
        <p:spPr>
          <a:xfrm>
            <a:off x="4894262" y="4196348"/>
            <a:ext cx="520700" cy="1143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>
              <a:solidFill>
                <a:schemeClr val="dk1"/>
              </a:solidFill>
              <a:latin typeface="+mn-ea"/>
              <a:cs typeface="Arial Narrow" panose="020B0706020202030204"/>
              <a:sym typeface="Arial Narrow" panose="020B0706020202030204"/>
            </a:endParaRPr>
          </a:p>
        </p:txBody>
      </p:sp>
      <p:cxnSp>
        <p:nvCxnSpPr>
          <p:cNvPr id="1513" name="Shape 1513"/>
          <p:cNvCxnSpPr/>
          <p:nvPr/>
        </p:nvCxnSpPr>
        <p:spPr>
          <a:xfrm>
            <a:off x="7065962" y="3143250"/>
            <a:ext cx="0" cy="1484898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oval" w="sm" len="sm"/>
            <a:tailEnd type="none" w="med" len="med"/>
          </a:ln>
        </p:spPr>
      </p:cxnSp>
      <p:sp>
        <p:nvSpPr>
          <p:cNvPr id="1514" name="Shape 1514"/>
          <p:cNvSpPr/>
          <p:nvPr/>
        </p:nvSpPr>
        <p:spPr>
          <a:xfrm>
            <a:off x="7408862" y="4031248"/>
            <a:ext cx="561976" cy="7747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>
              <a:solidFill>
                <a:schemeClr val="dk1"/>
              </a:solidFill>
              <a:latin typeface="+mn-ea"/>
              <a:cs typeface="Arial Narrow" panose="020B0706020202030204"/>
              <a:sym typeface="Arial Narrow" panose="020B0706020202030204"/>
            </a:endParaRPr>
          </a:p>
        </p:txBody>
      </p:sp>
      <p:cxnSp>
        <p:nvCxnSpPr>
          <p:cNvPr id="1515" name="Shape 1515"/>
          <p:cNvCxnSpPr/>
          <p:nvPr/>
        </p:nvCxnSpPr>
        <p:spPr>
          <a:xfrm>
            <a:off x="7065962" y="4628148"/>
            <a:ext cx="3429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16" name="Shape 1516"/>
          <p:cNvSpPr/>
          <p:nvPr/>
        </p:nvSpPr>
        <p:spPr>
          <a:xfrm>
            <a:off x="7408862" y="4573914"/>
            <a:ext cx="561976" cy="117733"/>
          </a:xfrm>
          <a:prstGeom prst="rect">
            <a:avLst/>
          </a:prstGeom>
          <a:solidFill>
            <a:srgbClr val="DEDFF5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solidFill>
                  <a:schemeClr val="dk1"/>
                </a:solidFill>
                <a:latin typeface="+mn-ea"/>
                <a:cs typeface="Arial Narrow" panose="020B0706020202030204"/>
                <a:sym typeface="Arial Narrow" panose="020B0706020202030204"/>
              </a:rPr>
              <a:t>PPN</a:t>
            </a:r>
            <a:endParaRPr sz="1400" dirty="0">
              <a:latin typeface="+mn-ea"/>
            </a:endParaRPr>
          </a:p>
        </p:txBody>
      </p:sp>
      <p:sp>
        <p:nvSpPr>
          <p:cNvPr id="1520" name="Shape 1520"/>
          <p:cNvSpPr/>
          <p:nvPr/>
        </p:nvSpPr>
        <p:spPr>
          <a:xfrm>
            <a:off x="8129586" y="6058069"/>
            <a:ext cx="919162" cy="304800"/>
          </a:xfrm>
          <a:prstGeom prst="rect">
            <a:avLst/>
          </a:prstGeom>
          <a:solidFill>
            <a:srgbClr val="DBF2DA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600">
                <a:solidFill>
                  <a:schemeClr val="dk1"/>
                </a:solidFill>
                <a:latin typeface="+mn-ea"/>
                <a:cs typeface="Arial Narrow" panose="020B0706020202030204"/>
                <a:sym typeface="Arial Narrow" panose="020B0706020202030204"/>
              </a:rPr>
              <a:t>PPO</a:t>
            </a:r>
            <a:endParaRPr>
              <a:latin typeface="+mn-ea"/>
            </a:endParaRPr>
          </a:p>
        </p:txBody>
      </p:sp>
      <p:sp>
        <p:nvSpPr>
          <p:cNvPr id="1521" name="Shape 1521"/>
          <p:cNvSpPr/>
          <p:nvPr/>
        </p:nvSpPr>
        <p:spPr>
          <a:xfrm>
            <a:off x="4398962" y="6058069"/>
            <a:ext cx="3724275" cy="304800"/>
          </a:xfrm>
          <a:prstGeom prst="rect">
            <a:avLst/>
          </a:prstGeom>
          <a:solidFill>
            <a:srgbClr val="DEDFF5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600">
                <a:solidFill>
                  <a:schemeClr val="dk1"/>
                </a:solidFill>
                <a:latin typeface="+mn-ea"/>
                <a:cs typeface="Arial Narrow" panose="020B0706020202030204"/>
                <a:sym typeface="Arial Narrow" panose="020B0706020202030204"/>
              </a:rPr>
              <a:t>PPN</a:t>
            </a:r>
            <a:endParaRPr>
              <a:latin typeface="+mn-ea"/>
            </a:endParaRPr>
          </a:p>
        </p:txBody>
      </p:sp>
      <p:cxnSp>
        <p:nvCxnSpPr>
          <p:cNvPr id="1522" name="Shape 1522"/>
          <p:cNvCxnSpPr/>
          <p:nvPr/>
        </p:nvCxnSpPr>
        <p:spPr>
          <a:xfrm>
            <a:off x="4094163" y="4488448"/>
            <a:ext cx="309563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oval" w="sm" len="sm"/>
            <a:tailEnd type="none" w="med" len="med"/>
          </a:ln>
        </p:spPr>
      </p:cxnSp>
      <p:cxnSp>
        <p:nvCxnSpPr>
          <p:cNvPr id="1523" name="Shape 1523"/>
          <p:cNvCxnSpPr/>
          <p:nvPr/>
        </p:nvCxnSpPr>
        <p:spPr>
          <a:xfrm rot="10800000">
            <a:off x="4398962" y="4034423"/>
            <a:ext cx="0" cy="4572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4" name="Shape 1524"/>
          <p:cNvCxnSpPr/>
          <p:nvPr/>
        </p:nvCxnSpPr>
        <p:spPr>
          <a:xfrm>
            <a:off x="4403726" y="4031248"/>
            <a:ext cx="490537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25" name="Shape 1525"/>
          <p:cNvCxnSpPr/>
          <p:nvPr/>
        </p:nvCxnSpPr>
        <p:spPr>
          <a:xfrm>
            <a:off x="5313363" y="4247148"/>
            <a:ext cx="309563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oval" w="sm" len="sm"/>
            <a:tailEnd type="none" w="med" len="med"/>
          </a:ln>
        </p:spPr>
      </p:cxnSp>
      <p:cxnSp>
        <p:nvCxnSpPr>
          <p:cNvPr id="1526" name="Shape 1526"/>
          <p:cNvCxnSpPr/>
          <p:nvPr/>
        </p:nvCxnSpPr>
        <p:spPr>
          <a:xfrm rot="10800000" flipH="1">
            <a:off x="5614988" y="4031248"/>
            <a:ext cx="4763" cy="2159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7" name="Shape 1527"/>
          <p:cNvCxnSpPr/>
          <p:nvPr/>
        </p:nvCxnSpPr>
        <p:spPr>
          <a:xfrm>
            <a:off x="5622926" y="4031248"/>
            <a:ext cx="490537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28" name="Shape 1528"/>
          <p:cNvSpPr txBox="1"/>
          <p:nvPr/>
        </p:nvSpPr>
        <p:spPr>
          <a:xfrm>
            <a:off x="5219701" y="2548523"/>
            <a:ext cx="177484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 smtClean="0">
                <a:solidFill>
                  <a:schemeClr val="dk1"/>
                </a:solidFill>
                <a:latin typeface="+mn-ea"/>
                <a:cs typeface="Arial Narrow" panose="020B0706020202030204"/>
                <a:sym typeface="Arial Narrow" panose="020B0706020202030204"/>
              </a:rPr>
              <a:t>虚拟地址</a:t>
            </a:r>
            <a:endParaRPr dirty="0">
              <a:latin typeface="+mn-ea"/>
            </a:endParaRPr>
          </a:p>
        </p:txBody>
      </p:sp>
      <p:cxnSp>
        <p:nvCxnSpPr>
          <p:cNvPr id="1530" name="Shape 1530"/>
          <p:cNvCxnSpPr>
            <a:endCxn id="1520" idx="0"/>
          </p:cNvCxnSpPr>
          <p:nvPr/>
        </p:nvCxnSpPr>
        <p:spPr>
          <a:xfrm>
            <a:off x="8586787" y="3419475"/>
            <a:ext cx="2380" cy="2638594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31" name="Shape 1531"/>
          <p:cNvCxnSpPr/>
          <p:nvPr/>
        </p:nvCxnSpPr>
        <p:spPr>
          <a:xfrm>
            <a:off x="8081963" y="4609098"/>
            <a:ext cx="220663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32" name="Shape 1532"/>
          <p:cNvCxnSpPr/>
          <p:nvPr/>
        </p:nvCxnSpPr>
        <p:spPr>
          <a:xfrm>
            <a:off x="8297863" y="4613861"/>
            <a:ext cx="15875" cy="1302078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33" name="Shape 1533"/>
          <p:cNvCxnSpPr/>
          <p:nvPr/>
        </p:nvCxnSpPr>
        <p:spPr>
          <a:xfrm flipH="1">
            <a:off x="6255115" y="5915939"/>
            <a:ext cx="2047511" cy="878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34" name="Shape 1534"/>
          <p:cNvCxnSpPr>
            <a:endCxn id="1521" idx="0"/>
          </p:cNvCxnSpPr>
          <p:nvPr/>
        </p:nvCxnSpPr>
        <p:spPr>
          <a:xfrm>
            <a:off x="6261099" y="5943601"/>
            <a:ext cx="0" cy="114469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35" name="Shape 1535"/>
          <p:cNvCxnSpPr/>
          <p:nvPr/>
        </p:nvCxnSpPr>
        <p:spPr>
          <a:xfrm>
            <a:off x="6710362" y="4031248"/>
            <a:ext cx="7112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36" name="Shape 1536"/>
          <p:cNvSpPr txBox="1"/>
          <p:nvPr/>
        </p:nvSpPr>
        <p:spPr>
          <a:xfrm>
            <a:off x="6049963" y="3801646"/>
            <a:ext cx="32502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600">
                <a:solidFill>
                  <a:schemeClr val="dk1"/>
                </a:solidFill>
                <a:latin typeface="+mn-ea"/>
                <a:cs typeface="Arial Narrow" panose="020B0706020202030204"/>
                <a:sym typeface="Arial Narrow" panose="020B0706020202030204"/>
              </a:rPr>
              <a:t>...</a:t>
            </a:r>
            <a:endParaRPr>
              <a:latin typeface="+mn-ea"/>
            </a:endParaRPr>
          </a:p>
        </p:txBody>
      </p:sp>
      <p:sp>
        <p:nvSpPr>
          <p:cNvPr id="1537" name="Shape 1537"/>
          <p:cNvSpPr txBox="1"/>
          <p:nvPr/>
        </p:nvSpPr>
        <p:spPr>
          <a:xfrm>
            <a:off x="6418263" y="3801646"/>
            <a:ext cx="32502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600">
                <a:solidFill>
                  <a:schemeClr val="dk1"/>
                </a:solidFill>
                <a:latin typeface="+mn-ea"/>
                <a:cs typeface="Arial Narrow" panose="020B0706020202030204"/>
                <a:sym typeface="Arial Narrow" panose="020B0706020202030204"/>
              </a:rPr>
              <a:t>...</a:t>
            </a:r>
            <a:endParaRPr>
              <a:latin typeface="+mn-ea"/>
            </a:endParaRPr>
          </a:p>
        </p:txBody>
      </p:sp>
      <p:sp>
        <p:nvSpPr>
          <p:cNvPr id="1538" name="Shape 1538"/>
          <p:cNvSpPr txBox="1"/>
          <p:nvPr/>
        </p:nvSpPr>
        <p:spPr>
          <a:xfrm>
            <a:off x="3464705" y="3371563"/>
            <a:ext cx="105028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 smtClean="0">
                <a:solidFill>
                  <a:schemeClr val="dk1"/>
                </a:solidFill>
                <a:latin typeface="+mn-ea"/>
                <a:cs typeface="Arial Narrow" panose="020B0706020202030204"/>
                <a:sym typeface="Arial Narrow" panose="020B0706020202030204"/>
              </a:rPr>
              <a:t>一级页表</a:t>
            </a:r>
            <a:endParaRPr dirty="0">
              <a:latin typeface="+mn-ea"/>
            </a:endParaRPr>
          </a:p>
        </p:txBody>
      </p:sp>
      <p:sp>
        <p:nvSpPr>
          <p:cNvPr id="1539" name="Shape 1539"/>
          <p:cNvSpPr txBox="1"/>
          <p:nvPr/>
        </p:nvSpPr>
        <p:spPr>
          <a:xfrm>
            <a:off x="4700588" y="3362037"/>
            <a:ext cx="1016925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 smtClean="0">
                <a:solidFill>
                  <a:schemeClr val="dk1"/>
                </a:solidFill>
                <a:latin typeface="+mn-ea"/>
                <a:cs typeface="Arial Narrow" panose="020B0706020202030204"/>
                <a:sym typeface="Arial Narrow" panose="020B0706020202030204"/>
              </a:rPr>
              <a:t>二级页表</a:t>
            </a:r>
            <a:endParaRPr dirty="0">
              <a:latin typeface="+mn-ea"/>
            </a:endParaRPr>
          </a:p>
        </p:txBody>
      </p:sp>
      <p:sp>
        <p:nvSpPr>
          <p:cNvPr id="1540" name="Shape 1540"/>
          <p:cNvSpPr txBox="1"/>
          <p:nvPr/>
        </p:nvSpPr>
        <p:spPr>
          <a:xfrm>
            <a:off x="7205663" y="3352512"/>
            <a:ext cx="1016925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dk1"/>
                </a:solidFill>
                <a:latin typeface="+mn-ea"/>
                <a:cs typeface="Arial Narrow" panose="020B0706020202030204"/>
                <a:sym typeface="Arial Narrow" panose="020B0706020202030204"/>
              </a:rPr>
              <a:t>k</a:t>
            </a:r>
            <a:r>
              <a:rPr lang="zh-CN" altLang="en-US" sz="1600" dirty="0" smtClean="0">
                <a:solidFill>
                  <a:schemeClr val="dk1"/>
                </a:solidFill>
                <a:latin typeface="+mn-ea"/>
                <a:cs typeface="Arial Narrow" panose="020B0706020202030204"/>
                <a:sym typeface="Arial Narrow" panose="020B0706020202030204"/>
              </a:rPr>
              <a:t>级页表</a:t>
            </a:r>
            <a:endParaRPr dirty="0">
              <a:latin typeface="+mn-ea"/>
            </a:endParaRPr>
          </a:p>
        </p:txBody>
      </p:sp>
      <p:sp>
        <p:nvSpPr>
          <p:cNvPr id="1541" name="Shape 1541"/>
          <p:cNvSpPr/>
          <p:nvPr/>
        </p:nvSpPr>
        <p:spPr>
          <a:xfrm rot="5400000">
            <a:off x="8538369" y="2905919"/>
            <a:ext cx="112712" cy="914400"/>
          </a:xfrm>
          <a:prstGeom prst="rightBrace">
            <a:avLst>
              <a:gd name="adj1" fmla="val 67606"/>
              <a:gd name="adj2" fmla="val 5000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>
              <a:solidFill>
                <a:schemeClr val="dk1"/>
              </a:solidFill>
              <a:latin typeface="+mn-ea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542" name="Shape 1542"/>
          <p:cNvSpPr/>
          <p:nvPr/>
        </p:nvSpPr>
        <p:spPr>
          <a:xfrm>
            <a:off x="7970838" y="4539249"/>
            <a:ext cx="74613" cy="142875"/>
          </a:xfrm>
          <a:prstGeom prst="rightBrace">
            <a:avLst>
              <a:gd name="adj1" fmla="val 15957"/>
              <a:gd name="adj2" fmla="val 5000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>
              <a:solidFill>
                <a:schemeClr val="dk1"/>
              </a:solidFill>
              <a:latin typeface="+mn-ea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2" name="Callout: Bent Line 1"/>
          <p:cNvSpPr/>
          <p:nvPr/>
        </p:nvSpPr>
        <p:spPr bwMode="auto">
          <a:xfrm>
            <a:off x="2443174" y="5000671"/>
            <a:ext cx="804858" cy="755650"/>
          </a:xfrm>
          <a:prstGeom prst="borderCallout2">
            <a:avLst>
              <a:gd name="adj1" fmla="val 18750"/>
              <a:gd name="adj2" fmla="val 108554"/>
              <a:gd name="adj3" fmla="val 18750"/>
              <a:gd name="adj4" fmla="val 122068"/>
              <a:gd name="adj5" fmla="val -59705"/>
              <a:gd name="adj6" fmla="val 157613"/>
            </a:avLst>
          </a:prstGeom>
          <a:solidFill>
            <a:srgbClr val="FFC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 smtClean="0">
                <a:latin typeface="+mn-ea"/>
              </a:rPr>
              <a:t>Cache</a:t>
            </a:r>
            <a:r>
              <a:rPr lang="zh-CN" altLang="en-US" sz="1600" dirty="0" smtClean="0">
                <a:latin typeface="+mn-ea"/>
              </a:rPr>
              <a:t>缺失！</a:t>
            </a:r>
            <a:endParaRPr lang="en-US" sz="1600" dirty="0">
              <a:latin typeface="+mn-ea"/>
            </a:endParaRPr>
          </a:p>
        </p:txBody>
      </p:sp>
      <p:sp>
        <p:nvSpPr>
          <p:cNvPr id="55" name="Callout: Bent Line 54"/>
          <p:cNvSpPr/>
          <p:nvPr/>
        </p:nvSpPr>
        <p:spPr bwMode="auto">
          <a:xfrm>
            <a:off x="3532194" y="5000671"/>
            <a:ext cx="804858" cy="755650"/>
          </a:xfrm>
          <a:prstGeom prst="borderCallout2">
            <a:avLst>
              <a:gd name="adj1" fmla="val 18750"/>
              <a:gd name="adj2" fmla="val 108554"/>
              <a:gd name="adj3" fmla="val 18750"/>
              <a:gd name="adj4" fmla="val 122068"/>
              <a:gd name="adj5" fmla="val -88793"/>
              <a:gd name="adj6" fmla="val 161981"/>
            </a:avLst>
          </a:prstGeom>
          <a:solidFill>
            <a:srgbClr val="FFC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ea"/>
              </a:rPr>
              <a:t>Cache </a:t>
            </a:r>
            <a:r>
              <a:rPr lang="zh-CN" altLang="en-US" sz="1600" dirty="0" smtClean="0">
                <a:latin typeface="+mn-ea"/>
              </a:rPr>
              <a:t>缺失！</a:t>
            </a:r>
            <a:endParaRPr lang="en-US" sz="1600" dirty="0">
              <a:latin typeface="+mn-ea"/>
            </a:endParaRPr>
          </a:p>
        </p:txBody>
      </p:sp>
      <p:sp>
        <p:nvSpPr>
          <p:cNvPr id="58" name="Callout: Bent Line 57"/>
          <p:cNvSpPr/>
          <p:nvPr/>
        </p:nvSpPr>
        <p:spPr bwMode="auto">
          <a:xfrm>
            <a:off x="4621214" y="5002083"/>
            <a:ext cx="804858" cy="755650"/>
          </a:xfrm>
          <a:prstGeom prst="borderCallout2">
            <a:avLst>
              <a:gd name="adj1" fmla="val 18750"/>
              <a:gd name="adj2" fmla="val 108554"/>
              <a:gd name="adj3" fmla="val 18750"/>
              <a:gd name="adj4" fmla="val 122068"/>
              <a:gd name="adj5" fmla="val -123700"/>
              <a:gd name="adj6" fmla="val 212232"/>
            </a:avLst>
          </a:prstGeom>
          <a:solidFill>
            <a:srgbClr val="FFC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ea"/>
              </a:rPr>
              <a:t>Cache </a:t>
            </a:r>
            <a:r>
              <a:rPr lang="zh-CN" altLang="en-US" sz="1600" dirty="0" smtClean="0">
                <a:latin typeface="+mn-ea"/>
              </a:rPr>
              <a:t>缺失！</a:t>
            </a:r>
            <a:endParaRPr lang="en-US" sz="1600" dirty="0">
              <a:latin typeface="+mn-ea"/>
            </a:endParaRPr>
          </a:p>
        </p:txBody>
      </p:sp>
      <p:sp>
        <p:nvSpPr>
          <p:cNvPr id="61" name="Callout: Bent Line 60"/>
          <p:cNvSpPr/>
          <p:nvPr/>
        </p:nvSpPr>
        <p:spPr bwMode="auto">
          <a:xfrm>
            <a:off x="5764579" y="5009477"/>
            <a:ext cx="804858" cy="755650"/>
          </a:xfrm>
          <a:prstGeom prst="borderCallout2">
            <a:avLst>
              <a:gd name="adj1" fmla="val 18750"/>
              <a:gd name="adj2" fmla="val 108554"/>
              <a:gd name="adj3" fmla="val 18750"/>
              <a:gd name="adj4" fmla="val 122068"/>
              <a:gd name="adj5" fmla="val -41089"/>
              <a:gd name="adj6" fmla="val 202400"/>
            </a:avLst>
          </a:prstGeom>
          <a:solidFill>
            <a:srgbClr val="FFC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ea"/>
              </a:rPr>
              <a:t>Cache </a:t>
            </a:r>
            <a:r>
              <a:rPr lang="zh-CN" altLang="en-US" sz="1600" dirty="0" smtClean="0">
                <a:latin typeface="+mn-ea"/>
              </a:rPr>
              <a:t>缺失！</a:t>
            </a:r>
            <a:endParaRPr lang="en-US" sz="1600" dirty="0">
              <a:latin typeface="+mn-ea"/>
            </a:endParaRPr>
          </a:p>
        </p:txBody>
      </p:sp>
      <p:sp>
        <p:nvSpPr>
          <p:cNvPr id="62" name="Callout: Bent Line 61"/>
          <p:cNvSpPr/>
          <p:nvPr/>
        </p:nvSpPr>
        <p:spPr bwMode="auto">
          <a:xfrm>
            <a:off x="9386882" y="5565775"/>
            <a:ext cx="804858" cy="755650"/>
          </a:xfrm>
          <a:prstGeom prst="borderCallout2">
            <a:avLst>
              <a:gd name="adj1" fmla="val 18750"/>
              <a:gd name="adj2" fmla="val -11610"/>
              <a:gd name="adj3" fmla="val 18750"/>
              <a:gd name="adj4" fmla="val -33053"/>
              <a:gd name="adj5" fmla="val 61303"/>
              <a:gd name="adj6" fmla="val -71794"/>
            </a:avLst>
          </a:prstGeom>
          <a:solidFill>
            <a:srgbClr val="FFC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en-US" sz="1600" dirty="0">
                <a:latin typeface="+mn-ea"/>
              </a:rPr>
              <a:t>Cache </a:t>
            </a:r>
            <a:r>
              <a:rPr lang="zh-CN" altLang="en-US" sz="1600" dirty="0" smtClean="0">
                <a:latin typeface="+mn-ea"/>
              </a:rPr>
              <a:t>缺失！</a:t>
            </a:r>
            <a:endParaRPr lang="en-US" sz="16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5" grpId="0" animBg="1"/>
      <p:bldP spid="58" grpId="0" animBg="1"/>
      <p:bldP spid="6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复</a:t>
            </a:r>
            <a:r>
              <a:rPr lang="zh-CN" altLang="en-US" dirty="0" smtClean="0"/>
              <a:t>习</a:t>
            </a:r>
            <a:endParaRPr lang="en-US" altLang="zh-CN" dirty="0"/>
          </a:p>
          <a:p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缺页故障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概念小测验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虚拟内存系统举例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CSAPP 9.6.4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的“简单内存系统”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Intel Core i7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虚拟内存实现的奇妙功能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分页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交换（磁盘为额外的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</a:rPr>
              <a:t>RAM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）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内存映射的文件（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</a:rPr>
              <a:t>RAM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是磁盘的缓存）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写时复制共享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缺页故障发生了什么？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什么是缺页故障？</a:t>
            </a:r>
            <a:endParaRPr lang="en-US" dirty="0"/>
          </a:p>
          <a:p>
            <a:endParaRPr lang="en-US" dirty="0"/>
          </a:p>
          <a:p>
            <a:r>
              <a:rPr lang="zh-CN" altLang="en-US" dirty="0" smtClean="0"/>
              <a:t>为什么会发生缺页故障？</a:t>
            </a:r>
            <a:r>
              <a:rPr lang="en-US" altLang="zh-CN" dirty="0" smtClean="0"/>
              <a:t>OS</a:t>
            </a:r>
            <a:r>
              <a:rPr lang="zh-CN" altLang="en-US" dirty="0" smtClean="0"/>
              <a:t>是怎么知道的？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898091" y="371182"/>
            <a:ext cx="7591425" cy="762000"/>
          </a:xfrm>
        </p:spPr>
        <p:txBody>
          <a:bodyPr/>
          <a:lstStyle/>
          <a:p>
            <a:r>
              <a:rPr lang="en-US" dirty="0"/>
              <a:t>OS </a:t>
            </a:r>
            <a:r>
              <a:rPr lang="zh-CN" altLang="en-US" dirty="0" smtClean="0"/>
              <a:t>跟踪虚存“区域”</a:t>
            </a:r>
            <a:endParaRPr lang="en-US" dirty="0"/>
          </a:p>
        </p:txBody>
      </p:sp>
      <p:pic>
        <p:nvPicPr>
          <p:cNvPr id="4" name="Shape 73"/>
          <p:cNvPicPr preferRelativeResize="0"/>
          <p:nvPr/>
        </p:nvPicPr>
        <p:blipFill rotWithShape="1">
          <a:blip r:embed="rId1"/>
          <a:stretch>
            <a:fillRect/>
          </a:stretch>
        </p:blipFill>
        <p:spPr>
          <a:xfrm>
            <a:off x="1898091" y="1362075"/>
            <a:ext cx="3219403" cy="497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5486400" y="1362075"/>
            <a:ext cx="5927090" cy="4972050"/>
          </a:xfrm>
        </p:spPr>
        <p:txBody>
          <a:bodyPr/>
          <a:lstStyle/>
          <a:p>
            <a:r>
              <a:rPr lang="zh-CN" altLang="en-US" dirty="0" smtClean="0"/>
              <a:t>每个区域都有</a:t>
            </a:r>
            <a:r>
              <a:rPr lang="zh-CN" altLang="en-US" dirty="0" smtClean="0"/>
              <a:t>不同权限</a:t>
            </a:r>
            <a:r>
              <a:rPr lang="en-US" altLang="zh-CN" dirty="0" smtClean="0"/>
              <a:t>/</a:t>
            </a:r>
            <a:r>
              <a:rPr lang="zh-CN" altLang="en-US" dirty="0" smtClean="0"/>
              <a:t>目的</a:t>
            </a:r>
            <a:r>
              <a:rPr lang="en-US" altLang="zh-CN" dirty="0" smtClean="0"/>
              <a:t>/</a:t>
            </a:r>
            <a:r>
              <a:rPr lang="zh-CN" altLang="en-US" dirty="0"/>
              <a:t>等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故障类型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CN" altLang="en-US" dirty="0" smtClean="0"/>
              <a:t>地址</a:t>
            </a:r>
            <a:r>
              <a:rPr lang="zh-CN" altLang="en-US" dirty="0"/>
              <a:t>合</a:t>
            </a:r>
            <a:r>
              <a:rPr lang="zh-CN" altLang="en-US" dirty="0" smtClean="0"/>
              <a:t>法</a:t>
            </a:r>
            <a:endParaRPr lang="en-US" dirty="0"/>
          </a:p>
          <a:p>
            <a:pPr lvl="1"/>
            <a:r>
              <a:rPr lang="zh-CN" altLang="en-US" dirty="0" smtClean="0"/>
              <a:t>硬</a:t>
            </a:r>
            <a:r>
              <a:rPr lang="en-US" altLang="zh-CN" dirty="0" smtClean="0"/>
              <a:t>/</a:t>
            </a:r>
            <a:r>
              <a:rPr lang="zh-CN" altLang="en-US" dirty="0" smtClean="0"/>
              <a:t>主要故障</a:t>
            </a:r>
            <a:r>
              <a:rPr lang="en-US" dirty="0" smtClean="0"/>
              <a:t> </a:t>
            </a:r>
            <a:r>
              <a:rPr lang="en-US" dirty="0"/>
              <a:t>– </a:t>
            </a:r>
            <a:r>
              <a:rPr lang="en-US" dirty="0" smtClean="0"/>
              <a:t>“ </a:t>
            </a:r>
            <a:r>
              <a:rPr lang="zh-CN" altLang="en-US" dirty="0" smtClean="0"/>
              <a:t>正常 </a:t>
            </a:r>
            <a:r>
              <a:rPr lang="en-US" dirty="0" smtClean="0"/>
              <a:t>” </a:t>
            </a:r>
            <a:r>
              <a:rPr lang="zh-CN" altLang="en-US" dirty="0" smtClean="0"/>
              <a:t>缺页故障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dirty="0" smtClean="0"/>
              <a:t>地址合法，但权限不够</a:t>
            </a:r>
            <a:r>
              <a:rPr lang="en-US" altLang="zh-CN" dirty="0" smtClean="0"/>
              <a:t>……</a:t>
            </a:r>
            <a:endParaRPr lang="en-US" dirty="0"/>
          </a:p>
          <a:p>
            <a:pPr marL="457200" lvl="1" indent="0">
              <a:buNone/>
            </a:pPr>
            <a:r>
              <a:rPr lang="zh-CN" altLang="en-US" dirty="0"/>
              <a:t>访</a:t>
            </a:r>
            <a:r>
              <a:rPr lang="zh-CN" altLang="en-US" dirty="0" smtClean="0"/>
              <a:t>问类型错误，因此出现“保护异常”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dirty="0" smtClean="0"/>
              <a:t>地址不合法</a:t>
            </a:r>
            <a:endParaRPr lang="en-US" dirty="0"/>
          </a:p>
          <a:p>
            <a:pPr marL="400050" lvl="1" indent="0">
              <a:buNone/>
            </a:pPr>
            <a:r>
              <a:rPr lang="zh-CN" altLang="en-US" dirty="0" smtClean="0"/>
              <a:t>分段故障或总线错误</a:t>
            </a:r>
            <a:endParaRPr lang="en-US" dirty="0"/>
          </a:p>
        </p:txBody>
      </p:sp>
      <p:sp>
        <p:nvSpPr>
          <p:cNvPr id="4" name="Text Box 3"/>
          <p:cNvSpPr txBox="1"/>
          <p:nvPr/>
        </p:nvSpPr>
        <p:spPr>
          <a:xfrm>
            <a:off x="1219200" y="5562600"/>
            <a:ext cx="75806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00050" lvl="1" indent="0">
              <a:buNone/>
            </a:pPr>
            <a:r>
              <a:rPr lang="zh-CN" altLang="en-US" dirty="0" smtClean="0">
                <a:solidFill>
                  <a:srgbClr val="00B050"/>
                </a:solidFill>
                <a:sym typeface="+mn-ea"/>
              </a:rPr>
              <a:t>回顾第</a:t>
            </a:r>
            <a:r>
              <a:rPr lang="en-US" altLang="zh-CN" dirty="0" smtClean="0">
                <a:solidFill>
                  <a:srgbClr val="00B050"/>
                </a:solidFill>
                <a:sym typeface="+mn-ea"/>
              </a:rPr>
              <a:t>8</a:t>
            </a:r>
            <a:r>
              <a:rPr lang="zh-CN" altLang="en-US" dirty="0" smtClean="0">
                <a:solidFill>
                  <a:srgbClr val="00B050"/>
                </a:solidFill>
                <a:sym typeface="+mn-ea"/>
              </a:rPr>
              <a:t>章</a:t>
            </a:r>
            <a:r>
              <a:rPr lang="en-US" altLang="zh-CN" dirty="0" smtClean="0">
                <a:solidFill>
                  <a:srgbClr val="00B050"/>
                </a:solidFill>
                <a:sym typeface="+mn-ea"/>
              </a:rPr>
              <a:t>：</a:t>
            </a:r>
            <a:r>
              <a:rPr lang="zh-CN" altLang="en-US" dirty="0" smtClean="0">
                <a:solidFill>
                  <a:srgbClr val="00B050"/>
                </a:solidFill>
                <a:sym typeface="+mn-ea"/>
              </a:rPr>
              <a:t>缺页故障是一种异常</a:t>
            </a:r>
            <a:r>
              <a:rPr lang="en-US" altLang="zh-CN" dirty="0" smtClean="0">
                <a:solidFill>
                  <a:srgbClr val="00B050"/>
                </a:solidFill>
                <a:sym typeface="+mn-ea"/>
              </a:rPr>
              <a:t>，</a:t>
            </a:r>
            <a:r>
              <a:rPr lang="zh-CN" altLang="en-US" dirty="0" smtClean="0">
                <a:solidFill>
                  <a:srgbClr val="00B050"/>
                </a:solidFill>
                <a:sym typeface="+mn-ea"/>
              </a:rPr>
              <a:t>由</a:t>
            </a:r>
            <a:r>
              <a:rPr lang="en-US" altLang="zh-CN" dirty="0" smtClean="0">
                <a:solidFill>
                  <a:srgbClr val="00B050"/>
                </a:solidFill>
                <a:sym typeface="+mn-ea"/>
              </a:rPr>
              <a:t>MMU</a:t>
            </a:r>
            <a:r>
              <a:rPr lang="zh-CN" altLang="en-US" dirty="0" smtClean="0">
                <a:solidFill>
                  <a:srgbClr val="00B050"/>
                </a:solidFill>
                <a:sym typeface="+mn-ea"/>
              </a:rPr>
              <a:t>触发</a:t>
            </a:r>
            <a:endParaRPr lang="zh-CN" altLang="en-US" dirty="0" smtClean="0">
              <a:solidFill>
                <a:srgbClr val="00B05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缺页故障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概念小测验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虚拟内存系统举例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CSAPP 9.6.4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的“简单内存系统”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Intel Core i7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虚拟内存实现的奇妙功能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分页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交换（磁盘为额外的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</a:rPr>
              <a:t>RAM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）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内存映射的文件（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</a:rPr>
              <a:t>RAM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是磁盘的缓存）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写时复制共享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概念小测验：</a:t>
            </a:r>
            <a:r>
              <a:rPr lang="en-US" altLang="zh-CN" dirty="0" smtClean="0"/>
              <a:t>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对于使用一级页表的简单系统来说，</a:t>
            </a:r>
            <a:r>
              <a:rPr lang="en-US" altLang="zh-CN" dirty="0" smtClean="0"/>
              <a:t>MMU</a:t>
            </a:r>
            <a:r>
              <a:rPr lang="zh-CN" altLang="en-US" dirty="0" smtClean="0"/>
              <a:t>在获取页表项之前必须做什么？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b="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915670" y="1586230"/>
            <a:ext cx="9709150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l"/>
            <a:r>
              <a:rPr lang="zh-CN" altLang="en-US" sz="2000" b="0" dirty="0" smtClean="0">
                <a:solidFill>
                  <a:srgbClr val="111111"/>
                </a:solidFill>
                <a:highlight>
                  <a:srgbClr val="F7F7F7"/>
                </a:highlight>
                <a:latin typeface="+mj-lt"/>
              </a:rPr>
              <a:t>在从简单系统的一级页表中取页表项之前，</a:t>
            </a:r>
            <a:r>
              <a:rPr lang="en-US" altLang="zh-CN" sz="2000" b="0" dirty="0" smtClean="0">
                <a:solidFill>
                  <a:srgbClr val="111111"/>
                </a:solidFill>
                <a:highlight>
                  <a:srgbClr val="F7F7F7"/>
                </a:highlight>
                <a:latin typeface="+mj-lt"/>
              </a:rPr>
              <a:t>MMU</a:t>
            </a:r>
            <a:r>
              <a:rPr lang="zh-CN" altLang="en-US" sz="2000" b="0" dirty="0" smtClean="0">
                <a:solidFill>
                  <a:srgbClr val="111111"/>
                </a:solidFill>
                <a:highlight>
                  <a:srgbClr val="F7F7F7"/>
                </a:highlight>
                <a:latin typeface="+mj-lt"/>
              </a:rPr>
              <a:t>（内存管理单元）要执行以下步骤：</a:t>
            </a:r>
            <a:endParaRPr lang="en-US" sz="2000" b="0" dirty="0">
              <a:solidFill>
                <a:srgbClr val="111111"/>
              </a:solidFill>
              <a:highlight>
                <a:srgbClr val="F7F7F7"/>
              </a:highlight>
              <a:latin typeface="+mj-lt"/>
            </a:endParaRPr>
          </a:p>
          <a:p>
            <a:pPr algn="l">
              <a:buFont typeface="+mj-lt"/>
              <a:buAutoNum type="arabicPeriod"/>
            </a:pPr>
            <a:r>
              <a:rPr lang="zh-CN" altLang="en-US" sz="2000" dirty="0" smtClean="0">
                <a:solidFill>
                  <a:srgbClr val="111111"/>
                </a:solidFill>
                <a:highlight>
                  <a:srgbClr val="F7F7F7"/>
                </a:highlight>
                <a:latin typeface="+mj-lt"/>
              </a:rPr>
              <a:t>拆分虚拟地址：</a:t>
            </a:r>
            <a:r>
              <a:rPr lang="en-US" sz="2000" b="0" dirty="0" smtClean="0">
                <a:solidFill>
                  <a:srgbClr val="111111"/>
                </a:solidFill>
                <a:highlight>
                  <a:srgbClr val="F7F7F7"/>
                </a:highlight>
                <a:latin typeface="+mj-lt"/>
              </a:rPr>
              <a:t>MMU </a:t>
            </a:r>
            <a:r>
              <a:rPr lang="zh-CN" altLang="en-US" sz="2000" b="0" dirty="0" smtClean="0">
                <a:solidFill>
                  <a:srgbClr val="111111"/>
                </a:solidFill>
                <a:highlight>
                  <a:srgbClr val="F7F7F7"/>
                </a:highlight>
                <a:latin typeface="+mj-lt"/>
              </a:rPr>
              <a:t>把虚拟地址拆分成两个部分</a:t>
            </a:r>
            <a:endParaRPr lang="en-US" sz="2000" b="0" dirty="0">
              <a:solidFill>
                <a:srgbClr val="111111"/>
              </a:solidFill>
              <a:highlight>
                <a:srgbClr val="F7F7F7"/>
              </a:highlight>
              <a:latin typeface="+mj-lt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2000" dirty="0" smtClean="0">
                <a:solidFill>
                  <a:srgbClr val="111111"/>
                </a:solidFill>
                <a:highlight>
                  <a:srgbClr val="F7F7F7"/>
                </a:highlight>
                <a:latin typeface="+mj-lt"/>
              </a:rPr>
              <a:t>虚拟页号（</a:t>
            </a:r>
            <a:r>
              <a:rPr lang="en-US" altLang="zh-CN" sz="2000" dirty="0" smtClean="0">
                <a:solidFill>
                  <a:srgbClr val="111111"/>
                </a:solidFill>
                <a:highlight>
                  <a:srgbClr val="F7F7F7"/>
                </a:highlight>
                <a:latin typeface="+mj-lt"/>
              </a:rPr>
              <a:t>VPN</a:t>
            </a:r>
            <a:r>
              <a:rPr lang="zh-CN" altLang="en-US" sz="2000" dirty="0" smtClean="0">
                <a:solidFill>
                  <a:srgbClr val="111111"/>
                </a:solidFill>
                <a:highlight>
                  <a:srgbClr val="F7F7F7"/>
                </a:highlight>
                <a:latin typeface="+mj-lt"/>
              </a:rPr>
              <a:t>）：</a:t>
            </a:r>
            <a:r>
              <a:rPr lang="zh-CN" altLang="en-US" sz="2000" b="0" dirty="0" smtClean="0">
                <a:solidFill>
                  <a:srgbClr val="111111"/>
                </a:solidFill>
                <a:highlight>
                  <a:srgbClr val="F7F7F7"/>
                </a:highlight>
                <a:latin typeface="+mj-lt"/>
              </a:rPr>
              <a:t>地址最左边的位表示</a:t>
            </a:r>
            <a:r>
              <a:rPr lang="en-US" altLang="zh-CN" sz="2000" b="0" dirty="0" smtClean="0">
                <a:solidFill>
                  <a:srgbClr val="111111"/>
                </a:solidFill>
                <a:highlight>
                  <a:srgbClr val="F7F7F7"/>
                </a:highlight>
                <a:latin typeface="+mj-lt"/>
              </a:rPr>
              <a:t>VPN</a:t>
            </a:r>
            <a:r>
              <a:rPr lang="zh-CN" altLang="en-US" sz="2000" b="0" dirty="0" smtClean="0">
                <a:solidFill>
                  <a:srgbClr val="111111"/>
                </a:solidFill>
                <a:highlight>
                  <a:srgbClr val="F7F7F7"/>
                </a:highlight>
                <a:latin typeface="+mj-lt"/>
              </a:rPr>
              <a:t>。</a:t>
            </a:r>
            <a:endParaRPr lang="en-US" sz="2000" b="0" dirty="0">
              <a:solidFill>
                <a:srgbClr val="111111"/>
              </a:solidFill>
              <a:highlight>
                <a:srgbClr val="F7F7F7"/>
              </a:highlight>
              <a:latin typeface="+mj-lt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CN" altLang="en-US" sz="2000" dirty="0" smtClean="0">
                <a:solidFill>
                  <a:srgbClr val="111111"/>
                </a:solidFill>
                <a:highlight>
                  <a:srgbClr val="F7F7F7"/>
                </a:highlight>
                <a:latin typeface="+mj-lt"/>
              </a:rPr>
              <a:t>虚拟页内偏移量（</a:t>
            </a:r>
            <a:r>
              <a:rPr lang="en-US" altLang="zh-CN" sz="2000" dirty="0" smtClean="0">
                <a:solidFill>
                  <a:srgbClr val="111111"/>
                </a:solidFill>
                <a:highlight>
                  <a:srgbClr val="F7F7F7"/>
                </a:highlight>
                <a:latin typeface="+mj-lt"/>
              </a:rPr>
              <a:t>VPO</a:t>
            </a:r>
            <a:r>
              <a:rPr lang="zh-CN" altLang="en-US" sz="2000" dirty="0" smtClean="0">
                <a:solidFill>
                  <a:srgbClr val="111111"/>
                </a:solidFill>
                <a:highlight>
                  <a:srgbClr val="F7F7F7"/>
                </a:highlight>
                <a:latin typeface="+mj-lt"/>
              </a:rPr>
              <a:t>）：</a:t>
            </a:r>
            <a:r>
              <a:rPr lang="zh-CN" altLang="en-US" sz="2000" b="0" dirty="0" smtClean="0">
                <a:solidFill>
                  <a:srgbClr val="111111"/>
                </a:solidFill>
                <a:highlight>
                  <a:srgbClr val="F7F7F7"/>
                </a:highlight>
                <a:latin typeface="+mj-lt"/>
              </a:rPr>
              <a:t>剩余的位表示页内偏移量。</a:t>
            </a:r>
            <a:endParaRPr lang="en-US" sz="2000" b="0" dirty="0">
              <a:solidFill>
                <a:srgbClr val="111111"/>
              </a:solidFill>
              <a:highlight>
                <a:srgbClr val="F7F7F7"/>
              </a:highlight>
              <a:latin typeface="+mj-lt"/>
            </a:endParaRPr>
          </a:p>
          <a:p>
            <a:pPr algn="l">
              <a:buFont typeface="+mj-lt"/>
              <a:buAutoNum type="arabicPeriod"/>
            </a:pPr>
            <a:r>
              <a:rPr lang="zh-CN" altLang="en-US" sz="2000" dirty="0" smtClean="0">
                <a:solidFill>
                  <a:srgbClr val="111111"/>
                </a:solidFill>
                <a:highlight>
                  <a:srgbClr val="F7F7F7"/>
                </a:highlight>
                <a:latin typeface="+mj-lt"/>
              </a:rPr>
              <a:t>检索页表：</a:t>
            </a:r>
            <a:r>
              <a:rPr lang="zh-CN" altLang="en-US" sz="2000" b="0" dirty="0" smtClean="0">
                <a:solidFill>
                  <a:srgbClr val="111111"/>
                </a:solidFill>
                <a:highlight>
                  <a:srgbClr val="F7F7F7"/>
                </a:highlight>
                <a:latin typeface="+mj-lt"/>
              </a:rPr>
              <a:t>直接把</a:t>
            </a:r>
            <a:r>
              <a:rPr lang="en-US" sz="2000" b="0" dirty="0" smtClean="0">
                <a:solidFill>
                  <a:srgbClr val="111111"/>
                </a:solidFill>
                <a:highlight>
                  <a:srgbClr val="F7F7F7"/>
                </a:highlight>
                <a:latin typeface="+mj-lt"/>
              </a:rPr>
              <a:t>VPN</a:t>
            </a:r>
            <a:r>
              <a:rPr lang="zh-CN" altLang="en-US" sz="2000" b="0" dirty="0" smtClean="0">
                <a:solidFill>
                  <a:srgbClr val="111111"/>
                </a:solidFill>
                <a:highlight>
                  <a:srgbClr val="F7F7F7"/>
                </a:highlight>
                <a:latin typeface="+mj-lt"/>
              </a:rPr>
              <a:t>当作索引号检索页表。</a:t>
            </a:r>
            <a:r>
              <a:rPr lang="en-US" altLang="zh-CN" sz="2000" b="0" dirty="0" smtClean="0">
                <a:solidFill>
                  <a:srgbClr val="111111"/>
                </a:solidFill>
                <a:highlight>
                  <a:srgbClr val="F7F7F7"/>
                </a:highlight>
                <a:latin typeface="+mj-lt"/>
              </a:rPr>
              <a:t>MMU </a:t>
            </a:r>
            <a:r>
              <a:rPr lang="zh-CN" altLang="en-US" sz="2000" b="0" dirty="0" smtClean="0">
                <a:solidFill>
                  <a:srgbClr val="111111"/>
                </a:solidFill>
                <a:highlight>
                  <a:srgbClr val="F7F7F7"/>
                </a:highlight>
                <a:latin typeface="+mj-lt"/>
              </a:rPr>
              <a:t>用</a:t>
            </a:r>
            <a:r>
              <a:rPr lang="en-US" altLang="zh-CN" sz="2000" b="0" dirty="0" smtClean="0">
                <a:solidFill>
                  <a:srgbClr val="111111"/>
                </a:solidFill>
                <a:highlight>
                  <a:srgbClr val="F7F7F7"/>
                </a:highlight>
                <a:latin typeface="+mj-lt"/>
              </a:rPr>
              <a:t>VPN</a:t>
            </a:r>
            <a:r>
              <a:rPr lang="zh-CN" altLang="en-US" sz="2000" b="0" dirty="0" smtClean="0">
                <a:solidFill>
                  <a:srgbClr val="111111"/>
                </a:solidFill>
                <a:highlight>
                  <a:srgbClr val="F7F7F7"/>
                </a:highlight>
                <a:latin typeface="+mj-lt"/>
              </a:rPr>
              <a:t>查找对应的</a:t>
            </a:r>
            <a:r>
              <a:rPr lang="zh-CN" altLang="en-US" sz="2000" b="0" dirty="0">
                <a:solidFill>
                  <a:srgbClr val="111111"/>
                </a:solidFill>
                <a:highlight>
                  <a:srgbClr val="F7F7F7"/>
                </a:highlight>
                <a:latin typeface="+mj-lt"/>
              </a:rPr>
              <a:t>页</a:t>
            </a:r>
            <a:r>
              <a:rPr lang="zh-CN" altLang="en-US" sz="2000" b="0" dirty="0" smtClean="0">
                <a:solidFill>
                  <a:srgbClr val="111111"/>
                </a:solidFill>
                <a:highlight>
                  <a:srgbClr val="F7F7F7"/>
                </a:highlight>
                <a:latin typeface="+mj-lt"/>
              </a:rPr>
              <a:t>表项。</a:t>
            </a:r>
            <a:endParaRPr lang="en-US" sz="2000" b="0" dirty="0">
              <a:solidFill>
                <a:srgbClr val="111111"/>
              </a:solidFill>
              <a:highlight>
                <a:srgbClr val="F7F7F7"/>
              </a:highlight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概念小测验：</a:t>
            </a:r>
            <a:r>
              <a:rPr lang="en-US" altLang="zh-CN" dirty="0" smtClean="0"/>
              <a:t>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为了从内存中读出页表项，</a:t>
            </a:r>
            <a:r>
              <a:rPr lang="en-US" dirty="0" smtClean="0"/>
              <a:t>MMU </a:t>
            </a:r>
            <a:r>
              <a:rPr lang="zh-CN" altLang="en-US" dirty="0" smtClean="0"/>
              <a:t>必须知道页表的</a:t>
            </a:r>
            <a:r>
              <a:rPr lang="zh-CN" altLang="en-US" i="1" dirty="0" smtClean="0"/>
              <a:t>物理</a:t>
            </a:r>
            <a:r>
              <a:rPr lang="zh-CN" altLang="en-US" dirty="0" smtClean="0"/>
              <a:t>地址。为什么需要页表</a:t>
            </a:r>
            <a:r>
              <a:rPr lang="zh-CN" altLang="en-US" dirty="0" smtClean="0"/>
              <a:t>的物理地址？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缺页故障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概念小测验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 smtClean="0"/>
              <a:t>虚拟内存系统举例</a:t>
            </a:r>
            <a:endParaRPr lang="en-US" dirty="0"/>
          </a:p>
          <a:p>
            <a:pPr lvl="1"/>
            <a:r>
              <a:rPr lang="en-US" dirty="0" smtClean="0"/>
              <a:t>CSAPP 9.6.4 </a:t>
            </a:r>
            <a:r>
              <a:rPr lang="zh-CN" altLang="en-US" dirty="0" smtClean="0"/>
              <a:t>的“简单内存系统”</a:t>
            </a:r>
            <a:endParaRPr lang="en-US" dirty="0"/>
          </a:p>
          <a:p>
            <a:pPr lvl="1"/>
            <a:r>
              <a:rPr lang="en-US" dirty="0"/>
              <a:t>Intel Core i7</a:t>
            </a:r>
            <a:endParaRPr lang="en-US" dirty="0"/>
          </a:p>
          <a:p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虚拟内存实现的奇妙功能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分页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交换（磁盘为额外的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</a:rPr>
              <a:t>RAM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）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内存映射的文件（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</a:rPr>
              <a:t>RAM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是磁盘的缓存）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写时复制共享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zh-CN" altLang="en-US" dirty="0" smtClean="0"/>
              <a:t>简单内存系统举例</a:t>
            </a:r>
            <a:endParaRPr lang="en-GB" dirty="0"/>
          </a:p>
        </p:txBody>
      </p:sp>
      <p:sp>
        <p:nvSpPr>
          <p:cNvPr id="33794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238760" algn="l"/>
                <a:tab pos="634365" algn="l"/>
                <a:tab pos="1320165" algn="l"/>
                <a:tab pos="2005965" algn="l"/>
                <a:tab pos="2691765" algn="l"/>
                <a:tab pos="3377565" algn="l"/>
                <a:tab pos="4063365" algn="l"/>
                <a:tab pos="4749165" algn="l"/>
                <a:tab pos="5434965" algn="l"/>
                <a:tab pos="6120765" algn="l"/>
                <a:tab pos="6806565" algn="l"/>
                <a:tab pos="7492365" algn="l"/>
              </a:tabLst>
            </a:pPr>
            <a:r>
              <a:rPr lang="zh-CN" altLang="en-US" dirty="0" smtClean="0">
                <a:effectLst/>
              </a:rPr>
              <a:t>编址</a:t>
            </a:r>
            <a:endParaRPr lang="en-GB" dirty="0">
              <a:effectLst/>
            </a:endParaRPr>
          </a:p>
          <a:p>
            <a:pPr lvl="1">
              <a:tabLst>
                <a:tab pos="238760" algn="l"/>
                <a:tab pos="634365" algn="l"/>
                <a:tab pos="1320165" algn="l"/>
                <a:tab pos="2005965" algn="l"/>
                <a:tab pos="2691765" algn="l"/>
                <a:tab pos="3377565" algn="l"/>
                <a:tab pos="4063365" algn="l"/>
                <a:tab pos="4749165" algn="l"/>
                <a:tab pos="5434965" algn="l"/>
                <a:tab pos="6120765" algn="l"/>
                <a:tab pos="6806565" algn="l"/>
                <a:tab pos="7492365" algn="l"/>
              </a:tabLst>
            </a:pPr>
            <a:r>
              <a:rPr lang="en-GB" dirty="0" smtClean="0"/>
              <a:t>14 </a:t>
            </a:r>
            <a:r>
              <a:rPr lang="zh-CN" altLang="en-US" dirty="0" smtClean="0"/>
              <a:t>位虚拟地址</a:t>
            </a:r>
            <a:endParaRPr lang="en-GB" dirty="0"/>
          </a:p>
          <a:p>
            <a:pPr lvl="1">
              <a:tabLst>
                <a:tab pos="238760" algn="l"/>
                <a:tab pos="634365" algn="l"/>
                <a:tab pos="1320165" algn="l"/>
                <a:tab pos="2005965" algn="l"/>
                <a:tab pos="2691765" algn="l"/>
                <a:tab pos="3377565" algn="l"/>
                <a:tab pos="4063365" algn="l"/>
                <a:tab pos="4749165" algn="l"/>
                <a:tab pos="5434965" algn="l"/>
                <a:tab pos="6120765" algn="l"/>
                <a:tab pos="6806565" algn="l"/>
                <a:tab pos="7492365" algn="l"/>
              </a:tabLst>
            </a:pPr>
            <a:r>
              <a:rPr lang="en-GB" dirty="0" smtClean="0"/>
              <a:t>12 </a:t>
            </a:r>
            <a:r>
              <a:rPr lang="zh-CN" altLang="en-US" dirty="0" smtClean="0"/>
              <a:t>位物理地址</a:t>
            </a:r>
            <a:endParaRPr lang="en-GB" dirty="0"/>
          </a:p>
          <a:p>
            <a:pPr lvl="1">
              <a:tabLst>
                <a:tab pos="238760" algn="l"/>
                <a:tab pos="634365" algn="l"/>
                <a:tab pos="1320165" algn="l"/>
                <a:tab pos="2005965" algn="l"/>
                <a:tab pos="2691765" algn="l"/>
                <a:tab pos="3377565" algn="l"/>
                <a:tab pos="4063365" algn="l"/>
                <a:tab pos="4749165" algn="l"/>
                <a:tab pos="5434965" algn="l"/>
                <a:tab pos="6120765" algn="l"/>
                <a:tab pos="6806565" algn="l"/>
                <a:tab pos="7492365" algn="l"/>
              </a:tabLst>
            </a:pPr>
            <a:r>
              <a:rPr lang="zh-CN" altLang="en-US" dirty="0" smtClean="0"/>
              <a:t>页大小</a:t>
            </a:r>
            <a:r>
              <a:rPr lang="en-GB" dirty="0" smtClean="0"/>
              <a:t> </a:t>
            </a:r>
            <a:r>
              <a:rPr lang="en-GB" dirty="0"/>
              <a:t>= 64 </a:t>
            </a:r>
            <a:r>
              <a:rPr lang="zh-CN" altLang="en-US" dirty="0" smtClean="0"/>
              <a:t>字节</a:t>
            </a:r>
            <a:endParaRPr lang="en-GB" dirty="0"/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3387330" y="3403997"/>
            <a:ext cx="365522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798" name="Rectangle 6"/>
          <p:cNvSpPr>
            <a:spLocks noChangeArrowheads="1"/>
          </p:cNvSpPr>
          <p:nvPr/>
        </p:nvSpPr>
        <p:spPr bwMode="auto">
          <a:xfrm>
            <a:off x="3387330" y="3175397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13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3800" name="Rectangle 8"/>
          <p:cNvSpPr>
            <a:spLocks noChangeArrowheads="1"/>
          </p:cNvSpPr>
          <p:nvPr/>
        </p:nvSpPr>
        <p:spPr bwMode="auto">
          <a:xfrm>
            <a:off x="3752851" y="3403997"/>
            <a:ext cx="365522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801" name="Rectangle 9"/>
          <p:cNvSpPr>
            <a:spLocks noChangeArrowheads="1"/>
          </p:cNvSpPr>
          <p:nvPr/>
        </p:nvSpPr>
        <p:spPr bwMode="auto">
          <a:xfrm>
            <a:off x="3752851" y="3175397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12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3803" name="Rectangle 11"/>
          <p:cNvSpPr>
            <a:spLocks noChangeArrowheads="1"/>
          </p:cNvSpPr>
          <p:nvPr/>
        </p:nvSpPr>
        <p:spPr bwMode="auto">
          <a:xfrm>
            <a:off x="4118374" y="3403997"/>
            <a:ext cx="365522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804" name="Rectangle 12"/>
          <p:cNvSpPr>
            <a:spLocks noChangeArrowheads="1"/>
          </p:cNvSpPr>
          <p:nvPr/>
        </p:nvSpPr>
        <p:spPr bwMode="auto">
          <a:xfrm>
            <a:off x="4118374" y="3175397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11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3806" name="Rectangle 14"/>
          <p:cNvSpPr>
            <a:spLocks noChangeArrowheads="1"/>
          </p:cNvSpPr>
          <p:nvPr/>
        </p:nvSpPr>
        <p:spPr bwMode="auto">
          <a:xfrm>
            <a:off x="4483895" y="3403997"/>
            <a:ext cx="365522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807" name="Rectangle 15"/>
          <p:cNvSpPr>
            <a:spLocks noChangeArrowheads="1"/>
          </p:cNvSpPr>
          <p:nvPr/>
        </p:nvSpPr>
        <p:spPr bwMode="auto">
          <a:xfrm>
            <a:off x="4483895" y="3175397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10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3809" name="Rectangle 17"/>
          <p:cNvSpPr>
            <a:spLocks noChangeArrowheads="1"/>
          </p:cNvSpPr>
          <p:nvPr/>
        </p:nvSpPr>
        <p:spPr bwMode="auto">
          <a:xfrm>
            <a:off x="4849417" y="3403997"/>
            <a:ext cx="365522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810" name="Rectangle 18"/>
          <p:cNvSpPr>
            <a:spLocks noChangeArrowheads="1"/>
          </p:cNvSpPr>
          <p:nvPr/>
        </p:nvSpPr>
        <p:spPr bwMode="auto">
          <a:xfrm>
            <a:off x="4849417" y="3175397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9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3812" name="Rectangle 20"/>
          <p:cNvSpPr>
            <a:spLocks noChangeArrowheads="1"/>
          </p:cNvSpPr>
          <p:nvPr/>
        </p:nvSpPr>
        <p:spPr bwMode="auto">
          <a:xfrm>
            <a:off x="5214939" y="3403997"/>
            <a:ext cx="365522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813" name="Rectangle 21"/>
          <p:cNvSpPr>
            <a:spLocks noChangeArrowheads="1"/>
          </p:cNvSpPr>
          <p:nvPr/>
        </p:nvSpPr>
        <p:spPr bwMode="auto">
          <a:xfrm>
            <a:off x="5214939" y="3175397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8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3815" name="Rectangle 23"/>
          <p:cNvSpPr>
            <a:spLocks noChangeArrowheads="1"/>
          </p:cNvSpPr>
          <p:nvPr/>
        </p:nvSpPr>
        <p:spPr bwMode="auto">
          <a:xfrm>
            <a:off x="5580461" y="3403997"/>
            <a:ext cx="365522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816" name="Rectangle 24"/>
          <p:cNvSpPr>
            <a:spLocks noChangeArrowheads="1"/>
          </p:cNvSpPr>
          <p:nvPr/>
        </p:nvSpPr>
        <p:spPr bwMode="auto">
          <a:xfrm>
            <a:off x="5580461" y="3175397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7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3818" name="Rectangle 26"/>
          <p:cNvSpPr>
            <a:spLocks noChangeArrowheads="1"/>
          </p:cNvSpPr>
          <p:nvPr/>
        </p:nvSpPr>
        <p:spPr bwMode="auto">
          <a:xfrm>
            <a:off x="5945983" y="3403997"/>
            <a:ext cx="365522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819" name="Rectangle 27"/>
          <p:cNvSpPr>
            <a:spLocks noChangeArrowheads="1"/>
          </p:cNvSpPr>
          <p:nvPr/>
        </p:nvSpPr>
        <p:spPr bwMode="auto">
          <a:xfrm>
            <a:off x="5945983" y="3175397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6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3821" name="Rectangle 29"/>
          <p:cNvSpPr>
            <a:spLocks noChangeArrowheads="1"/>
          </p:cNvSpPr>
          <p:nvPr/>
        </p:nvSpPr>
        <p:spPr bwMode="auto">
          <a:xfrm>
            <a:off x="6311505" y="3403997"/>
            <a:ext cx="365522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822" name="Rectangle 30"/>
          <p:cNvSpPr>
            <a:spLocks noChangeArrowheads="1"/>
          </p:cNvSpPr>
          <p:nvPr/>
        </p:nvSpPr>
        <p:spPr bwMode="auto">
          <a:xfrm>
            <a:off x="6311505" y="3175397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5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3824" name="Rectangle 32"/>
          <p:cNvSpPr>
            <a:spLocks noChangeArrowheads="1"/>
          </p:cNvSpPr>
          <p:nvPr/>
        </p:nvSpPr>
        <p:spPr bwMode="auto">
          <a:xfrm>
            <a:off x="6677026" y="3403997"/>
            <a:ext cx="365522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825" name="Rectangle 33"/>
          <p:cNvSpPr>
            <a:spLocks noChangeArrowheads="1"/>
          </p:cNvSpPr>
          <p:nvPr/>
        </p:nvSpPr>
        <p:spPr bwMode="auto">
          <a:xfrm>
            <a:off x="6677026" y="3175397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4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3827" name="Rectangle 35"/>
          <p:cNvSpPr>
            <a:spLocks noChangeArrowheads="1"/>
          </p:cNvSpPr>
          <p:nvPr/>
        </p:nvSpPr>
        <p:spPr bwMode="auto">
          <a:xfrm>
            <a:off x="7042549" y="3403997"/>
            <a:ext cx="365522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828" name="Rectangle 36"/>
          <p:cNvSpPr>
            <a:spLocks noChangeArrowheads="1"/>
          </p:cNvSpPr>
          <p:nvPr/>
        </p:nvSpPr>
        <p:spPr bwMode="auto">
          <a:xfrm>
            <a:off x="7042549" y="3175397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3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3830" name="Rectangle 38"/>
          <p:cNvSpPr>
            <a:spLocks noChangeArrowheads="1"/>
          </p:cNvSpPr>
          <p:nvPr/>
        </p:nvSpPr>
        <p:spPr bwMode="auto">
          <a:xfrm>
            <a:off x="7408070" y="3403997"/>
            <a:ext cx="365522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831" name="Rectangle 39"/>
          <p:cNvSpPr>
            <a:spLocks noChangeArrowheads="1"/>
          </p:cNvSpPr>
          <p:nvPr/>
        </p:nvSpPr>
        <p:spPr bwMode="auto">
          <a:xfrm>
            <a:off x="7408070" y="3175397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2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3833" name="Rectangle 41"/>
          <p:cNvSpPr>
            <a:spLocks noChangeArrowheads="1"/>
          </p:cNvSpPr>
          <p:nvPr/>
        </p:nvSpPr>
        <p:spPr bwMode="auto">
          <a:xfrm>
            <a:off x="7773592" y="3403997"/>
            <a:ext cx="365522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834" name="Rectangle 42"/>
          <p:cNvSpPr>
            <a:spLocks noChangeArrowheads="1"/>
          </p:cNvSpPr>
          <p:nvPr/>
        </p:nvSpPr>
        <p:spPr bwMode="auto">
          <a:xfrm>
            <a:off x="7773592" y="3175397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3836" name="Rectangle 44"/>
          <p:cNvSpPr>
            <a:spLocks noChangeArrowheads="1"/>
          </p:cNvSpPr>
          <p:nvPr/>
        </p:nvSpPr>
        <p:spPr bwMode="auto">
          <a:xfrm>
            <a:off x="8139114" y="3403997"/>
            <a:ext cx="365522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837" name="Rectangle 45"/>
          <p:cNvSpPr>
            <a:spLocks noChangeArrowheads="1"/>
          </p:cNvSpPr>
          <p:nvPr/>
        </p:nvSpPr>
        <p:spPr bwMode="auto">
          <a:xfrm>
            <a:off x="8139114" y="3175397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0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3840" name="Rectangle 48"/>
          <p:cNvSpPr>
            <a:spLocks noChangeArrowheads="1"/>
          </p:cNvSpPr>
          <p:nvPr/>
        </p:nvSpPr>
        <p:spPr bwMode="auto">
          <a:xfrm>
            <a:off x="4118374" y="4931569"/>
            <a:ext cx="365522" cy="2286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841" name="Rectangle 49"/>
          <p:cNvSpPr>
            <a:spLocks noChangeArrowheads="1"/>
          </p:cNvSpPr>
          <p:nvPr/>
        </p:nvSpPr>
        <p:spPr bwMode="auto">
          <a:xfrm>
            <a:off x="4118374" y="4702969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11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3843" name="Rectangle 51"/>
          <p:cNvSpPr>
            <a:spLocks noChangeArrowheads="1"/>
          </p:cNvSpPr>
          <p:nvPr/>
        </p:nvSpPr>
        <p:spPr bwMode="auto">
          <a:xfrm>
            <a:off x="4483895" y="4931569"/>
            <a:ext cx="365522" cy="2286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844" name="Rectangle 52"/>
          <p:cNvSpPr>
            <a:spLocks noChangeArrowheads="1"/>
          </p:cNvSpPr>
          <p:nvPr/>
        </p:nvSpPr>
        <p:spPr bwMode="auto">
          <a:xfrm>
            <a:off x="4483895" y="4702969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10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3846" name="Rectangle 54"/>
          <p:cNvSpPr>
            <a:spLocks noChangeArrowheads="1"/>
          </p:cNvSpPr>
          <p:nvPr/>
        </p:nvSpPr>
        <p:spPr bwMode="auto">
          <a:xfrm>
            <a:off x="4849417" y="4931569"/>
            <a:ext cx="365522" cy="2286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847" name="Rectangle 55"/>
          <p:cNvSpPr>
            <a:spLocks noChangeArrowheads="1"/>
          </p:cNvSpPr>
          <p:nvPr/>
        </p:nvSpPr>
        <p:spPr bwMode="auto">
          <a:xfrm>
            <a:off x="4849417" y="4702969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9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3849" name="Rectangle 57"/>
          <p:cNvSpPr>
            <a:spLocks noChangeArrowheads="1"/>
          </p:cNvSpPr>
          <p:nvPr/>
        </p:nvSpPr>
        <p:spPr bwMode="auto">
          <a:xfrm>
            <a:off x="5214939" y="4931569"/>
            <a:ext cx="365522" cy="2286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850" name="Rectangle 58"/>
          <p:cNvSpPr>
            <a:spLocks noChangeArrowheads="1"/>
          </p:cNvSpPr>
          <p:nvPr/>
        </p:nvSpPr>
        <p:spPr bwMode="auto">
          <a:xfrm>
            <a:off x="5214939" y="4702969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8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3852" name="Rectangle 60"/>
          <p:cNvSpPr>
            <a:spLocks noChangeArrowheads="1"/>
          </p:cNvSpPr>
          <p:nvPr/>
        </p:nvSpPr>
        <p:spPr bwMode="auto">
          <a:xfrm>
            <a:off x="5580461" y="4931569"/>
            <a:ext cx="365522" cy="2286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853" name="Rectangle 61"/>
          <p:cNvSpPr>
            <a:spLocks noChangeArrowheads="1"/>
          </p:cNvSpPr>
          <p:nvPr/>
        </p:nvSpPr>
        <p:spPr bwMode="auto">
          <a:xfrm>
            <a:off x="5580461" y="4702969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7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3855" name="Rectangle 63"/>
          <p:cNvSpPr>
            <a:spLocks noChangeArrowheads="1"/>
          </p:cNvSpPr>
          <p:nvPr/>
        </p:nvSpPr>
        <p:spPr bwMode="auto">
          <a:xfrm>
            <a:off x="5945983" y="4931569"/>
            <a:ext cx="365522" cy="2286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856" name="Rectangle 64"/>
          <p:cNvSpPr>
            <a:spLocks noChangeArrowheads="1"/>
          </p:cNvSpPr>
          <p:nvPr/>
        </p:nvSpPr>
        <p:spPr bwMode="auto">
          <a:xfrm>
            <a:off x="5945983" y="4702969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6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3858" name="Rectangle 66"/>
          <p:cNvSpPr>
            <a:spLocks noChangeArrowheads="1"/>
          </p:cNvSpPr>
          <p:nvPr/>
        </p:nvSpPr>
        <p:spPr bwMode="auto">
          <a:xfrm>
            <a:off x="6311505" y="4931569"/>
            <a:ext cx="365522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859" name="Rectangle 67"/>
          <p:cNvSpPr>
            <a:spLocks noChangeArrowheads="1"/>
          </p:cNvSpPr>
          <p:nvPr/>
        </p:nvSpPr>
        <p:spPr bwMode="auto">
          <a:xfrm>
            <a:off x="6311505" y="4702969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5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3861" name="Rectangle 69"/>
          <p:cNvSpPr>
            <a:spLocks noChangeArrowheads="1"/>
          </p:cNvSpPr>
          <p:nvPr/>
        </p:nvSpPr>
        <p:spPr bwMode="auto">
          <a:xfrm>
            <a:off x="6677026" y="4931569"/>
            <a:ext cx="365522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862" name="Rectangle 70"/>
          <p:cNvSpPr>
            <a:spLocks noChangeArrowheads="1"/>
          </p:cNvSpPr>
          <p:nvPr/>
        </p:nvSpPr>
        <p:spPr bwMode="auto">
          <a:xfrm>
            <a:off x="6677026" y="4702969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4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3864" name="Rectangle 72"/>
          <p:cNvSpPr>
            <a:spLocks noChangeArrowheads="1"/>
          </p:cNvSpPr>
          <p:nvPr/>
        </p:nvSpPr>
        <p:spPr bwMode="auto">
          <a:xfrm>
            <a:off x="7042549" y="4931569"/>
            <a:ext cx="365522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865" name="Rectangle 73"/>
          <p:cNvSpPr>
            <a:spLocks noChangeArrowheads="1"/>
          </p:cNvSpPr>
          <p:nvPr/>
        </p:nvSpPr>
        <p:spPr bwMode="auto">
          <a:xfrm>
            <a:off x="7042549" y="4702969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3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3867" name="Rectangle 75"/>
          <p:cNvSpPr>
            <a:spLocks noChangeArrowheads="1"/>
          </p:cNvSpPr>
          <p:nvPr/>
        </p:nvSpPr>
        <p:spPr bwMode="auto">
          <a:xfrm>
            <a:off x="7408070" y="4931569"/>
            <a:ext cx="365522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868" name="Rectangle 76"/>
          <p:cNvSpPr>
            <a:spLocks noChangeArrowheads="1"/>
          </p:cNvSpPr>
          <p:nvPr/>
        </p:nvSpPr>
        <p:spPr bwMode="auto">
          <a:xfrm>
            <a:off x="7408070" y="4702969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2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3870" name="Rectangle 78"/>
          <p:cNvSpPr>
            <a:spLocks noChangeArrowheads="1"/>
          </p:cNvSpPr>
          <p:nvPr/>
        </p:nvSpPr>
        <p:spPr bwMode="auto">
          <a:xfrm>
            <a:off x="7773592" y="4931569"/>
            <a:ext cx="365522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871" name="Rectangle 79"/>
          <p:cNvSpPr>
            <a:spLocks noChangeArrowheads="1"/>
          </p:cNvSpPr>
          <p:nvPr/>
        </p:nvSpPr>
        <p:spPr bwMode="auto">
          <a:xfrm>
            <a:off x="7773592" y="4702969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3873" name="Rectangle 81"/>
          <p:cNvSpPr>
            <a:spLocks noChangeArrowheads="1"/>
          </p:cNvSpPr>
          <p:nvPr/>
        </p:nvSpPr>
        <p:spPr bwMode="auto">
          <a:xfrm>
            <a:off x="8139114" y="4931569"/>
            <a:ext cx="365522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874" name="Rectangle 82"/>
          <p:cNvSpPr>
            <a:spLocks noChangeArrowheads="1"/>
          </p:cNvSpPr>
          <p:nvPr/>
        </p:nvSpPr>
        <p:spPr bwMode="auto">
          <a:xfrm>
            <a:off x="8139114" y="4702969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0</a:t>
            </a:r>
            <a:endParaRPr lang="en-GB" sz="1050" dirty="0">
              <a:latin typeface="Calibri" pitchFamily="34" charset="0"/>
            </a:endParaRPr>
          </a:p>
        </p:txBody>
      </p:sp>
      <p:grpSp>
        <p:nvGrpSpPr>
          <p:cNvPr id="2" name="Group 83"/>
          <p:cNvGrpSpPr/>
          <p:nvPr/>
        </p:nvGrpSpPr>
        <p:grpSpPr bwMode="auto">
          <a:xfrm>
            <a:off x="6311504" y="3752854"/>
            <a:ext cx="2193131" cy="310753"/>
            <a:chOff x="3061" y="2261"/>
            <a:chExt cx="1842" cy="261"/>
          </a:xfrm>
        </p:grpSpPr>
        <p:sp>
          <p:nvSpPr>
            <p:cNvPr id="33876" name="Line 84"/>
            <p:cNvSpPr>
              <a:spLocks noChangeShapeType="1"/>
            </p:cNvSpPr>
            <p:nvPr/>
          </p:nvSpPr>
          <p:spPr bwMode="auto">
            <a:xfrm>
              <a:off x="3061" y="2352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3877" name="Text Box 85"/>
            <p:cNvSpPr txBox="1">
              <a:spLocks noChangeArrowheads="1"/>
            </p:cNvSpPr>
            <p:nvPr/>
          </p:nvSpPr>
          <p:spPr bwMode="auto">
            <a:xfrm>
              <a:off x="3768" y="2261"/>
              <a:ext cx="464" cy="261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</a:ln>
            <a:effectLst/>
          </p:spPr>
          <p:txBody>
            <a:bodyPr wrap="none" lIns="67770" tIns="33210" rIns="67770" bIns="33210">
              <a:spAutoFit/>
            </a:bodyPr>
            <a:lstStyle/>
            <a:p>
              <a:pPr>
                <a:lnSpc>
                  <a:spcPct val="88000"/>
                </a:lnSpc>
                <a:spcBef>
                  <a:spcPts val="50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800" dirty="0">
                  <a:latin typeface="Calibri" pitchFamily="34" charset="0"/>
                </a:rPr>
                <a:t>VPO</a:t>
              </a:r>
              <a:endParaRPr lang="en-GB" sz="1800" dirty="0">
                <a:latin typeface="Calibri" pitchFamily="34" charset="0"/>
              </a:endParaRPr>
            </a:p>
          </p:txBody>
        </p:sp>
      </p:grpSp>
      <p:grpSp>
        <p:nvGrpSpPr>
          <p:cNvPr id="3" name="Group 86"/>
          <p:cNvGrpSpPr/>
          <p:nvPr/>
        </p:nvGrpSpPr>
        <p:grpSpPr bwMode="auto">
          <a:xfrm>
            <a:off x="6324601" y="5217323"/>
            <a:ext cx="2193132" cy="310753"/>
            <a:chOff x="3072" y="3312"/>
            <a:chExt cx="1842" cy="261"/>
          </a:xfrm>
        </p:grpSpPr>
        <p:sp>
          <p:nvSpPr>
            <p:cNvPr id="33879" name="Line 87"/>
            <p:cNvSpPr>
              <a:spLocks noChangeShapeType="1"/>
            </p:cNvSpPr>
            <p:nvPr/>
          </p:nvSpPr>
          <p:spPr bwMode="auto">
            <a:xfrm>
              <a:off x="3072" y="3403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3880" name="Text Box 88"/>
            <p:cNvSpPr txBox="1">
              <a:spLocks noChangeArrowheads="1"/>
            </p:cNvSpPr>
            <p:nvPr/>
          </p:nvSpPr>
          <p:spPr bwMode="auto">
            <a:xfrm>
              <a:off x="3779" y="3312"/>
              <a:ext cx="453" cy="261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</a:ln>
            <a:effectLst/>
          </p:spPr>
          <p:txBody>
            <a:bodyPr wrap="none" lIns="67770" tIns="33210" rIns="67770" bIns="33210">
              <a:spAutoFit/>
            </a:bodyPr>
            <a:lstStyle/>
            <a:p>
              <a:pPr>
                <a:lnSpc>
                  <a:spcPct val="88000"/>
                </a:lnSpc>
                <a:spcBef>
                  <a:spcPts val="50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800" dirty="0">
                  <a:latin typeface="Calibri" pitchFamily="34" charset="0"/>
                </a:rPr>
                <a:t>PPO</a:t>
              </a:r>
              <a:endParaRPr lang="en-GB" sz="1800" dirty="0">
                <a:latin typeface="Calibri" pitchFamily="34" charset="0"/>
              </a:endParaRPr>
            </a:p>
          </p:txBody>
        </p:sp>
      </p:grpSp>
      <p:grpSp>
        <p:nvGrpSpPr>
          <p:cNvPr id="4" name="Group 89"/>
          <p:cNvGrpSpPr/>
          <p:nvPr/>
        </p:nvGrpSpPr>
        <p:grpSpPr bwMode="auto">
          <a:xfrm>
            <a:off x="4152900" y="5217323"/>
            <a:ext cx="2193132" cy="310753"/>
            <a:chOff x="1248" y="3312"/>
            <a:chExt cx="1842" cy="261"/>
          </a:xfrm>
        </p:grpSpPr>
        <p:sp>
          <p:nvSpPr>
            <p:cNvPr id="33882" name="Line 90"/>
            <p:cNvSpPr>
              <a:spLocks noChangeShapeType="1"/>
            </p:cNvSpPr>
            <p:nvPr/>
          </p:nvSpPr>
          <p:spPr bwMode="auto">
            <a:xfrm>
              <a:off x="1248" y="3403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3883" name="Text Box 91"/>
            <p:cNvSpPr txBox="1">
              <a:spLocks noChangeArrowheads="1"/>
            </p:cNvSpPr>
            <p:nvPr/>
          </p:nvSpPr>
          <p:spPr bwMode="auto">
            <a:xfrm>
              <a:off x="1955" y="3312"/>
              <a:ext cx="450" cy="261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</a:ln>
            <a:effectLst/>
          </p:spPr>
          <p:txBody>
            <a:bodyPr wrap="none" lIns="67770" tIns="33210" rIns="67770" bIns="33210">
              <a:spAutoFit/>
            </a:bodyPr>
            <a:lstStyle/>
            <a:p>
              <a:pPr>
                <a:lnSpc>
                  <a:spcPct val="88000"/>
                </a:lnSpc>
                <a:spcBef>
                  <a:spcPts val="50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800" dirty="0">
                  <a:latin typeface="Calibri" pitchFamily="34" charset="0"/>
                </a:rPr>
                <a:t>PPN</a:t>
              </a:r>
              <a:endParaRPr lang="en-GB" sz="1800" dirty="0">
                <a:latin typeface="Calibri" pitchFamily="34" charset="0"/>
              </a:endParaRPr>
            </a:p>
          </p:txBody>
        </p:sp>
      </p:grpSp>
      <p:grpSp>
        <p:nvGrpSpPr>
          <p:cNvPr id="5" name="Group 92"/>
          <p:cNvGrpSpPr/>
          <p:nvPr/>
        </p:nvGrpSpPr>
        <p:grpSpPr bwMode="auto">
          <a:xfrm>
            <a:off x="3387330" y="3746901"/>
            <a:ext cx="2937272" cy="310753"/>
            <a:chOff x="605" y="2256"/>
            <a:chExt cx="2467" cy="261"/>
          </a:xfrm>
        </p:grpSpPr>
        <p:sp>
          <p:nvSpPr>
            <p:cNvPr id="33885" name="Line 93"/>
            <p:cNvSpPr>
              <a:spLocks noChangeShapeType="1"/>
            </p:cNvSpPr>
            <p:nvPr/>
          </p:nvSpPr>
          <p:spPr bwMode="auto">
            <a:xfrm>
              <a:off x="605" y="2347"/>
              <a:ext cx="2467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3886" name="Text Box 94"/>
            <p:cNvSpPr txBox="1">
              <a:spLocks noChangeArrowheads="1"/>
            </p:cNvSpPr>
            <p:nvPr/>
          </p:nvSpPr>
          <p:spPr bwMode="auto">
            <a:xfrm>
              <a:off x="1553" y="2256"/>
              <a:ext cx="461" cy="261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</a:ln>
            <a:effectLst/>
          </p:spPr>
          <p:txBody>
            <a:bodyPr wrap="none" lIns="67770" tIns="33210" rIns="67770" bIns="33210">
              <a:spAutoFit/>
            </a:bodyPr>
            <a:lstStyle/>
            <a:p>
              <a:pPr>
                <a:lnSpc>
                  <a:spcPct val="88000"/>
                </a:lnSpc>
                <a:spcBef>
                  <a:spcPts val="50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800" dirty="0">
                  <a:latin typeface="Calibri" pitchFamily="34" charset="0"/>
                </a:rPr>
                <a:t>VPN</a:t>
              </a:r>
              <a:endParaRPr lang="en-GB" sz="1800" dirty="0">
                <a:latin typeface="Calibri" pitchFamily="34" charset="0"/>
              </a:endParaRPr>
            </a:p>
          </p:txBody>
        </p:sp>
      </p:grpSp>
      <p:sp>
        <p:nvSpPr>
          <p:cNvPr id="33887" name="Text Box 95"/>
          <p:cNvSpPr txBox="1">
            <a:spLocks noChangeArrowheads="1"/>
          </p:cNvSpPr>
          <p:nvPr/>
        </p:nvSpPr>
        <p:spPr bwMode="auto">
          <a:xfrm>
            <a:off x="3910015" y="4074320"/>
            <a:ext cx="1066605" cy="31085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50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zh-CN" alt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虚拟页号</a:t>
            </a:r>
            <a:endParaRPr lang="en-GB" sz="1800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</a:endParaRPr>
          </a:p>
        </p:txBody>
      </p:sp>
      <p:sp>
        <p:nvSpPr>
          <p:cNvPr id="33888" name="Text Box 96"/>
          <p:cNvSpPr txBox="1">
            <a:spLocks noChangeArrowheads="1"/>
          </p:cNvSpPr>
          <p:nvPr/>
        </p:nvSpPr>
        <p:spPr bwMode="auto">
          <a:xfrm>
            <a:off x="6635752" y="4065985"/>
            <a:ext cx="1763912" cy="31085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50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zh-CN" alt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虚拟页内偏移量</a:t>
            </a:r>
            <a:endParaRPr lang="en-GB" sz="1800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</a:endParaRPr>
          </a:p>
        </p:txBody>
      </p:sp>
      <p:sp>
        <p:nvSpPr>
          <p:cNvPr id="33889" name="Text Box 97"/>
          <p:cNvSpPr txBox="1">
            <a:spLocks noChangeArrowheads="1"/>
          </p:cNvSpPr>
          <p:nvPr/>
        </p:nvSpPr>
        <p:spPr bwMode="auto">
          <a:xfrm>
            <a:off x="4140733" y="5503800"/>
            <a:ext cx="1066605" cy="31085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50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zh-CN" alt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物理页号</a:t>
            </a:r>
            <a:endParaRPr lang="en-GB" sz="1800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</a:endParaRPr>
          </a:p>
        </p:txBody>
      </p:sp>
      <p:sp>
        <p:nvSpPr>
          <p:cNvPr id="33890" name="Text Box 98"/>
          <p:cNvSpPr txBox="1">
            <a:spLocks noChangeArrowheads="1"/>
          </p:cNvSpPr>
          <p:nvPr/>
        </p:nvSpPr>
        <p:spPr bwMode="auto">
          <a:xfrm>
            <a:off x="6493650" y="5503070"/>
            <a:ext cx="1763912" cy="31085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 algn="ctr">
              <a:lnSpc>
                <a:spcPct val="88000"/>
              </a:lnSpc>
              <a:spcBef>
                <a:spcPts val="50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zh-CN" altLang="en-US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物理页内偏移量</a:t>
            </a:r>
            <a:endParaRPr lang="en-GB" sz="1800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4009559" y="4429920"/>
            <a:ext cx="6116242" cy="1220392"/>
            <a:chOff x="2211252" y="149729"/>
            <a:chExt cx="8154989" cy="1627189"/>
          </a:xfrm>
        </p:grpSpPr>
        <p:sp>
          <p:nvSpPr>
            <p:cNvPr id="145" name="Rectangle 60"/>
            <p:cNvSpPr>
              <a:spLocks noChangeArrowheads="1"/>
            </p:cNvSpPr>
            <p:nvPr/>
          </p:nvSpPr>
          <p:spPr bwMode="auto">
            <a:xfrm>
              <a:off x="9739177" y="1449892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46" name="Rectangle 61"/>
            <p:cNvSpPr>
              <a:spLocks noChangeArrowheads="1"/>
            </p:cNvSpPr>
            <p:nvPr/>
          </p:nvSpPr>
          <p:spPr bwMode="auto">
            <a:xfrm>
              <a:off x="9108940" y="1449892"/>
              <a:ext cx="630238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47" name="Rectangle 62"/>
            <p:cNvSpPr>
              <a:spLocks noChangeArrowheads="1"/>
            </p:cNvSpPr>
            <p:nvPr/>
          </p:nvSpPr>
          <p:spPr bwMode="auto">
            <a:xfrm>
              <a:off x="8483465" y="1449892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02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48" name="Rectangle 63"/>
            <p:cNvSpPr>
              <a:spLocks noChangeArrowheads="1"/>
            </p:cNvSpPr>
            <p:nvPr/>
          </p:nvSpPr>
          <p:spPr bwMode="auto">
            <a:xfrm>
              <a:off x="7854815" y="1449892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49" name="Rectangle 64"/>
            <p:cNvSpPr>
              <a:spLocks noChangeArrowheads="1"/>
            </p:cNvSpPr>
            <p:nvPr/>
          </p:nvSpPr>
          <p:spPr bwMode="auto">
            <a:xfrm>
              <a:off x="7229340" y="1449892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34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50" name="Rectangle 65"/>
            <p:cNvSpPr>
              <a:spLocks noChangeArrowheads="1"/>
            </p:cNvSpPr>
            <p:nvPr/>
          </p:nvSpPr>
          <p:spPr bwMode="auto">
            <a:xfrm>
              <a:off x="6602277" y="1449892"/>
              <a:ext cx="627063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0A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51" name="Rectangle 66"/>
            <p:cNvSpPr>
              <a:spLocks noChangeArrowheads="1"/>
            </p:cNvSpPr>
            <p:nvPr/>
          </p:nvSpPr>
          <p:spPr bwMode="auto">
            <a:xfrm>
              <a:off x="5973627" y="1449892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52" name="Rectangle 67"/>
            <p:cNvSpPr>
              <a:spLocks noChangeArrowheads="1"/>
            </p:cNvSpPr>
            <p:nvPr/>
          </p:nvSpPr>
          <p:spPr bwMode="auto">
            <a:xfrm>
              <a:off x="5346565" y="1449892"/>
              <a:ext cx="627063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0D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53" name="Rectangle 68"/>
            <p:cNvSpPr>
              <a:spLocks noChangeArrowheads="1"/>
            </p:cNvSpPr>
            <p:nvPr/>
          </p:nvSpPr>
          <p:spPr bwMode="auto">
            <a:xfrm>
              <a:off x="4721090" y="1449892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03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54" name="Rectangle 69"/>
            <p:cNvSpPr>
              <a:spLocks noChangeArrowheads="1"/>
            </p:cNvSpPr>
            <p:nvPr/>
          </p:nvSpPr>
          <p:spPr bwMode="auto">
            <a:xfrm>
              <a:off x="4092440" y="1449892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55" name="Rectangle 70"/>
            <p:cNvSpPr>
              <a:spLocks noChangeArrowheads="1"/>
            </p:cNvSpPr>
            <p:nvPr/>
          </p:nvSpPr>
          <p:spPr bwMode="auto">
            <a:xfrm>
              <a:off x="3466965" y="1449892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56" name="Rectangle 71"/>
            <p:cNvSpPr>
              <a:spLocks noChangeArrowheads="1"/>
            </p:cNvSpPr>
            <p:nvPr/>
          </p:nvSpPr>
          <p:spPr bwMode="auto">
            <a:xfrm>
              <a:off x="2836727" y="1449892"/>
              <a:ext cx="630238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07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57" name="Rectangle 72"/>
            <p:cNvSpPr>
              <a:spLocks noChangeArrowheads="1"/>
            </p:cNvSpPr>
            <p:nvPr/>
          </p:nvSpPr>
          <p:spPr bwMode="auto">
            <a:xfrm>
              <a:off x="2211252" y="1449892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solidFill>
                    <a:srgbClr val="990000"/>
                  </a:solidFill>
                  <a:latin typeface="Calibri" pitchFamily="34" charset="0"/>
                </a:rPr>
                <a:t>3</a:t>
              </a:r>
              <a:endParaRPr lang="en-GB" sz="1050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158" name="Rectangle 73"/>
            <p:cNvSpPr>
              <a:spLocks noChangeArrowheads="1"/>
            </p:cNvSpPr>
            <p:nvPr/>
          </p:nvSpPr>
          <p:spPr bwMode="auto">
            <a:xfrm>
              <a:off x="9739177" y="1124454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59" name="Rectangle 74"/>
            <p:cNvSpPr>
              <a:spLocks noChangeArrowheads="1"/>
            </p:cNvSpPr>
            <p:nvPr/>
          </p:nvSpPr>
          <p:spPr bwMode="auto">
            <a:xfrm>
              <a:off x="9108940" y="1124454"/>
              <a:ext cx="630238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60" name="Rectangle 75"/>
            <p:cNvSpPr>
              <a:spLocks noChangeArrowheads="1"/>
            </p:cNvSpPr>
            <p:nvPr/>
          </p:nvSpPr>
          <p:spPr bwMode="auto">
            <a:xfrm>
              <a:off x="8483465" y="1124454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03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61" name="Rectangle 76"/>
            <p:cNvSpPr>
              <a:spLocks noChangeArrowheads="1"/>
            </p:cNvSpPr>
            <p:nvPr/>
          </p:nvSpPr>
          <p:spPr bwMode="auto">
            <a:xfrm>
              <a:off x="7854815" y="1124454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62" name="Rectangle 77"/>
            <p:cNvSpPr>
              <a:spLocks noChangeArrowheads="1"/>
            </p:cNvSpPr>
            <p:nvPr/>
          </p:nvSpPr>
          <p:spPr bwMode="auto">
            <a:xfrm>
              <a:off x="7229340" y="1124454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63" name="Rectangle 78"/>
            <p:cNvSpPr>
              <a:spLocks noChangeArrowheads="1"/>
            </p:cNvSpPr>
            <p:nvPr/>
          </p:nvSpPr>
          <p:spPr bwMode="auto">
            <a:xfrm>
              <a:off x="6602277" y="1124454"/>
              <a:ext cx="627063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06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64" name="Rectangle 79"/>
            <p:cNvSpPr>
              <a:spLocks noChangeArrowheads="1"/>
            </p:cNvSpPr>
            <p:nvPr/>
          </p:nvSpPr>
          <p:spPr bwMode="auto">
            <a:xfrm>
              <a:off x="5973627" y="1124454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65" name="Rectangle 80"/>
            <p:cNvSpPr>
              <a:spLocks noChangeArrowheads="1"/>
            </p:cNvSpPr>
            <p:nvPr/>
          </p:nvSpPr>
          <p:spPr bwMode="auto">
            <a:xfrm>
              <a:off x="5346565" y="1124454"/>
              <a:ext cx="627063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66" name="Rectangle 81"/>
            <p:cNvSpPr>
              <a:spLocks noChangeArrowheads="1"/>
            </p:cNvSpPr>
            <p:nvPr/>
          </p:nvSpPr>
          <p:spPr bwMode="auto">
            <a:xfrm>
              <a:off x="4721090" y="1124454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08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67" name="Rectangle 82"/>
            <p:cNvSpPr>
              <a:spLocks noChangeArrowheads="1"/>
            </p:cNvSpPr>
            <p:nvPr/>
          </p:nvSpPr>
          <p:spPr bwMode="auto">
            <a:xfrm>
              <a:off x="4092440" y="1124454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68" name="Rectangle 83"/>
            <p:cNvSpPr>
              <a:spLocks noChangeArrowheads="1"/>
            </p:cNvSpPr>
            <p:nvPr/>
          </p:nvSpPr>
          <p:spPr bwMode="auto">
            <a:xfrm>
              <a:off x="3466965" y="1124454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69" name="Rectangle 84"/>
            <p:cNvSpPr>
              <a:spLocks noChangeArrowheads="1"/>
            </p:cNvSpPr>
            <p:nvPr/>
          </p:nvSpPr>
          <p:spPr bwMode="auto">
            <a:xfrm>
              <a:off x="2836727" y="1124454"/>
              <a:ext cx="630238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02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70" name="Rectangle 85"/>
            <p:cNvSpPr>
              <a:spLocks noChangeArrowheads="1"/>
            </p:cNvSpPr>
            <p:nvPr/>
          </p:nvSpPr>
          <p:spPr bwMode="auto">
            <a:xfrm>
              <a:off x="2211252" y="1124454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solidFill>
                    <a:srgbClr val="990000"/>
                  </a:solidFill>
                  <a:latin typeface="Calibri" pitchFamily="34" charset="0"/>
                </a:rPr>
                <a:t>2</a:t>
              </a:r>
              <a:endParaRPr lang="en-GB" sz="1050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171" name="Rectangle 86"/>
            <p:cNvSpPr>
              <a:spLocks noChangeArrowheads="1"/>
            </p:cNvSpPr>
            <p:nvPr/>
          </p:nvSpPr>
          <p:spPr bwMode="auto">
            <a:xfrm>
              <a:off x="9739177" y="800604"/>
              <a:ext cx="625475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72" name="Rectangle 87"/>
            <p:cNvSpPr>
              <a:spLocks noChangeArrowheads="1"/>
            </p:cNvSpPr>
            <p:nvPr/>
          </p:nvSpPr>
          <p:spPr bwMode="auto">
            <a:xfrm>
              <a:off x="9108940" y="800604"/>
              <a:ext cx="630238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73" name="Rectangle 88"/>
            <p:cNvSpPr>
              <a:spLocks noChangeArrowheads="1"/>
            </p:cNvSpPr>
            <p:nvPr/>
          </p:nvSpPr>
          <p:spPr bwMode="auto">
            <a:xfrm>
              <a:off x="8483465" y="800604"/>
              <a:ext cx="625475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0A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74" name="Rectangle 89"/>
            <p:cNvSpPr>
              <a:spLocks noChangeArrowheads="1"/>
            </p:cNvSpPr>
            <p:nvPr/>
          </p:nvSpPr>
          <p:spPr bwMode="auto">
            <a:xfrm>
              <a:off x="7854815" y="800604"/>
              <a:ext cx="628650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75" name="Rectangle 90"/>
            <p:cNvSpPr>
              <a:spLocks noChangeArrowheads="1"/>
            </p:cNvSpPr>
            <p:nvPr/>
          </p:nvSpPr>
          <p:spPr bwMode="auto">
            <a:xfrm>
              <a:off x="7229340" y="800604"/>
              <a:ext cx="625475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76" name="Rectangle 91"/>
            <p:cNvSpPr>
              <a:spLocks noChangeArrowheads="1"/>
            </p:cNvSpPr>
            <p:nvPr/>
          </p:nvSpPr>
          <p:spPr bwMode="auto">
            <a:xfrm>
              <a:off x="6602277" y="800604"/>
              <a:ext cx="627063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04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77" name="Rectangle 92"/>
            <p:cNvSpPr>
              <a:spLocks noChangeArrowheads="1"/>
            </p:cNvSpPr>
            <p:nvPr/>
          </p:nvSpPr>
          <p:spPr bwMode="auto">
            <a:xfrm>
              <a:off x="5973627" y="800604"/>
              <a:ext cx="628650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78" name="Rectangle 93"/>
            <p:cNvSpPr>
              <a:spLocks noChangeArrowheads="1"/>
            </p:cNvSpPr>
            <p:nvPr/>
          </p:nvSpPr>
          <p:spPr bwMode="auto">
            <a:xfrm>
              <a:off x="5346565" y="800604"/>
              <a:ext cx="627063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79" name="Rectangle 94"/>
            <p:cNvSpPr>
              <a:spLocks noChangeArrowheads="1"/>
            </p:cNvSpPr>
            <p:nvPr/>
          </p:nvSpPr>
          <p:spPr bwMode="auto">
            <a:xfrm>
              <a:off x="4721090" y="800604"/>
              <a:ext cx="625475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02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80" name="Rectangle 95"/>
            <p:cNvSpPr>
              <a:spLocks noChangeArrowheads="1"/>
            </p:cNvSpPr>
            <p:nvPr/>
          </p:nvSpPr>
          <p:spPr bwMode="auto">
            <a:xfrm>
              <a:off x="4092440" y="800604"/>
              <a:ext cx="628650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81" name="Rectangle 96"/>
            <p:cNvSpPr>
              <a:spLocks noChangeArrowheads="1"/>
            </p:cNvSpPr>
            <p:nvPr/>
          </p:nvSpPr>
          <p:spPr bwMode="auto">
            <a:xfrm>
              <a:off x="3466965" y="800604"/>
              <a:ext cx="625475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2D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82" name="Rectangle 97"/>
            <p:cNvSpPr>
              <a:spLocks noChangeArrowheads="1"/>
            </p:cNvSpPr>
            <p:nvPr/>
          </p:nvSpPr>
          <p:spPr bwMode="auto">
            <a:xfrm>
              <a:off x="2836727" y="800604"/>
              <a:ext cx="630238" cy="323850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03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83" name="Rectangle 98"/>
            <p:cNvSpPr>
              <a:spLocks noChangeArrowheads="1"/>
            </p:cNvSpPr>
            <p:nvPr/>
          </p:nvSpPr>
          <p:spPr bwMode="auto">
            <a:xfrm>
              <a:off x="2211252" y="800604"/>
              <a:ext cx="625475" cy="32385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solidFill>
                    <a:srgbClr val="990000"/>
                  </a:solidFill>
                  <a:latin typeface="Calibri" pitchFamily="34" charset="0"/>
                </a:rPr>
                <a:t>1</a:t>
              </a:r>
              <a:endParaRPr lang="en-GB" sz="1050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184" name="Rectangle 99"/>
            <p:cNvSpPr>
              <a:spLocks noChangeArrowheads="1"/>
            </p:cNvSpPr>
            <p:nvPr/>
          </p:nvSpPr>
          <p:spPr bwMode="auto">
            <a:xfrm>
              <a:off x="9739177" y="475167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85" name="Rectangle 100"/>
            <p:cNvSpPr>
              <a:spLocks noChangeArrowheads="1"/>
            </p:cNvSpPr>
            <p:nvPr/>
          </p:nvSpPr>
          <p:spPr bwMode="auto">
            <a:xfrm>
              <a:off x="9108940" y="475167"/>
              <a:ext cx="630238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02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86" name="Rectangle 101"/>
            <p:cNvSpPr>
              <a:spLocks noChangeArrowheads="1"/>
            </p:cNvSpPr>
            <p:nvPr/>
          </p:nvSpPr>
          <p:spPr bwMode="auto">
            <a:xfrm>
              <a:off x="8483465" y="475167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07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87" name="Rectangle 102"/>
            <p:cNvSpPr>
              <a:spLocks noChangeArrowheads="1"/>
            </p:cNvSpPr>
            <p:nvPr/>
          </p:nvSpPr>
          <p:spPr bwMode="auto">
            <a:xfrm>
              <a:off x="7854815" y="475167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88" name="Rectangle 103"/>
            <p:cNvSpPr>
              <a:spLocks noChangeArrowheads="1"/>
            </p:cNvSpPr>
            <p:nvPr/>
          </p:nvSpPr>
          <p:spPr bwMode="auto">
            <a:xfrm>
              <a:off x="7229340" y="475167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89" name="Rectangle 104"/>
            <p:cNvSpPr>
              <a:spLocks noChangeArrowheads="1"/>
            </p:cNvSpPr>
            <p:nvPr/>
          </p:nvSpPr>
          <p:spPr bwMode="auto">
            <a:xfrm>
              <a:off x="6602277" y="475167"/>
              <a:ext cx="627063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90" name="Rectangle 105"/>
            <p:cNvSpPr>
              <a:spLocks noChangeArrowheads="1"/>
            </p:cNvSpPr>
            <p:nvPr/>
          </p:nvSpPr>
          <p:spPr bwMode="auto">
            <a:xfrm>
              <a:off x="5973627" y="475167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91" name="Rectangle 106"/>
            <p:cNvSpPr>
              <a:spLocks noChangeArrowheads="1"/>
            </p:cNvSpPr>
            <p:nvPr/>
          </p:nvSpPr>
          <p:spPr bwMode="auto">
            <a:xfrm>
              <a:off x="5346565" y="475167"/>
              <a:ext cx="627063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0D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92" name="Rectangle 107"/>
            <p:cNvSpPr>
              <a:spLocks noChangeArrowheads="1"/>
            </p:cNvSpPr>
            <p:nvPr/>
          </p:nvSpPr>
          <p:spPr bwMode="auto">
            <a:xfrm>
              <a:off x="4721090" y="475167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09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93" name="Rectangle 108"/>
            <p:cNvSpPr>
              <a:spLocks noChangeArrowheads="1"/>
            </p:cNvSpPr>
            <p:nvPr/>
          </p:nvSpPr>
          <p:spPr bwMode="auto">
            <a:xfrm>
              <a:off x="4092440" y="475167"/>
              <a:ext cx="628650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94" name="Rectangle 109"/>
            <p:cNvSpPr>
              <a:spLocks noChangeArrowheads="1"/>
            </p:cNvSpPr>
            <p:nvPr/>
          </p:nvSpPr>
          <p:spPr bwMode="auto">
            <a:xfrm>
              <a:off x="3466965" y="475167"/>
              <a:ext cx="625475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95" name="Rectangle 110"/>
            <p:cNvSpPr>
              <a:spLocks noChangeArrowheads="1"/>
            </p:cNvSpPr>
            <p:nvPr/>
          </p:nvSpPr>
          <p:spPr bwMode="auto">
            <a:xfrm>
              <a:off x="2836727" y="475167"/>
              <a:ext cx="630238" cy="325438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03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196" name="Rectangle 111"/>
            <p:cNvSpPr>
              <a:spLocks noChangeArrowheads="1"/>
            </p:cNvSpPr>
            <p:nvPr/>
          </p:nvSpPr>
          <p:spPr bwMode="auto">
            <a:xfrm>
              <a:off x="2211252" y="475167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solidFill>
                    <a:srgbClr val="990000"/>
                  </a:solidFill>
                  <a:latin typeface="Calibri" pitchFamily="34" charset="0"/>
                </a:rPr>
                <a:t>0</a:t>
              </a:r>
              <a:endParaRPr lang="en-GB" sz="1050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197" name="Rectangle 112"/>
            <p:cNvSpPr>
              <a:spLocks noChangeArrowheads="1"/>
            </p:cNvSpPr>
            <p:nvPr/>
          </p:nvSpPr>
          <p:spPr bwMode="auto">
            <a:xfrm>
              <a:off x="9739177" y="14972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198" name="Rectangle 113"/>
            <p:cNvSpPr>
              <a:spLocks noChangeArrowheads="1"/>
            </p:cNvSpPr>
            <p:nvPr/>
          </p:nvSpPr>
          <p:spPr bwMode="auto">
            <a:xfrm>
              <a:off x="9108940" y="149729"/>
              <a:ext cx="630238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PPN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199" name="Rectangle 114"/>
            <p:cNvSpPr>
              <a:spLocks noChangeArrowheads="1"/>
            </p:cNvSpPr>
            <p:nvPr/>
          </p:nvSpPr>
          <p:spPr bwMode="auto">
            <a:xfrm>
              <a:off x="8483465" y="14972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200" name="Rectangle 115"/>
            <p:cNvSpPr>
              <a:spLocks noChangeArrowheads="1"/>
            </p:cNvSpPr>
            <p:nvPr/>
          </p:nvSpPr>
          <p:spPr bwMode="auto">
            <a:xfrm>
              <a:off x="7854815" y="149729"/>
              <a:ext cx="628650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201" name="Rectangle 116"/>
            <p:cNvSpPr>
              <a:spLocks noChangeArrowheads="1"/>
            </p:cNvSpPr>
            <p:nvPr/>
          </p:nvSpPr>
          <p:spPr bwMode="auto">
            <a:xfrm>
              <a:off x="7229340" y="14972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PPN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202" name="Rectangle 117"/>
            <p:cNvSpPr>
              <a:spLocks noChangeArrowheads="1"/>
            </p:cNvSpPr>
            <p:nvPr/>
          </p:nvSpPr>
          <p:spPr bwMode="auto">
            <a:xfrm>
              <a:off x="6602277" y="149729"/>
              <a:ext cx="627063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203" name="Rectangle 118"/>
            <p:cNvSpPr>
              <a:spLocks noChangeArrowheads="1"/>
            </p:cNvSpPr>
            <p:nvPr/>
          </p:nvSpPr>
          <p:spPr bwMode="auto">
            <a:xfrm>
              <a:off x="5973627" y="149729"/>
              <a:ext cx="628650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204" name="Rectangle 119"/>
            <p:cNvSpPr>
              <a:spLocks noChangeArrowheads="1"/>
            </p:cNvSpPr>
            <p:nvPr/>
          </p:nvSpPr>
          <p:spPr bwMode="auto">
            <a:xfrm>
              <a:off x="5346565" y="149729"/>
              <a:ext cx="627063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PPN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205" name="Rectangle 120"/>
            <p:cNvSpPr>
              <a:spLocks noChangeArrowheads="1"/>
            </p:cNvSpPr>
            <p:nvPr/>
          </p:nvSpPr>
          <p:spPr bwMode="auto">
            <a:xfrm>
              <a:off x="4721090" y="14972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206" name="Rectangle 121"/>
            <p:cNvSpPr>
              <a:spLocks noChangeArrowheads="1"/>
            </p:cNvSpPr>
            <p:nvPr/>
          </p:nvSpPr>
          <p:spPr bwMode="auto">
            <a:xfrm>
              <a:off x="4092440" y="149729"/>
              <a:ext cx="628650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207" name="Rectangle 122"/>
            <p:cNvSpPr>
              <a:spLocks noChangeArrowheads="1"/>
            </p:cNvSpPr>
            <p:nvPr/>
          </p:nvSpPr>
          <p:spPr bwMode="auto">
            <a:xfrm>
              <a:off x="3466965" y="14972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PPN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208" name="Rectangle 123"/>
            <p:cNvSpPr>
              <a:spLocks noChangeArrowheads="1"/>
            </p:cNvSpPr>
            <p:nvPr/>
          </p:nvSpPr>
          <p:spPr bwMode="auto">
            <a:xfrm>
              <a:off x="2836727" y="149729"/>
              <a:ext cx="630238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209" name="Rectangle 124"/>
            <p:cNvSpPr>
              <a:spLocks noChangeArrowheads="1"/>
            </p:cNvSpPr>
            <p:nvPr/>
          </p:nvSpPr>
          <p:spPr bwMode="auto">
            <a:xfrm>
              <a:off x="2211252" y="14972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Set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210" name="Line 125"/>
            <p:cNvSpPr>
              <a:spLocks noChangeShapeType="1"/>
            </p:cNvSpPr>
            <p:nvPr/>
          </p:nvSpPr>
          <p:spPr bwMode="auto">
            <a:xfrm>
              <a:off x="2211252" y="475167"/>
              <a:ext cx="8153401" cy="1588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 i="1">
                <a:solidFill>
                  <a:srgbClr val="990000"/>
                </a:solidFill>
              </a:endParaRPr>
            </a:p>
          </p:txBody>
        </p:sp>
        <p:sp>
          <p:nvSpPr>
            <p:cNvPr id="211" name="Line 126"/>
            <p:cNvSpPr>
              <a:spLocks noChangeShapeType="1"/>
            </p:cNvSpPr>
            <p:nvPr/>
          </p:nvSpPr>
          <p:spPr bwMode="auto">
            <a:xfrm>
              <a:off x="2211252" y="800604"/>
              <a:ext cx="8153401" cy="1588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12" name="Line 127"/>
            <p:cNvSpPr>
              <a:spLocks noChangeShapeType="1"/>
            </p:cNvSpPr>
            <p:nvPr/>
          </p:nvSpPr>
          <p:spPr bwMode="auto">
            <a:xfrm>
              <a:off x="2211252" y="1124454"/>
              <a:ext cx="8153401" cy="1588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13" name="Line 128"/>
            <p:cNvSpPr>
              <a:spLocks noChangeShapeType="1"/>
            </p:cNvSpPr>
            <p:nvPr/>
          </p:nvSpPr>
          <p:spPr bwMode="auto">
            <a:xfrm>
              <a:off x="2211252" y="1449892"/>
              <a:ext cx="8153401" cy="1588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14" name="Line 129"/>
            <p:cNvSpPr>
              <a:spLocks noChangeShapeType="1"/>
            </p:cNvSpPr>
            <p:nvPr/>
          </p:nvSpPr>
          <p:spPr bwMode="auto">
            <a:xfrm>
              <a:off x="3466965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15" name="Line 130"/>
            <p:cNvSpPr>
              <a:spLocks noChangeShapeType="1"/>
            </p:cNvSpPr>
            <p:nvPr/>
          </p:nvSpPr>
          <p:spPr bwMode="auto">
            <a:xfrm>
              <a:off x="4092440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16" name="Line 131"/>
            <p:cNvSpPr>
              <a:spLocks noChangeShapeType="1"/>
            </p:cNvSpPr>
            <p:nvPr/>
          </p:nvSpPr>
          <p:spPr bwMode="auto">
            <a:xfrm>
              <a:off x="5346565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17" name="Line 132"/>
            <p:cNvSpPr>
              <a:spLocks noChangeShapeType="1"/>
            </p:cNvSpPr>
            <p:nvPr/>
          </p:nvSpPr>
          <p:spPr bwMode="auto">
            <a:xfrm>
              <a:off x="5973627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18" name="Line 133"/>
            <p:cNvSpPr>
              <a:spLocks noChangeShapeType="1"/>
            </p:cNvSpPr>
            <p:nvPr/>
          </p:nvSpPr>
          <p:spPr bwMode="auto">
            <a:xfrm>
              <a:off x="7229340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19" name="Line 134"/>
            <p:cNvSpPr>
              <a:spLocks noChangeShapeType="1"/>
            </p:cNvSpPr>
            <p:nvPr/>
          </p:nvSpPr>
          <p:spPr bwMode="auto">
            <a:xfrm>
              <a:off x="7854815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20" name="Line 135"/>
            <p:cNvSpPr>
              <a:spLocks noChangeShapeType="1"/>
            </p:cNvSpPr>
            <p:nvPr/>
          </p:nvSpPr>
          <p:spPr bwMode="auto">
            <a:xfrm>
              <a:off x="9108940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21" name="Line 136"/>
            <p:cNvSpPr>
              <a:spLocks noChangeShapeType="1"/>
            </p:cNvSpPr>
            <p:nvPr/>
          </p:nvSpPr>
          <p:spPr bwMode="auto">
            <a:xfrm>
              <a:off x="9739177" y="14972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22" name="Line 137"/>
            <p:cNvSpPr>
              <a:spLocks noChangeShapeType="1"/>
            </p:cNvSpPr>
            <p:nvPr/>
          </p:nvSpPr>
          <p:spPr bwMode="auto">
            <a:xfrm>
              <a:off x="2836727" y="14972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23" name="Line 138"/>
            <p:cNvSpPr>
              <a:spLocks noChangeShapeType="1"/>
            </p:cNvSpPr>
            <p:nvPr/>
          </p:nvSpPr>
          <p:spPr bwMode="auto">
            <a:xfrm>
              <a:off x="4721090" y="14972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24" name="Line 139"/>
            <p:cNvSpPr>
              <a:spLocks noChangeShapeType="1"/>
            </p:cNvSpPr>
            <p:nvPr/>
          </p:nvSpPr>
          <p:spPr bwMode="auto">
            <a:xfrm>
              <a:off x="2211252" y="14972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25" name="Line 140"/>
            <p:cNvSpPr>
              <a:spLocks noChangeShapeType="1"/>
            </p:cNvSpPr>
            <p:nvPr/>
          </p:nvSpPr>
          <p:spPr bwMode="auto">
            <a:xfrm>
              <a:off x="6602277" y="14972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26" name="Line 141"/>
            <p:cNvSpPr>
              <a:spLocks noChangeShapeType="1"/>
            </p:cNvSpPr>
            <p:nvPr/>
          </p:nvSpPr>
          <p:spPr bwMode="auto">
            <a:xfrm>
              <a:off x="8483465" y="14972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27" name="Line 142"/>
            <p:cNvSpPr>
              <a:spLocks noChangeShapeType="1"/>
            </p:cNvSpPr>
            <p:nvPr/>
          </p:nvSpPr>
          <p:spPr bwMode="auto">
            <a:xfrm>
              <a:off x="2211252" y="149729"/>
              <a:ext cx="8153401" cy="1588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 i="1">
                <a:solidFill>
                  <a:srgbClr val="990000"/>
                </a:solidFill>
              </a:endParaRPr>
            </a:p>
          </p:txBody>
        </p:sp>
        <p:sp>
          <p:nvSpPr>
            <p:cNvPr id="228" name="Line 143"/>
            <p:cNvSpPr>
              <a:spLocks noChangeShapeType="1"/>
            </p:cNvSpPr>
            <p:nvPr/>
          </p:nvSpPr>
          <p:spPr bwMode="auto">
            <a:xfrm>
              <a:off x="10364653" y="14972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29" name="Line 144"/>
            <p:cNvSpPr>
              <a:spLocks noChangeShapeType="1"/>
            </p:cNvSpPr>
            <p:nvPr/>
          </p:nvSpPr>
          <p:spPr bwMode="auto">
            <a:xfrm>
              <a:off x="2211252" y="1775330"/>
              <a:ext cx="8153401" cy="1588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35841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简单内存系统 </a:t>
            </a:r>
            <a:r>
              <a:rPr lang="en-GB"/>
              <a:t>TLB</a:t>
            </a:r>
            <a:endParaRPr lang="en-GB"/>
          </a:p>
        </p:txBody>
      </p:sp>
      <p:sp>
        <p:nvSpPr>
          <p:cNvPr id="35842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GB"/>
              <a:t>假设</a:t>
            </a:r>
            <a:endParaRPr lang="zh-CN" altLang="en-GB"/>
          </a:p>
          <a:p>
            <a:pPr lvl="1"/>
            <a:r>
              <a:rPr lang="en-GB"/>
              <a:t>16 </a:t>
            </a:r>
            <a:r>
              <a:rPr lang="zh-CN" altLang="en-US"/>
              <a:t>项</a:t>
            </a:r>
            <a:r>
              <a:rPr lang="en-US" altLang="zh-CN"/>
              <a:t>，</a:t>
            </a:r>
            <a:r>
              <a:rPr lang="en-GB"/>
              <a:t>4 </a:t>
            </a:r>
            <a:r>
              <a:rPr lang="zh-CN" altLang="en-US"/>
              <a:t>路组相联</a:t>
            </a:r>
            <a:endParaRPr lang="zh-CN" altLang="en-US"/>
          </a:p>
          <a:p>
            <a:pPr lvl="0"/>
            <a:r>
              <a:rPr lang="zh-CN" altLang="en-US" sz="2400"/>
              <a:t>分析</a:t>
            </a:r>
            <a:endParaRPr lang="zh-CN" altLang="en-US" sz="2400"/>
          </a:p>
          <a:p>
            <a:pPr lvl="1"/>
            <a:r>
              <a:rPr lang="en-US" altLang="zh-CN" sz="2000"/>
              <a:t>TLB</a:t>
            </a:r>
            <a:r>
              <a:rPr lang="zh-CN" altLang="en-US" sz="2000"/>
              <a:t>是页表的</a:t>
            </a:r>
            <a:r>
              <a:rPr lang="zh-CN" altLang="en-US" sz="2000"/>
              <a:t>缓存</a:t>
            </a:r>
            <a:endParaRPr lang="zh-CN" altLang="en-US" sz="2000"/>
          </a:p>
          <a:p>
            <a:pPr lvl="1"/>
            <a:r>
              <a:rPr lang="en-US" altLang="zh-CN" sz="2000"/>
              <a:t>16/4 = 4 </a:t>
            </a:r>
            <a:r>
              <a:rPr lang="zh-CN" altLang="en-US" sz="2000"/>
              <a:t>组</a:t>
            </a:r>
            <a:r>
              <a:rPr lang="en-US" altLang="zh-CN" sz="2000"/>
              <a:t>，</a:t>
            </a:r>
            <a:r>
              <a:rPr lang="zh-CN" altLang="en-US" sz="2000"/>
              <a:t>需要</a:t>
            </a:r>
            <a:r>
              <a:rPr lang="en-US" altLang="zh-CN" sz="2000"/>
              <a:t>2bit</a:t>
            </a:r>
            <a:r>
              <a:rPr lang="zh-CN" altLang="en-US" sz="2000"/>
              <a:t>索引</a:t>
            </a:r>
            <a:endParaRPr lang="zh-CN" altLang="en-US" sz="2000"/>
          </a:p>
          <a:p>
            <a:pPr lvl="1"/>
            <a:r>
              <a:rPr lang="en-US" altLang="en-GB"/>
              <a:t>00001101，tag</a:t>
            </a:r>
            <a:r>
              <a:rPr lang="zh-CN" altLang="en-US"/>
              <a:t>为</a:t>
            </a:r>
            <a:r>
              <a:rPr lang="en-US" altLang="zh-CN"/>
              <a:t>0</a:t>
            </a:r>
            <a:r>
              <a:rPr lang="en-US" altLang="zh-CN"/>
              <a:t>b11</a:t>
            </a:r>
            <a:endParaRPr lang="en-US" altLang="zh-CN"/>
          </a:p>
          <a:p>
            <a:pPr lvl="1"/>
            <a:r>
              <a:rPr lang="zh-CN" altLang="en-US"/>
              <a:t>索引为</a:t>
            </a:r>
            <a:r>
              <a:rPr lang="en-US" altLang="zh-CN"/>
              <a:t>0b01</a:t>
            </a:r>
            <a:endParaRPr lang="en-GB"/>
          </a:p>
          <a:p>
            <a:pPr lvl="1"/>
            <a:endParaRPr lang="en-GB"/>
          </a:p>
          <a:p>
            <a:pPr lvl="1"/>
            <a:endParaRPr lang="en-GB"/>
          </a:p>
          <a:p>
            <a:pPr lvl="2"/>
            <a:endParaRPr lang="en-GB"/>
          </a:p>
          <a:p>
            <a:pPr lvl="1"/>
            <a:endParaRPr lang="en-GB"/>
          </a:p>
        </p:txBody>
      </p:sp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4501755" y="2893219"/>
            <a:ext cx="365522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5847" name="Rectangle 7"/>
          <p:cNvSpPr>
            <a:spLocks noChangeArrowheads="1"/>
          </p:cNvSpPr>
          <p:nvPr/>
        </p:nvSpPr>
        <p:spPr bwMode="auto">
          <a:xfrm>
            <a:off x="4501755" y="2664619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13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5849" name="Rectangle 9"/>
          <p:cNvSpPr>
            <a:spLocks noChangeArrowheads="1"/>
          </p:cNvSpPr>
          <p:nvPr/>
        </p:nvSpPr>
        <p:spPr bwMode="auto">
          <a:xfrm>
            <a:off x="4867276" y="2893219"/>
            <a:ext cx="365522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5850" name="Rectangle 10"/>
          <p:cNvSpPr>
            <a:spLocks noChangeArrowheads="1"/>
          </p:cNvSpPr>
          <p:nvPr/>
        </p:nvSpPr>
        <p:spPr bwMode="auto">
          <a:xfrm>
            <a:off x="4867276" y="2664619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12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5852" name="Rectangle 12"/>
          <p:cNvSpPr>
            <a:spLocks noChangeArrowheads="1"/>
          </p:cNvSpPr>
          <p:nvPr/>
        </p:nvSpPr>
        <p:spPr bwMode="auto">
          <a:xfrm>
            <a:off x="5232799" y="2893219"/>
            <a:ext cx="365522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5853" name="Rectangle 13"/>
          <p:cNvSpPr>
            <a:spLocks noChangeArrowheads="1"/>
          </p:cNvSpPr>
          <p:nvPr/>
        </p:nvSpPr>
        <p:spPr bwMode="auto">
          <a:xfrm>
            <a:off x="5232799" y="2664619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11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5855" name="Rectangle 15"/>
          <p:cNvSpPr>
            <a:spLocks noChangeArrowheads="1"/>
          </p:cNvSpPr>
          <p:nvPr/>
        </p:nvSpPr>
        <p:spPr bwMode="auto">
          <a:xfrm>
            <a:off x="5598320" y="2893219"/>
            <a:ext cx="365522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5856" name="Rectangle 16"/>
          <p:cNvSpPr>
            <a:spLocks noChangeArrowheads="1"/>
          </p:cNvSpPr>
          <p:nvPr/>
        </p:nvSpPr>
        <p:spPr bwMode="auto">
          <a:xfrm>
            <a:off x="5598320" y="2664619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10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5858" name="Rectangle 18"/>
          <p:cNvSpPr>
            <a:spLocks noChangeArrowheads="1"/>
          </p:cNvSpPr>
          <p:nvPr/>
        </p:nvSpPr>
        <p:spPr bwMode="auto">
          <a:xfrm>
            <a:off x="5963842" y="2893219"/>
            <a:ext cx="365522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5859" name="Rectangle 19"/>
          <p:cNvSpPr>
            <a:spLocks noChangeArrowheads="1"/>
          </p:cNvSpPr>
          <p:nvPr/>
        </p:nvSpPr>
        <p:spPr bwMode="auto">
          <a:xfrm>
            <a:off x="5963842" y="2664619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9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5861" name="Rectangle 21"/>
          <p:cNvSpPr>
            <a:spLocks noChangeArrowheads="1"/>
          </p:cNvSpPr>
          <p:nvPr/>
        </p:nvSpPr>
        <p:spPr bwMode="auto">
          <a:xfrm>
            <a:off x="6329364" y="2893219"/>
            <a:ext cx="365522" cy="228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5862" name="Rectangle 22"/>
          <p:cNvSpPr>
            <a:spLocks noChangeArrowheads="1"/>
          </p:cNvSpPr>
          <p:nvPr/>
        </p:nvSpPr>
        <p:spPr bwMode="auto">
          <a:xfrm>
            <a:off x="6329364" y="2664619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8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5864" name="Rectangle 24"/>
          <p:cNvSpPr>
            <a:spLocks noChangeArrowheads="1"/>
          </p:cNvSpPr>
          <p:nvPr/>
        </p:nvSpPr>
        <p:spPr bwMode="auto">
          <a:xfrm>
            <a:off x="6694886" y="2893219"/>
            <a:ext cx="365522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5865" name="Rectangle 25"/>
          <p:cNvSpPr>
            <a:spLocks noChangeArrowheads="1"/>
          </p:cNvSpPr>
          <p:nvPr/>
        </p:nvSpPr>
        <p:spPr bwMode="auto">
          <a:xfrm>
            <a:off x="6694886" y="2664619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7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5867" name="Rectangle 27"/>
          <p:cNvSpPr>
            <a:spLocks noChangeArrowheads="1"/>
          </p:cNvSpPr>
          <p:nvPr/>
        </p:nvSpPr>
        <p:spPr bwMode="auto">
          <a:xfrm>
            <a:off x="7060408" y="2893219"/>
            <a:ext cx="365522" cy="228600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5868" name="Rectangle 28"/>
          <p:cNvSpPr>
            <a:spLocks noChangeArrowheads="1"/>
          </p:cNvSpPr>
          <p:nvPr/>
        </p:nvSpPr>
        <p:spPr bwMode="auto">
          <a:xfrm>
            <a:off x="7060408" y="2664619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6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5870" name="Rectangle 30"/>
          <p:cNvSpPr>
            <a:spLocks noChangeArrowheads="1"/>
          </p:cNvSpPr>
          <p:nvPr/>
        </p:nvSpPr>
        <p:spPr bwMode="auto">
          <a:xfrm>
            <a:off x="7425930" y="2893219"/>
            <a:ext cx="365522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5871" name="Rectangle 31"/>
          <p:cNvSpPr>
            <a:spLocks noChangeArrowheads="1"/>
          </p:cNvSpPr>
          <p:nvPr/>
        </p:nvSpPr>
        <p:spPr bwMode="auto">
          <a:xfrm>
            <a:off x="7425930" y="2664619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5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5873" name="Rectangle 33"/>
          <p:cNvSpPr>
            <a:spLocks noChangeArrowheads="1"/>
          </p:cNvSpPr>
          <p:nvPr/>
        </p:nvSpPr>
        <p:spPr bwMode="auto">
          <a:xfrm>
            <a:off x="7791451" y="2893219"/>
            <a:ext cx="365522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5874" name="Rectangle 34"/>
          <p:cNvSpPr>
            <a:spLocks noChangeArrowheads="1"/>
          </p:cNvSpPr>
          <p:nvPr/>
        </p:nvSpPr>
        <p:spPr bwMode="auto">
          <a:xfrm>
            <a:off x="7791451" y="2664619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4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5876" name="Rectangle 36"/>
          <p:cNvSpPr>
            <a:spLocks noChangeArrowheads="1"/>
          </p:cNvSpPr>
          <p:nvPr/>
        </p:nvSpPr>
        <p:spPr bwMode="auto">
          <a:xfrm>
            <a:off x="8156974" y="2893219"/>
            <a:ext cx="365522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5877" name="Rectangle 37"/>
          <p:cNvSpPr>
            <a:spLocks noChangeArrowheads="1"/>
          </p:cNvSpPr>
          <p:nvPr/>
        </p:nvSpPr>
        <p:spPr bwMode="auto">
          <a:xfrm>
            <a:off x="8156974" y="2664619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3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5879" name="Rectangle 39"/>
          <p:cNvSpPr>
            <a:spLocks noChangeArrowheads="1"/>
          </p:cNvSpPr>
          <p:nvPr/>
        </p:nvSpPr>
        <p:spPr bwMode="auto">
          <a:xfrm>
            <a:off x="8522495" y="2893219"/>
            <a:ext cx="365522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5880" name="Rectangle 40"/>
          <p:cNvSpPr>
            <a:spLocks noChangeArrowheads="1"/>
          </p:cNvSpPr>
          <p:nvPr/>
        </p:nvSpPr>
        <p:spPr bwMode="auto">
          <a:xfrm>
            <a:off x="8522495" y="2664619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2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5882" name="Rectangle 42"/>
          <p:cNvSpPr>
            <a:spLocks noChangeArrowheads="1"/>
          </p:cNvSpPr>
          <p:nvPr/>
        </p:nvSpPr>
        <p:spPr bwMode="auto">
          <a:xfrm>
            <a:off x="8888017" y="2893219"/>
            <a:ext cx="365522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5883" name="Rectangle 43"/>
          <p:cNvSpPr>
            <a:spLocks noChangeArrowheads="1"/>
          </p:cNvSpPr>
          <p:nvPr/>
        </p:nvSpPr>
        <p:spPr bwMode="auto">
          <a:xfrm>
            <a:off x="8888017" y="2664619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5885" name="Rectangle 45"/>
          <p:cNvSpPr>
            <a:spLocks noChangeArrowheads="1"/>
          </p:cNvSpPr>
          <p:nvPr/>
        </p:nvSpPr>
        <p:spPr bwMode="auto">
          <a:xfrm>
            <a:off x="9253539" y="2893219"/>
            <a:ext cx="365522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5886" name="Rectangle 46"/>
          <p:cNvSpPr>
            <a:spLocks noChangeArrowheads="1"/>
          </p:cNvSpPr>
          <p:nvPr/>
        </p:nvSpPr>
        <p:spPr bwMode="auto">
          <a:xfrm>
            <a:off x="9253539" y="2664619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0</a:t>
            </a:r>
            <a:endParaRPr lang="en-GB" sz="1050" dirty="0">
              <a:latin typeface="Calibri" pitchFamily="34" charset="0"/>
            </a:endParaRPr>
          </a:p>
        </p:txBody>
      </p:sp>
      <p:grpSp>
        <p:nvGrpSpPr>
          <p:cNvPr id="2" name="Group 47"/>
          <p:cNvGrpSpPr/>
          <p:nvPr/>
        </p:nvGrpSpPr>
        <p:grpSpPr bwMode="auto">
          <a:xfrm>
            <a:off x="7425930" y="3235726"/>
            <a:ext cx="2193131" cy="310753"/>
            <a:chOff x="3061" y="2140"/>
            <a:chExt cx="1842" cy="261"/>
          </a:xfrm>
        </p:grpSpPr>
        <p:sp>
          <p:nvSpPr>
            <p:cNvPr id="35888" name="Line 48"/>
            <p:cNvSpPr>
              <a:spLocks noChangeShapeType="1"/>
            </p:cNvSpPr>
            <p:nvPr/>
          </p:nvSpPr>
          <p:spPr bwMode="auto">
            <a:xfrm>
              <a:off x="3061" y="2231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889" name="Text Box 49"/>
            <p:cNvSpPr txBox="1">
              <a:spLocks noChangeArrowheads="1"/>
            </p:cNvSpPr>
            <p:nvPr/>
          </p:nvSpPr>
          <p:spPr bwMode="auto">
            <a:xfrm>
              <a:off x="3768" y="2140"/>
              <a:ext cx="464" cy="261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</a:ln>
            <a:effectLst/>
          </p:spPr>
          <p:txBody>
            <a:bodyPr wrap="none" lIns="67770" tIns="33210" rIns="67770" bIns="33210">
              <a:spAutoFit/>
            </a:bodyPr>
            <a:lstStyle/>
            <a:p>
              <a:pPr>
                <a:lnSpc>
                  <a:spcPct val="88000"/>
                </a:lnSpc>
                <a:spcBef>
                  <a:spcPts val="50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800" dirty="0">
                  <a:latin typeface="Calibri" pitchFamily="34" charset="0"/>
                </a:rPr>
                <a:t>VPO</a:t>
              </a:r>
              <a:endParaRPr lang="en-GB" sz="1800" dirty="0">
                <a:latin typeface="Calibri" pitchFamily="34" charset="0"/>
              </a:endParaRPr>
            </a:p>
          </p:txBody>
        </p:sp>
      </p:grpSp>
      <p:grpSp>
        <p:nvGrpSpPr>
          <p:cNvPr id="3" name="Group 50"/>
          <p:cNvGrpSpPr/>
          <p:nvPr/>
        </p:nvGrpSpPr>
        <p:grpSpPr bwMode="auto">
          <a:xfrm>
            <a:off x="4495403" y="3236123"/>
            <a:ext cx="2937272" cy="310753"/>
            <a:chOff x="605" y="2135"/>
            <a:chExt cx="2467" cy="261"/>
          </a:xfrm>
        </p:grpSpPr>
        <p:sp>
          <p:nvSpPr>
            <p:cNvPr id="35891" name="Line 51"/>
            <p:cNvSpPr>
              <a:spLocks noChangeShapeType="1"/>
            </p:cNvSpPr>
            <p:nvPr/>
          </p:nvSpPr>
          <p:spPr bwMode="auto">
            <a:xfrm>
              <a:off x="605" y="2226"/>
              <a:ext cx="2467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892" name="Text Box 52"/>
            <p:cNvSpPr txBox="1">
              <a:spLocks noChangeArrowheads="1"/>
            </p:cNvSpPr>
            <p:nvPr/>
          </p:nvSpPr>
          <p:spPr bwMode="auto">
            <a:xfrm>
              <a:off x="1553" y="2135"/>
              <a:ext cx="461" cy="261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</a:ln>
            <a:effectLst/>
          </p:spPr>
          <p:txBody>
            <a:bodyPr wrap="none" lIns="67770" tIns="33210" rIns="67770" bIns="33210">
              <a:spAutoFit/>
            </a:bodyPr>
            <a:lstStyle/>
            <a:p>
              <a:pPr>
                <a:lnSpc>
                  <a:spcPct val="88000"/>
                </a:lnSpc>
                <a:spcBef>
                  <a:spcPts val="50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800" dirty="0">
                  <a:latin typeface="Calibri" pitchFamily="34" charset="0"/>
                </a:rPr>
                <a:t>VPN</a:t>
              </a:r>
              <a:endParaRPr lang="en-GB" sz="1800" dirty="0">
                <a:latin typeface="Calibri" pitchFamily="34" charset="0"/>
              </a:endParaRPr>
            </a:p>
          </p:txBody>
        </p:sp>
      </p:grpSp>
      <p:grpSp>
        <p:nvGrpSpPr>
          <p:cNvPr id="4" name="Group 53"/>
          <p:cNvGrpSpPr/>
          <p:nvPr/>
        </p:nvGrpSpPr>
        <p:grpSpPr bwMode="auto">
          <a:xfrm>
            <a:off x="6692505" y="2468561"/>
            <a:ext cx="744140" cy="229791"/>
            <a:chOff x="2445" y="1501"/>
            <a:chExt cx="625" cy="193"/>
          </a:xfrm>
        </p:grpSpPr>
        <p:sp>
          <p:nvSpPr>
            <p:cNvPr id="35894" name="Line 54"/>
            <p:cNvSpPr>
              <a:spLocks noChangeShapeType="1"/>
            </p:cNvSpPr>
            <p:nvPr/>
          </p:nvSpPr>
          <p:spPr bwMode="auto">
            <a:xfrm>
              <a:off x="2445" y="1579"/>
              <a:ext cx="625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895" name="Text Box 55"/>
            <p:cNvSpPr txBox="1">
              <a:spLocks noChangeArrowheads="1"/>
            </p:cNvSpPr>
            <p:nvPr/>
          </p:nvSpPr>
          <p:spPr bwMode="auto">
            <a:xfrm>
              <a:off x="2585" y="1501"/>
              <a:ext cx="342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</a:ln>
            <a:effectLst/>
          </p:spPr>
          <p:txBody>
            <a:bodyPr wrap="none" lIns="67770" tIns="33210" rIns="67770" bIns="3321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450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200" dirty="0">
                  <a:latin typeface="Calibri" pitchFamily="34" charset="0"/>
                </a:rPr>
                <a:t>TLBI</a:t>
              </a:r>
              <a:endParaRPr lang="en-GB" sz="1200" dirty="0">
                <a:latin typeface="Calibri" pitchFamily="34" charset="0"/>
              </a:endParaRPr>
            </a:p>
          </p:txBody>
        </p:sp>
      </p:grpSp>
      <p:grpSp>
        <p:nvGrpSpPr>
          <p:cNvPr id="5" name="Group 56"/>
          <p:cNvGrpSpPr/>
          <p:nvPr/>
        </p:nvGrpSpPr>
        <p:grpSpPr bwMode="auto">
          <a:xfrm>
            <a:off x="4501753" y="2465783"/>
            <a:ext cx="2194322" cy="229791"/>
            <a:chOff x="605" y="1488"/>
            <a:chExt cx="1843" cy="193"/>
          </a:xfrm>
        </p:grpSpPr>
        <p:sp>
          <p:nvSpPr>
            <p:cNvPr id="35897" name="Line 57"/>
            <p:cNvSpPr>
              <a:spLocks noChangeShapeType="1"/>
            </p:cNvSpPr>
            <p:nvPr/>
          </p:nvSpPr>
          <p:spPr bwMode="auto">
            <a:xfrm>
              <a:off x="605" y="1566"/>
              <a:ext cx="1843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898" name="Text Box 58"/>
            <p:cNvSpPr txBox="1">
              <a:spLocks noChangeArrowheads="1"/>
            </p:cNvSpPr>
            <p:nvPr/>
          </p:nvSpPr>
          <p:spPr bwMode="auto">
            <a:xfrm>
              <a:off x="1386" y="1488"/>
              <a:ext cx="369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</a:ln>
            <a:effectLst/>
          </p:spPr>
          <p:txBody>
            <a:bodyPr wrap="none" lIns="67770" tIns="33210" rIns="67770" bIns="3321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450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200" dirty="0">
                  <a:latin typeface="Calibri" pitchFamily="34" charset="0"/>
                </a:rPr>
                <a:t>TLBT</a:t>
              </a:r>
              <a:endParaRPr lang="en-GB" sz="1200" dirty="0">
                <a:latin typeface="Calibri" pitchFamily="34" charset="0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504691" y="2893219"/>
            <a:ext cx="2924175" cy="228600"/>
            <a:chOff x="1277938" y="2932113"/>
            <a:chExt cx="3898900" cy="304800"/>
          </a:xfrm>
        </p:grpSpPr>
        <p:sp>
          <p:nvSpPr>
            <p:cNvPr id="129" name="Rectangle 6"/>
            <p:cNvSpPr>
              <a:spLocks noChangeArrowheads="1"/>
            </p:cNvSpPr>
            <p:nvPr/>
          </p:nvSpPr>
          <p:spPr bwMode="auto">
            <a:xfrm>
              <a:off x="1277938" y="2932113"/>
              <a:ext cx="487363" cy="30480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36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pPr lvl="0" algn="ctr"/>
              <a:r>
                <a:rPr lang="en-US" sz="1500" dirty="0">
                  <a:solidFill>
                    <a:srgbClr val="0070C0"/>
                  </a:solidFill>
                  <a:latin typeface="Calibri"/>
                </a:rPr>
                <a:t>0</a:t>
              </a:r>
              <a:endParaRPr lang="en-US" sz="1500" dirty="0">
                <a:solidFill>
                  <a:srgbClr val="0070C0"/>
                </a:solidFill>
                <a:latin typeface="Calibri"/>
              </a:endParaRPr>
            </a:p>
          </p:txBody>
        </p:sp>
        <p:sp>
          <p:nvSpPr>
            <p:cNvPr id="130" name="Rectangle 9"/>
            <p:cNvSpPr>
              <a:spLocks noChangeArrowheads="1"/>
            </p:cNvSpPr>
            <p:nvPr/>
          </p:nvSpPr>
          <p:spPr bwMode="auto">
            <a:xfrm>
              <a:off x="1765300" y="2932113"/>
              <a:ext cx="487363" cy="30480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36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pPr lvl="0" algn="ctr"/>
              <a:r>
                <a:rPr lang="en-US" sz="1500" dirty="0">
                  <a:solidFill>
                    <a:srgbClr val="0070C0"/>
                  </a:solidFill>
                  <a:latin typeface="Calibri"/>
                </a:rPr>
                <a:t>0</a:t>
              </a:r>
              <a:endParaRPr lang="en-US" sz="1500" dirty="0">
                <a:solidFill>
                  <a:srgbClr val="0070C0"/>
                </a:solidFill>
                <a:latin typeface="Calibri"/>
              </a:endParaRPr>
            </a:p>
          </p:txBody>
        </p:sp>
        <p:sp>
          <p:nvSpPr>
            <p:cNvPr id="131" name="Rectangle 12"/>
            <p:cNvSpPr>
              <a:spLocks noChangeArrowheads="1"/>
            </p:cNvSpPr>
            <p:nvPr/>
          </p:nvSpPr>
          <p:spPr bwMode="auto">
            <a:xfrm>
              <a:off x="2252663" y="2932113"/>
              <a:ext cx="487363" cy="30480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36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pPr lvl="0" algn="ctr"/>
              <a:r>
                <a:rPr lang="en-US" sz="1500" dirty="0">
                  <a:solidFill>
                    <a:srgbClr val="0070C0"/>
                  </a:solidFill>
                  <a:latin typeface="Calibri"/>
                </a:rPr>
                <a:t>0</a:t>
              </a:r>
              <a:endParaRPr lang="en-US" sz="1500" dirty="0">
                <a:solidFill>
                  <a:srgbClr val="0070C0"/>
                </a:solidFill>
                <a:latin typeface="Calibri"/>
              </a:endParaRPr>
            </a:p>
          </p:txBody>
        </p:sp>
        <p:sp>
          <p:nvSpPr>
            <p:cNvPr id="132" name="Rectangle 15"/>
            <p:cNvSpPr>
              <a:spLocks noChangeArrowheads="1"/>
            </p:cNvSpPr>
            <p:nvPr/>
          </p:nvSpPr>
          <p:spPr bwMode="auto">
            <a:xfrm>
              <a:off x="2740025" y="2932113"/>
              <a:ext cx="487363" cy="30480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36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pPr lvl="0" algn="ctr"/>
              <a:r>
                <a:rPr lang="en-US" sz="1500" dirty="0">
                  <a:solidFill>
                    <a:srgbClr val="0070C0"/>
                  </a:solidFill>
                  <a:latin typeface="Calibri"/>
                </a:rPr>
                <a:t>0</a:t>
              </a:r>
              <a:endParaRPr lang="en-US" sz="1500" dirty="0">
                <a:solidFill>
                  <a:srgbClr val="0070C0"/>
                </a:solidFill>
                <a:latin typeface="Calibri"/>
              </a:endParaRPr>
            </a:p>
          </p:txBody>
        </p:sp>
        <p:sp>
          <p:nvSpPr>
            <p:cNvPr id="133" name="Rectangle 18"/>
            <p:cNvSpPr>
              <a:spLocks noChangeArrowheads="1"/>
            </p:cNvSpPr>
            <p:nvPr/>
          </p:nvSpPr>
          <p:spPr bwMode="auto">
            <a:xfrm>
              <a:off x="3227388" y="2932113"/>
              <a:ext cx="487363" cy="30480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36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pPr lvl="0" algn="ctr"/>
              <a:r>
                <a:rPr lang="en-US" sz="1500" dirty="0">
                  <a:solidFill>
                    <a:srgbClr val="0070C0"/>
                  </a:solidFill>
                  <a:latin typeface="Calibri"/>
                </a:rPr>
                <a:t>1</a:t>
              </a:r>
              <a:endParaRPr lang="en-US" sz="1500" dirty="0">
                <a:solidFill>
                  <a:srgbClr val="0070C0"/>
                </a:solidFill>
                <a:latin typeface="Calibri"/>
              </a:endParaRPr>
            </a:p>
          </p:txBody>
        </p:sp>
        <p:sp>
          <p:nvSpPr>
            <p:cNvPr id="134" name="Rectangle 21"/>
            <p:cNvSpPr>
              <a:spLocks noChangeArrowheads="1"/>
            </p:cNvSpPr>
            <p:nvPr/>
          </p:nvSpPr>
          <p:spPr bwMode="auto">
            <a:xfrm>
              <a:off x="3714750" y="2932113"/>
              <a:ext cx="487363" cy="30480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36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pPr lvl="0" algn="ctr"/>
              <a:r>
                <a:rPr lang="en-US" sz="1500" dirty="0">
                  <a:solidFill>
                    <a:srgbClr val="0070C0"/>
                  </a:solidFill>
                  <a:latin typeface="Calibri"/>
                </a:rPr>
                <a:t>1</a:t>
              </a:r>
              <a:endParaRPr lang="en-US" sz="1500" dirty="0">
                <a:solidFill>
                  <a:srgbClr val="0070C0"/>
                </a:solidFill>
                <a:latin typeface="Calibri"/>
              </a:endParaRPr>
            </a:p>
          </p:txBody>
        </p:sp>
        <p:sp>
          <p:nvSpPr>
            <p:cNvPr id="135" name="Rectangle 24"/>
            <p:cNvSpPr>
              <a:spLocks noChangeArrowheads="1"/>
            </p:cNvSpPr>
            <p:nvPr/>
          </p:nvSpPr>
          <p:spPr bwMode="auto">
            <a:xfrm>
              <a:off x="4202113" y="2932113"/>
              <a:ext cx="487363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36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pPr lvl="0" algn="ctr"/>
              <a:r>
                <a:rPr lang="en-US" sz="1500" dirty="0">
                  <a:solidFill>
                    <a:srgbClr val="00B050"/>
                  </a:solidFill>
                  <a:latin typeface="Calibri"/>
                </a:rPr>
                <a:t>0</a:t>
              </a:r>
              <a:endParaRPr lang="en-US" sz="1500" dirty="0">
                <a:solidFill>
                  <a:srgbClr val="00B050"/>
                </a:solidFill>
                <a:latin typeface="Calibri"/>
              </a:endParaRPr>
            </a:p>
          </p:txBody>
        </p:sp>
        <p:sp>
          <p:nvSpPr>
            <p:cNvPr id="136" name="Rectangle 27"/>
            <p:cNvSpPr>
              <a:spLocks noChangeArrowheads="1"/>
            </p:cNvSpPr>
            <p:nvPr/>
          </p:nvSpPr>
          <p:spPr bwMode="auto">
            <a:xfrm>
              <a:off x="4689475" y="2932113"/>
              <a:ext cx="487363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36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500" dirty="0">
                  <a:solidFill>
                    <a:srgbClr val="00B050"/>
                  </a:solidFill>
                  <a:latin typeface="+mj-lt"/>
                </a:rPr>
                <a:t>1</a:t>
              </a:r>
              <a:endParaRPr lang="en-US" sz="1500" dirty="0">
                <a:solidFill>
                  <a:srgbClr val="00B050"/>
                </a:solidFill>
                <a:latin typeface="+mj-lt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010750" y="4428729"/>
            <a:ext cx="6116242" cy="1220392"/>
            <a:chOff x="512550" y="4728659"/>
            <a:chExt cx="8154989" cy="1627189"/>
          </a:xfrm>
        </p:grpSpPr>
        <p:sp>
          <p:nvSpPr>
            <p:cNvPr id="35900" name="Rectangle 60"/>
            <p:cNvSpPr>
              <a:spLocks noChangeArrowheads="1"/>
            </p:cNvSpPr>
            <p:nvPr/>
          </p:nvSpPr>
          <p:spPr bwMode="auto">
            <a:xfrm>
              <a:off x="8040475" y="6028822"/>
              <a:ext cx="625475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01" name="Rectangle 61"/>
            <p:cNvSpPr>
              <a:spLocks noChangeArrowheads="1"/>
            </p:cNvSpPr>
            <p:nvPr/>
          </p:nvSpPr>
          <p:spPr bwMode="auto">
            <a:xfrm>
              <a:off x="7410238" y="6028822"/>
              <a:ext cx="630238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02" name="Rectangle 62"/>
            <p:cNvSpPr>
              <a:spLocks noChangeArrowheads="1"/>
            </p:cNvSpPr>
            <p:nvPr/>
          </p:nvSpPr>
          <p:spPr bwMode="auto">
            <a:xfrm>
              <a:off x="6784763" y="6028822"/>
              <a:ext cx="625475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02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03" name="Rectangle 63"/>
            <p:cNvSpPr>
              <a:spLocks noChangeArrowheads="1"/>
            </p:cNvSpPr>
            <p:nvPr/>
          </p:nvSpPr>
          <p:spPr bwMode="auto">
            <a:xfrm>
              <a:off x="6156113" y="6028822"/>
              <a:ext cx="628650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04" name="Rectangle 64"/>
            <p:cNvSpPr>
              <a:spLocks noChangeArrowheads="1"/>
            </p:cNvSpPr>
            <p:nvPr/>
          </p:nvSpPr>
          <p:spPr bwMode="auto">
            <a:xfrm>
              <a:off x="5530638" y="6028822"/>
              <a:ext cx="625475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34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05" name="Rectangle 65"/>
            <p:cNvSpPr>
              <a:spLocks noChangeArrowheads="1"/>
            </p:cNvSpPr>
            <p:nvPr/>
          </p:nvSpPr>
          <p:spPr bwMode="auto">
            <a:xfrm>
              <a:off x="4903575" y="6028822"/>
              <a:ext cx="627063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0A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06" name="Rectangle 66"/>
            <p:cNvSpPr>
              <a:spLocks noChangeArrowheads="1"/>
            </p:cNvSpPr>
            <p:nvPr/>
          </p:nvSpPr>
          <p:spPr bwMode="auto">
            <a:xfrm>
              <a:off x="4274925" y="6028822"/>
              <a:ext cx="628650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07" name="Rectangle 67"/>
            <p:cNvSpPr>
              <a:spLocks noChangeArrowheads="1"/>
            </p:cNvSpPr>
            <p:nvPr/>
          </p:nvSpPr>
          <p:spPr bwMode="auto">
            <a:xfrm>
              <a:off x="3647863" y="6028822"/>
              <a:ext cx="627063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0D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08" name="Rectangle 68"/>
            <p:cNvSpPr>
              <a:spLocks noChangeArrowheads="1"/>
            </p:cNvSpPr>
            <p:nvPr/>
          </p:nvSpPr>
          <p:spPr bwMode="auto">
            <a:xfrm>
              <a:off x="3022388" y="6028822"/>
              <a:ext cx="625475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03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09" name="Rectangle 69"/>
            <p:cNvSpPr>
              <a:spLocks noChangeArrowheads="1"/>
            </p:cNvSpPr>
            <p:nvPr/>
          </p:nvSpPr>
          <p:spPr bwMode="auto">
            <a:xfrm>
              <a:off x="2393738" y="6028822"/>
              <a:ext cx="628650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10" name="Rectangle 70"/>
            <p:cNvSpPr>
              <a:spLocks noChangeArrowheads="1"/>
            </p:cNvSpPr>
            <p:nvPr/>
          </p:nvSpPr>
          <p:spPr bwMode="auto">
            <a:xfrm>
              <a:off x="1768263" y="6028822"/>
              <a:ext cx="625475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11" name="Rectangle 71"/>
            <p:cNvSpPr>
              <a:spLocks noChangeArrowheads="1"/>
            </p:cNvSpPr>
            <p:nvPr/>
          </p:nvSpPr>
          <p:spPr bwMode="auto">
            <a:xfrm>
              <a:off x="1138025" y="6028822"/>
              <a:ext cx="630238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07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12" name="Rectangle 72"/>
            <p:cNvSpPr>
              <a:spLocks noChangeArrowheads="1"/>
            </p:cNvSpPr>
            <p:nvPr/>
          </p:nvSpPr>
          <p:spPr bwMode="auto">
            <a:xfrm>
              <a:off x="512550" y="6028822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solidFill>
                    <a:srgbClr val="990000"/>
                  </a:solidFill>
                  <a:latin typeface="Calibri" pitchFamily="34" charset="0"/>
                </a:rPr>
                <a:t>3</a:t>
              </a:r>
              <a:endParaRPr lang="en-GB" sz="1050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35913" name="Rectangle 73"/>
            <p:cNvSpPr>
              <a:spLocks noChangeArrowheads="1"/>
            </p:cNvSpPr>
            <p:nvPr/>
          </p:nvSpPr>
          <p:spPr bwMode="auto">
            <a:xfrm>
              <a:off x="8040475" y="5703384"/>
              <a:ext cx="625475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14" name="Rectangle 74"/>
            <p:cNvSpPr>
              <a:spLocks noChangeArrowheads="1"/>
            </p:cNvSpPr>
            <p:nvPr/>
          </p:nvSpPr>
          <p:spPr bwMode="auto">
            <a:xfrm>
              <a:off x="7410238" y="5703384"/>
              <a:ext cx="630238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15" name="Rectangle 75"/>
            <p:cNvSpPr>
              <a:spLocks noChangeArrowheads="1"/>
            </p:cNvSpPr>
            <p:nvPr/>
          </p:nvSpPr>
          <p:spPr bwMode="auto">
            <a:xfrm>
              <a:off x="6784763" y="5703384"/>
              <a:ext cx="625475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03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16" name="Rectangle 76"/>
            <p:cNvSpPr>
              <a:spLocks noChangeArrowheads="1"/>
            </p:cNvSpPr>
            <p:nvPr/>
          </p:nvSpPr>
          <p:spPr bwMode="auto">
            <a:xfrm>
              <a:off x="6156113" y="5703384"/>
              <a:ext cx="628650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17" name="Rectangle 77"/>
            <p:cNvSpPr>
              <a:spLocks noChangeArrowheads="1"/>
            </p:cNvSpPr>
            <p:nvPr/>
          </p:nvSpPr>
          <p:spPr bwMode="auto">
            <a:xfrm>
              <a:off x="5530638" y="5703384"/>
              <a:ext cx="625475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18" name="Rectangle 78"/>
            <p:cNvSpPr>
              <a:spLocks noChangeArrowheads="1"/>
            </p:cNvSpPr>
            <p:nvPr/>
          </p:nvSpPr>
          <p:spPr bwMode="auto">
            <a:xfrm>
              <a:off x="4903575" y="5703384"/>
              <a:ext cx="627063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06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19" name="Rectangle 79"/>
            <p:cNvSpPr>
              <a:spLocks noChangeArrowheads="1"/>
            </p:cNvSpPr>
            <p:nvPr/>
          </p:nvSpPr>
          <p:spPr bwMode="auto">
            <a:xfrm>
              <a:off x="4274925" y="5703384"/>
              <a:ext cx="628650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20" name="Rectangle 80"/>
            <p:cNvSpPr>
              <a:spLocks noChangeArrowheads="1"/>
            </p:cNvSpPr>
            <p:nvPr/>
          </p:nvSpPr>
          <p:spPr bwMode="auto">
            <a:xfrm>
              <a:off x="3647863" y="5703384"/>
              <a:ext cx="627063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21" name="Rectangle 81"/>
            <p:cNvSpPr>
              <a:spLocks noChangeArrowheads="1"/>
            </p:cNvSpPr>
            <p:nvPr/>
          </p:nvSpPr>
          <p:spPr bwMode="auto">
            <a:xfrm>
              <a:off x="3022388" y="5703384"/>
              <a:ext cx="625475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08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22" name="Rectangle 82"/>
            <p:cNvSpPr>
              <a:spLocks noChangeArrowheads="1"/>
            </p:cNvSpPr>
            <p:nvPr/>
          </p:nvSpPr>
          <p:spPr bwMode="auto">
            <a:xfrm>
              <a:off x="2393738" y="5703384"/>
              <a:ext cx="628650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23" name="Rectangle 83"/>
            <p:cNvSpPr>
              <a:spLocks noChangeArrowheads="1"/>
            </p:cNvSpPr>
            <p:nvPr/>
          </p:nvSpPr>
          <p:spPr bwMode="auto">
            <a:xfrm>
              <a:off x="1768263" y="5703384"/>
              <a:ext cx="625475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24" name="Rectangle 84"/>
            <p:cNvSpPr>
              <a:spLocks noChangeArrowheads="1"/>
            </p:cNvSpPr>
            <p:nvPr/>
          </p:nvSpPr>
          <p:spPr bwMode="auto">
            <a:xfrm>
              <a:off x="1138025" y="5703384"/>
              <a:ext cx="630238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02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25" name="Rectangle 85"/>
            <p:cNvSpPr>
              <a:spLocks noChangeArrowheads="1"/>
            </p:cNvSpPr>
            <p:nvPr/>
          </p:nvSpPr>
          <p:spPr bwMode="auto">
            <a:xfrm>
              <a:off x="512550" y="5703384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solidFill>
                    <a:srgbClr val="990000"/>
                  </a:solidFill>
                  <a:latin typeface="Calibri" pitchFamily="34" charset="0"/>
                </a:rPr>
                <a:t>2</a:t>
              </a:r>
              <a:endParaRPr lang="en-GB" sz="1050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35926" name="Rectangle 86"/>
            <p:cNvSpPr>
              <a:spLocks noChangeArrowheads="1"/>
            </p:cNvSpPr>
            <p:nvPr/>
          </p:nvSpPr>
          <p:spPr bwMode="auto">
            <a:xfrm>
              <a:off x="8040475" y="5379534"/>
              <a:ext cx="625475" cy="323850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27" name="Rectangle 87"/>
            <p:cNvSpPr>
              <a:spLocks noChangeArrowheads="1"/>
            </p:cNvSpPr>
            <p:nvPr/>
          </p:nvSpPr>
          <p:spPr bwMode="auto">
            <a:xfrm>
              <a:off x="7410238" y="5379534"/>
              <a:ext cx="630238" cy="323850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28" name="Rectangle 88"/>
            <p:cNvSpPr>
              <a:spLocks noChangeArrowheads="1"/>
            </p:cNvSpPr>
            <p:nvPr/>
          </p:nvSpPr>
          <p:spPr bwMode="auto">
            <a:xfrm>
              <a:off x="6784763" y="5379534"/>
              <a:ext cx="625475" cy="323850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0A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29" name="Rectangle 89"/>
            <p:cNvSpPr>
              <a:spLocks noChangeArrowheads="1"/>
            </p:cNvSpPr>
            <p:nvPr/>
          </p:nvSpPr>
          <p:spPr bwMode="auto">
            <a:xfrm>
              <a:off x="6156113" y="5379534"/>
              <a:ext cx="628650" cy="323850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30" name="Rectangle 90"/>
            <p:cNvSpPr>
              <a:spLocks noChangeArrowheads="1"/>
            </p:cNvSpPr>
            <p:nvPr/>
          </p:nvSpPr>
          <p:spPr bwMode="auto">
            <a:xfrm>
              <a:off x="5530638" y="5379534"/>
              <a:ext cx="625475" cy="323850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31" name="Rectangle 91"/>
            <p:cNvSpPr>
              <a:spLocks noChangeArrowheads="1"/>
            </p:cNvSpPr>
            <p:nvPr/>
          </p:nvSpPr>
          <p:spPr bwMode="auto">
            <a:xfrm>
              <a:off x="4903575" y="5379534"/>
              <a:ext cx="627063" cy="323850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04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32" name="Rectangle 92"/>
            <p:cNvSpPr>
              <a:spLocks noChangeArrowheads="1"/>
            </p:cNvSpPr>
            <p:nvPr/>
          </p:nvSpPr>
          <p:spPr bwMode="auto">
            <a:xfrm>
              <a:off x="4274925" y="5379534"/>
              <a:ext cx="628650" cy="323850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33" name="Rectangle 93"/>
            <p:cNvSpPr>
              <a:spLocks noChangeArrowheads="1"/>
            </p:cNvSpPr>
            <p:nvPr/>
          </p:nvSpPr>
          <p:spPr bwMode="auto">
            <a:xfrm>
              <a:off x="3647863" y="5379534"/>
              <a:ext cx="627063" cy="323850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34" name="Rectangle 94"/>
            <p:cNvSpPr>
              <a:spLocks noChangeArrowheads="1"/>
            </p:cNvSpPr>
            <p:nvPr/>
          </p:nvSpPr>
          <p:spPr bwMode="auto">
            <a:xfrm>
              <a:off x="3022388" y="5379534"/>
              <a:ext cx="625475" cy="323850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02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35" name="Rectangle 95"/>
            <p:cNvSpPr>
              <a:spLocks noChangeArrowheads="1"/>
            </p:cNvSpPr>
            <p:nvPr/>
          </p:nvSpPr>
          <p:spPr bwMode="auto">
            <a:xfrm>
              <a:off x="2393738" y="5379534"/>
              <a:ext cx="628650" cy="323850"/>
            </a:xfrm>
            <a:prstGeom prst="rect">
              <a:avLst/>
            </a:prstGeom>
            <a:solidFill>
              <a:srgbClr val="F6D2D2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36" name="Rectangle 96"/>
            <p:cNvSpPr>
              <a:spLocks noChangeArrowheads="1"/>
            </p:cNvSpPr>
            <p:nvPr/>
          </p:nvSpPr>
          <p:spPr bwMode="auto">
            <a:xfrm>
              <a:off x="1768263" y="5379534"/>
              <a:ext cx="625475" cy="323850"/>
            </a:xfrm>
            <a:prstGeom prst="rect">
              <a:avLst/>
            </a:prstGeom>
            <a:solidFill>
              <a:srgbClr val="FFC000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2D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37" name="Rectangle 97"/>
            <p:cNvSpPr>
              <a:spLocks noChangeArrowheads="1"/>
            </p:cNvSpPr>
            <p:nvPr/>
          </p:nvSpPr>
          <p:spPr bwMode="auto">
            <a:xfrm>
              <a:off x="1138025" y="5379534"/>
              <a:ext cx="630238" cy="323850"/>
            </a:xfrm>
            <a:prstGeom prst="rect">
              <a:avLst/>
            </a:prstGeom>
            <a:solidFill>
              <a:srgbClr val="F6D2D2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solidFill>
                    <a:srgbClr val="0070C0"/>
                  </a:solidFill>
                  <a:latin typeface="Calibri" pitchFamily="34" charset="0"/>
                </a:rPr>
                <a:t>03</a:t>
              </a:r>
              <a:endParaRPr lang="en-GB" sz="1050" dirty="0">
                <a:solidFill>
                  <a:srgbClr val="0070C0"/>
                </a:solidFill>
                <a:latin typeface="Calibri" pitchFamily="34" charset="0"/>
              </a:endParaRPr>
            </a:p>
          </p:txBody>
        </p:sp>
        <p:sp>
          <p:nvSpPr>
            <p:cNvPr id="35938" name="Rectangle 98"/>
            <p:cNvSpPr>
              <a:spLocks noChangeArrowheads="1"/>
            </p:cNvSpPr>
            <p:nvPr/>
          </p:nvSpPr>
          <p:spPr bwMode="auto">
            <a:xfrm>
              <a:off x="512550" y="5379534"/>
              <a:ext cx="625475" cy="323850"/>
            </a:xfrm>
            <a:prstGeom prst="rect">
              <a:avLst/>
            </a:prstGeom>
            <a:solidFill>
              <a:srgbClr val="F6D2D2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solidFill>
                    <a:srgbClr val="00B050"/>
                  </a:solidFill>
                  <a:latin typeface="Calibri" pitchFamily="34" charset="0"/>
                </a:rPr>
                <a:t>1</a:t>
              </a:r>
              <a:endParaRPr lang="en-GB" sz="1050" dirty="0">
                <a:solidFill>
                  <a:srgbClr val="00B050"/>
                </a:solidFill>
                <a:latin typeface="Calibri" pitchFamily="34" charset="0"/>
              </a:endParaRPr>
            </a:p>
          </p:txBody>
        </p:sp>
        <p:sp>
          <p:nvSpPr>
            <p:cNvPr id="35939" name="Rectangle 99"/>
            <p:cNvSpPr>
              <a:spLocks noChangeArrowheads="1"/>
            </p:cNvSpPr>
            <p:nvPr/>
          </p:nvSpPr>
          <p:spPr bwMode="auto">
            <a:xfrm>
              <a:off x="8040475" y="5054097"/>
              <a:ext cx="625475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40" name="Rectangle 100"/>
            <p:cNvSpPr>
              <a:spLocks noChangeArrowheads="1"/>
            </p:cNvSpPr>
            <p:nvPr/>
          </p:nvSpPr>
          <p:spPr bwMode="auto">
            <a:xfrm>
              <a:off x="7410238" y="5054097"/>
              <a:ext cx="630238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02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41" name="Rectangle 101"/>
            <p:cNvSpPr>
              <a:spLocks noChangeArrowheads="1"/>
            </p:cNvSpPr>
            <p:nvPr/>
          </p:nvSpPr>
          <p:spPr bwMode="auto">
            <a:xfrm>
              <a:off x="6784763" y="5054097"/>
              <a:ext cx="625475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07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42" name="Rectangle 102"/>
            <p:cNvSpPr>
              <a:spLocks noChangeArrowheads="1"/>
            </p:cNvSpPr>
            <p:nvPr/>
          </p:nvSpPr>
          <p:spPr bwMode="auto">
            <a:xfrm>
              <a:off x="6156113" y="5054097"/>
              <a:ext cx="628650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43" name="Rectangle 103"/>
            <p:cNvSpPr>
              <a:spLocks noChangeArrowheads="1"/>
            </p:cNvSpPr>
            <p:nvPr/>
          </p:nvSpPr>
          <p:spPr bwMode="auto">
            <a:xfrm>
              <a:off x="5530638" y="5054097"/>
              <a:ext cx="625475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44" name="Rectangle 104"/>
            <p:cNvSpPr>
              <a:spLocks noChangeArrowheads="1"/>
            </p:cNvSpPr>
            <p:nvPr/>
          </p:nvSpPr>
          <p:spPr bwMode="auto">
            <a:xfrm>
              <a:off x="4903575" y="5054097"/>
              <a:ext cx="627063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45" name="Rectangle 105"/>
            <p:cNvSpPr>
              <a:spLocks noChangeArrowheads="1"/>
            </p:cNvSpPr>
            <p:nvPr/>
          </p:nvSpPr>
          <p:spPr bwMode="auto">
            <a:xfrm>
              <a:off x="4274925" y="5054097"/>
              <a:ext cx="628650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46" name="Rectangle 106"/>
            <p:cNvSpPr>
              <a:spLocks noChangeArrowheads="1"/>
            </p:cNvSpPr>
            <p:nvPr/>
          </p:nvSpPr>
          <p:spPr bwMode="auto">
            <a:xfrm>
              <a:off x="3647863" y="5054097"/>
              <a:ext cx="627063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0D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47" name="Rectangle 107"/>
            <p:cNvSpPr>
              <a:spLocks noChangeArrowheads="1"/>
            </p:cNvSpPr>
            <p:nvPr/>
          </p:nvSpPr>
          <p:spPr bwMode="auto">
            <a:xfrm>
              <a:off x="3022388" y="5054097"/>
              <a:ext cx="625475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09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48" name="Rectangle 108"/>
            <p:cNvSpPr>
              <a:spLocks noChangeArrowheads="1"/>
            </p:cNvSpPr>
            <p:nvPr/>
          </p:nvSpPr>
          <p:spPr bwMode="auto">
            <a:xfrm>
              <a:off x="2393738" y="5054097"/>
              <a:ext cx="628650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49" name="Rectangle 109"/>
            <p:cNvSpPr>
              <a:spLocks noChangeArrowheads="1"/>
            </p:cNvSpPr>
            <p:nvPr/>
          </p:nvSpPr>
          <p:spPr bwMode="auto">
            <a:xfrm>
              <a:off x="1768263" y="5054097"/>
              <a:ext cx="625475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50" name="Rectangle 110"/>
            <p:cNvSpPr>
              <a:spLocks noChangeArrowheads="1"/>
            </p:cNvSpPr>
            <p:nvPr/>
          </p:nvSpPr>
          <p:spPr bwMode="auto">
            <a:xfrm>
              <a:off x="1138025" y="5054097"/>
              <a:ext cx="630238" cy="32543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03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35951" name="Rectangle 111"/>
            <p:cNvSpPr>
              <a:spLocks noChangeArrowheads="1"/>
            </p:cNvSpPr>
            <p:nvPr/>
          </p:nvSpPr>
          <p:spPr bwMode="auto">
            <a:xfrm>
              <a:off x="512550" y="5054097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solidFill>
                    <a:srgbClr val="990000"/>
                  </a:solidFill>
                  <a:latin typeface="Calibri" pitchFamily="34" charset="0"/>
                </a:rPr>
                <a:t>0</a:t>
              </a:r>
              <a:endParaRPr lang="en-GB" sz="1050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35952" name="Rectangle 112"/>
            <p:cNvSpPr>
              <a:spLocks noChangeArrowheads="1"/>
            </p:cNvSpPr>
            <p:nvPr/>
          </p:nvSpPr>
          <p:spPr bwMode="auto">
            <a:xfrm>
              <a:off x="8040475" y="472865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35953" name="Rectangle 113"/>
            <p:cNvSpPr>
              <a:spLocks noChangeArrowheads="1"/>
            </p:cNvSpPr>
            <p:nvPr/>
          </p:nvSpPr>
          <p:spPr bwMode="auto">
            <a:xfrm>
              <a:off x="7410238" y="4728659"/>
              <a:ext cx="630238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PPN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35954" name="Rectangle 114"/>
            <p:cNvSpPr>
              <a:spLocks noChangeArrowheads="1"/>
            </p:cNvSpPr>
            <p:nvPr/>
          </p:nvSpPr>
          <p:spPr bwMode="auto">
            <a:xfrm>
              <a:off x="6784763" y="472865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35955" name="Rectangle 115"/>
            <p:cNvSpPr>
              <a:spLocks noChangeArrowheads="1"/>
            </p:cNvSpPr>
            <p:nvPr/>
          </p:nvSpPr>
          <p:spPr bwMode="auto">
            <a:xfrm>
              <a:off x="6156113" y="4728659"/>
              <a:ext cx="628650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35956" name="Rectangle 116"/>
            <p:cNvSpPr>
              <a:spLocks noChangeArrowheads="1"/>
            </p:cNvSpPr>
            <p:nvPr/>
          </p:nvSpPr>
          <p:spPr bwMode="auto">
            <a:xfrm>
              <a:off x="5530638" y="472865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PPN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35957" name="Rectangle 117"/>
            <p:cNvSpPr>
              <a:spLocks noChangeArrowheads="1"/>
            </p:cNvSpPr>
            <p:nvPr/>
          </p:nvSpPr>
          <p:spPr bwMode="auto">
            <a:xfrm>
              <a:off x="4903575" y="4728659"/>
              <a:ext cx="627063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35958" name="Rectangle 118"/>
            <p:cNvSpPr>
              <a:spLocks noChangeArrowheads="1"/>
            </p:cNvSpPr>
            <p:nvPr/>
          </p:nvSpPr>
          <p:spPr bwMode="auto">
            <a:xfrm>
              <a:off x="4274925" y="4728659"/>
              <a:ext cx="628650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35959" name="Rectangle 119"/>
            <p:cNvSpPr>
              <a:spLocks noChangeArrowheads="1"/>
            </p:cNvSpPr>
            <p:nvPr/>
          </p:nvSpPr>
          <p:spPr bwMode="auto">
            <a:xfrm>
              <a:off x="3647863" y="4728659"/>
              <a:ext cx="627063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PPN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35960" name="Rectangle 120"/>
            <p:cNvSpPr>
              <a:spLocks noChangeArrowheads="1"/>
            </p:cNvSpPr>
            <p:nvPr/>
          </p:nvSpPr>
          <p:spPr bwMode="auto">
            <a:xfrm>
              <a:off x="3022388" y="472865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35961" name="Rectangle 121"/>
            <p:cNvSpPr>
              <a:spLocks noChangeArrowheads="1"/>
            </p:cNvSpPr>
            <p:nvPr/>
          </p:nvSpPr>
          <p:spPr bwMode="auto">
            <a:xfrm>
              <a:off x="2393738" y="4728659"/>
              <a:ext cx="628650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35962" name="Rectangle 122"/>
            <p:cNvSpPr>
              <a:spLocks noChangeArrowheads="1"/>
            </p:cNvSpPr>
            <p:nvPr/>
          </p:nvSpPr>
          <p:spPr bwMode="auto">
            <a:xfrm>
              <a:off x="1768263" y="472865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PPN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35963" name="Rectangle 123"/>
            <p:cNvSpPr>
              <a:spLocks noChangeArrowheads="1"/>
            </p:cNvSpPr>
            <p:nvPr/>
          </p:nvSpPr>
          <p:spPr bwMode="auto">
            <a:xfrm>
              <a:off x="1138025" y="4728659"/>
              <a:ext cx="630238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35964" name="Rectangle 124"/>
            <p:cNvSpPr>
              <a:spLocks noChangeArrowheads="1"/>
            </p:cNvSpPr>
            <p:nvPr/>
          </p:nvSpPr>
          <p:spPr bwMode="auto">
            <a:xfrm>
              <a:off x="512550" y="4728659"/>
              <a:ext cx="625475" cy="3254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Set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35965" name="Line 125"/>
            <p:cNvSpPr>
              <a:spLocks noChangeShapeType="1"/>
            </p:cNvSpPr>
            <p:nvPr/>
          </p:nvSpPr>
          <p:spPr bwMode="auto">
            <a:xfrm>
              <a:off x="512550" y="5054097"/>
              <a:ext cx="8153401" cy="1588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 i="1">
                <a:solidFill>
                  <a:srgbClr val="990000"/>
                </a:solidFill>
              </a:endParaRPr>
            </a:p>
          </p:txBody>
        </p:sp>
        <p:sp>
          <p:nvSpPr>
            <p:cNvPr id="35966" name="Line 126"/>
            <p:cNvSpPr>
              <a:spLocks noChangeShapeType="1"/>
            </p:cNvSpPr>
            <p:nvPr/>
          </p:nvSpPr>
          <p:spPr bwMode="auto">
            <a:xfrm>
              <a:off x="512550" y="5379534"/>
              <a:ext cx="8153401" cy="1588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967" name="Line 127"/>
            <p:cNvSpPr>
              <a:spLocks noChangeShapeType="1"/>
            </p:cNvSpPr>
            <p:nvPr/>
          </p:nvSpPr>
          <p:spPr bwMode="auto">
            <a:xfrm>
              <a:off x="512550" y="5703384"/>
              <a:ext cx="8153401" cy="1588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968" name="Line 128"/>
            <p:cNvSpPr>
              <a:spLocks noChangeShapeType="1"/>
            </p:cNvSpPr>
            <p:nvPr/>
          </p:nvSpPr>
          <p:spPr bwMode="auto">
            <a:xfrm>
              <a:off x="512550" y="6028822"/>
              <a:ext cx="8153401" cy="1588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969" name="Line 129"/>
            <p:cNvSpPr>
              <a:spLocks noChangeShapeType="1"/>
            </p:cNvSpPr>
            <p:nvPr/>
          </p:nvSpPr>
          <p:spPr bwMode="auto">
            <a:xfrm>
              <a:off x="1768263" y="472865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970" name="Line 130"/>
            <p:cNvSpPr>
              <a:spLocks noChangeShapeType="1"/>
            </p:cNvSpPr>
            <p:nvPr/>
          </p:nvSpPr>
          <p:spPr bwMode="auto">
            <a:xfrm>
              <a:off x="2393738" y="472865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971" name="Line 131"/>
            <p:cNvSpPr>
              <a:spLocks noChangeShapeType="1"/>
            </p:cNvSpPr>
            <p:nvPr/>
          </p:nvSpPr>
          <p:spPr bwMode="auto">
            <a:xfrm>
              <a:off x="3647863" y="472865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972" name="Line 132"/>
            <p:cNvSpPr>
              <a:spLocks noChangeShapeType="1"/>
            </p:cNvSpPr>
            <p:nvPr/>
          </p:nvSpPr>
          <p:spPr bwMode="auto">
            <a:xfrm>
              <a:off x="4274925" y="472865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973" name="Line 133"/>
            <p:cNvSpPr>
              <a:spLocks noChangeShapeType="1"/>
            </p:cNvSpPr>
            <p:nvPr/>
          </p:nvSpPr>
          <p:spPr bwMode="auto">
            <a:xfrm>
              <a:off x="5530638" y="472865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974" name="Line 134"/>
            <p:cNvSpPr>
              <a:spLocks noChangeShapeType="1"/>
            </p:cNvSpPr>
            <p:nvPr/>
          </p:nvSpPr>
          <p:spPr bwMode="auto">
            <a:xfrm>
              <a:off x="6156113" y="472865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975" name="Line 135"/>
            <p:cNvSpPr>
              <a:spLocks noChangeShapeType="1"/>
            </p:cNvSpPr>
            <p:nvPr/>
          </p:nvSpPr>
          <p:spPr bwMode="auto">
            <a:xfrm>
              <a:off x="7410238" y="472865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976" name="Line 136"/>
            <p:cNvSpPr>
              <a:spLocks noChangeShapeType="1"/>
            </p:cNvSpPr>
            <p:nvPr/>
          </p:nvSpPr>
          <p:spPr bwMode="auto">
            <a:xfrm>
              <a:off x="8040475" y="4728659"/>
              <a:ext cx="1588" cy="1625601"/>
            </a:xfrm>
            <a:prstGeom prst="line">
              <a:avLst/>
            </a:prstGeom>
            <a:no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977" name="Line 137"/>
            <p:cNvSpPr>
              <a:spLocks noChangeShapeType="1"/>
            </p:cNvSpPr>
            <p:nvPr/>
          </p:nvSpPr>
          <p:spPr bwMode="auto">
            <a:xfrm>
              <a:off x="1138025" y="472865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978" name="Line 138"/>
            <p:cNvSpPr>
              <a:spLocks noChangeShapeType="1"/>
            </p:cNvSpPr>
            <p:nvPr/>
          </p:nvSpPr>
          <p:spPr bwMode="auto">
            <a:xfrm>
              <a:off x="3022388" y="472865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979" name="Line 139"/>
            <p:cNvSpPr>
              <a:spLocks noChangeShapeType="1"/>
            </p:cNvSpPr>
            <p:nvPr/>
          </p:nvSpPr>
          <p:spPr bwMode="auto">
            <a:xfrm>
              <a:off x="512550" y="472865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980" name="Line 140"/>
            <p:cNvSpPr>
              <a:spLocks noChangeShapeType="1"/>
            </p:cNvSpPr>
            <p:nvPr/>
          </p:nvSpPr>
          <p:spPr bwMode="auto">
            <a:xfrm>
              <a:off x="4903575" y="472865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981" name="Line 141"/>
            <p:cNvSpPr>
              <a:spLocks noChangeShapeType="1"/>
            </p:cNvSpPr>
            <p:nvPr/>
          </p:nvSpPr>
          <p:spPr bwMode="auto">
            <a:xfrm>
              <a:off x="6784763" y="472865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982" name="Line 142"/>
            <p:cNvSpPr>
              <a:spLocks noChangeShapeType="1"/>
            </p:cNvSpPr>
            <p:nvPr/>
          </p:nvSpPr>
          <p:spPr bwMode="auto">
            <a:xfrm>
              <a:off x="512550" y="4728659"/>
              <a:ext cx="8153401" cy="1588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 i="1" dirty="0">
                <a:solidFill>
                  <a:srgbClr val="990000"/>
                </a:solidFill>
              </a:endParaRPr>
            </a:p>
          </p:txBody>
        </p:sp>
        <p:sp>
          <p:nvSpPr>
            <p:cNvPr id="35983" name="Line 143"/>
            <p:cNvSpPr>
              <a:spLocks noChangeShapeType="1"/>
            </p:cNvSpPr>
            <p:nvPr/>
          </p:nvSpPr>
          <p:spPr bwMode="auto">
            <a:xfrm>
              <a:off x="8665951" y="4728659"/>
              <a:ext cx="1588" cy="1625601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984" name="Line 144"/>
            <p:cNvSpPr>
              <a:spLocks noChangeShapeType="1"/>
            </p:cNvSpPr>
            <p:nvPr/>
          </p:nvSpPr>
          <p:spPr bwMode="auto">
            <a:xfrm>
              <a:off x="512550" y="6354260"/>
              <a:ext cx="8153401" cy="1588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998914" y="4038600"/>
            <a:ext cx="2690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 smtClean="0">
                <a:solidFill>
                  <a:schemeClr val="bg2">
                    <a:lumMod val="75000"/>
                  </a:schemeClr>
                </a:solidFill>
                <a:latin typeface="Calibri" pitchFamily="34" charset="0"/>
              </a:rPr>
              <a:t>转换后援缓冲器（</a:t>
            </a:r>
            <a:r>
              <a:rPr lang="en-US" altLang="zh-CN" sz="1800" dirty="0" smtClean="0">
                <a:solidFill>
                  <a:schemeClr val="bg2">
                    <a:lumMod val="75000"/>
                  </a:schemeClr>
                </a:solidFill>
                <a:latin typeface="Calibri" pitchFamily="34" charset="0"/>
              </a:rPr>
              <a:t>TLB</a:t>
            </a:r>
            <a:r>
              <a:rPr lang="zh-CN" altLang="en-US" sz="1800" dirty="0" smtClean="0">
                <a:solidFill>
                  <a:schemeClr val="bg2">
                    <a:lumMod val="75000"/>
                  </a:schemeClr>
                </a:solidFill>
                <a:latin typeface="Calibri" pitchFamily="34" charset="0"/>
              </a:rPr>
              <a:t>）</a:t>
            </a:r>
            <a:endParaRPr lang="en-US" sz="1800" dirty="0">
              <a:solidFill>
                <a:schemeClr val="bg2">
                  <a:lumMod val="75000"/>
                </a:schemeClr>
              </a:solidFill>
              <a:latin typeface="Calibri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81560" y="3637370"/>
            <a:ext cx="2233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VPN 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</a:rPr>
              <a:t>= 0b</a:t>
            </a:r>
            <a:r>
              <a:rPr lang="en-US" sz="1800" dirty="0">
                <a:solidFill>
                  <a:srgbClr val="0070C0"/>
                </a:solidFill>
                <a:latin typeface="Calibri" pitchFamily="34" charset="0"/>
              </a:rPr>
              <a:t>11</a:t>
            </a:r>
            <a:r>
              <a:rPr lang="en-US" sz="1800" dirty="0">
                <a:solidFill>
                  <a:srgbClr val="00B050"/>
                </a:solidFill>
                <a:latin typeface="Calibri" pitchFamily="34" charset="0"/>
              </a:rPr>
              <a:t>01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</a:rPr>
              <a:t> </a:t>
            </a: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= 0x0D</a:t>
            </a:r>
            <a:endParaRPr lang="en-US" sz="1800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80230" y="4953000"/>
            <a:ext cx="1487170" cy="2286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txBody>
          <a:bodyPr rtlCol="0" anchor="ctr"/>
          <a:p>
            <a:pPr algn="ctr"/>
            <a:endParaRPr lang="en-US" sz="1600" dirty="0" smtClean="0">
              <a:latin typeface="+mn-l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简单内存系统</a:t>
            </a:r>
            <a:r>
              <a:rPr lang="zh-CN" altLang="en-US"/>
              <a:t>的页表</a:t>
            </a:r>
            <a:endParaRPr lang="zh-CN" altLang="en-US"/>
          </a:p>
        </p:txBody>
      </p:sp>
      <p:sp>
        <p:nvSpPr>
          <p:cNvPr id="34818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只展示前</a:t>
            </a:r>
            <a:r>
              <a:rPr lang="en-US" altLang="zh-CN"/>
              <a:t>16</a:t>
            </a:r>
            <a:r>
              <a:rPr lang="zh-CN" altLang="en-US"/>
              <a:t>项（共</a:t>
            </a:r>
            <a:r>
              <a:rPr lang="en-US" altLang="zh-CN"/>
              <a:t>256</a:t>
            </a:r>
            <a:r>
              <a:rPr lang="zh-CN" altLang="en-US"/>
              <a:t>项）</a:t>
            </a:r>
            <a:endParaRPr lang="zh-CN" altLang="en-US"/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7249717" y="4134806"/>
            <a:ext cx="519113" cy="23098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1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6730604" y="4134806"/>
            <a:ext cx="519113" cy="23098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0D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6210300" y="4134806"/>
            <a:ext cx="520304" cy="23098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solidFill>
                  <a:srgbClr val="990000"/>
                </a:solidFill>
                <a:latin typeface="Calibri" pitchFamily="34" charset="0"/>
              </a:rPr>
              <a:t>0F</a:t>
            </a:r>
            <a:endParaRPr lang="en-GB" sz="1200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34826" name="Rectangle 10"/>
          <p:cNvSpPr>
            <a:spLocks noChangeArrowheads="1"/>
          </p:cNvSpPr>
          <p:nvPr/>
        </p:nvSpPr>
        <p:spPr bwMode="auto">
          <a:xfrm>
            <a:off x="7249717" y="3905015"/>
            <a:ext cx="519113" cy="23098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1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34827" name="Rectangle 11"/>
          <p:cNvSpPr>
            <a:spLocks noChangeArrowheads="1"/>
          </p:cNvSpPr>
          <p:nvPr/>
        </p:nvSpPr>
        <p:spPr bwMode="auto">
          <a:xfrm>
            <a:off x="6730604" y="3905015"/>
            <a:ext cx="519113" cy="23098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11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34828" name="Rectangle 12"/>
          <p:cNvSpPr>
            <a:spLocks noChangeArrowheads="1"/>
          </p:cNvSpPr>
          <p:nvPr/>
        </p:nvSpPr>
        <p:spPr bwMode="auto">
          <a:xfrm>
            <a:off x="6210300" y="3905015"/>
            <a:ext cx="520304" cy="23098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solidFill>
                  <a:srgbClr val="990000"/>
                </a:solidFill>
                <a:latin typeface="Calibri" pitchFamily="34" charset="0"/>
              </a:rPr>
              <a:t>0E</a:t>
            </a:r>
            <a:endParaRPr lang="en-GB" sz="1200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34832" name="Rectangle 16"/>
          <p:cNvSpPr>
            <a:spLocks noChangeArrowheads="1"/>
          </p:cNvSpPr>
          <p:nvPr/>
        </p:nvSpPr>
        <p:spPr bwMode="auto">
          <a:xfrm>
            <a:off x="7249717" y="3675224"/>
            <a:ext cx="519113" cy="230981"/>
          </a:xfrm>
          <a:prstGeom prst="rect">
            <a:avLst/>
          </a:prstGeom>
          <a:solidFill>
            <a:srgbClr val="F6D2D2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1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34833" name="Rectangle 17"/>
          <p:cNvSpPr>
            <a:spLocks noChangeArrowheads="1"/>
          </p:cNvSpPr>
          <p:nvPr/>
        </p:nvSpPr>
        <p:spPr bwMode="auto">
          <a:xfrm>
            <a:off x="6730604" y="3675224"/>
            <a:ext cx="519113" cy="230981"/>
          </a:xfrm>
          <a:prstGeom prst="rect">
            <a:avLst/>
          </a:prstGeom>
          <a:solidFill>
            <a:srgbClr val="F6D2D2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2D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34834" name="Rectangle 18"/>
          <p:cNvSpPr>
            <a:spLocks noChangeArrowheads="1"/>
          </p:cNvSpPr>
          <p:nvPr/>
        </p:nvSpPr>
        <p:spPr bwMode="auto">
          <a:xfrm>
            <a:off x="6210300" y="3675224"/>
            <a:ext cx="520304" cy="23098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solidFill>
                  <a:srgbClr val="990000"/>
                </a:solidFill>
                <a:latin typeface="Calibri" pitchFamily="34" charset="0"/>
              </a:rPr>
              <a:t>0D</a:t>
            </a:r>
            <a:endParaRPr lang="en-GB" sz="1200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34838" name="Rectangle 22"/>
          <p:cNvSpPr>
            <a:spLocks noChangeArrowheads="1"/>
          </p:cNvSpPr>
          <p:nvPr/>
        </p:nvSpPr>
        <p:spPr bwMode="auto">
          <a:xfrm>
            <a:off x="7249717" y="3444243"/>
            <a:ext cx="519113" cy="23098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0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34839" name="Rectangle 23"/>
          <p:cNvSpPr>
            <a:spLocks noChangeArrowheads="1"/>
          </p:cNvSpPr>
          <p:nvPr/>
        </p:nvSpPr>
        <p:spPr bwMode="auto">
          <a:xfrm>
            <a:off x="6730604" y="3444243"/>
            <a:ext cx="519113" cy="23098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–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34840" name="Rectangle 24"/>
          <p:cNvSpPr>
            <a:spLocks noChangeArrowheads="1"/>
          </p:cNvSpPr>
          <p:nvPr/>
        </p:nvSpPr>
        <p:spPr bwMode="auto">
          <a:xfrm>
            <a:off x="6210300" y="3444243"/>
            <a:ext cx="520304" cy="23098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solidFill>
                  <a:srgbClr val="990000"/>
                </a:solidFill>
                <a:latin typeface="Calibri" pitchFamily="34" charset="0"/>
              </a:rPr>
              <a:t>0C</a:t>
            </a:r>
            <a:endParaRPr lang="en-GB" sz="1200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34844" name="Rectangle 28"/>
          <p:cNvSpPr>
            <a:spLocks noChangeArrowheads="1"/>
          </p:cNvSpPr>
          <p:nvPr/>
        </p:nvSpPr>
        <p:spPr bwMode="auto">
          <a:xfrm>
            <a:off x="7249717" y="3213262"/>
            <a:ext cx="519113" cy="23098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0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34845" name="Rectangle 29"/>
          <p:cNvSpPr>
            <a:spLocks noChangeArrowheads="1"/>
          </p:cNvSpPr>
          <p:nvPr/>
        </p:nvSpPr>
        <p:spPr bwMode="auto">
          <a:xfrm>
            <a:off x="6730604" y="3213262"/>
            <a:ext cx="519113" cy="23098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–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34846" name="Rectangle 30"/>
          <p:cNvSpPr>
            <a:spLocks noChangeArrowheads="1"/>
          </p:cNvSpPr>
          <p:nvPr/>
        </p:nvSpPr>
        <p:spPr bwMode="auto">
          <a:xfrm>
            <a:off x="6210300" y="3213262"/>
            <a:ext cx="520304" cy="23098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solidFill>
                  <a:srgbClr val="990000"/>
                </a:solidFill>
                <a:latin typeface="Calibri" pitchFamily="34" charset="0"/>
              </a:rPr>
              <a:t>0B</a:t>
            </a:r>
            <a:endParaRPr lang="en-GB" sz="1200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34850" name="Rectangle 34"/>
          <p:cNvSpPr>
            <a:spLocks noChangeArrowheads="1"/>
          </p:cNvSpPr>
          <p:nvPr/>
        </p:nvSpPr>
        <p:spPr bwMode="auto">
          <a:xfrm>
            <a:off x="7249717" y="2983471"/>
            <a:ext cx="519113" cy="23098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1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34851" name="Rectangle 35"/>
          <p:cNvSpPr>
            <a:spLocks noChangeArrowheads="1"/>
          </p:cNvSpPr>
          <p:nvPr/>
        </p:nvSpPr>
        <p:spPr bwMode="auto">
          <a:xfrm>
            <a:off x="6730604" y="2983471"/>
            <a:ext cx="519113" cy="23098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09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34852" name="Rectangle 36"/>
          <p:cNvSpPr>
            <a:spLocks noChangeArrowheads="1"/>
          </p:cNvSpPr>
          <p:nvPr/>
        </p:nvSpPr>
        <p:spPr bwMode="auto">
          <a:xfrm>
            <a:off x="6210300" y="2983471"/>
            <a:ext cx="520304" cy="23098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solidFill>
                  <a:srgbClr val="990000"/>
                </a:solidFill>
                <a:latin typeface="Calibri" pitchFamily="34" charset="0"/>
              </a:rPr>
              <a:t>0A</a:t>
            </a:r>
            <a:endParaRPr lang="en-GB" sz="1200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34856" name="Rectangle 40"/>
          <p:cNvSpPr>
            <a:spLocks noChangeArrowheads="1"/>
          </p:cNvSpPr>
          <p:nvPr/>
        </p:nvSpPr>
        <p:spPr bwMode="auto">
          <a:xfrm>
            <a:off x="7249717" y="2753681"/>
            <a:ext cx="519113" cy="23098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1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34857" name="Rectangle 41"/>
          <p:cNvSpPr>
            <a:spLocks noChangeArrowheads="1"/>
          </p:cNvSpPr>
          <p:nvPr/>
        </p:nvSpPr>
        <p:spPr bwMode="auto">
          <a:xfrm>
            <a:off x="6730604" y="2753681"/>
            <a:ext cx="519113" cy="23098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17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34858" name="Rectangle 42"/>
          <p:cNvSpPr>
            <a:spLocks noChangeArrowheads="1"/>
          </p:cNvSpPr>
          <p:nvPr/>
        </p:nvSpPr>
        <p:spPr bwMode="auto">
          <a:xfrm>
            <a:off x="6210300" y="2753681"/>
            <a:ext cx="520304" cy="23098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solidFill>
                  <a:srgbClr val="990000"/>
                </a:solidFill>
                <a:latin typeface="Calibri" pitchFamily="34" charset="0"/>
              </a:rPr>
              <a:t>09</a:t>
            </a:r>
            <a:endParaRPr lang="en-GB" sz="1200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34862" name="Rectangle 46"/>
          <p:cNvSpPr>
            <a:spLocks noChangeArrowheads="1"/>
          </p:cNvSpPr>
          <p:nvPr/>
        </p:nvSpPr>
        <p:spPr bwMode="auto">
          <a:xfrm>
            <a:off x="7249717" y="2522699"/>
            <a:ext cx="519113" cy="23098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1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34863" name="Rectangle 47"/>
          <p:cNvSpPr>
            <a:spLocks noChangeArrowheads="1"/>
          </p:cNvSpPr>
          <p:nvPr/>
        </p:nvSpPr>
        <p:spPr bwMode="auto">
          <a:xfrm>
            <a:off x="6730604" y="2522699"/>
            <a:ext cx="519113" cy="23098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13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34864" name="Rectangle 48"/>
          <p:cNvSpPr>
            <a:spLocks noChangeArrowheads="1"/>
          </p:cNvSpPr>
          <p:nvPr/>
        </p:nvSpPr>
        <p:spPr bwMode="auto">
          <a:xfrm>
            <a:off x="6210300" y="2522699"/>
            <a:ext cx="520304" cy="23098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solidFill>
                  <a:srgbClr val="990000"/>
                </a:solidFill>
                <a:latin typeface="Calibri" pitchFamily="34" charset="0"/>
              </a:rPr>
              <a:t>08</a:t>
            </a:r>
            <a:endParaRPr lang="en-GB" sz="1200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34868" name="Rectangle 52"/>
          <p:cNvSpPr>
            <a:spLocks noChangeArrowheads="1"/>
          </p:cNvSpPr>
          <p:nvPr/>
        </p:nvSpPr>
        <p:spPr bwMode="auto">
          <a:xfrm>
            <a:off x="7249717" y="2292907"/>
            <a:ext cx="519113" cy="22979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i="1" dirty="0">
                <a:solidFill>
                  <a:srgbClr val="990000"/>
                </a:solidFill>
                <a:latin typeface="Calibri" pitchFamily="34" charset="0"/>
              </a:rPr>
              <a:t>Valid</a:t>
            </a:r>
            <a:endParaRPr lang="en-GB" sz="1200" i="1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34869" name="Rectangle 53"/>
          <p:cNvSpPr>
            <a:spLocks noChangeArrowheads="1"/>
          </p:cNvSpPr>
          <p:nvPr/>
        </p:nvSpPr>
        <p:spPr bwMode="auto">
          <a:xfrm>
            <a:off x="6730604" y="2292907"/>
            <a:ext cx="519113" cy="22979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i="1" dirty="0">
                <a:solidFill>
                  <a:srgbClr val="990000"/>
                </a:solidFill>
                <a:latin typeface="Calibri" pitchFamily="34" charset="0"/>
              </a:rPr>
              <a:t>PPN</a:t>
            </a:r>
            <a:endParaRPr lang="en-GB" sz="1200" i="1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34870" name="Rectangle 54"/>
          <p:cNvSpPr>
            <a:spLocks noChangeArrowheads="1"/>
          </p:cNvSpPr>
          <p:nvPr/>
        </p:nvSpPr>
        <p:spPr bwMode="auto">
          <a:xfrm>
            <a:off x="6210300" y="2292907"/>
            <a:ext cx="520304" cy="22979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i="1" dirty="0">
                <a:solidFill>
                  <a:srgbClr val="990000"/>
                </a:solidFill>
                <a:latin typeface="Calibri" pitchFamily="34" charset="0"/>
              </a:rPr>
              <a:t>VPN</a:t>
            </a:r>
            <a:endParaRPr lang="en-GB" sz="1200" i="1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34874" name="Line 58"/>
          <p:cNvSpPr>
            <a:spLocks noChangeShapeType="1"/>
          </p:cNvSpPr>
          <p:nvPr/>
        </p:nvSpPr>
        <p:spPr bwMode="auto">
          <a:xfrm>
            <a:off x="6210300" y="2522698"/>
            <a:ext cx="1577340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34875" name="Line 59"/>
          <p:cNvSpPr>
            <a:spLocks noChangeShapeType="1"/>
          </p:cNvSpPr>
          <p:nvPr/>
        </p:nvSpPr>
        <p:spPr bwMode="auto">
          <a:xfrm>
            <a:off x="6210300" y="2753679"/>
            <a:ext cx="1577340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34876" name="Line 60"/>
          <p:cNvSpPr>
            <a:spLocks noChangeShapeType="1"/>
          </p:cNvSpPr>
          <p:nvPr/>
        </p:nvSpPr>
        <p:spPr bwMode="auto">
          <a:xfrm>
            <a:off x="6210300" y="2985849"/>
            <a:ext cx="1577340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34877" name="Line 61"/>
          <p:cNvSpPr>
            <a:spLocks noChangeShapeType="1"/>
          </p:cNvSpPr>
          <p:nvPr/>
        </p:nvSpPr>
        <p:spPr bwMode="auto">
          <a:xfrm>
            <a:off x="6210300" y="3213261"/>
            <a:ext cx="1577340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34878" name="Line 62"/>
          <p:cNvSpPr>
            <a:spLocks noChangeShapeType="1"/>
          </p:cNvSpPr>
          <p:nvPr/>
        </p:nvSpPr>
        <p:spPr bwMode="auto">
          <a:xfrm>
            <a:off x="6210300" y="3444242"/>
            <a:ext cx="1577340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34879" name="Line 63"/>
          <p:cNvSpPr>
            <a:spLocks noChangeShapeType="1"/>
          </p:cNvSpPr>
          <p:nvPr/>
        </p:nvSpPr>
        <p:spPr bwMode="auto">
          <a:xfrm>
            <a:off x="6210300" y="3666492"/>
            <a:ext cx="1577340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34880" name="Line 64"/>
          <p:cNvSpPr>
            <a:spLocks noChangeShapeType="1"/>
          </p:cNvSpPr>
          <p:nvPr/>
        </p:nvSpPr>
        <p:spPr bwMode="auto">
          <a:xfrm>
            <a:off x="6210300" y="3905013"/>
            <a:ext cx="1577340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34881" name="Line 65"/>
          <p:cNvSpPr>
            <a:spLocks noChangeShapeType="1"/>
          </p:cNvSpPr>
          <p:nvPr/>
        </p:nvSpPr>
        <p:spPr bwMode="auto">
          <a:xfrm>
            <a:off x="6210300" y="4134804"/>
            <a:ext cx="1577340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34884" name="Line 68"/>
          <p:cNvSpPr>
            <a:spLocks noChangeShapeType="1"/>
          </p:cNvSpPr>
          <p:nvPr/>
        </p:nvSpPr>
        <p:spPr bwMode="auto">
          <a:xfrm>
            <a:off x="6730605" y="2292907"/>
            <a:ext cx="1191" cy="2072879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34885" name="Line 69"/>
          <p:cNvSpPr>
            <a:spLocks noChangeShapeType="1"/>
          </p:cNvSpPr>
          <p:nvPr/>
        </p:nvSpPr>
        <p:spPr bwMode="auto">
          <a:xfrm>
            <a:off x="7249717" y="2292907"/>
            <a:ext cx="1191" cy="2072879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34888" name="Line 72"/>
          <p:cNvSpPr>
            <a:spLocks noChangeShapeType="1"/>
          </p:cNvSpPr>
          <p:nvPr/>
        </p:nvSpPr>
        <p:spPr bwMode="auto">
          <a:xfrm>
            <a:off x="6210300" y="2292907"/>
            <a:ext cx="1577340" cy="1191"/>
          </a:xfrm>
          <a:prstGeom prst="line">
            <a:avLst/>
          </a:prstGeom>
          <a:noFill/>
          <a:ln w="127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34889" name="Line 73"/>
          <p:cNvSpPr>
            <a:spLocks noChangeShapeType="1"/>
          </p:cNvSpPr>
          <p:nvPr/>
        </p:nvSpPr>
        <p:spPr bwMode="auto">
          <a:xfrm>
            <a:off x="7775180" y="2292907"/>
            <a:ext cx="1191" cy="2072879"/>
          </a:xfrm>
          <a:prstGeom prst="line">
            <a:avLst/>
          </a:prstGeom>
          <a:noFill/>
          <a:ln w="127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34890" name="Line 74"/>
          <p:cNvSpPr>
            <a:spLocks noChangeShapeType="1"/>
          </p:cNvSpPr>
          <p:nvPr/>
        </p:nvSpPr>
        <p:spPr bwMode="auto">
          <a:xfrm>
            <a:off x="6210300" y="4365786"/>
            <a:ext cx="1577340" cy="1191"/>
          </a:xfrm>
          <a:prstGeom prst="line">
            <a:avLst/>
          </a:prstGeom>
          <a:noFill/>
          <a:ln w="127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147" name="Line 73"/>
          <p:cNvSpPr>
            <a:spLocks noChangeShapeType="1"/>
          </p:cNvSpPr>
          <p:nvPr/>
        </p:nvSpPr>
        <p:spPr bwMode="auto">
          <a:xfrm>
            <a:off x="6210301" y="2298462"/>
            <a:ext cx="1191" cy="2072879"/>
          </a:xfrm>
          <a:prstGeom prst="line">
            <a:avLst/>
          </a:prstGeom>
          <a:noFill/>
          <a:ln w="127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148" name="Rectangle 7"/>
          <p:cNvSpPr>
            <a:spLocks noChangeArrowheads="1"/>
          </p:cNvSpPr>
          <p:nvPr/>
        </p:nvSpPr>
        <p:spPr bwMode="auto">
          <a:xfrm>
            <a:off x="5135167" y="4134806"/>
            <a:ext cx="519113" cy="23098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0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149" name="Rectangle 8"/>
          <p:cNvSpPr>
            <a:spLocks noChangeArrowheads="1"/>
          </p:cNvSpPr>
          <p:nvPr/>
        </p:nvSpPr>
        <p:spPr bwMode="auto">
          <a:xfrm>
            <a:off x="4616054" y="4134806"/>
            <a:ext cx="519113" cy="23098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–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150" name="Rectangle 9"/>
          <p:cNvSpPr>
            <a:spLocks noChangeArrowheads="1"/>
          </p:cNvSpPr>
          <p:nvPr/>
        </p:nvSpPr>
        <p:spPr bwMode="auto">
          <a:xfrm>
            <a:off x="4095750" y="4134806"/>
            <a:ext cx="520304" cy="23098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solidFill>
                  <a:srgbClr val="990000"/>
                </a:solidFill>
                <a:latin typeface="Calibri" pitchFamily="34" charset="0"/>
              </a:rPr>
              <a:t>07</a:t>
            </a:r>
            <a:endParaRPr lang="en-GB" sz="1200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151" name="Rectangle 13"/>
          <p:cNvSpPr>
            <a:spLocks noChangeArrowheads="1"/>
          </p:cNvSpPr>
          <p:nvPr/>
        </p:nvSpPr>
        <p:spPr bwMode="auto">
          <a:xfrm>
            <a:off x="5135167" y="3905015"/>
            <a:ext cx="519113" cy="23098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0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152" name="Rectangle 14"/>
          <p:cNvSpPr>
            <a:spLocks noChangeArrowheads="1"/>
          </p:cNvSpPr>
          <p:nvPr/>
        </p:nvSpPr>
        <p:spPr bwMode="auto">
          <a:xfrm>
            <a:off x="4616054" y="3905015"/>
            <a:ext cx="519113" cy="23098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–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153" name="Rectangle 15"/>
          <p:cNvSpPr>
            <a:spLocks noChangeArrowheads="1"/>
          </p:cNvSpPr>
          <p:nvPr/>
        </p:nvSpPr>
        <p:spPr bwMode="auto">
          <a:xfrm>
            <a:off x="4095750" y="3905015"/>
            <a:ext cx="520304" cy="23098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solidFill>
                  <a:srgbClr val="990000"/>
                </a:solidFill>
                <a:latin typeface="Calibri" pitchFamily="34" charset="0"/>
              </a:rPr>
              <a:t>06</a:t>
            </a:r>
            <a:endParaRPr lang="en-GB" sz="1200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154" name="Rectangle 19"/>
          <p:cNvSpPr>
            <a:spLocks noChangeArrowheads="1"/>
          </p:cNvSpPr>
          <p:nvPr/>
        </p:nvSpPr>
        <p:spPr bwMode="auto">
          <a:xfrm>
            <a:off x="5135167" y="3675224"/>
            <a:ext cx="519113" cy="23098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1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155" name="Rectangle 20"/>
          <p:cNvSpPr>
            <a:spLocks noChangeArrowheads="1"/>
          </p:cNvSpPr>
          <p:nvPr/>
        </p:nvSpPr>
        <p:spPr bwMode="auto">
          <a:xfrm>
            <a:off x="4616054" y="3675224"/>
            <a:ext cx="519113" cy="23098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16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156" name="Rectangle 21"/>
          <p:cNvSpPr>
            <a:spLocks noChangeArrowheads="1"/>
          </p:cNvSpPr>
          <p:nvPr/>
        </p:nvSpPr>
        <p:spPr bwMode="auto">
          <a:xfrm>
            <a:off x="4095750" y="3675224"/>
            <a:ext cx="520304" cy="23098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solidFill>
                  <a:srgbClr val="990000"/>
                </a:solidFill>
                <a:latin typeface="Calibri" pitchFamily="34" charset="0"/>
              </a:rPr>
              <a:t>05</a:t>
            </a:r>
            <a:endParaRPr lang="en-GB" sz="1200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157" name="Rectangle 25"/>
          <p:cNvSpPr>
            <a:spLocks noChangeArrowheads="1"/>
          </p:cNvSpPr>
          <p:nvPr/>
        </p:nvSpPr>
        <p:spPr bwMode="auto">
          <a:xfrm>
            <a:off x="5135167" y="3444243"/>
            <a:ext cx="519113" cy="23098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0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158" name="Rectangle 26"/>
          <p:cNvSpPr>
            <a:spLocks noChangeArrowheads="1"/>
          </p:cNvSpPr>
          <p:nvPr/>
        </p:nvSpPr>
        <p:spPr bwMode="auto">
          <a:xfrm>
            <a:off x="4616054" y="3444243"/>
            <a:ext cx="519113" cy="23098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–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159" name="Rectangle 27"/>
          <p:cNvSpPr>
            <a:spLocks noChangeArrowheads="1"/>
          </p:cNvSpPr>
          <p:nvPr/>
        </p:nvSpPr>
        <p:spPr bwMode="auto">
          <a:xfrm>
            <a:off x="4095750" y="3444243"/>
            <a:ext cx="520304" cy="23098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solidFill>
                  <a:srgbClr val="990000"/>
                </a:solidFill>
                <a:latin typeface="Calibri" pitchFamily="34" charset="0"/>
              </a:rPr>
              <a:t>04</a:t>
            </a:r>
            <a:endParaRPr lang="en-GB" sz="1200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160" name="Rectangle 31"/>
          <p:cNvSpPr>
            <a:spLocks noChangeArrowheads="1"/>
          </p:cNvSpPr>
          <p:nvPr/>
        </p:nvSpPr>
        <p:spPr bwMode="auto">
          <a:xfrm>
            <a:off x="5135167" y="3213262"/>
            <a:ext cx="519113" cy="23098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1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161" name="Rectangle 32"/>
          <p:cNvSpPr>
            <a:spLocks noChangeArrowheads="1"/>
          </p:cNvSpPr>
          <p:nvPr/>
        </p:nvSpPr>
        <p:spPr bwMode="auto">
          <a:xfrm>
            <a:off x="4616054" y="3213262"/>
            <a:ext cx="519113" cy="23098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02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162" name="Rectangle 33"/>
          <p:cNvSpPr>
            <a:spLocks noChangeArrowheads="1"/>
          </p:cNvSpPr>
          <p:nvPr/>
        </p:nvSpPr>
        <p:spPr bwMode="auto">
          <a:xfrm>
            <a:off x="4095750" y="3213262"/>
            <a:ext cx="520304" cy="23098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solidFill>
                  <a:srgbClr val="990000"/>
                </a:solidFill>
                <a:latin typeface="Calibri" pitchFamily="34" charset="0"/>
              </a:rPr>
              <a:t>03</a:t>
            </a:r>
            <a:endParaRPr lang="en-GB" sz="1200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163" name="Rectangle 37"/>
          <p:cNvSpPr>
            <a:spLocks noChangeArrowheads="1"/>
          </p:cNvSpPr>
          <p:nvPr/>
        </p:nvSpPr>
        <p:spPr bwMode="auto">
          <a:xfrm>
            <a:off x="5135167" y="2983471"/>
            <a:ext cx="519113" cy="23098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1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164" name="Rectangle 38"/>
          <p:cNvSpPr>
            <a:spLocks noChangeArrowheads="1"/>
          </p:cNvSpPr>
          <p:nvPr/>
        </p:nvSpPr>
        <p:spPr bwMode="auto">
          <a:xfrm>
            <a:off x="4616054" y="2983471"/>
            <a:ext cx="519113" cy="23098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33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165" name="Rectangle 39"/>
          <p:cNvSpPr>
            <a:spLocks noChangeArrowheads="1"/>
          </p:cNvSpPr>
          <p:nvPr/>
        </p:nvSpPr>
        <p:spPr bwMode="auto">
          <a:xfrm>
            <a:off x="4095750" y="2983471"/>
            <a:ext cx="520304" cy="23098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solidFill>
                  <a:srgbClr val="990000"/>
                </a:solidFill>
                <a:latin typeface="Calibri" pitchFamily="34" charset="0"/>
              </a:rPr>
              <a:t>02</a:t>
            </a:r>
            <a:endParaRPr lang="en-GB" sz="1200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166" name="Rectangle 43"/>
          <p:cNvSpPr>
            <a:spLocks noChangeArrowheads="1"/>
          </p:cNvSpPr>
          <p:nvPr/>
        </p:nvSpPr>
        <p:spPr bwMode="auto">
          <a:xfrm>
            <a:off x="5135167" y="2753681"/>
            <a:ext cx="519113" cy="23098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0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167" name="Rectangle 44"/>
          <p:cNvSpPr>
            <a:spLocks noChangeArrowheads="1"/>
          </p:cNvSpPr>
          <p:nvPr/>
        </p:nvSpPr>
        <p:spPr bwMode="auto">
          <a:xfrm>
            <a:off x="4616054" y="2753681"/>
            <a:ext cx="519113" cy="23098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–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168" name="Rectangle 45"/>
          <p:cNvSpPr>
            <a:spLocks noChangeArrowheads="1"/>
          </p:cNvSpPr>
          <p:nvPr/>
        </p:nvSpPr>
        <p:spPr bwMode="auto">
          <a:xfrm>
            <a:off x="4095750" y="2753681"/>
            <a:ext cx="520304" cy="23098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solidFill>
                  <a:srgbClr val="990000"/>
                </a:solidFill>
                <a:latin typeface="Calibri" pitchFamily="34" charset="0"/>
              </a:rPr>
              <a:t>01</a:t>
            </a:r>
            <a:endParaRPr lang="en-GB" sz="1200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169" name="Rectangle 49"/>
          <p:cNvSpPr>
            <a:spLocks noChangeArrowheads="1"/>
          </p:cNvSpPr>
          <p:nvPr/>
        </p:nvSpPr>
        <p:spPr bwMode="auto">
          <a:xfrm>
            <a:off x="5135167" y="2522699"/>
            <a:ext cx="519113" cy="23098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1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170" name="Rectangle 50"/>
          <p:cNvSpPr>
            <a:spLocks noChangeArrowheads="1"/>
          </p:cNvSpPr>
          <p:nvPr/>
        </p:nvSpPr>
        <p:spPr bwMode="auto">
          <a:xfrm>
            <a:off x="4616054" y="2522699"/>
            <a:ext cx="519113" cy="23098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latin typeface="Calibri" pitchFamily="34" charset="0"/>
              </a:rPr>
              <a:t>28</a:t>
            </a:r>
            <a:endParaRPr lang="en-GB" sz="1200" dirty="0">
              <a:latin typeface="Calibri" pitchFamily="34" charset="0"/>
            </a:endParaRPr>
          </a:p>
        </p:txBody>
      </p:sp>
      <p:sp>
        <p:nvSpPr>
          <p:cNvPr id="171" name="Rectangle 51"/>
          <p:cNvSpPr>
            <a:spLocks noChangeArrowheads="1"/>
          </p:cNvSpPr>
          <p:nvPr/>
        </p:nvSpPr>
        <p:spPr bwMode="auto">
          <a:xfrm>
            <a:off x="4095750" y="2522699"/>
            <a:ext cx="520304" cy="23098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dirty="0">
                <a:solidFill>
                  <a:srgbClr val="990000"/>
                </a:solidFill>
                <a:latin typeface="Calibri" pitchFamily="34" charset="0"/>
              </a:rPr>
              <a:t>00</a:t>
            </a:r>
            <a:endParaRPr lang="en-GB" sz="1200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172" name="Rectangle 55"/>
          <p:cNvSpPr>
            <a:spLocks noChangeArrowheads="1"/>
          </p:cNvSpPr>
          <p:nvPr/>
        </p:nvSpPr>
        <p:spPr bwMode="auto">
          <a:xfrm>
            <a:off x="5135167" y="2292907"/>
            <a:ext cx="519113" cy="22979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i="1" dirty="0">
                <a:solidFill>
                  <a:srgbClr val="990000"/>
                </a:solidFill>
                <a:latin typeface="Calibri" pitchFamily="34" charset="0"/>
              </a:rPr>
              <a:t>Valid</a:t>
            </a:r>
            <a:endParaRPr lang="en-GB" sz="1200" i="1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173" name="Rectangle 56"/>
          <p:cNvSpPr>
            <a:spLocks noChangeArrowheads="1"/>
          </p:cNvSpPr>
          <p:nvPr/>
        </p:nvSpPr>
        <p:spPr bwMode="auto">
          <a:xfrm>
            <a:off x="4616054" y="2292907"/>
            <a:ext cx="519113" cy="22979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i="1" dirty="0">
                <a:solidFill>
                  <a:srgbClr val="990000"/>
                </a:solidFill>
                <a:latin typeface="Calibri" pitchFamily="34" charset="0"/>
              </a:rPr>
              <a:t>PPN</a:t>
            </a:r>
            <a:endParaRPr lang="en-GB" sz="1200" i="1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174" name="Rectangle 57"/>
          <p:cNvSpPr>
            <a:spLocks noChangeArrowheads="1"/>
          </p:cNvSpPr>
          <p:nvPr/>
        </p:nvSpPr>
        <p:spPr bwMode="auto">
          <a:xfrm>
            <a:off x="4095750" y="2292907"/>
            <a:ext cx="520304" cy="22979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7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200" i="1" dirty="0">
                <a:solidFill>
                  <a:srgbClr val="990000"/>
                </a:solidFill>
                <a:latin typeface="Calibri" pitchFamily="34" charset="0"/>
              </a:rPr>
              <a:t>VPN</a:t>
            </a:r>
            <a:endParaRPr lang="en-GB" sz="1200" i="1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175" name="Line 58"/>
          <p:cNvSpPr>
            <a:spLocks noChangeShapeType="1"/>
          </p:cNvSpPr>
          <p:nvPr/>
        </p:nvSpPr>
        <p:spPr bwMode="auto">
          <a:xfrm>
            <a:off x="4095750" y="2522698"/>
            <a:ext cx="1556766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176" name="Line 59"/>
          <p:cNvSpPr>
            <a:spLocks noChangeShapeType="1"/>
          </p:cNvSpPr>
          <p:nvPr/>
        </p:nvSpPr>
        <p:spPr bwMode="auto">
          <a:xfrm>
            <a:off x="4103465" y="2753679"/>
            <a:ext cx="1556766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177" name="Line 60"/>
          <p:cNvSpPr>
            <a:spLocks noChangeShapeType="1"/>
          </p:cNvSpPr>
          <p:nvPr/>
        </p:nvSpPr>
        <p:spPr bwMode="auto">
          <a:xfrm>
            <a:off x="4095750" y="2985849"/>
            <a:ext cx="1556766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178" name="Line 61"/>
          <p:cNvSpPr>
            <a:spLocks noChangeShapeType="1"/>
          </p:cNvSpPr>
          <p:nvPr/>
        </p:nvSpPr>
        <p:spPr bwMode="auto">
          <a:xfrm>
            <a:off x="4095750" y="3213261"/>
            <a:ext cx="1556766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179" name="Line 62"/>
          <p:cNvSpPr>
            <a:spLocks noChangeShapeType="1"/>
          </p:cNvSpPr>
          <p:nvPr/>
        </p:nvSpPr>
        <p:spPr bwMode="auto">
          <a:xfrm>
            <a:off x="4095750" y="3444242"/>
            <a:ext cx="1556766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180" name="Line 63"/>
          <p:cNvSpPr>
            <a:spLocks noChangeShapeType="1"/>
          </p:cNvSpPr>
          <p:nvPr/>
        </p:nvSpPr>
        <p:spPr bwMode="auto">
          <a:xfrm>
            <a:off x="4095750" y="3678000"/>
            <a:ext cx="1556766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181" name="Line 64"/>
          <p:cNvSpPr>
            <a:spLocks noChangeShapeType="1"/>
          </p:cNvSpPr>
          <p:nvPr/>
        </p:nvSpPr>
        <p:spPr bwMode="auto">
          <a:xfrm>
            <a:off x="4095750" y="3905013"/>
            <a:ext cx="1556766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182" name="Line 65"/>
          <p:cNvSpPr>
            <a:spLocks noChangeShapeType="1"/>
          </p:cNvSpPr>
          <p:nvPr/>
        </p:nvSpPr>
        <p:spPr bwMode="auto">
          <a:xfrm>
            <a:off x="4095750" y="4134804"/>
            <a:ext cx="1556766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183" name="Line 66"/>
          <p:cNvSpPr>
            <a:spLocks noChangeShapeType="1"/>
          </p:cNvSpPr>
          <p:nvPr/>
        </p:nvSpPr>
        <p:spPr bwMode="auto">
          <a:xfrm>
            <a:off x="4608910" y="2292907"/>
            <a:ext cx="1191" cy="2072879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184" name="Line 67"/>
          <p:cNvSpPr>
            <a:spLocks noChangeShapeType="1"/>
          </p:cNvSpPr>
          <p:nvPr/>
        </p:nvSpPr>
        <p:spPr bwMode="auto">
          <a:xfrm>
            <a:off x="5135167" y="2292907"/>
            <a:ext cx="1191" cy="2072879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185" name="Line 70"/>
          <p:cNvSpPr>
            <a:spLocks noChangeShapeType="1"/>
          </p:cNvSpPr>
          <p:nvPr/>
        </p:nvSpPr>
        <p:spPr bwMode="auto">
          <a:xfrm>
            <a:off x="4095751" y="2292907"/>
            <a:ext cx="1191" cy="2072879"/>
          </a:xfrm>
          <a:prstGeom prst="line">
            <a:avLst/>
          </a:prstGeom>
          <a:noFill/>
          <a:ln w="127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186" name="Line 72"/>
          <p:cNvSpPr>
            <a:spLocks noChangeShapeType="1"/>
          </p:cNvSpPr>
          <p:nvPr/>
        </p:nvSpPr>
        <p:spPr bwMode="auto">
          <a:xfrm>
            <a:off x="4095750" y="2292907"/>
            <a:ext cx="1556766" cy="1191"/>
          </a:xfrm>
          <a:prstGeom prst="line">
            <a:avLst/>
          </a:prstGeom>
          <a:noFill/>
          <a:ln w="127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187" name="Line 74"/>
          <p:cNvSpPr>
            <a:spLocks noChangeShapeType="1"/>
          </p:cNvSpPr>
          <p:nvPr/>
        </p:nvSpPr>
        <p:spPr bwMode="auto">
          <a:xfrm>
            <a:off x="4095750" y="4365786"/>
            <a:ext cx="1556766" cy="1191"/>
          </a:xfrm>
          <a:prstGeom prst="line">
            <a:avLst/>
          </a:prstGeom>
          <a:noFill/>
          <a:ln w="127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188" name="Line 70"/>
          <p:cNvSpPr>
            <a:spLocks noChangeShapeType="1"/>
          </p:cNvSpPr>
          <p:nvPr/>
        </p:nvSpPr>
        <p:spPr bwMode="auto">
          <a:xfrm>
            <a:off x="5659041" y="2286000"/>
            <a:ext cx="1191" cy="2091690"/>
          </a:xfrm>
          <a:prstGeom prst="line">
            <a:avLst/>
          </a:prstGeom>
          <a:noFill/>
          <a:ln w="127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830" y="4629150"/>
            <a:ext cx="4862195" cy="1047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6" name="TextBox 135"/>
          <p:cNvSpPr txBox="1"/>
          <p:nvPr/>
        </p:nvSpPr>
        <p:spPr>
          <a:xfrm>
            <a:off x="8101932" y="3663322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0x0D </a:t>
            </a:r>
            <a:r>
              <a:rPr lang="en-US" sz="18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→</a:t>
            </a: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 0x2D</a:t>
            </a:r>
            <a:endParaRPr lang="en-US" sz="1800" dirty="0">
              <a:solidFill>
                <a:srgbClr val="C00000"/>
              </a:solidFill>
              <a:latin typeface="Calibri" pitchFamily="34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2430" y="4759960"/>
            <a:ext cx="3828415" cy="72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ight Arrow 2"/>
          <p:cNvSpPr/>
          <p:nvPr/>
        </p:nvSpPr>
        <p:spPr bwMode="auto">
          <a:xfrm>
            <a:off x="6153151" y="4899489"/>
            <a:ext cx="456009" cy="141128"/>
          </a:xfrm>
          <a:prstGeom prst="rightArrow">
            <a:avLst>
              <a:gd name="adj1" fmla="val 50000"/>
              <a:gd name="adj2" fmla="val 105958"/>
            </a:avLst>
          </a:prstGeom>
          <a:solidFill>
            <a:srgbClr val="C00000"/>
          </a:solidFill>
          <a:ln w="127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" name="Text Box 1"/>
          <p:cNvSpPr txBox="1"/>
          <p:nvPr/>
        </p:nvSpPr>
        <p:spPr>
          <a:xfrm>
            <a:off x="2895600" y="5486400"/>
            <a:ext cx="152844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0">
                <a:sym typeface="+mn-ea"/>
              </a:rPr>
              <a:t>虚拟地址</a:t>
            </a:r>
            <a:endParaRPr lang="zh-CN" altLang="en-US" sz="2000" b="0"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391400" y="5562600"/>
            <a:ext cx="152844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0">
                <a:sym typeface="+mn-ea"/>
              </a:rPr>
              <a:t>物理地址</a:t>
            </a:r>
            <a:endParaRPr lang="zh-CN" altLang="en-US" sz="2000" b="0"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/>
          <p:cNvGrpSpPr/>
          <p:nvPr/>
        </p:nvGrpSpPr>
        <p:grpSpPr>
          <a:xfrm>
            <a:off x="5319276" y="2600825"/>
            <a:ext cx="6393021" cy="1131786"/>
            <a:chOff x="1711325" y="1629578"/>
            <a:chExt cx="8524028" cy="1509048"/>
          </a:xfrm>
        </p:grpSpPr>
        <p:sp>
          <p:nvSpPr>
            <p:cNvPr id="34" name="Rectangle 33"/>
            <p:cNvSpPr/>
            <p:nvPr/>
          </p:nvSpPr>
          <p:spPr bwMode="auto">
            <a:xfrm>
              <a:off x="7441170" y="1906799"/>
              <a:ext cx="542925" cy="369332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191000" y="1629578"/>
              <a:ext cx="6044353" cy="8602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V[0b</a:t>
              </a:r>
              <a:r>
                <a:rPr lang="en-US" sz="1800" dirty="0">
                  <a:solidFill>
                    <a:srgbClr val="7030A0"/>
                  </a:solidFill>
                  <a:latin typeface="Calibri" pitchFamily="34" charset="0"/>
                </a:rPr>
                <a:t>00001101</a:t>
              </a:r>
              <a:r>
                <a:rPr lang="en-US" sz="1800" dirty="0">
                  <a:solidFill>
                    <a:srgbClr val="FFC000"/>
                  </a:solidFill>
                  <a:latin typeface="Calibri" pitchFamily="34" charset="0"/>
                </a:rPr>
                <a:t>101001</a:t>
              </a:r>
              <a:r>
                <a:rPr lang="en-US" sz="1800" dirty="0">
                  <a:latin typeface="Calibri" pitchFamily="34" charset="0"/>
                </a:rPr>
                <a:t>] = V[0x369]</a:t>
              </a:r>
              <a:endParaRPr lang="en-US" sz="1800" dirty="0">
                <a:latin typeface="Calibri" pitchFamily="34" charset="0"/>
              </a:endParaRPr>
            </a:p>
            <a:p>
              <a:r>
                <a:rPr lang="en-US" sz="1800" dirty="0">
                  <a:latin typeface="Calibri" pitchFamily="34" charset="0"/>
                </a:rPr>
                <a:t>    P[0b</a:t>
              </a:r>
              <a:r>
                <a:rPr lang="en-US" sz="1800" dirty="0">
                  <a:solidFill>
                    <a:srgbClr val="0070C0"/>
                  </a:solidFill>
                  <a:latin typeface="Calibri" pitchFamily="34" charset="0"/>
                </a:rPr>
                <a:t>101101</a:t>
              </a:r>
              <a:r>
                <a:rPr lang="en-US" sz="1800" dirty="0">
                  <a:solidFill>
                    <a:srgbClr val="00B050"/>
                  </a:solidFill>
                  <a:latin typeface="Calibri" pitchFamily="34" charset="0"/>
                </a:rPr>
                <a:t>1010</a:t>
              </a:r>
              <a:r>
                <a:rPr lang="en-US" sz="1800" dirty="0">
                  <a:solidFill>
                    <a:srgbClr val="C00000"/>
                  </a:solidFill>
                  <a:latin typeface="Calibri" pitchFamily="34" charset="0"/>
                </a:rPr>
                <a:t>01</a:t>
              </a:r>
              <a:r>
                <a:rPr lang="en-US" sz="1800" dirty="0">
                  <a:latin typeface="Calibri" pitchFamily="34" charset="0"/>
                </a:rPr>
                <a:t>] = P[0xB69] = 0x15</a:t>
              </a:r>
              <a:endParaRPr lang="en-US" sz="1800" dirty="0">
                <a:latin typeface="Calibri" pitchFamily="34" charset="0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 bwMode="auto">
            <a:xfrm flipV="1">
              <a:off x="1711325" y="2327381"/>
              <a:ext cx="3561080" cy="798407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3" name="Straight Connector 292"/>
            <p:cNvCxnSpPr/>
            <p:nvPr/>
          </p:nvCxnSpPr>
          <p:spPr bwMode="auto">
            <a:xfrm flipV="1">
              <a:off x="4627032" y="2327036"/>
              <a:ext cx="1675553" cy="780627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5" name="Straight Connector 294"/>
            <p:cNvCxnSpPr>
              <a:endCxn id="8" idx="2"/>
            </p:cNvCxnSpPr>
            <p:nvPr/>
          </p:nvCxnSpPr>
          <p:spPr bwMode="auto">
            <a:xfrm flipH="1" flipV="1">
              <a:off x="7213072" y="2489941"/>
              <a:ext cx="364067" cy="635847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4" name="Straight Connector 293"/>
            <p:cNvCxnSpPr/>
            <p:nvPr/>
          </p:nvCxnSpPr>
          <p:spPr bwMode="auto">
            <a:xfrm flipV="1">
              <a:off x="6563900" y="2327519"/>
              <a:ext cx="512233" cy="811107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6865" name="Rectangle 1"/>
          <p:cNvSpPr>
            <a:spLocks noGrp="1" noChangeArrowheads="1"/>
          </p:cNvSpPr>
          <p:nvPr>
            <p:ph type="title"/>
          </p:nvPr>
        </p:nvSpPr>
        <p:spPr>
          <a:xfrm>
            <a:off x="476250" y="435610"/>
            <a:ext cx="5053330" cy="762000"/>
          </a:xfrm>
        </p:spPr>
        <p:txBody>
          <a:bodyPr/>
          <a:lstStyle/>
          <a:p>
            <a:r>
              <a:rPr lang="zh-CN" altLang="en-US"/>
              <a:t>简单内存系统 </a:t>
            </a:r>
            <a:r>
              <a:rPr lang="en-GB"/>
              <a:t>Cache</a:t>
            </a:r>
            <a:endParaRPr lang="en-GB"/>
          </a:p>
        </p:txBody>
      </p:sp>
      <p:sp>
        <p:nvSpPr>
          <p:cNvPr id="36866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GB"/>
              <a:t>假设</a:t>
            </a:r>
            <a:endParaRPr lang="zh-CN" altLang="en-GB"/>
          </a:p>
          <a:p>
            <a:pPr lvl="1"/>
            <a:r>
              <a:rPr lang="zh-CN" altLang="en-US">
                <a:sym typeface="+mn-ea"/>
              </a:rPr>
              <a:t>物理寻址</a:t>
            </a:r>
            <a:endParaRPr lang="en-GB"/>
          </a:p>
          <a:p>
            <a:pPr lvl="1"/>
            <a:r>
              <a:rPr lang="zh-CN" altLang="en-US">
                <a:sym typeface="+mn-ea"/>
              </a:rPr>
              <a:t>直接映射</a:t>
            </a:r>
            <a:endParaRPr lang="zh-CN" altLang="en-US">
              <a:sym typeface="+mn-ea"/>
            </a:endParaRPr>
          </a:p>
          <a:p>
            <a:pPr lvl="1"/>
            <a:r>
              <a:rPr lang="en-GB"/>
              <a:t>16 </a:t>
            </a:r>
            <a:r>
              <a:rPr lang="zh-CN" altLang="en-US"/>
              <a:t>行，</a:t>
            </a:r>
            <a:r>
              <a:rPr lang="en-US" altLang="zh-CN"/>
              <a:t>cache</a:t>
            </a:r>
            <a:r>
              <a:rPr lang="zh-CN" altLang="en-US"/>
              <a:t>行</a:t>
            </a:r>
            <a:r>
              <a:rPr lang="zh-CN" altLang="en-US"/>
              <a:t>的大小为 </a:t>
            </a:r>
            <a:r>
              <a:rPr lang="en-GB"/>
              <a:t>4 </a:t>
            </a:r>
            <a:r>
              <a:rPr lang="zh-CN" altLang="en-US"/>
              <a:t>字节</a:t>
            </a:r>
            <a:endParaRPr lang="zh-CN" altLang="en-US"/>
          </a:p>
          <a:p>
            <a:pPr lvl="0"/>
            <a:r>
              <a:rPr lang="zh-CN" altLang="en-US" sz="2400"/>
              <a:t>分析</a:t>
            </a:r>
            <a:endParaRPr lang="zh-CN" altLang="en-US"/>
          </a:p>
          <a:p>
            <a:pPr lvl="1"/>
            <a:r>
              <a:rPr lang="zh-CN" altLang="en-GB"/>
              <a:t>行内</a:t>
            </a:r>
            <a:r>
              <a:rPr lang="en-US" altLang="zh-CN"/>
              <a:t>：2bit （0x01 = </a:t>
            </a:r>
            <a:r>
              <a:rPr lang="en-US" altLang="zh-CN">
                <a:solidFill>
                  <a:srgbClr val="00B050"/>
                </a:solidFill>
              </a:rPr>
              <a:t>B1</a:t>
            </a:r>
            <a:r>
              <a:rPr lang="en-US" altLang="zh-CN"/>
              <a:t>）</a:t>
            </a:r>
            <a:endParaRPr lang="zh-CN" altLang="en-GB"/>
          </a:p>
          <a:p>
            <a:pPr lvl="1"/>
            <a:r>
              <a:rPr lang="zh-CN" altLang="en-GB"/>
              <a:t>索引</a:t>
            </a:r>
            <a:r>
              <a:rPr lang="zh-CN" altLang="en-US"/>
              <a:t>CI：4bit（0b1010 = </a:t>
            </a:r>
            <a:r>
              <a:rPr lang="zh-CN" altLang="en-US">
                <a:solidFill>
                  <a:srgbClr val="00B050"/>
                </a:solidFill>
              </a:rPr>
              <a:t>0xA</a:t>
            </a:r>
            <a:r>
              <a:rPr lang="en-US" altLang="zh-CN"/>
              <a:t>）</a:t>
            </a:r>
            <a:endParaRPr lang="en-US" altLang="zh-CN"/>
          </a:p>
          <a:p>
            <a:pPr lvl="1"/>
            <a:r>
              <a:rPr lang="zh-CN" altLang="en-US"/>
              <a:t>标签</a:t>
            </a:r>
            <a:r>
              <a:rPr lang="en-US" altLang="en-GB"/>
              <a:t>CT：12-2-4 = 6bit (</a:t>
            </a:r>
            <a:r>
              <a:rPr lang="en-US" altLang="en-GB">
                <a:solidFill>
                  <a:srgbClr val="00B050"/>
                </a:solidFill>
              </a:rPr>
              <a:t>2D</a:t>
            </a:r>
            <a:r>
              <a:rPr lang="en-US" altLang="en-GB"/>
              <a:t>)</a:t>
            </a:r>
            <a:endParaRPr lang="en-US" altLang="en-GB"/>
          </a:p>
          <a:p>
            <a:pPr lvl="1"/>
            <a:endParaRPr lang="en-GB"/>
          </a:p>
          <a:p>
            <a:endParaRPr lang="zh-CN" altLang="en-US"/>
          </a:p>
        </p:txBody>
      </p:sp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5322095" y="3734990"/>
            <a:ext cx="365522" cy="2286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sz="1800" dirty="0">
                <a:solidFill>
                  <a:srgbClr val="0070C0"/>
                </a:solidFill>
                <a:latin typeface="+mj-lt"/>
              </a:rPr>
              <a:t>1</a:t>
            </a:r>
            <a:endParaRPr lang="en-US" sz="18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36871" name="Rectangle 7"/>
          <p:cNvSpPr>
            <a:spLocks noChangeArrowheads="1"/>
          </p:cNvSpPr>
          <p:nvPr/>
        </p:nvSpPr>
        <p:spPr bwMode="auto">
          <a:xfrm>
            <a:off x="5322095" y="3506390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11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873" name="Rectangle 9"/>
          <p:cNvSpPr>
            <a:spLocks noChangeArrowheads="1"/>
          </p:cNvSpPr>
          <p:nvPr/>
        </p:nvSpPr>
        <p:spPr bwMode="auto">
          <a:xfrm>
            <a:off x="5687617" y="3734990"/>
            <a:ext cx="365522" cy="2286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sz="1800" dirty="0">
                <a:solidFill>
                  <a:srgbClr val="0070C0"/>
                </a:solidFill>
                <a:latin typeface="+mj-lt"/>
              </a:rPr>
              <a:t>0</a:t>
            </a:r>
            <a:endParaRPr lang="en-US" sz="18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36874" name="Rectangle 10"/>
          <p:cNvSpPr>
            <a:spLocks noChangeArrowheads="1"/>
          </p:cNvSpPr>
          <p:nvPr/>
        </p:nvSpPr>
        <p:spPr bwMode="auto">
          <a:xfrm>
            <a:off x="5687617" y="3506390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10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876" name="Rectangle 12"/>
          <p:cNvSpPr>
            <a:spLocks noChangeArrowheads="1"/>
          </p:cNvSpPr>
          <p:nvPr/>
        </p:nvSpPr>
        <p:spPr bwMode="auto">
          <a:xfrm>
            <a:off x="6053140" y="3734990"/>
            <a:ext cx="365522" cy="2286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sz="1800" dirty="0">
                <a:solidFill>
                  <a:srgbClr val="0070C0"/>
                </a:solidFill>
                <a:latin typeface="+mj-lt"/>
              </a:rPr>
              <a:t>1</a:t>
            </a:r>
            <a:endParaRPr lang="en-US" sz="18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36877" name="Rectangle 13"/>
          <p:cNvSpPr>
            <a:spLocks noChangeArrowheads="1"/>
          </p:cNvSpPr>
          <p:nvPr/>
        </p:nvSpPr>
        <p:spPr bwMode="auto">
          <a:xfrm>
            <a:off x="6053140" y="3506390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9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879" name="Rectangle 15"/>
          <p:cNvSpPr>
            <a:spLocks noChangeArrowheads="1"/>
          </p:cNvSpPr>
          <p:nvPr/>
        </p:nvSpPr>
        <p:spPr bwMode="auto">
          <a:xfrm>
            <a:off x="6418662" y="3734990"/>
            <a:ext cx="365522" cy="2286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sz="1800" dirty="0">
                <a:solidFill>
                  <a:srgbClr val="0070C0"/>
                </a:solidFill>
                <a:latin typeface="+mj-lt"/>
              </a:rPr>
              <a:t>1</a:t>
            </a:r>
            <a:endParaRPr lang="en-US" sz="18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36880" name="Rectangle 16"/>
          <p:cNvSpPr>
            <a:spLocks noChangeArrowheads="1"/>
          </p:cNvSpPr>
          <p:nvPr/>
        </p:nvSpPr>
        <p:spPr bwMode="auto">
          <a:xfrm>
            <a:off x="6418662" y="3506390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8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882" name="Rectangle 18"/>
          <p:cNvSpPr>
            <a:spLocks noChangeArrowheads="1"/>
          </p:cNvSpPr>
          <p:nvPr/>
        </p:nvSpPr>
        <p:spPr bwMode="auto">
          <a:xfrm>
            <a:off x="6784184" y="3734990"/>
            <a:ext cx="365522" cy="2286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sz="1800" dirty="0">
                <a:solidFill>
                  <a:srgbClr val="0070C0"/>
                </a:solidFill>
                <a:latin typeface="+mj-lt"/>
              </a:rPr>
              <a:t>0</a:t>
            </a:r>
            <a:endParaRPr lang="en-US" sz="18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36883" name="Rectangle 19"/>
          <p:cNvSpPr>
            <a:spLocks noChangeArrowheads="1"/>
          </p:cNvSpPr>
          <p:nvPr/>
        </p:nvSpPr>
        <p:spPr bwMode="auto">
          <a:xfrm>
            <a:off x="6784184" y="3506390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7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885" name="Rectangle 21"/>
          <p:cNvSpPr>
            <a:spLocks noChangeArrowheads="1"/>
          </p:cNvSpPr>
          <p:nvPr/>
        </p:nvSpPr>
        <p:spPr bwMode="auto">
          <a:xfrm>
            <a:off x="7149706" y="3734990"/>
            <a:ext cx="365522" cy="2286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sz="1800" dirty="0">
                <a:solidFill>
                  <a:srgbClr val="0070C0"/>
                </a:solidFill>
                <a:latin typeface="+mj-lt"/>
              </a:rPr>
              <a:t>1</a:t>
            </a:r>
            <a:endParaRPr lang="en-US" sz="18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36886" name="Rectangle 22"/>
          <p:cNvSpPr>
            <a:spLocks noChangeArrowheads="1"/>
          </p:cNvSpPr>
          <p:nvPr/>
        </p:nvSpPr>
        <p:spPr bwMode="auto">
          <a:xfrm>
            <a:off x="7149706" y="3506390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6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888" name="Rectangle 24"/>
          <p:cNvSpPr>
            <a:spLocks noChangeArrowheads="1"/>
          </p:cNvSpPr>
          <p:nvPr/>
        </p:nvSpPr>
        <p:spPr bwMode="auto">
          <a:xfrm>
            <a:off x="7515229" y="3734990"/>
            <a:ext cx="365522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6889" name="Rectangle 25"/>
          <p:cNvSpPr>
            <a:spLocks noChangeArrowheads="1"/>
          </p:cNvSpPr>
          <p:nvPr/>
        </p:nvSpPr>
        <p:spPr bwMode="auto">
          <a:xfrm>
            <a:off x="7515229" y="3506390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5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891" name="Rectangle 27"/>
          <p:cNvSpPr>
            <a:spLocks noChangeArrowheads="1"/>
          </p:cNvSpPr>
          <p:nvPr/>
        </p:nvSpPr>
        <p:spPr bwMode="auto">
          <a:xfrm>
            <a:off x="7880751" y="3734990"/>
            <a:ext cx="365522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6892" name="Rectangle 28"/>
          <p:cNvSpPr>
            <a:spLocks noChangeArrowheads="1"/>
          </p:cNvSpPr>
          <p:nvPr/>
        </p:nvSpPr>
        <p:spPr bwMode="auto">
          <a:xfrm>
            <a:off x="7880751" y="3506390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4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894" name="Rectangle 30"/>
          <p:cNvSpPr>
            <a:spLocks noChangeArrowheads="1"/>
          </p:cNvSpPr>
          <p:nvPr/>
        </p:nvSpPr>
        <p:spPr bwMode="auto">
          <a:xfrm>
            <a:off x="8246273" y="3734990"/>
            <a:ext cx="365522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6895" name="Rectangle 31"/>
          <p:cNvSpPr>
            <a:spLocks noChangeArrowheads="1"/>
          </p:cNvSpPr>
          <p:nvPr/>
        </p:nvSpPr>
        <p:spPr bwMode="auto">
          <a:xfrm>
            <a:off x="8246273" y="3506390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3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897" name="Rectangle 33"/>
          <p:cNvSpPr>
            <a:spLocks noChangeArrowheads="1"/>
          </p:cNvSpPr>
          <p:nvPr/>
        </p:nvSpPr>
        <p:spPr bwMode="auto">
          <a:xfrm>
            <a:off x="8611795" y="3734990"/>
            <a:ext cx="365522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6898" name="Rectangle 34"/>
          <p:cNvSpPr>
            <a:spLocks noChangeArrowheads="1"/>
          </p:cNvSpPr>
          <p:nvPr/>
        </p:nvSpPr>
        <p:spPr bwMode="auto">
          <a:xfrm>
            <a:off x="8611795" y="3506390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2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00" name="Rectangle 36"/>
          <p:cNvSpPr>
            <a:spLocks noChangeArrowheads="1"/>
          </p:cNvSpPr>
          <p:nvPr/>
        </p:nvSpPr>
        <p:spPr bwMode="auto">
          <a:xfrm>
            <a:off x="8977316" y="3734990"/>
            <a:ext cx="365522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6901" name="Rectangle 37"/>
          <p:cNvSpPr>
            <a:spLocks noChangeArrowheads="1"/>
          </p:cNvSpPr>
          <p:nvPr/>
        </p:nvSpPr>
        <p:spPr bwMode="auto">
          <a:xfrm>
            <a:off x="8977316" y="3506390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03" name="Rectangle 39"/>
          <p:cNvSpPr>
            <a:spLocks noChangeArrowheads="1"/>
          </p:cNvSpPr>
          <p:nvPr/>
        </p:nvSpPr>
        <p:spPr bwMode="auto">
          <a:xfrm>
            <a:off x="9342835" y="3734990"/>
            <a:ext cx="365522" cy="228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36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6904" name="Rectangle 40"/>
          <p:cNvSpPr>
            <a:spLocks noChangeArrowheads="1"/>
          </p:cNvSpPr>
          <p:nvPr/>
        </p:nvSpPr>
        <p:spPr bwMode="auto">
          <a:xfrm>
            <a:off x="9342835" y="3506390"/>
            <a:ext cx="365522" cy="2286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0</a:t>
            </a:r>
            <a:endParaRPr lang="en-GB" sz="1050" dirty="0">
              <a:latin typeface="Calibri" pitchFamily="34" charset="0"/>
            </a:endParaRPr>
          </a:p>
        </p:txBody>
      </p:sp>
      <p:grpSp>
        <p:nvGrpSpPr>
          <p:cNvPr id="2" name="Group 41"/>
          <p:cNvGrpSpPr/>
          <p:nvPr/>
        </p:nvGrpSpPr>
        <p:grpSpPr bwMode="auto">
          <a:xfrm>
            <a:off x="7528325" y="3999313"/>
            <a:ext cx="2193131" cy="310753"/>
            <a:chOff x="2931" y="2156"/>
            <a:chExt cx="1842" cy="261"/>
          </a:xfrm>
        </p:grpSpPr>
        <p:sp>
          <p:nvSpPr>
            <p:cNvPr id="36906" name="Line 42"/>
            <p:cNvSpPr>
              <a:spLocks noChangeShapeType="1"/>
            </p:cNvSpPr>
            <p:nvPr/>
          </p:nvSpPr>
          <p:spPr bwMode="auto">
            <a:xfrm>
              <a:off x="2931" y="2247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6907" name="Text Box 43"/>
            <p:cNvSpPr txBox="1">
              <a:spLocks noChangeArrowheads="1"/>
            </p:cNvSpPr>
            <p:nvPr/>
          </p:nvSpPr>
          <p:spPr bwMode="auto">
            <a:xfrm>
              <a:off x="3638" y="2156"/>
              <a:ext cx="453" cy="261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</a:ln>
            <a:effectLst/>
          </p:spPr>
          <p:txBody>
            <a:bodyPr wrap="none" lIns="67770" tIns="33210" rIns="67770" bIns="33210">
              <a:spAutoFit/>
            </a:bodyPr>
            <a:lstStyle/>
            <a:p>
              <a:pPr>
                <a:lnSpc>
                  <a:spcPct val="88000"/>
                </a:lnSpc>
                <a:spcBef>
                  <a:spcPts val="50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800" dirty="0">
                  <a:latin typeface="Calibri" pitchFamily="34" charset="0"/>
                </a:rPr>
                <a:t>PPO</a:t>
              </a:r>
              <a:endParaRPr lang="en-GB" sz="1800" dirty="0">
                <a:latin typeface="Calibri" pitchFamily="34" charset="0"/>
              </a:endParaRPr>
            </a:p>
          </p:txBody>
        </p:sp>
      </p:grpSp>
      <p:grpSp>
        <p:nvGrpSpPr>
          <p:cNvPr id="3" name="Group 44"/>
          <p:cNvGrpSpPr/>
          <p:nvPr/>
        </p:nvGrpSpPr>
        <p:grpSpPr bwMode="auto">
          <a:xfrm>
            <a:off x="5356625" y="3999313"/>
            <a:ext cx="2193131" cy="310753"/>
            <a:chOff x="1107" y="2156"/>
            <a:chExt cx="1842" cy="261"/>
          </a:xfrm>
        </p:grpSpPr>
        <p:sp>
          <p:nvSpPr>
            <p:cNvPr id="36909" name="Line 45"/>
            <p:cNvSpPr>
              <a:spLocks noChangeShapeType="1"/>
            </p:cNvSpPr>
            <p:nvPr/>
          </p:nvSpPr>
          <p:spPr bwMode="auto">
            <a:xfrm>
              <a:off x="1107" y="2247"/>
              <a:ext cx="1842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6910" name="Text Box 46"/>
            <p:cNvSpPr txBox="1">
              <a:spLocks noChangeArrowheads="1"/>
            </p:cNvSpPr>
            <p:nvPr/>
          </p:nvSpPr>
          <p:spPr bwMode="auto">
            <a:xfrm>
              <a:off x="1814" y="2156"/>
              <a:ext cx="450" cy="261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</a:ln>
            <a:effectLst/>
          </p:spPr>
          <p:txBody>
            <a:bodyPr wrap="none" lIns="67770" tIns="33210" rIns="67770" bIns="33210">
              <a:spAutoFit/>
            </a:bodyPr>
            <a:lstStyle/>
            <a:p>
              <a:pPr>
                <a:lnSpc>
                  <a:spcPct val="88000"/>
                </a:lnSpc>
                <a:spcBef>
                  <a:spcPts val="50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800" dirty="0">
                  <a:latin typeface="Calibri" pitchFamily="34" charset="0"/>
                </a:rPr>
                <a:t>PPN</a:t>
              </a:r>
              <a:endParaRPr lang="en-GB" sz="1800" dirty="0">
                <a:latin typeface="Calibri" pitchFamily="34" charset="0"/>
              </a:endParaRPr>
            </a:p>
          </p:txBody>
        </p:sp>
      </p:grpSp>
      <p:grpSp>
        <p:nvGrpSpPr>
          <p:cNvPr id="4" name="Group 47"/>
          <p:cNvGrpSpPr/>
          <p:nvPr/>
        </p:nvGrpSpPr>
        <p:grpSpPr bwMode="auto">
          <a:xfrm>
            <a:off x="8955888" y="3282949"/>
            <a:ext cx="744142" cy="229791"/>
            <a:chOff x="4130" y="1501"/>
            <a:chExt cx="625" cy="193"/>
          </a:xfrm>
        </p:grpSpPr>
        <p:sp>
          <p:nvSpPr>
            <p:cNvPr id="36912" name="Line 48"/>
            <p:cNvSpPr>
              <a:spLocks noChangeShapeType="1"/>
            </p:cNvSpPr>
            <p:nvPr/>
          </p:nvSpPr>
          <p:spPr bwMode="auto">
            <a:xfrm>
              <a:off x="4130" y="1579"/>
              <a:ext cx="625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6913" name="Text Box 49"/>
            <p:cNvSpPr txBox="1">
              <a:spLocks noChangeArrowheads="1"/>
            </p:cNvSpPr>
            <p:nvPr/>
          </p:nvSpPr>
          <p:spPr bwMode="auto">
            <a:xfrm>
              <a:off x="4316" y="1501"/>
              <a:ext cx="270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</a:ln>
            <a:effectLst/>
          </p:spPr>
          <p:txBody>
            <a:bodyPr wrap="none" lIns="67770" tIns="33210" rIns="67770" bIns="3321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450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200" dirty="0">
                  <a:latin typeface="Calibri" pitchFamily="34" charset="0"/>
                </a:rPr>
                <a:t>CO</a:t>
              </a:r>
              <a:endParaRPr lang="en-GB" sz="1200" dirty="0">
                <a:latin typeface="Calibri" pitchFamily="34" charset="0"/>
              </a:endParaRPr>
            </a:p>
          </p:txBody>
        </p:sp>
      </p:grpSp>
      <p:grpSp>
        <p:nvGrpSpPr>
          <p:cNvPr id="5" name="Group 50"/>
          <p:cNvGrpSpPr/>
          <p:nvPr/>
        </p:nvGrpSpPr>
        <p:grpSpPr bwMode="auto">
          <a:xfrm>
            <a:off x="7508877" y="3280171"/>
            <a:ext cx="1445419" cy="229791"/>
            <a:chOff x="2920" y="1488"/>
            <a:chExt cx="1214" cy="193"/>
          </a:xfrm>
        </p:grpSpPr>
        <p:sp>
          <p:nvSpPr>
            <p:cNvPr id="36915" name="Line 51"/>
            <p:cNvSpPr>
              <a:spLocks noChangeShapeType="1"/>
            </p:cNvSpPr>
            <p:nvPr/>
          </p:nvSpPr>
          <p:spPr bwMode="auto">
            <a:xfrm>
              <a:off x="2920" y="1566"/>
              <a:ext cx="1214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6916" name="Text Box 52"/>
            <p:cNvSpPr txBox="1">
              <a:spLocks noChangeArrowheads="1"/>
            </p:cNvSpPr>
            <p:nvPr/>
          </p:nvSpPr>
          <p:spPr bwMode="auto">
            <a:xfrm>
              <a:off x="3460" y="1488"/>
              <a:ext cx="219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</a:ln>
            <a:effectLst/>
          </p:spPr>
          <p:txBody>
            <a:bodyPr wrap="none" lIns="67770" tIns="33210" rIns="67770" bIns="3321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450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200" dirty="0">
                  <a:latin typeface="Calibri" pitchFamily="34" charset="0"/>
                </a:rPr>
                <a:t>CI</a:t>
              </a:r>
              <a:endParaRPr lang="en-GB" sz="1200" dirty="0">
                <a:latin typeface="Calibri" pitchFamily="34" charset="0"/>
              </a:endParaRPr>
            </a:p>
          </p:txBody>
        </p:sp>
      </p:grpSp>
      <p:grpSp>
        <p:nvGrpSpPr>
          <p:cNvPr id="6" name="Group 53"/>
          <p:cNvGrpSpPr/>
          <p:nvPr/>
        </p:nvGrpSpPr>
        <p:grpSpPr bwMode="auto">
          <a:xfrm>
            <a:off x="5322095" y="3276599"/>
            <a:ext cx="2170510" cy="229791"/>
            <a:chOff x="1078" y="1501"/>
            <a:chExt cx="1823" cy="193"/>
          </a:xfrm>
        </p:grpSpPr>
        <p:sp>
          <p:nvSpPr>
            <p:cNvPr id="36918" name="Line 54"/>
            <p:cNvSpPr>
              <a:spLocks noChangeShapeType="1"/>
            </p:cNvSpPr>
            <p:nvPr/>
          </p:nvSpPr>
          <p:spPr bwMode="auto">
            <a:xfrm>
              <a:off x="1078" y="1579"/>
              <a:ext cx="1823" cy="1"/>
            </a:xfrm>
            <a:prstGeom prst="line">
              <a:avLst/>
            </a:prstGeom>
            <a:noFill/>
            <a:ln w="9360">
              <a:solidFill>
                <a:srgbClr val="000066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6919" name="Text Box 55"/>
            <p:cNvSpPr txBox="1">
              <a:spLocks noChangeArrowheads="1"/>
            </p:cNvSpPr>
            <p:nvPr/>
          </p:nvSpPr>
          <p:spPr bwMode="auto">
            <a:xfrm>
              <a:off x="1927" y="1501"/>
              <a:ext cx="249" cy="193"/>
            </a:xfrm>
            <a:prstGeom prst="rect">
              <a:avLst/>
            </a:prstGeom>
            <a:solidFill>
              <a:srgbClr val="FFFFFF"/>
            </a:solidFill>
            <a:ln w="9525">
              <a:noFill/>
              <a:round/>
            </a:ln>
            <a:effectLst/>
          </p:spPr>
          <p:txBody>
            <a:bodyPr wrap="none" lIns="67770" tIns="33210" rIns="67770" bIns="33210">
              <a:spAutoFit/>
            </a:bodyPr>
            <a:lstStyle/>
            <a:p>
              <a:pPr algn="ctr">
                <a:lnSpc>
                  <a:spcPct val="88000"/>
                </a:lnSpc>
                <a:spcBef>
                  <a:spcPts val="450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200" dirty="0">
                  <a:latin typeface="Calibri" pitchFamily="34" charset="0"/>
                </a:rPr>
                <a:t>CT</a:t>
              </a:r>
              <a:endParaRPr lang="en-GB" sz="1200" dirty="0">
                <a:latin typeface="Calibri" pitchFamily="34" charset="0"/>
              </a:endParaRPr>
            </a:p>
          </p:txBody>
        </p:sp>
      </p:grpSp>
      <p:sp>
        <p:nvSpPr>
          <p:cNvPr id="36928" name="Rectangle 64"/>
          <p:cNvSpPr>
            <a:spLocks noChangeArrowheads="1"/>
          </p:cNvSpPr>
          <p:nvPr/>
        </p:nvSpPr>
        <p:spPr bwMode="auto">
          <a:xfrm>
            <a:off x="6944918" y="6153151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03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29" name="Rectangle 65"/>
          <p:cNvSpPr>
            <a:spLocks noChangeArrowheads="1"/>
          </p:cNvSpPr>
          <p:nvPr/>
        </p:nvSpPr>
        <p:spPr bwMode="auto">
          <a:xfrm>
            <a:off x="6480573" y="6153151"/>
            <a:ext cx="464344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DF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30" name="Rectangle 66"/>
          <p:cNvSpPr>
            <a:spLocks noChangeArrowheads="1"/>
          </p:cNvSpPr>
          <p:nvPr/>
        </p:nvSpPr>
        <p:spPr bwMode="auto">
          <a:xfrm>
            <a:off x="6015040" y="6153151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C2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31" name="Rectangle 67"/>
          <p:cNvSpPr>
            <a:spLocks noChangeArrowheads="1"/>
          </p:cNvSpPr>
          <p:nvPr/>
        </p:nvSpPr>
        <p:spPr bwMode="auto">
          <a:xfrm>
            <a:off x="5548314" y="6153151"/>
            <a:ext cx="46672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11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32" name="Rectangle 68"/>
          <p:cNvSpPr>
            <a:spLocks noChangeArrowheads="1"/>
          </p:cNvSpPr>
          <p:nvPr/>
        </p:nvSpPr>
        <p:spPr bwMode="auto">
          <a:xfrm>
            <a:off x="5082781" y="6153151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33" name="Rectangle 69"/>
          <p:cNvSpPr>
            <a:spLocks noChangeArrowheads="1"/>
          </p:cNvSpPr>
          <p:nvPr/>
        </p:nvSpPr>
        <p:spPr bwMode="auto">
          <a:xfrm>
            <a:off x="4618436" y="6153151"/>
            <a:ext cx="464344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16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34" name="Rectangle 70"/>
          <p:cNvSpPr>
            <a:spLocks noChangeArrowheads="1"/>
          </p:cNvSpPr>
          <p:nvPr/>
        </p:nvSpPr>
        <p:spPr bwMode="auto">
          <a:xfrm>
            <a:off x="4152902" y="6153151"/>
            <a:ext cx="465535" cy="21074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solidFill>
                  <a:srgbClr val="990000"/>
                </a:solidFill>
                <a:latin typeface="Calibri" pitchFamily="34" charset="0"/>
              </a:rPr>
              <a:t>7</a:t>
            </a:r>
            <a:endParaRPr lang="en-GB" sz="1050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36942" name="Rectangle 78"/>
          <p:cNvSpPr>
            <a:spLocks noChangeArrowheads="1"/>
          </p:cNvSpPr>
          <p:nvPr/>
        </p:nvSpPr>
        <p:spPr bwMode="auto">
          <a:xfrm>
            <a:off x="6944918" y="5942411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–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43" name="Rectangle 79"/>
          <p:cNvSpPr>
            <a:spLocks noChangeArrowheads="1"/>
          </p:cNvSpPr>
          <p:nvPr/>
        </p:nvSpPr>
        <p:spPr bwMode="auto">
          <a:xfrm>
            <a:off x="6480573" y="5942411"/>
            <a:ext cx="464344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–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44" name="Rectangle 80"/>
          <p:cNvSpPr>
            <a:spLocks noChangeArrowheads="1"/>
          </p:cNvSpPr>
          <p:nvPr/>
        </p:nvSpPr>
        <p:spPr bwMode="auto">
          <a:xfrm>
            <a:off x="6015040" y="5942411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–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45" name="Rectangle 81"/>
          <p:cNvSpPr>
            <a:spLocks noChangeArrowheads="1"/>
          </p:cNvSpPr>
          <p:nvPr/>
        </p:nvSpPr>
        <p:spPr bwMode="auto">
          <a:xfrm>
            <a:off x="5548314" y="5942411"/>
            <a:ext cx="46672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–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46" name="Rectangle 82"/>
          <p:cNvSpPr>
            <a:spLocks noChangeArrowheads="1"/>
          </p:cNvSpPr>
          <p:nvPr/>
        </p:nvSpPr>
        <p:spPr bwMode="auto">
          <a:xfrm>
            <a:off x="5082781" y="5942411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0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47" name="Rectangle 83"/>
          <p:cNvSpPr>
            <a:spLocks noChangeArrowheads="1"/>
          </p:cNvSpPr>
          <p:nvPr/>
        </p:nvSpPr>
        <p:spPr bwMode="auto">
          <a:xfrm>
            <a:off x="4618436" y="5942411"/>
            <a:ext cx="464344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31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48" name="Rectangle 84"/>
          <p:cNvSpPr>
            <a:spLocks noChangeArrowheads="1"/>
          </p:cNvSpPr>
          <p:nvPr/>
        </p:nvSpPr>
        <p:spPr bwMode="auto">
          <a:xfrm>
            <a:off x="4152902" y="5942411"/>
            <a:ext cx="465535" cy="21074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solidFill>
                  <a:srgbClr val="990000"/>
                </a:solidFill>
                <a:latin typeface="Calibri" pitchFamily="34" charset="0"/>
              </a:rPr>
              <a:t>6</a:t>
            </a:r>
            <a:endParaRPr lang="en-GB" sz="1050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36956" name="Rectangle 92"/>
          <p:cNvSpPr>
            <a:spLocks noChangeArrowheads="1"/>
          </p:cNvSpPr>
          <p:nvPr/>
        </p:nvSpPr>
        <p:spPr bwMode="auto">
          <a:xfrm>
            <a:off x="6944918" y="5731670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1D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57" name="Rectangle 93"/>
          <p:cNvSpPr>
            <a:spLocks noChangeArrowheads="1"/>
          </p:cNvSpPr>
          <p:nvPr/>
        </p:nvSpPr>
        <p:spPr bwMode="auto">
          <a:xfrm>
            <a:off x="6480573" y="5731670"/>
            <a:ext cx="464344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F0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58" name="Rectangle 94"/>
          <p:cNvSpPr>
            <a:spLocks noChangeArrowheads="1"/>
          </p:cNvSpPr>
          <p:nvPr/>
        </p:nvSpPr>
        <p:spPr bwMode="auto">
          <a:xfrm>
            <a:off x="6015040" y="5731670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72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59" name="Rectangle 95"/>
          <p:cNvSpPr>
            <a:spLocks noChangeArrowheads="1"/>
          </p:cNvSpPr>
          <p:nvPr/>
        </p:nvSpPr>
        <p:spPr bwMode="auto">
          <a:xfrm>
            <a:off x="5548314" y="5731670"/>
            <a:ext cx="46672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36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60" name="Rectangle 96"/>
          <p:cNvSpPr>
            <a:spLocks noChangeArrowheads="1"/>
          </p:cNvSpPr>
          <p:nvPr/>
        </p:nvSpPr>
        <p:spPr bwMode="auto">
          <a:xfrm>
            <a:off x="5082781" y="5731670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61" name="Rectangle 97"/>
          <p:cNvSpPr>
            <a:spLocks noChangeArrowheads="1"/>
          </p:cNvSpPr>
          <p:nvPr/>
        </p:nvSpPr>
        <p:spPr bwMode="auto">
          <a:xfrm>
            <a:off x="4618436" y="5731670"/>
            <a:ext cx="464344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0D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62" name="Rectangle 98"/>
          <p:cNvSpPr>
            <a:spLocks noChangeArrowheads="1"/>
          </p:cNvSpPr>
          <p:nvPr/>
        </p:nvSpPr>
        <p:spPr bwMode="auto">
          <a:xfrm>
            <a:off x="4152902" y="5731670"/>
            <a:ext cx="465535" cy="21074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solidFill>
                  <a:srgbClr val="990000"/>
                </a:solidFill>
                <a:latin typeface="Calibri" pitchFamily="34" charset="0"/>
              </a:rPr>
              <a:t>5</a:t>
            </a:r>
            <a:endParaRPr lang="en-GB" sz="1050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36970" name="Rectangle 106"/>
          <p:cNvSpPr>
            <a:spLocks noChangeArrowheads="1"/>
          </p:cNvSpPr>
          <p:nvPr/>
        </p:nvSpPr>
        <p:spPr bwMode="auto">
          <a:xfrm>
            <a:off x="6944918" y="5501880"/>
            <a:ext cx="465535" cy="22979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09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71" name="Rectangle 107"/>
          <p:cNvSpPr>
            <a:spLocks noChangeArrowheads="1"/>
          </p:cNvSpPr>
          <p:nvPr/>
        </p:nvSpPr>
        <p:spPr bwMode="auto">
          <a:xfrm>
            <a:off x="6480573" y="5501880"/>
            <a:ext cx="464344" cy="22979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8F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72" name="Rectangle 108"/>
          <p:cNvSpPr>
            <a:spLocks noChangeArrowheads="1"/>
          </p:cNvSpPr>
          <p:nvPr/>
        </p:nvSpPr>
        <p:spPr bwMode="auto">
          <a:xfrm>
            <a:off x="6015040" y="5501880"/>
            <a:ext cx="465535" cy="22979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6D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73" name="Rectangle 109"/>
          <p:cNvSpPr>
            <a:spLocks noChangeArrowheads="1"/>
          </p:cNvSpPr>
          <p:nvPr/>
        </p:nvSpPr>
        <p:spPr bwMode="auto">
          <a:xfrm>
            <a:off x="5548314" y="5501880"/>
            <a:ext cx="466725" cy="22979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43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74" name="Rectangle 110"/>
          <p:cNvSpPr>
            <a:spLocks noChangeArrowheads="1"/>
          </p:cNvSpPr>
          <p:nvPr/>
        </p:nvSpPr>
        <p:spPr bwMode="auto">
          <a:xfrm>
            <a:off x="5082781" y="5501880"/>
            <a:ext cx="465535" cy="22979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75" name="Rectangle 111"/>
          <p:cNvSpPr>
            <a:spLocks noChangeArrowheads="1"/>
          </p:cNvSpPr>
          <p:nvPr/>
        </p:nvSpPr>
        <p:spPr bwMode="auto">
          <a:xfrm>
            <a:off x="4618436" y="5501880"/>
            <a:ext cx="464344" cy="22979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32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76" name="Rectangle 112"/>
          <p:cNvSpPr>
            <a:spLocks noChangeArrowheads="1"/>
          </p:cNvSpPr>
          <p:nvPr/>
        </p:nvSpPr>
        <p:spPr bwMode="auto">
          <a:xfrm>
            <a:off x="4152902" y="5501880"/>
            <a:ext cx="465535" cy="22979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solidFill>
                  <a:srgbClr val="990000"/>
                </a:solidFill>
                <a:latin typeface="Calibri" pitchFamily="34" charset="0"/>
              </a:rPr>
              <a:t>4</a:t>
            </a:r>
            <a:endParaRPr lang="en-GB" sz="1050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36984" name="Rectangle 120"/>
          <p:cNvSpPr>
            <a:spLocks noChangeArrowheads="1"/>
          </p:cNvSpPr>
          <p:nvPr/>
        </p:nvSpPr>
        <p:spPr bwMode="auto">
          <a:xfrm>
            <a:off x="6944918" y="5291139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–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85" name="Rectangle 121"/>
          <p:cNvSpPr>
            <a:spLocks noChangeArrowheads="1"/>
          </p:cNvSpPr>
          <p:nvPr/>
        </p:nvSpPr>
        <p:spPr bwMode="auto">
          <a:xfrm>
            <a:off x="6480573" y="5291139"/>
            <a:ext cx="464344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–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86" name="Rectangle 122"/>
          <p:cNvSpPr>
            <a:spLocks noChangeArrowheads="1"/>
          </p:cNvSpPr>
          <p:nvPr/>
        </p:nvSpPr>
        <p:spPr bwMode="auto">
          <a:xfrm>
            <a:off x="6015040" y="5291139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–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87" name="Rectangle 123"/>
          <p:cNvSpPr>
            <a:spLocks noChangeArrowheads="1"/>
          </p:cNvSpPr>
          <p:nvPr/>
        </p:nvSpPr>
        <p:spPr bwMode="auto">
          <a:xfrm>
            <a:off x="5548314" y="5291139"/>
            <a:ext cx="46672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–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88" name="Rectangle 124"/>
          <p:cNvSpPr>
            <a:spLocks noChangeArrowheads="1"/>
          </p:cNvSpPr>
          <p:nvPr/>
        </p:nvSpPr>
        <p:spPr bwMode="auto">
          <a:xfrm>
            <a:off x="5082781" y="5291139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0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89" name="Rectangle 125"/>
          <p:cNvSpPr>
            <a:spLocks noChangeArrowheads="1"/>
          </p:cNvSpPr>
          <p:nvPr/>
        </p:nvSpPr>
        <p:spPr bwMode="auto">
          <a:xfrm>
            <a:off x="4618436" y="5291139"/>
            <a:ext cx="464344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36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90" name="Rectangle 126"/>
          <p:cNvSpPr>
            <a:spLocks noChangeArrowheads="1"/>
          </p:cNvSpPr>
          <p:nvPr/>
        </p:nvSpPr>
        <p:spPr bwMode="auto">
          <a:xfrm>
            <a:off x="4152902" y="5291139"/>
            <a:ext cx="465535" cy="21074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solidFill>
                  <a:srgbClr val="990000"/>
                </a:solidFill>
                <a:latin typeface="Calibri" pitchFamily="34" charset="0"/>
              </a:rPr>
              <a:t>3</a:t>
            </a:r>
            <a:endParaRPr lang="en-GB" sz="1050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36998" name="Rectangle 134"/>
          <p:cNvSpPr>
            <a:spLocks noChangeArrowheads="1"/>
          </p:cNvSpPr>
          <p:nvPr/>
        </p:nvSpPr>
        <p:spPr bwMode="auto">
          <a:xfrm>
            <a:off x="6944918" y="5080398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08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6999" name="Rectangle 135"/>
          <p:cNvSpPr>
            <a:spLocks noChangeArrowheads="1"/>
          </p:cNvSpPr>
          <p:nvPr/>
        </p:nvSpPr>
        <p:spPr bwMode="auto">
          <a:xfrm>
            <a:off x="6480573" y="5080398"/>
            <a:ext cx="464344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04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7000" name="Rectangle 136"/>
          <p:cNvSpPr>
            <a:spLocks noChangeArrowheads="1"/>
          </p:cNvSpPr>
          <p:nvPr/>
        </p:nvSpPr>
        <p:spPr bwMode="auto">
          <a:xfrm>
            <a:off x="6015040" y="5080398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02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7001" name="Rectangle 137"/>
          <p:cNvSpPr>
            <a:spLocks noChangeArrowheads="1"/>
          </p:cNvSpPr>
          <p:nvPr/>
        </p:nvSpPr>
        <p:spPr bwMode="auto">
          <a:xfrm>
            <a:off x="5548314" y="5080398"/>
            <a:ext cx="46672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00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7002" name="Rectangle 138"/>
          <p:cNvSpPr>
            <a:spLocks noChangeArrowheads="1"/>
          </p:cNvSpPr>
          <p:nvPr/>
        </p:nvSpPr>
        <p:spPr bwMode="auto">
          <a:xfrm>
            <a:off x="5082781" y="5080398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7003" name="Rectangle 139"/>
          <p:cNvSpPr>
            <a:spLocks noChangeArrowheads="1"/>
          </p:cNvSpPr>
          <p:nvPr/>
        </p:nvSpPr>
        <p:spPr bwMode="auto">
          <a:xfrm>
            <a:off x="4618436" y="5080398"/>
            <a:ext cx="464344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1B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7004" name="Rectangle 140"/>
          <p:cNvSpPr>
            <a:spLocks noChangeArrowheads="1"/>
          </p:cNvSpPr>
          <p:nvPr/>
        </p:nvSpPr>
        <p:spPr bwMode="auto">
          <a:xfrm>
            <a:off x="4152902" y="5080398"/>
            <a:ext cx="465535" cy="21074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solidFill>
                  <a:srgbClr val="990000"/>
                </a:solidFill>
                <a:latin typeface="Calibri" pitchFamily="34" charset="0"/>
              </a:rPr>
              <a:t>2</a:t>
            </a:r>
            <a:endParaRPr lang="en-GB" sz="1050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37012" name="Rectangle 148"/>
          <p:cNvSpPr>
            <a:spLocks noChangeArrowheads="1"/>
          </p:cNvSpPr>
          <p:nvPr/>
        </p:nvSpPr>
        <p:spPr bwMode="auto">
          <a:xfrm>
            <a:off x="6944918" y="4869657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–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7013" name="Rectangle 149"/>
          <p:cNvSpPr>
            <a:spLocks noChangeArrowheads="1"/>
          </p:cNvSpPr>
          <p:nvPr/>
        </p:nvSpPr>
        <p:spPr bwMode="auto">
          <a:xfrm>
            <a:off x="6480573" y="4869657"/>
            <a:ext cx="464344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–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7014" name="Rectangle 150"/>
          <p:cNvSpPr>
            <a:spLocks noChangeArrowheads="1"/>
          </p:cNvSpPr>
          <p:nvPr/>
        </p:nvSpPr>
        <p:spPr bwMode="auto">
          <a:xfrm>
            <a:off x="6015040" y="4869657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–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7015" name="Rectangle 151"/>
          <p:cNvSpPr>
            <a:spLocks noChangeArrowheads="1"/>
          </p:cNvSpPr>
          <p:nvPr/>
        </p:nvSpPr>
        <p:spPr bwMode="auto">
          <a:xfrm>
            <a:off x="5548314" y="4869657"/>
            <a:ext cx="46672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–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7016" name="Rectangle 152"/>
          <p:cNvSpPr>
            <a:spLocks noChangeArrowheads="1"/>
          </p:cNvSpPr>
          <p:nvPr/>
        </p:nvSpPr>
        <p:spPr bwMode="auto">
          <a:xfrm>
            <a:off x="5082781" y="4869657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0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7017" name="Rectangle 153"/>
          <p:cNvSpPr>
            <a:spLocks noChangeArrowheads="1"/>
          </p:cNvSpPr>
          <p:nvPr/>
        </p:nvSpPr>
        <p:spPr bwMode="auto">
          <a:xfrm>
            <a:off x="4618436" y="4869657"/>
            <a:ext cx="464344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15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7018" name="Rectangle 154"/>
          <p:cNvSpPr>
            <a:spLocks noChangeArrowheads="1"/>
          </p:cNvSpPr>
          <p:nvPr/>
        </p:nvSpPr>
        <p:spPr bwMode="auto">
          <a:xfrm>
            <a:off x="4152902" y="4869657"/>
            <a:ext cx="465535" cy="21074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solidFill>
                  <a:srgbClr val="990000"/>
                </a:solidFill>
                <a:latin typeface="Calibri" pitchFamily="34" charset="0"/>
              </a:rPr>
              <a:t>1</a:t>
            </a:r>
            <a:endParaRPr lang="en-GB" sz="1050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37026" name="Rectangle 162"/>
          <p:cNvSpPr>
            <a:spLocks noChangeArrowheads="1"/>
          </p:cNvSpPr>
          <p:nvPr/>
        </p:nvSpPr>
        <p:spPr bwMode="auto">
          <a:xfrm>
            <a:off x="6944918" y="4658917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11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7027" name="Rectangle 163"/>
          <p:cNvSpPr>
            <a:spLocks noChangeArrowheads="1"/>
          </p:cNvSpPr>
          <p:nvPr/>
        </p:nvSpPr>
        <p:spPr bwMode="auto">
          <a:xfrm>
            <a:off x="6480573" y="4658917"/>
            <a:ext cx="464344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23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7028" name="Rectangle 164"/>
          <p:cNvSpPr>
            <a:spLocks noChangeArrowheads="1"/>
          </p:cNvSpPr>
          <p:nvPr/>
        </p:nvSpPr>
        <p:spPr bwMode="auto">
          <a:xfrm>
            <a:off x="6015040" y="4658917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11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7029" name="Rectangle 165"/>
          <p:cNvSpPr>
            <a:spLocks noChangeArrowheads="1"/>
          </p:cNvSpPr>
          <p:nvPr/>
        </p:nvSpPr>
        <p:spPr bwMode="auto">
          <a:xfrm>
            <a:off x="5548314" y="4658917"/>
            <a:ext cx="46672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99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7030" name="Rectangle 166"/>
          <p:cNvSpPr>
            <a:spLocks noChangeArrowheads="1"/>
          </p:cNvSpPr>
          <p:nvPr/>
        </p:nvSpPr>
        <p:spPr bwMode="auto">
          <a:xfrm>
            <a:off x="5082781" y="4658917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7031" name="Rectangle 167"/>
          <p:cNvSpPr>
            <a:spLocks noChangeArrowheads="1"/>
          </p:cNvSpPr>
          <p:nvPr/>
        </p:nvSpPr>
        <p:spPr bwMode="auto">
          <a:xfrm>
            <a:off x="4618436" y="4658917"/>
            <a:ext cx="464344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19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37032" name="Rectangle 168"/>
          <p:cNvSpPr>
            <a:spLocks noChangeArrowheads="1"/>
          </p:cNvSpPr>
          <p:nvPr/>
        </p:nvSpPr>
        <p:spPr bwMode="auto">
          <a:xfrm>
            <a:off x="4152902" y="4658917"/>
            <a:ext cx="465535" cy="21074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solidFill>
                  <a:srgbClr val="990000"/>
                </a:solidFill>
                <a:latin typeface="Calibri" pitchFamily="34" charset="0"/>
              </a:rPr>
              <a:t>0</a:t>
            </a:r>
            <a:endParaRPr lang="en-GB" sz="1050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37040" name="Rectangle 176"/>
          <p:cNvSpPr>
            <a:spLocks noChangeArrowheads="1"/>
          </p:cNvSpPr>
          <p:nvPr/>
        </p:nvSpPr>
        <p:spPr bwMode="auto">
          <a:xfrm>
            <a:off x="6944918" y="4448176"/>
            <a:ext cx="465535" cy="21074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i="1" dirty="0">
                <a:solidFill>
                  <a:srgbClr val="990000"/>
                </a:solidFill>
                <a:latin typeface="Calibri" pitchFamily="34" charset="0"/>
              </a:rPr>
              <a:t>B3</a:t>
            </a:r>
            <a:endParaRPr lang="en-GB" sz="1050" i="1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37041" name="Rectangle 177"/>
          <p:cNvSpPr>
            <a:spLocks noChangeArrowheads="1"/>
          </p:cNvSpPr>
          <p:nvPr/>
        </p:nvSpPr>
        <p:spPr bwMode="auto">
          <a:xfrm>
            <a:off x="6480573" y="4448176"/>
            <a:ext cx="464344" cy="21074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i="1" dirty="0">
                <a:solidFill>
                  <a:srgbClr val="990000"/>
                </a:solidFill>
                <a:latin typeface="Calibri" pitchFamily="34" charset="0"/>
              </a:rPr>
              <a:t>B2</a:t>
            </a:r>
            <a:endParaRPr lang="en-GB" sz="1050" i="1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37042" name="Rectangle 178"/>
          <p:cNvSpPr>
            <a:spLocks noChangeArrowheads="1"/>
          </p:cNvSpPr>
          <p:nvPr/>
        </p:nvSpPr>
        <p:spPr bwMode="auto">
          <a:xfrm>
            <a:off x="6015040" y="4448176"/>
            <a:ext cx="465535" cy="21074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i="1" dirty="0">
                <a:solidFill>
                  <a:srgbClr val="990000"/>
                </a:solidFill>
                <a:latin typeface="Calibri" pitchFamily="34" charset="0"/>
              </a:rPr>
              <a:t>B1</a:t>
            </a:r>
            <a:endParaRPr lang="en-GB" sz="1050" i="1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37043" name="Rectangle 179"/>
          <p:cNvSpPr>
            <a:spLocks noChangeArrowheads="1"/>
          </p:cNvSpPr>
          <p:nvPr/>
        </p:nvSpPr>
        <p:spPr bwMode="auto">
          <a:xfrm>
            <a:off x="5548314" y="4448176"/>
            <a:ext cx="466725" cy="21074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i="1" dirty="0">
                <a:solidFill>
                  <a:srgbClr val="990000"/>
                </a:solidFill>
                <a:latin typeface="Calibri" pitchFamily="34" charset="0"/>
              </a:rPr>
              <a:t>B0</a:t>
            </a:r>
            <a:endParaRPr lang="en-GB" sz="1050" i="1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37044" name="Rectangle 180"/>
          <p:cNvSpPr>
            <a:spLocks noChangeArrowheads="1"/>
          </p:cNvSpPr>
          <p:nvPr/>
        </p:nvSpPr>
        <p:spPr bwMode="auto">
          <a:xfrm>
            <a:off x="5082781" y="4448176"/>
            <a:ext cx="465535" cy="21074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i="1" dirty="0">
                <a:solidFill>
                  <a:srgbClr val="990000"/>
                </a:solidFill>
                <a:latin typeface="Calibri" pitchFamily="34" charset="0"/>
              </a:rPr>
              <a:t>Valid</a:t>
            </a:r>
            <a:endParaRPr lang="en-GB" sz="1050" i="1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37045" name="Rectangle 181"/>
          <p:cNvSpPr>
            <a:spLocks noChangeArrowheads="1"/>
          </p:cNvSpPr>
          <p:nvPr/>
        </p:nvSpPr>
        <p:spPr bwMode="auto">
          <a:xfrm>
            <a:off x="4618436" y="4448176"/>
            <a:ext cx="464344" cy="21074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i="1" dirty="0">
                <a:solidFill>
                  <a:srgbClr val="990000"/>
                </a:solidFill>
                <a:latin typeface="Calibri" pitchFamily="34" charset="0"/>
              </a:rPr>
              <a:t>Tag</a:t>
            </a:r>
            <a:endParaRPr lang="en-GB" sz="1050" i="1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37046" name="Rectangle 182"/>
          <p:cNvSpPr>
            <a:spLocks noChangeArrowheads="1"/>
          </p:cNvSpPr>
          <p:nvPr/>
        </p:nvSpPr>
        <p:spPr bwMode="auto">
          <a:xfrm>
            <a:off x="4152902" y="4448176"/>
            <a:ext cx="465535" cy="21074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i="1" dirty="0" err="1">
                <a:solidFill>
                  <a:srgbClr val="990000"/>
                </a:solidFill>
                <a:latin typeface="Calibri" pitchFamily="34" charset="0"/>
              </a:rPr>
              <a:t>Idx</a:t>
            </a:r>
            <a:endParaRPr lang="en-GB" sz="1050" i="1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37047" name="Line 183"/>
          <p:cNvSpPr>
            <a:spLocks noChangeShapeType="1"/>
          </p:cNvSpPr>
          <p:nvPr/>
        </p:nvSpPr>
        <p:spPr bwMode="auto">
          <a:xfrm>
            <a:off x="4152900" y="4658917"/>
            <a:ext cx="3243834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 i="1">
              <a:solidFill>
                <a:srgbClr val="990000"/>
              </a:solidFill>
            </a:endParaRPr>
          </a:p>
        </p:txBody>
      </p:sp>
      <p:sp>
        <p:nvSpPr>
          <p:cNvPr id="37048" name="Line 184"/>
          <p:cNvSpPr>
            <a:spLocks noChangeShapeType="1"/>
          </p:cNvSpPr>
          <p:nvPr/>
        </p:nvSpPr>
        <p:spPr bwMode="auto">
          <a:xfrm>
            <a:off x="4152900" y="4869657"/>
            <a:ext cx="3243834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37049" name="Line 185"/>
          <p:cNvSpPr>
            <a:spLocks noChangeShapeType="1"/>
          </p:cNvSpPr>
          <p:nvPr/>
        </p:nvSpPr>
        <p:spPr bwMode="auto">
          <a:xfrm>
            <a:off x="4152900" y="5080398"/>
            <a:ext cx="3243834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37050" name="Line 186"/>
          <p:cNvSpPr>
            <a:spLocks noChangeShapeType="1"/>
          </p:cNvSpPr>
          <p:nvPr/>
        </p:nvSpPr>
        <p:spPr bwMode="auto">
          <a:xfrm>
            <a:off x="4152900" y="5291139"/>
            <a:ext cx="3243834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37051" name="Line 187"/>
          <p:cNvSpPr>
            <a:spLocks noChangeShapeType="1"/>
          </p:cNvSpPr>
          <p:nvPr/>
        </p:nvSpPr>
        <p:spPr bwMode="auto">
          <a:xfrm>
            <a:off x="4152900" y="5504260"/>
            <a:ext cx="3243834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37052" name="Line 188"/>
          <p:cNvSpPr>
            <a:spLocks noChangeShapeType="1"/>
          </p:cNvSpPr>
          <p:nvPr/>
        </p:nvSpPr>
        <p:spPr bwMode="auto">
          <a:xfrm>
            <a:off x="4152900" y="5731670"/>
            <a:ext cx="3243834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37053" name="Line 189"/>
          <p:cNvSpPr>
            <a:spLocks noChangeShapeType="1"/>
          </p:cNvSpPr>
          <p:nvPr/>
        </p:nvSpPr>
        <p:spPr bwMode="auto">
          <a:xfrm>
            <a:off x="4152900" y="5942411"/>
            <a:ext cx="3243834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37054" name="Line 190"/>
          <p:cNvSpPr>
            <a:spLocks noChangeShapeType="1"/>
          </p:cNvSpPr>
          <p:nvPr/>
        </p:nvSpPr>
        <p:spPr bwMode="auto">
          <a:xfrm>
            <a:off x="4152900" y="6153151"/>
            <a:ext cx="3243834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37055" name="Line 191"/>
          <p:cNvSpPr>
            <a:spLocks noChangeShapeType="1"/>
          </p:cNvSpPr>
          <p:nvPr/>
        </p:nvSpPr>
        <p:spPr bwMode="auto">
          <a:xfrm>
            <a:off x="4618436" y="4448175"/>
            <a:ext cx="1191" cy="1915716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37056" name="Line 192"/>
          <p:cNvSpPr>
            <a:spLocks noChangeShapeType="1"/>
          </p:cNvSpPr>
          <p:nvPr/>
        </p:nvSpPr>
        <p:spPr bwMode="auto">
          <a:xfrm>
            <a:off x="5082780" y="4448175"/>
            <a:ext cx="1191" cy="1915716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37057" name="Line 193"/>
          <p:cNvSpPr>
            <a:spLocks noChangeShapeType="1"/>
          </p:cNvSpPr>
          <p:nvPr/>
        </p:nvSpPr>
        <p:spPr bwMode="auto">
          <a:xfrm>
            <a:off x="5548314" y="4448175"/>
            <a:ext cx="1191" cy="1915716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37058" name="Line 194"/>
          <p:cNvSpPr>
            <a:spLocks noChangeShapeType="1"/>
          </p:cNvSpPr>
          <p:nvPr/>
        </p:nvSpPr>
        <p:spPr bwMode="auto">
          <a:xfrm>
            <a:off x="6015039" y="4448175"/>
            <a:ext cx="1191" cy="1915716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37059" name="Line 195"/>
          <p:cNvSpPr>
            <a:spLocks noChangeShapeType="1"/>
          </p:cNvSpPr>
          <p:nvPr/>
        </p:nvSpPr>
        <p:spPr bwMode="auto">
          <a:xfrm>
            <a:off x="6480573" y="4448175"/>
            <a:ext cx="1191" cy="1915716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37060" name="Line 196"/>
          <p:cNvSpPr>
            <a:spLocks noChangeShapeType="1"/>
          </p:cNvSpPr>
          <p:nvPr/>
        </p:nvSpPr>
        <p:spPr bwMode="auto">
          <a:xfrm>
            <a:off x="6944917" y="4448175"/>
            <a:ext cx="1191" cy="1915716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37067" name="Line 203"/>
          <p:cNvSpPr>
            <a:spLocks noChangeShapeType="1"/>
          </p:cNvSpPr>
          <p:nvPr/>
        </p:nvSpPr>
        <p:spPr bwMode="auto">
          <a:xfrm>
            <a:off x="4152901" y="4448175"/>
            <a:ext cx="1191" cy="1915716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37069" name="Line 205"/>
          <p:cNvSpPr>
            <a:spLocks noChangeShapeType="1"/>
          </p:cNvSpPr>
          <p:nvPr/>
        </p:nvSpPr>
        <p:spPr bwMode="auto">
          <a:xfrm>
            <a:off x="4152900" y="4448176"/>
            <a:ext cx="3243834" cy="1191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 i="1">
              <a:solidFill>
                <a:srgbClr val="990000"/>
              </a:solidFill>
            </a:endParaRPr>
          </a:p>
        </p:txBody>
      </p:sp>
      <p:sp>
        <p:nvSpPr>
          <p:cNvPr id="37071" name="Line 207"/>
          <p:cNvSpPr>
            <a:spLocks noChangeShapeType="1"/>
          </p:cNvSpPr>
          <p:nvPr/>
        </p:nvSpPr>
        <p:spPr bwMode="auto">
          <a:xfrm>
            <a:off x="4152900" y="6363892"/>
            <a:ext cx="3243834" cy="1191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09" name="Line 203"/>
          <p:cNvSpPr>
            <a:spLocks noChangeShapeType="1"/>
          </p:cNvSpPr>
          <p:nvPr/>
        </p:nvSpPr>
        <p:spPr bwMode="auto">
          <a:xfrm>
            <a:off x="7404101" y="4453334"/>
            <a:ext cx="1191" cy="1915716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10" name="Rectangle 57"/>
          <p:cNvSpPr>
            <a:spLocks noChangeArrowheads="1"/>
          </p:cNvSpPr>
          <p:nvPr/>
        </p:nvSpPr>
        <p:spPr bwMode="auto">
          <a:xfrm>
            <a:off x="10316768" y="6153151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–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11" name="Rectangle 58"/>
          <p:cNvSpPr>
            <a:spLocks noChangeArrowheads="1"/>
          </p:cNvSpPr>
          <p:nvPr/>
        </p:nvSpPr>
        <p:spPr bwMode="auto">
          <a:xfrm>
            <a:off x="9852423" y="6153151"/>
            <a:ext cx="464344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–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12" name="Rectangle 59"/>
          <p:cNvSpPr>
            <a:spLocks noChangeArrowheads="1"/>
          </p:cNvSpPr>
          <p:nvPr/>
        </p:nvSpPr>
        <p:spPr bwMode="auto">
          <a:xfrm>
            <a:off x="9386890" y="6153151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–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13" name="Rectangle 60"/>
          <p:cNvSpPr>
            <a:spLocks noChangeArrowheads="1"/>
          </p:cNvSpPr>
          <p:nvPr/>
        </p:nvSpPr>
        <p:spPr bwMode="auto">
          <a:xfrm>
            <a:off x="8920164" y="6153151"/>
            <a:ext cx="46672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–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14" name="Rectangle 61"/>
          <p:cNvSpPr>
            <a:spLocks noChangeArrowheads="1"/>
          </p:cNvSpPr>
          <p:nvPr/>
        </p:nvSpPr>
        <p:spPr bwMode="auto">
          <a:xfrm>
            <a:off x="8454631" y="6153151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0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15" name="Rectangle 62"/>
          <p:cNvSpPr>
            <a:spLocks noChangeArrowheads="1"/>
          </p:cNvSpPr>
          <p:nvPr/>
        </p:nvSpPr>
        <p:spPr bwMode="auto">
          <a:xfrm>
            <a:off x="7990286" y="6153151"/>
            <a:ext cx="464344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14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16" name="Rectangle 63"/>
          <p:cNvSpPr>
            <a:spLocks noChangeArrowheads="1"/>
          </p:cNvSpPr>
          <p:nvPr/>
        </p:nvSpPr>
        <p:spPr bwMode="auto">
          <a:xfrm>
            <a:off x="7524752" y="6153151"/>
            <a:ext cx="465535" cy="21074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solidFill>
                  <a:srgbClr val="990000"/>
                </a:solidFill>
                <a:latin typeface="Calibri" pitchFamily="34" charset="0"/>
              </a:rPr>
              <a:t>F</a:t>
            </a:r>
            <a:endParaRPr lang="en-GB" sz="1050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217" name="Rectangle 71"/>
          <p:cNvSpPr>
            <a:spLocks noChangeArrowheads="1"/>
          </p:cNvSpPr>
          <p:nvPr/>
        </p:nvSpPr>
        <p:spPr bwMode="auto">
          <a:xfrm>
            <a:off x="10316768" y="5942411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D3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18" name="Rectangle 72"/>
          <p:cNvSpPr>
            <a:spLocks noChangeArrowheads="1"/>
          </p:cNvSpPr>
          <p:nvPr/>
        </p:nvSpPr>
        <p:spPr bwMode="auto">
          <a:xfrm>
            <a:off x="9852423" y="5942411"/>
            <a:ext cx="464344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1B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19" name="Rectangle 73"/>
          <p:cNvSpPr>
            <a:spLocks noChangeArrowheads="1"/>
          </p:cNvSpPr>
          <p:nvPr/>
        </p:nvSpPr>
        <p:spPr bwMode="auto">
          <a:xfrm>
            <a:off x="9386890" y="5942411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77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20" name="Rectangle 74"/>
          <p:cNvSpPr>
            <a:spLocks noChangeArrowheads="1"/>
          </p:cNvSpPr>
          <p:nvPr/>
        </p:nvSpPr>
        <p:spPr bwMode="auto">
          <a:xfrm>
            <a:off x="8920164" y="5942411"/>
            <a:ext cx="46672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83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21" name="Rectangle 75"/>
          <p:cNvSpPr>
            <a:spLocks noChangeArrowheads="1"/>
          </p:cNvSpPr>
          <p:nvPr/>
        </p:nvSpPr>
        <p:spPr bwMode="auto">
          <a:xfrm>
            <a:off x="8454631" y="5942411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22" name="Rectangle 76"/>
          <p:cNvSpPr>
            <a:spLocks noChangeArrowheads="1"/>
          </p:cNvSpPr>
          <p:nvPr/>
        </p:nvSpPr>
        <p:spPr bwMode="auto">
          <a:xfrm>
            <a:off x="7990286" y="5942411"/>
            <a:ext cx="464344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13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23" name="Rectangle 77"/>
          <p:cNvSpPr>
            <a:spLocks noChangeArrowheads="1"/>
          </p:cNvSpPr>
          <p:nvPr/>
        </p:nvSpPr>
        <p:spPr bwMode="auto">
          <a:xfrm>
            <a:off x="7524752" y="5942411"/>
            <a:ext cx="465535" cy="21074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solidFill>
                  <a:srgbClr val="990000"/>
                </a:solidFill>
                <a:latin typeface="Calibri" pitchFamily="34" charset="0"/>
              </a:rPr>
              <a:t>E</a:t>
            </a:r>
            <a:endParaRPr lang="en-GB" sz="1050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224" name="Rectangle 85"/>
          <p:cNvSpPr>
            <a:spLocks noChangeArrowheads="1"/>
          </p:cNvSpPr>
          <p:nvPr/>
        </p:nvSpPr>
        <p:spPr bwMode="auto">
          <a:xfrm>
            <a:off x="10316768" y="5731670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15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25" name="Rectangle 86"/>
          <p:cNvSpPr>
            <a:spLocks noChangeArrowheads="1"/>
          </p:cNvSpPr>
          <p:nvPr/>
        </p:nvSpPr>
        <p:spPr bwMode="auto">
          <a:xfrm>
            <a:off x="9852423" y="5731670"/>
            <a:ext cx="464344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34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26" name="Rectangle 87"/>
          <p:cNvSpPr>
            <a:spLocks noChangeArrowheads="1"/>
          </p:cNvSpPr>
          <p:nvPr/>
        </p:nvSpPr>
        <p:spPr bwMode="auto">
          <a:xfrm>
            <a:off x="9386890" y="5731670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96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27" name="Rectangle 88"/>
          <p:cNvSpPr>
            <a:spLocks noChangeArrowheads="1"/>
          </p:cNvSpPr>
          <p:nvPr/>
        </p:nvSpPr>
        <p:spPr bwMode="auto">
          <a:xfrm>
            <a:off x="8920164" y="5731670"/>
            <a:ext cx="46672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04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28" name="Rectangle 89"/>
          <p:cNvSpPr>
            <a:spLocks noChangeArrowheads="1"/>
          </p:cNvSpPr>
          <p:nvPr/>
        </p:nvSpPr>
        <p:spPr bwMode="auto">
          <a:xfrm>
            <a:off x="8454631" y="5731670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29" name="Rectangle 90"/>
          <p:cNvSpPr>
            <a:spLocks noChangeArrowheads="1"/>
          </p:cNvSpPr>
          <p:nvPr/>
        </p:nvSpPr>
        <p:spPr bwMode="auto">
          <a:xfrm>
            <a:off x="7990286" y="5731670"/>
            <a:ext cx="464344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16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30" name="Rectangle 91"/>
          <p:cNvSpPr>
            <a:spLocks noChangeArrowheads="1"/>
          </p:cNvSpPr>
          <p:nvPr/>
        </p:nvSpPr>
        <p:spPr bwMode="auto">
          <a:xfrm>
            <a:off x="7524752" y="5731670"/>
            <a:ext cx="465535" cy="21074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solidFill>
                  <a:srgbClr val="990000"/>
                </a:solidFill>
                <a:latin typeface="Calibri" pitchFamily="34" charset="0"/>
              </a:rPr>
              <a:t>D</a:t>
            </a:r>
            <a:endParaRPr lang="en-GB" sz="1050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231" name="Rectangle 99"/>
          <p:cNvSpPr>
            <a:spLocks noChangeArrowheads="1"/>
          </p:cNvSpPr>
          <p:nvPr/>
        </p:nvSpPr>
        <p:spPr bwMode="auto">
          <a:xfrm>
            <a:off x="10316768" y="5501880"/>
            <a:ext cx="465535" cy="22979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–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32" name="Rectangle 100"/>
          <p:cNvSpPr>
            <a:spLocks noChangeArrowheads="1"/>
          </p:cNvSpPr>
          <p:nvPr/>
        </p:nvSpPr>
        <p:spPr bwMode="auto">
          <a:xfrm>
            <a:off x="9852423" y="5501880"/>
            <a:ext cx="464344" cy="22979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–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33" name="Rectangle 101"/>
          <p:cNvSpPr>
            <a:spLocks noChangeArrowheads="1"/>
          </p:cNvSpPr>
          <p:nvPr/>
        </p:nvSpPr>
        <p:spPr bwMode="auto">
          <a:xfrm>
            <a:off x="9386890" y="5501880"/>
            <a:ext cx="465535" cy="22979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–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34" name="Rectangle 102"/>
          <p:cNvSpPr>
            <a:spLocks noChangeArrowheads="1"/>
          </p:cNvSpPr>
          <p:nvPr/>
        </p:nvSpPr>
        <p:spPr bwMode="auto">
          <a:xfrm>
            <a:off x="8920164" y="5501880"/>
            <a:ext cx="466725" cy="22979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–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35" name="Rectangle 103"/>
          <p:cNvSpPr>
            <a:spLocks noChangeArrowheads="1"/>
          </p:cNvSpPr>
          <p:nvPr/>
        </p:nvSpPr>
        <p:spPr bwMode="auto">
          <a:xfrm>
            <a:off x="8454631" y="5501880"/>
            <a:ext cx="465535" cy="22979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0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36" name="Rectangle 104"/>
          <p:cNvSpPr>
            <a:spLocks noChangeArrowheads="1"/>
          </p:cNvSpPr>
          <p:nvPr/>
        </p:nvSpPr>
        <p:spPr bwMode="auto">
          <a:xfrm>
            <a:off x="7990286" y="5501880"/>
            <a:ext cx="464344" cy="22979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12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37" name="Rectangle 105"/>
          <p:cNvSpPr>
            <a:spLocks noChangeArrowheads="1"/>
          </p:cNvSpPr>
          <p:nvPr/>
        </p:nvSpPr>
        <p:spPr bwMode="auto">
          <a:xfrm>
            <a:off x="7524752" y="5501880"/>
            <a:ext cx="465535" cy="22979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solidFill>
                  <a:srgbClr val="990000"/>
                </a:solidFill>
                <a:latin typeface="Calibri" pitchFamily="34" charset="0"/>
              </a:rPr>
              <a:t>C</a:t>
            </a:r>
            <a:endParaRPr lang="en-GB" sz="1050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238" name="Rectangle 113"/>
          <p:cNvSpPr>
            <a:spLocks noChangeArrowheads="1"/>
          </p:cNvSpPr>
          <p:nvPr/>
        </p:nvSpPr>
        <p:spPr bwMode="auto">
          <a:xfrm>
            <a:off x="10316768" y="5291139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–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39" name="Rectangle 114"/>
          <p:cNvSpPr>
            <a:spLocks noChangeArrowheads="1"/>
          </p:cNvSpPr>
          <p:nvPr/>
        </p:nvSpPr>
        <p:spPr bwMode="auto">
          <a:xfrm>
            <a:off x="9852423" y="5291139"/>
            <a:ext cx="464344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–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40" name="Rectangle 115"/>
          <p:cNvSpPr>
            <a:spLocks noChangeArrowheads="1"/>
          </p:cNvSpPr>
          <p:nvPr/>
        </p:nvSpPr>
        <p:spPr bwMode="auto">
          <a:xfrm>
            <a:off x="9386890" y="5291139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–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41" name="Rectangle 116"/>
          <p:cNvSpPr>
            <a:spLocks noChangeArrowheads="1"/>
          </p:cNvSpPr>
          <p:nvPr/>
        </p:nvSpPr>
        <p:spPr bwMode="auto">
          <a:xfrm>
            <a:off x="8920164" y="5291139"/>
            <a:ext cx="46672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–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42" name="Rectangle 117"/>
          <p:cNvSpPr>
            <a:spLocks noChangeArrowheads="1"/>
          </p:cNvSpPr>
          <p:nvPr/>
        </p:nvSpPr>
        <p:spPr bwMode="auto">
          <a:xfrm>
            <a:off x="8454631" y="5291139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0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43" name="Rectangle 118"/>
          <p:cNvSpPr>
            <a:spLocks noChangeArrowheads="1"/>
          </p:cNvSpPr>
          <p:nvPr/>
        </p:nvSpPr>
        <p:spPr bwMode="auto">
          <a:xfrm>
            <a:off x="7990286" y="5291139"/>
            <a:ext cx="464344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0B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44" name="Rectangle 119"/>
          <p:cNvSpPr>
            <a:spLocks noChangeArrowheads="1"/>
          </p:cNvSpPr>
          <p:nvPr/>
        </p:nvSpPr>
        <p:spPr bwMode="auto">
          <a:xfrm>
            <a:off x="7524752" y="5291139"/>
            <a:ext cx="465535" cy="21074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solidFill>
                  <a:srgbClr val="990000"/>
                </a:solidFill>
                <a:latin typeface="Calibri" pitchFamily="34" charset="0"/>
              </a:rPr>
              <a:t>B</a:t>
            </a:r>
            <a:endParaRPr lang="en-GB" sz="1050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245" name="Rectangle 127"/>
          <p:cNvSpPr>
            <a:spLocks noChangeArrowheads="1"/>
          </p:cNvSpPr>
          <p:nvPr/>
        </p:nvSpPr>
        <p:spPr bwMode="auto">
          <a:xfrm>
            <a:off x="10316768" y="5080398"/>
            <a:ext cx="465535" cy="210741"/>
          </a:xfrm>
          <a:prstGeom prst="rect">
            <a:avLst/>
          </a:prstGeom>
          <a:solidFill>
            <a:srgbClr val="F6D2D2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3B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46" name="Rectangle 128"/>
          <p:cNvSpPr>
            <a:spLocks noChangeArrowheads="1"/>
          </p:cNvSpPr>
          <p:nvPr/>
        </p:nvSpPr>
        <p:spPr bwMode="auto">
          <a:xfrm>
            <a:off x="9852423" y="5080398"/>
            <a:ext cx="464344" cy="210741"/>
          </a:xfrm>
          <a:prstGeom prst="rect">
            <a:avLst/>
          </a:prstGeom>
          <a:solidFill>
            <a:srgbClr val="F6D2D2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DA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47" name="Rectangle 129"/>
          <p:cNvSpPr>
            <a:spLocks noChangeArrowheads="1"/>
          </p:cNvSpPr>
          <p:nvPr/>
        </p:nvSpPr>
        <p:spPr bwMode="auto">
          <a:xfrm>
            <a:off x="9386890" y="5080398"/>
            <a:ext cx="465535" cy="210741"/>
          </a:xfrm>
          <a:prstGeom prst="rect">
            <a:avLst/>
          </a:prstGeom>
          <a:solidFill>
            <a:srgbClr val="FFC000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15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48" name="Rectangle 130"/>
          <p:cNvSpPr>
            <a:spLocks noChangeArrowheads="1"/>
          </p:cNvSpPr>
          <p:nvPr/>
        </p:nvSpPr>
        <p:spPr bwMode="auto">
          <a:xfrm>
            <a:off x="8920164" y="5080398"/>
            <a:ext cx="466725" cy="210741"/>
          </a:xfrm>
          <a:prstGeom prst="rect">
            <a:avLst/>
          </a:prstGeom>
          <a:solidFill>
            <a:srgbClr val="F6D2D2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93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49" name="Rectangle 131"/>
          <p:cNvSpPr>
            <a:spLocks noChangeArrowheads="1"/>
          </p:cNvSpPr>
          <p:nvPr/>
        </p:nvSpPr>
        <p:spPr bwMode="auto">
          <a:xfrm>
            <a:off x="8454631" y="5080398"/>
            <a:ext cx="465535" cy="210741"/>
          </a:xfrm>
          <a:prstGeom prst="rect">
            <a:avLst/>
          </a:prstGeom>
          <a:solidFill>
            <a:srgbClr val="F6D2D2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50" name="Rectangle 132"/>
          <p:cNvSpPr>
            <a:spLocks noChangeArrowheads="1"/>
          </p:cNvSpPr>
          <p:nvPr/>
        </p:nvSpPr>
        <p:spPr bwMode="auto">
          <a:xfrm>
            <a:off x="7990286" y="5080398"/>
            <a:ext cx="464344" cy="210741"/>
          </a:xfrm>
          <a:prstGeom prst="rect">
            <a:avLst/>
          </a:prstGeom>
          <a:solidFill>
            <a:srgbClr val="F6D2D2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solidFill>
                  <a:srgbClr val="0070C0"/>
                </a:solidFill>
                <a:latin typeface="Calibri" pitchFamily="34" charset="0"/>
              </a:rPr>
              <a:t>2D</a:t>
            </a:r>
            <a:endParaRPr lang="en-GB" sz="1050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251" name="Rectangle 133"/>
          <p:cNvSpPr>
            <a:spLocks noChangeArrowheads="1"/>
          </p:cNvSpPr>
          <p:nvPr/>
        </p:nvSpPr>
        <p:spPr bwMode="auto">
          <a:xfrm>
            <a:off x="7524752" y="5080398"/>
            <a:ext cx="465535" cy="210741"/>
          </a:xfrm>
          <a:prstGeom prst="rect">
            <a:avLst/>
          </a:prstGeom>
          <a:solidFill>
            <a:srgbClr val="F6D2D2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solidFill>
                  <a:srgbClr val="00B050"/>
                </a:solidFill>
                <a:latin typeface="Calibri" pitchFamily="34" charset="0"/>
              </a:rPr>
              <a:t>A</a:t>
            </a:r>
            <a:endParaRPr lang="en-GB" sz="1050" dirty="0">
              <a:solidFill>
                <a:srgbClr val="00B050"/>
              </a:solidFill>
              <a:latin typeface="Calibri" pitchFamily="34" charset="0"/>
            </a:endParaRPr>
          </a:p>
        </p:txBody>
      </p:sp>
      <p:sp>
        <p:nvSpPr>
          <p:cNvPr id="252" name="Rectangle 141"/>
          <p:cNvSpPr>
            <a:spLocks noChangeArrowheads="1"/>
          </p:cNvSpPr>
          <p:nvPr/>
        </p:nvSpPr>
        <p:spPr bwMode="auto">
          <a:xfrm>
            <a:off x="10316768" y="4869657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–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53" name="Rectangle 142"/>
          <p:cNvSpPr>
            <a:spLocks noChangeArrowheads="1"/>
          </p:cNvSpPr>
          <p:nvPr/>
        </p:nvSpPr>
        <p:spPr bwMode="auto">
          <a:xfrm>
            <a:off x="9852423" y="4869657"/>
            <a:ext cx="464344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–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54" name="Rectangle 143"/>
          <p:cNvSpPr>
            <a:spLocks noChangeArrowheads="1"/>
          </p:cNvSpPr>
          <p:nvPr/>
        </p:nvSpPr>
        <p:spPr bwMode="auto">
          <a:xfrm>
            <a:off x="9386890" y="4869657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–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55" name="Rectangle 144"/>
          <p:cNvSpPr>
            <a:spLocks noChangeArrowheads="1"/>
          </p:cNvSpPr>
          <p:nvPr/>
        </p:nvSpPr>
        <p:spPr bwMode="auto">
          <a:xfrm>
            <a:off x="8920164" y="4869657"/>
            <a:ext cx="46672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–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56" name="Rectangle 145"/>
          <p:cNvSpPr>
            <a:spLocks noChangeArrowheads="1"/>
          </p:cNvSpPr>
          <p:nvPr/>
        </p:nvSpPr>
        <p:spPr bwMode="auto">
          <a:xfrm>
            <a:off x="8454631" y="4869657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0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57" name="Rectangle 146"/>
          <p:cNvSpPr>
            <a:spLocks noChangeArrowheads="1"/>
          </p:cNvSpPr>
          <p:nvPr/>
        </p:nvSpPr>
        <p:spPr bwMode="auto">
          <a:xfrm>
            <a:off x="7990286" y="4869657"/>
            <a:ext cx="464344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2D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58" name="Rectangle 147"/>
          <p:cNvSpPr>
            <a:spLocks noChangeArrowheads="1"/>
          </p:cNvSpPr>
          <p:nvPr/>
        </p:nvSpPr>
        <p:spPr bwMode="auto">
          <a:xfrm>
            <a:off x="7524752" y="4869657"/>
            <a:ext cx="465535" cy="21074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solidFill>
                  <a:srgbClr val="990000"/>
                </a:solidFill>
                <a:latin typeface="Calibri" pitchFamily="34" charset="0"/>
              </a:rPr>
              <a:t>9</a:t>
            </a:r>
            <a:endParaRPr lang="en-GB" sz="1050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259" name="Rectangle 155"/>
          <p:cNvSpPr>
            <a:spLocks noChangeArrowheads="1"/>
          </p:cNvSpPr>
          <p:nvPr/>
        </p:nvSpPr>
        <p:spPr bwMode="auto">
          <a:xfrm>
            <a:off x="10316768" y="4658917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89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60" name="Rectangle 156"/>
          <p:cNvSpPr>
            <a:spLocks noChangeArrowheads="1"/>
          </p:cNvSpPr>
          <p:nvPr/>
        </p:nvSpPr>
        <p:spPr bwMode="auto">
          <a:xfrm>
            <a:off x="9852423" y="4658917"/>
            <a:ext cx="464344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51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61" name="Rectangle 157"/>
          <p:cNvSpPr>
            <a:spLocks noChangeArrowheads="1"/>
          </p:cNvSpPr>
          <p:nvPr/>
        </p:nvSpPr>
        <p:spPr bwMode="auto">
          <a:xfrm>
            <a:off x="9386890" y="4658917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00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62" name="Rectangle 158"/>
          <p:cNvSpPr>
            <a:spLocks noChangeArrowheads="1"/>
          </p:cNvSpPr>
          <p:nvPr/>
        </p:nvSpPr>
        <p:spPr bwMode="auto">
          <a:xfrm>
            <a:off x="8920164" y="4658917"/>
            <a:ext cx="46672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3A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63" name="Rectangle 159"/>
          <p:cNvSpPr>
            <a:spLocks noChangeArrowheads="1"/>
          </p:cNvSpPr>
          <p:nvPr/>
        </p:nvSpPr>
        <p:spPr bwMode="auto">
          <a:xfrm>
            <a:off x="8454631" y="4658917"/>
            <a:ext cx="465535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1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64" name="Rectangle 160"/>
          <p:cNvSpPr>
            <a:spLocks noChangeArrowheads="1"/>
          </p:cNvSpPr>
          <p:nvPr/>
        </p:nvSpPr>
        <p:spPr bwMode="auto">
          <a:xfrm>
            <a:off x="7990286" y="4658917"/>
            <a:ext cx="464344" cy="210741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</a:rPr>
              <a:t>24</a:t>
            </a:r>
            <a:endParaRPr lang="en-GB" sz="1050" dirty="0">
              <a:latin typeface="Calibri" pitchFamily="34" charset="0"/>
            </a:endParaRPr>
          </a:p>
        </p:txBody>
      </p:sp>
      <p:sp>
        <p:nvSpPr>
          <p:cNvPr id="265" name="Rectangle 161"/>
          <p:cNvSpPr>
            <a:spLocks noChangeArrowheads="1"/>
          </p:cNvSpPr>
          <p:nvPr/>
        </p:nvSpPr>
        <p:spPr bwMode="auto">
          <a:xfrm>
            <a:off x="7524752" y="4658917"/>
            <a:ext cx="465535" cy="210741"/>
          </a:xfrm>
          <a:prstGeom prst="rect">
            <a:avLst/>
          </a:prstGeom>
          <a:solidFill>
            <a:srgbClr val="EBEBEB"/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solidFill>
                  <a:srgbClr val="990000"/>
                </a:solidFill>
                <a:latin typeface="Calibri" pitchFamily="34" charset="0"/>
              </a:rPr>
              <a:t>8</a:t>
            </a:r>
            <a:endParaRPr lang="en-GB" sz="1050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266" name="Rectangle 169"/>
          <p:cNvSpPr>
            <a:spLocks noChangeArrowheads="1"/>
          </p:cNvSpPr>
          <p:nvPr/>
        </p:nvSpPr>
        <p:spPr bwMode="auto">
          <a:xfrm>
            <a:off x="10316768" y="4448176"/>
            <a:ext cx="465535" cy="21074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i="1" dirty="0">
                <a:solidFill>
                  <a:srgbClr val="990000"/>
                </a:solidFill>
                <a:latin typeface="Calibri" pitchFamily="34" charset="0"/>
              </a:rPr>
              <a:t>B3</a:t>
            </a:r>
            <a:endParaRPr lang="en-GB" sz="1050" i="1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267" name="Rectangle 170"/>
          <p:cNvSpPr>
            <a:spLocks noChangeArrowheads="1"/>
          </p:cNvSpPr>
          <p:nvPr/>
        </p:nvSpPr>
        <p:spPr bwMode="auto">
          <a:xfrm>
            <a:off x="9852423" y="4448176"/>
            <a:ext cx="464344" cy="21074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i="1" dirty="0">
                <a:solidFill>
                  <a:srgbClr val="990000"/>
                </a:solidFill>
                <a:latin typeface="Calibri" pitchFamily="34" charset="0"/>
              </a:rPr>
              <a:t>B2</a:t>
            </a:r>
            <a:endParaRPr lang="en-GB" sz="1050" i="1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268" name="Rectangle 171"/>
          <p:cNvSpPr>
            <a:spLocks noChangeArrowheads="1"/>
          </p:cNvSpPr>
          <p:nvPr/>
        </p:nvSpPr>
        <p:spPr bwMode="auto">
          <a:xfrm>
            <a:off x="9386890" y="4448176"/>
            <a:ext cx="465535" cy="21074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i="1" dirty="0">
                <a:solidFill>
                  <a:srgbClr val="00B0F0"/>
                </a:solidFill>
                <a:latin typeface="Calibri" pitchFamily="34" charset="0"/>
              </a:rPr>
              <a:t>B1</a:t>
            </a:r>
            <a:endParaRPr lang="en-GB" sz="1050" i="1" dirty="0">
              <a:solidFill>
                <a:srgbClr val="00B0F0"/>
              </a:solidFill>
              <a:latin typeface="Calibri" pitchFamily="34" charset="0"/>
            </a:endParaRPr>
          </a:p>
        </p:txBody>
      </p:sp>
      <p:sp>
        <p:nvSpPr>
          <p:cNvPr id="269" name="Rectangle 172"/>
          <p:cNvSpPr>
            <a:spLocks noChangeArrowheads="1"/>
          </p:cNvSpPr>
          <p:nvPr/>
        </p:nvSpPr>
        <p:spPr bwMode="auto">
          <a:xfrm>
            <a:off x="8920164" y="4448176"/>
            <a:ext cx="466725" cy="21074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i="1" dirty="0">
                <a:solidFill>
                  <a:srgbClr val="990000"/>
                </a:solidFill>
                <a:latin typeface="Calibri" pitchFamily="34" charset="0"/>
              </a:rPr>
              <a:t>B0</a:t>
            </a:r>
            <a:endParaRPr lang="en-GB" sz="1050" i="1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270" name="Rectangle 173"/>
          <p:cNvSpPr>
            <a:spLocks noChangeArrowheads="1"/>
          </p:cNvSpPr>
          <p:nvPr/>
        </p:nvSpPr>
        <p:spPr bwMode="auto">
          <a:xfrm>
            <a:off x="8454631" y="4448176"/>
            <a:ext cx="465535" cy="21074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i="1" dirty="0">
                <a:solidFill>
                  <a:srgbClr val="990000"/>
                </a:solidFill>
                <a:latin typeface="Calibri" pitchFamily="34" charset="0"/>
              </a:rPr>
              <a:t>Valid</a:t>
            </a:r>
            <a:endParaRPr lang="en-GB" sz="1050" i="1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271" name="Rectangle 174"/>
          <p:cNvSpPr>
            <a:spLocks noChangeArrowheads="1"/>
          </p:cNvSpPr>
          <p:nvPr/>
        </p:nvSpPr>
        <p:spPr bwMode="auto">
          <a:xfrm>
            <a:off x="7990286" y="4448176"/>
            <a:ext cx="464344" cy="21074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i="1" dirty="0">
                <a:solidFill>
                  <a:srgbClr val="990000"/>
                </a:solidFill>
                <a:latin typeface="Calibri" pitchFamily="34" charset="0"/>
              </a:rPr>
              <a:t>Tag</a:t>
            </a:r>
            <a:endParaRPr lang="en-GB" sz="1050" i="1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272" name="Rectangle 175"/>
          <p:cNvSpPr>
            <a:spLocks noChangeArrowheads="1"/>
          </p:cNvSpPr>
          <p:nvPr/>
        </p:nvSpPr>
        <p:spPr bwMode="auto">
          <a:xfrm>
            <a:off x="7524752" y="4448176"/>
            <a:ext cx="465535" cy="21074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</a:ln>
          <a:effectLst/>
        </p:spPr>
        <p:txBody>
          <a:bodyPr lIns="67770" tIns="33210" rIns="67770" bIns="33210"/>
          <a:lstStyle/>
          <a:p>
            <a:pPr algn="ctr">
              <a:spcBef>
                <a:spcPts val="65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i="1" dirty="0" err="1">
                <a:solidFill>
                  <a:srgbClr val="990000"/>
                </a:solidFill>
                <a:latin typeface="Calibri" pitchFamily="34" charset="0"/>
              </a:rPr>
              <a:t>Idx</a:t>
            </a:r>
            <a:endParaRPr lang="en-GB" sz="1050" i="1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273" name="Line 183"/>
          <p:cNvSpPr>
            <a:spLocks noChangeShapeType="1"/>
          </p:cNvSpPr>
          <p:nvPr/>
        </p:nvSpPr>
        <p:spPr bwMode="auto">
          <a:xfrm>
            <a:off x="7538466" y="4658917"/>
            <a:ext cx="3243834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 i="1">
              <a:solidFill>
                <a:srgbClr val="990000"/>
              </a:solidFill>
            </a:endParaRPr>
          </a:p>
        </p:txBody>
      </p:sp>
      <p:sp>
        <p:nvSpPr>
          <p:cNvPr id="274" name="Line 184"/>
          <p:cNvSpPr>
            <a:spLocks noChangeShapeType="1"/>
          </p:cNvSpPr>
          <p:nvPr/>
        </p:nvSpPr>
        <p:spPr bwMode="auto">
          <a:xfrm>
            <a:off x="7538466" y="4869657"/>
            <a:ext cx="3243834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75" name="Line 185"/>
          <p:cNvSpPr>
            <a:spLocks noChangeShapeType="1"/>
          </p:cNvSpPr>
          <p:nvPr/>
        </p:nvSpPr>
        <p:spPr bwMode="auto">
          <a:xfrm>
            <a:off x="7538466" y="5080398"/>
            <a:ext cx="3243834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76" name="Line 186"/>
          <p:cNvSpPr>
            <a:spLocks noChangeShapeType="1"/>
          </p:cNvSpPr>
          <p:nvPr/>
        </p:nvSpPr>
        <p:spPr bwMode="auto">
          <a:xfrm>
            <a:off x="7538466" y="5291139"/>
            <a:ext cx="3243834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77" name="Line 187"/>
          <p:cNvSpPr>
            <a:spLocks noChangeShapeType="1"/>
          </p:cNvSpPr>
          <p:nvPr/>
        </p:nvSpPr>
        <p:spPr bwMode="auto">
          <a:xfrm>
            <a:off x="7538466" y="5504260"/>
            <a:ext cx="3243834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78" name="Line 188"/>
          <p:cNvSpPr>
            <a:spLocks noChangeShapeType="1"/>
          </p:cNvSpPr>
          <p:nvPr/>
        </p:nvSpPr>
        <p:spPr bwMode="auto">
          <a:xfrm>
            <a:off x="7538466" y="5731670"/>
            <a:ext cx="3243834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79" name="Line 189"/>
          <p:cNvSpPr>
            <a:spLocks noChangeShapeType="1"/>
          </p:cNvSpPr>
          <p:nvPr/>
        </p:nvSpPr>
        <p:spPr bwMode="auto">
          <a:xfrm>
            <a:off x="7538466" y="5942411"/>
            <a:ext cx="3243834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0" name="Line 190"/>
          <p:cNvSpPr>
            <a:spLocks noChangeShapeType="1"/>
          </p:cNvSpPr>
          <p:nvPr/>
        </p:nvSpPr>
        <p:spPr bwMode="auto">
          <a:xfrm>
            <a:off x="7538466" y="6153151"/>
            <a:ext cx="3243834" cy="1191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1" name="Line 197"/>
          <p:cNvSpPr>
            <a:spLocks noChangeShapeType="1"/>
          </p:cNvSpPr>
          <p:nvPr/>
        </p:nvSpPr>
        <p:spPr bwMode="auto">
          <a:xfrm>
            <a:off x="7990286" y="4448175"/>
            <a:ext cx="1191" cy="1915716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2" name="Line 198"/>
          <p:cNvSpPr>
            <a:spLocks noChangeShapeType="1"/>
          </p:cNvSpPr>
          <p:nvPr/>
        </p:nvSpPr>
        <p:spPr bwMode="auto">
          <a:xfrm>
            <a:off x="8454630" y="4448175"/>
            <a:ext cx="1191" cy="1915716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3" name="Line 199"/>
          <p:cNvSpPr>
            <a:spLocks noChangeShapeType="1"/>
          </p:cNvSpPr>
          <p:nvPr/>
        </p:nvSpPr>
        <p:spPr bwMode="auto">
          <a:xfrm>
            <a:off x="8920164" y="4448175"/>
            <a:ext cx="1191" cy="1915716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4" name="Line 200"/>
          <p:cNvSpPr>
            <a:spLocks noChangeShapeType="1"/>
          </p:cNvSpPr>
          <p:nvPr/>
        </p:nvSpPr>
        <p:spPr bwMode="auto">
          <a:xfrm>
            <a:off x="9386889" y="4448175"/>
            <a:ext cx="1191" cy="1915716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5" name="Line 201"/>
          <p:cNvSpPr>
            <a:spLocks noChangeShapeType="1"/>
          </p:cNvSpPr>
          <p:nvPr/>
        </p:nvSpPr>
        <p:spPr bwMode="auto">
          <a:xfrm>
            <a:off x="9852423" y="4448175"/>
            <a:ext cx="1191" cy="1915716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6" name="Line 202"/>
          <p:cNvSpPr>
            <a:spLocks noChangeShapeType="1"/>
          </p:cNvSpPr>
          <p:nvPr/>
        </p:nvSpPr>
        <p:spPr bwMode="auto">
          <a:xfrm>
            <a:off x="10316767" y="4448175"/>
            <a:ext cx="1191" cy="1915716"/>
          </a:xfrm>
          <a:prstGeom prst="line">
            <a:avLst/>
          </a:prstGeom>
          <a:noFill/>
          <a:ln w="12600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7" name="Line 205"/>
          <p:cNvSpPr>
            <a:spLocks noChangeShapeType="1"/>
          </p:cNvSpPr>
          <p:nvPr/>
        </p:nvSpPr>
        <p:spPr bwMode="auto">
          <a:xfrm>
            <a:off x="7538466" y="4448176"/>
            <a:ext cx="3243834" cy="1191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 i="1">
              <a:solidFill>
                <a:srgbClr val="990000"/>
              </a:solidFill>
            </a:endParaRPr>
          </a:p>
        </p:txBody>
      </p:sp>
      <p:sp>
        <p:nvSpPr>
          <p:cNvPr id="288" name="Line 206"/>
          <p:cNvSpPr>
            <a:spLocks noChangeShapeType="1"/>
          </p:cNvSpPr>
          <p:nvPr/>
        </p:nvSpPr>
        <p:spPr bwMode="auto">
          <a:xfrm>
            <a:off x="10782302" y="4448175"/>
            <a:ext cx="1191" cy="1915716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89" name="Line 207"/>
          <p:cNvSpPr>
            <a:spLocks noChangeShapeType="1"/>
          </p:cNvSpPr>
          <p:nvPr/>
        </p:nvSpPr>
        <p:spPr bwMode="auto">
          <a:xfrm>
            <a:off x="7538466" y="6363892"/>
            <a:ext cx="3243834" cy="1191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90" name="Line 206"/>
          <p:cNvSpPr>
            <a:spLocks noChangeShapeType="1"/>
          </p:cNvSpPr>
          <p:nvPr/>
        </p:nvSpPr>
        <p:spPr bwMode="auto">
          <a:xfrm>
            <a:off x="7524751" y="4453334"/>
            <a:ext cx="1191" cy="1915716"/>
          </a:xfrm>
          <a:prstGeom prst="line">
            <a:avLst/>
          </a:prstGeom>
          <a:noFill/>
          <a:ln w="28575">
            <a:solidFill>
              <a:srgbClr val="000066"/>
            </a:solidFill>
            <a:miter lim="800000"/>
          </a:ln>
          <a:effectLst/>
        </p:spPr>
        <p:txBody>
          <a:bodyPr/>
          <a:lstStyle/>
          <a:p>
            <a:endParaRPr lang="en-US" sz="1800"/>
          </a:p>
        </p:txBody>
      </p:sp>
      <p:grpSp>
        <p:nvGrpSpPr>
          <p:cNvPr id="7" name="Group 6"/>
          <p:cNvGrpSpPr/>
          <p:nvPr/>
        </p:nvGrpSpPr>
        <p:grpSpPr>
          <a:xfrm>
            <a:off x="7515228" y="3734990"/>
            <a:ext cx="2193129" cy="228600"/>
            <a:chOff x="4787903" y="3278187"/>
            <a:chExt cx="2924172" cy="304800"/>
          </a:xfrm>
        </p:grpSpPr>
        <p:sp>
          <p:nvSpPr>
            <p:cNvPr id="205" name="Rectangle 24"/>
            <p:cNvSpPr>
              <a:spLocks noChangeArrowheads="1"/>
            </p:cNvSpPr>
            <p:nvPr/>
          </p:nvSpPr>
          <p:spPr bwMode="auto">
            <a:xfrm>
              <a:off x="4787903" y="3278187"/>
              <a:ext cx="487363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36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 dirty="0">
                  <a:solidFill>
                    <a:srgbClr val="00B050"/>
                  </a:solidFill>
                  <a:latin typeface="Courier New" panose="02070609020205020404" pitchFamily="49" charset="0"/>
                  <a:cs typeface="Courier New" panose="02070609020205020404" pitchFamily="49" charset="0"/>
                </a:rPr>
                <a:t>1</a:t>
              </a:r>
              <a:endParaRPr lang="en-US" sz="1800" dirty="0">
                <a:solidFill>
                  <a:srgbClr val="00B050"/>
                </a:solidFill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06" name="Rectangle 27"/>
            <p:cNvSpPr>
              <a:spLocks noChangeArrowheads="1"/>
            </p:cNvSpPr>
            <p:nvPr/>
          </p:nvSpPr>
          <p:spPr bwMode="auto">
            <a:xfrm>
              <a:off x="5275266" y="3278187"/>
              <a:ext cx="487363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36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 dirty="0">
                  <a:solidFill>
                    <a:srgbClr val="00B050"/>
                  </a:solidFill>
                  <a:latin typeface="Courier New" panose="02070609020205020404" pitchFamily="49" charset="0"/>
                  <a:cs typeface="Courier New" panose="02070609020205020404" pitchFamily="49" charset="0"/>
                </a:rPr>
                <a:t>0</a:t>
              </a:r>
              <a:endParaRPr lang="en-US" sz="1800" dirty="0">
                <a:solidFill>
                  <a:srgbClr val="00B050"/>
                </a:solidFill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07" name="Rectangle 30"/>
            <p:cNvSpPr>
              <a:spLocks noChangeArrowheads="1"/>
            </p:cNvSpPr>
            <p:nvPr/>
          </p:nvSpPr>
          <p:spPr bwMode="auto">
            <a:xfrm>
              <a:off x="5762629" y="3278187"/>
              <a:ext cx="487363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36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 dirty="0">
                  <a:solidFill>
                    <a:srgbClr val="00B050"/>
                  </a:solidFill>
                  <a:latin typeface="Courier New" panose="02070609020205020404" pitchFamily="49" charset="0"/>
                  <a:cs typeface="Courier New" panose="02070609020205020404" pitchFamily="49" charset="0"/>
                </a:rPr>
                <a:t>1</a:t>
              </a:r>
              <a:endParaRPr lang="en-US" sz="1800" dirty="0">
                <a:solidFill>
                  <a:srgbClr val="00B050"/>
                </a:solidFill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08" name="Rectangle 33"/>
            <p:cNvSpPr>
              <a:spLocks noChangeArrowheads="1"/>
            </p:cNvSpPr>
            <p:nvPr/>
          </p:nvSpPr>
          <p:spPr bwMode="auto">
            <a:xfrm>
              <a:off x="6249991" y="3278187"/>
              <a:ext cx="487363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36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 dirty="0">
                  <a:solidFill>
                    <a:srgbClr val="00B050"/>
                  </a:solidFill>
                  <a:latin typeface="Courier New" panose="02070609020205020404" pitchFamily="49" charset="0"/>
                  <a:cs typeface="Courier New" panose="02070609020205020404" pitchFamily="49" charset="0"/>
                </a:rPr>
                <a:t>0</a:t>
              </a:r>
              <a:endParaRPr lang="en-US" sz="1800" dirty="0">
                <a:solidFill>
                  <a:srgbClr val="00B050"/>
                </a:solidFill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1" name="Rectangle 36"/>
            <p:cNvSpPr>
              <a:spLocks noChangeArrowheads="1"/>
            </p:cNvSpPr>
            <p:nvPr/>
          </p:nvSpPr>
          <p:spPr bwMode="auto">
            <a:xfrm>
              <a:off x="6737353" y="3278187"/>
              <a:ext cx="4873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36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 dirty="0">
                  <a:solidFill>
                    <a:srgbClr val="FF0000"/>
                  </a:solidFill>
                  <a:latin typeface="Courier New" panose="02070609020205020404" pitchFamily="49" charset="0"/>
                  <a:cs typeface="Courier New" panose="02070609020205020404" pitchFamily="49" charset="0"/>
                </a:rPr>
                <a:t>0</a:t>
              </a:r>
              <a:endParaRPr lang="en-US" sz="1800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  <p:sp>
          <p:nvSpPr>
            <p:cNvPr id="292" name="Rectangle 39"/>
            <p:cNvSpPr>
              <a:spLocks noChangeArrowheads="1"/>
            </p:cNvSpPr>
            <p:nvPr/>
          </p:nvSpPr>
          <p:spPr bwMode="auto">
            <a:xfrm>
              <a:off x="7224712" y="3278187"/>
              <a:ext cx="487363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36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 dirty="0">
                  <a:solidFill>
                    <a:srgbClr val="FF0000"/>
                  </a:solidFill>
                  <a:latin typeface="Courier New" panose="02070609020205020404" pitchFamily="49" charset="0"/>
                  <a:cs typeface="Courier New" panose="02070609020205020404" pitchFamily="49" charset="0"/>
                </a:rPr>
                <a:t>1</a:t>
              </a:r>
              <a:endParaRPr lang="en-US" sz="1800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</a:endParaRPr>
            </a:p>
          </p:txBody>
        </p:sp>
      </p:grpSp>
      <p:grpSp>
        <p:nvGrpSpPr>
          <p:cNvPr id="461" name="Group 460"/>
          <p:cNvGrpSpPr/>
          <p:nvPr/>
        </p:nvGrpSpPr>
        <p:grpSpPr>
          <a:xfrm>
            <a:off x="4163910" y="4436072"/>
            <a:ext cx="6630592" cy="1920875"/>
            <a:chOff x="152400" y="4076700"/>
            <a:chExt cx="8840789" cy="2561167"/>
          </a:xfrm>
          <a:solidFill>
            <a:schemeClr val="bg1"/>
          </a:solidFill>
        </p:grpSpPr>
        <p:sp>
          <p:nvSpPr>
            <p:cNvPr id="462" name="Rectangle 64"/>
            <p:cNvSpPr>
              <a:spLocks noChangeArrowheads="1"/>
            </p:cNvSpPr>
            <p:nvPr/>
          </p:nvSpPr>
          <p:spPr bwMode="auto">
            <a:xfrm>
              <a:off x="3875088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03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63" name="Rectangle 65"/>
            <p:cNvSpPr>
              <a:spLocks noChangeArrowheads="1"/>
            </p:cNvSpPr>
            <p:nvPr/>
          </p:nvSpPr>
          <p:spPr bwMode="auto">
            <a:xfrm>
              <a:off x="3255963" y="6350000"/>
              <a:ext cx="619125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DF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64" name="Rectangle 66"/>
            <p:cNvSpPr>
              <a:spLocks noChangeArrowheads="1"/>
            </p:cNvSpPr>
            <p:nvPr/>
          </p:nvSpPr>
          <p:spPr bwMode="auto">
            <a:xfrm>
              <a:off x="2635250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C2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65" name="Rectangle 67"/>
            <p:cNvSpPr>
              <a:spLocks noChangeArrowheads="1"/>
            </p:cNvSpPr>
            <p:nvPr/>
          </p:nvSpPr>
          <p:spPr bwMode="auto">
            <a:xfrm>
              <a:off x="2012950" y="6350000"/>
              <a:ext cx="622300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11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66" name="Rectangle 68"/>
            <p:cNvSpPr>
              <a:spLocks noChangeArrowheads="1"/>
            </p:cNvSpPr>
            <p:nvPr/>
          </p:nvSpPr>
          <p:spPr bwMode="auto">
            <a:xfrm>
              <a:off x="1392238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67" name="Rectangle 69"/>
            <p:cNvSpPr>
              <a:spLocks noChangeArrowheads="1"/>
            </p:cNvSpPr>
            <p:nvPr/>
          </p:nvSpPr>
          <p:spPr bwMode="auto">
            <a:xfrm>
              <a:off x="773113" y="6350000"/>
              <a:ext cx="619125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16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68" name="Rectangle 70"/>
            <p:cNvSpPr>
              <a:spLocks noChangeArrowheads="1"/>
            </p:cNvSpPr>
            <p:nvPr/>
          </p:nvSpPr>
          <p:spPr bwMode="auto">
            <a:xfrm>
              <a:off x="152400" y="6350000"/>
              <a:ext cx="620713" cy="280988"/>
            </a:xfrm>
            <a:prstGeom prst="rect">
              <a:avLst/>
            </a:prstGeom>
            <a:solidFill>
              <a:srgbClr val="EBEBEB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solidFill>
                    <a:srgbClr val="990000"/>
                  </a:solidFill>
                  <a:latin typeface="Calibri" pitchFamily="34" charset="0"/>
                </a:rPr>
                <a:t>7</a:t>
              </a:r>
              <a:endParaRPr lang="en-GB" sz="1050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469" name="Rectangle 78"/>
            <p:cNvSpPr>
              <a:spLocks noChangeArrowheads="1"/>
            </p:cNvSpPr>
            <p:nvPr/>
          </p:nvSpPr>
          <p:spPr bwMode="auto">
            <a:xfrm>
              <a:off x="3875088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70" name="Rectangle 79"/>
            <p:cNvSpPr>
              <a:spLocks noChangeArrowheads="1"/>
            </p:cNvSpPr>
            <p:nvPr/>
          </p:nvSpPr>
          <p:spPr bwMode="auto">
            <a:xfrm>
              <a:off x="3255963" y="6069013"/>
              <a:ext cx="619125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71" name="Rectangle 80"/>
            <p:cNvSpPr>
              <a:spLocks noChangeArrowheads="1"/>
            </p:cNvSpPr>
            <p:nvPr/>
          </p:nvSpPr>
          <p:spPr bwMode="auto">
            <a:xfrm>
              <a:off x="2635250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72" name="Rectangle 81"/>
            <p:cNvSpPr>
              <a:spLocks noChangeArrowheads="1"/>
            </p:cNvSpPr>
            <p:nvPr/>
          </p:nvSpPr>
          <p:spPr bwMode="auto">
            <a:xfrm>
              <a:off x="2012950" y="6069013"/>
              <a:ext cx="622300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73" name="Rectangle 82"/>
            <p:cNvSpPr>
              <a:spLocks noChangeArrowheads="1"/>
            </p:cNvSpPr>
            <p:nvPr/>
          </p:nvSpPr>
          <p:spPr bwMode="auto">
            <a:xfrm>
              <a:off x="1392238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74" name="Rectangle 83"/>
            <p:cNvSpPr>
              <a:spLocks noChangeArrowheads="1"/>
            </p:cNvSpPr>
            <p:nvPr/>
          </p:nvSpPr>
          <p:spPr bwMode="auto">
            <a:xfrm>
              <a:off x="773113" y="6069013"/>
              <a:ext cx="619125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31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75" name="Rectangle 84"/>
            <p:cNvSpPr>
              <a:spLocks noChangeArrowheads="1"/>
            </p:cNvSpPr>
            <p:nvPr/>
          </p:nvSpPr>
          <p:spPr bwMode="auto">
            <a:xfrm>
              <a:off x="152400" y="6069013"/>
              <a:ext cx="620713" cy="280988"/>
            </a:xfrm>
            <a:prstGeom prst="rect">
              <a:avLst/>
            </a:prstGeom>
            <a:solidFill>
              <a:srgbClr val="EBEBEB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solidFill>
                    <a:srgbClr val="990000"/>
                  </a:solidFill>
                  <a:latin typeface="Calibri" pitchFamily="34" charset="0"/>
                </a:rPr>
                <a:t>6</a:t>
              </a:r>
              <a:endParaRPr lang="en-GB" sz="1050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476" name="Rectangle 92"/>
            <p:cNvSpPr>
              <a:spLocks noChangeArrowheads="1"/>
            </p:cNvSpPr>
            <p:nvPr/>
          </p:nvSpPr>
          <p:spPr bwMode="auto">
            <a:xfrm>
              <a:off x="3875088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1D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77" name="Rectangle 93"/>
            <p:cNvSpPr>
              <a:spLocks noChangeArrowheads="1"/>
            </p:cNvSpPr>
            <p:nvPr/>
          </p:nvSpPr>
          <p:spPr bwMode="auto">
            <a:xfrm>
              <a:off x="3255963" y="5788025"/>
              <a:ext cx="619125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F0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78" name="Rectangle 94"/>
            <p:cNvSpPr>
              <a:spLocks noChangeArrowheads="1"/>
            </p:cNvSpPr>
            <p:nvPr/>
          </p:nvSpPr>
          <p:spPr bwMode="auto">
            <a:xfrm>
              <a:off x="2635250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72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79" name="Rectangle 95"/>
            <p:cNvSpPr>
              <a:spLocks noChangeArrowheads="1"/>
            </p:cNvSpPr>
            <p:nvPr/>
          </p:nvSpPr>
          <p:spPr bwMode="auto">
            <a:xfrm>
              <a:off x="2012950" y="5788025"/>
              <a:ext cx="622300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36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80" name="Rectangle 96"/>
            <p:cNvSpPr>
              <a:spLocks noChangeArrowheads="1"/>
            </p:cNvSpPr>
            <p:nvPr/>
          </p:nvSpPr>
          <p:spPr bwMode="auto">
            <a:xfrm>
              <a:off x="1392238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81" name="Rectangle 97"/>
            <p:cNvSpPr>
              <a:spLocks noChangeArrowheads="1"/>
            </p:cNvSpPr>
            <p:nvPr/>
          </p:nvSpPr>
          <p:spPr bwMode="auto">
            <a:xfrm>
              <a:off x="773113" y="5788025"/>
              <a:ext cx="619125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0D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82" name="Rectangle 98"/>
            <p:cNvSpPr>
              <a:spLocks noChangeArrowheads="1"/>
            </p:cNvSpPr>
            <p:nvPr/>
          </p:nvSpPr>
          <p:spPr bwMode="auto">
            <a:xfrm>
              <a:off x="152400" y="5788025"/>
              <a:ext cx="620713" cy="280988"/>
            </a:xfrm>
            <a:prstGeom prst="rect">
              <a:avLst/>
            </a:prstGeom>
            <a:solidFill>
              <a:srgbClr val="EBEBEB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solidFill>
                    <a:srgbClr val="990000"/>
                  </a:solidFill>
                  <a:latin typeface="Calibri" pitchFamily="34" charset="0"/>
                </a:rPr>
                <a:t>5</a:t>
              </a:r>
              <a:endParaRPr lang="en-GB" sz="1050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483" name="Rectangle 106"/>
            <p:cNvSpPr>
              <a:spLocks noChangeArrowheads="1"/>
            </p:cNvSpPr>
            <p:nvPr/>
          </p:nvSpPr>
          <p:spPr bwMode="auto">
            <a:xfrm>
              <a:off x="3875088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09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84" name="Rectangle 107"/>
            <p:cNvSpPr>
              <a:spLocks noChangeArrowheads="1"/>
            </p:cNvSpPr>
            <p:nvPr/>
          </p:nvSpPr>
          <p:spPr bwMode="auto">
            <a:xfrm>
              <a:off x="3255963" y="5481638"/>
              <a:ext cx="619125" cy="3063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8F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85" name="Rectangle 108"/>
            <p:cNvSpPr>
              <a:spLocks noChangeArrowheads="1"/>
            </p:cNvSpPr>
            <p:nvPr/>
          </p:nvSpPr>
          <p:spPr bwMode="auto">
            <a:xfrm>
              <a:off x="2635250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6D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86" name="Rectangle 109"/>
            <p:cNvSpPr>
              <a:spLocks noChangeArrowheads="1"/>
            </p:cNvSpPr>
            <p:nvPr/>
          </p:nvSpPr>
          <p:spPr bwMode="auto">
            <a:xfrm>
              <a:off x="2012950" y="5481638"/>
              <a:ext cx="622300" cy="3063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43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87" name="Rectangle 110"/>
            <p:cNvSpPr>
              <a:spLocks noChangeArrowheads="1"/>
            </p:cNvSpPr>
            <p:nvPr/>
          </p:nvSpPr>
          <p:spPr bwMode="auto">
            <a:xfrm>
              <a:off x="1392238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88" name="Rectangle 111"/>
            <p:cNvSpPr>
              <a:spLocks noChangeArrowheads="1"/>
            </p:cNvSpPr>
            <p:nvPr/>
          </p:nvSpPr>
          <p:spPr bwMode="auto">
            <a:xfrm>
              <a:off x="773113" y="5481638"/>
              <a:ext cx="619125" cy="3063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32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89" name="Rectangle 112"/>
            <p:cNvSpPr>
              <a:spLocks noChangeArrowheads="1"/>
            </p:cNvSpPr>
            <p:nvPr/>
          </p:nvSpPr>
          <p:spPr bwMode="auto">
            <a:xfrm>
              <a:off x="152400" y="5481638"/>
              <a:ext cx="620713" cy="306388"/>
            </a:xfrm>
            <a:prstGeom prst="rect">
              <a:avLst/>
            </a:prstGeom>
            <a:solidFill>
              <a:srgbClr val="EBEBEB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solidFill>
                    <a:srgbClr val="990000"/>
                  </a:solidFill>
                  <a:latin typeface="Calibri" pitchFamily="34" charset="0"/>
                </a:rPr>
                <a:t>4</a:t>
              </a:r>
              <a:endParaRPr lang="en-GB" sz="1050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490" name="Rectangle 120"/>
            <p:cNvSpPr>
              <a:spLocks noChangeArrowheads="1"/>
            </p:cNvSpPr>
            <p:nvPr/>
          </p:nvSpPr>
          <p:spPr bwMode="auto">
            <a:xfrm>
              <a:off x="3875088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91" name="Rectangle 121"/>
            <p:cNvSpPr>
              <a:spLocks noChangeArrowheads="1"/>
            </p:cNvSpPr>
            <p:nvPr/>
          </p:nvSpPr>
          <p:spPr bwMode="auto">
            <a:xfrm>
              <a:off x="3255963" y="5200650"/>
              <a:ext cx="619125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92" name="Rectangle 122"/>
            <p:cNvSpPr>
              <a:spLocks noChangeArrowheads="1"/>
            </p:cNvSpPr>
            <p:nvPr/>
          </p:nvSpPr>
          <p:spPr bwMode="auto">
            <a:xfrm>
              <a:off x="2635250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93" name="Rectangle 123"/>
            <p:cNvSpPr>
              <a:spLocks noChangeArrowheads="1"/>
            </p:cNvSpPr>
            <p:nvPr/>
          </p:nvSpPr>
          <p:spPr bwMode="auto">
            <a:xfrm>
              <a:off x="2012950" y="5200650"/>
              <a:ext cx="622300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94" name="Rectangle 124"/>
            <p:cNvSpPr>
              <a:spLocks noChangeArrowheads="1"/>
            </p:cNvSpPr>
            <p:nvPr/>
          </p:nvSpPr>
          <p:spPr bwMode="auto">
            <a:xfrm>
              <a:off x="1392238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95" name="Rectangle 125"/>
            <p:cNvSpPr>
              <a:spLocks noChangeArrowheads="1"/>
            </p:cNvSpPr>
            <p:nvPr/>
          </p:nvSpPr>
          <p:spPr bwMode="auto">
            <a:xfrm>
              <a:off x="773113" y="5200650"/>
              <a:ext cx="619125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36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96" name="Rectangle 126"/>
            <p:cNvSpPr>
              <a:spLocks noChangeArrowheads="1"/>
            </p:cNvSpPr>
            <p:nvPr/>
          </p:nvSpPr>
          <p:spPr bwMode="auto">
            <a:xfrm>
              <a:off x="152400" y="5200650"/>
              <a:ext cx="620713" cy="280988"/>
            </a:xfrm>
            <a:prstGeom prst="rect">
              <a:avLst/>
            </a:prstGeom>
            <a:solidFill>
              <a:srgbClr val="EBEBEB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solidFill>
                    <a:srgbClr val="990000"/>
                  </a:solidFill>
                  <a:latin typeface="Calibri" pitchFamily="34" charset="0"/>
                </a:rPr>
                <a:t>3</a:t>
              </a:r>
              <a:endParaRPr lang="en-GB" sz="1050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497" name="Rectangle 134"/>
            <p:cNvSpPr>
              <a:spLocks noChangeArrowheads="1"/>
            </p:cNvSpPr>
            <p:nvPr/>
          </p:nvSpPr>
          <p:spPr bwMode="auto">
            <a:xfrm>
              <a:off x="3875088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08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98" name="Rectangle 135"/>
            <p:cNvSpPr>
              <a:spLocks noChangeArrowheads="1"/>
            </p:cNvSpPr>
            <p:nvPr/>
          </p:nvSpPr>
          <p:spPr bwMode="auto">
            <a:xfrm>
              <a:off x="3255963" y="4919663"/>
              <a:ext cx="619125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04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499" name="Rectangle 136"/>
            <p:cNvSpPr>
              <a:spLocks noChangeArrowheads="1"/>
            </p:cNvSpPr>
            <p:nvPr/>
          </p:nvSpPr>
          <p:spPr bwMode="auto">
            <a:xfrm>
              <a:off x="2635250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02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00" name="Rectangle 137"/>
            <p:cNvSpPr>
              <a:spLocks noChangeArrowheads="1"/>
            </p:cNvSpPr>
            <p:nvPr/>
          </p:nvSpPr>
          <p:spPr bwMode="auto">
            <a:xfrm>
              <a:off x="2012950" y="4919663"/>
              <a:ext cx="622300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01" name="Rectangle 138"/>
            <p:cNvSpPr>
              <a:spLocks noChangeArrowheads="1"/>
            </p:cNvSpPr>
            <p:nvPr/>
          </p:nvSpPr>
          <p:spPr bwMode="auto">
            <a:xfrm>
              <a:off x="1392238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02" name="Rectangle 139"/>
            <p:cNvSpPr>
              <a:spLocks noChangeArrowheads="1"/>
            </p:cNvSpPr>
            <p:nvPr/>
          </p:nvSpPr>
          <p:spPr bwMode="auto">
            <a:xfrm>
              <a:off x="773113" y="4919663"/>
              <a:ext cx="619125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1B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03" name="Rectangle 140"/>
            <p:cNvSpPr>
              <a:spLocks noChangeArrowheads="1"/>
            </p:cNvSpPr>
            <p:nvPr/>
          </p:nvSpPr>
          <p:spPr bwMode="auto">
            <a:xfrm>
              <a:off x="152400" y="4919663"/>
              <a:ext cx="620713" cy="280988"/>
            </a:xfrm>
            <a:prstGeom prst="rect">
              <a:avLst/>
            </a:prstGeom>
            <a:solidFill>
              <a:srgbClr val="EBEBEB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solidFill>
                    <a:srgbClr val="990000"/>
                  </a:solidFill>
                  <a:latin typeface="Calibri" pitchFamily="34" charset="0"/>
                </a:rPr>
                <a:t>2</a:t>
              </a:r>
              <a:endParaRPr lang="en-GB" sz="1050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504" name="Rectangle 148"/>
            <p:cNvSpPr>
              <a:spLocks noChangeArrowheads="1"/>
            </p:cNvSpPr>
            <p:nvPr/>
          </p:nvSpPr>
          <p:spPr bwMode="auto">
            <a:xfrm>
              <a:off x="3875088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05" name="Rectangle 149"/>
            <p:cNvSpPr>
              <a:spLocks noChangeArrowheads="1"/>
            </p:cNvSpPr>
            <p:nvPr/>
          </p:nvSpPr>
          <p:spPr bwMode="auto">
            <a:xfrm>
              <a:off x="3255963" y="4638675"/>
              <a:ext cx="619125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06" name="Rectangle 150"/>
            <p:cNvSpPr>
              <a:spLocks noChangeArrowheads="1"/>
            </p:cNvSpPr>
            <p:nvPr/>
          </p:nvSpPr>
          <p:spPr bwMode="auto">
            <a:xfrm>
              <a:off x="2635250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07" name="Rectangle 151"/>
            <p:cNvSpPr>
              <a:spLocks noChangeArrowheads="1"/>
            </p:cNvSpPr>
            <p:nvPr/>
          </p:nvSpPr>
          <p:spPr bwMode="auto">
            <a:xfrm>
              <a:off x="2012950" y="4638675"/>
              <a:ext cx="622300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08" name="Rectangle 152"/>
            <p:cNvSpPr>
              <a:spLocks noChangeArrowheads="1"/>
            </p:cNvSpPr>
            <p:nvPr/>
          </p:nvSpPr>
          <p:spPr bwMode="auto">
            <a:xfrm>
              <a:off x="1392238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09" name="Rectangle 153"/>
            <p:cNvSpPr>
              <a:spLocks noChangeArrowheads="1"/>
            </p:cNvSpPr>
            <p:nvPr/>
          </p:nvSpPr>
          <p:spPr bwMode="auto">
            <a:xfrm>
              <a:off x="773113" y="4638675"/>
              <a:ext cx="619125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15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10" name="Rectangle 154"/>
            <p:cNvSpPr>
              <a:spLocks noChangeArrowheads="1"/>
            </p:cNvSpPr>
            <p:nvPr/>
          </p:nvSpPr>
          <p:spPr bwMode="auto">
            <a:xfrm>
              <a:off x="152400" y="4638675"/>
              <a:ext cx="620713" cy="280988"/>
            </a:xfrm>
            <a:prstGeom prst="rect">
              <a:avLst/>
            </a:prstGeom>
            <a:solidFill>
              <a:srgbClr val="EBEBEB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solidFill>
                    <a:srgbClr val="990000"/>
                  </a:solidFill>
                  <a:latin typeface="Calibri" pitchFamily="34" charset="0"/>
                </a:rPr>
                <a:t>1</a:t>
              </a:r>
              <a:endParaRPr lang="en-GB" sz="1050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511" name="Rectangle 162"/>
            <p:cNvSpPr>
              <a:spLocks noChangeArrowheads="1"/>
            </p:cNvSpPr>
            <p:nvPr/>
          </p:nvSpPr>
          <p:spPr bwMode="auto">
            <a:xfrm>
              <a:off x="3875088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11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12" name="Rectangle 163"/>
            <p:cNvSpPr>
              <a:spLocks noChangeArrowheads="1"/>
            </p:cNvSpPr>
            <p:nvPr/>
          </p:nvSpPr>
          <p:spPr bwMode="auto">
            <a:xfrm>
              <a:off x="3255963" y="4357688"/>
              <a:ext cx="619125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23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13" name="Rectangle 164"/>
            <p:cNvSpPr>
              <a:spLocks noChangeArrowheads="1"/>
            </p:cNvSpPr>
            <p:nvPr/>
          </p:nvSpPr>
          <p:spPr bwMode="auto">
            <a:xfrm>
              <a:off x="2635250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11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14" name="Rectangle 165"/>
            <p:cNvSpPr>
              <a:spLocks noChangeArrowheads="1"/>
            </p:cNvSpPr>
            <p:nvPr/>
          </p:nvSpPr>
          <p:spPr bwMode="auto">
            <a:xfrm>
              <a:off x="2012950" y="4357688"/>
              <a:ext cx="622300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99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15" name="Rectangle 166"/>
            <p:cNvSpPr>
              <a:spLocks noChangeArrowheads="1"/>
            </p:cNvSpPr>
            <p:nvPr/>
          </p:nvSpPr>
          <p:spPr bwMode="auto">
            <a:xfrm>
              <a:off x="1392238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16" name="Rectangle 167"/>
            <p:cNvSpPr>
              <a:spLocks noChangeArrowheads="1"/>
            </p:cNvSpPr>
            <p:nvPr/>
          </p:nvSpPr>
          <p:spPr bwMode="auto">
            <a:xfrm>
              <a:off x="773113" y="4357688"/>
              <a:ext cx="619125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19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17" name="Rectangle 168"/>
            <p:cNvSpPr>
              <a:spLocks noChangeArrowheads="1"/>
            </p:cNvSpPr>
            <p:nvPr/>
          </p:nvSpPr>
          <p:spPr bwMode="auto">
            <a:xfrm>
              <a:off x="152400" y="4357688"/>
              <a:ext cx="620713" cy="280988"/>
            </a:xfrm>
            <a:prstGeom prst="rect">
              <a:avLst/>
            </a:prstGeom>
            <a:solidFill>
              <a:srgbClr val="EBEBEB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solidFill>
                    <a:srgbClr val="990000"/>
                  </a:solidFill>
                  <a:latin typeface="Calibri" pitchFamily="34" charset="0"/>
                </a:rPr>
                <a:t>0</a:t>
              </a:r>
              <a:endParaRPr lang="en-GB" sz="1050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518" name="Rectangle 176"/>
            <p:cNvSpPr>
              <a:spLocks noChangeArrowheads="1"/>
            </p:cNvSpPr>
            <p:nvPr/>
          </p:nvSpPr>
          <p:spPr bwMode="auto">
            <a:xfrm>
              <a:off x="3875088" y="4076700"/>
              <a:ext cx="620713" cy="280988"/>
            </a:xfrm>
            <a:prstGeom prst="rect">
              <a:avLst/>
            </a:prstGeom>
            <a:solidFill>
              <a:srgbClr val="EBEBEB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B3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519" name="Rectangle 177"/>
            <p:cNvSpPr>
              <a:spLocks noChangeArrowheads="1"/>
            </p:cNvSpPr>
            <p:nvPr/>
          </p:nvSpPr>
          <p:spPr bwMode="auto">
            <a:xfrm>
              <a:off x="3255963" y="4076700"/>
              <a:ext cx="619125" cy="280988"/>
            </a:xfrm>
            <a:prstGeom prst="rect">
              <a:avLst/>
            </a:prstGeom>
            <a:solidFill>
              <a:srgbClr val="EBEBEB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B2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520" name="Rectangle 178"/>
            <p:cNvSpPr>
              <a:spLocks noChangeArrowheads="1"/>
            </p:cNvSpPr>
            <p:nvPr/>
          </p:nvSpPr>
          <p:spPr bwMode="auto">
            <a:xfrm>
              <a:off x="2635250" y="4076700"/>
              <a:ext cx="620713" cy="280988"/>
            </a:xfrm>
            <a:prstGeom prst="rect">
              <a:avLst/>
            </a:prstGeom>
            <a:solidFill>
              <a:srgbClr val="EBEBEB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B1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521" name="Rectangle 179"/>
            <p:cNvSpPr>
              <a:spLocks noChangeArrowheads="1"/>
            </p:cNvSpPr>
            <p:nvPr/>
          </p:nvSpPr>
          <p:spPr bwMode="auto">
            <a:xfrm>
              <a:off x="2012950" y="4076700"/>
              <a:ext cx="622300" cy="280988"/>
            </a:xfrm>
            <a:prstGeom prst="rect">
              <a:avLst/>
            </a:prstGeom>
            <a:solidFill>
              <a:srgbClr val="EBEBEB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B0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522" name="Rectangle 180"/>
            <p:cNvSpPr>
              <a:spLocks noChangeArrowheads="1"/>
            </p:cNvSpPr>
            <p:nvPr/>
          </p:nvSpPr>
          <p:spPr bwMode="auto">
            <a:xfrm>
              <a:off x="1392238" y="4076700"/>
              <a:ext cx="620713" cy="280988"/>
            </a:xfrm>
            <a:prstGeom prst="rect">
              <a:avLst/>
            </a:prstGeom>
            <a:solidFill>
              <a:srgbClr val="EBEBEB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523" name="Rectangle 181"/>
            <p:cNvSpPr>
              <a:spLocks noChangeArrowheads="1"/>
            </p:cNvSpPr>
            <p:nvPr/>
          </p:nvSpPr>
          <p:spPr bwMode="auto">
            <a:xfrm>
              <a:off x="773113" y="4076700"/>
              <a:ext cx="619125" cy="280988"/>
            </a:xfrm>
            <a:prstGeom prst="rect">
              <a:avLst/>
            </a:prstGeom>
            <a:solidFill>
              <a:srgbClr val="EBEBEB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524" name="Rectangle 182"/>
            <p:cNvSpPr>
              <a:spLocks noChangeArrowheads="1"/>
            </p:cNvSpPr>
            <p:nvPr/>
          </p:nvSpPr>
          <p:spPr bwMode="auto">
            <a:xfrm>
              <a:off x="152400" y="4076700"/>
              <a:ext cx="620713" cy="280988"/>
            </a:xfrm>
            <a:prstGeom prst="rect">
              <a:avLst/>
            </a:prstGeom>
            <a:solidFill>
              <a:srgbClr val="EBEBEB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 err="1">
                  <a:solidFill>
                    <a:srgbClr val="990000"/>
                  </a:solidFill>
                  <a:latin typeface="Calibri" pitchFamily="34" charset="0"/>
                </a:rPr>
                <a:t>Idx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525" name="Line 183"/>
            <p:cNvSpPr>
              <a:spLocks noChangeShapeType="1"/>
            </p:cNvSpPr>
            <p:nvPr/>
          </p:nvSpPr>
          <p:spPr bwMode="auto">
            <a:xfrm>
              <a:off x="152400" y="4357688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 i="1">
                <a:solidFill>
                  <a:srgbClr val="990000"/>
                </a:solidFill>
              </a:endParaRPr>
            </a:p>
          </p:txBody>
        </p:sp>
        <p:sp>
          <p:nvSpPr>
            <p:cNvPr id="526" name="Line 184"/>
            <p:cNvSpPr>
              <a:spLocks noChangeShapeType="1"/>
            </p:cNvSpPr>
            <p:nvPr/>
          </p:nvSpPr>
          <p:spPr bwMode="auto">
            <a:xfrm>
              <a:off x="152400" y="4638675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27" name="Line 185"/>
            <p:cNvSpPr>
              <a:spLocks noChangeShapeType="1"/>
            </p:cNvSpPr>
            <p:nvPr/>
          </p:nvSpPr>
          <p:spPr bwMode="auto">
            <a:xfrm>
              <a:off x="152400" y="4919663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28" name="Line 186"/>
            <p:cNvSpPr>
              <a:spLocks noChangeShapeType="1"/>
            </p:cNvSpPr>
            <p:nvPr/>
          </p:nvSpPr>
          <p:spPr bwMode="auto">
            <a:xfrm>
              <a:off x="152400" y="5200650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29" name="Line 187"/>
            <p:cNvSpPr>
              <a:spLocks noChangeShapeType="1"/>
            </p:cNvSpPr>
            <p:nvPr/>
          </p:nvSpPr>
          <p:spPr bwMode="auto">
            <a:xfrm>
              <a:off x="152400" y="5484812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30" name="Line 188"/>
            <p:cNvSpPr>
              <a:spLocks noChangeShapeType="1"/>
            </p:cNvSpPr>
            <p:nvPr/>
          </p:nvSpPr>
          <p:spPr bwMode="auto">
            <a:xfrm>
              <a:off x="152400" y="5788025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31" name="Line 189"/>
            <p:cNvSpPr>
              <a:spLocks noChangeShapeType="1"/>
            </p:cNvSpPr>
            <p:nvPr/>
          </p:nvSpPr>
          <p:spPr bwMode="auto">
            <a:xfrm>
              <a:off x="152400" y="6069013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32" name="Line 190"/>
            <p:cNvSpPr>
              <a:spLocks noChangeShapeType="1"/>
            </p:cNvSpPr>
            <p:nvPr/>
          </p:nvSpPr>
          <p:spPr bwMode="auto">
            <a:xfrm>
              <a:off x="152400" y="6350000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33" name="Line 191"/>
            <p:cNvSpPr>
              <a:spLocks noChangeShapeType="1"/>
            </p:cNvSpPr>
            <p:nvPr/>
          </p:nvSpPr>
          <p:spPr bwMode="auto">
            <a:xfrm>
              <a:off x="773113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34" name="Line 192"/>
            <p:cNvSpPr>
              <a:spLocks noChangeShapeType="1"/>
            </p:cNvSpPr>
            <p:nvPr/>
          </p:nvSpPr>
          <p:spPr bwMode="auto">
            <a:xfrm>
              <a:off x="1392238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35" name="Line 193"/>
            <p:cNvSpPr>
              <a:spLocks noChangeShapeType="1"/>
            </p:cNvSpPr>
            <p:nvPr/>
          </p:nvSpPr>
          <p:spPr bwMode="auto">
            <a:xfrm>
              <a:off x="2012950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36" name="Line 194"/>
            <p:cNvSpPr>
              <a:spLocks noChangeShapeType="1"/>
            </p:cNvSpPr>
            <p:nvPr/>
          </p:nvSpPr>
          <p:spPr bwMode="auto">
            <a:xfrm>
              <a:off x="2635250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37" name="Line 195"/>
            <p:cNvSpPr>
              <a:spLocks noChangeShapeType="1"/>
            </p:cNvSpPr>
            <p:nvPr/>
          </p:nvSpPr>
          <p:spPr bwMode="auto">
            <a:xfrm>
              <a:off x="3255963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38" name="Line 196"/>
            <p:cNvSpPr>
              <a:spLocks noChangeShapeType="1"/>
            </p:cNvSpPr>
            <p:nvPr/>
          </p:nvSpPr>
          <p:spPr bwMode="auto">
            <a:xfrm>
              <a:off x="3875088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39" name="Line 203"/>
            <p:cNvSpPr>
              <a:spLocks noChangeShapeType="1"/>
            </p:cNvSpPr>
            <p:nvPr/>
          </p:nvSpPr>
          <p:spPr bwMode="auto">
            <a:xfrm>
              <a:off x="152400" y="4076700"/>
              <a:ext cx="1588" cy="25542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40" name="Line 205"/>
            <p:cNvSpPr>
              <a:spLocks noChangeShapeType="1"/>
            </p:cNvSpPr>
            <p:nvPr/>
          </p:nvSpPr>
          <p:spPr bwMode="auto">
            <a:xfrm>
              <a:off x="152400" y="4076700"/>
              <a:ext cx="4325112" cy="15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 i="1">
                <a:solidFill>
                  <a:srgbClr val="990000"/>
                </a:solidFill>
              </a:endParaRPr>
            </a:p>
          </p:txBody>
        </p:sp>
        <p:sp>
          <p:nvSpPr>
            <p:cNvPr id="541" name="Line 207"/>
            <p:cNvSpPr>
              <a:spLocks noChangeShapeType="1"/>
            </p:cNvSpPr>
            <p:nvPr/>
          </p:nvSpPr>
          <p:spPr bwMode="auto">
            <a:xfrm>
              <a:off x="152400" y="6630988"/>
              <a:ext cx="4325112" cy="15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42" name="Line 203"/>
            <p:cNvSpPr>
              <a:spLocks noChangeShapeType="1"/>
            </p:cNvSpPr>
            <p:nvPr/>
          </p:nvSpPr>
          <p:spPr bwMode="auto">
            <a:xfrm>
              <a:off x="4487333" y="4083579"/>
              <a:ext cx="1588" cy="25542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43" name="Rectangle 57"/>
            <p:cNvSpPr>
              <a:spLocks noChangeArrowheads="1"/>
            </p:cNvSpPr>
            <p:nvPr/>
          </p:nvSpPr>
          <p:spPr bwMode="auto">
            <a:xfrm>
              <a:off x="8370888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44" name="Rectangle 58"/>
            <p:cNvSpPr>
              <a:spLocks noChangeArrowheads="1"/>
            </p:cNvSpPr>
            <p:nvPr/>
          </p:nvSpPr>
          <p:spPr bwMode="auto">
            <a:xfrm>
              <a:off x="7751763" y="6350000"/>
              <a:ext cx="619125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45" name="Rectangle 59"/>
            <p:cNvSpPr>
              <a:spLocks noChangeArrowheads="1"/>
            </p:cNvSpPr>
            <p:nvPr/>
          </p:nvSpPr>
          <p:spPr bwMode="auto">
            <a:xfrm>
              <a:off x="7131050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46" name="Rectangle 60"/>
            <p:cNvSpPr>
              <a:spLocks noChangeArrowheads="1"/>
            </p:cNvSpPr>
            <p:nvPr/>
          </p:nvSpPr>
          <p:spPr bwMode="auto">
            <a:xfrm>
              <a:off x="6508750" y="6350000"/>
              <a:ext cx="622300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47" name="Rectangle 61"/>
            <p:cNvSpPr>
              <a:spLocks noChangeArrowheads="1"/>
            </p:cNvSpPr>
            <p:nvPr/>
          </p:nvSpPr>
          <p:spPr bwMode="auto">
            <a:xfrm>
              <a:off x="5888038" y="6350000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48" name="Rectangle 62"/>
            <p:cNvSpPr>
              <a:spLocks noChangeArrowheads="1"/>
            </p:cNvSpPr>
            <p:nvPr/>
          </p:nvSpPr>
          <p:spPr bwMode="auto">
            <a:xfrm>
              <a:off x="5268913" y="6350000"/>
              <a:ext cx="619125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14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49" name="Rectangle 63"/>
            <p:cNvSpPr>
              <a:spLocks noChangeArrowheads="1"/>
            </p:cNvSpPr>
            <p:nvPr/>
          </p:nvSpPr>
          <p:spPr bwMode="auto">
            <a:xfrm>
              <a:off x="4648200" y="6350000"/>
              <a:ext cx="620713" cy="280988"/>
            </a:xfrm>
            <a:prstGeom prst="rect">
              <a:avLst/>
            </a:prstGeom>
            <a:solidFill>
              <a:srgbClr val="EBEBEB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solidFill>
                    <a:srgbClr val="990000"/>
                  </a:solidFill>
                  <a:latin typeface="Calibri" pitchFamily="34" charset="0"/>
                </a:rPr>
                <a:t>F</a:t>
              </a:r>
              <a:endParaRPr lang="en-GB" sz="1050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550" name="Rectangle 71"/>
            <p:cNvSpPr>
              <a:spLocks noChangeArrowheads="1"/>
            </p:cNvSpPr>
            <p:nvPr/>
          </p:nvSpPr>
          <p:spPr bwMode="auto">
            <a:xfrm>
              <a:off x="8370888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D3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51" name="Rectangle 72"/>
            <p:cNvSpPr>
              <a:spLocks noChangeArrowheads="1"/>
            </p:cNvSpPr>
            <p:nvPr/>
          </p:nvSpPr>
          <p:spPr bwMode="auto">
            <a:xfrm>
              <a:off x="7751763" y="6069013"/>
              <a:ext cx="619125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1B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52" name="Rectangle 73"/>
            <p:cNvSpPr>
              <a:spLocks noChangeArrowheads="1"/>
            </p:cNvSpPr>
            <p:nvPr/>
          </p:nvSpPr>
          <p:spPr bwMode="auto">
            <a:xfrm>
              <a:off x="7131050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77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53" name="Rectangle 74"/>
            <p:cNvSpPr>
              <a:spLocks noChangeArrowheads="1"/>
            </p:cNvSpPr>
            <p:nvPr/>
          </p:nvSpPr>
          <p:spPr bwMode="auto">
            <a:xfrm>
              <a:off x="6508750" y="6069013"/>
              <a:ext cx="622300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83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54" name="Rectangle 75"/>
            <p:cNvSpPr>
              <a:spLocks noChangeArrowheads="1"/>
            </p:cNvSpPr>
            <p:nvPr/>
          </p:nvSpPr>
          <p:spPr bwMode="auto">
            <a:xfrm>
              <a:off x="5888038" y="6069013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55" name="Rectangle 76"/>
            <p:cNvSpPr>
              <a:spLocks noChangeArrowheads="1"/>
            </p:cNvSpPr>
            <p:nvPr/>
          </p:nvSpPr>
          <p:spPr bwMode="auto">
            <a:xfrm>
              <a:off x="5268913" y="6069013"/>
              <a:ext cx="619125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13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56" name="Rectangle 77"/>
            <p:cNvSpPr>
              <a:spLocks noChangeArrowheads="1"/>
            </p:cNvSpPr>
            <p:nvPr/>
          </p:nvSpPr>
          <p:spPr bwMode="auto">
            <a:xfrm>
              <a:off x="4648200" y="6069013"/>
              <a:ext cx="620713" cy="280988"/>
            </a:xfrm>
            <a:prstGeom prst="rect">
              <a:avLst/>
            </a:prstGeom>
            <a:solidFill>
              <a:srgbClr val="EBEBEB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solidFill>
                    <a:srgbClr val="990000"/>
                  </a:solidFill>
                  <a:latin typeface="Calibri" pitchFamily="34" charset="0"/>
                </a:rPr>
                <a:t>E</a:t>
              </a:r>
              <a:endParaRPr lang="en-GB" sz="1050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557" name="Rectangle 85"/>
            <p:cNvSpPr>
              <a:spLocks noChangeArrowheads="1"/>
            </p:cNvSpPr>
            <p:nvPr/>
          </p:nvSpPr>
          <p:spPr bwMode="auto">
            <a:xfrm>
              <a:off x="8370888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15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58" name="Rectangle 86"/>
            <p:cNvSpPr>
              <a:spLocks noChangeArrowheads="1"/>
            </p:cNvSpPr>
            <p:nvPr/>
          </p:nvSpPr>
          <p:spPr bwMode="auto">
            <a:xfrm>
              <a:off x="7751763" y="5788025"/>
              <a:ext cx="619125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34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59" name="Rectangle 87"/>
            <p:cNvSpPr>
              <a:spLocks noChangeArrowheads="1"/>
            </p:cNvSpPr>
            <p:nvPr/>
          </p:nvSpPr>
          <p:spPr bwMode="auto">
            <a:xfrm>
              <a:off x="7131050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96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60" name="Rectangle 88"/>
            <p:cNvSpPr>
              <a:spLocks noChangeArrowheads="1"/>
            </p:cNvSpPr>
            <p:nvPr/>
          </p:nvSpPr>
          <p:spPr bwMode="auto">
            <a:xfrm>
              <a:off x="6508750" y="5788025"/>
              <a:ext cx="622300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04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61" name="Rectangle 89"/>
            <p:cNvSpPr>
              <a:spLocks noChangeArrowheads="1"/>
            </p:cNvSpPr>
            <p:nvPr/>
          </p:nvSpPr>
          <p:spPr bwMode="auto">
            <a:xfrm>
              <a:off x="5888038" y="5788025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62" name="Rectangle 90"/>
            <p:cNvSpPr>
              <a:spLocks noChangeArrowheads="1"/>
            </p:cNvSpPr>
            <p:nvPr/>
          </p:nvSpPr>
          <p:spPr bwMode="auto">
            <a:xfrm>
              <a:off x="5268913" y="5788025"/>
              <a:ext cx="619125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16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63" name="Rectangle 91"/>
            <p:cNvSpPr>
              <a:spLocks noChangeArrowheads="1"/>
            </p:cNvSpPr>
            <p:nvPr/>
          </p:nvSpPr>
          <p:spPr bwMode="auto">
            <a:xfrm>
              <a:off x="4648200" y="5788025"/>
              <a:ext cx="620713" cy="280988"/>
            </a:xfrm>
            <a:prstGeom prst="rect">
              <a:avLst/>
            </a:prstGeom>
            <a:solidFill>
              <a:srgbClr val="EBEBEB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solidFill>
                    <a:srgbClr val="990000"/>
                  </a:solidFill>
                  <a:latin typeface="Calibri" pitchFamily="34" charset="0"/>
                </a:rPr>
                <a:t>D</a:t>
              </a:r>
              <a:endParaRPr lang="en-GB" sz="1050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564" name="Rectangle 99"/>
            <p:cNvSpPr>
              <a:spLocks noChangeArrowheads="1"/>
            </p:cNvSpPr>
            <p:nvPr/>
          </p:nvSpPr>
          <p:spPr bwMode="auto">
            <a:xfrm>
              <a:off x="8370888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65" name="Rectangle 100"/>
            <p:cNvSpPr>
              <a:spLocks noChangeArrowheads="1"/>
            </p:cNvSpPr>
            <p:nvPr/>
          </p:nvSpPr>
          <p:spPr bwMode="auto">
            <a:xfrm>
              <a:off x="7751763" y="5481638"/>
              <a:ext cx="619125" cy="3063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66" name="Rectangle 101"/>
            <p:cNvSpPr>
              <a:spLocks noChangeArrowheads="1"/>
            </p:cNvSpPr>
            <p:nvPr/>
          </p:nvSpPr>
          <p:spPr bwMode="auto">
            <a:xfrm>
              <a:off x="7131050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67" name="Rectangle 102"/>
            <p:cNvSpPr>
              <a:spLocks noChangeArrowheads="1"/>
            </p:cNvSpPr>
            <p:nvPr/>
          </p:nvSpPr>
          <p:spPr bwMode="auto">
            <a:xfrm>
              <a:off x="6508750" y="5481638"/>
              <a:ext cx="622300" cy="3063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68" name="Rectangle 103"/>
            <p:cNvSpPr>
              <a:spLocks noChangeArrowheads="1"/>
            </p:cNvSpPr>
            <p:nvPr/>
          </p:nvSpPr>
          <p:spPr bwMode="auto">
            <a:xfrm>
              <a:off x="5888038" y="5481638"/>
              <a:ext cx="620713" cy="3063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69" name="Rectangle 104"/>
            <p:cNvSpPr>
              <a:spLocks noChangeArrowheads="1"/>
            </p:cNvSpPr>
            <p:nvPr/>
          </p:nvSpPr>
          <p:spPr bwMode="auto">
            <a:xfrm>
              <a:off x="5268913" y="5481638"/>
              <a:ext cx="619125" cy="3063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12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70" name="Rectangle 105"/>
            <p:cNvSpPr>
              <a:spLocks noChangeArrowheads="1"/>
            </p:cNvSpPr>
            <p:nvPr/>
          </p:nvSpPr>
          <p:spPr bwMode="auto">
            <a:xfrm>
              <a:off x="4648200" y="5481638"/>
              <a:ext cx="620713" cy="306388"/>
            </a:xfrm>
            <a:prstGeom prst="rect">
              <a:avLst/>
            </a:prstGeom>
            <a:solidFill>
              <a:srgbClr val="EBEBEB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solidFill>
                    <a:srgbClr val="990000"/>
                  </a:solidFill>
                  <a:latin typeface="Calibri" pitchFamily="34" charset="0"/>
                </a:rPr>
                <a:t>C</a:t>
              </a:r>
              <a:endParaRPr lang="en-GB" sz="1050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571" name="Rectangle 113"/>
            <p:cNvSpPr>
              <a:spLocks noChangeArrowheads="1"/>
            </p:cNvSpPr>
            <p:nvPr/>
          </p:nvSpPr>
          <p:spPr bwMode="auto">
            <a:xfrm>
              <a:off x="8370888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72" name="Rectangle 114"/>
            <p:cNvSpPr>
              <a:spLocks noChangeArrowheads="1"/>
            </p:cNvSpPr>
            <p:nvPr/>
          </p:nvSpPr>
          <p:spPr bwMode="auto">
            <a:xfrm>
              <a:off x="7751763" y="5200650"/>
              <a:ext cx="619125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73" name="Rectangle 115"/>
            <p:cNvSpPr>
              <a:spLocks noChangeArrowheads="1"/>
            </p:cNvSpPr>
            <p:nvPr/>
          </p:nvSpPr>
          <p:spPr bwMode="auto">
            <a:xfrm>
              <a:off x="7131050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74" name="Rectangle 116"/>
            <p:cNvSpPr>
              <a:spLocks noChangeArrowheads="1"/>
            </p:cNvSpPr>
            <p:nvPr/>
          </p:nvSpPr>
          <p:spPr bwMode="auto">
            <a:xfrm>
              <a:off x="6508750" y="5200650"/>
              <a:ext cx="622300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75" name="Rectangle 117"/>
            <p:cNvSpPr>
              <a:spLocks noChangeArrowheads="1"/>
            </p:cNvSpPr>
            <p:nvPr/>
          </p:nvSpPr>
          <p:spPr bwMode="auto">
            <a:xfrm>
              <a:off x="5888038" y="5200650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76" name="Rectangle 118"/>
            <p:cNvSpPr>
              <a:spLocks noChangeArrowheads="1"/>
            </p:cNvSpPr>
            <p:nvPr/>
          </p:nvSpPr>
          <p:spPr bwMode="auto">
            <a:xfrm>
              <a:off x="5268913" y="5200650"/>
              <a:ext cx="619125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0B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77" name="Rectangle 119"/>
            <p:cNvSpPr>
              <a:spLocks noChangeArrowheads="1"/>
            </p:cNvSpPr>
            <p:nvPr/>
          </p:nvSpPr>
          <p:spPr bwMode="auto">
            <a:xfrm>
              <a:off x="4648200" y="5200650"/>
              <a:ext cx="620713" cy="280988"/>
            </a:xfrm>
            <a:prstGeom prst="rect">
              <a:avLst/>
            </a:prstGeom>
            <a:solidFill>
              <a:srgbClr val="EBEBEB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solidFill>
                    <a:srgbClr val="990000"/>
                  </a:solidFill>
                  <a:latin typeface="Calibri" pitchFamily="34" charset="0"/>
                </a:rPr>
                <a:t>B</a:t>
              </a:r>
              <a:endParaRPr lang="en-GB" sz="1050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578" name="Rectangle 127"/>
            <p:cNvSpPr>
              <a:spLocks noChangeArrowheads="1"/>
            </p:cNvSpPr>
            <p:nvPr/>
          </p:nvSpPr>
          <p:spPr bwMode="auto">
            <a:xfrm>
              <a:off x="8370888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3B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79" name="Rectangle 128"/>
            <p:cNvSpPr>
              <a:spLocks noChangeArrowheads="1"/>
            </p:cNvSpPr>
            <p:nvPr/>
          </p:nvSpPr>
          <p:spPr bwMode="auto">
            <a:xfrm>
              <a:off x="7751763" y="4919663"/>
              <a:ext cx="619125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DA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80" name="Rectangle 129"/>
            <p:cNvSpPr>
              <a:spLocks noChangeArrowheads="1"/>
            </p:cNvSpPr>
            <p:nvPr/>
          </p:nvSpPr>
          <p:spPr bwMode="auto">
            <a:xfrm>
              <a:off x="7131050" y="4919663"/>
              <a:ext cx="620713" cy="280988"/>
            </a:xfrm>
            <a:prstGeom prst="rect">
              <a:avLst/>
            </a:prstGeom>
            <a:solidFill>
              <a:srgbClr val="00B050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15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81" name="Rectangle 130"/>
            <p:cNvSpPr>
              <a:spLocks noChangeArrowheads="1"/>
            </p:cNvSpPr>
            <p:nvPr/>
          </p:nvSpPr>
          <p:spPr bwMode="auto">
            <a:xfrm>
              <a:off x="6508750" y="4919663"/>
              <a:ext cx="622300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93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82" name="Rectangle 131"/>
            <p:cNvSpPr>
              <a:spLocks noChangeArrowheads="1"/>
            </p:cNvSpPr>
            <p:nvPr/>
          </p:nvSpPr>
          <p:spPr bwMode="auto">
            <a:xfrm>
              <a:off x="5888038" y="4919663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83" name="Rectangle 132"/>
            <p:cNvSpPr>
              <a:spLocks noChangeArrowheads="1"/>
            </p:cNvSpPr>
            <p:nvPr/>
          </p:nvSpPr>
          <p:spPr bwMode="auto">
            <a:xfrm>
              <a:off x="5268913" y="4919663"/>
              <a:ext cx="619125" cy="280988"/>
            </a:xfrm>
            <a:prstGeom prst="rect">
              <a:avLst/>
            </a:prstGeom>
            <a:solidFill>
              <a:srgbClr val="0070C0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2D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84" name="Rectangle 133"/>
            <p:cNvSpPr>
              <a:spLocks noChangeArrowheads="1"/>
            </p:cNvSpPr>
            <p:nvPr/>
          </p:nvSpPr>
          <p:spPr bwMode="auto">
            <a:xfrm>
              <a:off x="4648200" y="4919663"/>
              <a:ext cx="620713" cy="280988"/>
            </a:xfrm>
            <a:prstGeom prst="rect">
              <a:avLst/>
            </a:prstGeom>
            <a:solidFill>
              <a:srgbClr val="00B050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solidFill>
                    <a:srgbClr val="C00000"/>
                  </a:solidFill>
                  <a:latin typeface="Calibri" pitchFamily="34" charset="0"/>
                </a:rPr>
                <a:t>A</a:t>
              </a:r>
              <a:endParaRPr lang="en-GB" sz="1050" dirty="0">
                <a:solidFill>
                  <a:srgbClr val="C00000"/>
                </a:solidFill>
                <a:latin typeface="Calibri" pitchFamily="34" charset="0"/>
              </a:endParaRPr>
            </a:p>
          </p:txBody>
        </p:sp>
        <p:sp>
          <p:nvSpPr>
            <p:cNvPr id="585" name="Rectangle 141"/>
            <p:cNvSpPr>
              <a:spLocks noChangeArrowheads="1"/>
            </p:cNvSpPr>
            <p:nvPr/>
          </p:nvSpPr>
          <p:spPr bwMode="auto">
            <a:xfrm>
              <a:off x="8370888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86" name="Rectangle 142"/>
            <p:cNvSpPr>
              <a:spLocks noChangeArrowheads="1"/>
            </p:cNvSpPr>
            <p:nvPr/>
          </p:nvSpPr>
          <p:spPr bwMode="auto">
            <a:xfrm>
              <a:off x="7751763" y="4638675"/>
              <a:ext cx="619125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87" name="Rectangle 143"/>
            <p:cNvSpPr>
              <a:spLocks noChangeArrowheads="1"/>
            </p:cNvSpPr>
            <p:nvPr/>
          </p:nvSpPr>
          <p:spPr bwMode="auto">
            <a:xfrm>
              <a:off x="7131050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88" name="Rectangle 144"/>
            <p:cNvSpPr>
              <a:spLocks noChangeArrowheads="1"/>
            </p:cNvSpPr>
            <p:nvPr/>
          </p:nvSpPr>
          <p:spPr bwMode="auto">
            <a:xfrm>
              <a:off x="6508750" y="4638675"/>
              <a:ext cx="622300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–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89" name="Rectangle 145"/>
            <p:cNvSpPr>
              <a:spLocks noChangeArrowheads="1"/>
            </p:cNvSpPr>
            <p:nvPr/>
          </p:nvSpPr>
          <p:spPr bwMode="auto">
            <a:xfrm>
              <a:off x="5888038" y="4638675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90" name="Rectangle 146"/>
            <p:cNvSpPr>
              <a:spLocks noChangeArrowheads="1"/>
            </p:cNvSpPr>
            <p:nvPr/>
          </p:nvSpPr>
          <p:spPr bwMode="auto">
            <a:xfrm>
              <a:off x="5268913" y="4638675"/>
              <a:ext cx="619125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2D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91" name="Rectangle 147"/>
            <p:cNvSpPr>
              <a:spLocks noChangeArrowheads="1"/>
            </p:cNvSpPr>
            <p:nvPr/>
          </p:nvSpPr>
          <p:spPr bwMode="auto">
            <a:xfrm>
              <a:off x="4648200" y="4638675"/>
              <a:ext cx="620713" cy="280988"/>
            </a:xfrm>
            <a:prstGeom prst="rect">
              <a:avLst/>
            </a:prstGeom>
            <a:solidFill>
              <a:srgbClr val="EBEBEB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solidFill>
                    <a:srgbClr val="990000"/>
                  </a:solidFill>
                  <a:latin typeface="Calibri" pitchFamily="34" charset="0"/>
                </a:rPr>
                <a:t>9</a:t>
              </a:r>
              <a:endParaRPr lang="en-GB" sz="1050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592" name="Rectangle 155"/>
            <p:cNvSpPr>
              <a:spLocks noChangeArrowheads="1"/>
            </p:cNvSpPr>
            <p:nvPr/>
          </p:nvSpPr>
          <p:spPr bwMode="auto">
            <a:xfrm>
              <a:off x="8370888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89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93" name="Rectangle 156"/>
            <p:cNvSpPr>
              <a:spLocks noChangeArrowheads="1"/>
            </p:cNvSpPr>
            <p:nvPr/>
          </p:nvSpPr>
          <p:spPr bwMode="auto">
            <a:xfrm>
              <a:off x="7751763" y="4357688"/>
              <a:ext cx="619125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51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94" name="Rectangle 157"/>
            <p:cNvSpPr>
              <a:spLocks noChangeArrowheads="1"/>
            </p:cNvSpPr>
            <p:nvPr/>
          </p:nvSpPr>
          <p:spPr bwMode="auto">
            <a:xfrm>
              <a:off x="7131050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00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95" name="Rectangle 158"/>
            <p:cNvSpPr>
              <a:spLocks noChangeArrowheads="1"/>
            </p:cNvSpPr>
            <p:nvPr/>
          </p:nvSpPr>
          <p:spPr bwMode="auto">
            <a:xfrm>
              <a:off x="6508750" y="4357688"/>
              <a:ext cx="622300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3A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96" name="Rectangle 159"/>
            <p:cNvSpPr>
              <a:spLocks noChangeArrowheads="1"/>
            </p:cNvSpPr>
            <p:nvPr/>
          </p:nvSpPr>
          <p:spPr bwMode="auto">
            <a:xfrm>
              <a:off x="5888038" y="4357688"/>
              <a:ext cx="620713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1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97" name="Rectangle 160"/>
            <p:cNvSpPr>
              <a:spLocks noChangeArrowheads="1"/>
            </p:cNvSpPr>
            <p:nvPr/>
          </p:nvSpPr>
          <p:spPr bwMode="auto">
            <a:xfrm>
              <a:off x="5268913" y="4357688"/>
              <a:ext cx="619125" cy="280988"/>
            </a:xfrm>
            <a:prstGeom prst="rect">
              <a:avLst/>
            </a:prstGeom>
            <a:grpFill/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latin typeface="Calibri" pitchFamily="34" charset="0"/>
                </a:rPr>
                <a:t>24</a:t>
              </a:r>
              <a:endParaRPr lang="en-GB" sz="1050" dirty="0">
                <a:latin typeface="Calibri" pitchFamily="34" charset="0"/>
              </a:endParaRPr>
            </a:p>
          </p:txBody>
        </p:sp>
        <p:sp>
          <p:nvSpPr>
            <p:cNvPr id="598" name="Rectangle 161"/>
            <p:cNvSpPr>
              <a:spLocks noChangeArrowheads="1"/>
            </p:cNvSpPr>
            <p:nvPr/>
          </p:nvSpPr>
          <p:spPr bwMode="auto">
            <a:xfrm>
              <a:off x="4648200" y="4357688"/>
              <a:ext cx="620713" cy="280988"/>
            </a:xfrm>
            <a:prstGeom prst="rect">
              <a:avLst/>
            </a:prstGeom>
            <a:solidFill>
              <a:srgbClr val="EBEBEB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dirty="0">
                  <a:solidFill>
                    <a:srgbClr val="990000"/>
                  </a:solidFill>
                  <a:latin typeface="Calibri" pitchFamily="34" charset="0"/>
                </a:rPr>
                <a:t>8</a:t>
              </a:r>
              <a:endParaRPr lang="en-GB" sz="1050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599" name="Rectangle 169"/>
            <p:cNvSpPr>
              <a:spLocks noChangeArrowheads="1"/>
            </p:cNvSpPr>
            <p:nvPr/>
          </p:nvSpPr>
          <p:spPr bwMode="auto">
            <a:xfrm>
              <a:off x="8370888" y="4076700"/>
              <a:ext cx="620713" cy="280988"/>
            </a:xfrm>
            <a:prstGeom prst="rect">
              <a:avLst/>
            </a:prstGeom>
            <a:solidFill>
              <a:srgbClr val="EBEBEB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B3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600" name="Rectangle 170"/>
            <p:cNvSpPr>
              <a:spLocks noChangeArrowheads="1"/>
            </p:cNvSpPr>
            <p:nvPr/>
          </p:nvSpPr>
          <p:spPr bwMode="auto">
            <a:xfrm>
              <a:off x="7751763" y="4076700"/>
              <a:ext cx="619125" cy="280988"/>
            </a:xfrm>
            <a:prstGeom prst="rect">
              <a:avLst/>
            </a:prstGeom>
            <a:solidFill>
              <a:srgbClr val="EBEBEB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B2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601" name="Rectangle 171"/>
            <p:cNvSpPr>
              <a:spLocks noChangeArrowheads="1"/>
            </p:cNvSpPr>
            <p:nvPr/>
          </p:nvSpPr>
          <p:spPr bwMode="auto">
            <a:xfrm>
              <a:off x="7131050" y="4076700"/>
              <a:ext cx="620713" cy="280988"/>
            </a:xfrm>
            <a:prstGeom prst="rect">
              <a:avLst/>
            </a:prstGeom>
            <a:solidFill>
              <a:srgbClr val="FF0000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B1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602" name="Rectangle 172"/>
            <p:cNvSpPr>
              <a:spLocks noChangeArrowheads="1"/>
            </p:cNvSpPr>
            <p:nvPr/>
          </p:nvSpPr>
          <p:spPr bwMode="auto">
            <a:xfrm>
              <a:off x="6508750" y="4076700"/>
              <a:ext cx="622300" cy="280988"/>
            </a:xfrm>
            <a:prstGeom prst="rect">
              <a:avLst/>
            </a:prstGeom>
            <a:solidFill>
              <a:srgbClr val="EBEBEB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B0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603" name="Rectangle 173"/>
            <p:cNvSpPr>
              <a:spLocks noChangeArrowheads="1"/>
            </p:cNvSpPr>
            <p:nvPr/>
          </p:nvSpPr>
          <p:spPr bwMode="auto">
            <a:xfrm>
              <a:off x="5888038" y="4076700"/>
              <a:ext cx="620713" cy="280988"/>
            </a:xfrm>
            <a:prstGeom prst="rect">
              <a:avLst/>
            </a:prstGeom>
            <a:solidFill>
              <a:srgbClr val="EBEBEB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Valid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604" name="Rectangle 174"/>
            <p:cNvSpPr>
              <a:spLocks noChangeArrowheads="1"/>
            </p:cNvSpPr>
            <p:nvPr/>
          </p:nvSpPr>
          <p:spPr bwMode="auto">
            <a:xfrm>
              <a:off x="5268913" y="4076700"/>
              <a:ext cx="619125" cy="280988"/>
            </a:xfrm>
            <a:prstGeom prst="rect">
              <a:avLst/>
            </a:prstGeom>
            <a:solidFill>
              <a:srgbClr val="EBEBEB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>
                  <a:solidFill>
                    <a:srgbClr val="990000"/>
                  </a:solidFill>
                  <a:latin typeface="Calibri" pitchFamily="34" charset="0"/>
                </a:rPr>
                <a:t>Tag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605" name="Rectangle 175"/>
            <p:cNvSpPr>
              <a:spLocks noChangeArrowheads="1"/>
            </p:cNvSpPr>
            <p:nvPr/>
          </p:nvSpPr>
          <p:spPr bwMode="auto">
            <a:xfrm>
              <a:off x="4648200" y="4076700"/>
              <a:ext cx="620713" cy="280988"/>
            </a:xfrm>
            <a:prstGeom prst="rect">
              <a:avLst/>
            </a:prstGeom>
            <a:solidFill>
              <a:srgbClr val="EBEBEB"/>
            </a:solidFill>
            <a:ln w="9525">
              <a:noFill/>
              <a:round/>
            </a:ln>
            <a:effectLst/>
          </p:spPr>
          <p:txBody>
            <a:bodyPr lIns="67770" tIns="33210" rIns="67770" bIns="33210"/>
            <a:lstStyle/>
            <a:p>
              <a:pPr algn="ctr">
                <a:spcBef>
                  <a:spcPts val="655"/>
                </a:spcBef>
                <a:tabLst>
                  <a:tab pos="0" algn="l"/>
                  <a:tab pos="685800" algn="l"/>
                  <a:tab pos="1371600" algn="l"/>
                  <a:tab pos="2057400" algn="l"/>
                  <a:tab pos="2743200" algn="l"/>
                  <a:tab pos="3429000" algn="l"/>
                  <a:tab pos="4114800" algn="l"/>
                  <a:tab pos="4800600" algn="l"/>
                  <a:tab pos="5486400" algn="l"/>
                  <a:tab pos="6172200" algn="l"/>
                  <a:tab pos="6858000" algn="l"/>
                  <a:tab pos="7543800" algn="l"/>
                </a:tabLst>
              </a:pPr>
              <a:r>
                <a:rPr lang="en-GB" sz="1050" i="1" dirty="0" err="1">
                  <a:solidFill>
                    <a:srgbClr val="990000"/>
                  </a:solidFill>
                  <a:latin typeface="Calibri" pitchFamily="34" charset="0"/>
                </a:rPr>
                <a:t>Idx</a:t>
              </a:r>
              <a:endParaRPr lang="en-GB" sz="1050" i="1" dirty="0">
                <a:solidFill>
                  <a:srgbClr val="990000"/>
                </a:solidFill>
                <a:latin typeface="Calibri" pitchFamily="34" charset="0"/>
              </a:endParaRPr>
            </a:p>
          </p:txBody>
        </p:sp>
        <p:sp>
          <p:nvSpPr>
            <p:cNvPr id="606" name="Line 183"/>
            <p:cNvSpPr>
              <a:spLocks noChangeShapeType="1"/>
            </p:cNvSpPr>
            <p:nvPr/>
          </p:nvSpPr>
          <p:spPr bwMode="auto">
            <a:xfrm>
              <a:off x="4666488" y="4357688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 i="1">
                <a:solidFill>
                  <a:srgbClr val="990000"/>
                </a:solidFill>
              </a:endParaRPr>
            </a:p>
          </p:txBody>
        </p:sp>
        <p:sp>
          <p:nvSpPr>
            <p:cNvPr id="607" name="Line 184"/>
            <p:cNvSpPr>
              <a:spLocks noChangeShapeType="1"/>
            </p:cNvSpPr>
            <p:nvPr/>
          </p:nvSpPr>
          <p:spPr bwMode="auto">
            <a:xfrm>
              <a:off x="4666488" y="4638675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08" name="Line 185"/>
            <p:cNvSpPr>
              <a:spLocks noChangeShapeType="1"/>
            </p:cNvSpPr>
            <p:nvPr/>
          </p:nvSpPr>
          <p:spPr bwMode="auto">
            <a:xfrm>
              <a:off x="4666488" y="4919663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09" name="Line 186"/>
            <p:cNvSpPr>
              <a:spLocks noChangeShapeType="1"/>
            </p:cNvSpPr>
            <p:nvPr/>
          </p:nvSpPr>
          <p:spPr bwMode="auto">
            <a:xfrm>
              <a:off x="4666488" y="5200650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10" name="Line 187"/>
            <p:cNvSpPr>
              <a:spLocks noChangeShapeType="1"/>
            </p:cNvSpPr>
            <p:nvPr/>
          </p:nvSpPr>
          <p:spPr bwMode="auto">
            <a:xfrm>
              <a:off x="4666488" y="5484812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11" name="Line 188"/>
            <p:cNvSpPr>
              <a:spLocks noChangeShapeType="1"/>
            </p:cNvSpPr>
            <p:nvPr/>
          </p:nvSpPr>
          <p:spPr bwMode="auto">
            <a:xfrm>
              <a:off x="4666488" y="5788025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12" name="Line 189"/>
            <p:cNvSpPr>
              <a:spLocks noChangeShapeType="1"/>
            </p:cNvSpPr>
            <p:nvPr/>
          </p:nvSpPr>
          <p:spPr bwMode="auto">
            <a:xfrm>
              <a:off x="4666488" y="6069013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13" name="Line 190"/>
            <p:cNvSpPr>
              <a:spLocks noChangeShapeType="1"/>
            </p:cNvSpPr>
            <p:nvPr/>
          </p:nvSpPr>
          <p:spPr bwMode="auto">
            <a:xfrm>
              <a:off x="4666488" y="6350000"/>
              <a:ext cx="4325112" cy="15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14" name="Line 197"/>
            <p:cNvSpPr>
              <a:spLocks noChangeShapeType="1"/>
            </p:cNvSpPr>
            <p:nvPr/>
          </p:nvSpPr>
          <p:spPr bwMode="auto">
            <a:xfrm>
              <a:off x="5268913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15" name="Line 198"/>
            <p:cNvSpPr>
              <a:spLocks noChangeShapeType="1"/>
            </p:cNvSpPr>
            <p:nvPr/>
          </p:nvSpPr>
          <p:spPr bwMode="auto">
            <a:xfrm>
              <a:off x="5888038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16" name="Line 199"/>
            <p:cNvSpPr>
              <a:spLocks noChangeShapeType="1"/>
            </p:cNvSpPr>
            <p:nvPr/>
          </p:nvSpPr>
          <p:spPr bwMode="auto">
            <a:xfrm>
              <a:off x="6508750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17" name="Line 200"/>
            <p:cNvSpPr>
              <a:spLocks noChangeShapeType="1"/>
            </p:cNvSpPr>
            <p:nvPr/>
          </p:nvSpPr>
          <p:spPr bwMode="auto">
            <a:xfrm>
              <a:off x="7131050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18" name="Line 201"/>
            <p:cNvSpPr>
              <a:spLocks noChangeShapeType="1"/>
            </p:cNvSpPr>
            <p:nvPr/>
          </p:nvSpPr>
          <p:spPr bwMode="auto">
            <a:xfrm>
              <a:off x="7751763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19" name="Line 202"/>
            <p:cNvSpPr>
              <a:spLocks noChangeShapeType="1"/>
            </p:cNvSpPr>
            <p:nvPr/>
          </p:nvSpPr>
          <p:spPr bwMode="auto">
            <a:xfrm>
              <a:off x="8370888" y="4076700"/>
              <a:ext cx="1588" cy="2554288"/>
            </a:xfrm>
            <a:prstGeom prst="line">
              <a:avLst/>
            </a:prstGeom>
            <a:grp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20" name="Line 205"/>
            <p:cNvSpPr>
              <a:spLocks noChangeShapeType="1"/>
            </p:cNvSpPr>
            <p:nvPr/>
          </p:nvSpPr>
          <p:spPr bwMode="auto">
            <a:xfrm>
              <a:off x="4666488" y="4076700"/>
              <a:ext cx="4325112" cy="15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 i="1">
                <a:solidFill>
                  <a:srgbClr val="990000"/>
                </a:solidFill>
              </a:endParaRPr>
            </a:p>
          </p:txBody>
        </p:sp>
        <p:sp>
          <p:nvSpPr>
            <p:cNvPr id="621" name="Line 206"/>
            <p:cNvSpPr>
              <a:spLocks noChangeShapeType="1"/>
            </p:cNvSpPr>
            <p:nvPr/>
          </p:nvSpPr>
          <p:spPr bwMode="auto">
            <a:xfrm>
              <a:off x="8991601" y="4076700"/>
              <a:ext cx="1588" cy="25542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22" name="Line 207"/>
            <p:cNvSpPr>
              <a:spLocks noChangeShapeType="1"/>
            </p:cNvSpPr>
            <p:nvPr/>
          </p:nvSpPr>
          <p:spPr bwMode="auto">
            <a:xfrm>
              <a:off x="4666488" y="6630988"/>
              <a:ext cx="4325112" cy="15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23" name="Line 206"/>
            <p:cNvSpPr>
              <a:spLocks noChangeShapeType="1"/>
            </p:cNvSpPr>
            <p:nvPr/>
          </p:nvSpPr>
          <p:spPr bwMode="auto">
            <a:xfrm>
              <a:off x="4648200" y="4083579"/>
              <a:ext cx="1588" cy="2554288"/>
            </a:xfrm>
            <a:prstGeom prst="line">
              <a:avLst/>
            </a:prstGeom>
            <a:grpFill/>
            <a:ln w="28575">
              <a:solidFill>
                <a:srgbClr val="000066"/>
              </a:solidFill>
              <a:miter lim="800000"/>
            </a:ln>
            <a:effectLst/>
          </p:spPr>
          <p:txBody>
            <a:bodyPr/>
            <a:lstStyle/>
            <a:p>
              <a:endParaRPr lang="en-US" sz="1800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 Core i7 </a:t>
            </a:r>
            <a:r>
              <a:rPr lang="zh-CN" altLang="en-US" dirty="0" smtClean="0"/>
              <a:t>存储器系统</a:t>
            </a:r>
            <a:endParaRPr lang="en-US" dirty="0"/>
          </a:p>
        </p:txBody>
      </p:sp>
      <p:sp>
        <p:nvSpPr>
          <p:cNvPr id="43" name="Rectangle 406"/>
          <p:cNvSpPr>
            <a:spLocks noChangeArrowheads="1"/>
          </p:cNvSpPr>
          <p:nvPr/>
        </p:nvSpPr>
        <p:spPr bwMode="auto">
          <a:xfrm>
            <a:off x="3051574" y="2807468"/>
            <a:ext cx="1110853" cy="352940"/>
          </a:xfrm>
          <a:prstGeom prst="rect">
            <a:avLst/>
          </a:prstGeom>
          <a:solidFill>
            <a:srgbClr val="F7F5CD"/>
          </a:solidFill>
          <a:ln w="12700">
            <a:solidFill>
              <a:srgbClr val="000000"/>
            </a:solidFill>
            <a:miter lim="800000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200" kern="0" dirty="0">
                <a:solidFill>
                  <a:sysClr val="windowText" lastClr="000000"/>
                </a:solidFill>
              </a:rPr>
              <a:t>L1 </a:t>
            </a:r>
            <a:r>
              <a:rPr lang="en-US" sz="1200" kern="0" dirty="0" err="1">
                <a:solidFill>
                  <a:sysClr val="windowText" lastClr="000000"/>
                </a:solidFill>
              </a:rPr>
              <a:t>d</a:t>
            </a:r>
            <a:r>
              <a:rPr lang="en-US" sz="1200" kern="0" dirty="0">
                <a:solidFill>
                  <a:sysClr val="windowText" lastClr="000000"/>
                </a:solidFill>
              </a:rPr>
              <a:t>-cache</a:t>
            </a:r>
            <a:endParaRPr lang="en-US" sz="1200" kern="0" dirty="0">
              <a:solidFill>
                <a:sysClr val="windowText" lastClr="000000"/>
              </a:solidFill>
            </a:endParaRPr>
          </a:p>
          <a:p>
            <a:pPr algn="ctr">
              <a:defRPr/>
            </a:pPr>
            <a:r>
              <a:rPr lang="en-US" sz="1200" kern="0" dirty="0">
                <a:solidFill>
                  <a:sysClr val="windowText" lastClr="000000"/>
                </a:solidFill>
              </a:rPr>
              <a:t>32 KB, 8-way</a:t>
            </a:r>
            <a:endParaRPr 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44" name="Rectangle 408"/>
          <p:cNvSpPr>
            <a:spLocks noChangeArrowheads="1"/>
          </p:cNvSpPr>
          <p:nvPr/>
        </p:nvSpPr>
        <p:spPr bwMode="auto">
          <a:xfrm>
            <a:off x="3295651" y="3372173"/>
            <a:ext cx="1933575" cy="352940"/>
          </a:xfrm>
          <a:prstGeom prst="rect">
            <a:avLst/>
          </a:prstGeom>
          <a:solidFill>
            <a:srgbClr val="F7F5CD"/>
          </a:solidFill>
          <a:ln w="12700">
            <a:solidFill>
              <a:srgbClr val="000000"/>
            </a:solidFill>
            <a:miter lim="800000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200" kern="0" dirty="0">
                <a:solidFill>
                  <a:sysClr val="windowText" lastClr="000000"/>
                </a:solidFill>
              </a:rPr>
              <a:t>L2 unified cache</a:t>
            </a:r>
            <a:endParaRPr lang="en-US" sz="1200" kern="0" dirty="0">
              <a:solidFill>
                <a:sysClr val="windowText" lastClr="000000"/>
              </a:solidFill>
            </a:endParaRPr>
          </a:p>
          <a:p>
            <a:pPr algn="ctr">
              <a:defRPr/>
            </a:pPr>
            <a:r>
              <a:rPr lang="en-US" sz="1200" kern="0" dirty="0">
                <a:solidFill>
                  <a:sysClr val="windowText" lastClr="000000"/>
                </a:solidFill>
              </a:rPr>
              <a:t>256 KB, 8-way</a:t>
            </a:r>
            <a:endParaRPr 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45" name="Line 409"/>
          <p:cNvSpPr>
            <a:spLocks noChangeShapeType="1"/>
          </p:cNvSpPr>
          <p:nvPr/>
        </p:nvSpPr>
        <p:spPr bwMode="auto">
          <a:xfrm>
            <a:off x="3609975" y="2583938"/>
            <a:ext cx="0" cy="21176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1200" kern="0">
              <a:solidFill>
                <a:sysClr val="windowText" lastClr="000000"/>
              </a:solidFill>
            </a:endParaRPr>
          </a:p>
        </p:txBody>
      </p:sp>
      <p:sp>
        <p:nvSpPr>
          <p:cNvPr id="46" name="Line 410"/>
          <p:cNvSpPr>
            <a:spLocks noChangeShapeType="1"/>
          </p:cNvSpPr>
          <p:nvPr/>
        </p:nvSpPr>
        <p:spPr bwMode="auto">
          <a:xfrm>
            <a:off x="3600450" y="3160408"/>
            <a:ext cx="0" cy="21176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1200" kern="0">
              <a:solidFill>
                <a:sysClr val="windowText" lastClr="000000"/>
              </a:solidFill>
            </a:endParaRPr>
          </a:p>
        </p:txBody>
      </p:sp>
      <p:sp>
        <p:nvSpPr>
          <p:cNvPr id="47" name="Line 411"/>
          <p:cNvSpPr>
            <a:spLocks noChangeShapeType="1"/>
          </p:cNvSpPr>
          <p:nvPr/>
        </p:nvSpPr>
        <p:spPr bwMode="auto">
          <a:xfrm>
            <a:off x="4870847" y="3160408"/>
            <a:ext cx="0" cy="21176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1200" kern="0">
              <a:solidFill>
                <a:sysClr val="windowText" lastClr="000000"/>
              </a:solidFill>
            </a:endParaRPr>
          </a:p>
        </p:txBody>
      </p:sp>
      <p:sp>
        <p:nvSpPr>
          <p:cNvPr id="48" name="Rectangle 426"/>
          <p:cNvSpPr>
            <a:spLocks noChangeArrowheads="1"/>
          </p:cNvSpPr>
          <p:nvPr/>
        </p:nvSpPr>
        <p:spPr bwMode="auto">
          <a:xfrm>
            <a:off x="3423049" y="4651581"/>
            <a:ext cx="1625203" cy="566480"/>
          </a:xfrm>
          <a:prstGeom prst="rect">
            <a:avLst/>
          </a:prstGeom>
          <a:solidFill>
            <a:srgbClr val="F7F5CD"/>
          </a:solidFill>
          <a:ln w="12700">
            <a:solidFill>
              <a:srgbClr val="000000"/>
            </a:solidFill>
            <a:miter lim="800000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200" kern="0">
                <a:solidFill>
                  <a:sysClr val="windowText" lastClr="000000"/>
                </a:solidFill>
              </a:rPr>
              <a:t>L3 unified cache</a:t>
            </a:r>
            <a:endParaRPr lang="en-US" sz="1200" kern="0">
              <a:solidFill>
                <a:sysClr val="windowText" lastClr="000000"/>
              </a:solidFill>
            </a:endParaRPr>
          </a:p>
          <a:p>
            <a:pPr algn="ctr">
              <a:defRPr/>
            </a:pPr>
            <a:r>
              <a:rPr lang="en-US" sz="1200" kern="0">
                <a:solidFill>
                  <a:sysClr val="windowText" lastClr="000000"/>
                </a:solidFill>
              </a:rPr>
              <a:t>8 MB, 16-way </a:t>
            </a:r>
            <a:endParaRPr lang="en-US" sz="1200" kern="0">
              <a:solidFill>
                <a:sysClr val="windowText" lastClr="000000"/>
              </a:solidFill>
            </a:endParaRPr>
          </a:p>
          <a:p>
            <a:pPr algn="ctr">
              <a:defRPr/>
            </a:pPr>
            <a:r>
              <a:rPr lang="en-US" sz="1200" kern="0">
                <a:solidFill>
                  <a:sysClr val="windowText" lastClr="000000"/>
                </a:solidFill>
              </a:rPr>
              <a:t>(shared by all cores)</a:t>
            </a:r>
            <a:endParaRPr lang="en-US" sz="1200" kern="0">
              <a:solidFill>
                <a:sysClr val="windowText" lastClr="000000"/>
              </a:solidFill>
            </a:endParaRPr>
          </a:p>
        </p:txBody>
      </p:sp>
      <p:sp>
        <p:nvSpPr>
          <p:cNvPr id="49" name="Rectangle 427"/>
          <p:cNvSpPr>
            <a:spLocks noChangeArrowheads="1"/>
          </p:cNvSpPr>
          <p:nvPr/>
        </p:nvSpPr>
        <p:spPr bwMode="auto">
          <a:xfrm>
            <a:off x="6067426" y="5527917"/>
            <a:ext cx="2085975" cy="415685"/>
          </a:xfrm>
          <a:prstGeom prst="rect">
            <a:avLst/>
          </a:prstGeom>
          <a:solidFill>
            <a:srgbClr val="E5E6F6"/>
          </a:solidFill>
          <a:ln w="12700">
            <a:solidFill>
              <a:srgbClr val="000000"/>
            </a:solidFill>
            <a:miter lim="800000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200" kern="0">
                <a:solidFill>
                  <a:sysClr val="windowText" lastClr="000000"/>
                </a:solidFill>
              </a:rPr>
              <a:t>Main memory</a:t>
            </a:r>
            <a:endParaRPr lang="en-US" sz="1200" kern="0">
              <a:solidFill>
                <a:sysClr val="windowText" lastClr="000000"/>
              </a:solidFill>
            </a:endParaRPr>
          </a:p>
        </p:txBody>
      </p:sp>
      <p:sp>
        <p:nvSpPr>
          <p:cNvPr id="50" name="Line 432"/>
          <p:cNvSpPr>
            <a:spLocks noChangeShapeType="1"/>
          </p:cNvSpPr>
          <p:nvPr/>
        </p:nvSpPr>
        <p:spPr bwMode="auto">
          <a:xfrm>
            <a:off x="4870847" y="2595703"/>
            <a:ext cx="0" cy="21176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1200" kern="0">
              <a:solidFill>
                <a:sysClr val="windowText" lastClr="000000"/>
              </a:solidFill>
            </a:endParaRPr>
          </a:p>
        </p:txBody>
      </p:sp>
      <p:sp>
        <p:nvSpPr>
          <p:cNvPr id="51" name="Rectangle 434"/>
          <p:cNvSpPr>
            <a:spLocks noChangeArrowheads="1"/>
          </p:cNvSpPr>
          <p:nvPr/>
        </p:nvSpPr>
        <p:spPr bwMode="auto">
          <a:xfrm>
            <a:off x="3232548" y="2234920"/>
            <a:ext cx="790575" cy="352940"/>
          </a:xfrm>
          <a:prstGeom prst="rect">
            <a:avLst/>
          </a:prstGeom>
          <a:solidFill>
            <a:srgbClr val="DBF2DA"/>
          </a:solidFill>
          <a:ln w="12700">
            <a:solidFill>
              <a:srgbClr val="000000"/>
            </a:solidFill>
            <a:miter lim="800000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200" kern="0" dirty="0">
                <a:solidFill>
                  <a:sysClr val="windowText" lastClr="000000"/>
                </a:solidFill>
              </a:rPr>
              <a:t>Registers</a:t>
            </a:r>
            <a:endParaRPr 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52" name="Rectangle 435"/>
          <p:cNvSpPr>
            <a:spLocks noChangeArrowheads="1"/>
          </p:cNvSpPr>
          <p:nvPr/>
        </p:nvSpPr>
        <p:spPr bwMode="auto">
          <a:xfrm>
            <a:off x="5715001" y="2807468"/>
            <a:ext cx="1368029" cy="352940"/>
          </a:xfrm>
          <a:prstGeom prst="rect">
            <a:avLst/>
          </a:prstGeom>
          <a:solidFill>
            <a:srgbClr val="F6D2D2"/>
          </a:solidFill>
          <a:ln w="12700">
            <a:solidFill>
              <a:srgbClr val="000000"/>
            </a:solidFill>
            <a:miter lim="800000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200" kern="0" dirty="0">
                <a:solidFill>
                  <a:sysClr val="windowText" lastClr="000000"/>
                </a:solidFill>
              </a:rPr>
              <a:t>L1 </a:t>
            </a:r>
            <a:r>
              <a:rPr lang="en-US" sz="1200" kern="0" dirty="0" err="1">
                <a:solidFill>
                  <a:sysClr val="windowText" lastClr="000000"/>
                </a:solidFill>
              </a:rPr>
              <a:t>d</a:t>
            </a:r>
            <a:r>
              <a:rPr lang="en-US" sz="1200" kern="0" dirty="0">
                <a:solidFill>
                  <a:sysClr val="windowText" lastClr="000000"/>
                </a:solidFill>
              </a:rPr>
              <a:t>-TLB</a:t>
            </a:r>
            <a:endParaRPr lang="en-US" sz="1200" kern="0" dirty="0">
              <a:solidFill>
                <a:sysClr val="windowText" lastClr="000000"/>
              </a:solidFill>
            </a:endParaRPr>
          </a:p>
          <a:p>
            <a:pPr algn="ctr">
              <a:defRPr/>
            </a:pPr>
            <a:r>
              <a:rPr lang="en-US" sz="1200" kern="0" dirty="0">
                <a:solidFill>
                  <a:sysClr val="windowText" lastClr="000000"/>
                </a:solidFill>
              </a:rPr>
              <a:t>64 entries, 4-way</a:t>
            </a:r>
            <a:endParaRPr 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53" name="Rectangle 436"/>
          <p:cNvSpPr>
            <a:spLocks noChangeArrowheads="1"/>
          </p:cNvSpPr>
          <p:nvPr/>
        </p:nvSpPr>
        <p:spPr bwMode="auto">
          <a:xfrm>
            <a:off x="7200901" y="2807468"/>
            <a:ext cx="1368029" cy="352940"/>
          </a:xfrm>
          <a:prstGeom prst="rect">
            <a:avLst/>
          </a:prstGeom>
          <a:solidFill>
            <a:srgbClr val="F6D2D2"/>
          </a:solidFill>
          <a:ln w="12700">
            <a:solidFill>
              <a:srgbClr val="000000"/>
            </a:solidFill>
            <a:miter lim="800000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200" kern="0" dirty="0">
                <a:solidFill>
                  <a:sysClr val="windowText" lastClr="000000"/>
                </a:solidFill>
              </a:rPr>
              <a:t>L1 </a:t>
            </a:r>
            <a:r>
              <a:rPr lang="en-US" sz="1200" kern="0" dirty="0" err="1">
                <a:solidFill>
                  <a:sysClr val="windowText" lastClr="000000"/>
                </a:solidFill>
              </a:rPr>
              <a:t>i</a:t>
            </a:r>
            <a:r>
              <a:rPr lang="en-US" sz="1200" kern="0" dirty="0">
                <a:solidFill>
                  <a:sysClr val="windowText" lastClr="000000"/>
                </a:solidFill>
              </a:rPr>
              <a:t>-TLB</a:t>
            </a:r>
            <a:endParaRPr lang="en-US" sz="1200" kern="0" dirty="0">
              <a:solidFill>
                <a:sysClr val="windowText" lastClr="000000"/>
              </a:solidFill>
            </a:endParaRPr>
          </a:p>
          <a:p>
            <a:pPr algn="ctr">
              <a:defRPr/>
            </a:pPr>
            <a:r>
              <a:rPr lang="en-US" sz="1200" kern="0" dirty="0">
                <a:solidFill>
                  <a:sysClr val="windowText" lastClr="000000"/>
                </a:solidFill>
              </a:rPr>
              <a:t>128 entries, 4-way</a:t>
            </a:r>
            <a:endParaRPr 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54" name="Rectangle 438"/>
          <p:cNvSpPr>
            <a:spLocks noChangeArrowheads="1"/>
          </p:cNvSpPr>
          <p:nvPr/>
        </p:nvSpPr>
        <p:spPr bwMode="auto">
          <a:xfrm>
            <a:off x="5962650" y="3380016"/>
            <a:ext cx="2368154" cy="352940"/>
          </a:xfrm>
          <a:prstGeom prst="rect">
            <a:avLst/>
          </a:prstGeom>
          <a:solidFill>
            <a:srgbClr val="F6D2D2"/>
          </a:solidFill>
          <a:ln w="12700">
            <a:solidFill>
              <a:srgbClr val="000000"/>
            </a:solidFill>
            <a:miter lim="800000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200" kern="0">
                <a:solidFill>
                  <a:sysClr val="windowText" lastClr="000000"/>
                </a:solidFill>
              </a:rPr>
              <a:t>L2  unified TLB</a:t>
            </a:r>
            <a:endParaRPr lang="en-US" sz="1200" kern="0">
              <a:solidFill>
                <a:sysClr val="windowText" lastClr="000000"/>
              </a:solidFill>
            </a:endParaRPr>
          </a:p>
          <a:p>
            <a:pPr algn="ctr">
              <a:defRPr/>
            </a:pPr>
            <a:r>
              <a:rPr lang="en-US" sz="1200" kern="0">
                <a:solidFill>
                  <a:sysClr val="windowText" lastClr="000000"/>
                </a:solidFill>
              </a:rPr>
              <a:t>512 entries, 4-way</a:t>
            </a:r>
            <a:endParaRPr lang="en-US" sz="1200" kern="0">
              <a:solidFill>
                <a:sysClr val="windowText" lastClr="000000"/>
              </a:solidFill>
            </a:endParaRPr>
          </a:p>
        </p:txBody>
      </p:sp>
      <p:sp>
        <p:nvSpPr>
          <p:cNvPr id="55" name="Line 439"/>
          <p:cNvSpPr>
            <a:spLocks noChangeShapeType="1"/>
          </p:cNvSpPr>
          <p:nvPr/>
        </p:nvSpPr>
        <p:spPr bwMode="auto">
          <a:xfrm>
            <a:off x="6404372" y="3164329"/>
            <a:ext cx="0" cy="21176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1200" kern="0">
              <a:solidFill>
                <a:sysClr val="windowText" lastClr="000000"/>
              </a:solidFill>
            </a:endParaRPr>
          </a:p>
        </p:txBody>
      </p:sp>
      <p:sp>
        <p:nvSpPr>
          <p:cNvPr id="56" name="Line 440"/>
          <p:cNvSpPr>
            <a:spLocks noChangeShapeType="1"/>
          </p:cNvSpPr>
          <p:nvPr/>
        </p:nvSpPr>
        <p:spPr bwMode="auto">
          <a:xfrm>
            <a:off x="7890272" y="3168251"/>
            <a:ext cx="0" cy="21176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1200" kern="0">
              <a:solidFill>
                <a:sysClr val="windowText" lastClr="000000"/>
              </a:solidFill>
            </a:endParaRPr>
          </a:p>
        </p:txBody>
      </p:sp>
      <p:sp>
        <p:nvSpPr>
          <p:cNvPr id="57" name="Rectangle 441"/>
          <p:cNvSpPr>
            <a:spLocks noChangeArrowheads="1"/>
          </p:cNvSpPr>
          <p:nvPr/>
        </p:nvSpPr>
        <p:spPr bwMode="auto">
          <a:xfrm>
            <a:off x="4318399" y="2815312"/>
            <a:ext cx="1110853" cy="352940"/>
          </a:xfrm>
          <a:prstGeom prst="rect">
            <a:avLst/>
          </a:prstGeom>
          <a:solidFill>
            <a:srgbClr val="F7F5CD"/>
          </a:solidFill>
          <a:ln w="12700">
            <a:solidFill>
              <a:srgbClr val="000000"/>
            </a:solidFill>
            <a:miter lim="800000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200" kern="0">
                <a:solidFill>
                  <a:sysClr val="windowText" lastClr="000000"/>
                </a:solidFill>
              </a:rPr>
              <a:t>L1 i-cache</a:t>
            </a:r>
            <a:endParaRPr lang="en-US" sz="1200" kern="0">
              <a:solidFill>
                <a:sysClr val="windowText" lastClr="000000"/>
              </a:solidFill>
            </a:endParaRPr>
          </a:p>
          <a:p>
            <a:pPr algn="ctr">
              <a:defRPr/>
            </a:pPr>
            <a:r>
              <a:rPr lang="en-US" sz="1200" kern="0">
                <a:solidFill>
                  <a:sysClr val="windowText" lastClr="000000"/>
                </a:solidFill>
              </a:rPr>
              <a:t>32 KB, 8-way</a:t>
            </a:r>
            <a:endParaRPr lang="en-US" sz="1200" kern="0">
              <a:solidFill>
                <a:sysClr val="windowText" lastClr="000000"/>
              </a:solidFill>
            </a:endParaRPr>
          </a:p>
        </p:txBody>
      </p:sp>
      <p:sp>
        <p:nvSpPr>
          <p:cNvPr id="58" name="Line 442"/>
          <p:cNvSpPr>
            <a:spLocks noChangeShapeType="1"/>
          </p:cNvSpPr>
          <p:nvPr/>
        </p:nvSpPr>
        <p:spPr bwMode="auto">
          <a:xfrm>
            <a:off x="6413897" y="2583938"/>
            <a:ext cx="0" cy="21176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1200" kern="0">
              <a:solidFill>
                <a:sysClr val="windowText" lastClr="000000"/>
              </a:solidFill>
            </a:endParaRPr>
          </a:p>
        </p:txBody>
      </p:sp>
      <p:sp>
        <p:nvSpPr>
          <p:cNvPr id="59" name="Line 444"/>
          <p:cNvSpPr>
            <a:spLocks noChangeShapeType="1"/>
          </p:cNvSpPr>
          <p:nvPr/>
        </p:nvSpPr>
        <p:spPr bwMode="auto">
          <a:xfrm>
            <a:off x="7890272" y="2595703"/>
            <a:ext cx="0" cy="21176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1200" kern="0">
              <a:solidFill>
                <a:sysClr val="windowText" lastClr="000000"/>
              </a:solidFill>
            </a:endParaRPr>
          </a:p>
        </p:txBody>
      </p:sp>
      <p:sp>
        <p:nvSpPr>
          <p:cNvPr id="60" name="Rectangle 445"/>
          <p:cNvSpPr>
            <a:spLocks noChangeArrowheads="1"/>
          </p:cNvSpPr>
          <p:nvPr/>
        </p:nvSpPr>
        <p:spPr bwMode="auto">
          <a:xfrm>
            <a:off x="6276975" y="2242764"/>
            <a:ext cx="1752600" cy="352940"/>
          </a:xfrm>
          <a:prstGeom prst="rect">
            <a:avLst/>
          </a:prstGeom>
          <a:solidFill>
            <a:srgbClr val="E0E0E0"/>
          </a:solidFill>
          <a:ln w="12700">
            <a:solidFill>
              <a:srgbClr val="000000"/>
            </a:solidFill>
            <a:miter lim="800000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200" kern="0" dirty="0">
                <a:solidFill>
                  <a:sysClr val="windowText" lastClr="000000"/>
                </a:solidFill>
              </a:rPr>
              <a:t>MMU </a:t>
            </a:r>
            <a:endParaRPr lang="en-US" sz="1200" kern="0" dirty="0">
              <a:solidFill>
                <a:sysClr val="windowText" lastClr="000000"/>
              </a:solidFill>
            </a:endParaRPr>
          </a:p>
          <a:p>
            <a:pPr algn="ctr">
              <a:defRPr/>
            </a:pPr>
            <a:r>
              <a:rPr lang="en-US" sz="1200" kern="0" dirty="0">
                <a:solidFill>
                  <a:sysClr val="windowText" lastClr="000000"/>
                </a:solidFill>
              </a:rPr>
              <a:t>(</a:t>
            </a:r>
            <a:r>
              <a:rPr lang="en-US" sz="1200" kern="0" dirty="0" err="1">
                <a:solidFill>
                  <a:sysClr val="windowText" lastClr="000000"/>
                </a:solidFill>
              </a:rPr>
              <a:t>addr</a:t>
            </a:r>
            <a:r>
              <a:rPr lang="en-US" sz="1200" kern="0" dirty="0">
                <a:solidFill>
                  <a:sysClr val="windowText" lastClr="000000"/>
                </a:solidFill>
              </a:rPr>
              <a:t> translation)</a:t>
            </a:r>
            <a:endParaRPr 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61" name="Rectangle 450"/>
          <p:cNvSpPr>
            <a:spLocks noChangeArrowheads="1"/>
          </p:cNvSpPr>
          <p:nvPr/>
        </p:nvSpPr>
        <p:spPr bwMode="auto">
          <a:xfrm>
            <a:off x="4470798" y="2234920"/>
            <a:ext cx="790575" cy="352940"/>
          </a:xfrm>
          <a:prstGeom prst="rect">
            <a:avLst/>
          </a:prstGeom>
          <a:solidFill>
            <a:srgbClr val="E0E0E0"/>
          </a:solidFill>
          <a:ln w="12700">
            <a:solidFill>
              <a:srgbClr val="000000"/>
            </a:solidFill>
            <a:miter lim="800000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200" kern="0">
                <a:solidFill>
                  <a:sysClr val="windowText" lastClr="000000"/>
                </a:solidFill>
              </a:rPr>
              <a:t>Instruction</a:t>
            </a:r>
            <a:endParaRPr lang="en-US" sz="1200" kern="0">
              <a:solidFill>
                <a:sysClr val="windowText" lastClr="000000"/>
              </a:solidFill>
            </a:endParaRPr>
          </a:p>
          <a:p>
            <a:pPr algn="ctr">
              <a:defRPr/>
            </a:pPr>
            <a:r>
              <a:rPr lang="en-US" sz="1200" kern="0">
                <a:solidFill>
                  <a:sysClr val="windowText" lastClr="000000"/>
                </a:solidFill>
              </a:rPr>
              <a:t>fetch</a:t>
            </a:r>
            <a:endParaRPr lang="en-US" sz="1200" kern="0">
              <a:solidFill>
                <a:sysClr val="windowText" lastClr="000000"/>
              </a:solidFill>
            </a:endParaRPr>
          </a:p>
        </p:txBody>
      </p:sp>
      <p:sp>
        <p:nvSpPr>
          <p:cNvPr id="62" name="Rectangle 452"/>
          <p:cNvSpPr>
            <a:spLocks noChangeArrowheads="1"/>
          </p:cNvSpPr>
          <p:nvPr/>
        </p:nvSpPr>
        <p:spPr bwMode="auto">
          <a:xfrm>
            <a:off x="2943226" y="2180018"/>
            <a:ext cx="5705475" cy="2337251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1200" kern="0">
              <a:solidFill>
                <a:sysClr val="windowText" lastClr="000000"/>
              </a:solidFill>
            </a:endParaRPr>
          </a:p>
        </p:txBody>
      </p:sp>
      <p:sp>
        <p:nvSpPr>
          <p:cNvPr id="63" name="Text Box 458"/>
          <p:cNvSpPr txBox="1">
            <a:spLocks noChangeArrowheads="1"/>
          </p:cNvSpPr>
          <p:nvPr/>
        </p:nvSpPr>
        <p:spPr bwMode="auto">
          <a:xfrm>
            <a:off x="2855469" y="1943102"/>
            <a:ext cx="897383" cy="276999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 kern="0" dirty="0">
                <a:solidFill>
                  <a:sysClr val="windowText" lastClr="000000"/>
                </a:solidFill>
              </a:rPr>
              <a:t>Core x4</a:t>
            </a:r>
            <a:endParaRPr 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64" name="Rectangle 459"/>
          <p:cNvSpPr>
            <a:spLocks noChangeArrowheads="1"/>
          </p:cNvSpPr>
          <p:nvPr/>
        </p:nvSpPr>
        <p:spPr bwMode="auto">
          <a:xfrm>
            <a:off x="5829301" y="4651581"/>
            <a:ext cx="2581275" cy="566480"/>
          </a:xfrm>
          <a:prstGeom prst="rect">
            <a:avLst/>
          </a:prstGeom>
          <a:solidFill>
            <a:srgbClr val="E0E0E0"/>
          </a:solidFill>
          <a:ln w="12700">
            <a:solidFill>
              <a:srgbClr val="000000"/>
            </a:solidFill>
            <a:miter lim="800000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200" kern="0" dirty="0">
                <a:solidFill>
                  <a:sysClr val="windowText" lastClr="000000"/>
                </a:solidFill>
              </a:rPr>
              <a:t>DDR3 Memory controller</a:t>
            </a:r>
            <a:endParaRPr lang="en-US" sz="1200" kern="0" dirty="0">
              <a:solidFill>
                <a:sysClr val="windowText" lastClr="000000"/>
              </a:solidFill>
            </a:endParaRPr>
          </a:p>
          <a:p>
            <a:pPr algn="ctr">
              <a:defRPr/>
            </a:pPr>
            <a:r>
              <a:rPr lang="en-US" sz="1200" kern="0" dirty="0">
                <a:solidFill>
                  <a:sysClr val="windowText" lastClr="000000"/>
                </a:solidFill>
              </a:rPr>
              <a:t>3 </a:t>
            </a:r>
            <a:r>
              <a:rPr lang="en-US" sz="1200" kern="0" dirty="0" err="1">
                <a:solidFill>
                  <a:sysClr val="windowText" lastClr="000000"/>
                </a:solidFill>
              </a:rPr>
              <a:t>x</a:t>
            </a:r>
            <a:r>
              <a:rPr lang="en-US" sz="1200" kern="0" dirty="0">
                <a:solidFill>
                  <a:sysClr val="windowText" lastClr="000000"/>
                </a:solidFill>
              </a:rPr>
              <a:t> 64 bit @ 10.66 GB/</a:t>
            </a:r>
            <a:r>
              <a:rPr lang="en-US" sz="1200" kern="0" dirty="0" err="1">
                <a:solidFill>
                  <a:sysClr val="windowText" lastClr="000000"/>
                </a:solidFill>
              </a:rPr>
              <a:t>s</a:t>
            </a:r>
            <a:endParaRPr lang="en-US" sz="1200" kern="0" dirty="0">
              <a:solidFill>
                <a:sysClr val="windowText" lastClr="000000"/>
              </a:solidFill>
            </a:endParaRPr>
          </a:p>
          <a:p>
            <a:pPr algn="ctr">
              <a:defRPr/>
            </a:pPr>
            <a:r>
              <a:rPr lang="en-US" sz="1200" kern="0" dirty="0">
                <a:solidFill>
                  <a:sysClr val="windowText" lastClr="000000"/>
                </a:solidFill>
              </a:rPr>
              <a:t>32 GB/</a:t>
            </a:r>
            <a:r>
              <a:rPr lang="en-US" sz="1200" kern="0" dirty="0" err="1">
                <a:solidFill>
                  <a:sysClr val="windowText" lastClr="000000"/>
                </a:solidFill>
              </a:rPr>
              <a:t>s</a:t>
            </a:r>
            <a:r>
              <a:rPr lang="en-US" sz="1200" kern="0" dirty="0">
                <a:solidFill>
                  <a:sysClr val="windowText" lastClr="000000"/>
                </a:solidFill>
              </a:rPr>
              <a:t> total (shared by all cores)</a:t>
            </a:r>
            <a:endParaRPr 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65" name="Rectangle 460"/>
          <p:cNvSpPr>
            <a:spLocks noChangeArrowheads="1"/>
          </p:cNvSpPr>
          <p:nvPr/>
        </p:nvSpPr>
        <p:spPr bwMode="auto">
          <a:xfrm>
            <a:off x="2771776" y="1960410"/>
            <a:ext cx="6048375" cy="3411690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1200" kern="0">
              <a:solidFill>
                <a:sysClr val="windowText" lastClr="000000"/>
              </a:solidFill>
            </a:endParaRPr>
          </a:p>
        </p:txBody>
      </p:sp>
      <p:sp>
        <p:nvSpPr>
          <p:cNvPr id="66" name="Text Box 461"/>
          <p:cNvSpPr txBox="1">
            <a:spLocks noChangeArrowheads="1"/>
          </p:cNvSpPr>
          <p:nvPr/>
        </p:nvSpPr>
        <p:spPr bwMode="auto">
          <a:xfrm>
            <a:off x="2667002" y="1714502"/>
            <a:ext cx="2203051" cy="276999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 kern="0" dirty="0">
                <a:solidFill>
                  <a:sysClr val="windowText" lastClr="000000"/>
                </a:solidFill>
              </a:rPr>
              <a:t>Processor package</a:t>
            </a:r>
            <a:endParaRPr 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67" name="Rectangle 462"/>
          <p:cNvSpPr>
            <a:spLocks noChangeArrowheads="1"/>
          </p:cNvSpPr>
          <p:nvPr/>
        </p:nvSpPr>
        <p:spPr bwMode="auto">
          <a:xfrm>
            <a:off x="6734177" y="3897662"/>
            <a:ext cx="1746647" cy="486274"/>
          </a:xfrm>
          <a:prstGeom prst="rect">
            <a:avLst/>
          </a:prstGeom>
          <a:solidFill>
            <a:srgbClr val="E0E0E0"/>
          </a:solidFill>
          <a:ln w="12700">
            <a:solidFill>
              <a:srgbClr val="000000"/>
            </a:solidFill>
            <a:miter lim="800000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1200" kern="0" dirty="0" err="1">
                <a:solidFill>
                  <a:sysClr val="windowText" lastClr="000000"/>
                </a:solidFill>
              </a:rPr>
              <a:t>QuickPath</a:t>
            </a:r>
            <a:r>
              <a:rPr lang="en-US" sz="1200" kern="0" dirty="0">
                <a:solidFill>
                  <a:sysClr val="windowText" lastClr="000000"/>
                </a:solidFill>
              </a:rPr>
              <a:t> interconnect</a:t>
            </a:r>
            <a:endParaRPr lang="en-US" sz="1200" kern="0" dirty="0">
              <a:solidFill>
                <a:sysClr val="windowText" lastClr="000000"/>
              </a:solidFill>
            </a:endParaRPr>
          </a:p>
          <a:p>
            <a:pPr algn="ctr">
              <a:defRPr/>
            </a:pPr>
            <a:r>
              <a:rPr lang="en-US" sz="1200" kern="0" dirty="0">
                <a:solidFill>
                  <a:sysClr val="windowText" lastClr="000000"/>
                </a:solidFill>
              </a:rPr>
              <a:t>4 links @ 25.6 GB/</a:t>
            </a:r>
            <a:r>
              <a:rPr lang="en-US" sz="1200" kern="0" dirty="0" err="1">
                <a:solidFill>
                  <a:sysClr val="windowText" lastClr="000000"/>
                </a:solidFill>
              </a:rPr>
              <a:t>s</a:t>
            </a:r>
            <a:r>
              <a:rPr lang="en-US" sz="1200" kern="0" dirty="0">
                <a:solidFill>
                  <a:sysClr val="windowText" lastClr="000000"/>
                </a:solidFill>
              </a:rPr>
              <a:t> each</a:t>
            </a:r>
            <a:endParaRPr 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68" name="Line 464"/>
          <p:cNvSpPr>
            <a:spLocks noChangeShapeType="1"/>
          </p:cNvSpPr>
          <p:nvPr/>
        </p:nvSpPr>
        <p:spPr bwMode="auto">
          <a:xfrm>
            <a:off x="4223147" y="3717269"/>
            <a:ext cx="0" cy="9254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1200" kern="0">
              <a:solidFill>
                <a:sysClr val="windowText" lastClr="000000"/>
              </a:solidFill>
            </a:endParaRPr>
          </a:p>
        </p:txBody>
      </p:sp>
      <p:sp>
        <p:nvSpPr>
          <p:cNvPr id="69" name="Line 474"/>
          <p:cNvSpPr>
            <a:spLocks noChangeShapeType="1"/>
          </p:cNvSpPr>
          <p:nvPr/>
        </p:nvSpPr>
        <p:spPr bwMode="auto">
          <a:xfrm flipH="1">
            <a:off x="7021118" y="5218060"/>
            <a:ext cx="5953" cy="32549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1200" kern="0">
              <a:solidFill>
                <a:sysClr val="windowText" lastClr="000000"/>
              </a:solidFill>
            </a:endParaRPr>
          </a:p>
        </p:txBody>
      </p:sp>
      <p:sp>
        <p:nvSpPr>
          <p:cNvPr id="70" name="Line 475"/>
          <p:cNvSpPr>
            <a:spLocks noChangeShapeType="1"/>
          </p:cNvSpPr>
          <p:nvPr/>
        </p:nvSpPr>
        <p:spPr bwMode="auto">
          <a:xfrm>
            <a:off x="7141369" y="5218060"/>
            <a:ext cx="0" cy="32549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1200" kern="0">
              <a:solidFill>
                <a:sysClr val="windowText" lastClr="000000"/>
              </a:solidFill>
            </a:endParaRPr>
          </a:p>
        </p:txBody>
      </p:sp>
      <p:sp>
        <p:nvSpPr>
          <p:cNvPr id="71" name="Line 476"/>
          <p:cNvSpPr>
            <a:spLocks noChangeShapeType="1"/>
          </p:cNvSpPr>
          <p:nvPr/>
        </p:nvSpPr>
        <p:spPr bwMode="auto">
          <a:xfrm>
            <a:off x="7255669" y="5212179"/>
            <a:ext cx="0" cy="33137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1200" kern="0">
              <a:solidFill>
                <a:sysClr val="windowText" lastClr="000000"/>
              </a:solidFill>
            </a:endParaRPr>
          </a:p>
        </p:txBody>
      </p:sp>
      <p:sp>
        <p:nvSpPr>
          <p:cNvPr id="72" name="Line 479"/>
          <p:cNvSpPr>
            <a:spLocks noChangeShapeType="1"/>
          </p:cNvSpPr>
          <p:nvPr/>
        </p:nvSpPr>
        <p:spPr bwMode="auto">
          <a:xfrm>
            <a:off x="6385322" y="3732958"/>
            <a:ext cx="0" cy="91764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1200" kern="0">
              <a:solidFill>
                <a:sysClr val="windowText" lastClr="000000"/>
              </a:solidFill>
            </a:endParaRPr>
          </a:p>
        </p:txBody>
      </p:sp>
      <p:sp>
        <p:nvSpPr>
          <p:cNvPr id="73" name="Text Box 497"/>
          <p:cNvSpPr txBox="1">
            <a:spLocks noChangeArrowheads="1"/>
          </p:cNvSpPr>
          <p:nvPr/>
        </p:nvSpPr>
        <p:spPr bwMode="auto">
          <a:xfrm>
            <a:off x="8915400" y="3771901"/>
            <a:ext cx="723900" cy="46166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 kern="0" dirty="0">
                <a:solidFill>
                  <a:sysClr val="windowText" lastClr="000000"/>
                </a:solidFill>
              </a:rPr>
              <a:t>To other </a:t>
            </a:r>
            <a:endParaRPr lang="en-US" sz="1200" kern="0" dirty="0">
              <a:solidFill>
                <a:sysClr val="windowText" lastClr="000000"/>
              </a:solidFill>
            </a:endParaRPr>
          </a:p>
          <a:p>
            <a:pPr>
              <a:defRPr/>
            </a:pPr>
            <a:r>
              <a:rPr lang="en-US" sz="1200" kern="0" dirty="0">
                <a:solidFill>
                  <a:sysClr val="windowText" lastClr="000000"/>
                </a:solidFill>
              </a:rPr>
              <a:t>cores</a:t>
            </a:r>
            <a:endParaRPr lang="en-US" sz="1200" kern="0" dirty="0">
              <a:solidFill>
                <a:sysClr val="windowText" lastClr="000000"/>
              </a:solidFill>
            </a:endParaRPr>
          </a:p>
        </p:txBody>
      </p:sp>
      <p:grpSp>
        <p:nvGrpSpPr>
          <p:cNvPr id="74" name="Group 501"/>
          <p:cNvGrpSpPr/>
          <p:nvPr/>
        </p:nvGrpSpPr>
        <p:grpSpPr bwMode="auto">
          <a:xfrm>
            <a:off x="8468916" y="3940798"/>
            <a:ext cx="446484" cy="376470"/>
            <a:chOff x="4785" y="2300"/>
            <a:chExt cx="343" cy="384"/>
          </a:xfrm>
        </p:grpSpPr>
        <p:sp>
          <p:nvSpPr>
            <p:cNvPr id="75" name="Line 480"/>
            <p:cNvSpPr>
              <a:spLocks noChangeShapeType="1"/>
            </p:cNvSpPr>
            <p:nvPr/>
          </p:nvSpPr>
          <p:spPr bwMode="auto">
            <a:xfrm rot="5400000">
              <a:off x="4953" y="2132"/>
              <a:ext cx="0" cy="3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sz="12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6" name="Line 495"/>
            <p:cNvSpPr>
              <a:spLocks noChangeShapeType="1"/>
            </p:cNvSpPr>
            <p:nvPr/>
          </p:nvSpPr>
          <p:spPr bwMode="auto">
            <a:xfrm rot="5400000">
              <a:off x="4953" y="2208"/>
              <a:ext cx="0" cy="3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sz="12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7" name="Line 496"/>
            <p:cNvSpPr>
              <a:spLocks noChangeShapeType="1"/>
            </p:cNvSpPr>
            <p:nvPr/>
          </p:nvSpPr>
          <p:spPr bwMode="auto">
            <a:xfrm rot="5400000">
              <a:off x="4953" y="2284"/>
              <a:ext cx="0" cy="3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sz="12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8" name="Line 498"/>
            <p:cNvSpPr>
              <a:spLocks noChangeShapeType="1"/>
            </p:cNvSpPr>
            <p:nvPr/>
          </p:nvSpPr>
          <p:spPr bwMode="auto">
            <a:xfrm rot="5400000">
              <a:off x="4961" y="2516"/>
              <a:ext cx="0" cy="3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sz="12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9" name="Text Box 499"/>
          <p:cNvSpPr txBox="1">
            <a:spLocks noChangeArrowheads="1"/>
          </p:cNvSpPr>
          <p:nvPr/>
        </p:nvSpPr>
        <p:spPr bwMode="auto">
          <a:xfrm>
            <a:off x="8938069" y="4171192"/>
            <a:ext cx="701233" cy="46166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 kern="0" dirty="0">
                <a:solidFill>
                  <a:sysClr val="windowText" lastClr="000000"/>
                </a:solidFill>
              </a:rPr>
              <a:t>To I/O</a:t>
            </a:r>
            <a:endParaRPr lang="en-US" sz="1200" kern="0" dirty="0">
              <a:solidFill>
                <a:sysClr val="windowText" lastClr="000000"/>
              </a:solidFill>
            </a:endParaRPr>
          </a:p>
          <a:p>
            <a:pPr>
              <a:defRPr/>
            </a:pPr>
            <a:r>
              <a:rPr lang="en-US" sz="1200" kern="0" dirty="0">
                <a:solidFill>
                  <a:sysClr val="windowText" lastClr="000000"/>
                </a:solidFill>
              </a:rPr>
              <a:t>bridge</a:t>
            </a:r>
            <a:endParaRPr lang="en-US" sz="1200" kern="0" dirty="0">
              <a:solidFill>
                <a:sysClr val="windowText" lastClr="000000"/>
              </a:solidFill>
            </a:endParaRPr>
          </a:p>
        </p:txBody>
      </p:sp>
      <p:sp>
        <p:nvSpPr>
          <p:cNvPr id="80" name="Line 500"/>
          <p:cNvSpPr>
            <a:spLocks noChangeShapeType="1"/>
          </p:cNvSpPr>
          <p:nvPr/>
        </p:nvSpPr>
        <p:spPr bwMode="auto">
          <a:xfrm>
            <a:off x="7591425" y="4376092"/>
            <a:ext cx="0" cy="266666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1200" kern="0">
              <a:solidFill>
                <a:sysClr val="windowText" lastClr="000000"/>
              </a:solidFill>
            </a:endParaRPr>
          </a:p>
        </p:txBody>
      </p:sp>
      <p:sp>
        <p:nvSpPr>
          <p:cNvPr id="81" name="Line 502"/>
          <p:cNvSpPr>
            <a:spLocks noChangeShapeType="1"/>
          </p:cNvSpPr>
          <p:nvPr/>
        </p:nvSpPr>
        <p:spPr bwMode="auto">
          <a:xfrm flipV="1">
            <a:off x="5048250" y="4893737"/>
            <a:ext cx="7810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1200" kern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i7 </a:t>
            </a:r>
            <a:r>
              <a:rPr lang="zh-CN" altLang="en-US" dirty="0" smtClean="0"/>
              <a:t>页表转换</a:t>
            </a:r>
            <a:endParaRPr lang="en-US" dirty="0"/>
          </a:p>
        </p:txBody>
      </p:sp>
      <p:sp>
        <p:nvSpPr>
          <p:cNvPr id="4" name="Text Box 381"/>
          <p:cNvSpPr txBox="1">
            <a:spLocks noChangeArrowheads="1"/>
          </p:cNvSpPr>
          <p:nvPr/>
        </p:nvSpPr>
        <p:spPr bwMode="auto">
          <a:xfrm>
            <a:off x="2748894" y="3082529"/>
            <a:ext cx="426720" cy="2590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</a:rPr>
              <a:t>CR3</a:t>
            </a:r>
            <a:endParaRPr lang="en-US" sz="1400">
              <a:solidFill>
                <a:schemeClr val="tx2"/>
              </a:solidFill>
            </a:endParaRPr>
          </a:p>
        </p:txBody>
      </p:sp>
      <p:sp>
        <p:nvSpPr>
          <p:cNvPr id="5" name="Text Box 387"/>
          <p:cNvSpPr txBox="1">
            <a:spLocks noChangeArrowheads="1"/>
          </p:cNvSpPr>
          <p:nvPr/>
        </p:nvSpPr>
        <p:spPr bwMode="auto">
          <a:xfrm>
            <a:off x="7357349" y="4025504"/>
            <a:ext cx="848360" cy="5168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zh-CN" altLang="en-US" sz="1400" i="1" dirty="0" smtClean="0">
                <a:solidFill>
                  <a:schemeClr val="tx2"/>
                </a:solidFill>
              </a:rPr>
              <a:t>页的</a:t>
            </a:r>
            <a:endParaRPr lang="en-US" altLang="zh-CN" sz="1400" i="1" dirty="0" smtClean="0">
              <a:solidFill>
                <a:schemeClr val="tx2"/>
              </a:solidFill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zh-CN" altLang="en-US" sz="1400" i="1" dirty="0" smtClean="0">
                <a:solidFill>
                  <a:schemeClr val="tx2"/>
                </a:solidFill>
              </a:rPr>
              <a:t>物理地址</a:t>
            </a:r>
            <a:endParaRPr lang="en-US" sz="1400" i="1" dirty="0">
              <a:solidFill>
                <a:schemeClr val="tx2"/>
              </a:solidFill>
            </a:endParaRPr>
          </a:p>
        </p:txBody>
      </p:sp>
      <p:sp>
        <p:nvSpPr>
          <p:cNvPr id="6" name="Text Box 388"/>
          <p:cNvSpPr txBox="1">
            <a:spLocks noChangeArrowheads="1"/>
          </p:cNvSpPr>
          <p:nvPr/>
        </p:nvSpPr>
        <p:spPr bwMode="auto">
          <a:xfrm>
            <a:off x="1965960" y="3247390"/>
            <a:ext cx="1602740" cy="2552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67865" tIns="33338" rIns="67865" bIns="33338">
            <a:no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i="1" dirty="0" smtClean="0">
                <a:solidFill>
                  <a:schemeClr val="tx2"/>
                </a:solidFill>
              </a:rPr>
              <a:t> </a:t>
            </a:r>
            <a:r>
              <a:rPr lang="en-US" sz="1400" i="1" dirty="0">
                <a:solidFill>
                  <a:schemeClr val="tx2"/>
                </a:solidFill>
              </a:rPr>
              <a:t>L1 </a:t>
            </a:r>
            <a:r>
              <a:rPr lang="en-US" sz="1400" i="1" dirty="0" smtClean="0">
                <a:solidFill>
                  <a:schemeClr val="tx2"/>
                </a:solidFill>
              </a:rPr>
              <a:t>PT</a:t>
            </a:r>
            <a:r>
              <a:rPr lang="zh-CN" altLang="en-US" sz="1400" i="1" dirty="0" smtClean="0">
                <a:solidFill>
                  <a:schemeClr val="tx2"/>
                </a:solidFill>
              </a:rPr>
              <a:t>的物理地址</a:t>
            </a:r>
            <a:endParaRPr lang="en-US" sz="1400" i="1" dirty="0">
              <a:solidFill>
                <a:schemeClr val="tx2"/>
              </a:solidFill>
            </a:endParaRPr>
          </a:p>
        </p:txBody>
      </p:sp>
      <p:sp>
        <p:nvSpPr>
          <p:cNvPr id="7" name="Text Box 394"/>
          <p:cNvSpPr txBox="1">
            <a:spLocks noChangeAspect="1" noChangeArrowheads="1"/>
          </p:cNvSpPr>
          <p:nvPr/>
        </p:nvSpPr>
        <p:spPr bwMode="auto">
          <a:xfrm>
            <a:off x="4839212" y="1828802"/>
            <a:ext cx="203835" cy="231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</a:rPr>
              <a:t>9</a:t>
            </a: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Rectangle 395"/>
          <p:cNvSpPr>
            <a:spLocks noChangeAspect="1" noChangeArrowheads="1"/>
          </p:cNvSpPr>
          <p:nvPr/>
        </p:nvSpPr>
        <p:spPr bwMode="auto">
          <a:xfrm>
            <a:off x="7273531" y="2001441"/>
            <a:ext cx="1382315" cy="204788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050" dirty="0">
                <a:solidFill>
                  <a:schemeClr val="tx2"/>
                </a:solidFill>
              </a:rPr>
              <a:t>VPO</a:t>
            </a:r>
            <a:endParaRPr lang="en-US" sz="1050" dirty="0">
              <a:solidFill>
                <a:schemeClr val="tx2"/>
              </a:solidFill>
            </a:endParaRPr>
          </a:p>
        </p:txBody>
      </p:sp>
      <p:sp>
        <p:nvSpPr>
          <p:cNvPr id="9" name="Text Box 396"/>
          <p:cNvSpPr txBox="1">
            <a:spLocks noChangeAspect="1" noChangeArrowheads="1"/>
          </p:cNvSpPr>
          <p:nvPr/>
        </p:nvSpPr>
        <p:spPr bwMode="auto">
          <a:xfrm>
            <a:off x="6753737" y="1835945"/>
            <a:ext cx="203835" cy="231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</a:rPr>
              <a:t>9</a:t>
            </a: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" name="Text Box 397"/>
          <p:cNvSpPr txBox="1">
            <a:spLocks noChangeAspect="1" noChangeArrowheads="1"/>
          </p:cNvSpPr>
          <p:nvPr/>
        </p:nvSpPr>
        <p:spPr bwMode="auto">
          <a:xfrm>
            <a:off x="7816255" y="1835945"/>
            <a:ext cx="273050" cy="231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</a:rPr>
              <a:t>12</a:t>
            </a: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1" name="Text Box 399"/>
          <p:cNvSpPr txBox="1">
            <a:spLocks noChangeAspect="1" noChangeArrowheads="1"/>
          </p:cNvSpPr>
          <p:nvPr/>
        </p:nvSpPr>
        <p:spPr bwMode="auto">
          <a:xfrm>
            <a:off x="8753532" y="1837137"/>
            <a:ext cx="601926" cy="649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zh-CN" altLang="en-US" sz="1800" dirty="0" smtClean="0">
                <a:solidFill>
                  <a:schemeClr val="tx2"/>
                </a:solidFill>
              </a:rPr>
              <a:t>虚拟</a:t>
            </a:r>
            <a:endParaRPr lang="en-US" altLang="zh-CN" sz="1800" dirty="0" smtClean="0">
              <a:solidFill>
                <a:schemeClr val="tx2"/>
              </a:solidFill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zh-CN" altLang="en-US" sz="1800" dirty="0" smtClean="0">
                <a:solidFill>
                  <a:schemeClr val="tx2"/>
                </a:solidFill>
              </a:rPr>
              <a:t>地址</a:t>
            </a: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12" name="Line 403"/>
          <p:cNvSpPr>
            <a:spLocks noChangeShapeType="1"/>
          </p:cNvSpPr>
          <p:nvPr/>
        </p:nvSpPr>
        <p:spPr bwMode="auto">
          <a:xfrm>
            <a:off x="7243763" y="3815954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pPr algn="ctr"/>
            <a:endParaRPr lang="en-US" sz="1800"/>
          </a:p>
        </p:txBody>
      </p:sp>
      <p:sp>
        <p:nvSpPr>
          <p:cNvPr id="13" name="Line 404"/>
          <p:cNvSpPr>
            <a:spLocks noChangeShapeType="1"/>
          </p:cNvSpPr>
          <p:nvPr/>
        </p:nvSpPr>
        <p:spPr bwMode="auto">
          <a:xfrm>
            <a:off x="7472363" y="3815954"/>
            <a:ext cx="0" cy="137993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pPr algn="ctr"/>
            <a:endParaRPr lang="en-US" sz="1800"/>
          </a:p>
        </p:txBody>
      </p:sp>
      <p:sp>
        <p:nvSpPr>
          <p:cNvPr id="14" name="Line 406"/>
          <p:cNvSpPr>
            <a:spLocks noChangeShapeType="1"/>
          </p:cNvSpPr>
          <p:nvPr/>
        </p:nvSpPr>
        <p:spPr bwMode="auto">
          <a:xfrm>
            <a:off x="6502004" y="3835004"/>
            <a:ext cx="1988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pPr algn="ctr"/>
            <a:endParaRPr lang="en-US" sz="1800"/>
          </a:p>
        </p:txBody>
      </p:sp>
      <p:sp>
        <p:nvSpPr>
          <p:cNvPr id="15" name="Rectangle 382"/>
          <p:cNvSpPr>
            <a:spLocks noChangeArrowheads="1"/>
          </p:cNvSpPr>
          <p:nvPr/>
        </p:nvSpPr>
        <p:spPr bwMode="auto">
          <a:xfrm>
            <a:off x="6700838" y="3168254"/>
            <a:ext cx="5715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/>
            <a:endParaRPr lang="en-US" sz="1800"/>
          </a:p>
        </p:txBody>
      </p:sp>
      <p:sp>
        <p:nvSpPr>
          <p:cNvPr id="16" name="Text Box 392"/>
          <p:cNvSpPr txBox="1">
            <a:spLocks noChangeArrowheads="1"/>
          </p:cNvSpPr>
          <p:nvPr/>
        </p:nvSpPr>
        <p:spPr bwMode="auto">
          <a:xfrm>
            <a:off x="6761753" y="2578894"/>
            <a:ext cx="436817" cy="40665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050" dirty="0">
                <a:solidFill>
                  <a:schemeClr val="tx2"/>
                </a:solidFill>
              </a:rPr>
              <a:t>L4 PT</a:t>
            </a:r>
            <a:endParaRPr lang="en-US" sz="1050" dirty="0">
              <a:solidFill>
                <a:schemeClr val="tx2"/>
              </a:solidFill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zh-CN" altLang="en-US" sz="1050" i="1" dirty="0" smtClean="0">
                <a:solidFill>
                  <a:schemeClr val="tx2"/>
                </a:solidFill>
              </a:rPr>
              <a:t>页表</a:t>
            </a:r>
            <a:endParaRPr lang="en-US" sz="1050" i="1" dirty="0">
              <a:solidFill>
                <a:schemeClr val="tx2"/>
              </a:solidFill>
            </a:endParaRPr>
          </a:p>
        </p:txBody>
      </p:sp>
      <p:sp>
        <p:nvSpPr>
          <p:cNvPr id="17" name="Rectangle 405"/>
          <p:cNvSpPr>
            <a:spLocks noChangeArrowheads="1"/>
          </p:cNvSpPr>
          <p:nvPr/>
        </p:nvSpPr>
        <p:spPr bwMode="auto">
          <a:xfrm>
            <a:off x="6703221" y="3739754"/>
            <a:ext cx="569119" cy="17145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050">
                <a:solidFill>
                  <a:schemeClr val="tx2"/>
                </a:solidFill>
              </a:rPr>
              <a:t>L4 PTE</a:t>
            </a:r>
            <a:endParaRPr lang="en-US" sz="1050">
              <a:solidFill>
                <a:schemeClr val="tx2"/>
              </a:solidFill>
            </a:endParaRPr>
          </a:p>
        </p:txBody>
      </p:sp>
      <p:sp>
        <p:nvSpPr>
          <p:cNvPr id="18" name="Line 407"/>
          <p:cNvSpPr>
            <a:spLocks noChangeShapeType="1"/>
          </p:cNvSpPr>
          <p:nvPr/>
        </p:nvSpPr>
        <p:spPr bwMode="auto">
          <a:xfrm>
            <a:off x="6502006" y="2206230"/>
            <a:ext cx="5953" cy="162639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pPr algn="ctr"/>
            <a:endParaRPr lang="en-US" sz="1800"/>
          </a:p>
        </p:txBody>
      </p:sp>
      <p:sp>
        <p:nvSpPr>
          <p:cNvPr id="19" name="Line 408"/>
          <p:cNvSpPr>
            <a:spLocks noChangeShapeType="1"/>
          </p:cNvSpPr>
          <p:nvPr/>
        </p:nvSpPr>
        <p:spPr bwMode="auto">
          <a:xfrm>
            <a:off x="8396288" y="2206229"/>
            <a:ext cx="0" cy="332779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pPr algn="ctr"/>
            <a:endParaRPr lang="en-US" sz="1800"/>
          </a:p>
        </p:txBody>
      </p:sp>
      <p:sp>
        <p:nvSpPr>
          <p:cNvPr id="20" name="Rectangle 409"/>
          <p:cNvSpPr>
            <a:spLocks noChangeAspect="1" noChangeArrowheads="1"/>
          </p:cNvSpPr>
          <p:nvPr/>
        </p:nvSpPr>
        <p:spPr bwMode="auto">
          <a:xfrm>
            <a:off x="3858816" y="5534025"/>
            <a:ext cx="3371850" cy="215504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050">
                <a:solidFill>
                  <a:schemeClr val="tx2"/>
                </a:solidFill>
              </a:rPr>
              <a:t>PPN</a:t>
            </a:r>
            <a:endParaRPr lang="en-US" sz="1050">
              <a:solidFill>
                <a:schemeClr val="tx2"/>
              </a:solidFill>
            </a:endParaRPr>
          </a:p>
        </p:txBody>
      </p:sp>
      <p:sp>
        <p:nvSpPr>
          <p:cNvPr id="21" name="Rectangle 410"/>
          <p:cNvSpPr>
            <a:spLocks noChangeAspect="1" noChangeArrowheads="1"/>
          </p:cNvSpPr>
          <p:nvPr/>
        </p:nvSpPr>
        <p:spPr bwMode="auto">
          <a:xfrm>
            <a:off x="7230667" y="5534025"/>
            <a:ext cx="1406128" cy="215504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050">
                <a:solidFill>
                  <a:schemeClr val="tx2"/>
                </a:solidFill>
              </a:rPr>
              <a:t>PPO</a:t>
            </a:r>
            <a:endParaRPr lang="en-US" sz="1050">
              <a:solidFill>
                <a:schemeClr val="tx2"/>
              </a:solidFill>
            </a:endParaRPr>
          </a:p>
        </p:txBody>
      </p:sp>
      <p:sp>
        <p:nvSpPr>
          <p:cNvPr id="22" name="Text Box 411"/>
          <p:cNvSpPr txBox="1">
            <a:spLocks noChangeAspect="1" noChangeArrowheads="1"/>
          </p:cNvSpPr>
          <p:nvPr/>
        </p:nvSpPr>
        <p:spPr bwMode="auto">
          <a:xfrm>
            <a:off x="5406430" y="5376864"/>
            <a:ext cx="273050" cy="231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</a:rPr>
              <a:t>40</a:t>
            </a: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23" name="Text Box 412"/>
          <p:cNvSpPr txBox="1">
            <a:spLocks noChangeAspect="1" noChangeArrowheads="1"/>
          </p:cNvSpPr>
          <p:nvPr/>
        </p:nvSpPr>
        <p:spPr bwMode="auto">
          <a:xfrm>
            <a:off x="7797205" y="5376864"/>
            <a:ext cx="273050" cy="231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</a:rPr>
              <a:t>12</a:t>
            </a: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24" name="Text Box 413"/>
          <p:cNvSpPr txBox="1">
            <a:spLocks noChangeAspect="1" noChangeArrowheads="1"/>
          </p:cNvSpPr>
          <p:nvPr/>
        </p:nvSpPr>
        <p:spPr bwMode="auto">
          <a:xfrm>
            <a:off x="8761514" y="5386388"/>
            <a:ext cx="601926" cy="649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zh-CN" altLang="en-US" sz="1800" dirty="0" smtClean="0">
                <a:solidFill>
                  <a:schemeClr val="tx2"/>
                </a:solidFill>
              </a:rPr>
              <a:t>物理</a:t>
            </a:r>
            <a:endParaRPr lang="en-US" altLang="zh-CN" sz="1800" dirty="0" smtClean="0">
              <a:solidFill>
                <a:schemeClr val="tx2"/>
              </a:solidFill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zh-CN" altLang="en-US" sz="1800" dirty="0" smtClean="0">
                <a:solidFill>
                  <a:schemeClr val="tx2"/>
                </a:solidFill>
              </a:rPr>
              <a:t>地址</a:t>
            </a: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25" name="Line 414"/>
          <p:cNvSpPr>
            <a:spLocks noChangeShapeType="1"/>
          </p:cNvSpPr>
          <p:nvPr/>
        </p:nvSpPr>
        <p:spPr bwMode="auto">
          <a:xfrm flipH="1">
            <a:off x="6100763" y="5197079"/>
            <a:ext cx="1371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pPr algn="ctr"/>
            <a:endParaRPr lang="en-US" sz="1800"/>
          </a:p>
        </p:txBody>
      </p:sp>
      <p:sp>
        <p:nvSpPr>
          <p:cNvPr id="26" name="Line 415"/>
          <p:cNvSpPr>
            <a:spLocks noChangeShapeType="1"/>
          </p:cNvSpPr>
          <p:nvPr/>
        </p:nvSpPr>
        <p:spPr bwMode="auto">
          <a:xfrm>
            <a:off x="6100763" y="5195889"/>
            <a:ext cx="0" cy="32504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pPr algn="ctr"/>
            <a:endParaRPr lang="en-US" sz="1800"/>
          </a:p>
        </p:txBody>
      </p:sp>
      <p:sp>
        <p:nvSpPr>
          <p:cNvPr id="27" name="Text Box 416"/>
          <p:cNvSpPr txBox="1">
            <a:spLocks noChangeArrowheads="1"/>
          </p:cNvSpPr>
          <p:nvPr/>
        </p:nvSpPr>
        <p:spPr bwMode="auto">
          <a:xfrm>
            <a:off x="8376742" y="3387330"/>
            <a:ext cx="1205230" cy="5168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zh-CN" altLang="en-US" sz="1400" i="1" dirty="0" smtClean="0">
                <a:solidFill>
                  <a:schemeClr val="tx2"/>
                </a:solidFill>
              </a:rPr>
              <a:t>物理和虚拟页</a:t>
            </a:r>
            <a:endParaRPr lang="en-US" altLang="zh-CN" sz="1400" i="1" dirty="0" smtClean="0">
              <a:solidFill>
                <a:schemeClr val="tx2"/>
              </a:solidFill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zh-CN" altLang="en-US" sz="1400" i="1" dirty="0" smtClean="0">
                <a:solidFill>
                  <a:schemeClr val="tx2"/>
                </a:solidFill>
              </a:rPr>
              <a:t>的偏移量</a:t>
            </a:r>
            <a:endParaRPr lang="en-US" sz="1400" i="1" dirty="0">
              <a:solidFill>
                <a:schemeClr val="tx2"/>
              </a:solidFill>
            </a:endParaRPr>
          </a:p>
        </p:txBody>
      </p:sp>
      <p:sp>
        <p:nvSpPr>
          <p:cNvPr id="28" name="Rectangle 417"/>
          <p:cNvSpPr>
            <a:spLocks noChangeAspect="1" noChangeArrowheads="1"/>
          </p:cNvSpPr>
          <p:nvPr/>
        </p:nvSpPr>
        <p:spPr bwMode="auto">
          <a:xfrm>
            <a:off x="5356624" y="1996680"/>
            <a:ext cx="958453" cy="210740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050">
                <a:solidFill>
                  <a:schemeClr val="tx2"/>
                </a:solidFill>
              </a:rPr>
              <a:t>VPN 3</a:t>
            </a:r>
            <a:endParaRPr lang="en-US" sz="1050">
              <a:solidFill>
                <a:schemeClr val="tx2"/>
              </a:solidFill>
            </a:endParaRPr>
          </a:p>
        </p:txBody>
      </p:sp>
      <p:sp>
        <p:nvSpPr>
          <p:cNvPr id="29" name="Rectangle 418"/>
          <p:cNvSpPr>
            <a:spLocks noChangeAspect="1" noChangeArrowheads="1"/>
          </p:cNvSpPr>
          <p:nvPr/>
        </p:nvSpPr>
        <p:spPr bwMode="auto">
          <a:xfrm>
            <a:off x="6315075" y="2001441"/>
            <a:ext cx="958454" cy="204788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050">
                <a:solidFill>
                  <a:schemeClr val="tx2"/>
                </a:solidFill>
              </a:rPr>
              <a:t>VPN 4</a:t>
            </a:r>
            <a:endParaRPr lang="en-US" sz="1050">
              <a:solidFill>
                <a:schemeClr val="tx2"/>
              </a:solidFill>
            </a:endParaRPr>
          </a:p>
        </p:txBody>
      </p:sp>
      <p:sp>
        <p:nvSpPr>
          <p:cNvPr id="30" name="Rectangle 419"/>
          <p:cNvSpPr>
            <a:spLocks noChangeAspect="1" noChangeArrowheads="1"/>
          </p:cNvSpPr>
          <p:nvPr/>
        </p:nvSpPr>
        <p:spPr bwMode="auto">
          <a:xfrm>
            <a:off x="4402931" y="1996680"/>
            <a:ext cx="958454" cy="210740"/>
          </a:xfrm>
          <a:prstGeom prst="rect">
            <a:avLst/>
          </a:prstGeom>
          <a:solidFill>
            <a:srgbClr val="DBF2DA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050">
                <a:solidFill>
                  <a:schemeClr val="tx2"/>
                </a:solidFill>
              </a:rPr>
              <a:t>VPN 2</a:t>
            </a:r>
            <a:endParaRPr lang="en-US" sz="1050">
              <a:solidFill>
                <a:schemeClr val="tx2"/>
              </a:solidFill>
            </a:endParaRPr>
          </a:p>
        </p:txBody>
      </p:sp>
      <p:sp>
        <p:nvSpPr>
          <p:cNvPr id="31" name="Rectangle 420"/>
          <p:cNvSpPr>
            <a:spLocks noChangeAspect="1" noChangeArrowheads="1"/>
          </p:cNvSpPr>
          <p:nvPr/>
        </p:nvSpPr>
        <p:spPr bwMode="auto">
          <a:xfrm>
            <a:off x="3444481" y="1995489"/>
            <a:ext cx="958453" cy="210741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050">
                <a:solidFill>
                  <a:schemeClr val="tx2"/>
                </a:solidFill>
              </a:rPr>
              <a:t>VPN 1</a:t>
            </a:r>
            <a:endParaRPr lang="en-US" sz="1050">
              <a:solidFill>
                <a:schemeClr val="tx2"/>
              </a:solidFill>
            </a:endParaRPr>
          </a:p>
        </p:txBody>
      </p:sp>
      <p:sp>
        <p:nvSpPr>
          <p:cNvPr id="32" name="Line 430"/>
          <p:cNvSpPr>
            <a:spLocks noChangeShapeType="1"/>
          </p:cNvSpPr>
          <p:nvPr/>
        </p:nvSpPr>
        <p:spPr bwMode="auto">
          <a:xfrm>
            <a:off x="6298407" y="3832622"/>
            <a:ext cx="13454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pPr algn="ctr"/>
            <a:endParaRPr lang="en-US" sz="1800"/>
          </a:p>
        </p:txBody>
      </p:sp>
      <p:sp>
        <p:nvSpPr>
          <p:cNvPr id="33" name="Line 431"/>
          <p:cNvSpPr>
            <a:spLocks noChangeShapeType="1"/>
          </p:cNvSpPr>
          <p:nvPr/>
        </p:nvSpPr>
        <p:spPr bwMode="auto">
          <a:xfrm>
            <a:off x="6432948" y="3171827"/>
            <a:ext cx="7144" cy="66079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pPr algn="ctr"/>
            <a:endParaRPr lang="en-US" sz="1800"/>
          </a:p>
        </p:txBody>
      </p:sp>
      <p:sp>
        <p:nvSpPr>
          <p:cNvPr id="34" name="Line 432"/>
          <p:cNvSpPr>
            <a:spLocks noChangeShapeType="1"/>
          </p:cNvSpPr>
          <p:nvPr/>
        </p:nvSpPr>
        <p:spPr bwMode="auto">
          <a:xfrm>
            <a:off x="6440093" y="3171826"/>
            <a:ext cx="258365" cy="357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pPr algn="ctr"/>
            <a:endParaRPr lang="en-US" sz="1800"/>
          </a:p>
        </p:txBody>
      </p:sp>
      <p:sp>
        <p:nvSpPr>
          <p:cNvPr id="35" name="Rectangle 435"/>
          <p:cNvSpPr>
            <a:spLocks noChangeArrowheads="1"/>
          </p:cNvSpPr>
          <p:nvPr/>
        </p:nvSpPr>
        <p:spPr bwMode="auto">
          <a:xfrm>
            <a:off x="5743575" y="3175397"/>
            <a:ext cx="5715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/>
            <a:endParaRPr lang="en-US" sz="1800"/>
          </a:p>
        </p:txBody>
      </p:sp>
      <p:sp>
        <p:nvSpPr>
          <p:cNvPr id="36" name="Text Box 437"/>
          <p:cNvSpPr txBox="1">
            <a:spLocks noChangeArrowheads="1"/>
          </p:cNvSpPr>
          <p:nvPr/>
        </p:nvSpPr>
        <p:spPr bwMode="auto">
          <a:xfrm>
            <a:off x="5629648" y="2578894"/>
            <a:ext cx="810317" cy="40665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050" dirty="0">
                <a:solidFill>
                  <a:schemeClr val="tx2"/>
                </a:solidFill>
              </a:rPr>
              <a:t>L3 PT</a:t>
            </a:r>
            <a:endParaRPr lang="en-US" sz="1050" dirty="0">
              <a:solidFill>
                <a:schemeClr val="tx2"/>
              </a:solidFill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zh-CN" altLang="en-US" sz="1050" i="1" dirty="0" smtClean="0">
                <a:solidFill>
                  <a:schemeClr val="tx2"/>
                </a:solidFill>
              </a:rPr>
              <a:t>页中层目录</a:t>
            </a:r>
            <a:endParaRPr lang="en-US" sz="1050" i="1" dirty="0">
              <a:solidFill>
                <a:schemeClr val="tx2"/>
              </a:solidFill>
            </a:endParaRPr>
          </a:p>
        </p:txBody>
      </p:sp>
      <p:sp>
        <p:nvSpPr>
          <p:cNvPr id="37" name="Rectangle 438"/>
          <p:cNvSpPr>
            <a:spLocks noChangeArrowheads="1"/>
          </p:cNvSpPr>
          <p:nvPr/>
        </p:nvSpPr>
        <p:spPr bwMode="auto">
          <a:xfrm>
            <a:off x="5745958" y="3746897"/>
            <a:ext cx="569119" cy="171450"/>
          </a:xfrm>
          <a:prstGeom prst="rect">
            <a:avLst/>
          </a:prstGeom>
          <a:solidFill>
            <a:srgbClr val="E6E6E6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050">
                <a:solidFill>
                  <a:schemeClr val="tx2"/>
                </a:solidFill>
              </a:rPr>
              <a:t>L3 PTE</a:t>
            </a:r>
            <a:endParaRPr lang="en-US" sz="1050">
              <a:solidFill>
                <a:schemeClr val="tx2"/>
              </a:solidFill>
            </a:endParaRPr>
          </a:p>
        </p:txBody>
      </p:sp>
      <p:sp>
        <p:nvSpPr>
          <p:cNvPr id="38" name="Line 439"/>
          <p:cNvSpPr>
            <a:spLocks noChangeShapeType="1"/>
          </p:cNvSpPr>
          <p:nvPr/>
        </p:nvSpPr>
        <p:spPr bwMode="auto">
          <a:xfrm flipH="1">
            <a:off x="5542360" y="2213372"/>
            <a:ext cx="8334" cy="1619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pPr algn="ctr"/>
            <a:endParaRPr lang="en-US" sz="1800"/>
          </a:p>
        </p:txBody>
      </p:sp>
      <p:sp>
        <p:nvSpPr>
          <p:cNvPr id="39" name="Line 440"/>
          <p:cNvSpPr>
            <a:spLocks noChangeShapeType="1"/>
          </p:cNvSpPr>
          <p:nvPr/>
        </p:nvSpPr>
        <p:spPr bwMode="auto">
          <a:xfrm>
            <a:off x="5550696" y="3837385"/>
            <a:ext cx="19288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pPr algn="ctr"/>
            <a:endParaRPr lang="en-US" sz="1800"/>
          </a:p>
        </p:txBody>
      </p:sp>
      <p:sp>
        <p:nvSpPr>
          <p:cNvPr id="40" name="Line 444"/>
          <p:cNvSpPr>
            <a:spLocks noChangeShapeType="1"/>
          </p:cNvSpPr>
          <p:nvPr/>
        </p:nvSpPr>
        <p:spPr bwMode="auto">
          <a:xfrm>
            <a:off x="5326857" y="3836194"/>
            <a:ext cx="13454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pPr algn="ctr"/>
            <a:endParaRPr lang="en-US" sz="1800"/>
          </a:p>
        </p:txBody>
      </p:sp>
      <p:sp>
        <p:nvSpPr>
          <p:cNvPr id="41" name="Line 445"/>
          <p:cNvSpPr>
            <a:spLocks noChangeShapeType="1"/>
          </p:cNvSpPr>
          <p:nvPr/>
        </p:nvSpPr>
        <p:spPr bwMode="auto">
          <a:xfrm>
            <a:off x="5462588" y="3174209"/>
            <a:ext cx="0" cy="66079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pPr algn="ctr"/>
            <a:endParaRPr lang="en-US" sz="1800"/>
          </a:p>
        </p:txBody>
      </p:sp>
      <p:sp>
        <p:nvSpPr>
          <p:cNvPr id="42" name="Rectangle 447"/>
          <p:cNvSpPr>
            <a:spLocks noChangeArrowheads="1"/>
          </p:cNvSpPr>
          <p:nvPr/>
        </p:nvSpPr>
        <p:spPr bwMode="auto">
          <a:xfrm>
            <a:off x="4772025" y="3175397"/>
            <a:ext cx="5715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/>
            <a:endParaRPr lang="en-US" sz="1800"/>
          </a:p>
        </p:txBody>
      </p:sp>
      <p:sp>
        <p:nvSpPr>
          <p:cNvPr id="43" name="Text Box 449"/>
          <p:cNvSpPr txBox="1">
            <a:spLocks noChangeArrowheads="1"/>
          </p:cNvSpPr>
          <p:nvPr/>
        </p:nvSpPr>
        <p:spPr bwMode="auto">
          <a:xfrm>
            <a:off x="4655125" y="2578894"/>
            <a:ext cx="810317" cy="40665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050" dirty="0">
                <a:solidFill>
                  <a:schemeClr val="tx2"/>
                </a:solidFill>
              </a:rPr>
              <a:t>L2 PT</a:t>
            </a:r>
            <a:endParaRPr lang="en-US" sz="1050" dirty="0">
              <a:solidFill>
                <a:schemeClr val="tx2"/>
              </a:solidFill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zh-CN" altLang="en-US" sz="1050" i="1" dirty="0" smtClean="0">
                <a:solidFill>
                  <a:schemeClr val="tx2"/>
                </a:solidFill>
              </a:rPr>
              <a:t>页上层目录</a:t>
            </a:r>
            <a:endParaRPr lang="en-US" sz="1050" i="1" dirty="0">
              <a:solidFill>
                <a:schemeClr val="tx2"/>
              </a:solidFill>
            </a:endParaRPr>
          </a:p>
        </p:txBody>
      </p:sp>
      <p:sp>
        <p:nvSpPr>
          <p:cNvPr id="44" name="Rectangle 450"/>
          <p:cNvSpPr>
            <a:spLocks noChangeArrowheads="1"/>
          </p:cNvSpPr>
          <p:nvPr/>
        </p:nvSpPr>
        <p:spPr bwMode="auto">
          <a:xfrm>
            <a:off x="4774408" y="3746897"/>
            <a:ext cx="569119" cy="171450"/>
          </a:xfrm>
          <a:prstGeom prst="rect">
            <a:avLst/>
          </a:prstGeom>
          <a:solidFill>
            <a:srgbClr val="DBF2DA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050">
                <a:solidFill>
                  <a:schemeClr val="tx2"/>
                </a:solidFill>
              </a:rPr>
              <a:t>L2 PTE</a:t>
            </a:r>
            <a:endParaRPr lang="en-US" sz="1050">
              <a:solidFill>
                <a:schemeClr val="tx2"/>
              </a:solidFill>
            </a:endParaRPr>
          </a:p>
        </p:txBody>
      </p:sp>
      <p:sp>
        <p:nvSpPr>
          <p:cNvPr id="45" name="Line 451"/>
          <p:cNvSpPr>
            <a:spLocks noChangeShapeType="1"/>
          </p:cNvSpPr>
          <p:nvPr/>
        </p:nvSpPr>
        <p:spPr bwMode="auto">
          <a:xfrm>
            <a:off x="4579144" y="2213375"/>
            <a:ext cx="0" cy="16109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pPr algn="ctr"/>
            <a:endParaRPr lang="en-US" sz="1800"/>
          </a:p>
        </p:txBody>
      </p:sp>
      <p:sp>
        <p:nvSpPr>
          <p:cNvPr id="46" name="Line 452"/>
          <p:cNvSpPr>
            <a:spLocks noChangeShapeType="1"/>
          </p:cNvSpPr>
          <p:nvPr/>
        </p:nvSpPr>
        <p:spPr bwMode="auto">
          <a:xfrm>
            <a:off x="4579146" y="3832622"/>
            <a:ext cx="19288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pPr algn="ctr"/>
            <a:endParaRPr lang="en-US" sz="1800"/>
          </a:p>
        </p:txBody>
      </p:sp>
      <p:sp>
        <p:nvSpPr>
          <p:cNvPr id="47" name="Line 456"/>
          <p:cNvSpPr>
            <a:spLocks noChangeShapeType="1"/>
          </p:cNvSpPr>
          <p:nvPr/>
        </p:nvSpPr>
        <p:spPr bwMode="auto">
          <a:xfrm>
            <a:off x="4369595" y="3832622"/>
            <a:ext cx="13454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pPr algn="ctr"/>
            <a:endParaRPr lang="en-US" sz="1800"/>
          </a:p>
        </p:txBody>
      </p:sp>
      <p:sp>
        <p:nvSpPr>
          <p:cNvPr id="48" name="Rectangle 459"/>
          <p:cNvSpPr>
            <a:spLocks noChangeArrowheads="1"/>
          </p:cNvSpPr>
          <p:nvPr/>
        </p:nvSpPr>
        <p:spPr bwMode="auto">
          <a:xfrm>
            <a:off x="3814763" y="3175397"/>
            <a:ext cx="5715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/>
            <a:endParaRPr lang="en-US" sz="1800"/>
          </a:p>
        </p:txBody>
      </p:sp>
      <p:sp>
        <p:nvSpPr>
          <p:cNvPr id="49" name="Text Box 461"/>
          <p:cNvSpPr txBox="1">
            <a:spLocks noChangeArrowheads="1"/>
          </p:cNvSpPr>
          <p:nvPr/>
        </p:nvSpPr>
        <p:spPr bwMode="auto">
          <a:xfrm>
            <a:off x="3694220" y="2578894"/>
            <a:ext cx="810317" cy="40665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050" dirty="0">
                <a:solidFill>
                  <a:schemeClr val="tx2"/>
                </a:solidFill>
              </a:rPr>
              <a:t>L1 PT</a:t>
            </a:r>
            <a:endParaRPr lang="en-US" sz="1050" dirty="0">
              <a:solidFill>
                <a:schemeClr val="tx2"/>
              </a:solidFill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zh-CN" altLang="en-US" sz="1050" i="1" dirty="0" smtClean="0">
                <a:solidFill>
                  <a:schemeClr val="tx2"/>
                </a:solidFill>
              </a:rPr>
              <a:t>页全局目录</a:t>
            </a:r>
            <a:endParaRPr lang="en-US" sz="1050" dirty="0">
              <a:solidFill>
                <a:schemeClr val="tx2"/>
              </a:solidFill>
            </a:endParaRPr>
          </a:p>
        </p:txBody>
      </p:sp>
      <p:sp>
        <p:nvSpPr>
          <p:cNvPr id="50" name="Rectangle 462"/>
          <p:cNvSpPr>
            <a:spLocks noChangeArrowheads="1"/>
          </p:cNvSpPr>
          <p:nvPr/>
        </p:nvSpPr>
        <p:spPr bwMode="auto">
          <a:xfrm>
            <a:off x="3817146" y="3746897"/>
            <a:ext cx="569119" cy="17145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050">
                <a:solidFill>
                  <a:schemeClr val="tx2"/>
                </a:solidFill>
              </a:rPr>
              <a:t>L1 PTE</a:t>
            </a:r>
            <a:endParaRPr lang="en-US" sz="1050">
              <a:solidFill>
                <a:schemeClr val="tx2"/>
              </a:solidFill>
            </a:endParaRPr>
          </a:p>
        </p:txBody>
      </p:sp>
      <p:sp>
        <p:nvSpPr>
          <p:cNvPr id="51" name="Line 463"/>
          <p:cNvSpPr>
            <a:spLocks noChangeShapeType="1"/>
          </p:cNvSpPr>
          <p:nvPr/>
        </p:nvSpPr>
        <p:spPr bwMode="auto">
          <a:xfrm flipH="1">
            <a:off x="3612357" y="2213375"/>
            <a:ext cx="9525" cy="16109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pPr algn="ctr"/>
            <a:endParaRPr lang="en-US" sz="1800"/>
          </a:p>
        </p:txBody>
      </p:sp>
      <p:sp>
        <p:nvSpPr>
          <p:cNvPr id="52" name="Line 464"/>
          <p:cNvSpPr>
            <a:spLocks noChangeShapeType="1"/>
          </p:cNvSpPr>
          <p:nvPr/>
        </p:nvSpPr>
        <p:spPr bwMode="auto">
          <a:xfrm>
            <a:off x="3621884" y="3827860"/>
            <a:ext cx="19288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pPr algn="ctr"/>
            <a:endParaRPr lang="en-US" sz="1800"/>
          </a:p>
        </p:txBody>
      </p:sp>
      <p:sp>
        <p:nvSpPr>
          <p:cNvPr id="53" name="Text Box 465"/>
          <p:cNvSpPr txBox="1">
            <a:spLocks noChangeAspect="1" noChangeArrowheads="1"/>
          </p:cNvSpPr>
          <p:nvPr/>
        </p:nvSpPr>
        <p:spPr bwMode="auto">
          <a:xfrm>
            <a:off x="5782187" y="1828802"/>
            <a:ext cx="203835" cy="231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</a:rPr>
              <a:t>9</a:t>
            </a: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54" name="Text Box 466"/>
          <p:cNvSpPr txBox="1">
            <a:spLocks noChangeAspect="1" noChangeArrowheads="1"/>
          </p:cNvSpPr>
          <p:nvPr/>
        </p:nvSpPr>
        <p:spPr bwMode="auto">
          <a:xfrm>
            <a:off x="3839087" y="1828802"/>
            <a:ext cx="203835" cy="231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</a:rPr>
              <a:t>9</a:t>
            </a: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55" name="Line 467"/>
          <p:cNvSpPr>
            <a:spLocks noChangeShapeType="1"/>
          </p:cNvSpPr>
          <p:nvPr/>
        </p:nvSpPr>
        <p:spPr bwMode="auto">
          <a:xfrm flipV="1">
            <a:off x="3188495" y="3187304"/>
            <a:ext cx="61674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pPr algn="ctr"/>
            <a:endParaRPr lang="en-US" sz="1800"/>
          </a:p>
        </p:txBody>
      </p:sp>
      <p:sp>
        <p:nvSpPr>
          <p:cNvPr id="56" name="Text Box 471"/>
          <p:cNvSpPr txBox="1">
            <a:spLocks noChangeAspect="1" noChangeArrowheads="1"/>
          </p:cNvSpPr>
          <p:nvPr/>
        </p:nvSpPr>
        <p:spPr bwMode="auto">
          <a:xfrm>
            <a:off x="3374843" y="3028952"/>
            <a:ext cx="242854" cy="1919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900" dirty="0">
                <a:solidFill>
                  <a:schemeClr val="tx2"/>
                </a:solidFill>
              </a:rPr>
              <a:t>40</a:t>
            </a:r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57" name="Text Box 473"/>
          <p:cNvSpPr txBox="1">
            <a:spLocks noChangeArrowheads="1"/>
          </p:cNvSpPr>
          <p:nvPr/>
        </p:nvSpPr>
        <p:spPr bwMode="auto">
          <a:xfrm>
            <a:off x="3400516" y="3105151"/>
            <a:ext cx="210314" cy="230832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900"/>
              <a:t>/</a:t>
            </a:r>
            <a:endParaRPr lang="en-US" sz="900"/>
          </a:p>
        </p:txBody>
      </p:sp>
      <p:sp>
        <p:nvSpPr>
          <p:cNvPr id="58" name="Line 457"/>
          <p:cNvSpPr>
            <a:spLocks noChangeShapeType="1"/>
          </p:cNvSpPr>
          <p:nvPr/>
        </p:nvSpPr>
        <p:spPr bwMode="auto">
          <a:xfrm>
            <a:off x="4504135" y="3174206"/>
            <a:ext cx="0" cy="65841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pPr algn="ctr"/>
            <a:endParaRPr lang="en-US" sz="1800"/>
          </a:p>
        </p:txBody>
      </p:sp>
      <p:sp>
        <p:nvSpPr>
          <p:cNvPr id="59" name="Line 458"/>
          <p:cNvSpPr>
            <a:spLocks noChangeShapeType="1"/>
          </p:cNvSpPr>
          <p:nvPr/>
        </p:nvSpPr>
        <p:spPr bwMode="auto">
          <a:xfrm>
            <a:off x="4511281" y="3175397"/>
            <a:ext cx="258365" cy="357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pPr algn="ctr"/>
            <a:endParaRPr lang="en-US" sz="1800"/>
          </a:p>
        </p:txBody>
      </p:sp>
      <p:sp>
        <p:nvSpPr>
          <p:cNvPr id="60" name="Text Box 476"/>
          <p:cNvSpPr txBox="1">
            <a:spLocks noChangeAspect="1" noChangeArrowheads="1"/>
          </p:cNvSpPr>
          <p:nvPr/>
        </p:nvSpPr>
        <p:spPr bwMode="auto">
          <a:xfrm>
            <a:off x="4522606" y="3001568"/>
            <a:ext cx="242854" cy="1919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900">
                <a:solidFill>
                  <a:schemeClr val="tx2"/>
                </a:solidFill>
              </a:rPr>
              <a:t>40</a:t>
            </a:r>
            <a:endParaRPr lang="en-US" sz="900">
              <a:solidFill>
                <a:schemeClr val="tx2"/>
              </a:solidFill>
            </a:endParaRPr>
          </a:p>
        </p:txBody>
      </p:sp>
      <p:sp>
        <p:nvSpPr>
          <p:cNvPr id="61" name="Text Box 477"/>
          <p:cNvSpPr txBox="1">
            <a:spLocks noChangeArrowheads="1"/>
          </p:cNvSpPr>
          <p:nvPr/>
        </p:nvSpPr>
        <p:spPr bwMode="auto">
          <a:xfrm>
            <a:off x="4554232" y="3077767"/>
            <a:ext cx="210314" cy="230832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900"/>
              <a:t>/</a:t>
            </a:r>
            <a:endParaRPr lang="en-US" sz="900"/>
          </a:p>
        </p:txBody>
      </p:sp>
      <p:sp>
        <p:nvSpPr>
          <p:cNvPr id="62" name="Line 446"/>
          <p:cNvSpPr>
            <a:spLocks noChangeShapeType="1"/>
          </p:cNvSpPr>
          <p:nvPr/>
        </p:nvSpPr>
        <p:spPr bwMode="auto">
          <a:xfrm>
            <a:off x="5461397" y="3174207"/>
            <a:ext cx="294084" cy="9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pPr algn="ctr"/>
            <a:endParaRPr lang="en-US" sz="1800"/>
          </a:p>
        </p:txBody>
      </p:sp>
      <p:sp>
        <p:nvSpPr>
          <p:cNvPr id="63" name="Text Box 479"/>
          <p:cNvSpPr txBox="1">
            <a:spLocks noChangeAspect="1" noChangeArrowheads="1"/>
          </p:cNvSpPr>
          <p:nvPr/>
        </p:nvSpPr>
        <p:spPr bwMode="auto">
          <a:xfrm>
            <a:off x="5513206" y="3015855"/>
            <a:ext cx="242854" cy="1919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900">
                <a:solidFill>
                  <a:schemeClr val="tx2"/>
                </a:solidFill>
              </a:rPr>
              <a:t>40</a:t>
            </a:r>
            <a:endParaRPr lang="en-US" sz="900">
              <a:solidFill>
                <a:schemeClr val="tx2"/>
              </a:solidFill>
            </a:endParaRPr>
          </a:p>
        </p:txBody>
      </p:sp>
      <p:sp>
        <p:nvSpPr>
          <p:cNvPr id="64" name="Text Box 480"/>
          <p:cNvSpPr txBox="1">
            <a:spLocks noChangeArrowheads="1"/>
          </p:cNvSpPr>
          <p:nvPr/>
        </p:nvSpPr>
        <p:spPr bwMode="auto">
          <a:xfrm>
            <a:off x="5535307" y="3092054"/>
            <a:ext cx="210314" cy="230832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900"/>
              <a:t>/</a:t>
            </a:r>
            <a:endParaRPr lang="en-US" sz="900"/>
          </a:p>
        </p:txBody>
      </p:sp>
      <p:sp>
        <p:nvSpPr>
          <p:cNvPr id="65" name="Text Box 482"/>
          <p:cNvSpPr txBox="1">
            <a:spLocks noChangeAspect="1" noChangeArrowheads="1"/>
          </p:cNvSpPr>
          <p:nvPr/>
        </p:nvSpPr>
        <p:spPr bwMode="auto">
          <a:xfrm>
            <a:off x="6469278" y="2997995"/>
            <a:ext cx="242854" cy="1919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900">
                <a:solidFill>
                  <a:schemeClr val="tx2"/>
                </a:solidFill>
              </a:rPr>
              <a:t>40</a:t>
            </a:r>
            <a:endParaRPr lang="en-US" sz="900">
              <a:solidFill>
                <a:schemeClr val="tx2"/>
              </a:solidFill>
            </a:endParaRPr>
          </a:p>
        </p:txBody>
      </p:sp>
      <p:sp>
        <p:nvSpPr>
          <p:cNvPr id="66" name="Text Box 483"/>
          <p:cNvSpPr txBox="1">
            <a:spLocks noChangeArrowheads="1"/>
          </p:cNvSpPr>
          <p:nvPr/>
        </p:nvSpPr>
        <p:spPr bwMode="auto">
          <a:xfrm>
            <a:off x="6500903" y="3074195"/>
            <a:ext cx="210314" cy="230832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900"/>
              <a:t>/</a:t>
            </a:r>
            <a:endParaRPr lang="en-US" sz="900"/>
          </a:p>
        </p:txBody>
      </p:sp>
      <p:sp>
        <p:nvSpPr>
          <p:cNvPr id="67" name="Text Box 485"/>
          <p:cNvSpPr txBox="1">
            <a:spLocks noChangeAspect="1" noChangeArrowheads="1"/>
          </p:cNvSpPr>
          <p:nvPr/>
        </p:nvSpPr>
        <p:spPr bwMode="auto">
          <a:xfrm>
            <a:off x="6578816" y="5026820"/>
            <a:ext cx="242854" cy="1919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900">
                <a:solidFill>
                  <a:schemeClr val="tx2"/>
                </a:solidFill>
              </a:rPr>
              <a:t>40</a:t>
            </a:r>
            <a:endParaRPr lang="en-US" sz="900">
              <a:solidFill>
                <a:schemeClr val="tx2"/>
              </a:solidFill>
            </a:endParaRPr>
          </a:p>
        </p:txBody>
      </p:sp>
      <p:sp>
        <p:nvSpPr>
          <p:cNvPr id="68" name="Text Box 486"/>
          <p:cNvSpPr txBox="1">
            <a:spLocks noChangeArrowheads="1"/>
          </p:cNvSpPr>
          <p:nvPr/>
        </p:nvSpPr>
        <p:spPr bwMode="auto">
          <a:xfrm>
            <a:off x="6606695" y="5093495"/>
            <a:ext cx="217805" cy="27559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/>
              <a:t>/</a:t>
            </a:r>
            <a:endParaRPr lang="en-US" sz="1200"/>
          </a:p>
        </p:txBody>
      </p:sp>
      <p:sp>
        <p:nvSpPr>
          <p:cNvPr id="69" name="Text Box 488"/>
          <p:cNvSpPr txBox="1">
            <a:spLocks noChangeAspect="1" noChangeArrowheads="1"/>
          </p:cNvSpPr>
          <p:nvPr/>
        </p:nvSpPr>
        <p:spPr bwMode="auto">
          <a:xfrm>
            <a:off x="8363562" y="3607595"/>
            <a:ext cx="242854" cy="1919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900">
                <a:solidFill>
                  <a:schemeClr val="tx2"/>
                </a:solidFill>
              </a:rPr>
              <a:t>12</a:t>
            </a:r>
            <a:endParaRPr lang="en-US" sz="900">
              <a:solidFill>
                <a:schemeClr val="tx2"/>
              </a:solidFill>
            </a:endParaRPr>
          </a:p>
        </p:txBody>
      </p:sp>
      <p:sp>
        <p:nvSpPr>
          <p:cNvPr id="70" name="Text Box 489"/>
          <p:cNvSpPr txBox="1">
            <a:spLocks noChangeArrowheads="1"/>
          </p:cNvSpPr>
          <p:nvPr/>
        </p:nvSpPr>
        <p:spPr bwMode="auto">
          <a:xfrm>
            <a:off x="8302145" y="3599261"/>
            <a:ext cx="217805" cy="27559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200"/>
              <a:t>/</a:t>
            </a:r>
            <a:endParaRPr lang="en-US" sz="1200"/>
          </a:p>
        </p:txBody>
      </p:sp>
      <p:sp>
        <p:nvSpPr>
          <p:cNvPr id="79" name="Text Box 505"/>
          <p:cNvSpPr txBox="1">
            <a:spLocks noChangeArrowheads="1"/>
          </p:cNvSpPr>
          <p:nvPr/>
        </p:nvSpPr>
        <p:spPr bwMode="auto">
          <a:xfrm>
            <a:off x="3731421" y="4374358"/>
            <a:ext cx="764381" cy="73723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indent="-342900" algn="ctr"/>
            <a:r>
              <a:rPr lang="zh-CN" altLang="en-US" sz="1400" i="1" dirty="0" smtClean="0"/>
              <a:t>每项</a:t>
            </a:r>
            <a:endParaRPr lang="en-US" altLang="zh-CN" sz="1400" i="1" dirty="0" smtClean="0"/>
          </a:p>
          <a:p>
            <a:pPr marL="342900" indent="-342900" algn="ctr"/>
            <a:r>
              <a:rPr lang="en-US" sz="1400" i="1" dirty="0" smtClean="0"/>
              <a:t>512 </a:t>
            </a:r>
            <a:r>
              <a:rPr lang="en-US" sz="1400" i="1" dirty="0"/>
              <a:t>GB </a:t>
            </a:r>
            <a:endParaRPr lang="en-US" sz="1400" i="1" dirty="0"/>
          </a:p>
          <a:p>
            <a:pPr marL="342900" indent="-342900" algn="ctr"/>
            <a:r>
              <a:rPr lang="zh-CN" altLang="en-US" sz="1400" i="1" dirty="0" smtClean="0"/>
              <a:t>区域</a:t>
            </a:r>
            <a:endParaRPr lang="en-US" sz="1400" i="1" dirty="0"/>
          </a:p>
        </p:txBody>
      </p:sp>
      <p:sp>
        <p:nvSpPr>
          <p:cNvPr id="80" name="Text Box 507"/>
          <p:cNvSpPr txBox="1">
            <a:spLocks noChangeArrowheads="1"/>
          </p:cNvSpPr>
          <p:nvPr/>
        </p:nvSpPr>
        <p:spPr bwMode="auto">
          <a:xfrm>
            <a:off x="4654156" y="4374358"/>
            <a:ext cx="764381" cy="73723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indent="-342900" algn="ctr"/>
            <a:r>
              <a:rPr lang="zh-CN" altLang="en-US" sz="1400" i="1" dirty="0" smtClean="0"/>
              <a:t>每项</a:t>
            </a:r>
            <a:endParaRPr lang="en-US" altLang="zh-CN" sz="1400" i="1" dirty="0" smtClean="0"/>
          </a:p>
          <a:p>
            <a:pPr marL="342900" indent="-342900" algn="ctr"/>
            <a:r>
              <a:rPr lang="en-US" sz="1400" i="1" dirty="0" smtClean="0"/>
              <a:t>1 </a:t>
            </a:r>
            <a:r>
              <a:rPr lang="en-US" sz="1400" i="1" dirty="0"/>
              <a:t>GB </a:t>
            </a:r>
            <a:endParaRPr lang="en-US" sz="1400" i="1" dirty="0"/>
          </a:p>
          <a:p>
            <a:pPr marL="342900" indent="-342900" algn="ctr"/>
            <a:r>
              <a:rPr lang="zh-CN" altLang="en-US" sz="1400" i="1" dirty="0" smtClean="0"/>
              <a:t>区域</a:t>
            </a:r>
            <a:endParaRPr lang="en-US" sz="1400" i="1" dirty="0"/>
          </a:p>
        </p:txBody>
      </p:sp>
      <p:sp>
        <p:nvSpPr>
          <p:cNvPr id="81" name="Text Box 508"/>
          <p:cNvSpPr txBox="1">
            <a:spLocks noChangeArrowheads="1"/>
          </p:cNvSpPr>
          <p:nvPr/>
        </p:nvSpPr>
        <p:spPr bwMode="auto">
          <a:xfrm>
            <a:off x="5666187" y="4374358"/>
            <a:ext cx="764381" cy="73723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indent="-342900" algn="ctr"/>
            <a:r>
              <a:rPr lang="zh-CN" altLang="en-US" sz="1400" i="1" dirty="0" smtClean="0"/>
              <a:t>每项</a:t>
            </a:r>
            <a:endParaRPr lang="en-US" altLang="zh-CN" sz="1400" i="1" dirty="0" smtClean="0"/>
          </a:p>
          <a:p>
            <a:pPr marL="342900" indent="-342900" algn="ctr"/>
            <a:r>
              <a:rPr lang="en-US" sz="1400" i="1" dirty="0" smtClean="0"/>
              <a:t>2 </a:t>
            </a:r>
            <a:r>
              <a:rPr lang="en-US" sz="1400" i="1" dirty="0"/>
              <a:t>MB </a:t>
            </a:r>
            <a:endParaRPr lang="en-US" sz="1400" i="1" dirty="0"/>
          </a:p>
          <a:p>
            <a:pPr marL="342900" indent="-342900" algn="ctr"/>
            <a:r>
              <a:rPr lang="zh-CN" altLang="en-US" sz="1400" i="1" dirty="0" smtClean="0"/>
              <a:t>区域</a:t>
            </a:r>
            <a:endParaRPr lang="en-US" sz="1400" i="1" dirty="0"/>
          </a:p>
        </p:txBody>
      </p:sp>
      <p:sp>
        <p:nvSpPr>
          <p:cNvPr id="82" name="Text Box 509"/>
          <p:cNvSpPr txBox="1">
            <a:spLocks noChangeArrowheads="1"/>
          </p:cNvSpPr>
          <p:nvPr/>
        </p:nvSpPr>
        <p:spPr bwMode="auto">
          <a:xfrm>
            <a:off x="6582968" y="4374358"/>
            <a:ext cx="764381" cy="73723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indent="-342900" algn="ctr"/>
            <a:r>
              <a:rPr lang="zh-CN" altLang="en-US" sz="1400" i="1" dirty="0" smtClean="0"/>
              <a:t>每项</a:t>
            </a:r>
            <a:endParaRPr lang="en-US" altLang="zh-CN" sz="1400" i="1" dirty="0" smtClean="0"/>
          </a:p>
          <a:p>
            <a:pPr marL="342900" indent="-342900" algn="ctr"/>
            <a:r>
              <a:rPr lang="en-US" sz="1400" i="1" dirty="0" smtClean="0"/>
              <a:t>4 </a:t>
            </a:r>
            <a:r>
              <a:rPr lang="en-US" sz="1400" i="1" dirty="0"/>
              <a:t>KB</a:t>
            </a:r>
            <a:endParaRPr lang="en-US" sz="1400" i="1" dirty="0"/>
          </a:p>
          <a:p>
            <a:pPr marL="342900" indent="-342900" algn="ctr"/>
            <a:r>
              <a:rPr lang="zh-CN" altLang="en-US" sz="1400" i="1" dirty="0" smtClean="0"/>
              <a:t>区域</a:t>
            </a:r>
            <a:endParaRPr lang="en-US" sz="14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Core i7 </a:t>
            </a:r>
            <a:r>
              <a:rPr lang="en-GB" dirty="0" smtClean="0"/>
              <a:t>1-3 </a:t>
            </a:r>
            <a:r>
              <a:rPr lang="zh-CN" altLang="en-US" dirty="0" smtClean="0"/>
              <a:t>级页表项</a:t>
            </a:r>
            <a:endParaRPr lang="en-GB" dirty="0"/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4038600" y="2000250"/>
            <a:ext cx="2000250" cy="28575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zh-CN" altLang="en-US" sz="1050" dirty="0" smtClean="0">
                <a:latin typeface="Calibri" pitchFamily="34" charset="0"/>
                <a:ea typeface="msgothic" charset="0"/>
                <a:cs typeface="msgothic" charset="0"/>
              </a:rPr>
              <a:t>页表物理基址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6038850" y="2000250"/>
            <a:ext cx="742950" cy="28575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zh-CN" altLang="en-US" sz="1050" dirty="0" smtClean="0">
                <a:latin typeface="Calibri" pitchFamily="34" charset="0"/>
                <a:ea typeface="msgothic" charset="0"/>
                <a:cs typeface="msgothic" charset="0"/>
              </a:rPr>
              <a:t>未使用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6781800" y="2000250"/>
            <a:ext cx="285750" cy="28575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G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7067550" y="2000250"/>
            <a:ext cx="285750" cy="28575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PS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7353300" y="2000250"/>
            <a:ext cx="285750" cy="28575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auto">
          <a:xfrm>
            <a:off x="7639050" y="2000250"/>
            <a:ext cx="285750" cy="28575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A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7924800" y="2000250"/>
            <a:ext cx="285750" cy="28575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CD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8210550" y="2000250"/>
            <a:ext cx="285750" cy="28575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WT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8496300" y="2000250"/>
            <a:ext cx="285750" cy="28575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U/S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51" name="Rectangle 11"/>
          <p:cNvSpPr>
            <a:spLocks noChangeArrowheads="1"/>
          </p:cNvSpPr>
          <p:nvPr/>
        </p:nvSpPr>
        <p:spPr bwMode="auto">
          <a:xfrm>
            <a:off x="8782050" y="2000250"/>
            <a:ext cx="285750" cy="28575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R/W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52" name="Rectangle 12"/>
          <p:cNvSpPr>
            <a:spLocks noChangeArrowheads="1"/>
          </p:cNvSpPr>
          <p:nvPr/>
        </p:nvSpPr>
        <p:spPr bwMode="auto">
          <a:xfrm>
            <a:off x="9067800" y="2000250"/>
            <a:ext cx="285750" cy="28575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P=1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3009900" y="2891602"/>
            <a:ext cx="5200650" cy="249337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>
            <a:spAutoFit/>
          </a:bodyPr>
          <a:lstStyle/>
          <a:p>
            <a:pPr marL="255905" indent="-255905">
              <a:lnSpc>
                <a:spcPct val="88000"/>
              </a:lnSpc>
              <a:spcBef>
                <a:spcPts val="900"/>
              </a:spcBef>
              <a:tabLst>
                <a:tab pos="255905" algn="l"/>
                <a:tab pos="941705" algn="l"/>
                <a:tab pos="1627505" algn="l"/>
                <a:tab pos="2313305" algn="l"/>
                <a:tab pos="2999105" algn="l"/>
                <a:tab pos="3684905" algn="l"/>
                <a:tab pos="4370705" algn="l"/>
                <a:tab pos="5056505" algn="l"/>
                <a:tab pos="5742305" algn="l"/>
                <a:tab pos="6428105" algn="l"/>
                <a:tab pos="7113905" algn="l"/>
                <a:tab pos="7799705" algn="l"/>
              </a:tabLst>
            </a:pPr>
            <a:r>
              <a:rPr lang="zh-CN" altLang="en-US" sz="1500" dirty="0" smtClean="0">
                <a:latin typeface="Calibri" pitchFamily="34" charset="0"/>
                <a:ea typeface="msgothic" charset="0"/>
                <a:cs typeface="msgothic" charset="0"/>
              </a:rPr>
              <a:t>每项引用一个</a:t>
            </a:r>
            <a:r>
              <a:rPr lang="en-US" altLang="zh-CN" sz="1500" dirty="0" smtClean="0">
                <a:latin typeface="Calibri" pitchFamily="34" charset="0"/>
                <a:ea typeface="msgothic" charset="0"/>
                <a:cs typeface="msgothic" charset="0"/>
              </a:rPr>
              <a:t>4K</a:t>
            </a:r>
            <a:r>
              <a:rPr lang="zh-CN" altLang="en-US" sz="1500" dirty="0" smtClean="0">
                <a:latin typeface="Calibri" pitchFamily="34" charset="0"/>
                <a:ea typeface="msgothic" charset="0"/>
                <a:cs typeface="msgothic" charset="0"/>
              </a:rPr>
              <a:t>的子页表。重要字段：</a:t>
            </a:r>
            <a:endParaRPr lang="en-GB" sz="1500" dirty="0">
              <a:latin typeface="Calibri" pitchFamily="34" charset="0"/>
              <a:ea typeface="msgothic" charset="0"/>
              <a:cs typeface="msgothic" charset="0"/>
            </a:endParaRPr>
          </a:p>
          <a:p>
            <a:pPr marL="255905" indent="-255905">
              <a:lnSpc>
                <a:spcPct val="88000"/>
              </a:lnSpc>
              <a:spcBef>
                <a:spcPts val="900"/>
              </a:spcBef>
              <a:tabLst>
                <a:tab pos="255905" algn="l"/>
                <a:tab pos="941705" algn="l"/>
                <a:tab pos="1627505" algn="l"/>
                <a:tab pos="2313305" algn="l"/>
                <a:tab pos="2999105" algn="l"/>
                <a:tab pos="3684905" algn="l"/>
                <a:tab pos="4370705" algn="l"/>
                <a:tab pos="5056505" algn="l"/>
                <a:tab pos="5742305" algn="l"/>
                <a:tab pos="6428105" algn="l"/>
                <a:tab pos="7113905" algn="l"/>
                <a:tab pos="7799705" algn="l"/>
              </a:tabLst>
            </a:pPr>
            <a:r>
              <a:rPr lang="en-GB" sz="1200" dirty="0" smtClean="0">
                <a:latin typeface="Calibri" pitchFamily="34" charset="0"/>
                <a:ea typeface="msgothic" charset="0"/>
                <a:cs typeface="msgothic" charset="0"/>
              </a:rPr>
              <a:t>P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：子页表在（</a:t>
            </a:r>
            <a:r>
              <a:rPr lang="en-US" altLang="zh-CN" sz="1200" dirty="0" smtClean="0">
                <a:latin typeface="Calibri" pitchFamily="34" charset="0"/>
                <a:ea typeface="msgothic" charset="0"/>
                <a:cs typeface="msgothic" charset="0"/>
              </a:rPr>
              <a:t>1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）或不在（</a:t>
            </a:r>
            <a:r>
              <a:rPr lang="en-US" altLang="zh-CN" sz="1200" dirty="0" smtClean="0">
                <a:latin typeface="Calibri" pitchFamily="34" charset="0"/>
                <a:ea typeface="msgothic" charset="0"/>
                <a:cs typeface="msgothic" charset="0"/>
              </a:rPr>
              <a:t>0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）物理内存中</a:t>
            </a:r>
            <a:endParaRPr lang="en-GB" sz="1200" dirty="0">
              <a:latin typeface="Calibri" pitchFamily="34" charset="0"/>
              <a:ea typeface="msgothic" charset="0"/>
              <a:cs typeface="msgothic" charset="0"/>
            </a:endParaRPr>
          </a:p>
          <a:p>
            <a:pPr marL="255905" indent="-255905">
              <a:lnSpc>
                <a:spcPct val="88000"/>
              </a:lnSpc>
              <a:spcBef>
                <a:spcPts val="900"/>
              </a:spcBef>
              <a:tabLst>
                <a:tab pos="255905" algn="l"/>
                <a:tab pos="941705" algn="l"/>
                <a:tab pos="1627505" algn="l"/>
                <a:tab pos="2313305" algn="l"/>
                <a:tab pos="2999105" algn="l"/>
                <a:tab pos="3684905" algn="l"/>
                <a:tab pos="4370705" algn="l"/>
                <a:tab pos="5056505" algn="l"/>
                <a:tab pos="5742305" algn="l"/>
                <a:tab pos="6428105" algn="l"/>
                <a:tab pos="7113905" algn="l"/>
                <a:tab pos="7799705" algn="l"/>
              </a:tabLst>
            </a:pPr>
            <a:r>
              <a:rPr lang="en-GB" sz="1200" dirty="0" smtClean="0">
                <a:latin typeface="Calibri" pitchFamily="34" charset="0"/>
                <a:ea typeface="msgothic" charset="0"/>
                <a:cs typeface="msgothic" charset="0"/>
              </a:rPr>
              <a:t>R/W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：对所有可访问页，只读或读写的访问权限</a:t>
            </a:r>
            <a:endParaRPr lang="en-GB" sz="1200" dirty="0">
              <a:latin typeface="Calibri" pitchFamily="34" charset="0"/>
              <a:ea typeface="msgothic" charset="0"/>
              <a:cs typeface="msgothic" charset="0"/>
            </a:endParaRPr>
          </a:p>
          <a:p>
            <a:pPr marL="255905" indent="-255905">
              <a:lnSpc>
                <a:spcPct val="88000"/>
              </a:lnSpc>
              <a:spcBef>
                <a:spcPts val="900"/>
              </a:spcBef>
              <a:tabLst>
                <a:tab pos="255905" algn="l"/>
                <a:tab pos="941705" algn="l"/>
                <a:tab pos="1627505" algn="l"/>
                <a:tab pos="2313305" algn="l"/>
                <a:tab pos="2999105" algn="l"/>
                <a:tab pos="3684905" algn="l"/>
                <a:tab pos="4370705" algn="l"/>
                <a:tab pos="5056505" algn="l"/>
                <a:tab pos="5742305" algn="l"/>
                <a:tab pos="6428105" algn="l"/>
                <a:tab pos="7113905" algn="l"/>
                <a:tab pos="7799705" algn="l"/>
              </a:tabLst>
            </a:pPr>
            <a:r>
              <a:rPr lang="en-GB" sz="1200" dirty="0" smtClean="0">
                <a:latin typeface="Calibri" pitchFamily="34" charset="0"/>
                <a:ea typeface="msgothic" charset="0"/>
                <a:cs typeface="msgothic" charset="0"/>
              </a:rPr>
              <a:t>U/S</a:t>
            </a:r>
            <a:r>
              <a:rPr lang="zh-CN" altLang="en-US" sz="1200" dirty="0">
                <a:latin typeface="Calibri" pitchFamily="34" charset="0"/>
                <a:ea typeface="msgothic" charset="0"/>
                <a:cs typeface="msgothic" charset="0"/>
              </a:rPr>
              <a:t>：对所有可访问页， 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用户或超级用户（内核）模式的访问权限</a:t>
            </a:r>
            <a:endParaRPr lang="en-GB" sz="1200" dirty="0">
              <a:latin typeface="Calibri" pitchFamily="34" charset="0"/>
              <a:ea typeface="msgothic" charset="0"/>
              <a:cs typeface="msgothic" charset="0"/>
            </a:endParaRPr>
          </a:p>
          <a:p>
            <a:pPr marL="255905" indent="-255905">
              <a:lnSpc>
                <a:spcPct val="88000"/>
              </a:lnSpc>
              <a:spcBef>
                <a:spcPts val="900"/>
              </a:spcBef>
              <a:tabLst>
                <a:tab pos="255905" algn="l"/>
                <a:tab pos="941705" algn="l"/>
                <a:tab pos="1627505" algn="l"/>
                <a:tab pos="2313305" algn="l"/>
                <a:tab pos="2999105" algn="l"/>
                <a:tab pos="3684905" algn="l"/>
                <a:tab pos="4370705" algn="l"/>
                <a:tab pos="5056505" algn="l"/>
                <a:tab pos="5742305" algn="l"/>
                <a:tab pos="6428105" algn="l"/>
                <a:tab pos="7113905" algn="l"/>
                <a:tab pos="7799705" algn="l"/>
              </a:tabLst>
            </a:pPr>
            <a:r>
              <a:rPr lang="en-GB" sz="1200" dirty="0" smtClean="0">
                <a:latin typeface="Calibri" pitchFamily="34" charset="0"/>
                <a:ea typeface="msgothic" charset="0"/>
                <a:cs typeface="msgothic" charset="0"/>
              </a:rPr>
              <a:t>WT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：子页表的通写或回写的缓存策略</a:t>
            </a:r>
            <a:r>
              <a:rPr lang="en-GB" sz="1200" dirty="0" smtClean="0">
                <a:latin typeface="Calibri" pitchFamily="34" charset="0"/>
                <a:ea typeface="msgothic" charset="0"/>
                <a:cs typeface="msgothic" charset="0"/>
              </a:rPr>
              <a:t> </a:t>
            </a:r>
            <a:endParaRPr lang="en-GB" sz="1200" dirty="0">
              <a:latin typeface="Calibri" pitchFamily="34" charset="0"/>
              <a:ea typeface="msgothic" charset="0"/>
              <a:cs typeface="msgothic" charset="0"/>
            </a:endParaRPr>
          </a:p>
          <a:p>
            <a:pPr marL="255905" indent="-255905">
              <a:lnSpc>
                <a:spcPct val="88000"/>
              </a:lnSpc>
              <a:spcBef>
                <a:spcPts val="900"/>
              </a:spcBef>
              <a:tabLst>
                <a:tab pos="255905" algn="l"/>
                <a:tab pos="941705" algn="l"/>
                <a:tab pos="1627505" algn="l"/>
                <a:tab pos="2313305" algn="l"/>
                <a:tab pos="2999105" algn="l"/>
                <a:tab pos="3684905" algn="l"/>
                <a:tab pos="4370705" algn="l"/>
                <a:tab pos="5056505" algn="l"/>
                <a:tab pos="5742305" algn="l"/>
                <a:tab pos="6428105" algn="l"/>
                <a:tab pos="7113905" algn="l"/>
                <a:tab pos="7799705" algn="l"/>
              </a:tabLst>
            </a:pPr>
            <a:r>
              <a:rPr lang="en-GB" sz="1200" dirty="0" smtClean="0">
                <a:latin typeface="Calibri" pitchFamily="34" charset="0"/>
                <a:ea typeface="msgothic" charset="0"/>
                <a:cs typeface="msgothic" charset="0"/>
              </a:rPr>
              <a:t>A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：引用位（由</a:t>
            </a:r>
            <a:r>
              <a:rPr lang="en-US" altLang="zh-CN" sz="1200" dirty="0" smtClean="0">
                <a:latin typeface="Calibri" pitchFamily="34" charset="0"/>
                <a:ea typeface="msgothic" charset="0"/>
                <a:cs typeface="msgothic" charset="0"/>
              </a:rPr>
              <a:t>MMU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在读和写时设置，软件清除）</a:t>
            </a:r>
            <a:endParaRPr lang="en-GB" sz="1200" dirty="0">
              <a:latin typeface="Calibri" pitchFamily="34" charset="0"/>
              <a:ea typeface="msgothic" charset="0"/>
              <a:cs typeface="msgothic" charset="0"/>
            </a:endParaRPr>
          </a:p>
          <a:p>
            <a:pPr marL="255905" indent="-255905">
              <a:lnSpc>
                <a:spcPct val="88000"/>
              </a:lnSpc>
              <a:spcBef>
                <a:spcPts val="900"/>
              </a:spcBef>
              <a:tabLst>
                <a:tab pos="255905" algn="l"/>
                <a:tab pos="941705" algn="l"/>
                <a:tab pos="1627505" algn="l"/>
                <a:tab pos="2313305" algn="l"/>
                <a:tab pos="2999105" algn="l"/>
                <a:tab pos="3684905" algn="l"/>
                <a:tab pos="4370705" algn="l"/>
                <a:tab pos="5056505" algn="l"/>
                <a:tab pos="5742305" algn="l"/>
                <a:tab pos="6428105" algn="l"/>
                <a:tab pos="7113905" algn="l"/>
                <a:tab pos="7799705" algn="l"/>
              </a:tabLst>
            </a:pPr>
            <a:r>
              <a:rPr lang="en-GB" sz="1200" dirty="0" smtClean="0">
                <a:latin typeface="Calibri" pitchFamily="34" charset="0"/>
                <a:ea typeface="msgothic" charset="0"/>
                <a:cs typeface="msgothic" charset="0"/>
              </a:rPr>
              <a:t>PS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：页大小为</a:t>
            </a:r>
            <a:r>
              <a:rPr lang="en-US" altLang="zh-CN" sz="1200" dirty="0" smtClean="0">
                <a:latin typeface="Calibri" pitchFamily="34" charset="0"/>
                <a:ea typeface="msgothic" charset="0"/>
                <a:cs typeface="msgothic" charset="0"/>
              </a:rPr>
              <a:t>4KB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或</a:t>
            </a:r>
            <a:r>
              <a:rPr lang="en-US" altLang="zh-CN" sz="1200" dirty="0" smtClean="0">
                <a:latin typeface="Calibri" pitchFamily="34" charset="0"/>
                <a:ea typeface="msgothic" charset="0"/>
                <a:cs typeface="msgothic" charset="0"/>
              </a:rPr>
              <a:t>4MB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（只对第一级</a:t>
            </a:r>
            <a:r>
              <a:rPr lang="en-US" altLang="zh-CN" sz="1200" dirty="0" smtClean="0">
                <a:latin typeface="Calibri" pitchFamily="34" charset="0"/>
                <a:ea typeface="msgothic" charset="0"/>
                <a:cs typeface="msgothic" charset="0"/>
              </a:rPr>
              <a:t>PTE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定义）</a:t>
            </a:r>
            <a:endParaRPr lang="en-GB" sz="1200" dirty="0">
              <a:latin typeface="Calibri" pitchFamily="34" charset="0"/>
              <a:ea typeface="msgothic" charset="0"/>
              <a:cs typeface="msgothic" charset="0"/>
            </a:endParaRPr>
          </a:p>
          <a:p>
            <a:pPr marL="255905" indent="-255905">
              <a:lnSpc>
                <a:spcPct val="88000"/>
              </a:lnSpc>
              <a:spcBef>
                <a:spcPts val="900"/>
              </a:spcBef>
              <a:tabLst>
                <a:tab pos="255905" algn="l"/>
                <a:tab pos="941705" algn="l"/>
                <a:tab pos="1627505" algn="l"/>
                <a:tab pos="2313305" algn="l"/>
                <a:tab pos="2999105" algn="l"/>
                <a:tab pos="3684905" algn="l"/>
                <a:tab pos="4370705" algn="l"/>
                <a:tab pos="5056505" algn="l"/>
                <a:tab pos="5742305" algn="l"/>
                <a:tab pos="6428105" algn="l"/>
                <a:tab pos="7113905" algn="l"/>
                <a:tab pos="7799705" algn="l"/>
              </a:tabLst>
            </a:pP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页表物理基址：物理页表地址的最高</a:t>
            </a:r>
            <a:r>
              <a:rPr lang="en-US" altLang="zh-CN" sz="1200" dirty="0" smtClean="0">
                <a:latin typeface="Calibri" pitchFamily="34" charset="0"/>
                <a:ea typeface="msgothic" charset="0"/>
                <a:cs typeface="msgothic" charset="0"/>
              </a:rPr>
              <a:t>40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位（强制页表按</a:t>
            </a:r>
            <a:r>
              <a:rPr lang="en-US" altLang="zh-CN" sz="1200" dirty="0" smtClean="0">
                <a:latin typeface="Calibri" pitchFamily="34" charset="0"/>
                <a:ea typeface="msgothic" charset="0"/>
                <a:cs typeface="msgothic" charset="0"/>
              </a:rPr>
              <a:t>4KB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对齐）</a:t>
            </a:r>
            <a:endParaRPr lang="en-GB" sz="1200" dirty="0">
              <a:latin typeface="Calibri" pitchFamily="34" charset="0"/>
              <a:ea typeface="msgothic" charset="0"/>
              <a:cs typeface="msgothic" charset="0"/>
            </a:endParaRPr>
          </a:p>
          <a:p>
            <a:pPr marL="255905" indent="-255905">
              <a:lnSpc>
                <a:spcPct val="88000"/>
              </a:lnSpc>
              <a:spcBef>
                <a:spcPts val="900"/>
              </a:spcBef>
              <a:tabLst>
                <a:tab pos="255905" algn="l"/>
                <a:tab pos="941705" algn="l"/>
                <a:tab pos="1627505" algn="l"/>
                <a:tab pos="2313305" algn="l"/>
                <a:tab pos="2999105" algn="l"/>
                <a:tab pos="3684905" algn="l"/>
                <a:tab pos="4370705" algn="l"/>
                <a:tab pos="5056505" algn="l"/>
                <a:tab pos="5742305" algn="l"/>
                <a:tab pos="6428105" algn="l"/>
                <a:tab pos="7113905" algn="l"/>
                <a:tab pos="7799705" algn="l"/>
              </a:tabLst>
            </a:pPr>
            <a:r>
              <a:rPr lang="en-GB" sz="1200" dirty="0" smtClean="0">
                <a:latin typeface="Calibri" pitchFamily="34" charset="0"/>
                <a:ea typeface="msgothic" charset="0"/>
                <a:cs typeface="msgothic" charset="0"/>
              </a:rPr>
              <a:t>XD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：禁止</a:t>
            </a:r>
            <a:r>
              <a:rPr lang="en-US" altLang="zh-CN" sz="1200" dirty="0" smtClean="0">
                <a:latin typeface="Calibri" pitchFamily="34" charset="0"/>
                <a:ea typeface="msgothic" charset="0"/>
                <a:cs typeface="msgothic" charset="0"/>
              </a:rPr>
              <a:t>/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允许从这个</a:t>
            </a:r>
            <a:r>
              <a:rPr lang="zh-CN" altLang="en-US" sz="1200" dirty="0">
                <a:latin typeface="Calibri" pitchFamily="34" charset="0"/>
                <a:ea typeface="msgothic" charset="0"/>
                <a:cs typeface="msgothic" charset="0"/>
              </a:rPr>
              <a:t>页表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项可以访问的所有页中取指</a:t>
            </a:r>
            <a:endParaRPr lang="en-GB" sz="120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3993844" y="1828802"/>
            <a:ext cx="274722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51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5809061" y="1832024"/>
            <a:ext cx="274722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12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56" name="Text Box 16"/>
          <p:cNvSpPr txBox="1">
            <a:spLocks noChangeArrowheads="1"/>
          </p:cNvSpPr>
          <p:nvPr/>
        </p:nvSpPr>
        <p:spPr bwMode="auto">
          <a:xfrm>
            <a:off x="5984083" y="1832024"/>
            <a:ext cx="274722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11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57" name="Text Box 17"/>
          <p:cNvSpPr txBox="1">
            <a:spLocks noChangeArrowheads="1"/>
          </p:cNvSpPr>
          <p:nvPr/>
        </p:nvSpPr>
        <p:spPr bwMode="auto">
          <a:xfrm>
            <a:off x="6609161" y="1832024"/>
            <a:ext cx="205793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9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58" name="Text Box 18"/>
          <p:cNvSpPr txBox="1">
            <a:spLocks noChangeArrowheads="1"/>
          </p:cNvSpPr>
          <p:nvPr/>
        </p:nvSpPr>
        <p:spPr bwMode="auto">
          <a:xfrm>
            <a:off x="6838952" y="1832024"/>
            <a:ext cx="205793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8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59" name="Text Box 19"/>
          <p:cNvSpPr txBox="1">
            <a:spLocks noChangeArrowheads="1"/>
          </p:cNvSpPr>
          <p:nvPr/>
        </p:nvSpPr>
        <p:spPr bwMode="auto">
          <a:xfrm>
            <a:off x="7124702" y="1832024"/>
            <a:ext cx="205793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7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60" name="Text Box 20"/>
          <p:cNvSpPr txBox="1">
            <a:spLocks noChangeArrowheads="1"/>
          </p:cNvSpPr>
          <p:nvPr/>
        </p:nvSpPr>
        <p:spPr bwMode="auto">
          <a:xfrm>
            <a:off x="7372352" y="1832024"/>
            <a:ext cx="205793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6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61" name="Text Box 21"/>
          <p:cNvSpPr txBox="1">
            <a:spLocks noChangeArrowheads="1"/>
          </p:cNvSpPr>
          <p:nvPr/>
        </p:nvSpPr>
        <p:spPr bwMode="auto">
          <a:xfrm>
            <a:off x="7686677" y="1832024"/>
            <a:ext cx="205793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5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62" name="Text Box 22"/>
          <p:cNvSpPr txBox="1">
            <a:spLocks noChangeArrowheads="1"/>
          </p:cNvSpPr>
          <p:nvPr/>
        </p:nvSpPr>
        <p:spPr bwMode="auto">
          <a:xfrm>
            <a:off x="7981952" y="1832024"/>
            <a:ext cx="205793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4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63" name="Text Box 23"/>
          <p:cNvSpPr txBox="1">
            <a:spLocks noChangeArrowheads="1"/>
          </p:cNvSpPr>
          <p:nvPr/>
        </p:nvSpPr>
        <p:spPr bwMode="auto">
          <a:xfrm>
            <a:off x="8267702" y="1832024"/>
            <a:ext cx="205793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3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64" name="Text Box 24"/>
          <p:cNvSpPr txBox="1">
            <a:spLocks noChangeArrowheads="1"/>
          </p:cNvSpPr>
          <p:nvPr/>
        </p:nvSpPr>
        <p:spPr bwMode="auto">
          <a:xfrm>
            <a:off x="8552261" y="1832024"/>
            <a:ext cx="205793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2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65" name="Text Box 25"/>
          <p:cNvSpPr txBox="1">
            <a:spLocks noChangeArrowheads="1"/>
          </p:cNvSpPr>
          <p:nvPr/>
        </p:nvSpPr>
        <p:spPr bwMode="auto">
          <a:xfrm>
            <a:off x="8839202" y="1832024"/>
            <a:ext cx="205793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1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66" name="Text Box 26"/>
          <p:cNvSpPr txBox="1">
            <a:spLocks noChangeArrowheads="1"/>
          </p:cNvSpPr>
          <p:nvPr/>
        </p:nvSpPr>
        <p:spPr bwMode="auto">
          <a:xfrm>
            <a:off x="9124952" y="1832024"/>
            <a:ext cx="205793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0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33" name="Rectangle 3"/>
          <p:cNvSpPr>
            <a:spLocks noChangeArrowheads="1"/>
          </p:cNvSpPr>
          <p:nvPr/>
        </p:nvSpPr>
        <p:spPr bwMode="auto">
          <a:xfrm>
            <a:off x="3295650" y="2000250"/>
            <a:ext cx="742950" cy="28575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zh-CN" altLang="en-US" sz="1050" dirty="0" smtClean="0">
                <a:latin typeface="Calibri" pitchFamily="34" charset="0"/>
                <a:ea typeface="msgothic" charset="0"/>
                <a:cs typeface="msgothic" charset="0"/>
              </a:rPr>
              <a:t>未使用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34" name="Rectangle 4"/>
          <p:cNvSpPr>
            <a:spLocks noChangeArrowheads="1"/>
          </p:cNvSpPr>
          <p:nvPr/>
        </p:nvSpPr>
        <p:spPr bwMode="auto">
          <a:xfrm>
            <a:off x="3009900" y="2000250"/>
            <a:ext cx="285750" cy="28575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XD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35" name="Rectangle 27"/>
          <p:cNvSpPr>
            <a:spLocks noChangeArrowheads="1"/>
          </p:cNvSpPr>
          <p:nvPr/>
        </p:nvSpPr>
        <p:spPr bwMode="auto">
          <a:xfrm>
            <a:off x="3009901" y="2457450"/>
            <a:ext cx="6069806" cy="28575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 smtClean="0">
                <a:latin typeface="Calibri" pitchFamily="34" charset="0"/>
                <a:ea typeface="msgothic" charset="0"/>
                <a:cs typeface="msgothic" charset="0"/>
              </a:rPr>
              <a:t>OS</a:t>
            </a:r>
            <a:r>
              <a:rPr lang="zh-CN" altLang="en-US" sz="1050" dirty="0" smtClean="0">
                <a:latin typeface="Calibri" pitchFamily="34" charset="0"/>
                <a:ea typeface="msgothic" charset="0"/>
                <a:cs typeface="msgothic" charset="0"/>
              </a:rPr>
              <a:t>可用（页表在磁盘的位置）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36" name="Rectangle 28"/>
          <p:cNvSpPr>
            <a:spLocks noChangeArrowheads="1"/>
          </p:cNvSpPr>
          <p:nvPr/>
        </p:nvSpPr>
        <p:spPr bwMode="auto">
          <a:xfrm>
            <a:off x="9079706" y="2457450"/>
            <a:ext cx="285750" cy="28575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P=0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37" name="Text Box 29"/>
          <p:cNvSpPr txBox="1">
            <a:spLocks noChangeArrowheads="1"/>
          </p:cNvSpPr>
          <p:nvPr/>
        </p:nvSpPr>
        <p:spPr bwMode="auto">
          <a:xfrm>
            <a:off x="3810001" y="1828802"/>
            <a:ext cx="274722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52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40" name="Text Box 29"/>
          <p:cNvSpPr txBox="1">
            <a:spLocks noChangeArrowheads="1"/>
          </p:cNvSpPr>
          <p:nvPr/>
        </p:nvSpPr>
        <p:spPr bwMode="auto">
          <a:xfrm>
            <a:off x="3238501" y="1828802"/>
            <a:ext cx="274722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62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41" name="Text Box 29"/>
          <p:cNvSpPr txBox="1">
            <a:spLocks noChangeArrowheads="1"/>
          </p:cNvSpPr>
          <p:nvPr/>
        </p:nvSpPr>
        <p:spPr bwMode="auto">
          <a:xfrm>
            <a:off x="3009901" y="1828802"/>
            <a:ext cx="274722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63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Core i7 </a:t>
            </a:r>
            <a:r>
              <a:rPr lang="en-GB" dirty="0" smtClean="0"/>
              <a:t>4 </a:t>
            </a:r>
            <a:r>
              <a:rPr lang="zh-CN" altLang="en-US" dirty="0" smtClean="0"/>
              <a:t>级页表项</a:t>
            </a:r>
            <a:endParaRPr lang="en-GB" dirty="0"/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4038600" y="2000250"/>
            <a:ext cx="2000250" cy="28575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zh-CN" altLang="en-US" sz="1050" dirty="0" smtClean="0">
                <a:latin typeface="Calibri" pitchFamily="34" charset="0"/>
                <a:ea typeface="msgothic" charset="0"/>
                <a:cs typeface="msgothic" charset="0"/>
              </a:rPr>
              <a:t>页物理基址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6038850" y="2000250"/>
            <a:ext cx="742950" cy="28575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zh-CN" altLang="en-US" sz="1050" dirty="0" smtClean="0">
                <a:latin typeface="Calibri" pitchFamily="34" charset="0"/>
                <a:ea typeface="msgothic" charset="0"/>
                <a:cs typeface="msgothic" charset="0"/>
              </a:rPr>
              <a:t>未使用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6781800" y="2000250"/>
            <a:ext cx="285750" cy="28575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G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7067550" y="2000250"/>
            <a:ext cx="285750" cy="28575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7353300" y="2000250"/>
            <a:ext cx="285750" cy="285750"/>
          </a:xfrm>
          <a:prstGeom prst="rect">
            <a:avLst/>
          </a:prstGeom>
          <a:solidFill>
            <a:srgbClr val="F6D2D2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sz="1050" dirty="0"/>
              <a:t>D</a:t>
            </a:r>
            <a:endParaRPr lang="en-US" sz="1050" dirty="0"/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auto">
          <a:xfrm>
            <a:off x="7639050" y="2000250"/>
            <a:ext cx="285750" cy="285750"/>
          </a:xfrm>
          <a:prstGeom prst="rect">
            <a:avLst/>
          </a:prstGeom>
          <a:solidFill>
            <a:srgbClr val="F6D2D2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A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7924800" y="2000250"/>
            <a:ext cx="285750" cy="28575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CD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8210550" y="2000250"/>
            <a:ext cx="285750" cy="28575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WT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8496300" y="2000250"/>
            <a:ext cx="285750" cy="28575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U/S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51" name="Rectangle 11"/>
          <p:cNvSpPr>
            <a:spLocks noChangeArrowheads="1"/>
          </p:cNvSpPr>
          <p:nvPr/>
        </p:nvSpPr>
        <p:spPr bwMode="auto">
          <a:xfrm>
            <a:off x="8782050" y="2000250"/>
            <a:ext cx="285750" cy="28575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R/W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52" name="Rectangle 12"/>
          <p:cNvSpPr>
            <a:spLocks noChangeArrowheads="1"/>
          </p:cNvSpPr>
          <p:nvPr/>
        </p:nvSpPr>
        <p:spPr bwMode="auto">
          <a:xfrm>
            <a:off x="9067800" y="2000250"/>
            <a:ext cx="285750" cy="28575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P=1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3993844" y="1828802"/>
            <a:ext cx="274722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51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5809061" y="1832024"/>
            <a:ext cx="274722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12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56" name="Text Box 16"/>
          <p:cNvSpPr txBox="1">
            <a:spLocks noChangeArrowheads="1"/>
          </p:cNvSpPr>
          <p:nvPr/>
        </p:nvSpPr>
        <p:spPr bwMode="auto">
          <a:xfrm>
            <a:off x="5984083" y="1832024"/>
            <a:ext cx="274722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11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57" name="Text Box 17"/>
          <p:cNvSpPr txBox="1">
            <a:spLocks noChangeArrowheads="1"/>
          </p:cNvSpPr>
          <p:nvPr/>
        </p:nvSpPr>
        <p:spPr bwMode="auto">
          <a:xfrm>
            <a:off x="6609161" y="1832024"/>
            <a:ext cx="205793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9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58" name="Text Box 18"/>
          <p:cNvSpPr txBox="1">
            <a:spLocks noChangeArrowheads="1"/>
          </p:cNvSpPr>
          <p:nvPr/>
        </p:nvSpPr>
        <p:spPr bwMode="auto">
          <a:xfrm>
            <a:off x="6838952" y="1832024"/>
            <a:ext cx="205793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8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59" name="Text Box 19"/>
          <p:cNvSpPr txBox="1">
            <a:spLocks noChangeArrowheads="1"/>
          </p:cNvSpPr>
          <p:nvPr/>
        </p:nvSpPr>
        <p:spPr bwMode="auto">
          <a:xfrm>
            <a:off x="7124702" y="1832024"/>
            <a:ext cx="205793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7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60" name="Text Box 20"/>
          <p:cNvSpPr txBox="1">
            <a:spLocks noChangeArrowheads="1"/>
          </p:cNvSpPr>
          <p:nvPr/>
        </p:nvSpPr>
        <p:spPr bwMode="auto">
          <a:xfrm>
            <a:off x="7372352" y="1832024"/>
            <a:ext cx="205793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6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61" name="Text Box 21"/>
          <p:cNvSpPr txBox="1">
            <a:spLocks noChangeArrowheads="1"/>
          </p:cNvSpPr>
          <p:nvPr/>
        </p:nvSpPr>
        <p:spPr bwMode="auto">
          <a:xfrm>
            <a:off x="7686677" y="1832024"/>
            <a:ext cx="205793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5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62" name="Text Box 22"/>
          <p:cNvSpPr txBox="1">
            <a:spLocks noChangeArrowheads="1"/>
          </p:cNvSpPr>
          <p:nvPr/>
        </p:nvSpPr>
        <p:spPr bwMode="auto">
          <a:xfrm>
            <a:off x="7981952" y="1832024"/>
            <a:ext cx="205793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4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63" name="Text Box 23"/>
          <p:cNvSpPr txBox="1">
            <a:spLocks noChangeArrowheads="1"/>
          </p:cNvSpPr>
          <p:nvPr/>
        </p:nvSpPr>
        <p:spPr bwMode="auto">
          <a:xfrm>
            <a:off x="8267702" y="1832024"/>
            <a:ext cx="205793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3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64" name="Text Box 24"/>
          <p:cNvSpPr txBox="1">
            <a:spLocks noChangeArrowheads="1"/>
          </p:cNvSpPr>
          <p:nvPr/>
        </p:nvSpPr>
        <p:spPr bwMode="auto">
          <a:xfrm>
            <a:off x="8552261" y="1832024"/>
            <a:ext cx="205793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2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65" name="Text Box 25"/>
          <p:cNvSpPr txBox="1">
            <a:spLocks noChangeArrowheads="1"/>
          </p:cNvSpPr>
          <p:nvPr/>
        </p:nvSpPr>
        <p:spPr bwMode="auto">
          <a:xfrm>
            <a:off x="8839202" y="1832024"/>
            <a:ext cx="205793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1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266" name="Text Box 26"/>
          <p:cNvSpPr txBox="1">
            <a:spLocks noChangeArrowheads="1"/>
          </p:cNvSpPr>
          <p:nvPr/>
        </p:nvSpPr>
        <p:spPr bwMode="auto">
          <a:xfrm>
            <a:off x="9124952" y="1832024"/>
            <a:ext cx="205793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0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33" name="Rectangle 3"/>
          <p:cNvSpPr>
            <a:spLocks noChangeArrowheads="1"/>
          </p:cNvSpPr>
          <p:nvPr/>
        </p:nvSpPr>
        <p:spPr bwMode="auto">
          <a:xfrm>
            <a:off x="3295650" y="2000250"/>
            <a:ext cx="742950" cy="28575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zh-CN" altLang="en-US" sz="1050" dirty="0" smtClean="0">
                <a:latin typeface="Calibri" pitchFamily="34" charset="0"/>
                <a:ea typeface="msgothic" charset="0"/>
                <a:cs typeface="msgothic" charset="0"/>
              </a:rPr>
              <a:t>未使用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34" name="Rectangle 4"/>
          <p:cNvSpPr>
            <a:spLocks noChangeArrowheads="1"/>
          </p:cNvSpPr>
          <p:nvPr/>
        </p:nvSpPr>
        <p:spPr bwMode="auto">
          <a:xfrm>
            <a:off x="3009900" y="2000250"/>
            <a:ext cx="285750" cy="28575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XD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35" name="Rectangle 27"/>
          <p:cNvSpPr>
            <a:spLocks noChangeArrowheads="1"/>
          </p:cNvSpPr>
          <p:nvPr/>
        </p:nvSpPr>
        <p:spPr bwMode="auto">
          <a:xfrm>
            <a:off x="3009901" y="2457450"/>
            <a:ext cx="6069806" cy="28575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altLang="zh-CN" sz="1050" dirty="0">
                <a:latin typeface="Calibri" pitchFamily="34" charset="0"/>
                <a:ea typeface="msgothic" charset="0"/>
                <a:cs typeface="msgothic" charset="0"/>
              </a:rPr>
              <a:t>OS</a:t>
            </a:r>
            <a:r>
              <a:rPr lang="zh-CN" altLang="en-US" sz="1050" dirty="0">
                <a:latin typeface="Calibri" pitchFamily="34" charset="0"/>
                <a:ea typeface="msgothic" charset="0"/>
                <a:cs typeface="msgothic" charset="0"/>
              </a:rPr>
              <a:t>可用（页表在磁盘的位置）</a:t>
            </a:r>
            <a:endParaRPr lang="en-GB" altLang="zh-CN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36" name="Rectangle 28"/>
          <p:cNvSpPr>
            <a:spLocks noChangeArrowheads="1"/>
          </p:cNvSpPr>
          <p:nvPr/>
        </p:nvSpPr>
        <p:spPr bwMode="auto">
          <a:xfrm>
            <a:off x="9079706" y="2457450"/>
            <a:ext cx="285750" cy="28575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P=0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37" name="Text Box 29"/>
          <p:cNvSpPr txBox="1">
            <a:spLocks noChangeArrowheads="1"/>
          </p:cNvSpPr>
          <p:nvPr/>
        </p:nvSpPr>
        <p:spPr bwMode="auto">
          <a:xfrm>
            <a:off x="3810001" y="1828802"/>
            <a:ext cx="274722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52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40" name="Text Box 29"/>
          <p:cNvSpPr txBox="1">
            <a:spLocks noChangeArrowheads="1"/>
          </p:cNvSpPr>
          <p:nvPr/>
        </p:nvSpPr>
        <p:spPr bwMode="auto">
          <a:xfrm>
            <a:off x="3238501" y="1828802"/>
            <a:ext cx="274722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62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41" name="Text Box 29"/>
          <p:cNvSpPr txBox="1">
            <a:spLocks noChangeArrowheads="1"/>
          </p:cNvSpPr>
          <p:nvPr/>
        </p:nvSpPr>
        <p:spPr bwMode="auto">
          <a:xfrm>
            <a:off x="3009901" y="1828802"/>
            <a:ext cx="274722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latin typeface="Calibri" pitchFamily="34" charset="0"/>
                <a:ea typeface="msgothic" charset="0"/>
                <a:cs typeface="msgothic" charset="0"/>
              </a:rPr>
              <a:t>63</a:t>
            </a:r>
            <a:endParaRPr lang="en-GB" sz="105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38" name="Text Box 13"/>
          <p:cNvSpPr txBox="1">
            <a:spLocks noChangeArrowheads="1"/>
          </p:cNvSpPr>
          <p:nvPr/>
        </p:nvSpPr>
        <p:spPr bwMode="auto">
          <a:xfrm>
            <a:off x="3009900" y="2891602"/>
            <a:ext cx="5200650" cy="277127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>
            <a:spAutoFit/>
          </a:bodyPr>
          <a:lstStyle/>
          <a:p>
            <a:pPr marL="255905" indent="-255905">
              <a:lnSpc>
                <a:spcPct val="88000"/>
              </a:lnSpc>
              <a:spcBef>
                <a:spcPts val="900"/>
              </a:spcBef>
              <a:tabLst>
                <a:tab pos="255905" algn="l"/>
                <a:tab pos="941705" algn="l"/>
                <a:tab pos="1627505" algn="l"/>
                <a:tab pos="2313305" algn="l"/>
                <a:tab pos="2999105" algn="l"/>
                <a:tab pos="3684905" algn="l"/>
                <a:tab pos="4370705" algn="l"/>
                <a:tab pos="5056505" algn="l"/>
                <a:tab pos="5742305" algn="l"/>
                <a:tab pos="6428105" algn="l"/>
                <a:tab pos="7113905" algn="l"/>
                <a:tab pos="7799705" algn="l"/>
              </a:tabLst>
            </a:pPr>
            <a:r>
              <a:rPr lang="zh-CN" altLang="en-US" sz="1500" dirty="0" smtClean="0">
                <a:latin typeface="Calibri" pitchFamily="34" charset="0"/>
                <a:ea typeface="msgothic" charset="0"/>
                <a:cs typeface="msgothic" charset="0"/>
              </a:rPr>
              <a:t>每项引用一个</a:t>
            </a:r>
            <a:r>
              <a:rPr lang="en-US" altLang="zh-CN" sz="1500" dirty="0" smtClean="0">
                <a:latin typeface="Calibri" pitchFamily="34" charset="0"/>
                <a:ea typeface="msgothic" charset="0"/>
                <a:cs typeface="msgothic" charset="0"/>
              </a:rPr>
              <a:t>4K</a:t>
            </a:r>
            <a:r>
              <a:rPr lang="zh-CN" altLang="en-US" sz="1500" dirty="0" smtClean="0">
                <a:latin typeface="Calibri" pitchFamily="34" charset="0"/>
                <a:ea typeface="msgothic" charset="0"/>
                <a:cs typeface="msgothic" charset="0"/>
              </a:rPr>
              <a:t>的子页表。重要字段：</a:t>
            </a:r>
            <a:endParaRPr lang="en-GB" sz="1500" dirty="0">
              <a:latin typeface="Calibri" pitchFamily="34" charset="0"/>
              <a:ea typeface="msgothic" charset="0"/>
              <a:cs typeface="msgothic" charset="0"/>
            </a:endParaRPr>
          </a:p>
          <a:p>
            <a:pPr marL="255905" indent="-255905">
              <a:lnSpc>
                <a:spcPct val="88000"/>
              </a:lnSpc>
              <a:spcBef>
                <a:spcPts val="900"/>
              </a:spcBef>
              <a:tabLst>
                <a:tab pos="255905" algn="l"/>
                <a:tab pos="941705" algn="l"/>
                <a:tab pos="1627505" algn="l"/>
                <a:tab pos="2313305" algn="l"/>
                <a:tab pos="2999105" algn="l"/>
                <a:tab pos="3684905" algn="l"/>
                <a:tab pos="4370705" algn="l"/>
                <a:tab pos="5056505" algn="l"/>
                <a:tab pos="5742305" algn="l"/>
                <a:tab pos="6428105" algn="l"/>
                <a:tab pos="7113905" algn="l"/>
                <a:tab pos="7799705" algn="l"/>
              </a:tabLst>
            </a:pPr>
            <a:r>
              <a:rPr lang="en-GB" sz="1200" dirty="0" smtClean="0">
                <a:latin typeface="Calibri" pitchFamily="34" charset="0"/>
                <a:ea typeface="msgothic" charset="0"/>
                <a:cs typeface="msgothic" charset="0"/>
              </a:rPr>
              <a:t>P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：子页表在（</a:t>
            </a:r>
            <a:r>
              <a:rPr lang="en-US" altLang="zh-CN" sz="1200" dirty="0" smtClean="0">
                <a:latin typeface="Calibri" pitchFamily="34" charset="0"/>
                <a:ea typeface="msgothic" charset="0"/>
                <a:cs typeface="msgothic" charset="0"/>
              </a:rPr>
              <a:t>1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）或不在（</a:t>
            </a:r>
            <a:r>
              <a:rPr lang="en-US" altLang="zh-CN" sz="1200" dirty="0" smtClean="0">
                <a:latin typeface="Calibri" pitchFamily="34" charset="0"/>
                <a:ea typeface="msgothic" charset="0"/>
                <a:cs typeface="msgothic" charset="0"/>
              </a:rPr>
              <a:t>0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）物理内存中</a:t>
            </a:r>
            <a:endParaRPr lang="en-GB" sz="1200" dirty="0">
              <a:latin typeface="Calibri" pitchFamily="34" charset="0"/>
              <a:ea typeface="msgothic" charset="0"/>
              <a:cs typeface="msgothic" charset="0"/>
            </a:endParaRPr>
          </a:p>
          <a:p>
            <a:pPr marL="255905" indent="-255905">
              <a:lnSpc>
                <a:spcPct val="88000"/>
              </a:lnSpc>
              <a:spcBef>
                <a:spcPts val="900"/>
              </a:spcBef>
              <a:tabLst>
                <a:tab pos="255905" algn="l"/>
                <a:tab pos="941705" algn="l"/>
                <a:tab pos="1627505" algn="l"/>
                <a:tab pos="2313305" algn="l"/>
                <a:tab pos="2999105" algn="l"/>
                <a:tab pos="3684905" algn="l"/>
                <a:tab pos="4370705" algn="l"/>
                <a:tab pos="5056505" algn="l"/>
                <a:tab pos="5742305" algn="l"/>
                <a:tab pos="6428105" algn="l"/>
                <a:tab pos="7113905" algn="l"/>
                <a:tab pos="7799705" algn="l"/>
              </a:tabLst>
            </a:pPr>
            <a:r>
              <a:rPr lang="en-GB" sz="1200" dirty="0" smtClean="0">
                <a:latin typeface="Calibri" pitchFamily="34" charset="0"/>
                <a:ea typeface="msgothic" charset="0"/>
                <a:cs typeface="msgothic" charset="0"/>
              </a:rPr>
              <a:t>R/W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：对子页，只读或读写的访问权限</a:t>
            </a:r>
            <a:endParaRPr lang="en-GB" sz="1200" dirty="0">
              <a:latin typeface="Calibri" pitchFamily="34" charset="0"/>
              <a:ea typeface="msgothic" charset="0"/>
              <a:cs typeface="msgothic" charset="0"/>
            </a:endParaRPr>
          </a:p>
          <a:p>
            <a:pPr marL="255905" indent="-255905">
              <a:lnSpc>
                <a:spcPct val="88000"/>
              </a:lnSpc>
              <a:spcBef>
                <a:spcPts val="900"/>
              </a:spcBef>
              <a:tabLst>
                <a:tab pos="255905" algn="l"/>
                <a:tab pos="941705" algn="l"/>
                <a:tab pos="1627505" algn="l"/>
                <a:tab pos="2313305" algn="l"/>
                <a:tab pos="2999105" algn="l"/>
                <a:tab pos="3684905" algn="l"/>
                <a:tab pos="4370705" algn="l"/>
                <a:tab pos="5056505" algn="l"/>
                <a:tab pos="5742305" algn="l"/>
                <a:tab pos="6428105" algn="l"/>
                <a:tab pos="7113905" algn="l"/>
                <a:tab pos="7799705" algn="l"/>
              </a:tabLst>
            </a:pPr>
            <a:r>
              <a:rPr lang="en-GB" sz="1200" dirty="0" smtClean="0">
                <a:latin typeface="Calibri" pitchFamily="34" charset="0"/>
                <a:ea typeface="msgothic" charset="0"/>
                <a:cs typeface="msgothic" charset="0"/>
              </a:rPr>
              <a:t>U/S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：用户或超级用户（内核）模式的访问权限</a:t>
            </a:r>
            <a:endParaRPr lang="en-GB" sz="1200" dirty="0">
              <a:latin typeface="Calibri" pitchFamily="34" charset="0"/>
              <a:ea typeface="msgothic" charset="0"/>
              <a:cs typeface="msgothic" charset="0"/>
            </a:endParaRPr>
          </a:p>
          <a:p>
            <a:pPr marL="255905" indent="-255905">
              <a:lnSpc>
                <a:spcPct val="88000"/>
              </a:lnSpc>
              <a:spcBef>
                <a:spcPts val="900"/>
              </a:spcBef>
              <a:tabLst>
                <a:tab pos="255905" algn="l"/>
                <a:tab pos="941705" algn="l"/>
                <a:tab pos="1627505" algn="l"/>
                <a:tab pos="2313305" algn="l"/>
                <a:tab pos="2999105" algn="l"/>
                <a:tab pos="3684905" algn="l"/>
                <a:tab pos="4370705" algn="l"/>
                <a:tab pos="5056505" algn="l"/>
                <a:tab pos="5742305" algn="l"/>
                <a:tab pos="6428105" algn="l"/>
                <a:tab pos="7113905" algn="l"/>
                <a:tab pos="7799705" algn="l"/>
              </a:tabLst>
            </a:pPr>
            <a:r>
              <a:rPr lang="en-GB" sz="1200" dirty="0" smtClean="0">
                <a:latin typeface="Calibri" pitchFamily="34" charset="0"/>
                <a:ea typeface="msgothic" charset="0"/>
                <a:cs typeface="msgothic" charset="0"/>
              </a:rPr>
              <a:t>WT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：页的通写或回写缓存策略</a:t>
            </a:r>
            <a:r>
              <a:rPr lang="en-GB" sz="1200" dirty="0" smtClean="0">
                <a:latin typeface="Calibri" pitchFamily="34" charset="0"/>
                <a:ea typeface="msgothic" charset="0"/>
                <a:cs typeface="msgothic" charset="0"/>
              </a:rPr>
              <a:t> </a:t>
            </a:r>
            <a:endParaRPr lang="en-GB" sz="1200" dirty="0">
              <a:latin typeface="Calibri" pitchFamily="34" charset="0"/>
              <a:ea typeface="msgothic" charset="0"/>
              <a:cs typeface="msgothic" charset="0"/>
            </a:endParaRPr>
          </a:p>
          <a:p>
            <a:pPr marL="255905" indent="-255905">
              <a:lnSpc>
                <a:spcPct val="88000"/>
              </a:lnSpc>
              <a:spcBef>
                <a:spcPts val="900"/>
              </a:spcBef>
              <a:tabLst>
                <a:tab pos="255905" algn="l"/>
                <a:tab pos="941705" algn="l"/>
                <a:tab pos="1627505" algn="l"/>
                <a:tab pos="2313305" algn="l"/>
                <a:tab pos="2999105" algn="l"/>
                <a:tab pos="3684905" algn="l"/>
                <a:tab pos="4370705" algn="l"/>
                <a:tab pos="5056505" algn="l"/>
                <a:tab pos="5742305" algn="l"/>
                <a:tab pos="6428105" algn="l"/>
                <a:tab pos="7113905" algn="l"/>
                <a:tab pos="7799705" algn="l"/>
              </a:tabLst>
            </a:pPr>
            <a:r>
              <a:rPr lang="en-GB" sz="1200" dirty="0" smtClean="0">
                <a:latin typeface="Calibri" pitchFamily="34" charset="0"/>
                <a:ea typeface="msgothic" charset="0"/>
                <a:cs typeface="msgothic" charset="0"/>
              </a:rPr>
              <a:t>A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：引用位（由</a:t>
            </a:r>
            <a:r>
              <a:rPr lang="en-US" altLang="zh-CN" sz="1200" dirty="0" smtClean="0">
                <a:latin typeface="Calibri" pitchFamily="34" charset="0"/>
                <a:ea typeface="msgothic" charset="0"/>
                <a:cs typeface="msgothic" charset="0"/>
              </a:rPr>
              <a:t>MMU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在读和写时设置，软件清除）</a:t>
            </a:r>
            <a:endParaRPr lang="en-GB" sz="1200" dirty="0">
              <a:latin typeface="Calibri" pitchFamily="34" charset="0"/>
              <a:ea typeface="msgothic" charset="0"/>
              <a:cs typeface="msgothic" charset="0"/>
            </a:endParaRPr>
          </a:p>
          <a:p>
            <a:pPr marL="255905" indent="-255905">
              <a:lnSpc>
                <a:spcPct val="88000"/>
              </a:lnSpc>
              <a:spcBef>
                <a:spcPts val="900"/>
              </a:spcBef>
              <a:tabLst>
                <a:tab pos="255905" algn="l"/>
                <a:tab pos="941705" algn="l"/>
                <a:tab pos="1627505" algn="l"/>
                <a:tab pos="2313305" algn="l"/>
                <a:tab pos="2999105" algn="l"/>
                <a:tab pos="3684905" algn="l"/>
                <a:tab pos="4370705" algn="l"/>
                <a:tab pos="5056505" algn="l"/>
                <a:tab pos="5742305" algn="l"/>
                <a:tab pos="6428105" algn="l"/>
                <a:tab pos="7113905" algn="l"/>
                <a:tab pos="7799705" algn="l"/>
              </a:tabLst>
            </a:pPr>
            <a:r>
              <a:rPr lang="en-GB" sz="1200" dirty="0" smtClean="0">
                <a:latin typeface="Calibri" pitchFamily="34" charset="0"/>
                <a:ea typeface="msgothic" charset="0"/>
                <a:cs typeface="msgothic" charset="0"/>
              </a:rPr>
              <a:t>D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：修</a:t>
            </a:r>
            <a:r>
              <a:rPr lang="zh-CN" altLang="en-US" sz="1200" dirty="0">
                <a:latin typeface="Calibri" pitchFamily="34" charset="0"/>
                <a:ea typeface="msgothic" charset="0"/>
                <a:cs typeface="msgothic" charset="0"/>
              </a:rPr>
              <a:t>改位（由</a:t>
            </a:r>
            <a:r>
              <a:rPr lang="en-US" altLang="zh-CN" sz="1200" dirty="0">
                <a:latin typeface="Calibri" pitchFamily="34" charset="0"/>
                <a:ea typeface="msgothic" charset="0"/>
                <a:cs typeface="msgothic" charset="0"/>
              </a:rPr>
              <a:t>MMU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在写</a:t>
            </a:r>
            <a:r>
              <a:rPr lang="zh-CN" altLang="en-US" sz="1200" dirty="0">
                <a:latin typeface="Calibri" pitchFamily="34" charset="0"/>
                <a:ea typeface="msgothic" charset="0"/>
                <a:cs typeface="msgothic" charset="0"/>
              </a:rPr>
              <a:t>时设置，软件清除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）</a:t>
            </a:r>
            <a:endParaRPr lang="en-US" altLang="zh-CN" sz="1200" dirty="0" smtClean="0">
              <a:latin typeface="Calibri" pitchFamily="34" charset="0"/>
              <a:ea typeface="msgothic" charset="0"/>
              <a:cs typeface="msgothic" charset="0"/>
            </a:endParaRPr>
          </a:p>
          <a:p>
            <a:pPr marL="255905" indent="-255905">
              <a:lnSpc>
                <a:spcPct val="88000"/>
              </a:lnSpc>
              <a:spcBef>
                <a:spcPts val="900"/>
              </a:spcBef>
              <a:tabLst>
                <a:tab pos="255905" algn="l"/>
                <a:tab pos="941705" algn="l"/>
                <a:tab pos="1627505" algn="l"/>
                <a:tab pos="2313305" algn="l"/>
                <a:tab pos="2999105" algn="l"/>
                <a:tab pos="3684905" algn="l"/>
                <a:tab pos="4370705" algn="l"/>
                <a:tab pos="5056505" algn="l"/>
                <a:tab pos="5742305" algn="l"/>
                <a:tab pos="6428105" algn="l"/>
                <a:tab pos="7113905" algn="l"/>
                <a:tab pos="7799705" algn="l"/>
              </a:tabLst>
            </a:pPr>
            <a:r>
              <a:rPr lang="en-US" sz="1200" dirty="0" smtClean="0">
                <a:latin typeface="Calibri" pitchFamily="34" charset="0"/>
                <a:ea typeface="msgothic" charset="0"/>
                <a:cs typeface="msgothic" charset="0"/>
              </a:rPr>
              <a:t>G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：全局页（在任务切换时，不被驱逐出</a:t>
            </a:r>
            <a:r>
              <a:rPr lang="en-US" altLang="zh-CN" sz="1200" dirty="0" smtClean="0">
                <a:latin typeface="Calibri" pitchFamily="34" charset="0"/>
                <a:ea typeface="msgothic" charset="0"/>
                <a:cs typeface="msgothic" charset="0"/>
              </a:rPr>
              <a:t>TLB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）</a:t>
            </a:r>
            <a:endParaRPr lang="en-GB" sz="1200" dirty="0">
              <a:latin typeface="Calibri" pitchFamily="34" charset="0"/>
              <a:ea typeface="msgothic" charset="0"/>
              <a:cs typeface="msgothic" charset="0"/>
            </a:endParaRPr>
          </a:p>
          <a:p>
            <a:pPr marL="255905" indent="-255905">
              <a:lnSpc>
                <a:spcPct val="88000"/>
              </a:lnSpc>
              <a:spcBef>
                <a:spcPts val="900"/>
              </a:spcBef>
              <a:tabLst>
                <a:tab pos="255905" algn="l"/>
                <a:tab pos="941705" algn="l"/>
                <a:tab pos="1627505" algn="l"/>
                <a:tab pos="2313305" algn="l"/>
                <a:tab pos="2999105" algn="l"/>
                <a:tab pos="3684905" algn="l"/>
                <a:tab pos="4370705" algn="l"/>
                <a:tab pos="5056505" algn="l"/>
                <a:tab pos="5742305" algn="l"/>
                <a:tab pos="6428105" algn="l"/>
                <a:tab pos="7113905" algn="l"/>
                <a:tab pos="7799705" algn="l"/>
              </a:tabLst>
            </a:pP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页表物理基址：物理页表地址的最高</a:t>
            </a:r>
            <a:r>
              <a:rPr lang="en-US" altLang="zh-CN" sz="1200" dirty="0" smtClean="0">
                <a:latin typeface="Calibri" pitchFamily="34" charset="0"/>
                <a:ea typeface="msgothic" charset="0"/>
                <a:cs typeface="msgothic" charset="0"/>
              </a:rPr>
              <a:t>40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位（强制页表按</a:t>
            </a:r>
            <a:r>
              <a:rPr lang="en-US" altLang="zh-CN" sz="1200" dirty="0" smtClean="0">
                <a:latin typeface="Calibri" pitchFamily="34" charset="0"/>
                <a:ea typeface="msgothic" charset="0"/>
                <a:cs typeface="msgothic" charset="0"/>
              </a:rPr>
              <a:t>4KB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对齐）</a:t>
            </a:r>
            <a:endParaRPr lang="en-GB" sz="1200" dirty="0">
              <a:latin typeface="Calibri" pitchFamily="34" charset="0"/>
              <a:ea typeface="msgothic" charset="0"/>
              <a:cs typeface="msgothic" charset="0"/>
            </a:endParaRPr>
          </a:p>
          <a:p>
            <a:pPr marL="255905" indent="-255905">
              <a:lnSpc>
                <a:spcPct val="88000"/>
              </a:lnSpc>
              <a:spcBef>
                <a:spcPts val="900"/>
              </a:spcBef>
              <a:tabLst>
                <a:tab pos="255905" algn="l"/>
                <a:tab pos="941705" algn="l"/>
                <a:tab pos="1627505" algn="l"/>
                <a:tab pos="2313305" algn="l"/>
                <a:tab pos="2999105" algn="l"/>
                <a:tab pos="3684905" algn="l"/>
                <a:tab pos="4370705" algn="l"/>
                <a:tab pos="5056505" algn="l"/>
                <a:tab pos="5742305" algn="l"/>
                <a:tab pos="6428105" algn="l"/>
                <a:tab pos="7113905" algn="l"/>
                <a:tab pos="7799705" algn="l"/>
              </a:tabLst>
            </a:pPr>
            <a:r>
              <a:rPr lang="en-GB" sz="1200" dirty="0" smtClean="0">
                <a:latin typeface="Calibri" pitchFamily="34" charset="0"/>
                <a:ea typeface="msgothic" charset="0"/>
                <a:cs typeface="msgothic" charset="0"/>
              </a:rPr>
              <a:t>XD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：禁止</a:t>
            </a:r>
            <a:r>
              <a:rPr lang="en-US" altLang="zh-CN" sz="1200" dirty="0" smtClean="0">
                <a:latin typeface="Calibri" pitchFamily="34" charset="0"/>
                <a:ea typeface="msgothic" charset="0"/>
                <a:cs typeface="msgothic" charset="0"/>
              </a:rPr>
              <a:t>/</a:t>
            </a:r>
            <a:r>
              <a:rPr lang="zh-CN" altLang="en-US" sz="1200" dirty="0" smtClean="0">
                <a:latin typeface="Calibri" pitchFamily="34" charset="0"/>
                <a:ea typeface="msgothic" charset="0"/>
                <a:cs typeface="msgothic" charset="0"/>
              </a:rPr>
              <a:t>允许从这个页取指</a:t>
            </a:r>
            <a:endParaRPr lang="en-GB" sz="1200" dirty="0">
              <a:latin typeface="Calibri" pitchFamily="34" charset="0"/>
              <a:ea typeface="msgothic" charset="0"/>
              <a:cs typeface="msgothic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端到端</a:t>
            </a:r>
            <a:r>
              <a:rPr lang="en-US"/>
              <a:t> Core i7 </a:t>
            </a:r>
            <a:r>
              <a:rPr lang="zh-CN" altLang="en-US"/>
              <a:t>地址转换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地址空间</a:t>
            </a:r>
            <a:endParaRPr lang="en-US"/>
          </a:p>
          <a:p>
            <a:pPr lvl="1"/>
            <a:r>
              <a:rPr lang="en-US"/>
              <a:t>VA：48</a:t>
            </a:r>
            <a:r>
              <a:rPr lang="zh-CN" altLang="en-US"/>
              <a:t>位</a:t>
            </a:r>
            <a:endParaRPr lang="zh-CN" altLang="en-US"/>
          </a:p>
          <a:p>
            <a:pPr lvl="1"/>
            <a:r>
              <a:rPr lang="en-US" altLang="zh-CN"/>
              <a:t>PA：52</a:t>
            </a:r>
            <a:r>
              <a:rPr lang="zh-CN" altLang="en-US"/>
              <a:t>位</a:t>
            </a:r>
            <a:endParaRPr lang="zh-CN" altLang="en-US"/>
          </a:p>
        </p:txBody>
      </p:sp>
      <p:sp>
        <p:nvSpPr>
          <p:cNvPr id="4" name="Rectangle 379"/>
          <p:cNvSpPr>
            <a:spLocks noChangeArrowheads="1"/>
          </p:cNvSpPr>
          <p:nvPr/>
        </p:nvSpPr>
        <p:spPr bwMode="auto">
          <a:xfrm>
            <a:off x="3550444" y="1657350"/>
            <a:ext cx="457200" cy="34290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</a:rPr>
              <a:t>CPU</a:t>
            </a: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5" name="Rectangle 380"/>
          <p:cNvSpPr>
            <a:spLocks noChangeArrowheads="1"/>
          </p:cNvSpPr>
          <p:nvPr/>
        </p:nvSpPr>
        <p:spPr bwMode="auto">
          <a:xfrm>
            <a:off x="3093244" y="2343150"/>
            <a:ext cx="8001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</a:rPr>
              <a:t>VPN</a:t>
            </a: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Rectangle 381"/>
          <p:cNvSpPr>
            <a:spLocks noChangeArrowheads="1"/>
          </p:cNvSpPr>
          <p:nvPr/>
        </p:nvSpPr>
        <p:spPr bwMode="auto">
          <a:xfrm>
            <a:off x="3893344" y="2343150"/>
            <a:ext cx="40005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</a:rPr>
              <a:t>VPO</a:t>
            </a: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7" name="Text Box 382"/>
          <p:cNvSpPr txBox="1">
            <a:spLocks noChangeArrowheads="1"/>
          </p:cNvSpPr>
          <p:nvPr/>
        </p:nvSpPr>
        <p:spPr bwMode="auto">
          <a:xfrm>
            <a:off x="3324225" y="2171702"/>
            <a:ext cx="238760" cy="1898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900" dirty="0">
                <a:solidFill>
                  <a:schemeClr val="tx2"/>
                </a:solidFill>
              </a:rPr>
              <a:t>36</a:t>
            </a:r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8" name="Text Box 383"/>
          <p:cNvSpPr txBox="1">
            <a:spLocks noChangeArrowheads="1"/>
          </p:cNvSpPr>
          <p:nvPr/>
        </p:nvSpPr>
        <p:spPr bwMode="auto">
          <a:xfrm>
            <a:off x="3952875" y="2171702"/>
            <a:ext cx="238760" cy="1898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900">
                <a:solidFill>
                  <a:schemeClr val="tx2"/>
                </a:solidFill>
              </a:rPr>
              <a:t>12</a:t>
            </a:r>
            <a:endParaRPr lang="en-US" sz="900">
              <a:solidFill>
                <a:schemeClr val="tx2"/>
              </a:solidFill>
            </a:endParaRPr>
          </a:p>
        </p:txBody>
      </p:sp>
      <p:sp>
        <p:nvSpPr>
          <p:cNvPr id="9" name="Line 384"/>
          <p:cNvSpPr>
            <a:spLocks noChangeShapeType="1"/>
          </p:cNvSpPr>
          <p:nvPr/>
        </p:nvSpPr>
        <p:spPr bwMode="auto">
          <a:xfrm>
            <a:off x="3721894" y="2571750"/>
            <a:ext cx="0" cy="2857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10" name="Rectangle 385"/>
          <p:cNvSpPr>
            <a:spLocks noChangeArrowheads="1"/>
          </p:cNvSpPr>
          <p:nvPr/>
        </p:nvSpPr>
        <p:spPr bwMode="auto">
          <a:xfrm>
            <a:off x="3378994" y="2857500"/>
            <a:ext cx="40005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 dirty="0">
                <a:solidFill>
                  <a:schemeClr val="tx2"/>
                </a:solidFill>
              </a:rPr>
              <a:t>TLBT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11" name="Rectangle 386"/>
          <p:cNvSpPr>
            <a:spLocks noChangeArrowheads="1"/>
          </p:cNvSpPr>
          <p:nvPr/>
        </p:nvSpPr>
        <p:spPr bwMode="auto">
          <a:xfrm>
            <a:off x="3779044" y="2857500"/>
            <a:ext cx="40005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</a:rPr>
              <a:t>TLBI</a:t>
            </a: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2" name="Text Box 387"/>
          <p:cNvSpPr txBox="1">
            <a:spLocks noChangeArrowheads="1"/>
          </p:cNvSpPr>
          <p:nvPr/>
        </p:nvSpPr>
        <p:spPr bwMode="auto">
          <a:xfrm>
            <a:off x="3893346" y="2686052"/>
            <a:ext cx="186690" cy="1898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900" dirty="0">
                <a:solidFill>
                  <a:schemeClr val="tx2"/>
                </a:solidFill>
              </a:rPr>
              <a:t>4</a:t>
            </a:r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13" name="Text Box 388"/>
          <p:cNvSpPr txBox="1">
            <a:spLocks noChangeArrowheads="1"/>
          </p:cNvSpPr>
          <p:nvPr/>
        </p:nvSpPr>
        <p:spPr bwMode="auto">
          <a:xfrm>
            <a:off x="3436144" y="2686052"/>
            <a:ext cx="238760" cy="1898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900">
                <a:solidFill>
                  <a:schemeClr val="tx2"/>
                </a:solidFill>
              </a:rPr>
              <a:t>32</a:t>
            </a:r>
            <a:endParaRPr lang="en-US" sz="900">
              <a:solidFill>
                <a:schemeClr val="tx2"/>
              </a:solidFill>
            </a:endParaRPr>
          </a:p>
        </p:txBody>
      </p:sp>
      <p:sp>
        <p:nvSpPr>
          <p:cNvPr id="14" name="Rectangle 390"/>
          <p:cNvSpPr>
            <a:spLocks noChangeArrowheads="1"/>
          </p:cNvSpPr>
          <p:nvPr/>
        </p:nvSpPr>
        <p:spPr bwMode="auto">
          <a:xfrm>
            <a:off x="4350544" y="3429000"/>
            <a:ext cx="400050" cy="1143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5" name="Rectangle 391"/>
          <p:cNvSpPr>
            <a:spLocks noChangeArrowheads="1"/>
          </p:cNvSpPr>
          <p:nvPr/>
        </p:nvSpPr>
        <p:spPr bwMode="auto">
          <a:xfrm>
            <a:off x="4750594" y="3429000"/>
            <a:ext cx="400050" cy="1143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6" name="Rectangle 392"/>
          <p:cNvSpPr>
            <a:spLocks noChangeArrowheads="1"/>
          </p:cNvSpPr>
          <p:nvPr/>
        </p:nvSpPr>
        <p:spPr bwMode="auto">
          <a:xfrm>
            <a:off x="5150644" y="3429000"/>
            <a:ext cx="400050" cy="1143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7" name="Rectangle 393"/>
          <p:cNvSpPr>
            <a:spLocks noChangeArrowheads="1"/>
          </p:cNvSpPr>
          <p:nvPr/>
        </p:nvSpPr>
        <p:spPr bwMode="auto">
          <a:xfrm>
            <a:off x="5550694" y="3429000"/>
            <a:ext cx="400050" cy="1143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8" name="Rectangle 394"/>
          <p:cNvSpPr>
            <a:spLocks noChangeArrowheads="1"/>
          </p:cNvSpPr>
          <p:nvPr/>
        </p:nvSpPr>
        <p:spPr bwMode="auto">
          <a:xfrm>
            <a:off x="4350544" y="3543300"/>
            <a:ext cx="400050" cy="1143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9" name="Rectangle 395"/>
          <p:cNvSpPr>
            <a:spLocks noChangeArrowheads="1"/>
          </p:cNvSpPr>
          <p:nvPr/>
        </p:nvSpPr>
        <p:spPr bwMode="auto">
          <a:xfrm>
            <a:off x="4750594" y="3543300"/>
            <a:ext cx="400050" cy="1143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20" name="Rectangle 396"/>
          <p:cNvSpPr>
            <a:spLocks noChangeArrowheads="1"/>
          </p:cNvSpPr>
          <p:nvPr/>
        </p:nvSpPr>
        <p:spPr bwMode="auto">
          <a:xfrm>
            <a:off x="5150644" y="3543300"/>
            <a:ext cx="400050" cy="1143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21" name="Rectangle 397"/>
          <p:cNvSpPr>
            <a:spLocks noChangeArrowheads="1"/>
          </p:cNvSpPr>
          <p:nvPr/>
        </p:nvSpPr>
        <p:spPr bwMode="auto">
          <a:xfrm>
            <a:off x="5550694" y="3543300"/>
            <a:ext cx="400050" cy="1143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22" name="Rectangle 398"/>
          <p:cNvSpPr>
            <a:spLocks noChangeArrowheads="1"/>
          </p:cNvSpPr>
          <p:nvPr/>
        </p:nvSpPr>
        <p:spPr bwMode="auto">
          <a:xfrm>
            <a:off x="4350544" y="3657600"/>
            <a:ext cx="400050" cy="1143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23" name="Rectangle 399"/>
          <p:cNvSpPr>
            <a:spLocks noChangeArrowheads="1"/>
          </p:cNvSpPr>
          <p:nvPr/>
        </p:nvSpPr>
        <p:spPr bwMode="auto">
          <a:xfrm>
            <a:off x="4750594" y="3657600"/>
            <a:ext cx="400050" cy="1143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24" name="Rectangle 400"/>
          <p:cNvSpPr>
            <a:spLocks noChangeArrowheads="1"/>
          </p:cNvSpPr>
          <p:nvPr/>
        </p:nvSpPr>
        <p:spPr bwMode="auto">
          <a:xfrm>
            <a:off x="5150644" y="3657600"/>
            <a:ext cx="400050" cy="1143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25" name="Rectangle 401"/>
          <p:cNvSpPr>
            <a:spLocks noChangeArrowheads="1"/>
          </p:cNvSpPr>
          <p:nvPr/>
        </p:nvSpPr>
        <p:spPr bwMode="auto">
          <a:xfrm>
            <a:off x="5550694" y="3657600"/>
            <a:ext cx="400050" cy="1143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26" name="Rectangle 402"/>
          <p:cNvSpPr>
            <a:spLocks noChangeArrowheads="1"/>
          </p:cNvSpPr>
          <p:nvPr/>
        </p:nvSpPr>
        <p:spPr bwMode="auto">
          <a:xfrm>
            <a:off x="4350544" y="3943350"/>
            <a:ext cx="400050" cy="1143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27" name="Rectangle 403"/>
          <p:cNvSpPr>
            <a:spLocks noChangeArrowheads="1"/>
          </p:cNvSpPr>
          <p:nvPr/>
        </p:nvSpPr>
        <p:spPr bwMode="auto">
          <a:xfrm>
            <a:off x="4750594" y="3943350"/>
            <a:ext cx="400050" cy="1143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28" name="Rectangle 404"/>
          <p:cNvSpPr>
            <a:spLocks noChangeArrowheads="1"/>
          </p:cNvSpPr>
          <p:nvPr/>
        </p:nvSpPr>
        <p:spPr bwMode="auto">
          <a:xfrm>
            <a:off x="5150644" y="3943350"/>
            <a:ext cx="400050" cy="1143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29" name="Rectangle 405"/>
          <p:cNvSpPr>
            <a:spLocks noChangeArrowheads="1"/>
          </p:cNvSpPr>
          <p:nvPr/>
        </p:nvSpPr>
        <p:spPr bwMode="auto">
          <a:xfrm>
            <a:off x="5550694" y="3943350"/>
            <a:ext cx="400050" cy="1143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0" name="Text Box 406"/>
          <p:cNvSpPr txBox="1">
            <a:spLocks noChangeArrowheads="1"/>
          </p:cNvSpPr>
          <p:nvPr/>
        </p:nvSpPr>
        <p:spPr bwMode="auto">
          <a:xfrm>
            <a:off x="5083653" y="3755232"/>
            <a:ext cx="300355" cy="1708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eaVert" wrap="none" lIns="67865" tIns="33338" rIns="67865" bIns="33338"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</a:rPr>
              <a:t>...</a:t>
            </a: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1" name="Line 407"/>
          <p:cNvSpPr>
            <a:spLocks noChangeShapeType="1"/>
          </p:cNvSpPr>
          <p:nvPr/>
        </p:nvSpPr>
        <p:spPr bwMode="auto">
          <a:xfrm>
            <a:off x="4007644" y="3086100"/>
            <a:ext cx="0" cy="914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32" name="Line 408"/>
          <p:cNvSpPr>
            <a:spLocks noChangeShapeType="1"/>
          </p:cNvSpPr>
          <p:nvPr/>
        </p:nvSpPr>
        <p:spPr bwMode="auto">
          <a:xfrm>
            <a:off x="4007644" y="3486150"/>
            <a:ext cx="3429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33" name="Line 409"/>
          <p:cNvSpPr>
            <a:spLocks noChangeShapeType="1"/>
          </p:cNvSpPr>
          <p:nvPr/>
        </p:nvSpPr>
        <p:spPr bwMode="auto">
          <a:xfrm>
            <a:off x="4007644" y="4000500"/>
            <a:ext cx="3429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34" name="Line 410"/>
          <p:cNvSpPr>
            <a:spLocks noChangeShapeType="1"/>
          </p:cNvSpPr>
          <p:nvPr/>
        </p:nvSpPr>
        <p:spPr bwMode="auto">
          <a:xfrm>
            <a:off x="4007644" y="3600450"/>
            <a:ext cx="3429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35" name="Line 411"/>
          <p:cNvSpPr>
            <a:spLocks noChangeShapeType="1"/>
          </p:cNvSpPr>
          <p:nvPr/>
        </p:nvSpPr>
        <p:spPr bwMode="auto">
          <a:xfrm>
            <a:off x="4007644" y="3714750"/>
            <a:ext cx="3429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36" name="Line 412"/>
          <p:cNvSpPr>
            <a:spLocks noChangeShapeType="1"/>
          </p:cNvSpPr>
          <p:nvPr/>
        </p:nvSpPr>
        <p:spPr bwMode="auto">
          <a:xfrm>
            <a:off x="3607594" y="3086100"/>
            <a:ext cx="0" cy="114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37" name="Line 413"/>
          <p:cNvSpPr>
            <a:spLocks noChangeShapeType="1"/>
          </p:cNvSpPr>
          <p:nvPr/>
        </p:nvSpPr>
        <p:spPr bwMode="auto">
          <a:xfrm>
            <a:off x="3607594" y="3200400"/>
            <a:ext cx="21717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38" name="Line 414"/>
          <p:cNvSpPr>
            <a:spLocks noChangeShapeType="1"/>
          </p:cNvSpPr>
          <p:nvPr/>
        </p:nvSpPr>
        <p:spPr bwMode="auto">
          <a:xfrm>
            <a:off x="4579144" y="3200400"/>
            <a:ext cx="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39" name="Line 415"/>
          <p:cNvSpPr>
            <a:spLocks noChangeShapeType="1"/>
          </p:cNvSpPr>
          <p:nvPr/>
        </p:nvSpPr>
        <p:spPr bwMode="auto">
          <a:xfrm>
            <a:off x="4979194" y="3200400"/>
            <a:ext cx="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40" name="Line 416"/>
          <p:cNvSpPr>
            <a:spLocks noChangeShapeType="1"/>
          </p:cNvSpPr>
          <p:nvPr/>
        </p:nvSpPr>
        <p:spPr bwMode="auto">
          <a:xfrm>
            <a:off x="5379244" y="3200400"/>
            <a:ext cx="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41" name="Line 417"/>
          <p:cNvSpPr>
            <a:spLocks noChangeShapeType="1"/>
          </p:cNvSpPr>
          <p:nvPr/>
        </p:nvSpPr>
        <p:spPr bwMode="auto">
          <a:xfrm>
            <a:off x="5779294" y="3200400"/>
            <a:ext cx="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42" name="Line 418"/>
          <p:cNvSpPr>
            <a:spLocks noChangeShapeType="1"/>
          </p:cNvSpPr>
          <p:nvPr/>
        </p:nvSpPr>
        <p:spPr bwMode="auto">
          <a:xfrm>
            <a:off x="3207544" y="2571751"/>
            <a:ext cx="0" cy="19907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43" name="Line 419"/>
          <p:cNvSpPr>
            <a:spLocks noChangeShapeType="1"/>
          </p:cNvSpPr>
          <p:nvPr/>
        </p:nvSpPr>
        <p:spPr bwMode="auto">
          <a:xfrm>
            <a:off x="3779044" y="2000250"/>
            <a:ext cx="0" cy="342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44" name="Text Box 420"/>
          <p:cNvSpPr txBox="1">
            <a:spLocks noChangeArrowheads="1"/>
          </p:cNvSpPr>
          <p:nvPr/>
        </p:nvSpPr>
        <p:spPr bwMode="auto">
          <a:xfrm>
            <a:off x="3951685" y="4090988"/>
            <a:ext cx="2308622" cy="231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7865" tIns="33338" rIns="67865" bIns="33338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 dirty="0">
                <a:solidFill>
                  <a:schemeClr val="tx2"/>
                </a:solidFill>
              </a:rPr>
              <a:t>L1 TLB (16 </a:t>
            </a:r>
            <a:r>
              <a:rPr lang="zh-CN" altLang="en-US" sz="1200" dirty="0" smtClean="0">
                <a:solidFill>
                  <a:schemeClr val="tx2"/>
                </a:solidFill>
              </a:rPr>
              <a:t>组</a:t>
            </a:r>
            <a:r>
              <a:rPr lang="en-US" sz="1200" dirty="0" smtClean="0">
                <a:solidFill>
                  <a:schemeClr val="tx2"/>
                </a:solidFill>
              </a:rPr>
              <a:t>, </a:t>
            </a:r>
            <a:r>
              <a:rPr lang="en-US" sz="1200" dirty="0">
                <a:solidFill>
                  <a:schemeClr val="tx2"/>
                </a:solidFill>
              </a:rPr>
              <a:t>4 </a:t>
            </a:r>
            <a:r>
              <a:rPr lang="zh-CN" altLang="en-US" sz="1200" dirty="0" smtClean="0">
                <a:solidFill>
                  <a:schemeClr val="tx2"/>
                </a:solidFill>
              </a:rPr>
              <a:t>项</a:t>
            </a:r>
            <a:r>
              <a:rPr lang="en-US" sz="1200" dirty="0" smtClean="0">
                <a:solidFill>
                  <a:schemeClr val="tx2"/>
                </a:solidFill>
              </a:rPr>
              <a:t>/</a:t>
            </a:r>
            <a:r>
              <a:rPr lang="zh-CN" altLang="en-US" sz="1200" dirty="0" smtClean="0">
                <a:solidFill>
                  <a:schemeClr val="tx2"/>
                </a:solidFill>
              </a:rPr>
              <a:t>组</a:t>
            </a:r>
            <a:r>
              <a:rPr lang="en-US" sz="1200" dirty="0" smtClean="0">
                <a:solidFill>
                  <a:schemeClr val="tx2"/>
                </a:solidFill>
              </a:rPr>
              <a:t>)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45" name="Rectangle 421"/>
          <p:cNvSpPr>
            <a:spLocks noChangeArrowheads="1"/>
          </p:cNvSpPr>
          <p:nvPr/>
        </p:nvSpPr>
        <p:spPr bwMode="auto">
          <a:xfrm>
            <a:off x="3093244" y="4562475"/>
            <a:ext cx="40005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050" dirty="0">
                <a:solidFill>
                  <a:schemeClr val="tx2"/>
                </a:solidFill>
              </a:rPr>
              <a:t>VPN1</a:t>
            </a:r>
            <a:endParaRPr lang="en-US" sz="1050" dirty="0">
              <a:solidFill>
                <a:schemeClr val="tx2"/>
              </a:solidFill>
            </a:endParaRPr>
          </a:p>
        </p:txBody>
      </p:sp>
      <p:sp>
        <p:nvSpPr>
          <p:cNvPr id="46" name="Rectangle 422"/>
          <p:cNvSpPr>
            <a:spLocks noChangeArrowheads="1"/>
          </p:cNvSpPr>
          <p:nvPr/>
        </p:nvSpPr>
        <p:spPr bwMode="auto">
          <a:xfrm>
            <a:off x="3493294" y="4562475"/>
            <a:ext cx="40005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050">
                <a:solidFill>
                  <a:schemeClr val="tx2"/>
                </a:solidFill>
              </a:rPr>
              <a:t>VPN2</a:t>
            </a:r>
            <a:endParaRPr lang="en-US" sz="1050">
              <a:solidFill>
                <a:schemeClr val="tx2"/>
              </a:solidFill>
            </a:endParaRPr>
          </a:p>
        </p:txBody>
      </p:sp>
      <p:sp>
        <p:nvSpPr>
          <p:cNvPr id="47" name="Text Box 423"/>
          <p:cNvSpPr txBox="1">
            <a:spLocks noChangeArrowheads="1"/>
          </p:cNvSpPr>
          <p:nvPr/>
        </p:nvSpPr>
        <p:spPr bwMode="auto">
          <a:xfrm>
            <a:off x="3552827" y="4400552"/>
            <a:ext cx="186690" cy="1898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900">
                <a:solidFill>
                  <a:schemeClr val="tx2"/>
                </a:solidFill>
              </a:rPr>
              <a:t>9</a:t>
            </a:r>
            <a:endParaRPr lang="en-US" sz="900">
              <a:solidFill>
                <a:schemeClr val="tx2"/>
              </a:solidFill>
            </a:endParaRPr>
          </a:p>
        </p:txBody>
      </p:sp>
      <p:sp>
        <p:nvSpPr>
          <p:cNvPr id="48" name="Text Box 424"/>
          <p:cNvSpPr txBox="1">
            <a:spLocks noChangeArrowheads="1"/>
          </p:cNvSpPr>
          <p:nvPr/>
        </p:nvSpPr>
        <p:spPr bwMode="auto">
          <a:xfrm>
            <a:off x="3207546" y="4400552"/>
            <a:ext cx="186690" cy="1898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900">
                <a:solidFill>
                  <a:schemeClr val="tx2"/>
                </a:solidFill>
              </a:rPr>
              <a:t>9</a:t>
            </a:r>
            <a:endParaRPr lang="en-US" sz="900">
              <a:solidFill>
                <a:schemeClr val="tx2"/>
              </a:solidFill>
            </a:endParaRPr>
          </a:p>
        </p:txBody>
      </p:sp>
      <p:sp>
        <p:nvSpPr>
          <p:cNvPr id="50" name="Rectangle 425"/>
          <p:cNvSpPr>
            <a:spLocks noChangeArrowheads="1"/>
          </p:cNvSpPr>
          <p:nvPr/>
        </p:nvSpPr>
        <p:spPr bwMode="auto">
          <a:xfrm>
            <a:off x="3261122" y="5076825"/>
            <a:ext cx="236934" cy="685800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51" name="Rectangle 426"/>
          <p:cNvSpPr>
            <a:spLocks noChangeArrowheads="1"/>
          </p:cNvSpPr>
          <p:nvPr/>
        </p:nvSpPr>
        <p:spPr bwMode="auto">
          <a:xfrm>
            <a:off x="3261122" y="5286375"/>
            <a:ext cx="236934" cy="190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050" dirty="0">
                <a:solidFill>
                  <a:schemeClr val="tx2"/>
                </a:solidFill>
              </a:rPr>
              <a:t>PTE</a:t>
            </a:r>
            <a:endParaRPr lang="en-US" sz="1050" dirty="0">
              <a:solidFill>
                <a:schemeClr val="tx2"/>
              </a:solidFill>
            </a:endParaRPr>
          </a:p>
        </p:txBody>
      </p:sp>
      <p:sp>
        <p:nvSpPr>
          <p:cNvPr id="52" name="Text Box 431"/>
          <p:cNvSpPr txBox="1">
            <a:spLocks noChangeArrowheads="1"/>
          </p:cNvSpPr>
          <p:nvPr/>
        </p:nvSpPr>
        <p:spPr bwMode="auto">
          <a:xfrm>
            <a:off x="2667002" y="4980386"/>
            <a:ext cx="402431" cy="231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7865" tIns="33338" rIns="67865" bIns="33338"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 dirty="0">
                <a:solidFill>
                  <a:schemeClr val="tx2"/>
                </a:solidFill>
              </a:rPr>
              <a:t>CR3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53" name="Rectangle 436"/>
          <p:cNvSpPr>
            <a:spLocks noChangeArrowheads="1"/>
          </p:cNvSpPr>
          <p:nvPr/>
        </p:nvSpPr>
        <p:spPr bwMode="auto">
          <a:xfrm>
            <a:off x="5893594" y="4637485"/>
            <a:ext cx="8001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</a:rPr>
              <a:t>PPN</a:t>
            </a: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54" name="Rectangle 437"/>
          <p:cNvSpPr>
            <a:spLocks noChangeArrowheads="1"/>
          </p:cNvSpPr>
          <p:nvPr/>
        </p:nvSpPr>
        <p:spPr bwMode="auto">
          <a:xfrm>
            <a:off x="6693694" y="4637485"/>
            <a:ext cx="40005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</a:rPr>
              <a:t>PPO</a:t>
            </a: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55" name="Text Box 438"/>
          <p:cNvSpPr txBox="1">
            <a:spLocks noChangeArrowheads="1"/>
          </p:cNvSpPr>
          <p:nvPr/>
        </p:nvSpPr>
        <p:spPr bwMode="auto">
          <a:xfrm>
            <a:off x="6124575" y="4457702"/>
            <a:ext cx="238760" cy="1898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900" dirty="0">
                <a:solidFill>
                  <a:schemeClr val="tx2"/>
                </a:solidFill>
              </a:rPr>
              <a:t>40</a:t>
            </a:r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56" name="Text Box 439"/>
          <p:cNvSpPr txBox="1">
            <a:spLocks noChangeArrowheads="1"/>
          </p:cNvSpPr>
          <p:nvPr/>
        </p:nvSpPr>
        <p:spPr bwMode="auto">
          <a:xfrm>
            <a:off x="6781800" y="4457702"/>
            <a:ext cx="238760" cy="1898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900">
                <a:solidFill>
                  <a:schemeClr val="tx2"/>
                </a:solidFill>
              </a:rPr>
              <a:t>12</a:t>
            </a:r>
            <a:endParaRPr lang="en-US" sz="900">
              <a:solidFill>
                <a:schemeClr val="tx2"/>
              </a:solidFill>
            </a:endParaRPr>
          </a:p>
        </p:txBody>
      </p:sp>
      <p:sp>
        <p:nvSpPr>
          <p:cNvPr id="57" name="Line 440"/>
          <p:cNvSpPr>
            <a:spLocks noChangeShapeType="1"/>
          </p:cNvSpPr>
          <p:nvPr/>
        </p:nvSpPr>
        <p:spPr bwMode="auto">
          <a:xfrm>
            <a:off x="5950744" y="3679031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58" name="Line 441"/>
          <p:cNvSpPr>
            <a:spLocks noChangeShapeType="1"/>
          </p:cNvSpPr>
          <p:nvPr/>
        </p:nvSpPr>
        <p:spPr bwMode="auto">
          <a:xfrm>
            <a:off x="6407944" y="3676650"/>
            <a:ext cx="0" cy="9525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59" name="Line 442"/>
          <p:cNvSpPr>
            <a:spLocks noChangeShapeType="1"/>
          </p:cNvSpPr>
          <p:nvPr/>
        </p:nvSpPr>
        <p:spPr bwMode="auto">
          <a:xfrm>
            <a:off x="4943477" y="5419725"/>
            <a:ext cx="146446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60" name="Line 443"/>
          <p:cNvSpPr>
            <a:spLocks noChangeShapeType="1"/>
          </p:cNvSpPr>
          <p:nvPr/>
        </p:nvSpPr>
        <p:spPr bwMode="auto">
          <a:xfrm flipH="1" flipV="1">
            <a:off x="6400801" y="4869658"/>
            <a:ext cx="7144" cy="55006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61" name="Text Box 448"/>
          <p:cNvSpPr txBox="1">
            <a:spLocks noChangeArrowheads="1"/>
          </p:cNvSpPr>
          <p:nvPr/>
        </p:nvSpPr>
        <p:spPr bwMode="auto">
          <a:xfrm>
            <a:off x="3600451" y="5862474"/>
            <a:ext cx="440690" cy="231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zh-CN" altLang="en-US" sz="1200" dirty="0" smtClean="0">
                <a:solidFill>
                  <a:schemeClr val="tx2"/>
                </a:solidFill>
              </a:rPr>
              <a:t>页表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62" name="Text Box 449"/>
          <p:cNvSpPr txBox="1">
            <a:spLocks noChangeArrowheads="1"/>
          </p:cNvSpPr>
          <p:nvPr/>
        </p:nvSpPr>
        <p:spPr bwMode="auto">
          <a:xfrm>
            <a:off x="3181350" y="3567114"/>
            <a:ext cx="440690" cy="452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 i="1" dirty="0">
                <a:solidFill>
                  <a:schemeClr val="tx2"/>
                </a:solidFill>
              </a:rPr>
              <a:t>TLB</a:t>
            </a:r>
            <a:endParaRPr lang="en-US" sz="1200" i="1" dirty="0">
              <a:solidFill>
                <a:schemeClr val="tx2"/>
              </a:solidFill>
            </a:endParaRPr>
          </a:p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zh-CN" altLang="en-US" sz="1200" i="1" dirty="0" smtClean="0">
                <a:solidFill>
                  <a:schemeClr val="tx2"/>
                </a:solidFill>
              </a:rPr>
              <a:t>缺失</a:t>
            </a:r>
            <a:endParaRPr lang="en-US" sz="1200" i="1" dirty="0">
              <a:solidFill>
                <a:schemeClr val="tx2"/>
              </a:solidFill>
            </a:endParaRPr>
          </a:p>
        </p:txBody>
      </p:sp>
      <p:sp>
        <p:nvSpPr>
          <p:cNvPr id="63" name="Text Box 450"/>
          <p:cNvSpPr txBox="1">
            <a:spLocks noChangeArrowheads="1"/>
          </p:cNvSpPr>
          <p:nvPr/>
        </p:nvSpPr>
        <p:spPr bwMode="auto">
          <a:xfrm>
            <a:off x="6038749" y="3238501"/>
            <a:ext cx="440690" cy="452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 i="1" dirty="0">
                <a:solidFill>
                  <a:schemeClr val="tx2"/>
                </a:solidFill>
              </a:rPr>
              <a:t>TLB</a:t>
            </a:r>
            <a:endParaRPr lang="en-US" sz="1200" i="1" dirty="0">
              <a:solidFill>
                <a:schemeClr val="tx2"/>
              </a:solidFill>
            </a:endParaRPr>
          </a:p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zh-CN" altLang="en-US" sz="1200" i="1" dirty="0" smtClean="0">
                <a:solidFill>
                  <a:schemeClr val="tx2"/>
                </a:solidFill>
              </a:rPr>
              <a:t>命中</a:t>
            </a:r>
            <a:endParaRPr lang="en-US" sz="1200" i="1" dirty="0">
              <a:solidFill>
                <a:schemeClr val="tx2"/>
              </a:solidFill>
            </a:endParaRPr>
          </a:p>
        </p:txBody>
      </p:sp>
      <p:sp>
        <p:nvSpPr>
          <p:cNvPr id="64" name="Line 451"/>
          <p:cNvSpPr>
            <a:spLocks noChangeShapeType="1"/>
          </p:cNvSpPr>
          <p:nvPr/>
        </p:nvSpPr>
        <p:spPr bwMode="auto">
          <a:xfrm>
            <a:off x="4293394" y="2514600"/>
            <a:ext cx="24574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65" name="Line 452"/>
          <p:cNvSpPr>
            <a:spLocks noChangeShapeType="1"/>
          </p:cNvSpPr>
          <p:nvPr/>
        </p:nvSpPr>
        <p:spPr bwMode="auto">
          <a:xfrm>
            <a:off x="6750844" y="2514600"/>
            <a:ext cx="0" cy="2114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66" name="Text Box 453"/>
          <p:cNvSpPr txBox="1">
            <a:spLocks noChangeArrowheads="1"/>
          </p:cNvSpPr>
          <p:nvPr/>
        </p:nvSpPr>
        <p:spPr bwMode="auto">
          <a:xfrm>
            <a:off x="7054501" y="4871874"/>
            <a:ext cx="746760" cy="452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zh-CN" altLang="en-US" sz="1200" dirty="0" smtClean="0">
                <a:solidFill>
                  <a:schemeClr val="tx2"/>
                </a:solidFill>
              </a:rPr>
              <a:t>物理地址</a:t>
            </a:r>
            <a:endParaRPr lang="en-US" altLang="zh-CN" sz="1200" dirty="0" smtClean="0">
              <a:solidFill>
                <a:schemeClr val="tx2"/>
              </a:solidFill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zh-CN" altLang="en-US" sz="1200" dirty="0" smtClean="0">
                <a:solidFill>
                  <a:schemeClr val="tx2"/>
                </a:solidFill>
              </a:rPr>
              <a:t>（</a:t>
            </a:r>
            <a:r>
              <a:rPr lang="en-US" altLang="zh-CN" sz="1200" dirty="0" smtClean="0">
                <a:solidFill>
                  <a:schemeClr val="tx2"/>
                </a:solidFill>
              </a:rPr>
              <a:t>PA</a:t>
            </a:r>
            <a:r>
              <a:rPr lang="zh-CN" altLang="en-US" sz="1200" dirty="0" smtClean="0">
                <a:solidFill>
                  <a:schemeClr val="tx2"/>
                </a:solidFill>
              </a:rPr>
              <a:t>）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67" name="Rectangle 454"/>
          <p:cNvSpPr>
            <a:spLocks noChangeArrowheads="1"/>
          </p:cNvSpPr>
          <p:nvPr/>
        </p:nvSpPr>
        <p:spPr bwMode="auto">
          <a:xfrm>
            <a:off x="6750844" y="1828800"/>
            <a:ext cx="8001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zh-CN" altLang="en-US" sz="1200" dirty="0" smtClean="0">
                <a:solidFill>
                  <a:schemeClr val="tx2"/>
                </a:solidFill>
              </a:rPr>
              <a:t>结果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68" name="Text Box 455"/>
          <p:cNvSpPr txBox="1">
            <a:spLocks noChangeArrowheads="1"/>
          </p:cNvSpPr>
          <p:nvPr/>
        </p:nvSpPr>
        <p:spPr bwMode="auto">
          <a:xfrm>
            <a:off x="7024687" y="1657352"/>
            <a:ext cx="368935" cy="1898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900" dirty="0">
                <a:solidFill>
                  <a:schemeClr val="tx2"/>
                </a:solidFill>
              </a:rPr>
              <a:t>32/64</a:t>
            </a:r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69" name="Rectangle 456"/>
          <p:cNvSpPr>
            <a:spLocks noChangeArrowheads="1"/>
          </p:cNvSpPr>
          <p:nvPr/>
        </p:nvSpPr>
        <p:spPr bwMode="auto">
          <a:xfrm>
            <a:off x="6979444" y="3429000"/>
            <a:ext cx="400050" cy="1143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70" name="Rectangle 457"/>
          <p:cNvSpPr>
            <a:spLocks noChangeArrowheads="1"/>
          </p:cNvSpPr>
          <p:nvPr/>
        </p:nvSpPr>
        <p:spPr bwMode="auto">
          <a:xfrm>
            <a:off x="7379494" y="3429000"/>
            <a:ext cx="400050" cy="1143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71" name="Rectangle 458"/>
          <p:cNvSpPr>
            <a:spLocks noChangeArrowheads="1"/>
          </p:cNvSpPr>
          <p:nvPr/>
        </p:nvSpPr>
        <p:spPr bwMode="auto">
          <a:xfrm>
            <a:off x="7779544" y="3429000"/>
            <a:ext cx="400050" cy="1143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72" name="Rectangle 459"/>
          <p:cNvSpPr>
            <a:spLocks noChangeArrowheads="1"/>
          </p:cNvSpPr>
          <p:nvPr/>
        </p:nvSpPr>
        <p:spPr bwMode="auto">
          <a:xfrm>
            <a:off x="8179594" y="3429000"/>
            <a:ext cx="400050" cy="1143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73" name="Rectangle 460"/>
          <p:cNvSpPr>
            <a:spLocks noChangeArrowheads="1"/>
          </p:cNvSpPr>
          <p:nvPr/>
        </p:nvSpPr>
        <p:spPr bwMode="auto">
          <a:xfrm>
            <a:off x="6979444" y="3543300"/>
            <a:ext cx="400050" cy="1143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74" name="Rectangle 461"/>
          <p:cNvSpPr>
            <a:spLocks noChangeArrowheads="1"/>
          </p:cNvSpPr>
          <p:nvPr/>
        </p:nvSpPr>
        <p:spPr bwMode="auto">
          <a:xfrm>
            <a:off x="7379494" y="3543300"/>
            <a:ext cx="400050" cy="1143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75" name="Rectangle 462"/>
          <p:cNvSpPr>
            <a:spLocks noChangeArrowheads="1"/>
          </p:cNvSpPr>
          <p:nvPr/>
        </p:nvSpPr>
        <p:spPr bwMode="auto">
          <a:xfrm>
            <a:off x="7779544" y="3543300"/>
            <a:ext cx="400050" cy="1143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76" name="Rectangle 463"/>
          <p:cNvSpPr>
            <a:spLocks noChangeArrowheads="1"/>
          </p:cNvSpPr>
          <p:nvPr/>
        </p:nvSpPr>
        <p:spPr bwMode="auto">
          <a:xfrm>
            <a:off x="8179594" y="3543300"/>
            <a:ext cx="400050" cy="1143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77" name="Rectangle 464"/>
          <p:cNvSpPr>
            <a:spLocks noChangeArrowheads="1"/>
          </p:cNvSpPr>
          <p:nvPr/>
        </p:nvSpPr>
        <p:spPr bwMode="auto">
          <a:xfrm>
            <a:off x="6979444" y="3657600"/>
            <a:ext cx="400050" cy="1143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78" name="Rectangle 465"/>
          <p:cNvSpPr>
            <a:spLocks noChangeArrowheads="1"/>
          </p:cNvSpPr>
          <p:nvPr/>
        </p:nvSpPr>
        <p:spPr bwMode="auto">
          <a:xfrm>
            <a:off x="7379494" y="3657600"/>
            <a:ext cx="400050" cy="1143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79" name="Rectangle 466"/>
          <p:cNvSpPr>
            <a:spLocks noChangeArrowheads="1"/>
          </p:cNvSpPr>
          <p:nvPr/>
        </p:nvSpPr>
        <p:spPr bwMode="auto">
          <a:xfrm>
            <a:off x="7779544" y="3657600"/>
            <a:ext cx="400050" cy="1143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0" name="Rectangle 467"/>
          <p:cNvSpPr>
            <a:spLocks noChangeArrowheads="1"/>
          </p:cNvSpPr>
          <p:nvPr/>
        </p:nvSpPr>
        <p:spPr bwMode="auto">
          <a:xfrm>
            <a:off x="8179594" y="3657600"/>
            <a:ext cx="400050" cy="1143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1" name="Rectangle 468"/>
          <p:cNvSpPr>
            <a:spLocks noChangeArrowheads="1"/>
          </p:cNvSpPr>
          <p:nvPr/>
        </p:nvSpPr>
        <p:spPr bwMode="auto">
          <a:xfrm>
            <a:off x="6979444" y="3943350"/>
            <a:ext cx="400050" cy="1143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2" name="Rectangle 469"/>
          <p:cNvSpPr>
            <a:spLocks noChangeArrowheads="1"/>
          </p:cNvSpPr>
          <p:nvPr/>
        </p:nvSpPr>
        <p:spPr bwMode="auto">
          <a:xfrm>
            <a:off x="7379494" y="3943350"/>
            <a:ext cx="400050" cy="1143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3" name="Rectangle 470"/>
          <p:cNvSpPr>
            <a:spLocks noChangeArrowheads="1"/>
          </p:cNvSpPr>
          <p:nvPr/>
        </p:nvSpPr>
        <p:spPr bwMode="auto">
          <a:xfrm>
            <a:off x="7779544" y="3943350"/>
            <a:ext cx="400050" cy="1143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4" name="Rectangle 471"/>
          <p:cNvSpPr>
            <a:spLocks noChangeArrowheads="1"/>
          </p:cNvSpPr>
          <p:nvPr/>
        </p:nvSpPr>
        <p:spPr bwMode="auto">
          <a:xfrm>
            <a:off x="8179594" y="3943350"/>
            <a:ext cx="400050" cy="1143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>
              <a:lnSpc>
                <a:spcPct val="90000"/>
              </a:lnSpc>
              <a:spcBef>
                <a:spcPct val="30000"/>
              </a:spcBef>
            </a:pP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5" name="Text Box 472"/>
          <p:cNvSpPr txBox="1">
            <a:spLocks noChangeArrowheads="1"/>
          </p:cNvSpPr>
          <p:nvPr/>
        </p:nvSpPr>
        <p:spPr bwMode="auto">
          <a:xfrm>
            <a:off x="7712553" y="3755232"/>
            <a:ext cx="300355" cy="1708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eaVert" wrap="none" lIns="67865" tIns="33338" rIns="67865" bIns="33338"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</a:rPr>
              <a:t>...</a:t>
            </a: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6" name="Line 473"/>
          <p:cNvSpPr>
            <a:spLocks noChangeShapeType="1"/>
          </p:cNvSpPr>
          <p:nvPr/>
        </p:nvSpPr>
        <p:spPr bwMode="auto">
          <a:xfrm>
            <a:off x="7265194" y="4743450"/>
            <a:ext cx="342900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87" name="Line 474"/>
          <p:cNvSpPr>
            <a:spLocks noChangeShapeType="1"/>
          </p:cNvSpPr>
          <p:nvPr/>
        </p:nvSpPr>
        <p:spPr bwMode="auto">
          <a:xfrm flipV="1">
            <a:off x="8008144" y="4343400"/>
            <a:ext cx="0" cy="2857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88" name="Line 475"/>
          <p:cNvSpPr>
            <a:spLocks noChangeShapeType="1"/>
          </p:cNvSpPr>
          <p:nvPr/>
        </p:nvSpPr>
        <p:spPr bwMode="auto">
          <a:xfrm flipV="1">
            <a:off x="9036844" y="4343400"/>
            <a:ext cx="0" cy="2857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89" name="Line 476"/>
          <p:cNvSpPr>
            <a:spLocks noChangeShapeType="1"/>
          </p:cNvSpPr>
          <p:nvPr/>
        </p:nvSpPr>
        <p:spPr bwMode="auto">
          <a:xfrm>
            <a:off x="7083031" y="4339828"/>
            <a:ext cx="1953815" cy="357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90" name="Line 477"/>
          <p:cNvSpPr>
            <a:spLocks noChangeShapeType="1"/>
          </p:cNvSpPr>
          <p:nvPr/>
        </p:nvSpPr>
        <p:spPr bwMode="auto">
          <a:xfrm flipV="1">
            <a:off x="7084219" y="4057650"/>
            <a:ext cx="0" cy="2857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91" name="Line 478"/>
          <p:cNvSpPr>
            <a:spLocks noChangeShapeType="1"/>
          </p:cNvSpPr>
          <p:nvPr/>
        </p:nvSpPr>
        <p:spPr bwMode="auto">
          <a:xfrm flipV="1">
            <a:off x="7493794" y="4057650"/>
            <a:ext cx="0" cy="2809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92" name="Line 479"/>
          <p:cNvSpPr>
            <a:spLocks noChangeShapeType="1"/>
          </p:cNvSpPr>
          <p:nvPr/>
        </p:nvSpPr>
        <p:spPr bwMode="auto">
          <a:xfrm flipV="1">
            <a:off x="7886700" y="4057650"/>
            <a:ext cx="0" cy="2857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93" name="Line 480"/>
          <p:cNvSpPr>
            <a:spLocks noChangeShapeType="1"/>
          </p:cNvSpPr>
          <p:nvPr/>
        </p:nvSpPr>
        <p:spPr bwMode="auto">
          <a:xfrm flipV="1">
            <a:off x="8286750" y="4057650"/>
            <a:ext cx="0" cy="2857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94" name="Line 481"/>
          <p:cNvSpPr>
            <a:spLocks noChangeShapeType="1"/>
          </p:cNvSpPr>
          <p:nvPr/>
        </p:nvSpPr>
        <p:spPr bwMode="auto">
          <a:xfrm flipV="1">
            <a:off x="8808244" y="3486150"/>
            <a:ext cx="0" cy="1143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95" name="Line 482"/>
          <p:cNvSpPr>
            <a:spLocks noChangeShapeType="1"/>
          </p:cNvSpPr>
          <p:nvPr/>
        </p:nvSpPr>
        <p:spPr bwMode="auto">
          <a:xfrm flipH="1">
            <a:off x="8579644" y="348615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96" name="Line 483"/>
          <p:cNvSpPr>
            <a:spLocks noChangeShapeType="1"/>
          </p:cNvSpPr>
          <p:nvPr/>
        </p:nvSpPr>
        <p:spPr bwMode="auto">
          <a:xfrm flipH="1">
            <a:off x="8579644" y="360045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97" name="Line 484"/>
          <p:cNvSpPr>
            <a:spLocks noChangeShapeType="1"/>
          </p:cNvSpPr>
          <p:nvPr/>
        </p:nvSpPr>
        <p:spPr bwMode="auto">
          <a:xfrm flipH="1">
            <a:off x="8579644" y="371475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98" name="Line 485"/>
          <p:cNvSpPr>
            <a:spLocks noChangeShapeType="1"/>
          </p:cNvSpPr>
          <p:nvPr/>
        </p:nvSpPr>
        <p:spPr bwMode="auto">
          <a:xfrm flipH="1">
            <a:off x="8579644" y="400050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99" name="Line 429"/>
          <p:cNvSpPr>
            <a:spLocks noChangeShapeType="1"/>
          </p:cNvSpPr>
          <p:nvPr/>
        </p:nvSpPr>
        <p:spPr bwMode="auto">
          <a:xfrm>
            <a:off x="3161110" y="4791075"/>
            <a:ext cx="0" cy="58221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100" name="Line 430"/>
          <p:cNvSpPr>
            <a:spLocks noChangeShapeType="1"/>
          </p:cNvSpPr>
          <p:nvPr/>
        </p:nvSpPr>
        <p:spPr bwMode="auto">
          <a:xfrm flipV="1">
            <a:off x="3161111" y="5373292"/>
            <a:ext cx="100013" cy="714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pPr algn="ctr"/>
            <a:endParaRPr lang="en-US" sz="1050"/>
          </a:p>
        </p:txBody>
      </p:sp>
      <p:sp>
        <p:nvSpPr>
          <p:cNvPr id="101" name="Oval 486"/>
          <p:cNvSpPr>
            <a:spLocks noChangeArrowheads="1"/>
          </p:cNvSpPr>
          <p:nvPr/>
        </p:nvSpPr>
        <p:spPr bwMode="auto">
          <a:xfrm>
            <a:off x="3134916" y="4762500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102" name="Oval 487"/>
          <p:cNvSpPr>
            <a:spLocks noChangeArrowheads="1"/>
          </p:cNvSpPr>
          <p:nvPr/>
        </p:nvSpPr>
        <p:spPr bwMode="auto">
          <a:xfrm>
            <a:off x="3188494" y="2552700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103" name="Oval 488"/>
          <p:cNvSpPr>
            <a:spLocks noChangeArrowheads="1"/>
          </p:cNvSpPr>
          <p:nvPr/>
        </p:nvSpPr>
        <p:spPr bwMode="auto">
          <a:xfrm>
            <a:off x="4264819" y="2476500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104" name="Oval 489"/>
          <p:cNvSpPr>
            <a:spLocks noChangeArrowheads="1"/>
          </p:cNvSpPr>
          <p:nvPr/>
        </p:nvSpPr>
        <p:spPr bwMode="auto">
          <a:xfrm>
            <a:off x="3693319" y="2552700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105" name="Line 491"/>
          <p:cNvSpPr>
            <a:spLocks noChangeShapeType="1"/>
          </p:cNvSpPr>
          <p:nvPr/>
        </p:nvSpPr>
        <p:spPr bwMode="auto">
          <a:xfrm flipH="1" flipV="1">
            <a:off x="7208044" y="2057400"/>
            <a:ext cx="0" cy="1371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106" name="Rectangle 492"/>
          <p:cNvSpPr>
            <a:spLocks noChangeArrowheads="1"/>
          </p:cNvSpPr>
          <p:nvPr/>
        </p:nvSpPr>
        <p:spPr bwMode="auto">
          <a:xfrm>
            <a:off x="7836694" y="4629150"/>
            <a:ext cx="8001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</a:rPr>
              <a:t>CT</a:t>
            </a: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7" name="Rectangle 493"/>
          <p:cNvSpPr>
            <a:spLocks noChangeArrowheads="1"/>
          </p:cNvSpPr>
          <p:nvPr/>
        </p:nvSpPr>
        <p:spPr bwMode="auto">
          <a:xfrm>
            <a:off x="8865394" y="4629150"/>
            <a:ext cx="228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</a:rPr>
              <a:t>CO</a:t>
            </a: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Box 494"/>
          <p:cNvSpPr txBox="1">
            <a:spLocks noChangeArrowheads="1"/>
          </p:cNvSpPr>
          <p:nvPr/>
        </p:nvSpPr>
        <p:spPr bwMode="auto">
          <a:xfrm>
            <a:off x="8105775" y="4457702"/>
            <a:ext cx="238760" cy="1898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900">
                <a:solidFill>
                  <a:schemeClr val="tx2"/>
                </a:solidFill>
              </a:rPr>
              <a:t>40</a:t>
            </a:r>
            <a:endParaRPr lang="en-US" sz="900">
              <a:solidFill>
                <a:schemeClr val="tx2"/>
              </a:solidFill>
            </a:endParaRPr>
          </a:p>
        </p:txBody>
      </p:sp>
      <p:sp>
        <p:nvSpPr>
          <p:cNvPr id="109" name="Text Box 495"/>
          <p:cNvSpPr txBox="1">
            <a:spLocks noChangeArrowheads="1"/>
          </p:cNvSpPr>
          <p:nvPr/>
        </p:nvSpPr>
        <p:spPr bwMode="auto">
          <a:xfrm>
            <a:off x="8884446" y="4457702"/>
            <a:ext cx="186690" cy="1898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900">
                <a:solidFill>
                  <a:schemeClr val="tx2"/>
                </a:solidFill>
              </a:rPr>
              <a:t>6</a:t>
            </a:r>
            <a:endParaRPr lang="en-US" sz="900">
              <a:solidFill>
                <a:schemeClr val="tx2"/>
              </a:solidFill>
            </a:endParaRPr>
          </a:p>
        </p:txBody>
      </p:sp>
      <p:sp>
        <p:nvSpPr>
          <p:cNvPr id="110" name="Rectangle 496"/>
          <p:cNvSpPr>
            <a:spLocks noChangeArrowheads="1"/>
          </p:cNvSpPr>
          <p:nvPr/>
        </p:nvSpPr>
        <p:spPr bwMode="auto">
          <a:xfrm>
            <a:off x="8636794" y="4629150"/>
            <a:ext cx="228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tx2"/>
                </a:solidFill>
              </a:rPr>
              <a:t>CI</a:t>
            </a:r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11" name="Text Box 497"/>
          <p:cNvSpPr txBox="1">
            <a:spLocks noChangeArrowheads="1"/>
          </p:cNvSpPr>
          <p:nvPr/>
        </p:nvSpPr>
        <p:spPr bwMode="auto">
          <a:xfrm>
            <a:off x="8636796" y="4457702"/>
            <a:ext cx="186690" cy="1898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900">
                <a:solidFill>
                  <a:schemeClr val="tx2"/>
                </a:solidFill>
              </a:rPr>
              <a:t>6</a:t>
            </a:r>
            <a:endParaRPr lang="en-US" sz="900">
              <a:solidFill>
                <a:schemeClr val="tx2"/>
              </a:solidFill>
            </a:endParaRPr>
          </a:p>
        </p:txBody>
      </p:sp>
      <p:sp>
        <p:nvSpPr>
          <p:cNvPr id="112" name="Oval 498"/>
          <p:cNvSpPr>
            <a:spLocks noChangeArrowheads="1"/>
          </p:cNvSpPr>
          <p:nvPr/>
        </p:nvSpPr>
        <p:spPr bwMode="auto">
          <a:xfrm>
            <a:off x="7979569" y="4600575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113" name="Oval 499"/>
          <p:cNvSpPr>
            <a:spLocks noChangeArrowheads="1"/>
          </p:cNvSpPr>
          <p:nvPr/>
        </p:nvSpPr>
        <p:spPr bwMode="auto">
          <a:xfrm>
            <a:off x="8770144" y="4600575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114" name="Oval 500"/>
          <p:cNvSpPr>
            <a:spLocks noChangeArrowheads="1"/>
          </p:cNvSpPr>
          <p:nvPr/>
        </p:nvSpPr>
        <p:spPr bwMode="auto">
          <a:xfrm>
            <a:off x="9008269" y="4600575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115" name="Line 501"/>
          <p:cNvSpPr>
            <a:spLocks noChangeShapeType="1"/>
          </p:cNvSpPr>
          <p:nvPr/>
        </p:nvSpPr>
        <p:spPr bwMode="auto">
          <a:xfrm>
            <a:off x="8579644" y="5143500"/>
            <a:ext cx="7429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116" name="Line 502"/>
          <p:cNvSpPr>
            <a:spLocks noChangeShapeType="1"/>
          </p:cNvSpPr>
          <p:nvPr/>
        </p:nvSpPr>
        <p:spPr bwMode="auto">
          <a:xfrm flipV="1">
            <a:off x="9322594" y="2800350"/>
            <a:ext cx="0" cy="2343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117" name="Rectangle 503"/>
          <p:cNvSpPr>
            <a:spLocks noChangeArrowheads="1"/>
          </p:cNvSpPr>
          <p:nvPr/>
        </p:nvSpPr>
        <p:spPr bwMode="auto">
          <a:xfrm>
            <a:off x="8236744" y="1657350"/>
            <a:ext cx="1143000" cy="628650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 dirty="0">
                <a:solidFill>
                  <a:schemeClr val="tx2"/>
                </a:solidFill>
              </a:rPr>
              <a:t>L2, L3, </a:t>
            </a:r>
            <a:r>
              <a:rPr lang="zh-CN" altLang="en-US" sz="1200" dirty="0" smtClean="0">
                <a:solidFill>
                  <a:schemeClr val="tx2"/>
                </a:solidFill>
              </a:rPr>
              <a:t>和主存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118" name="Text Box 504"/>
          <p:cNvSpPr txBox="1">
            <a:spLocks noChangeArrowheads="1"/>
          </p:cNvSpPr>
          <p:nvPr/>
        </p:nvSpPr>
        <p:spPr bwMode="auto">
          <a:xfrm>
            <a:off x="6960395" y="2962276"/>
            <a:ext cx="2080022" cy="452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7865" tIns="33338" rIns="67865" bIns="33338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 dirty="0">
                <a:solidFill>
                  <a:schemeClr val="tx2"/>
                </a:solidFill>
              </a:rPr>
              <a:t>L1 </a:t>
            </a:r>
            <a:r>
              <a:rPr lang="en-US" sz="1200" dirty="0" err="1">
                <a:solidFill>
                  <a:schemeClr val="tx2"/>
                </a:solidFill>
              </a:rPr>
              <a:t>d</a:t>
            </a:r>
            <a:r>
              <a:rPr lang="en-US" sz="1200" dirty="0">
                <a:solidFill>
                  <a:schemeClr val="tx2"/>
                </a:solidFill>
              </a:rPr>
              <a:t>-cache </a:t>
            </a:r>
            <a:endParaRPr lang="en-US" sz="1200" dirty="0">
              <a:solidFill>
                <a:schemeClr val="tx2"/>
              </a:solidFill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 dirty="0">
                <a:solidFill>
                  <a:schemeClr val="tx2"/>
                </a:solidFill>
              </a:rPr>
              <a:t>(64 </a:t>
            </a:r>
            <a:r>
              <a:rPr lang="zh-CN" altLang="en-US" sz="1200" dirty="0" smtClean="0">
                <a:solidFill>
                  <a:schemeClr val="tx2"/>
                </a:solidFill>
              </a:rPr>
              <a:t>组</a:t>
            </a:r>
            <a:r>
              <a:rPr lang="en-US" sz="1200" dirty="0" smtClean="0">
                <a:solidFill>
                  <a:schemeClr val="tx2"/>
                </a:solidFill>
              </a:rPr>
              <a:t>, </a:t>
            </a:r>
            <a:r>
              <a:rPr lang="en-US" sz="1200" dirty="0">
                <a:solidFill>
                  <a:schemeClr val="tx2"/>
                </a:solidFill>
              </a:rPr>
              <a:t>8 </a:t>
            </a:r>
            <a:r>
              <a:rPr lang="zh-CN" altLang="en-US" sz="1200" dirty="0" smtClean="0">
                <a:solidFill>
                  <a:schemeClr val="tx2"/>
                </a:solidFill>
              </a:rPr>
              <a:t>行</a:t>
            </a:r>
            <a:r>
              <a:rPr lang="en-US" sz="1200" dirty="0" smtClean="0">
                <a:solidFill>
                  <a:schemeClr val="tx2"/>
                </a:solidFill>
              </a:rPr>
              <a:t>/</a:t>
            </a:r>
            <a:r>
              <a:rPr lang="zh-CN" altLang="en-US" sz="1200" dirty="0" smtClean="0">
                <a:solidFill>
                  <a:schemeClr val="tx2"/>
                </a:solidFill>
              </a:rPr>
              <a:t>组</a:t>
            </a:r>
            <a:r>
              <a:rPr lang="en-US" sz="1200" dirty="0" smtClean="0">
                <a:solidFill>
                  <a:schemeClr val="tx2"/>
                </a:solidFill>
              </a:rPr>
              <a:t>)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119" name="Line 505"/>
          <p:cNvSpPr>
            <a:spLocks noChangeShapeType="1"/>
          </p:cNvSpPr>
          <p:nvPr/>
        </p:nvSpPr>
        <p:spPr bwMode="auto">
          <a:xfrm flipH="1">
            <a:off x="8865394" y="2800350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120" name="Line 506"/>
          <p:cNvSpPr>
            <a:spLocks noChangeShapeType="1"/>
          </p:cNvSpPr>
          <p:nvPr/>
        </p:nvSpPr>
        <p:spPr bwMode="auto">
          <a:xfrm flipV="1">
            <a:off x="8865394" y="2286000"/>
            <a:ext cx="0" cy="514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121" name="Line 507"/>
          <p:cNvSpPr>
            <a:spLocks noChangeShapeType="1"/>
          </p:cNvSpPr>
          <p:nvPr/>
        </p:nvSpPr>
        <p:spPr bwMode="auto">
          <a:xfrm flipH="1">
            <a:off x="7550944" y="1943100"/>
            <a:ext cx="685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122" name="Text Box 508"/>
          <p:cNvSpPr txBox="1">
            <a:spLocks noChangeArrowheads="1"/>
          </p:cNvSpPr>
          <p:nvPr/>
        </p:nvSpPr>
        <p:spPr bwMode="auto">
          <a:xfrm>
            <a:off x="7129713" y="2400301"/>
            <a:ext cx="440690" cy="452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 i="1" dirty="0">
                <a:solidFill>
                  <a:schemeClr val="tx2"/>
                </a:solidFill>
              </a:rPr>
              <a:t>L1</a:t>
            </a:r>
            <a:endParaRPr lang="en-US" sz="1200" i="1" dirty="0">
              <a:solidFill>
                <a:schemeClr val="tx2"/>
              </a:solidFill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zh-CN" altLang="en-US" sz="1200" i="1" dirty="0" smtClean="0">
                <a:solidFill>
                  <a:schemeClr val="tx2"/>
                </a:solidFill>
              </a:rPr>
              <a:t>命中</a:t>
            </a:r>
            <a:endParaRPr lang="en-US" sz="1200" i="1" dirty="0">
              <a:solidFill>
                <a:schemeClr val="tx2"/>
              </a:solidFill>
            </a:endParaRPr>
          </a:p>
        </p:txBody>
      </p:sp>
      <p:sp>
        <p:nvSpPr>
          <p:cNvPr id="123" name="Text Box 509"/>
          <p:cNvSpPr txBox="1">
            <a:spLocks noChangeArrowheads="1"/>
          </p:cNvSpPr>
          <p:nvPr/>
        </p:nvSpPr>
        <p:spPr bwMode="auto">
          <a:xfrm>
            <a:off x="8846001" y="2343151"/>
            <a:ext cx="440690" cy="452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200" i="1" dirty="0">
                <a:solidFill>
                  <a:schemeClr val="tx2"/>
                </a:solidFill>
              </a:rPr>
              <a:t>L1</a:t>
            </a:r>
            <a:endParaRPr lang="en-US" sz="1200" i="1" dirty="0">
              <a:solidFill>
                <a:schemeClr val="tx2"/>
              </a:solidFill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zh-CN" altLang="en-US" sz="1200" i="1" dirty="0" smtClean="0">
                <a:solidFill>
                  <a:schemeClr val="tx2"/>
                </a:solidFill>
              </a:rPr>
              <a:t>缺失</a:t>
            </a:r>
            <a:endParaRPr lang="en-US" sz="1200" i="1" dirty="0">
              <a:solidFill>
                <a:schemeClr val="tx2"/>
              </a:solidFill>
            </a:endParaRPr>
          </a:p>
        </p:txBody>
      </p:sp>
      <p:sp>
        <p:nvSpPr>
          <p:cNvPr id="124" name="Line 510"/>
          <p:cNvSpPr>
            <a:spLocks noChangeShapeType="1"/>
          </p:cNvSpPr>
          <p:nvPr/>
        </p:nvSpPr>
        <p:spPr bwMode="auto">
          <a:xfrm flipH="1">
            <a:off x="4007644" y="1943100"/>
            <a:ext cx="2743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125" name="Line 511"/>
          <p:cNvSpPr>
            <a:spLocks noChangeShapeType="1"/>
          </p:cNvSpPr>
          <p:nvPr/>
        </p:nvSpPr>
        <p:spPr bwMode="auto">
          <a:xfrm flipV="1">
            <a:off x="8465344" y="4972050"/>
            <a:ext cx="285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126" name="Line 512"/>
          <p:cNvSpPr>
            <a:spLocks noChangeShapeType="1"/>
          </p:cNvSpPr>
          <p:nvPr/>
        </p:nvSpPr>
        <p:spPr bwMode="auto">
          <a:xfrm>
            <a:off x="8579644" y="4972050"/>
            <a:ext cx="0" cy="171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127" name="Text Box 513"/>
          <p:cNvSpPr txBox="1">
            <a:spLocks noChangeArrowheads="1"/>
          </p:cNvSpPr>
          <p:nvPr/>
        </p:nvSpPr>
        <p:spPr bwMode="auto">
          <a:xfrm>
            <a:off x="3725466" y="1993425"/>
            <a:ext cx="1274445" cy="27559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1200" dirty="0" smtClean="0"/>
              <a:t>虚拟地址（</a:t>
            </a:r>
            <a:r>
              <a:rPr lang="en-US" altLang="zh-CN" sz="1200" dirty="0" smtClean="0"/>
              <a:t>VA</a:t>
            </a:r>
            <a:r>
              <a:rPr lang="zh-CN" altLang="en-US" sz="1200" dirty="0" smtClean="0"/>
              <a:t>）</a:t>
            </a:r>
            <a:endParaRPr lang="en-US" sz="1200" dirty="0"/>
          </a:p>
        </p:txBody>
      </p:sp>
      <p:sp>
        <p:nvSpPr>
          <p:cNvPr id="128" name="Rectangle 514"/>
          <p:cNvSpPr>
            <a:spLocks noChangeArrowheads="1"/>
          </p:cNvSpPr>
          <p:nvPr/>
        </p:nvSpPr>
        <p:spPr bwMode="auto">
          <a:xfrm>
            <a:off x="3893344" y="4562475"/>
            <a:ext cx="40005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050">
                <a:solidFill>
                  <a:schemeClr val="tx2"/>
                </a:solidFill>
              </a:rPr>
              <a:t>VPN3</a:t>
            </a:r>
            <a:endParaRPr lang="en-US" sz="1050">
              <a:solidFill>
                <a:schemeClr val="tx2"/>
              </a:solidFill>
            </a:endParaRPr>
          </a:p>
        </p:txBody>
      </p:sp>
      <p:sp>
        <p:nvSpPr>
          <p:cNvPr id="129" name="Rectangle 515"/>
          <p:cNvSpPr>
            <a:spLocks noChangeArrowheads="1"/>
          </p:cNvSpPr>
          <p:nvPr/>
        </p:nvSpPr>
        <p:spPr bwMode="auto">
          <a:xfrm>
            <a:off x="4293394" y="4562475"/>
            <a:ext cx="40005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050">
                <a:solidFill>
                  <a:schemeClr val="tx2"/>
                </a:solidFill>
              </a:rPr>
              <a:t>VPN4</a:t>
            </a:r>
            <a:endParaRPr lang="en-US" sz="1050">
              <a:solidFill>
                <a:schemeClr val="tx2"/>
              </a:solidFill>
            </a:endParaRPr>
          </a:p>
        </p:txBody>
      </p:sp>
      <p:sp>
        <p:nvSpPr>
          <p:cNvPr id="130" name="Text Box 516"/>
          <p:cNvSpPr txBox="1">
            <a:spLocks noChangeArrowheads="1"/>
          </p:cNvSpPr>
          <p:nvPr/>
        </p:nvSpPr>
        <p:spPr bwMode="auto">
          <a:xfrm>
            <a:off x="4352927" y="4400552"/>
            <a:ext cx="186690" cy="1898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900">
                <a:solidFill>
                  <a:schemeClr val="tx2"/>
                </a:solidFill>
              </a:rPr>
              <a:t>9</a:t>
            </a:r>
            <a:endParaRPr lang="en-US" sz="900">
              <a:solidFill>
                <a:schemeClr val="tx2"/>
              </a:solidFill>
            </a:endParaRPr>
          </a:p>
        </p:txBody>
      </p:sp>
      <p:sp>
        <p:nvSpPr>
          <p:cNvPr id="131" name="Text Box 517"/>
          <p:cNvSpPr txBox="1">
            <a:spLocks noChangeArrowheads="1"/>
          </p:cNvSpPr>
          <p:nvPr/>
        </p:nvSpPr>
        <p:spPr bwMode="auto">
          <a:xfrm>
            <a:off x="4007646" y="4400552"/>
            <a:ext cx="186690" cy="1898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67865" tIns="33338" rIns="67865" bIns="33338"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sz="900">
                <a:solidFill>
                  <a:schemeClr val="tx2"/>
                </a:solidFill>
              </a:rPr>
              <a:t>9</a:t>
            </a:r>
            <a:endParaRPr lang="en-US" sz="900">
              <a:solidFill>
                <a:schemeClr val="tx2"/>
              </a:solidFill>
            </a:endParaRPr>
          </a:p>
        </p:txBody>
      </p:sp>
      <p:grpSp>
        <p:nvGrpSpPr>
          <p:cNvPr id="132" name="Group 641"/>
          <p:cNvGrpSpPr/>
          <p:nvPr/>
        </p:nvGrpSpPr>
        <p:grpSpPr bwMode="auto">
          <a:xfrm>
            <a:off x="3496868" y="5081587"/>
            <a:ext cx="207169" cy="338138"/>
            <a:chOff x="739" y="2900"/>
            <a:chExt cx="174" cy="284"/>
          </a:xfrm>
        </p:grpSpPr>
        <p:sp>
          <p:nvSpPr>
            <p:cNvPr id="133" name="Line 433"/>
            <p:cNvSpPr>
              <a:spLocks noChangeShapeType="1"/>
            </p:cNvSpPr>
            <p:nvPr/>
          </p:nvSpPr>
          <p:spPr bwMode="auto">
            <a:xfrm flipV="1">
              <a:off x="739" y="3181"/>
              <a:ext cx="40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wrap="none" lIns="67865" tIns="33338" rIns="67865" bIns="33338" anchor="ctr"/>
            <a:lstStyle/>
            <a:p>
              <a:endParaRPr lang="en-US" sz="1200"/>
            </a:p>
          </p:txBody>
        </p:sp>
        <p:sp>
          <p:nvSpPr>
            <p:cNvPr id="134" name="Line 434"/>
            <p:cNvSpPr>
              <a:spLocks noChangeShapeType="1"/>
            </p:cNvSpPr>
            <p:nvPr/>
          </p:nvSpPr>
          <p:spPr bwMode="auto">
            <a:xfrm flipV="1">
              <a:off x="779" y="2900"/>
              <a:ext cx="0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wrap="none" lIns="67865" tIns="33338" rIns="67865" bIns="33338" anchor="ctr"/>
            <a:lstStyle/>
            <a:p>
              <a:endParaRPr lang="en-US" sz="1200"/>
            </a:p>
          </p:txBody>
        </p:sp>
        <p:sp>
          <p:nvSpPr>
            <p:cNvPr id="135" name="Line 523"/>
            <p:cNvSpPr>
              <a:spLocks noChangeShapeType="1"/>
            </p:cNvSpPr>
            <p:nvPr/>
          </p:nvSpPr>
          <p:spPr bwMode="auto">
            <a:xfrm>
              <a:off x="779" y="2900"/>
              <a:ext cx="134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 wrap="none" lIns="67865" tIns="33338" rIns="67865" bIns="33338" anchor="ctr"/>
            <a:lstStyle/>
            <a:p>
              <a:endParaRPr lang="en-US" sz="1200"/>
            </a:p>
          </p:txBody>
        </p:sp>
      </p:grpSp>
      <p:sp>
        <p:nvSpPr>
          <p:cNvPr id="136" name="Rectangle 525"/>
          <p:cNvSpPr>
            <a:spLocks noChangeArrowheads="1"/>
          </p:cNvSpPr>
          <p:nvPr/>
        </p:nvSpPr>
        <p:spPr bwMode="auto">
          <a:xfrm>
            <a:off x="3707607" y="5076825"/>
            <a:ext cx="276225" cy="685800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137" name="Rectangle 526"/>
          <p:cNvSpPr>
            <a:spLocks noChangeArrowheads="1"/>
          </p:cNvSpPr>
          <p:nvPr/>
        </p:nvSpPr>
        <p:spPr bwMode="auto">
          <a:xfrm>
            <a:off x="3707607" y="5286375"/>
            <a:ext cx="276225" cy="190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050">
                <a:solidFill>
                  <a:schemeClr val="tx2"/>
                </a:solidFill>
              </a:rPr>
              <a:t>PTE</a:t>
            </a:r>
            <a:endParaRPr lang="en-US" sz="1050">
              <a:solidFill>
                <a:schemeClr val="tx2"/>
              </a:solidFill>
            </a:endParaRPr>
          </a:p>
        </p:txBody>
      </p:sp>
      <p:sp>
        <p:nvSpPr>
          <p:cNvPr id="138" name="Line 542"/>
          <p:cNvSpPr>
            <a:spLocks noChangeShapeType="1"/>
          </p:cNvSpPr>
          <p:nvPr/>
        </p:nvSpPr>
        <p:spPr bwMode="auto">
          <a:xfrm>
            <a:off x="3604022" y="4798221"/>
            <a:ext cx="0" cy="58816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139" name="Line 543"/>
          <p:cNvSpPr>
            <a:spLocks noChangeShapeType="1"/>
          </p:cNvSpPr>
          <p:nvPr/>
        </p:nvSpPr>
        <p:spPr bwMode="auto">
          <a:xfrm flipV="1">
            <a:off x="3604023" y="5380436"/>
            <a:ext cx="100013" cy="714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pPr algn="ctr"/>
            <a:endParaRPr lang="en-US" sz="1050"/>
          </a:p>
        </p:txBody>
      </p:sp>
      <p:sp>
        <p:nvSpPr>
          <p:cNvPr id="140" name="Oval 544"/>
          <p:cNvSpPr>
            <a:spLocks noChangeArrowheads="1"/>
          </p:cNvSpPr>
          <p:nvPr/>
        </p:nvSpPr>
        <p:spPr bwMode="auto">
          <a:xfrm>
            <a:off x="3577829" y="4769644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141" name="Rectangle 610"/>
          <p:cNvSpPr>
            <a:spLocks noChangeArrowheads="1"/>
          </p:cNvSpPr>
          <p:nvPr/>
        </p:nvSpPr>
        <p:spPr bwMode="auto">
          <a:xfrm>
            <a:off x="4186239" y="5076825"/>
            <a:ext cx="276225" cy="685800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142" name="Rectangle 611"/>
          <p:cNvSpPr>
            <a:spLocks noChangeArrowheads="1"/>
          </p:cNvSpPr>
          <p:nvPr/>
        </p:nvSpPr>
        <p:spPr bwMode="auto">
          <a:xfrm>
            <a:off x="4186239" y="5286375"/>
            <a:ext cx="276225" cy="190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050" dirty="0">
                <a:solidFill>
                  <a:schemeClr val="tx2"/>
                </a:solidFill>
              </a:rPr>
              <a:t>PTE</a:t>
            </a:r>
            <a:endParaRPr lang="en-US" sz="1050" dirty="0">
              <a:solidFill>
                <a:schemeClr val="tx2"/>
              </a:solidFill>
            </a:endParaRPr>
          </a:p>
        </p:txBody>
      </p:sp>
      <p:sp>
        <p:nvSpPr>
          <p:cNvPr id="143" name="Line 612"/>
          <p:cNvSpPr>
            <a:spLocks noChangeShapeType="1"/>
          </p:cNvSpPr>
          <p:nvPr/>
        </p:nvSpPr>
        <p:spPr bwMode="auto">
          <a:xfrm flipH="1">
            <a:off x="4081464" y="4798221"/>
            <a:ext cx="1191" cy="59293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144" name="Line 613"/>
          <p:cNvSpPr>
            <a:spLocks noChangeShapeType="1"/>
          </p:cNvSpPr>
          <p:nvPr/>
        </p:nvSpPr>
        <p:spPr bwMode="auto">
          <a:xfrm flipV="1">
            <a:off x="4082654" y="5384007"/>
            <a:ext cx="100013" cy="714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pPr algn="ctr"/>
            <a:endParaRPr lang="en-US" sz="1050"/>
          </a:p>
        </p:txBody>
      </p:sp>
      <p:sp>
        <p:nvSpPr>
          <p:cNvPr id="145" name="Oval 614"/>
          <p:cNvSpPr>
            <a:spLocks noChangeArrowheads="1"/>
          </p:cNvSpPr>
          <p:nvPr/>
        </p:nvSpPr>
        <p:spPr bwMode="auto">
          <a:xfrm>
            <a:off x="4056460" y="4769644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146" name="Rectangle 619"/>
          <p:cNvSpPr>
            <a:spLocks noChangeArrowheads="1"/>
          </p:cNvSpPr>
          <p:nvPr/>
        </p:nvSpPr>
        <p:spPr bwMode="auto">
          <a:xfrm>
            <a:off x="4664870" y="5073254"/>
            <a:ext cx="276225" cy="685800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147" name="Rectangle 620"/>
          <p:cNvSpPr>
            <a:spLocks noChangeArrowheads="1"/>
          </p:cNvSpPr>
          <p:nvPr/>
        </p:nvSpPr>
        <p:spPr bwMode="auto">
          <a:xfrm>
            <a:off x="4664870" y="5282804"/>
            <a:ext cx="276225" cy="190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67865" tIns="33338" rIns="67865" bIns="33338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050">
                <a:solidFill>
                  <a:schemeClr val="tx2"/>
                </a:solidFill>
              </a:rPr>
              <a:t>PTE</a:t>
            </a:r>
            <a:endParaRPr lang="en-US" sz="1050">
              <a:solidFill>
                <a:schemeClr val="tx2"/>
              </a:solidFill>
            </a:endParaRPr>
          </a:p>
        </p:txBody>
      </p:sp>
      <p:sp>
        <p:nvSpPr>
          <p:cNvPr id="148" name="Line 621"/>
          <p:cNvSpPr>
            <a:spLocks noChangeShapeType="1"/>
          </p:cNvSpPr>
          <p:nvPr/>
        </p:nvSpPr>
        <p:spPr bwMode="auto">
          <a:xfrm>
            <a:off x="4561285" y="4794649"/>
            <a:ext cx="0" cy="59174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149" name="Line 622"/>
          <p:cNvSpPr>
            <a:spLocks noChangeShapeType="1"/>
          </p:cNvSpPr>
          <p:nvPr/>
        </p:nvSpPr>
        <p:spPr bwMode="auto">
          <a:xfrm flipV="1">
            <a:off x="4561286" y="5384007"/>
            <a:ext cx="100013" cy="714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pPr algn="ctr"/>
            <a:endParaRPr lang="en-US" sz="1050"/>
          </a:p>
        </p:txBody>
      </p:sp>
      <p:sp>
        <p:nvSpPr>
          <p:cNvPr id="150" name="Oval 623"/>
          <p:cNvSpPr>
            <a:spLocks noChangeArrowheads="1"/>
          </p:cNvSpPr>
          <p:nvPr/>
        </p:nvSpPr>
        <p:spPr bwMode="auto">
          <a:xfrm>
            <a:off x="4535091" y="4766072"/>
            <a:ext cx="57150" cy="571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151" name="Line 626"/>
          <p:cNvSpPr>
            <a:spLocks noChangeShapeType="1"/>
          </p:cNvSpPr>
          <p:nvPr/>
        </p:nvSpPr>
        <p:spPr bwMode="auto">
          <a:xfrm>
            <a:off x="7179469" y="3436145"/>
            <a:ext cx="0" cy="3357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152" name="Line 627"/>
          <p:cNvSpPr>
            <a:spLocks noChangeShapeType="1"/>
          </p:cNvSpPr>
          <p:nvPr/>
        </p:nvSpPr>
        <p:spPr bwMode="auto">
          <a:xfrm>
            <a:off x="7572375" y="3436145"/>
            <a:ext cx="0" cy="3357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153" name="Line 628"/>
          <p:cNvSpPr>
            <a:spLocks noChangeShapeType="1"/>
          </p:cNvSpPr>
          <p:nvPr/>
        </p:nvSpPr>
        <p:spPr bwMode="auto">
          <a:xfrm>
            <a:off x="7965281" y="3429001"/>
            <a:ext cx="0" cy="3357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154" name="Line 629"/>
          <p:cNvSpPr>
            <a:spLocks noChangeShapeType="1"/>
          </p:cNvSpPr>
          <p:nvPr/>
        </p:nvSpPr>
        <p:spPr bwMode="auto">
          <a:xfrm>
            <a:off x="8379619" y="3436145"/>
            <a:ext cx="0" cy="3357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155" name="Line 631"/>
          <p:cNvSpPr>
            <a:spLocks noChangeShapeType="1"/>
          </p:cNvSpPr>
          <p:nvPr/>
        </p:nvSpPr>
        <p:spPr bwMode="auto">
          <a:xfrm>
            <a:off x="7181850" y="3943350"/>
            <a:ext cx="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156" name="Line 632"/>
          <p:cNvSpPr>
            <a:spLocks noChangeShapeType="1"/>
          </p:cNvSpPr>
          <p:nvPr/>
        </p:nvSpPr>
        <p:spPr bwMode="auto">
          <a:xfrm>
            <a:off x="7579519" y="3946923"/>
            <a:ext cx="0" cy="11072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157" name="Line 633"/>
          <p:cNvSpPr>
            <a:spLocks noChangeShapeType="1"/>
          </p:cNvSpPr>
          <p:nvPr/>
        </p:nvSpPr>
        <p:spPr bwMode="auto">
          <a:xfrm>
            <a:off x="7981950" y="3945731"/>
            <a:ext cx="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158" name="Line 634"/>
          <p:cNvSpPr>
            <a:spLocks noChangeShapeType="1"/>
          </p:cNvSpPr>
          <p:nvPr/>
        </p:nvSpPr>
        <p:spPr bwMode="auto">
          <a:xfrm>
            <a:off x="8379619" y="3945731"/>
            <a:ext cx="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sp>
        <p:nvSpPr>
          <p:cNvPr id="159" name="Line 635"/>
          <p:cNvSpPr>
            <a:spLocks noChangeShapeType="1"/>
          </p:cNvSpPr>
          <p:nvPr/>
        </p:nvSpPr>
        <p:spPr bwMode="auto">
          <a:xfrm flipV="1">
            <a:off x="7289006" y="4057650"/>
            <a:ext cx="0" cy="2857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160" name="Line 636"/>
          <p:cNvSpPr>
            <a:spLocks noChangeShapeType="1"/>
          </p:cNvSpPr>
          <p:nvPr/>
        </p:nvSpPr>
        <p:spPr bwMode="auto">
          <a:xfrm flipV="1">
            <a:off x="7679531" y="4058841"/>
            <a:ext cx="0" cy="2809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161" name="Line 637"/>
          <p:cNvSpPr>
            <a:spLocks noChangeShapeType="1"/>
          </p:cNvSpPr>
          <p:nvPr/>
        </p:nvSpPr>
        <p:spPr bwMode="auto">
          <a:xfrm flipV="1">
            <a:off x="8084344" y="4052888"/>
            <a:ext cx="0" cy="2857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162" name="Line 638"/>
          <p:cNvSpPr>
            <a:spLocks noChangeShapeType="1"/>
          </p:cNvSpPr>
          <p:nvPr/>
        </p:nvSpPr>
        <p:spPr bwMode="auto">
          <a:xfrm flipV="1">
            <a:off x="8486775" y="4060034"/>
            <a:ext cx="0" cy="27979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wrap="none" lIns="67865" tIns="33338" rIns="67865" bIns="33338" anchor="ctr"/>
          <a:lstStyle/>
          <a:p>
            <a:endParaRPr lang="en-US" sz="1200"/>
          </a:p>
        </p:txBody>
      </p:sp>
      <p:sp>
        <p:nvSpPr>
          <p:cNvPr id="163" name="Line 639"/>
          <p:cNvSpPr>
            <a:spLocks noChangeShapeType="1"/>
          </p:cNvSpPr>
          <p:nvPr/>
        </p:nvSpPr>
        <p:spPr bwMode="auto">
          <a:xfrm>
            <a:off x="3069432" y="5076825"/>
            <a:ext cx="176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sz="1200"/>
          </a:p>
        </p:txBody>
      </p:sp>
      <p:grpSp>
        <p:nvGrpSpPr>
          <p:cNvPr id="164" name="Group 642"/>
          <p:cNvGrpSpPr/>
          <p:nvPr/>
        </p:nvGrpSpPr>
        <p:grpSpPr bwMode="auto">
          <a:xfrm>
            <a:off x="3982643" y="5078016"/>
            <a:ext cx="207169" cy="338138"/>
            <a:chOff x="739" y="2900"/>
            <a:chExt cx="174" cy="284"/>
          </a:xfrm>
        </p:grpSpPr>
        <p:sp>
          <p:nvSpPr>
            <p:cNvPr id="165" name="Line 643"/>
            <p:cNvSpPr>
              <a:spLocks noChangeShapeType="1"/>
            </p:cNvSpPr>
            <p:nvPr/>
          </p:nvSpPr>
          <p:spPr bwMode="auto">
            <a:xfrm flipV="1">
              <a:off x="739" y="3181"/>
              <a:ext cx="40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wrap="none" lIns="67865" tIns="33338" rIns="67865" bIns="33338" anchor="ctr"/>
            <a:lstStyle/>
            <a:p>
              <a:endParaRPr lang="en-US" sz="1200"/>
            </a:p>
          </p:txBody>
        </p:sp>
        <p:sp>
          <p:nvSpPr>
            <p:cNvPr id="166" name="Line 644"/>
            <p:cNvSpPr>
              <a:spLocks noChangeShapeType="1"/>
            </p:cNvSpPr>
            <p:nvPr/>
          </p:nvSpPr>
          <p:spPr bwMode="auto">
            <a:xfrm flipV="1">
              <a:off x="779" y="2900"/>
              <a:ext cx="0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wrap="none" lIns="67865" tIns="33338" rIns="67865" bIns="33338" anchor="ctr"/>
            <a:lstStyle/>
            <a:p>
              <a:endParaRPr lang="en-US" sz="1200"/>
            </a:p>
          </p:txBody>
        </p:sp>
        <p:sp>
          <p:nvSpPr>
            <p:cNvPr id="167" name="Line 645"/>
            <p:cNvSpPr>
              <a:spLocks noChangeShapeType="1"/>
            </p:cNvSpPr>
            <p:nvPr/>
          </p:nvSpPr>
          <p:spPr bwMode="auto">
            <a:xfrm>
              <a:off x="779" y="2900"/>
              <a:ext cx="134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 wrap="none" lIns="67865" tIns="33338" rIns="67865" bIns="33338" anchor="ctr"/>
            <a:lstStyle/>
            <a:p>
              <a:endParaRPr lang="en-US" sz="1200"/>
            </a:p>
          </p:txBody>
        </p:sp>
      </p:grpSp>
      <p:grpSp>
        <p:nvGrpSpPr>
          <p:cNvPr id="168" name="Group 646"/>
          <p:cNvGrpSpPr/>
          <p:nvPr/>
        </p:nvGrpSpPr>
        <p:grpSpPr bwMode="auto">
          <a:xfrm>
            <a:off x="4461274" y="5078016"/>
            <a:ext cx="207169" cy="338138"/>
            <a:chOff x="739" y="2900"/>
            <a:chExt cx="174" cy="284"/>
          </a:xfrm>
        </p:grpSpPr>
        <p:sp>
          <p:nvSpPr>
            <p:cNvPr id="169" name="Line 647"/>
            <p:cNvSpPr>
              <a:spLocks noChangeShapeType="1"/>
            </p:cNvSpPr>
            <p:nvPr/>
          </p:nvSpPr>
          <p:spPr bwMode="auto">
            <a:xfrm flipV="1">
              <a:off x="739" y="3181"/>
              <a:ext cx="40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wrap="none" lIns="67865" tIns="33338" rIns="67865" bIns="33338" anchor="ctr"/>
            <a:lstStyle/>
            <a:p>
              <a:endParaRPr lang="en-US" sz="1200"/>
            </a:p>
          </p:txBody>
        </p:sp>
        <p:sp>
          <p:nvSpPr>
            <p:cNvPr id="170" name="Line 648"/>
            <p:cNvSpPr>
              <a:spLocks noChangeShapeType="1"/>
            </p:cNvSpPr>
            <p:nvPr/>
          </p:nvSpPr>
          <p:spPr bwMode="auto">
            <a:xfrm flipV="1">
              <a:off x="779" y="2900"/>
              <a:ext cx="0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wrap="none" lIns="67865" tIns="33338" rIns="67865" bIns="33338" anchor="ctr"/>
            <a:lstStyle/>
            <a:p>
              <a:endParaRPr lang="en-US" sz="1200"/>
            </a:p>
          </p:txBody>
        </p:sp>
        <p:sp>
          <p:nvSpPr>
            <p:cNvPr id="171" name="Line 649"/>
            <p:cNvSpPr>
              <a:spLocks noChangeShapeType="1"/>
            </p:cNvSpPr>
            <p:nvPr/>
          </p:nvSpPr>
          <p:spPr bwMode="auto">
            <a:xfrm>
              <a:off x="779" y="2900"/>
              <a:ext cx="134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 wrap="none" lIns="67865" tIns="33338" rIns="67865" bIns="33338" anchor="ctr"/>
            <a:lstStyle/>
            <a:p>
              <a:endParaRPr lang="en-US" sz="12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加快</a:t>
            </a:r>
            <a:r>
              <a:rPr lang="en-US" altLang="zh-CN"/>
              <a:t>L1</a:t>
            </a:r>
            <a:r>
              <a:rPr lang="zh-CN" altLang="en-US"/>
              <a:t>访问的技巧</a:t>
            </a:r>
            <a:endParaRPr lang="zh-CN" alt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L1</a:t>
            </a:r>
            <a:r>
              <a:rPr lang="zh-CN" altLang="en-US"/>
              <a:t>访问</a:t>
            </a:r>
            <a:r>
              <a:rPr lang="zh-CN" altLang="en-US"/>
              <a:t>开销</a:t>
            </a:r>
            <a:endParaRPr lang="zh-CN" altLang="en-US"/>
          </a:p>
          <a:p>
            <a:pPr lvl="1"/>
            <a:r>
              <a:rPr lang="zh-CN" altLang="en-US" sz="2000"/>
              <a:t>首先</a:t>
            </a:r>
            <a:r>
              <a:rPr lang="en-US" altLang="zh-CN" sz="2000"/>
              <a:t>，</a:t>
            </a:r>
            <a:r>
              <a:rPr lang="en-US" altLang="zh-CN" b="1">
                <a:sym typeface="+mn-ea"/>
              </a:rPr>
              <a:t>MMU</a:t>
            </a:r>
            <a:r>
              <a:rPr lang="zh-CN" altLang="en-US" b="1">
                <a:sym typeface="+mn-ea"/>
              </a:rPr>
              <a:t>地址转换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将</a:t>
            </a:r>
            <a:r>
              <a:rPr lang="en-US" altLang="zh-CN" sz="2000"/>
              <a:t>VA</a:t>
            </a:r>
            <a:r>
              <a:rPr lang="zh-CN" altLang="en-US" sz="2000"/>
              <a:t>换成</a:t>
            </a:r>
            <a:r>
              <a:rPr lang="en-US" altLang="zh-CN" sz="2000"/>
              <a:t>PA</a:t>
            </a:r>
            <a:endParaRPr lang="en-US" altLang="zh-CN" sz="2000"/>
          </a:p>
          <a:p>
            <a:pPr lvl="1"/>
            <a:r>
              <a:rPr lang="zh-CN" altLang="en-US"/>
              <a:t>然后</a:t>
            </a:r>
            <a:r>
              <a:rPr lang="en-US" altLang="zh-CN"/>
              <a:t>，</a:t>
            </a:r>
            <a:r>
              <a:rPr lang="zh-CN" altLang="en-US"/>
              <a:t>基于</a:t>
            </a:r>
            <a:r>
              <a:rPr lang="en-US" altLang="zh-CN"/>
              <a:t>PA</a:t>
            </a:r>
            <a:r>
              <a:rPr lang="zh-CN" altLang="en-US"/>
              <a:t>查找</a:t>
            </a:r>
            <a:r>
              <a:rPr lang="en-US" altLang="zh-CN"/>
              <a:t>L1 Cache</a:t>
            </a:r>
            <a:endParaRPr lang="zh-CN" altLang="en-US"/>
          </a:p>
          <a:p>
            <a:pPr lvl="0"/>
            <a:r>
              <a:rPr lang="zh-CN" altLang="en-US" sz="2400"/>
              <a:t>观察</a:t>
            </a:r>
            <a:endParaRPr lang="zh-CN" altLang="en-US" sz="2400"/>
          </a:p>
          <a:p>
            <a:pPr lvl="1"/>
            <a:r>
              <a:rPr lang="en-US" altLang="zh-CN" sz="2000"/>
              <a:t>PA</a:t>
            </a:r>
            <a:r>
              <a:rPr lang="zh-CN" altLang="en-US" sz="2000"/>
              <a:t>查找</a:t>
            </a:r>
            <a:r>
              <a:rPr lang="en-US" altLang="zh-CN" sz="2000"/>
              <a:t>L1 Cache，</a:t>
            </a:r>
            <a:r>
              <a:rPr lang="zh-CN" altLang="en-US" sz="2000"/>
              <a:t>主要依赖</a:t>
            </a:r>
            <a:r>
              <a:rPr lang="en-US" altLang="zh-CN" sz="2000"/>
              <a:t>CI</a:t>
            </a:r>
            <a:r>
              <a:rPr lang="zh-CN" altLang="en-US" sz="2000"/>
              <a:t>和</a:t>
            </a:r>
            <a:r>
              <a:rPr lang="en-US" altLang="zh-CN" sz="2000"/>
              <a:t>CT</a:t>
            </a:r>
            <a:endParaRPr lang="en-US" altLang="zh-CN" sz="2000"/>
          </a:p>
          <a:p>
            <a:pPr lvl="1"/>
            <a:r>
              <a:rPr lang="zh-CN" altLang="en-US" sz="2000"/>
              <a:t>如果让</a:t>
            </a:r>
            <a:r>
              <a:rPr lang="en-US" altLang="zh-CN" sz="2000"/>
              <a:t>VA</a:t>
            </a:r>
            <a:r>
              <a:rPr lang="zh-CN" altLang="en-US" sz="2000"/>
              <a:t>的</a:t>
            </a:r>
            <a:r>
              <a:rPr lang="en-US" altLang="zh-CN" sz="2000"/>
              <a:t>CI</a:t>
            </a:r>
            <a:r>
              <a:rPr lang="zh-CN" altLang="en-US" sz="2000"/>
              <a:t>部分跟</a:t>
            </a:r>
            <a:r>
              <a:rPr lang="en-US" altLang="zh-CN" sz="2000"/>
              <a:t>PA</a:t>
            </a:r>
            <a:r>
              <a:rPr lang="zh-CN" altLang="en-US" sz="2000"/>
              <a:t>的</a:t>
            </a:r>
            <a:r>
              <a:rPr lang="en-US" altLang="zh-CN" sz="2000"/>
              <a:t>CI</a:t>
            </a:r>
            <a:r>
              <a:rPr lang="zh-CN" altLang="en-US" sz="2000"/>
              <a:t>部分</a:t>
            </a:r>
            <a:r>
              <a:rPr lang="zh-CN" altLang="en-US" sz="2000"/>
              <a:t>一样</a:t>
            </a:r>
            <a:endParaRPr lang="zh-CN" altLang="en-US" sz="2000"/>
          </a:p>
          <a:p>
            <a:pPr lvl="2"/>
            <a:r>
              <a:rPr lang="zh-CN" altLang="en-US"/>
              <a:t>即</a:t>
            </a:r>
            <a:r>
              <a:rPr lang="en-US" altLang="zh-CN"/>
              <a:t>，PPN</a:t>
            </a:r>
            <a:r>
              <a:rPr lang="zh-CN" altLang="en-US"/>
              <a:t>的低地址和</a:t>
            </a:r>
            <a:r>
              <a:rPr lang="en-US" altLang="zh-CN"/>
              <a:t>VPN</a:t>
            </a:r>
            <a:r>
              <a:rPr lang="zh-CN" altLang="en-US"/>
              <a:t>的低地址一样</a:t>
            </a:r>
            <a:endParaRPr lang="zh-CN" altLang="en-US"/>
          </a:p>
          <a:p>
            <a:pPr lvl="2"/>
            <a:r>
              <a:rPr lang="zh-CN" altLang="en-US"/>
              <a:t>就可以在</a:t>
            </a:r>
            <a:r>
              <a:rPr lang="en-US" altLang="zh-CN" b="1"/>
              <a:t>MMU</a:t>
            </a:r>
            <a:r>
              <a:rPr lang="zh-CN" altLang="en-US" b="1"/>
              <a:t>地址转换</a:t>
            </a:r>
            <a:r>
              <a:rPr lang="zh-CN" altLang="en-US"/>
              <a:t>的同时</a:t>
            </a:r>
            <a:r>
              <a:rPr lang="en-US" altLang="zh-CN"/>
              <a:t>，</a:t>
            </a:r>
            <a:r>
              <a:rPr lang="zh-CN" altLang="en-US"/>
              <a:t>查找</a:t>
            </a:r>
            <a:r>
              <a:rPr lang="en-US" altLang="zh-CN"/>
              <a:t>cache</a:t>
            </a:r>
            <a:r>
              <a:rPr lang="zh-CN" altLang="en-US"/>
              <a:t>的索引</a:t>
            </a:r>
            <a:endParaRPr lang="zh-CN" altLang="en-US"/>
          </a:p>
          <a:p>
            <a:pPr lvl="1"/>
            <a:r>
              <a:rPr lang="zh-CN" altLang="en-US"/>
              <a:t>考虑到</a:t>
            </a:r>
            <a:r>
              <a:rPr lang="en-US" altLang="zh-CN"/>
              <a:t>TLB</a:t>
            </a:r>
            <a:r>
              <a:rPr lang="zh-CN" altLang="en-US"/>
              <a:t>命中率很高</a:t>
            </a:r>
            <a:r>
              <a:rPr lang="en-US" altLang="zh-CN"/>
              <a:t>，</a:t>
            </a:r>
            <a:r>
              <a:rPr lang="zh-CN" altLang="en-US"/>
              <a:t>因此</a:t>
            </a:r>
            <a:r>
              <a:rPr lang="en-US" altLang="zh-CN"/>
              <a:t>PPN</a:t>
            </a:r>
            <a:r>
              <a:rPr lang="zh-CN" altLang="en-US"/>
              <a:t>可以快速获取</a:t>
            </a:r>
            <a:endParaRPr lang="zh-CN" altLang="en-US"/>
          </a:p>
          <a:p>
            <a:pPr lvl="0"/>
            <a:r>
              <a:rPr lang="zh-CN" altLang="en-US" sz="2400"/>
              <a:t>设计</a:t>
            </a:r>
            <a:endParaRPr lang="zh-CN" altLang="en-US"/>
          </a:p>
          <a:p>
            <a:pPr lvl="1"/>
            <a:r>
              <a:rPr lang="zh-CN" altLang="en-US"/>
              <a:t>“虚拟</a:t>
            </a:r>
            <a:r>
              <a:rPr lang="en-US" altLang="zh-CN"/>
              <a:t>index</a:t>
            </a:r>
            <a:r>
              <a:rPr lang="zh-CN" altLang="en-US"/>
              <a:t>，物理</a:t>
            </a:r>
            <a:r>
              <a:rPr lang="en-US" altLang="zh-CN"/>
              <a:t>tag</a:t>
            </a:r>
            <a:r>
              <a:rPr lang="zh-CN" altLang="en-US"/>
              <a:t>”</a:t>
            </a:r>
            <a:endParaRPr lang="en-GB"/>
          </a:p>
          <a:p>
            <a:pPr lvl="1"/>
            <a:r>
              <a:rPr lang="zh-CN" altLang="en-US"/>
              <a:t>精心设计</a:t>
            </a:r>
            <a:r>
              <a:rPr lang="en-GB"/>
              <a:t>Cache</a:t>
            </a:r>
            <a:r>
              <a:rPr lang="zh-CN" altLang="en-US"/>
              <a:t>大小以实现这个目标</a:t>
            </a:r>
            <a:endParaRPr lang="zh-CN" altLang="en-US"/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5894705" y="2029460"/>
            <a:ext cx="857250" cy="44767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square" lIns="67770" tIns="33210" rIns="67770" bIns="33210">
            <a:spAutoFit/>
          </a:bodyPr>
          <a:lstStyle/>
          <a:p>
            <a:pPr algn="r">
              <a:lnSpc>
                <a:spcPct val="88000"/>
              </a:lnSpc>
              <a:spcBef>
                <a:spcPts val="4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zh-CN" altLang="en-US" sz="1200" dirty="0" smtClean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物理地址</a:t>
            </a:r>
            <a:endParaRPr lang="en-US" altLang="zh-CN" sz="1200" dirty="0" smtClean="0">
              <a:solidFill>
                <a:srgbClr val="003300"/>
              </a:solidFill>
              <a:latin typeface="Calibri" pitchFamily="34" charset="0"/>
              <a:ea typeface="msgothic" charset="0"/>
              <a:cs typeface="msgothic" charset="0"/>
            </a:endParaRPr>
          </a:p>
          <a:p>
            <a:pPr algn="r">
              <a:lnSpc>
                <a:spcPct val="88000"/>
              </a:lnSpc>
              <a:spcBef>
                <a:spcPts val="4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zh-CN" altLang="en-US" sz="1200" dirty="0" smtClean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（</a:t>
            </a:r>
            <a:r>
              <a:rPr lang="en-US" altLang="zh-CN" sz="1200" dirty="0" smtClean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PA</a:t>
            </a:r>
            <a:r>
              <a:rPr lang="zh-CN" altLang="en-US" sz="1200" dirty="0" smtClean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）</a:t>
            </a:r>
            <a:endParaRPr lang="en-GB" sz="1200" dirty="0">
              <a:solidFill>
                <a:srgbClr val="003300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6975701" y="2045851"/>
            <a:ext cx="800100" cy="2286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CT</a:t>
            </a:r>
            <a:endParaRPr lang="en-GB" sz="1050" dirty="0">
              <a:solidFill>
                <a:srgbClr val="003300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8004401" y="2045851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CO</a:t>
            </a:r>
            <a:endParaRPr lang="en-GB" sz="1050" dirty="0">
              <a:solidFill>
                <a:srgbClr val="003300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7205493" y="1874402"/>
            <a:ext cx="274722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40</a:t>
            </a:r>
            <a:endParaRPr lang="en-GB" sz="1050" dirty="0">
              <a:solidFill>
                <a:srgbClr val="003300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8023452" y="1874402"/>
            <a:ext cx="205793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6</a:t>
            </a:r>
            <a:endParaRPr lang="en-GB" sz="1050" dirty="0">
              <a:solidFill>
                <a:srgbClr val="003300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7775801" y="2045851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CI</a:t>
            </a:r>
            <a:endParaRPr lang="en-GB" sz="1050" dirty="0">
              <a:solidFill>
                <a:srgbClr val="003300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6633" name="Text Box 9"/>
          <p:cNvSpPr txBox="1">
            <a:spLocks noChangeArrowheads="1"/>
          </p:cNvSpPr>
          <p:nvPr/>
        </p:nvSpPr>
        <p:spPr bwMode="auto">
          <a:xfrm>
            <a:off x="7775802" y="1874402"/>
            <a:ext cx="205793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6</a:t>
            </a:r>
            <a:endParaRPr lang="en-GB" sz="1050" dirty="0">
              <a:solidFill>
                <a:srgbClr val="003300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6634" name="Text Box 10"/>
          <p:cNvSpPr txBox="1">
            <a:spLocks noChangeArrowheads="1"/>
          </p:cNvSpPr>
          <p:nvPr/>
        </p:nvSpPr>
        <p:spPr bwMode="auto">
          <a:xfrm>
            <a:off x="5947001" y="3127699"/>
            <a:ext cx="805034" cy="392029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square" lIns="67770" tIns="33210" rIns="67770" bIns="33210">
            <a:spAutoFit/>
          </a:bodyPr>
          <a:lstStyle/>
          <a:p>
            <a:pPr algn="r">
              <a:lnSpc>
                <a:spcPct val="88000"/>
              </a:lnSpc>
              <a:spcBef>
                <a:spcPts val="450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zh-CN" altLang="en-US" sz="1200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虚</a:t>
            </a:r>
            <a:r>
              <a:rPr lang="zh-CN" altLang="en-US" sz="1200" dirty="0" smtClean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拟地址（</a:t>
            </a:r>
            <a:r>
              <a:rPr lang="en-US" altLang="zh-CN" sz="1200" dirty="0" smtClean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VA</a:t>
            </a:r>
            <a:r>
              <a:rPr lang="zh-CN" altLang="en-US" sz="1200" dirty="0" smtClean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）</a:t>
            </a:r>
            <a:endParaRPr lang="en-GB" sz="1200" dirty="0">
              <a:solidFill>
                <a:srgbClr val="003300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6635" name="Rectangle 11"/>
          <p:cNvSpPr>
            <a:spLocks noChangeArrowheads="1"/>
          </p:cNvSpPr>
          <p:nvPr/>
        </p:nvSpPr>
        <p:spPr bwMode="auto">
          <a:xfrm>
            <a:off x="6975701" y="3474601"/>
            <a:ext cx="800100" cy="2286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VPN</a:t>
            </a:r>
            <a:endParaRPr lang="en-GB" sz="1050" dirty="0">
              <a:solidFill>
                <a:srgbClr val="003300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6636" name="Rectangle 12"/>
          <p:cNvSpPr>
            <a:spLocks noChangeArrowheads="1"/>
          </p:cNvSpPr>
          <p:nvPr/>
        </p:nvSpPr>
        <p:spPr bwMode="auto">
          <a:xfrm>
            <a:off x="7775801" y="3474601"/>
            <a:ext cx="4572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VPO</a:t>
            </a:r>
            <a:endParaRPr lang="en-GB" sz="1050" dirty="0">
              <a:solidFill>
                <a:srgbClr val="003300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6637" name="Text Box 13"/>
          <p:cNvSpPr txBox="1">
            <a:spLocks noChangeArrowheads="1"/>
          </p:cNvSpPr>
          <p:nvPr/>
        </p:nvSpPr>
        <p:spPr bwMode="auto">
          <a:xfrm>
            <a:off x="7203112" y="3760352"/>
            <a:ext cx="274722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36</a:t>
            </a:r>
            <a:endParaRPr lang="en-GB" sz="1050" dirty="0">
              <a:solidFill>
                <a:srgbClr val="003300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6638" name="Text Box 14"/>
          <p:cNvSpPr txBox="1">
            <a:spLocks noChangeArrowheads="1"/>
          </p:cNvSpPr>
          <p:nvPr/>
        </p:nvSpPr>
        <p:spPr bwMode="auto">
          <a:xfrm>
            <a:off x="7773420" y="3760353"/>
            <a:ext cx="457200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67770" tIns="33210" rIns="67770" bIns="33210">
            <a:spAutoFit/>
          </a:bodyPr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12</a:t>
            </a:r>
            <a:endParaRPr lang="en-GB" sz="1050" dirty="0">
              <a:solidFill>
                <a:srgbClr val="003300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6639" name="Rectangle 15"/>
          <p:cNvSpPr>
            <a:spLocks noChangeArrowheads="1"/>
          </p:cNvSpPr>
          <p:nvPr/>
        </p:nvSpPr>
        <p:spPr bwMode="auto">
          <a:xfrm>
            <a:off x="7775801" y="2503051"/>
            <a:ext cx="4572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PPO</a:t>
            </a:r>
            <a:endParaRPr lang="en-GB" sz="1050" dirty="0">
              <a:solidFill>
                <a:srgbClr val="003300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6640" name="Rectangle 16"/>
          <p:cNvSpPr>
            <a:spLocks noChangeArrowheads="1"/>
          </p:cNvSpPr>
          <p:nvPr/>
        </p:nvSpPr>
        <p:spPr bwMode="auto">
          <a:xfrm>
            <a:off x="6975701" y="2503051"/>
            <a:ext cx="800100" cy="2286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PPN</a:t>
            </a:r>
            <a:endParaRPr lang="en-GB" sz="1050" dirty="0">
              <a:solidFill>
                <a:srgbClr val="003300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6641" name="AutoShape 17"/>
          <p:cNvSpPr/>
          <p:nvPr/>
        </p:nvSpPr>
        <p:spPr bwMode="auto">
          <a:xfrm>
            <a:off x="6747101" y="2045851"/>
            <a:ext cx="171450" cy="685800"/>
          </a:xfrm>
          <a:prstGeom prst="leftBrace">
            <a:avLst>
              <a:gd name="adj1" fmla="val 33333"/>
              <a:gd name="adj2" fmla="val 50000"/>
            </a:avLst>
          </a:prstGeom>
          <a:noFill/>
          <a:ln w="936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6642" name="Line 18"/>
          <p:cNvSpPr>
            <a:spLocks noChangeShapeType="1"/>
          </p:cNvSpPr>
          <p:nvPr/>
        </p:nvSpPr>
        <p:spPr bwMode="auto">
          <a:xfrm flipV="1">
            <a:off x="7432902" y="3301962"/>
            <a:ext cx="1191" cy="173831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6643" name="AutoShape 19"/>
          <p:cNvSpPr>
            <a:spLocks noChangeArrowheads="1"/>
          </p:cNvSpPr>
          <p:nvPr/>
        </p:nvSpPr>
        <p:spPr bwMode="auto">
          <a:xfrm>
            <a:off x="6918551" y="2903101"/>
            <a:ext cx="857250" cy="4572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19080">
            <a:noFill/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zh-CN" altLang="en-US" sz="1200" dirty="0" smtClean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地址转换</a:t>
            </a:r>
            <a:endParaRPr lang="en-GB" sz="1200" dirty="0">
              <a:solidFill>
                <a:srgbClr val="003300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6644" name="Line 20"/>
          <p:cNvSpPr>
            <a:spLocks noChangeShapeType="1"/>
          </p:cNvSpPr>
          <p:nvPr/>
        </p:nvSpPr>
        <p:spPr bwMode="auto">
          <a:xfrm flipV="1">
            <a:off x="7432902" y="2730460"/>
            <a:ext cx="1191" cy="205740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6645" name="Line 21"/>
          <p:cNvSpPr>
            <a:spLocks noChangeShapeType="1"/>
          </p:cNvSpPr>
          <p:nvPr/>
        </p:nvSpPr>
        <p:spPr bwMode="auto">
          <a:xfrm flipV="1">
            <a:off x="8004402" y="2730463"/>
            <a:ext cx="1191" cy="745331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6646" name="Text Box 22"/>
          <p:cNvSpPr txBox="1">
            <a:spLocks noChangeArrowheads="1"/>
          </p:cNvSpPr>
          <p:nvPr/>
        </p:nvSpPr>
        <p:spPr bwMode="auto">
          <a:xfrm>
            <a:off x="8002020" y="2880480"/>
            <a:ext cx="550438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zh-CN" altLang="en-US" sz="1050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不</a:t>
            </a:r>
            <a:r>
              <a:rPr lang="zh-CN" altLang="en-US" sz="1050" dirty="0" smtClean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改变</a:t>
            </a:r>
            <a:endParaRPr lang="en-GB" sz="1050" dirty="0">
              <a:solidFill>
                <a:srgbClr val="003300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6647" name="Rectangle 23"/>
          <p:cNvSpPr>
            <a:spLocks noChangeArrowheads="1"/>
          </p:cNvSpPr>
          <p:nvPr/>
        </p:nvSpPr>
        <p:spPr bwMode="auto">
          <a:xfrm>
            <a:off x="8747351" y="2503051"/>
            <a:ext cx="2000250" cy="857250"/>
          </a:xfrm>
          <a:prstGeom prst="rect">
            <a:avLst/>
          </a:prstGeom>
          <a:solidFill>
            <a:srgbClr val="F6F5BD"/>
          </a:solidFill>
          <a:ln w="1908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6652" name="Line 28"/>
          <p:cNvSpPr>
            <a:spLocks noChangeShapeType="1"/>
          </p:cNvSpPr>
          <p:nvPr/>
        </p:nvSpPr>
        <p:spPr bwMode="auto">
          <a:xfrm flipV="1">
            <a:off x="8233003" y="2845951"/>
            <a:ext cx="701065" cy="744140"/>
          </a:xfrm>
          <a:prstGeom prst="line">
            <a:avLst/>
          </a:prstGeom>
          <a:noFill/>
          <a:ln w="19080">
            <a:solidFill>
              <a:srgbClr val="000066"/>
            </a:solidFill>
            <a:prstDash val="sysDot"/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26653" name="Rectangle 29"/>
          <p:cNvSpPr>
            <a:spLocks noChangeArrowheads="1"/>
          </p:cNvSpPr>
          <p:nvPr/>
        </p:nvSpPr>
        <p:spPr bwMode="auto">
          <a:xfrm>
            <a:off x="8446338" y="3265331"/>
            <a:ext cx="242662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CI</a:t>
            </a:r>
            <a:endParaRPr lang="en-GB" sz="1050" dirty="0">
              <a:solidFill>
                <a:srgbClr val="003300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6658" name="Freeform 34"/>
          <p:cNvSpPr/>
          <p:nvPr/>
        </p:nvSpPr>
        <p:spPr bwMode="auto">
          <a:xfrm>
            <a:off x="7547203" y="1702951"/>
            <a:ext cx="1200151" cy="457200"/>
          </a:xfrm>
          <a:custGeom>
            <a:avLst/>
            <a:gdLst/>
            <a:ahLst/>
            <a:cxnLst>
              <a:cxn ang="0">
                <a:pos x="0" y="240"/>
              </a:cxn>
              <a:cxn ang="0">
                <a:pos x="192" y="0"/>
              </a:cxn>
              <a:cxn ang="0">
                <a:pos x="1200" y="0"/>
              </a:cxn>
            </a:cxnLst>
            <a:rect l="0" t="0" r="r" b="b"/>
            <a:pathLst>
              <a:path w="1200" h="240">
                <a:moveTo>
                  <a:pt x="0" y="240"/>
                </a:moveTo>
                <a:lnTo>
                  <a:pt x="192" y="0"/>
                </a:lnTo>
                <a:lnTo>
                  <a:pt x="1200" y="0"/>
                </a:lnTo>
              </a:path>
            </a:pathLst>
          </a:custGeom>
          <a:noFill/>
          <a:ln w="19080">
            <a:solidFill>
              <a:srgbClr val="000066"/>
            </a:solidFill>
            <a:prstDash val="sysDot"/>
            <a:round/>
            <a:headEnd type="oval"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7" name="TextBox 36"/>
          <p:cNvSpPr txBox="1"/>
          <p:nvPr/>
        </p:nvSpPr>
        <p:spPr>
          <a:xfrm>
            <a:off x="9070975" y="3426460"/>
            <a:ext cx="1371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L1 Cache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39" name="Rectangle 29"/>
          <p:cNvSpPr>
            <a:spLocks noChangeArrowheads="1"/>
          </p:cNvSpPr>
          <p:nvPr/>
        </p:nvSpPr>
        <p:spPr bwMode="auto">
          <a:xfrm>
            <a:off x="8111070" y="1493680"/>
            <a:ext cx="274722" cy="209287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67770" tIns="33210" rIns="67770" bIns="33210">
            <a:spAutoFit/>
          </a:bodyPr>
          <a:lstStyle/>
          <a:p>
            <a:pPr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en-GB" sz="1050" dirty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CT</a:t>
            </a:r>
            <a:endParaRPr lang="en-GB" sz="1050" dirty="0">
              <a:solidFill>
                <a:srgbClr val="003300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8934068" y="2754273"/>
            <a:ext cx="213335" cy="148829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1" name="Rectangle 50"/>
          <p:cNvSpPr/>
          <p:nvPr/>
        </p:nvSpPr>
        <p:spPr bwMode="auto">
          <a:xfrm>
            <a:off x="9147404" y="2754273"/>
            <a:ext cx="213335" cy="148829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2" name="Rectangle 51"/>
          <p:cNvSpPr/>
          <p:nvPr/>
        </p:nvSpPr>
        <p:spPr bwMode="auto">
          <a:xfrm>
            <a:off x="9334118" y="2754273"/>
            <a:ext cx="213335" cy="148829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3" name="Rectangle 52"/>
          <p:cNvSpPr/>
          <p:nvPr/>
        </p:nvSpPr>
        <p:spPr bwMode="auto">
          <a:xfrm>
            <a:off x="9547454" y="2754273"/>
            <a:ext cx="213335" cy="148829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5" name="Rectangle 54"/>
          <p:cNvSpPr/>
          <p:nvPr/>
        </p:nvSpPr>
        <p:spPr bwMode="auto">
          <a:xfrm>
            <a:off x="9749433" y="2754273"/>
            <a:ext cx="213335" cy="148829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6" name="Rectangle 55"/>
          <p:cNvSpPr/>
          <p:nvPr/>
        </p:nvSpPr>
        <p:spPr bwMode="auto">
          <a:xfrm>
            <a:off x="9962768" y="2754273"/>
            <a:ext cx="213335" cy="148829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7" name="Rectangle 56"/>
          <p:cNvSpPr/>
          <p:nvPr/>
        </p:nvSpPr>
        <p:spPr bwMode="auto">
          <a:xfrm>
            <a:off x="10149483" y="2754273"/>
            <a:ext cx="213335" cy="148829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8" name="Rectangle 57"/>
          <p:cNvSpPr/>
          <p:nvPr/>
        </p:nvSpPr>
        <p:spPr bwMode="auto">
          <a:xfrm>
            <a:off x="10362818" y="2754273"/>
            <a:ext cx="213335" cy="148829"/>
          </a:xfrm>
          <a:prstGeom prst="rect">
            <a:avLst/>
          </a:prstGeom>
          <a:solidFill>
            <a:srgbClr val="DBF2DA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6654" name="Line 30"/>
          <p:cNvSpPr>
            <a:spLocks noChangeShapeType="1"/>
          </p:cNvSpPr>
          <p:nvPr/>
        </p:nvSpPr>
        <p:spPr bwMode="auto">
          <a:xfrm flipV="1">
            <a:off x="9260511" y="1817847"/>
            <a:ext cx="1191" cy="1027509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43" name="Line 30"/>
          <p:cNvSpPr>
            <a:spLocks noChangeShapeType="1"/>
          </p:cNvSpPr>
          <p:nvPr/>
        </p:nvSpPr>
        <p:spPr bwMode="auto">
          <a:xfrm flipV="1">
            <a:off x="9431961" y="1817847"/>
            <a:ext cx="1191" cy="1027509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44" name="Line 30"/>
          <p:cNvSpPr>
            <a:spLocks noChangeShapeType="1"/>
          </p:cNvSpPr>
          <p:nvPr/>
        </p:nvSpPr>
        <p:spPr bwMode="auto">
          <a:xfrm flipV="1">
            <a:off x="9660561" y="1817847"/>
            <a:ext cx="1191" cy="1027509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45" name="Line 30"/>
          <p:cNvSpPr>
            <a:spLocks noChangeShapeType="1"/>
          </p:cNvSpPr>
          <p:nvPr/>
        </p:nvSpPr>
        <p:spPr bwMode="auto">
          <a:xfrm flipV="1">
            <a:off x="9031911" y="1818443"/>
            <a:ext cx="1191" cy="1027509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46" name="Line 30"/>
          <p:cNvSpPr>
            <a:spLocks noChangeShapeType="1"/>
          </p:cNvSpPr>
          <p:nvPr/>
        </p:nvSpPr>
        <p:spPr bwMode="auto">
          <a:xfrm flipV="1">
            <a:off x="10461852" y="1818443"/>
            <a:ext cx="1191" cy="1027509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47" name="Line 30"/>
          <p:cNvSpPr>
            <a:spLocks noChangeShapeType="1"/>
          </p:cNvSpPr>
          <p:nvPr/>
        </p:nvSpPr>
        <p:spPr bwMode="auto">
          <a:xfrm flipV="1">
            <a:off x="9833202" y="1817847"/>
            <a:ext cx="1191" cy="1027509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48" name="Line 30"/>
          <p:cNvSpPr>
            <a:spLocks noChangeShapeType="1"/>
          </p:cNvSpPr>
          <p:nvPr/>
        </p:nvSpPr>
        <p:spPr bwMode="auto">
          <a:xfrm flipV="1">
            <a:off x="10061802" y="1817847"/>
            <a:ext cx="1191" cy="1027509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49" name="Line 30"/>
          <p:cNvSpPr>
            <a:spLocks noChangeShapeType="1"/>
          </p:cNvSpPr>
          <p:nvPr/>
        </p:nvSpPr>
        <p:spPr bwMode="auto">
          <a:xfrm flipV="1">
            <a:off x="10233252" y="1817847"/>
            <a:ext cx="1191" cy="1027509"/>
          </a:xfrm>
          <a:prstGeom prst="line">
            <a:avLst/>
          </a:prstGeom>
          <a:noFill/>
          <a:ln w="9360">
            <a:solidFill>
              <a:srgbClr val="000066"/>
            </a:solidFill>
            <a:miter lim="800000"/>
            <a:headEnd type="oval"/>
            <a:tailEnd type="triangle" w="med" len="med"/>
          </a:ln>
          <a:effectLst/>
        </p:spPr>
        <p:txBody>
          <a:bodyPr/>
          <a:lstStyle/>
          <a:p>
            <a:endParaRPr lang="en-US" sz="1800"/>
          </a:p>
        </p:txBody>
      </p:sp>
      <p:sp>
        <p:nvSpPr>
          <p:cNvPr id="61" name="AutoShape 19"/>
          <p:cNvSpPr>
            <a:spLocks noChangeArrowheads="1"/>
          </p:cNvSpPr>
          <p:nvPr/>
        </p:nvSpPr>
        <p:spPr bwMode="auto">
          <a:xfrm>
            <a:off x="8747351" y="1493680"/>
            <a:ext cx="2000250" cy="324167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19080">
            <a:noFill/>
            <a:miter lim="800000"/>
          </a:ln>
          <a:effectLst/>
        </p:spPr>
        <p:txBody>
          <a:bodyPr wrap="none" lIns="67770" tIns="33210" rIns="67770" bIns="33210" anchor="ctr"/>
          <a:lstStyle/>
          <a:p>
            <a:pPr algn="ctr">
              <a:lnSpc>
                <a:spcPct val="88000"/>
              </a:lnSpc>
              <a:spcBef>
                <a:spcPts val="395"/>
              </a:spcBef>
              <a:tabLst>
                <a:tab pos="0" algn="l"/>
                <a:tab pos="685800" algn="l"/>
                <a:tab pos="1371600" algn="l"/>
                <a:tab pos="2057400" algn="l"/>
                <a:tab pos="2743200" algn="l"/>
                <a:tab pos="3429000" algn="l"/>
                <a:tab pos="4114800" algn="l"/>
                <a:tab pos="4800600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zh-CN" altLang="en-US" sz="1200" dirty="0" smtClean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检查 </a:t>
            </a:r>
            <a:r>
              <a:rPr lang="en-GB" sz="1200" dirty="0" smtClean="0">
                <a:solidFill>
                  <a:srgbClr val="003300"/>
                </a:solidFill>
                <a:latin typeface="Calibri" pitchFamily="34" charset="0"/>
                <a:ea typeface="msgothic" charset="0"/>
                <a:cs typeface="msgothic" charset="0"/>
              </a:rPr>
              <a:t>Tag</a:t>
            </a:r>
            <a:endParaRPr lang="en-GB" sz="1200" dirty="0">
              <a:solidFill>
                <a:srgbClr val="003300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08213" y="139700"/>
            <a:ext cx="8259762" cy="768350"/>
          </a:xfrm>
        </p:spPr>
        <p:txBody>
          <a:bodyPr/>
          <a:p>
            <a:r>
              <a:rPr lang="en-US" altLang="zh-CN"/>
              <a:t>Exercise 2:</a:t>
            </a:r>
            <a:endParaRPr lang="en-US" altLang="zh-CN"/>
          </a:p>
        </p:txBody>
      </p:sp>
      <p:sp>
        <p:nvSpPr>
          <p:cNvPr id="6" name="内容占位符 5"/>
          <p:cNvSpPr/>
          <p:nvPr>
            <p:ph idx="1"/>
          </p:nvPr>
        </p:nvSpPr>
        <p:spPr>
          <a:xfrm>
            <a:off x="639445" y="1125855"/>
            <a:ext cx="9839960" cy="5111750"/>
          </a:xfrm>
        </p:spPr>
        <p:txBody>
          <a:bodyPr/>
          <a:p>
            <a:r>
              <a:rPr lang="zh-CN" altLang="en-US" sz="2000"/>
              <a:t>某计算机存储器按字节寻址，虚拟地址空间大小为</a:t>
            </a:r>
            <a:r>
              <a:rPr lang="en-US" altLang="zh-CN" sz="2000"/>
              <a:t>16MB</a:t>
            </a:r>
            <a:r>
              <a:rPr lang="zh-CN" altLang="en-US" sz="2000">
                <a:ea typeface="SimSun" charset="0"/>
              </a:rPr>
              <a:t>，物理地址空间大小为</a:t>
            </a:r>
            <a:r>
              <a:rPr lang="en-US" altLang="zh-CN" sz="2000">
                <a:ea typeface="SimSun" charset="0"/>
              </a:rPr>
              <a:t>1MB</a:t>
            </a:r>
            <a:r>
              <a:rPr lang="zh-CN" altLang="en-US" sz="2000">
                <a:ea typeface="SimSun" charset="0"/>
              </a:rPr>
              <a:t>，页面大小为</a:t>
            </a:r>
            <a:r>
              <a:rPr lang="en-US" altLang="zh-CN" sz="2000">
                <a:ea typeface="SimSun" charset="0"/>
              </a:rPr>
              <a:t>4KB</a:t>
            </a:r>
            <a:r>
              <a:rPr lang="zh-CN" altLang="en-US" sz="2000">
                <a:ea typeface="SimSun" charset="0"/>
              </a:rPr>
              <a:t>；</a:t>
            </a:r>
            <a:r>
              <a:rPr lang="en-US" altLang="zh-CN" sz="2000">
                <a:ea typeface="SimSun" charset="0"/>
              </a:rPr>
              <a:t>Cache</a:t>
            </a:r>
            <a:r>
              <a:rPr lang="zh-CN" altLang="en-US" sz="2000">
                <a:ea typeface="SimSun" charset="0"/>
              </a:rPr>
              <a:t>采用直接相联映射共</a:t>
            </a:r>
            <a:r>
              <a:rPr lang="en-US" altLang="zh-CN" sz="2000">
                <a:ea typeface="SimSun" charset="0"/>
              </a:rPr>
              <a:t>8</a:t>
            </a:r>
            <a:r>
              <a:rPr lang="zh-CN" altLang="en-US" sz="2000">
                <a:ea typeface="SimSun" charset="0"/>
              </a:rPr>
              <a:t>行，</a:t>
            </a:r>
            <a:r>
              <a:rPr lang="en-US" altLang="zh-CN" sz="2000">
                <a:ea typeface="SimSun" charset="0"/>
              </a:rPr>
              <a:t>Cache</a:t>
            </a:r>
            <a:r>
              <a:rPr lang="zh-CN" altLang="en-US" sz="2000">
                <a:ea typeface="SimSun" charset="0"/>
              </a:rPr>
              <a:t>块大小为</a:t>
            </a:r>
            <a:r>
              <a:rPr lang="en-US" altLang="zh-CN" sz="2000">
                <a:ea typeface="SimSun" charset="0"/>
              </a:rPr>
              <a:t>32B</a:t>
            </a:r>
            <a:r>
              <a:rPr lang="zh-CN" altLang="en-US" sz="2000">
                <a:ea typeface="SimSun" charset="0"/>
              </a:rPr>
              <a:t>。系统运行的某一个时刻，页表和</a:t>
            </a:r>
            <a:r>
              <a:rPr lang="en-US" altLang="zh-CN" sz="2000">
                <a:ea typeface="SimSun" charset="0"/>
              </a:rPr>
              <a:t>Cache</a:t>
            </a:r>
            <a:r>
              <a:rPr lang="zh-CN" altLang="en-US" sz="2000">
                <a:ea typeface="SimSun" charset="0"/>
              </a:rPr>
              <a:t>的部分内容分别如图</a:t>
            </a:r>
            <a:r>
              <a:rPr lang="en-US" altLang="zh-CN" sz="2000">
                <a:ea typeface="SimSun" charset="0"/>
              </a:rPr>
              <a:t>(a)</a:t>
            </a:r>
            <a:r>
              <a:rPr lang="zh-CN" altLang="en-US" sz="2000">
                <a:ea typeface="SimSun" charset="0"/>
              </a:rPr>
              <a:t>和</a:t>
            </a:r>
            <a:r>
              <a:rPr lang="en-US" altLang="zh-CN" sz="2000">
                <a:ea typeface="SimSun" charset="0"/>
              </a:rPr>
              <a:t>(b)</a:t>
            </a:r>
            <a:r>
              <a:rPr lang="zh-CN" altLang="en-US" sz="2000">
                <a:ea typeface="SimSun" charset="0"/>
              </a:rPr>
              <a:t>所示（</a:t>
            </a:r>
            <a:r>
              <a:rPr lang="en-US" altLang="zh-CN" sz="2000">
                <a:ea typeface="SimSun" charset="0"/>
              </a:rPr>
              <a:t>16</a:t>
            </a:r>
            <a:r>
              <a:rPr lang="zh-CN" altLang="en-US" sz="2000">
                <a:ea typeface="SimSun" charset="0"/>
              </a:rPr>
              <a:t>进制）</a:t>
            </a:r>
            <a:endParaRPr lang="zh-CN" altLang="en-US" sz="2000">
              <a:ea typeface="SimSun" charset="0"/>
            </a:endParaRPr>
          </a:p>
          <a:p>
            <a:pPr lvl="1"/>
            <a:r>
              <a:rPr lang="zh-CN" altLang="en-US" sz="1750">
                <a:ea typeface="SimSun" charset="0"/>
              </a:rPr>
              <a:t>虚拟地址及物理地址的位数</a:t>
            </a:r>
            <a:r>
              <a:rPr lang="zh-CN" altLang="en-US" sz="1750">
                <a:ea typeface="SimSun" charset="0"/>
              </a:rPr>
              <a:t>及页号</a:t>
            </a:r>
            <a:r>
              <a:rPr lang="zh-CN" altLang="en-US" sz="1750">
                <a:ea typeface="SimSun" charset="0"/>
              </a:rPr>
              <a:t>位数？</a:t>
            </a:r>
            <a:endParaRPr lang="zh-CN" altLang="en-US" sz="1750">
              <a:ea typeface="SimSun" charset="0"/>
            </a:endParaRPr>
          </a:p>
          <a:p>
            <a:pPr lvl="1"/>
            <a:r>
              <a:rPr lang="zh-CN" altLang="en-US" sz="1750">
                <a:ea typeface="SimSun" charset="0"/>
              </a:rPr>
              <a:t>访问</a:t>
            </a:r>
            <a:r>
              <a:rPr lang="en-US" altLang="zh-CN" sz="1750">
                <a:ea typeface="SimSun" charset="0"/>
              </a:rPr>
              <a:t>Cache</a:t>
            </a:r>
            <a:r>
              <a:rPr lang="zh-CN" altLang="en-US" sz="1750">
                <a:ea typeface="SimSun" charset="0"/>
              </a:rPr>
              <a:t>时，物理地址的</a:t>
            </a:r>
            <a:r>
              <a:rPr lang="zh-CN" altLang="en-US" sz="1750">
                <a:ea typeface="SimSun" charset="0"/>
              </a:rPr>
              <a:t>组成？</a:t>
            </a:r>
            <a:endParaRPr lang="zh-CN" altLang="en-US" sz="1750">
              <a:ea typeface="SimSun" charset="0"/>
            </a:endParaRPr>
          </a:p>
          <a:p>
            <a:pPr lvl="1"/>
            <a:r>
              <a:rPr lang="zh-CN" altLang="en-US" sz="1750">
                <a:ea typeface="SimSun" charset="0"/>
              </a:rPr>
              <a:t>虚拟地址</a:t>
            </a:r>
            <a:r>
              <a:rPr lang="en-US" altLang="zh-CN" sz="1750">
                <a:ea typeface="SimSun" charset="0"/>
              </a:rPr>
              <a:t>0x001C60</a:t>
            </a:r>
            <a:r>
              <a:rPr lang="zh-CN" altLang="en-US" sz="1750">
                <a:ea typeface="SimSun" charset="0"/>
              </a:rPr>
              <a:t>是否</a:t>
            </a:r>
            <a:r>
              <a:rPr lang="zh-CN" altLang="en-US" sz="1750">
                <a:ea typeface="SimSun" charset="0"/>
              </a:rPr>
              <a:t>在主存和</a:t>
            </a:r>
            <a:r>
              <a:rPr lang="en-US" altLang="zh-CN" sz="1750">
                <a:ea typeface="SimSun" charset="0"/>
              </a:rPr>
              <a:t>Cache</a:t>
            </a:r>
            <a:r>
              <a:rPr lang="zh-CN" altLang="en-US" sz="1750">
                <a:ea typeface="SimSun" charset="0"/>
              </a:rPr>
              <a:t>？</a:t>
            </a:r>
            <a:endParaRPr lang="zh-CN" altLang="en-US" sz="1750">
              <a:ea typeface="SimSun" charset="0"/>
            </a:endParaRPr>
          </a:p>
          <a:p>
            <a:pPr lvl="0"/>
            <a:endParaRPr lang="zh-CN" altLang="en-US" sz="1750">
              <a:ea typeface="SimSun" charset="0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7103745" y="2133600"/>
          <a:ext cx="2470785" cy="3316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240"/>
                <a:gridCol w="1185545"/>
              </a:tblGrid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虚拟页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有效</a:t>
                      </a:r>
                      <a:r>
                        <a:rPr lang="zh-CN" altLang="en-US" sz="1600"/>
                        <a:t>位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物理页</a:t>
                      </a:r>
                      <a:endParaRPr lang="zh-CN" altLang="en-US" sz="1600"/>
                    </a:p>
                  </a:txBody>
                  <a:tcPr/>
                </a:tc>
              </a:tr>
              <a:tr h="3416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06</a:t>
                      </a:r>
                      <a:endParaRPr lang="en-US" altLang="zh-CN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04</a:t>
                      </a:r>
                      <a:endParaRPr lang="en-US" altLang="zh-CN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15</a:t>
                      </a:r>
                      <a:endParaRPr lang="en-US" altLang="zh-CN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3/1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02</a:t>
                      </a:r>
                      <a:endParaRPr lang="en-US" altLang="zh-CN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4/0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ea typeface="SimSun" charset="0"/>
                        </a:rPr>
                        <a:t>——</a:t>
                      </a:r>
                      <a:endParaRPr lang="zh-CN" altLang="en-US" sz="1600">
                        <a:ea typeface="SimSun" charset="0"/>
                      </a:endParaRPr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5/1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</a:t>
                      </a:r>
                      <a:r>
                        <a:rPr lang="en-US" altLang="zh-CN" sz="1600"/>
                        <a:t>B</a:t>
                      </a:r>
                      <a:endParaRPr lang="en-US" altLang="zh-CN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6/0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——</a:t>
                      </a:r>
                      <a:endParaRPr lang="zh-CN" altLang="en-US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7/1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32</a:t>
                      </a:r>
                      <a:endParaRPr lang="en-US" altLang="zh-CN" sz="16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9874885" y="2127250"/>
          <a:ext cx="1476375" cy="3289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340"/>
                <a:gridCol w="661035"/>
              </a:tblGrid>
              <a:tr h="60769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块号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>
                          <a:ea typeface="SimSun" charset="0"/>
                        </a:rPr>
                        <a:t>、</a:t>
                      </a:r>
                      <a:r>
                        <a:rPr lang="zh-CN" altLang="en-US" sz="1600"/>
                        <a:t>有效</a:t>
                      </a:r>
                      <a:r>
                        <a:rPr lang="zh-CN" altLang="en-US" sz="1600"/>
                        <a:t>位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标记</a:t>
                      </a:r>
                      <a:endParaRPr lang="zh-CN" altLang="en-US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020</a:t>
                      </a: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1/0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ea typeface="SimSun" charset="0"/>
                        </a:rPr>
                        <a:t>——</a:t>
                      </a:r>
                      <a:endParaRPr lang="zh-CN" altLang="en-US" sz="1600">
                        <a:ea typeface="SimSun" charset="0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01</a:t>
                      </a:r>
                      <a:r>
                        <a:rPr lang="en-US" altLang="zh-CN" sz="1600"/>
                        <a:t>D</a:t>
                      </a: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3/1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105</a:t>
                      </a: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4/1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ea typeface="SimSun" charset="0"/>
                        </a:rPr>
                        <a:t>064</a:t>
                      </a:r>
                      <a:endParaRPr lang="en-US" altLang="zh-CN" sz="1600">
                        <a:ea typeface="SimSun" charset="0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5/1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14</a:t>
                      </a:r>
                      <a:r>
                        <a:rPr lang="en-US" altLang="zh-CN" sz="1600"/>
                        <a:t>D</a:t>
                      </a: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6/0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——</a:t>
                      </a:r>
                      <a:endParaRPr lang="zh-CN" altLang="en-US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7/1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27</a:t>
                      </a:r>
                      <a:r>
                        <a:rPr lang="en-US" altLang="zh-CN" sz="1600"/>
                        <a:t>A</a:t>
                      </a:r>
                      <a:endParaRPr lang="en-US" altLang="zh-CN" sz="1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7823835" y="5516880"/>
            <a:ext cx="6731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ea typeface="SimSun" charset="0"/>
                <a:sym typeface="+mn-ea"/>
              </a:rPr>
              <a:t>(a)</a:t>
            </a:r>
            <a:endParaRPr lang="en-US" altLang="zh-CN" sz="2000">
              <a:ea typeface="SimSun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306685" y="5516880"/>
            <a:ext cx="6731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ea typeface="SimSun" charset="0"/>
                <a:sym typeface="+mn-ea"/>
              </a:rPr>
              <a:t>(</a:t>
            </a:r>
            <a:r>
              <a:rPr lang="en-US" altLang="zh-CN" sz="2000">
                <a:ea typeface="SimSun" charset="0"/>
                <a:sym typeface="+mn-ea"/>
              </a:rPr>
              <a:t>b)</a:t>
            </a:r>
            <a:endParaRPr lang="en-US" altLang="zh-CN" sz="2000">
              <a:ea typeface="SimSun" charset="0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08213" y="139700"/>
            <a:ext cx="8259762" cy="768350"/>
          </a:xfrm>
        </p:spPr>
        <p:txBody>
          <a:bodyPr/>
          <a:p>
            <a:r>
              <a:rPr lang="en-US" altLang="zh-CN"/>
              <a:t>Exercise 2:</a:t>
            </a:r>
            <a:endParaRPr lang="en-US" altLang="zh-CN"/>
          </a:p>
        </p:txBody>
      </p:sp>
      <p:sp>
        <p:nvSpPr>
          <p:cNvPr id="6" name="内容占位符 5"/>
          <p:cNvSpPr/>
          <p:nvPr>
            <p:ph idx="1"/>
          </p:nvPr>
        </p:nvSpPr>
        <p:spPr>
          <a:xfrm>
            <a:off x="666115" y="1125855"/>
            <a:ext cx="9813290" cy="5111750"/>
          </a:xfrm>
        </p:spPr>
        <p:txBody>
          <a:bodyPr/>
          <a:p>
            <a:r>
              <a:rPr lang="zh-CN" altLang="en-US" sz="2000"/>
              <a:t>某计算机存储器按字节寻址，虚拟地址空间大小为</a:t>
            </a:r>
            <a:r>
              <a:rPr lang="en-US" altLang="zh-CN" sz="2000"/>
              <a:t>16MB</a:t>
            </a:r>
            <a:r>
              <a:rPr lang="zh-CN" altLang="en-US" sz="2000">
                <a:ea typeface="SimSun" charset="0"/>
              </a:rPr>
              <a:t>，物理地址空间大小为</a:t>
            </a:r>
            <a:r>
              <a:rPr lang="en-US" altLang="zh-CN" sz="2000">
                <a:ea typeface="SimSun" charset="0"/>
              </a:rPr>
              <a:t>1MB</a:t>
            </a:r>
            <a:r>
              <a:rPr lang="zh-CN" altLang="en-US" sz="2000">
                <a:ea typeface="SimSun" charset="0"/>
              </a:rPr>
              <a:t>，页面大小为</a:t>
            </a:r>
            <a:r>
              <a:rPr lang="en-US" altLang="zh-CN" sz="2000">
                <a:ea typeface="SimSun" charset="0"/>
              </a:rPr>
              <a:t>4KB</a:t>
            </a:r>
            <a:r>
              <a:rPr lang="zh-CN" altLang="en-US" sz="2000">
                <a:ea typeface="SimSun" charset="0"/>
              </a:rPr>
              <a:t>；</a:t>
            </a:r>
            <a:r>
              <a:rPr lang="en-US" altLang="zh-CN" sz="2000">
                <a:ea typeface="SimSun" charset="0"/>
              </a:rPr>
              <a:t>Cache</a:t>
            </a:r>
            <a:r>
              <a:rPr lang="zh-CN" altLang="en-US" sz="2000">
                <a:ea typeface="SimSun" charset="0"/>
              </a:rPr>
              <a:t>采用直接相联映射共</a:t>
            </a:r>
            <a:r>
              <a:rPr lang="en-US" altLang="zh-CN" sz="2000">
                <a:ea typeface="SimSun" charset="0"/>
              </a:rPr>
              <a:t>8</a:t>
            </a:r>
            <a:r>
              <a:rPr lang="zh-CN" altLang="en-US" sz="2000">
                <a:ea typeface="SimSun" charset="0"/>
              </a:rPr>
              <a:t>行，</a:t>
            </a:r>
            <a:r>
              <a:rPr lang="en-US" altLang="zh-CN" sz="2000">
                <a:ea typeface="SimSun" charset="0"/>
              </a:rPr>
              <a:t>Cache</a:t>
            </a:r>
            <a:r>
              <a:rPr lang="zh-CN" altLang="en-US" sz="2000">
                <a:ea typeface="SimSun" charset="0"/>
              </a:rPr>
              <a:t>块大小为</a:t>
            </a:r>
            <a:r>
              <a:rPr lang="en-US" altLang="zh-CN" sz="2000">
                <a:ea typeface="SimSun" charset="0"/>
              </a:rPr>
              <a:t>32B</a:t>
            </a:r>
            <a:r>
              <a:rPr lang="zh-CN" altLang="en-US" sz="2000">
                <a:ea typeface="SimSun" charset="0"/>
              </a:rPr>
              <a:t>。系统运行的某一个时刻，页表和</a:t>
            </a:r>
            <a:r>
              <a:rPr lang="en-US" altLang="zh-CN" sz="2000">
                <a:ea typeface="SimSun" charset="0"/>
              </a:rPr>
              <a:t>Cache</a:t>
            </a:r>
            <a:r>
              <a:rPr lang="zh-CN" altLang="en-US" sz="2000">
                <a:ea typeface="SimSun" charset="0"/>
              </a:rPr>
              <a:t>的部分内容分别如图</a:t>
            </a:r>
            <a:r>
              <a:rPr lang="en-US" altLang="zh-CN" sz="2000">
                <a:ea typeface="SimSun" charset="0"/>
              </a:rPr>
              <a:t>(a)</a:t>
            </a:r>
            <a:r>
              <a:rPr lang="zh-CN" altLang="en-US" sz="2000">
                <a:ea typeface="SimSun" charset="0"/>
              </a:rPr>
              <a:t>和</a:t>
            </a:r>
            <a:r>
              <a:rPr lang="en-US" altLang="zh-CN" sz="2000">
                <a:ea typeface="SimSun" charset="0"/>
              </a:rPr>
              <a:t>(b)</a:t>
            </a:r>
            <a:r>
              <a:rPr lang="zh-CN" altLang="en-US" sz="2000">
                <a:ea typeface="SimSun" charset="0"/>
              </a:rPr>
              <a:t>所示（</a:t>
            </a:r>
            <a:r>
              <a:rPr lang="en-US" altLang="zh-CN" sz="2000">
                <a:ea typeface="SimSun" charset="0"/>
              </a:rPr>
              <a:t>16</a:t>
            </a:r>
            <a:r>
              <a:rPr lang="zh-CN" altLang="en-US" sz="2000">
                <a:ea typeface="SimSun" charset="0"/>
              </a:rPr>
              <a:t>进制）</a:t>
            </a:r>
            <a:endParaRPr lang="zh-CN" altLang="en-US" sz="2000">
              <a:ea typeface="SimSun" charset="0"/>
            </a:endParaRPr>
          </a:p>
          <a:p>
            <a:pPr lvl="1"/>
            <a:r>
              <a:rPr lang="zh-CN" altLang="en-US" sz="1750">
                <a:ea typeface="SimSun" charset="0"/>
              </a:rPr>
              <a:t>虚拟地址及物理地址的位数</a:t>
            </a:r>
            <a:r>
              <a:rPr lang="zh-CN" altLang="en-US" sz="1750">
                <a:ea typeface="SimSun" charset="0"/>
              </a:rPr>
              <a:t>及页号</a:t>
            </a:r>
            <a:r>
              <a:rPr lang="zh-CN" altLang="en-US" sz="1750">
                <a:ea typeface="SimSun" charset="0"/>
              </a:rPr>
              <a:t>位数？</a:t>
            </a:r>
            <a:endParaRPr lang="zh-CN" altLang="en-US" sz="1750">
              <a:ea typeface="SimSun" charset="0"/>
            </a:endParaRPr>
          </a:p>
          <a:p>
            <a:pPr lvl="1"/>
            <a:r>
              <a:rPr lang="zh-CN" altLang="en-US" sz="1750">
                <a:ea typeface="SimSun" charset="0"/>
              </a:rPr>
              <a:t>访问</a:t>
            </a:r>
            <a:r>
              <a:rPr lang="en-US" altLang="zh-CN" sz="1750">
                <a:ea typeface="SimSun" charset="0"/>
              </a:rPr>
              <a:t>Cache</a:t>
            </a:r>
            <a:r>
              <a:rPr lang="zh-CN" altLang="en-US" sz="1750">
                <a:ea typeface="SimSun" charset="0"/>
              </a:rPr>
              <a:t>时，物理地址的</a:t>
            </a:r>
            <a:r>
              <a:rPr lang="zh-CN" altLang="en-US" sz="1750">
                <a:ea typeface="SimSun" charset="0"/>
              </a:rPr>
              <a:t>组成？</a:t>
            </a:r>
            <a:endParaRPr lang="zh-CN" altLang="en-US" sz="1750">
              <a:ea typeface="SimSun" charset="0"/>
            </a:endParaRPr>
          </a:p>
          <a:p>
            <a:pPr lvl="1"/>
            <a:r>
              <a:rPr lang="zh-CN" altLang="en-US" sz="1750">
                <a:ea typeface="SimSun" charset="0"/>
              </a:rPr>
              <a:t>虚拟地址</a:t>
            </a:r>
            <a:r>
              <a:rPr lang="en-US" altLang="zh-CN" sz="1750">
                <a:ea typeface="SimSun" charset="0"/>
              </a:rPr>
              <a:t>0x001C60</a:t>
            </a:r>
            <a:r>
              <a:rPr lang="zh-CN" altLang="en-US" sz="1750">
                <a:ea typeface="SimSun" charset="0"/>
              </a:rPr>
              <a:t>是否</a:t>
            </a:r>
            <a:r>
              <a:rPr lang="zh-CN" altLang="en-US" sz="1750">
                <a:ea typeface="SimSun" charset="0"/>
              </a:rPr>
              <a:t>在主存和</a:t>
            </a:r>
            <a:r>
              <a:rPr lang="en-US" altLang="zh-CN" sz="1750">
                <a:ea typeface="SimSun" charset="0"/>
              </a:rPr>
              <a:t>Cache</a:t>
            </a:r>
            <a:r>
              <a:rPr lang="zh-CN" altLang="en-US" sz="1750">
                <a:ea typeface="SimSun" charset="0"/>
              </a:rPr>
              <a:t>？</a:t>
            </a:r>
            <a:endParaRPr lang="zh-CN" altLang="en-US" sz="1750">
              <a:ea typeface="SimSun" charset="0"/>
            </a:endParaRPr>
          </a:p>
          <a:p>
            <a:pPr lvl="0"/>
            <a:r>
              <a:rPr lang="zh-CN" altLang="en-US" sz="2000">
                <a:ea typeface="SimSun" charset="0"/>
              </a:rPr>
              <a:t>分析</a:t>
            </a:r>
            <a:endParaRPr lang="zh-CN" altLang="en-US" sz="2000">
              <a:ea typeface="SimSun" charset="0"/>
            </a:endParaRPr>
          </a:p>
          <a:p>
            <a:pPr lvl="1"/>
            <a:r>
              <a:rPr lang="en-US" altLang="zh-CN" sz="1750">
                <a:solidFill>
                  <a:srgbClr val="00B050"/>
                </a:solidFill>
                <a:ea typeface="SimSun" charset="0"/>
              </a:rPr>
              <a:t>16M</a:t>
            </a:r>
            <a:r>
              <a:rPr lang="zh-CN" altLang="en-US" sz="1750">
                <a:solidFill>
                  <a:srgbClr val="00B050"/>
                </a:solidFill>
                <a:ea typeface="SimSun" charset="0"/>
              </a:rPr>
              <a:t>—</a:t>
            </a:r>
            <a:r>
              <a:rPr lang="en-US" altLang="zh-CN" sz="1750">
                <a:solidFill>
                  <a:srgbClr val="00B050"/>
                </a:solidFill>
                <a:ea typeface="SimSun" charset="0"/>
              </a:rPr>
              <a:t>24bit, 1M</a:t>
            </a:r>
            <a:r>
              <a:rPr lang="zh-CN" altLang="en-US" sz="1750">
                <a:solidFill>
                  <a:srgbClr val="00B050"/>
                </a:solidFill>
                <a:ea typeface="SimSun" charset="0"/>
              </a:rPr>
              <a:t>—</a:t>
            </a:r>
            <a:r>
              <a:rPr lang="en-US" altLang="zh-CN" sz="1750">
                <a:solidFill>
                  <a:srgbClr val="00B050"/>
                </a:solidFill>
                <a:ea typeface="SimSun" charset="0"/>
              </a:rPr>
              <a:t>20bit, 4K</a:t>
            </a:r>
            <a:r>
              <a:rPr lang="zh-CN" altLang="en-US" sz="1750">
                <a:solidFill>
                  <a:srgbClr val="00B050"/>
                </a:solidFill>
                <a:ea typeface="SimSun" charset="0"/>
              </a:rPr>
              <a:t>—</a:t>
            </a:r>
            <a:r>
              <a:rPr lang="en-US" altLang="zh-CN" sz="1750">
                <a:solidFill>
                  <a:srgbClr val="00B050"/>
                </a:solidFill>
                <a:ea typeface="SimSun" charset="0"/>
              </a:rPr>
              <a:t>12bit</a:t>
            </a:r>
            <a:endParaRPr lang="en-US" altLang="zh-CN" sz="1750">
              <a:solidFill>
                <a:srgbClr val="00B050"/>
              </a:solidFill>
              <a:ea typeface="SimSun" charset="0"/>
            </a:endParaRPr>
          </a:p>
          <a:p>
            <a:pPr lvl="1"/>
            <a:r>
              <a:rPr lang="zh-CN" altLang="en-US" sz="1750">
                <a:solidFill>
                  <a:srgbClr val="00B050"/>
                </a:solidFill>
                <a:ea typeface="SimSun" charset="0"/>
              </a:rPr>
              <a:t>直接相联</a:t>
            </a:r>
            <a:r>
              <a:rPr lang="en-US" altLang="zh-CN" sz="1750">
                <a:solidFill>
                  <a:srgbClr val="00B050"/>
                </a:solidFill>
                <a:ea typeface="SimSun" charset="0"/>
              </a:rPr>
              <a:t>8</a:t>
            </a:r>
            <a:r>
              <a:rPr lang="zh-CN" altLang="en-US" sz="1750">
                <a:solidFill>
                  <a:srgbClr val="00B050"/>
                </a:solidFill>
                <a:ea typeface="SimSun" charset="0"/>
              </a:rPr>
              <a:t>行—</a:t>
            </a:r>
            <a:r>
              <a:rPr lang="en-US" altLang="zh-CN" sz="1750">
                <a:solidFill>
                  <a:srgbClr val="00B050"/>
                </a:solidFill>
                <a:ea typeface="SimSun" charset="0"/>
              </a:rPr>
              <a:t>index 3bit</a:t>
            </a:r>
            <a:r>
              <a:rPr lang="zh-CN" altLang="en-US" sz="1750">
                <a:solidFill>
                  <a:srgbClr val="00B050"/>
                </a:solidFill>
                <a:ea typeface="SimSun" charset="0"/>
              </a:rPr>
              <a:t>，块内</a:t>
            </a:r>
            <a:r>
              <a:rPr lang="en-US" altLang="zh-CN" sz="1750">
                <a:solidFill>
                  <a:srgbClr val="00B050"/>
                </a:solidFill>
                <a:ea typeface="SimSun" charset="0"/>
              </a:rPr>
              <a:t>32B</a:t>
            </a:r>
            <a:r>
              <a:rPr lang="zh-CN" altLang="en-US" sz="1750">
                <a:solidFill>
                  <a:srgbClr val="00B050"/>
                </a:solidFill>
                <a:ea typeface="SimSun" charset="0"/>
              </a:rPr>
              <a:t>—</a:t>
            </a:r>
            <a:r>
              <a:rPr lang="en-US" altLang="zh-CN" sz="1750">
                <a:solidFill>
                  <a:srgbClr val="00B050"/>
                </a:solidFill>
                <a:ea typeface="SimSun" charset="0"/>
              </a:rPr>
              <a:t>5bit</a:t>
            </a:r>
            <a:endParaRPr lang="en-US" altLang="zh-CN" sz="1750">
              <a:solidFill>
                <a:srgbClr val="00B050"/>
              </a:solidFill>
              <a:ea typeface="SimSun" charset="0"/>
            </a:endParaRPr>
          </a:p>
          <a:p>
            <a:pPr lvl="1"/>
            <a:r>
              <a:rPr lang="zh-CN" altLang="en-US" sz="1750">
                <a:solidFill>
                  <a:srgbClr val="00B050"/>
                </a:solidFill>
                <a:ea typeface="SimSun" charset="0"/>
              </a:rPr>
              <a:t>所以物理地址组成：</a:t>
            </a:r>
            <a:r>
              <a:rPr lang="en-US" altLang="zh-CN" sz="1750">
                <a:solidFill>
                  <a:srgbClr val="00B050"/>
                </a:solidFill>
                <a:ea typeface="SimSun" charset="0"/>
              </a:rPr>
              <a:t>12+3+5</a:t>
            </a:r>
            <a:endParaRPr lang="en-US" altLang="zh-CN" sz="1750">
              <a:solidFill>
                <a:srgbClr val="00B050"/>
              </a:solidFill>
              <a:ea typeface="SimSun" charset="0"/>
            </a:endParaRPr>
          </a:p>
          <a:p>
            <a:pPr lvl="1"/>
            <a:r>
              <a:rPr lang="en-US" altLang="zh-CN" sz="1750">
                <a:solidFill>
                  <a:srgbClr val="00B050"/>
                </a:solidFill>
                <a:ea typeface="SimSun" charset="0"/>
              </a:rPr>
              <a:t>0x</a:t>
            </a:r>
            <a:r>
              <a:rPr lang="en-US" altLang="zh-CN" sz="1750">
                <a:solidFill>
                  <a:srgbClr val="00B050"/>
                </a:solidFill>
                <a:ea typeface="SimSun" charset="0"/>
                <a:sym typeface="+mn-ea"/>
              </a:rPr>
              <a:t>001C60</a:t>
            </a:r>
            <a:endParaRPr lang="en-US" altLang="zh-CN" sz="1750">
              <a:solidFill>
                <a:srgbClr val="00B050"/>
              </a:solidFill>
              <a:ea typeface="SimSun" charset="0"/>
              <a:sym typeface="+mn-ea"/>
            </a:endParaRPr>
          </a:p>
          <a:p>
            <a:pPr lvl="2"/>
            <a:r>
              <a:rPr lang="zh-CN" altLang="en-US" sz="1500">
                <a:solidFill>
                  <a:srgbClr val="00B050"/>
                </a:solidFill>
                <a:ea typeface="SimSun" charset="0"/>
                <a:sym typeface="+mn-ea"/>
              </a:rPr>
              <a:t>虚拟页号</a:t>
            </a:r>
            <a:r>
              <a:rPr lang="en-US" altLang="zh-CN" sz="1500">
                <a:solidFill>
                  <a:srgbClr val="00B050"/>
                </a:solidFill>
                <a:ea typeface="SimSun" charset="0"/>
                <a:sym typeface="+mn-ea"/>
              </a:rPr>
              <a:t>=0x001C60/4K = 1</a:t>
            </a:r>
            <a:r>
              <a:rPr lang="zh-CN" altLang="en-US" sz="1500">
                <a:solidFill>
                  <a:srgbClr val="00B050"/>
                </a:solidFill>
                <a:ea typeface="SimSun" charset="0"/>
                <a:sym typeface="+mn-ea"/>
              </a:rPr>
              <a:t>，有效，物理页</a:t>
            </a:r>
            <a:r>
              <a:rPr lang="en-US" altLang="zh-CN" sz="1500">
                <a:solidFill>
                  <a:srgbClr val="00B050"/>
                </a:solidFill>
                <a:ea typeface="SimSun" charset="0"/>
                <a:sym typeface="+mn-ea"/>
              </a:rPr>
              <a:t>04</a:t>
            </a:r>
            <a:endParaRPr lang="en-US" altLang="zh-CN" sz="1500">
              <a:solidFill>
                <a:srgbClr val="00B050"/>
              </a:solidFill>
              <a:ea typeface="SimSun" charset="0"/>
            </a:endParaRPr>
          </a:p>
          <a:p>
            <a:pPr lvl="2"/>
            <a:r>
              <a:rPr lang="zh-CN" altLang="en-US" sz="1500">
                <a:solidFill>
                  <a:srgbClr val="00B050"/>
                </a:solidFill>
                <a:ea typeface="SimSun" charset="0"/>
                <a:sym typeface="+mn-ea"/>
              </a:rPr>
              <a:t>所以物理地址为</a:t>
            </a:r>
            <a:r>
              <a:rPr lang="en-US" altLang="zh-CN" sz="1500">
                <a:solidFill>
                  <a:srgbClr val="00B050"/>
                </a:solidFill>
                <a:ea typeface="SimSun" charset="0"/>
                <a:sym typeface="+mn-ea"/>
              </a:rPr>
              <a:t>0x004C60</a:t>
            </a:r>
            <a:endParaRPr lang="en-US" altLang="zh-CN" sz="1750">
              <a:solidFill>
                <a:srgbClr val="00B050"/>
              </a:solidFill>
              <a:ea typeface="SimSun" charset="0"/>
              <a:sym typeface="+mn-ea"/>
            </a:endParaRPr>
          </a:p>
          <a:p>
            <a:pPr lvl="2"/>
            <a:r>
              <a:rPr lang="zh-CN" altLang="en-US" sz="1500">
                <a:solidFill>
                  <a:srgbClr val="00B050"/>
                </a:solidFill>
                <a:ea typeface="SimSun" charset="0"/>
                <a:cs typeface="+mn-ea"/>
              </a:rPr>
              <a:t>内存行</a:t>
            </a:r>
            <a:r>
              <a:rPr lang="en-US" altLang="zh-CN" sz="1500">
                <a:solidFill>
                  <a:srgbClr val="00B050"/>
                </a:solidFill>
                <a:ea typeface="SimSun" charset="0"/>
                <a:cs typeface="+mn-ea"/>
              </a:rPr>
              <a:t>=</a:t>
            </a:r>
            <a:r>
              <a:rPr lang="en-US" altLang="zh-CN" sz="1500">
                <a:solidFill>
                  <a:srgbClr val="00B050"/>
                </a:solidFill>
                <a:ea typeface="SimSun" charset="0"/>
                <a:sym typeface="+mn-ea"/>
              </a:rPr>
              <a:t>0x004C60/32B = 0x263</a:t>
            </a:r>
            <a:endParaRPr lang="en-US" altLang="zh-CN" sz="1500">
              <a:solidFill>
                <a:srgbClr val="00B050"/>
              </a:solidFill>
              <a:ea typeface="SimSun" charset="0"/>
              <a:sym typeface="+mn-ea"/>
            </a:endParaRPr>
          </a:p>
          <a:p>
            <a:pPr lvl="2"/>
            <a:r>
              <a:rPr lang="zh-CN" altLang="en-US" sz="1500">
                <a:solidFill>
                  <a:srgbClr val="00B050"/>
                </a:solidFill>
                <a:ea typeface="SimSun" charset="0"/>
                <a:sym typeface="+mn-ea"/>
              </a:rPr>
              <a:t>缓存行</a:t>
            </a:r>
            <a:r>
              <a:rPr lang="en-US" altLang="zh-CN" sz="1500">
                <a:solidFill>
                  <a:srgbClr val="00B050"/>
                </a:solidFill>
                <a:ea typeface="SimSun" charset="0"/>
                <a:sym typeface="+mn-ea"/>
              </a:rPr>
              <a:t>=0x263%8 = 3</a:t>
            </a:r>
            <a:r>
              <a:rPr lang="zh-CN" altLang="en-US" sz="1500">
                <a:solidFill>
                  <a:srgbClr val="00B050"/>
                </a:solidFill>
                <a:ea typeface="SimSun" charset="0"/>
                <a:sym typeface="+mn-ea"/>
              </a:rPr>
              <a:t>，标记</a:t>
            </a:r>
            <a:r>
              <a:rPr lang="en-US" altLang="zh-CN" sz="1500">
                <a:solidFill>
                  <a:srgbClr val="00B050"/>
                </a:solidFill>
                <a:ea typeface="SimSun" charset="0"/>
                <a:sym typeface="+mn-ea"/>
              </a:rPr>
              <a:t>=0x263/8=4C </a:t>
            </a:r>
            <a:r>
              <a:rPr lang="en-US" altLang="zh-CN" sz="1500">
                <a:solidFill>
                  <a:srgbClr val="00B050"/>
                </a:solidFill>
                <a:latin typeface="Arial" panose="020B0704020202020204" pitchFamily="34" charset="0"/>
                <a:ea typeface="SimSun" charset="0"/>
                <a:cs typeface="Arial" panose="020B0704020202020204" pitchFamily="34" charset="0"/>
                <a:sym typeface="+mn-ea"/>
              </a:rPr>
              <a:t>≠ 105</a:t>
            </a:r>
            <a:r>
              <a:rPr lang="zh-CN" altLang="en-US" sz="1500">
                <a:solidFill>
                  <a:srgbClr val="00B050"/>
                </a:solidFill>
                <a:latin typeface="Arial" panose="020B0704020202020204" pitchFamily="34" charset="0"/>
                <a:ea typeface="SimSun" charset="0"/>
                <a:cs typeface="Arial" panose="020B0704020202020204" pitchFamily="34" charset="0"/>
                <a:sym typeface="+mn-ea"/>
              </a:rPr>
              <a:t>，</a:t>
            </a:r>
            <a:r>
              <a:rPr lang="en-US" altLang="zh-CN" sz="1500" b="1">
                <a:solidFill>
                  <a:srgbClr val="00B050"/>
                </a:solidFill>
                <a:latin typeface="Arial Bold" panose="020B0704020202020204" charset="0"/>
                <a:ea typeface="SimSun" charset="0"/>
                <a:cs typeface="Arial Bold" panose="020B0704020202020204" charset="0"/>
                <a:sym typeface="+mn-ea"/>
              </a:rPr>
              <a:t>miss</a:t>
            </a:r>
            <a:endParaRPr lang="en-US" altLang="zh-CN" sz="1500" b="1">
              <a:solidFill>
                <a:srgbClr val="00B050"/>
              </a:solidFill>
              <a:latin typeface="Arial Bold" panose="020B0704020202020204" charset="0"/>
              <a:ea typeface="SimSun" charset="0"/>
              <a:cs typeface="Arial Bold" panose="020B0704020202020204" charset="0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7320280" y="2133600"/>
          <a:ext cx="2470785" cy="3316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240"/>
                <a:gridCol w="1185545"/>
              </a:tblGrid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虚拟页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有效</a:t>
                      </a:r>
                      <a:r>
                        <a:rPr lang="zh-CN" altLang="en-US" sz="1600"/>
                        <a:t>位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物理页</a:t>
                      </a:r>
                      <a:endParaRPr lang="zh-CN" altLang="en-US" sz="1600"/>
                    </a:p>
                  </a:txBody>
                  <a:tcPr/>
                </a:tc>
              </a:tr>
              <a:tr h="3416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06</a:t>
                      </a:r>
                      <a:endParaRPr lang="en-US" altLang="zh-CN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1/</a:t>
                      </a:r>
                      <a:r>
                        <a:rPr lang="en-US" altLang="zh-CN" sz="160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en-US" altLang="zh-CN" sz="16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solidFill>
                            <a:srgbClr val="00B050"/>
                          </a:solidFill>
                          <a:latin typeface="Arial Bold" panose="020B0704020202020204" charset="0"/>
                          <a:cs typeface="Arial Bold" panose="020B0704020202020204" charset="0"/>
                        </a:rPr>
                        <a:t>04</a:t>
                      </a:r>
                      <a:endParaRPr lang="en-US" altLang="zh-CN" sz="1600" b="1">
                        <a:solidFill>
                          <a:srgbClr val="00B050"/>
                        </a:solidFill>
                        <a:latin typeface="Arial Bold" panose="020B0704020202020204" charset="0"/>
                        <a:cs typeface="Arial Bold" panose="020B0704020202020204" charset="0"/>
                      </a:endParaRPr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15</a:t>
                      </a:r>
                      <a:endParaRPr lang="en-US" altLang="zh-CN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3/1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02</a:t>
                      </a:r>
                      <a:endParaRPr lang="en-US" altLang="zh-CN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4/0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ea typeface="SimSun" charset="0"/>
                        </a:rPr>
                        <a:t>——</a:t>
                      </a:r>
                      <a:endParaRPr lang="zh-CN" altLang="en-US" sz="1600">
                        <a:ea typeface="SimSun" charset="0"/>
                      </a:endParaRPr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5/1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</a:t>
                      </a:r>
                      <a:r>
                        <a:rPr lang="en-US" altLang="zh-CN" sz="1600"/>
                        <a:t>B</a:t>
                      </a:r>
                      <a:endParaRPr lang="en-US" altLang="zh-CN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6/0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——</a:t>
                      </a:r>
                      <a:endParaRPr lang="zh-CN" altLang="en-US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7/1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32</a:t>
                      </a:r>
                      <a:endParaRPr lang="en-US" altLang="zh-CN" sz="16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9994900" y="2127250"/>
          <a:ext cx="1476375" cy="3289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340"/>
                <a:gridCol w="661035"/>
              </a:tblGrid>
              <a:tr h="60769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行号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>
                          <a:ea typeface="SimSun" charset="0"/>
                        </a:rPr>
                        <a:t>、</a:t>
                      </a:r>
                      <a:r>
                        <a:rPr lang="zh-CN" altLang="en-US" sz="1600"/>
                        <a:t>有效</a:t>
                      </a:r>
                      <a:r>
                        <a:rPr lang="zh-CN" altLang="en-US" sz="1600"/>
                        <a:t>位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标记</a:t>
                      </a:r>
                      <a:endParaRPr lang="zh-CN" altLang="en-US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020</a:t>
                      </a: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1/0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ea typeface="SimSun" charset="0"/>
                        </a:rPr>
                        <a:t>——</a:t>
                      </a:r>
                      <a:endParaRPr lang="zh-CN" altLang="en-US" sz="1600">
                        <a:ea typeface="SimSun" charset="0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01</a:t>
                      </a:r>
                      <a:r>
                        <a:rPr lang="en-US" altLang="zh-CN" sz="1600"/>
                        <a:t>D</a:t>
                      </a: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3/</a:t>
                      </a:r>
                      <a:r>
                        <a:rPr lang="en-US" altLang="zh-CN" sz="160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en-US" altLang="zh-CN" sz="16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rgbClr val="00B050"/>
                          </a:solidFill>
                        </a:rPr>
                        <a:t>105</a:t>
                      </a:r>
                      <a:endParaRPr lang="en-US" altLang="zh-CN" sz="16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4/1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ea typeface="SimSun" charset="0"/>
                        </a:rPr>
                        <a:t>064</a:t>
                      </a:r>
                      <a:endParaRPr lang="en-US" altLang="zh-CN" sz="1600">
                        <a:ea typeface="SimSun" charset="0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5/1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14</a:t>
                      </a:r>
                      <a:r>
                        <a:rPr lang="en-US" altLang="zh-CN" sz="1600"/>
                        <a:t>D</a:t>
                      </a: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6/0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——</a:t>
                      </a:r>
                      <a:endParaRPr lang="zh-CN" altLang="en-US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7/1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27</a:t>
                      </a:r>
                      <a:r>
                        <a:rPr lang="en-US" altLang="zh-CN" sz="1600"/>
                        <a:t>A</a:t>
                      </a:r>
                      <a:endParaRPr lang="en-US" altLang="zh-CN" sz="1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7823835" y="5516880"/>
            <a:ext cx="6731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ea typeface="SimSun" charset="0"/>
                <a:sym typeface="+mn-ea"/>
              </a:rPr>
              <a:t>(a)</a:t>
            </a:r>
            <a:endParaRPr lang="en-US" altLang="zh-CN" sz="2000">
              <a:ea typeface="SimSun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426700" y="5516880"/>
            <a:ext cx="6731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ea typeface="SimSun" charset="0"/>
                <a:sym typeface="+mn-ea"/>
              </a:rPr>
              <a:t>(</a:t>
            </a:r>
            <a:r>
              <a:rPr lang="en-US" altLang="zh-CN" sz="2000">
                <a:ea typeface="SimSun" charset="0"/>
                <a:sym typeface="+mn-ea"/>
              </a:rPr>
              <a:t>b)</a:t>
            </a:r>
            <a:endParaRPr lang="en-US" altLang="zh-CN" sz="2000">
              <a:ea typeface="SimSun" charset="0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08213" y="139700"/>
            <a:ext cx="8259762" cy="768350"/>
          </a:xfrm>
        </p:spPr>
        <p:txBody>
          <a:bodyPr/>
          <a:p>
            <a:r>
              <a:rPr lang="en-US" altLang="zh-CN"/>
              <a:t>Exercise 2:</a:t>
            </a:r>
            <a:endParaRPr lang="en-US" altLang="zh-CN"/>
          </a:p>
        </p:txBody>
      </p:sp>
      <p:sp>
        <p:nvSpPr>
          <p:cNvPr id="6" name="内容占位符 5"/>
          <p:cNvSpPr/>
          <p:nvPr>
            <p:ph idx="1"/>
          </p:nvPr>
        </p:nvSpPr>
        <p:spPr>
          <a:xfrm>
            <a:off x="782320" y="1125855"/>
            <a:ext cx="9697085" cy="5111750"/>
          </a:xfrm>
        </p:spPr>
        <p:txBody>
          <a:bodyPr/>
          <a:p>
            <a:r>
              <a:rPr lang="zh-CN" altLang="en-US" sz="2000"/>
              <a:t>某计算机存储器按字节寻址，虚拟地址空间大小为</a:t>
            </a:r>
            <a:r>
              <a:rPr lang="en-US" altLang="zh-CN" sz="2000"/>
              <a:t>16MB</a:t>
            </a:r>
            <a:r>
              <a:rPr lang="zh-CN" altLang="en-US" sz="2000">
                <a:ea typeface="SimSun" charset="0"/>
              </a:rPr>
              <a:t>，物理地址空间大小为</a:t>
            </a:r>
            <a:r>
              <a:rPr lang="en-US" altLang="zh-CN" sz="2000">
                <a:ea typeface="SimSun" charset="0"/>
              </a:rPr>
              <a:t>1MB</a:t>
            </a:r>
            <a:r>
              <a:rPr lang="zh-CN" altLang="en-US" sz="2000">
                <a:ea typeface="SimSun" charset="0"/>
              </a:rPr>
              <a:t>，页面大小为</a:t>
            </a:r>
            <a:r>
              <a:rPr lang="en-US" altLang="zh-CN" sz="2000">
                <a:ea typeface="SimSun" charset="0"/>
              </a:rPr>
              <a:t>4KB</a:t>
            </a:r>
            <a:r>
              <a:rPr lang="zh-CN" altLang="en-US" sz="2000">
                <a:ea typeface="SimSun" charset="0"/>
              </a:rPr>
              <a:t>；</a:t>
            </a:r>
            <a:r>
              <a:rPr lang="en-US" altLang="zh-CN" sz="2000">
                <a:ea typeface="SimSun" charset="0"/>
              </a:rPr>
              <a:t>Cache</a:t>
            </a:r>
            <a:r>
              <a:rPr lang="zh-CN" altLang="en-US" sz="2000">
                <a:ea typeface="SimSun" charset="0"/>
              </a:rPr>
              <a:t>采用直接相联映射共</a:t>
            </a:r>
            <a:r>
              <a:rPr lang="en-US" altLang="zh-CN" sz="2000">
                <a:ea typeface="SimSun" charset="0"/>
              </a:rPr>
              <a:t>8</a:t>
            </a:r>
            <a:r>
              <a:rPr lang="zh-CN" altLang="en-US" sz="2000">
                <a:ea typeface="SimSun" charset="0"/>
              </a:rPr>
              <a:t>行，</a:t>
            </a:r>
            <a:r>
              <a:rPr lang="en-US" altLang="zh-CN" sz="2000">
                <a:ea typeface="SimSun" charset="0"/>
              </a:rPr>
              <a:t>Cache</a:t>
            </a:r>
            <a:r>
              <a:rPr lang="zh-CN" altLang="en-US" sz="2000">
                <a:ea typeface="SimSun" charset="0"/>
              </a:rPr>
              <a:t>块大小为</a:t>
            </a:r>
            <a:r>
              <a:rPr lang="en-US" altLang="zh-CN" sz="2000">
                <a:ea typeface="SimSun" charset="0"/>
              </a:rPr>
              <a:t>32B</a:t>
            </a:r>
            <a:r>
              <a:rPr lang="zh-CN" altLang="en-US" sz="2000">
                <a:ea typeface="SimSun" charset="0"/>
              </a:rPr>
              <a:t>。系统运行的某一个时刻，页表和</a:t>
            </a:r>
            <a:r>
              <a:rPr lang="en-US" altLang="zh-CN" sz="2000">
                <a:ea typeface="SimSun" charset="0"/>
              </a:rPr>
              <a:t>Cache</a:t>
            </a:r>
            <a:r>
              <a:rPr lang="zh-CN" altLang="en-US" sz="2000">
                <a:ea typeface="SimSun" charset="0"/>
              </a:rPr>
              <a:t>的部分内容分别如图</a:t>
            </a:r>
            <a:r>
              <a:rPr lang="en-US" altLang="zh-CN" sz="2000">
                <a:ea typeface="SimSun" charset="0"/>
              </a:rPr>
              <a:t>(a)</a:t>
            </a:r>
            <a:r>
              <a:rPr lang="zh-CN" altLang="en-US" sz="2000">
                <a:ea typeface="SimSun" charset="0"/>
              </a:rPr>
              <a:t>和</a:t>
            </a:r>
            <a:r>
              <a:rPr lang="en-US" altLang="zh-CN" sz="2000">
                <a:ea typeface="SimSun" charset="0"/>
              </a:rPr>
              <a:t>(b)</a:t>
            </a:r>
            <a:r>
              <a:rPr lang="zh-CN" altLang="en-US" sz="2000">
                <a:ea typeface="SimSun" charset="0"/>
              </a:rPr>
              <a:t>所示（</a:t>
            </a:r>
            <a:r>
              <a:rPr lang="en-US" altLang="zh-CN" sz="2000">
                <a:ea typeface="SimSun" charset="0"/>
              </a:rPr>
              <a:t>16</a:t>
            </a:r>
            <a:r>
              <a:rPr lang="zh-CN" altLang="en-US" sz="2000">
                <a:ea typeface="SimSun" charset="0"/>
              </a:rPr>
              <a:t>进制）</a:t>
            </a:r>
            <a:endParaRPr lang="zh-CN" altLang="en-US" sz="2000">
              <a:ea typeface="SimSun" charset="0"/>
            </a:endParaRPr>
          </a:p>
          <a:p>
            <a:pPr lvl="1"/>
            <a:r>
              <a:rPr lang="zh-CN" altLang="en-US" sz="1750">
                <a:ea typeface="SimSun" charset="0"/>
              </a:rPr>
              <a:t>如果配置一个</a:t>
            </a:r>
            <a:r>
              <a:rPr lang="en-US" altLang="zh-CN" sz="1750">
                <a:ea typeface="SimSun" charset="0"/>
              </a:rPr>
              <a:t>4-way</a:t>
            </a:r>
            <a:r>
              <a:rPr lang="zh-CN" altLang="en-US" sz="1750">
                <a:ea typeface="SimSun" charset="0"/>
              </a:rPr>
              <a:t>的</a:t>
            </a:r>
            <a:r>
              <a:rPr lang="en-US" altLang="zh-CN" sz="1750">
                <a:ea typeface="SimSun" charset="0"/>
              </a:rPr>
              <a:t>TLB</a:t>
            </a:r>
            <a:r>
              <a:rPr lang="zh-CN" altLang="en-US" sz="1750">
                <a:ea typeface="SimSun" charset="0"/>
              </a:rPr>
              <a:t>，一共</a:t>
            </a:r>
            <a:r>
              <a:rPr lang="en-US" altLang="zh-CN" sz="1750">
                <a:ea typeface="SimSun" charset="0"/>
              </a:rPr>
              <a:t>8</a:t>
            </a:r>
            <a:r>
              <a:rPr lang="zh-CN" altLang="en-US" sz="1750">
                <a:ea typeface="SimSun" charset="0"/>
              </a:rPr>
              <a:t>个表项</a:t>
            </a:r>
            <a:endParaRPr lang="zh-CN" altLang="en-US" sz="1750">
              <a:ea typeface="SimSun" charset="0"/>
            </a:endParaRPr>
          </a:p>
          <a:p>
            <a:pPr lvl="1"/>
            <a:r>
              <a:rPr lang="en-US" altLang="zh-CN" sz="1750">
                <a:ea typeface="SimSun" charset="0"/>
              </a:rPr>
              <a:t>TLB</a:t>
            </a:r>
            <a:r>
              <a:rPr lang="zh-CN" altLang="en-US" sz="1750">
                <a:ea typeface="SimSun" charset="0"/>
              </a:rPr>
              <a:t>内容如下所示</a:t>
            </a:r>
            <a:endParaRPr lang="zh-CN" altLang="en-US" sz="1750">
              <a:ea typeface="SimSun" charset="0"/>
            </a:endParaRPr>
          </a:p>
          <a:p>
            <a:pPr lvl="1"/>
            <a:r>
              <a:rPr lang="zh-CN" altLang="en-US" sz="1750">
                <a:ea typeface="SimSun" charset="0"/>
              </a:rPr>
              <a:t>虚拟地址</a:t>
            </a:r>
            <a:r>
              <a:rPr lang="en-US" altLang="zh-CN" sz="1750">
                <a:ea typeface="SimSun" charset="0"/>
              </a:rPr>
              <a:t>0x024BAC</a:t>
            </a:r>
            <a:r>
              <a:rPr lang="zh-CN" altLang="en-US" sz="1750">
                <a:ea typeface="SimSun" charset="0"/>
              </a:rPr>
              <a:t>对应</a:t>
            </a:r>
            <a:r>
              <a:rPr lang="zh-CN" altLang="en-US" sz="1750">
                <a:ea typeface="SimSun" charset="0"/>
              </a:rPr>
              <a:t>页面是否在</a:t>
            </a:r>
            <a:r>
              <a:rPr lang="zh-CN" altLang="en-US" sz="1750">
                <a:ea typeface="SimSun" charset="0"/>
              </a:rPr>
              <a:t>主存？</a:t>
            </a:r>
            <a:endParaRPr lang="zh-CN" altLang="en-US" sz="1750">
              <a:ea typeface="SimSun" charset="0"/>
            </a:endParaRPr>
          </a:p>
          <a:p>
            <a:pPr lvl="0"/>
            <a:r>
              <a:rPr lang="zh-CN" altLang="en-US" sz="2000">
                <a:ea typeface="SimSun" charset="0"/>
              </a:rPr>
              <a:t>分析</a:t>
            </a:r>
            <a:endParaRPr lang="zh-CN" altLang="en-US" sz="2000">
              <a:ea typeface="SimSun" charset="0"/>
            </a:endParaRPr>
          </a:p>
          <a:p>
            <a:pPr lvl="1"/>
            <a:endParaRPr lang="en-US" altLang="zh-CN" sz="1600">
              <a:solidFill>
                <a:srgbClr val="00B050"/>
              </a:solidFill>
              <a:ea typeface="SimSun" charset="0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7290435" y="2133600"/>
          <a:ext cx="2470785" cy="3316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240"/>
                <a:gridCol w="1185545"/>
              </a:tblGrid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虚拟页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有效</a:t>
                      </a:r>
                      <a:r>
                        <a:rPr lang="zh-CN" altLang="en-US" sz="1600"/>
                        <a:t>位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物理页</a:t>
                      </a:r>
                      <a:endParaRPr lang="zh-CN" altLang="en-US" sz="1600"/>
                    </a:p>
                  </a:txBody>
                  <a:tcPr/>
                </a:tc>
              </a:tr>
              <a:tr h="3416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06</a:t>
                      </a:r>
                      <a:endParaRPr lang="en-US" altLang="zh-CN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04</a:t>
                      </a:r>
                      <a:endParaRPr lang="en-US" altLang="zh-CN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15</a:t>
                      </a:r>
                      <a:endParaRPr lang="en-US" altLang="zh-CN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3/1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02</a:t>
                      </a:r>
                      <a:endParaRPr lang="en-US" altLang="zh-CN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4/0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ea typeface="SimSun" charset="0"/>
                        </a:rPr>
                        <a:t>——</a:t>
                      </a:r>
                      <a:endParaRPr lang="zh-CN" altLang="en-US" sz="1600">
                        <a:ea typeface="SimSun" charset="0"/>
                      </a:endParaRPr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5/1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</a:t>
                      </a:r>
                      <a:r>
                        <a:rPr lang="en-US" altLang="zh-CN" sz="1600"/>
                        <a:t>B</a:t>
                      </a:r>
                      <a:endParaRPr lang="en-US" altLang="zh-CN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6/0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——</a:t>
                      </a:r>
                      <a:endParaRPr lang="zh-CN" altLang="en-US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7/1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32</a:t>
                      </a:r>
                      <a:endParaRPr lang="en-US" altLang="zh-CN" sz="16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9848215" y="2127250"/>
          <a:ext cx="1476375" cy="3289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340"/>
                <a:gridCol w="661035"/>
              </a:tblGrid>
              <a:tr h="60769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块号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>
                          <a:ea typeface="SimSun" charset="0"/>
                        </a:rPr>
                        <a:t>、</a:t>
                      </a:r>
                      <a:r>
                        <a:rPr lang="zh-CN" altLang="en-US" sz="1600"/>
                        <a:t>有效</a:t>
                      </a:r>
                      <a:r>
                        <a:rPr lang="zh-CN" altLang="en-US" sz="1600"/>
                        <a:t>位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标记</a:t>
                      </a:r>
                      <a:endParaRPr lang="zh-CN" altLang="en-US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020</a:t>
                      </a: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1/0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ea typeface="SimSun" charset="0"/>
                        </a:rPr>
                        <a:t>——</a:t>
                      </a:r>
                      <a:endParaRPr lang="zh-CN" altLang="en-US" sz="1600">
                        <a:ea typeface="SimSun" charset="0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01</a:t>
                      </a:r>
                      <a:r>
                        <a:rPr lang="en-US" altLang="zh-CN" sz="1600"/>
                        <a:t>D</a:t>
                      </a: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3/1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105</a:t>
                      </a: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4/1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ea typeface="SimSun" charset="0"/>
                        </a:rPr>
                        <a:t>064</a:t>
                      </a:r>
                      <a:endParaRPr lang="en-US" altLang="zh-CN" sz="1600">
                        <a:ea typeface="SimSun" charset="0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5/1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14</a:t>
                      </a:r>
                      <a:r>
                        <a:rPr lang="en-US" altLang="zh-CN" sz="1600"/>
                        <a:t>D</a:t>
                      </a: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6/0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——</a:t>
                      </a:r>
                      <a:endParaRPr lang="zh-CN" altLang="en-US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7/1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27</a:t>
                      </a:r>
                      <a:r>
                        <a:rPr lang="en-US" altLang="zh-CN" sz="1600"/>
                        <a:t>A</a:t>
                      </a:r>
                      <a:endParaRPr lang="en-US" altLang="zh-CN" sz="1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8357235" y="5516880"/>
            <a:ext cx="6731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ea typeface="SimSun" charset="0"/>
                <a:sym typeface="+mn-ea"/>
              </a:rPr>
              <a:t>(a)</a:t>
            </a:r>
            <a:endParaRPr lang="en-US" altLang="zh-CN" sz="2000">
              <a:ea typeface="SimSun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280015" y="5516880"/>
            <a:ext cx="6731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ea typeface="SimSun" charset="0"/>
                <a:sym typeface="+mn-ea"/>
              </a:rPr>
              <a:t>(</a:t>
            </a:r>
            <a:r>
              <a:rPr lang="en-US" altLang="zh-CN" sz="2000">
                <a:ea typeface="SimSun" charset="0"/>
                <a:sym typeface="+mn-ea"/>
              </a:rPr>
              <a:t>b)</a:t>
            </a:r>
            <a:endParaRPr lang="en-US" altLang="zh-CN" sz="2000">
              <a:ea typeface="SimSun" charset="0"/>
              <a:sym typeface="+mn-ea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1301115" y="5530215"/>
          <a:ext cx="8900160" cy="1078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680"/>
                <a:gridCol w="741680"/>
                <a:gridCol w="741680"/>
                <a:gridCol w="741680"/>
                <a:gridCol w="741680"/>
                <a:gridCol w="741680"/>
                <a:gridCol w="741680"/>
                <a:gridCol w="741680"/>
                <a:gridCol w="741680"/>
                <a:gridCol w="741680"/>
                <a:gridCol w="741680"/>
                <a:gridCol w="741680"/>
              </a:tblGrid>
              <a:tr h="34671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有效位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标记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页号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有效位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标记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页号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有效位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标记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页号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有效位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标记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页号</a:t>
                      </a:r>
                      <a:endParaRPr lang="zh-CN" altLang="en-US" sz="14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0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——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——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1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001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15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0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——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——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1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012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1</a:t>
                      </a:r>
                      <a:r>
                        <a:rPr lang="en-US" altLang="zh-CN" sz="1400"/>
                        <a:t>F</a:t>
                      </a:r>
                      <a:endParaRPr lang="en-US" altLang="zh-CN" sz="14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1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013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2</a:t>
                      </a:r>
                      <a:r>
                        <a:rPr lang="en-US" altLang="zh-CN" sz="1400"/>
                        <a:t>D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0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——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——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1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008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7</a:t>
                      </a:r>
                      <a:r>
                        <a:rPr lang="en-US" altLang="zh-CN" sz="1400"/>
                        <a:t>E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0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——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——</a:t>
                      </a: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08213" y="139700"/>
            <a:ext cx="8259762" cy="768350"/>
          </a:xfrm>
        </p:spPr>
        <p:txBody>
          <a:bodyPr/>
          <a:p>
            <a:r>
              <a:rPr lang="en-US" altLang="zh-CN"/>
              <a:t>Exercise 2:</a:t>
            </a:r>
            <a:endParaRPr lang="en-US" altLang="zh-CN"/>
          </a:p>
        </p:txBody>
      </p:sp>
      <p:sp>
        <p:nvSpPr>
          <p:cNvPr id="6" name="内容占位符 5"/>
          <p:cNvSpPr/>
          <p:nvPr>
            <p:ph idx="1"/>
          </p:nvPr>
        </p:nvSpPr>
        <p:spPr>
          <a:xfrm>
            <a:off x="650240" y="1125855"/>
            <a:ext cx="10276205" cy="5111750"/>
          </a:xfrm>
        </p:spPr>
        <p:txBody>
          <a:bodyPr/>
          <a:p>
            <a:r>
              <a:rPr lang="zh-CN" altLang="en-US" sz="2000"/>
              <a:t>某计算机存储器按字节寻址，虚拟地址空间大小为</a:t>
            </a:r>
            <a:r>
              <a:rPr lang="en-US" altLang="zh-CN" sz="2000"/>
              <a:t>16MB</a:t>
            </a:r>
            <a:r>
              <a:rPr lang="zh-CN" altLang="en-US" sz="2000">
                <a:ea typeface="SimSun" charset="0"/>
              </a:rPr>
              <a:t>，物理地址空间大小为</a:t>
            </a:r>
            <a:r>
              <a:rPr lang="en-US" altLang="zh-CN" sz="2000">
                <a:ea typeface="SimSun" charset="0"/>
              </a:rPr>
              <a:t>1MB</a:t>
            </a:r>
            <a:r>
              <a:rPr lang="zh-CN" altLang="en-US" sz="2000">
                <a:ea typeface="SimSun" charset="0"/>
              </a:rPr>
              <a:t>，页面大小为</a:t>
            </a:r>
            <a:r>
              <a:rPr lang="en-US" altLang="zh-CN" sz="2000">
                <a:ea typeface="SimSun" charset="0"/>
              </a:rPr>
              <a:t>4KB</a:t>
            </a:r>
            <a:r>
              <a:rPr lang="zh-CN" altLang="en-US" sz="2000">
                <a:ea typeface="SimSun" charset="0"/>
              </a:rPr>
              <a:t>；</a:t>
            </a:r>
            <a:r>
              <a:rPr lang="en-US" altLang="zh-CN" sz="2000">
                <a:ea typeface="SimSun" charset="0"/>
              </a:rPr>
              <a:t>Cache</a:t>
            </a:r>
            <a:r>
              <a:rPr lang="zh-CN" altLang="en-US" sz="2000">
                <a:ea typeface="SimSun" charset="0"/>
              </a:rPr>
              <a:t>采用直接相联映射共</a:t>
            </a:r>
            <a:r>
              <a:rPr lang="en-US" altLang="zh-CN" sz="2000">
                <a:ea typeface="SimSun" charset="0"/>
              </a:rPr>
              <a:t>8</a:t>
            </a:r>
            <a:r>
              <a:rPr lang="zh-CN" altLang="en-US" sz="2000">
                <a:ea typeface="SimSun" charset="0"/>
              </a:rPr>
              <a:t>行，</a:t>
            </a:r>
            <a:r>
              <a:rPr lang="en-US" altLang="zh-CN" sz="2000">
                <a:ea typeface="SimSun" charset="0"/>
              </a:rPr>
              <a:t>Cache</a:t>
            </a:r>
            <a:r>
              <a:rPr lang="zh-CN" altLang="en-US" sz="2000">
                <a:ea typeface="SimSun" charset="0"/>
              </a:rPr>
              <a:t>块大小为</a:t>
            </a:r>
            <a:r>
              <a:rPr lang="en-US" altLang="zh-CN" sz="2000">
                <a:ea typeface="SimSun" charset="0"/>
              </a:rPr>
              <a:t>32B</a:t>
            </a:r>
            <a:r>
              <a:rPr lang="zh-CN" altLang="en-US" sz="2000">
                <a:ea typeface="SimSun" charset="0"/>
              </a:rPr>
              <a:t>。系统运行的某一个时刻，页表和</a:t>
            </a:r>
            <a:r>
              <a:rPr lang="en-US" altLang="zh-CN" sz="2000">
                <a:ea typeface="SimSun" charset="0"/>
              </a:rPr>
              <a:t>Cache</a:t>
            </a:r>
            <a:r>
              <a:rPr lang="zh-CN" altLang="en-US" sz="2000">
                <a:ea typeface="SimSun" charset="0"/>
              </a:rPr>
              <a:t>的部分内容分别如图</a:t>
            </a:r>
            <a:r>
              <a:rPr lang="en-US" altLang="zh-CN" sz="2000">
                <a:ea typeface="SimSun" charset="0"/>
              </a:rPr>
              <a:t>(a)</a:t>
            </a:r>
            <a:r>
              <a:rPr lang="zh-CN" altLang="en-US" sz="2000">
                <a:ea typeface="SimSun" charset="0"/>
              </a:rPr>
              <a:t>和</a:t>
            </a:r>
            <a:r>
              <a:rPr lang="en-US" altLang="zh-CN" sz="2000">
                <a:ea typeface="SimSun" charset="0"/>
              </a:rPr>
              <a:t>(b)</a:t>
            </a:r>
            <a:r>
              <a:rPr lang="zh-CN" altLang="en-US" sz="2000">
                <a:ea typeface="SimSun" charset="0"/>
              </a:rPr>
              <a:t>所示（</a:t>
            </a:r>
            <a:r>
              <a:rPr lang="en-US" altLang="zh-CN" sz="2000">
                <a:ea typeface="SimSun" charset="0"/>
              </a:rPr>
              <a:t>16</a:t>
            </a:r>
            <a:r>
              <a:rPr lang="zh-CN" altLang="en-US" sz="2000">
                <a:ea typeface="SimSun" charset="0"/>
              </a:rPr>
              <a:t>进制）</a:t>
            </a:r>
            <a:endParaRPr lang="zh-CN" altLang="en-US" sz="2000">
              <a:ea typeface="SimSun" charset="0"/>
            </a:endParaRPr>
          </a:p>
          <a:p>
            <a:pPr lvl="1"/>
            <a:r>
              <a:rPr lang="zh-CN" altLang="en-US" sz="1750">
                <a:ea typeface="SimSun" charset="0"/>
              </a:rPr>
              <a:t>如果配置一个</a:t>
            </a:r>
            <a:r>
              <a:rPr lang="en-US" altLang="zh-CN" sz="1750">
                <a:ea typeface="SimSun" charset="0"/>
              </a:rPr>
              <a:t>4-way</a:t>
            </a:r>
            <a:r>
              <a:rPr lang="zh-CN" altLang="en-US" sz="1750">
                <a:ea typeface="SimSun" charset="0"/>
              </a:rPr>
              <a:t>的</a:t>
            </a:r>
            <a:r>
              <a:rPr lang="en-US" altLang="zh-CN" sz="1750">
                <a:ea typeface="SimSun" charset="0"/>
              </a:rPr>
              <a:t>TLB</a:t>
            </a:r>
            <a:r>
              <a:rPr lang="zh-CN" altLang="en-US" sz="1750">
                <a:ea typeface="SimSun" charset="0"/>
              </a:rPr>
              <a:t>，一共</a:t>
            </a:r>
            <a:r>
              <a:rPr lang="en-US" altLang="zh-CN" sz="1750">
                <a:ea typeface="SimSun" charset="0"/>
              </a:rPr>
              <a:t>8</a:t>
            </a:r>
            <a:r>
              <a:rPr lang="zh-CN" altLang="en-US" sz="1750">
                <a:ea typeface="SimSun" charset="0"/>
              </a:rPr>
              <a:t>个表项</a:t>
            </a:r>
            <a:endParaRPr lang="zh-CN" altLang="en-US" sz="1750">
              <a:ea typeface="SimSun" charset="0"/>
            </a:endParaRPr>
          </a:p>
          <a:p>
            <a:pPr lvl="1"/>
            <a:r>
              <a:rPr lang="en-US" altLang="zh-CN" sz="1750">
                <a:ea typeface="SimSun" charset="0"/>
              </a:rPr>
              <a:t>TLB</a:t>
            </a:r>
            <a:r>
              <a:rPr lang="zh-CN" altLang="en-US" sz="1750">
                <a:ea typeface="SimSun" charset="0"/>
              </a:rPr>
              <a:t>内容如下所示</a:t>
            </a:r>
            <a:endParaRPr lang="zh-CN" altLang="en-US" sz="1750">
              <a:ea typeface="SimSun" charset="0"/>
            </a:endParaRPr>
          </a:p>
          <a:p>
            <a:pPr lvl="1"/>
            <a:r>
              <a:rPr lang="zh-CN" altLang="en-US" sz="1750">
                <a:ea typeface="SimSun" charset="0"/>
              </a:rPr>
              <a:t>虚拟地址</a:t>
            </a:r>
            <a:r>
              <a:rPr lang="en-US" altLang="zh-CN" sz="1750">
                <a:ea typeface="SimSun" charset="0"/>
              </a:rPr>
              <a:t>0x024BAC</a:t>
            </a:r>
            <a:r>
              <a:rPr lang="zh-CN" altLang="en-US" sz="1750">
                <a:ea typeface="SimSun" charset="0"/>
              </a:rPr>
              <a:t>对应</a:t>
            </a:r>
            <a:r>
              <a:rPr lang="zh-CN" altLang="en-US" sz="1750">
                <a:ea typeface="SimSun" charset="0"/>
              </a:rPr>
              <a:t>页面是否在</a:t>
            </a:r>
            <a:r>
              <a:rPr lang="zh-CN" altLang="en-US" sz="1750">
                <a:ea typeface="SimSun" charset="0"/>
              </a:rPr>
              <a:t>主存？</a:t>
            </a:r>
            <a:endParaRPr lang="zh-CN" altLang="en-US" sz="1750">
              <a:ea typeface="SimSun" charset="0"/>
            </a:endParaRPr>
          </a:p>
          <a:p>
            <a:pPr lvl="0"/>
            <a:r>
              <a:rPr lang="zh-CN" altLang="en-US" sz="2000">
                <a:ea typeface="SimSun" charset="0"/>
              </a:rPr>
              <a:t>分析</a:t>
            </a:r>
            <a:endParaRPr lang="zh-CN" altLang="en-US" sz="2000">
              <a:ea typeface="SimSun" charset="0"/>
            </a:endParaRPr>
          </a:p>
          <a:p>
            <a:pPr lvl="1"/>
            <a:r>
              <a:rPr lang="zh-CN" altLang="en-US" sz="1600">
                <a:solidFill>
                  <a:srgbClr val="00B050"/>
                </a:solidFill>
                <a:ea typeface="SimSun" charset="0"/>
              </a:rPr>
              <a:t>虚拟地址</a:t>
            </a:r>
            <a:r>
              <a:rPr lang="en-US" altLang="zh-CN" sz="1600">
                <a:solidFill>
                  <a:srgbClr val="00B050"/>
                </a:solidFill>
                <a:ea typeface="SimSun" charset="0"/>
              </a:rPr>
              <a:t>24bit</a:t>
            </a:r>
            <a:r>
              <a:rPr lang="zh-CN" altLang="en-US" sz="1600">
                <a:solidFill>
                  <a:srgbClr val="00B050"/>
                </a:solidFill>
                <a:ea typeface="SimSun" charset="0"/>
              </a:rPr>
              <a:t>，</a:t>
            </a:r>
            <a:r>
              <a:rPr lang="en-US" altLang="zh-CN" sz="1600">
                <a:solidFill>
                  <a:srgbClr val="00B050"/>
                </a:solidFill>
                <a:ea typeface="SimSun" charset="0"/>
              </a:rPr>
              <a:t>12bit</a:t>
            </a:r>
            <a:r>
              <a:rPr lang="zh-CN" altLang="en-US" sz="1600">
                <a:solidFill>
                  <a:srgbClr val="00B050"/>
                </a:solidFill>
                <a:ea typeface="SimSun" charset="0"/>
              </a:rPr>
              <a:t>作页内偏移</a:t>
            </a:r>
            <a:endParaRPr lang="zh-CN" altLang="en-US" sz="1600">
              <a:solidFill>
                <a:srgbClr val="00B050"/>
              </a:solidFill>
              <a:ea typeface="SimSun" charset="0"/>
            </a:endParaRPr>
          </a:p>
          <a:p>
            <a:pPr lvl="1"/>
            <a:r>
              <a:rPr lang="en-US" altLang="zh-CN" sz="1600">
                <a:solidFill>
                  <a:srgbClr val="00B050"/>
                </a:solidFill>
                <a:ea typeface="SimSun" charset="0"/>
              </a:rPr>
              <a:t>4-way</a:t>
            </a:r>
            <a:r>
              <a:rPr lang="zh-CN" altLang="en-US" sz="1600">
                <a:solidFill>
                  <a:srgbClr val="00B050"/>
                </a:solidFill>
                <a:ea typeface="SimSun" charset="0"/>
              </a:rPr>
              <a:t>相联，只有</a:t>
            </a:r>
            <a:r>
              <a:rPr lang="en-US" altLang="zh-CN" sz="1600">
                <a:solidFill>
                  <a:srgbClr val="00B050"/>
                </a:solidFill>
                <a:ea typeface="SimSun" charset="0"/>
              </a:rPr>
              <a:t>2</a:t>
            </a:r>
            <a:r>
              <a:rPr lang="zh-CN" altLang="en-US" sz="1600">
                <a:solidFill>
                  <a:srgbClr val="00B050"/>
                </a:solidFill>
                <a:ea typeface="SimSun" charset="0"/>
              </a:rPr>
              <a:t>组，</a:t>
            </a:r>
            <a:r>
              <a:rPr lang="en-US" altLang="zh-CN" sz="1600">
                <a:solidFill>
                  <a:srgbClr val="00B050"/>
                </a:solidFill>
                <a:ea typeface="SimSun" charset="0"/>
              </a:rPr>
              <a:t>1bit</a:t>
            </a:r>
            <a:r>
              <a:rPr lang="zh-CN" altLang="en-US" sz="1600">
                <a:solidFill>
                  <a:srgbClr val="00B050"/>
                </a:solidFill>
                <a:ea typeface="SimSun" charset="0"/>
              </a:rPr>
              <a:t>作组号</a:t>
            </a:r>
            <a:r>
              <a:rPr lang="en-US" altLang="zh-CN" sz="1600">
                <a:solidFill>
                  <a:srgbClr val="00B050"/>
                </a:solidFill>
                <a:ea typeface="SimSun" charset="0"/>
              </a:rPr>
              <a:t>, 11 bit</a:t>
            </a:r>
            <a:r>
              <a:rPr lang="zh-CN" altLang="en-US" sz="1600">
                <a:solidFill>
                  <a:srgbClr val="00B050"/>
                </a:solidFill>
                <a:ea typeface="SimSun" charset="0"/>
              </a:rPr>
              <a:t>作</a:t>
            </a:r>
            <a:r>
              <a:rPr lang="en-US" altLang="zh-CN" sz="1600">
                <a:solidFill>
                  <a:srgbClr val="00B050"/>
                </a:solidFill>
                <a:ea typeface="SimSun" charset="0"/>
              </a:rPr>
              <a:t>tag</a:t>
            </a:r>
            <a:endParaRPr lang="en-US" altLang="zh-CN" sz="1600">
              <a:solidFill>
                <a:srgbClr val="00B050"/>
              </a:solidFill>
              <a:ea typeface="SimSun" charset="0"/>
            </a:endParaRPr>
          </a:p>
          <a:p>
            <a:pPr lvl="1"/>
            <a:r>
              <a:rPr lang="zh-CN" altLang="en-US" sz="1600">
                <a:solidFill>
                  <a:srgbClr val="00B050"/>
                </a:solidFill>
                <a:ea typeface="SimSun" charset="0"/>
              </a:rPr>
              <a:t>虚拟页号</a:t>
            </a:r>
            <a:r>
              <a:rPr lang="en-US" altLang="zh-CN" sz="1600">
                <a:solidFill>
                  <a:srgbClr val="00B050"/>
                </a:solidFill>
                <a:ea typeface="SimSun" charset="0"/>
              </a:rPr>
              <a:t>(</a:t>
            </a:r>
            <a:r>
              <a:rPr lang="zh-CN" altLang="en-US" sz="1600">
                <a:solidFill>
                  <a:srgbClr val="00B050"/>
                </a:solidFill>
                <a:ea typeface="SimSun" charset="0"/>
              </a:rPr>
              <a:t>块号</a:t>
            </a:r>
            <a:r>
              <a:rPr lang="en-US" altLang="zh-CN" sz="1600">
                <a:solidFill>
                  <a:srgbClr val="00B050"/>
                </a:solidFill>
                <a:ea typeface="SimSun" charset="0"/>
              </a:rPr>
              <a:t>) =</a:t>
            </a:r>
            <a:r>
              <a:rPr lang="en-US" altLang="zh-CN" sz="1600">
                <a:solidFill>
                  <a:srgbClr val="00B050"/>
                </a:solidFill>
                <a:ea typeface="SimSun" charset="0"/>
                <a:sym typeface="+mn-ea"/>
              </a:rPr>
              <a:t>0x0</a:t>
            </a:r>
            <a:r>
              <a:rPr lang="en-US" altLang="zh-CN" sz="1600" b="1">
                <a:solidFill>
                  <a:srgbClr val="00B050"/>
                </a:solidFill>
                <a:latin typeface="Arial Bold" panose="020B0704020202020204" charset="0"/>
                <a:ea typeface="SimSun" charset="0"/>
                <a:cs typeface="Arial Bold" panose="020B0704020202020204" charset="0"/>
                <a:sym typeface="+mn-ea"/>
              </a:rPr>
              <a:t>24</a:t>
            </a:r>
            <a:r>
              <a:rPr lang="en-US" altLang="zh-CN" sz="1600">
                <a:solidFill>
                  <a:srgbClr val="00B050"/>
                </a:solidFill>
                <a:ea typeface="SimSun" charset="0"/>
                <a:sym typeface="+mn-ea"/>
              </a:rPr>
              <a:t>BAC/4k = 0x24</a:t>
            </a:r>
            <a:endParaRPr lang="en-US" altLang="zh-CN" sz="1600">
              <a:solidFill>
                <a:srgbClr val="00B050"/>
              </a:solidFill>
              <a:ea typeface="SimSun" charset="0"/>
              <a:sym typeface="+mn-ea"/>
            </a:endParaRPr>
          </a:p>
          <a:p>
            <a:pPr lvl="1"/>
            <a:r>
              <a:rPr lang="en-US" altLang="zh-CN" sz="1600">
                <a:solidFill>
                  <a:srgbClr val="00B050"/>
                </a:solidFill>
                <a:ea typeface="SimSun" charset="0"/>
                <a:sym typeface="+mn-ea"/>
              </a:rPr>
              <a:t>TLB</a:t>
            </a:r>
            <a:r>
              <a:rPr lang="zh-CN" altLang="en-US" sz="1600">
                <a:solidFill>
                  <a:srgbClr val="00B050"/>
                </a:solidFill>
                <a:ea typeface="SimSun" charset="0"/>
                <a:sym typeface="+mn-ea"/>
              </a:rPr>
              <a:t>组号</a:t>
            </a:r>
            <a:r>
              <a:rPr lang="en-US" altLang="zh-CN" sz="1600">
                <a:solidFill>
                  <a:srgbClr val="00B050"/>
                </a:solidFill>
                <a:ea typeface="SimSun" charset="0"/>
                <a:sym typeface="+mn-ea"/>
              </a:rPr>
              <a:t>=0x24%2 =0</a:t>
            </a:r>
            <a:r>
              <a:rPr lang="zh-CN" altLang="en-US" sz="1600">
                <a:solidFill>
                  <a:srgbClr val="00B050"/>
                </a:solidFill>
                <a:ea typeface="SimSun" charset="0"/>
                <a:sym typeface="+mn-ea"/>
              </a:rPr>
              <a:t>，</a:t>
            </a:r>
            <a:r>
              <a:rPr lang="en-US" altLang="zh-CN" sz="1600">
                <a:solidFill>
                  <a:srgbClr val="00B050"/>
                </a:solidFill>
                <a:ea typeface="SimSun" charset="0"/>
                <a:sym typeface="+mn-ea"/>
              </a:rPr>
              <a:t>tag=0x24/2=0x12</a:t>
            </a:r>
            <a:endParaRPr lang="en-US" altLang="zh-CN" sz="1600">
              <a:solidFill>
                <a:srgbClr val="00B050"/>
              </a:solidFill>
              <a:ea typeface="SimSun" charset="0"/>
              <a:sym typeface="+mn-ea"/>
            </a:endParaRPr>
          </a:p>
          <a:p>
            <a:pPr lvl="1"/>
            <a:r>
              <a:rPr lang="zh-CN" altLang="en-US" sz="1600">
                <a:solidFill>
                  <a:srgbClr val="00B050"/>
                </a:solidFill>
                <a:ea typeface="SimSun" charset="0"/>
                <a:sym typeface="+mn-ea"/>
              </a:rPr>
              <a:t>命中，物理页号为</a:t>
            </a:r>
            <a:r>
              <a:rPr lang="en-US" altLang="zh-CN" sz="1600">
                <a:solidFill>
                  <a:srgbClr val="00B050"/>
                </a:solidFill>
                <a:ea typeface="SimSun" charset="0"/>
                <a:sym typeface="+mn-ea"/>
              </a:rPr>
              <a:t>1F</a:t>
            </a:r>
            <a:endParaRPr lang="en-US" altLang="zh-CN" sz="1600">
              <a:solidFill>
                <a:srgbClr val="00B050"/>
              </a:solidFill>
              <a:ea typeface="SimSun" charset="0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7103745" y="2133600"/>
          <a:ext cx="2470785" cy="3316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240"/>
                <a:gridCol w="1185545"/>
              </a:tblGrid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虚拟页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有效</a:t>
                      </a:r>
                      <a:r>
                        <a:rPr lang="zh-CN" altLang="en-US" sz="1600"/>
                        <a:t>位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物理页</a:t>
                      </a:r>
                      <a:endParaRPr lang="zh-CN" altLang="en-US" sz="1600"/>
                    </a:p>
                  </a:txBody>
                  <a:tcPr/>
                </a:tc>
              </a:tr>
              <a:tr h="3416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06</a:t>
                      </a:r>
                      <a:endParaRPr lang="en-US" altLang="zh-CN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04</a:t>
                      </a:r>
                      <a:endParaRPr lang="en-US" altLang="zh-CN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15</a:t>
                      </a:r>
                      <a:endParaRPr lang="en-US" altLang="zh-CN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3/1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02</a:t>
                      </a:r>
                      <a:endParaRPr lang="en-US" altLang="zh-CN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4/0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ea typeface="SimSun" charset="0"/>
                        </a:rPr>
                        <a:t>——</a:t>
                      </a:r>
                      <a:endParaRPr lang="zh-CN" altLang="en-US" sz="1600">
                        <a:ea typeface="SimSun" charset="0"/>
                      </a:endParaRPr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5/1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</a:t>
                      </a:r>
                      <a:r>
                        <a:rPr lang="en-US" altLang="zh-CN" sz="1600"/>
                        <a:t>B</a:t>
                      </a:r>
                      <a:endParaRPr lang="en-US" altLang="zh-CN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6/0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——</a:t>
                      </a:r>
                      <a:endParaRPr lang="zh-CN" altLang="en-US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7/1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32</a:t>
                      </a:r>
                      <a:endParaRPr lang="en-US" altLang="zh-CN" sz="16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9874885" y="2127250"/>
          <a:ext cx="1476375" cy="3289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340"/>
                <a:gridCol w="661035"/>
              </a:tblGrid>
              <a:tr h="60769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块号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>
                          <a:ea typeface="SimSun" charset="0"/>
                        </a:rPr>
                        <a:t>、</a:t>
                      </a:r>
                      <a:r>
                        <a:rPr lang="zh-CN" altLang="en-US" sz="1600"/>
                        <a:t>有效</a:t>
                      </a:r>
                      <a:r>
                        <a:rPr lang="zh-CN" altLang="en-US" sz="1600"/>
                        <a:t>位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标记</a:t>
                      </a:r>
                      <a:endParaRPr lang="zh-CN" altLang="en-US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020</a:t>
                      </a: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1/0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ea typeface="SimSun" charset="0"/>
                        </a:rPr>
                        <a:t>——</a:t>
                      </a:r>
                      <a:endParaRPr lang="zh-CN" altLang="en-US" sz="1600">
                        <a:ea typeface="SimSun" charset="0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01</a:t>
                      </a:r>
                      <a:r>
                        <a:rPr lang="en-US" altLang="zh-CN" sz="1600"/>
                        <a:t>D</a:t>
                      </a: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3/1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105</a:t>
                      </a: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4/1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ea typeface="SimSun" charset="0"/>
                        </a:rPr>
                        <a:t>064</a:t>
                      </a:r>
                      <a:endParaRPr lang="en-US" altLang="zh-CN" sz="1600">
                        <a:ea typeface="SimSun" charset="0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5/1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14</a:t>
                      </a:r>
                      <a:r>
                        <a:rPr lang="en-US" altLang="zh-CN" sz="1600"/>
                        <a:t>D</a:t>
                      </a: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6/0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——</a:t>
                      </a:r>
                      <a:endParaRPr lang="zh-CN" altLang="en-US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7/1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27</a:t>
                      </a:r>
                      <a:r>
                        <a:rPr lang="en-US" altLang="zh-CN" sz="1600"/>
                        <a:t>A</a:t>
                      </a:r>
                      <a:endParaRPr lang="en-US" altLang="zh-CN" sz="1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7823835" y="5516880"/>
            <a:ext cx="6731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ea typeface="SimSun" charset="0"/>
                <a:sym typeface="+mn-ea"/>
              </a:rPr>
              <a:t>(a)</a:t>
            </a:r>
            <a:endParaRPr lang="en-US" altLang="zh-CN" sz="2000">
              <a:ea typeface="SimSun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480040" y="5516880"/>
            <a:ext cx="6731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ea typeface="SimSun" charset="0"/>
                <a:sym typeface="+mn-ea"/>
              </a:rPr>
              <a:t>(</a:t>
            </a:r>
            <a:r>
              <a:rPr lang="en-US" altLang="zh-CN" sz="2000">
                <a:ea typeface="SimSun" charset="0"/>
                <a:sym typeface="+mn-ea"/>
              </a:rPr>
              <a:t>b)</a:t>
            </a:r>
            <a:endParaRPr lang="en-US" altLang="zh-CN" sz="2000">
              <a:ea typeface="SimSun" charset="0"/>
              <a:sym typeface="+mn-ea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1600200" y="5562600"/>
          <a:ext cx="8900160" cy="1078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680"/>
                <a:gridCol w="741680"/>
                <a:gridCol w="741680"/>
                <a:gridCol w="741680"/>
                <a:gridCol w="741680"/>
                <a:gridCol w="741680"/>
                <a:gridCol w="741680"/>
                <a:gridCol w="741680"/>
                <a:gridCol w="741680"/>
                <a:gridCol w="741680"/>
                <a:gridCol w="741680"/>
                <a:gridCol w="741680"/>
              </a:tblGrid>
              <a:tr h="34671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有效位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标记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页号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有效位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标记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页号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有效位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标记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页号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有效位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标记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页号</a:t>
                      </a:r>
                      <a:endParaRPr lang="zh-CN" altLang="en-US" sz="14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0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——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——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1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001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15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0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——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——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1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012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1</a:t>
                      </a:r>
                      <a:r>
                        <a:rPr lang="en-US" altLang="zh-CN" sz="1400"/>
                        <a:t>F</a:t>
                      </a:r>
                      <a:endParaRPr lang="en-US" altLang="zh-CN" sz="14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1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013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2</a:t>
                      </a:r>
                      <a:r>
                        <a:rPr lang="en-US" altLang="zh-CN" sz="1400"/>
                        <a:t>D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0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——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——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1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008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7</a:t>
                      </a:r>
                      <a:r>
                        <a:rPr lang="en-US" altLang="zh-CN" sz="1400"/>
                        <a:t>E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0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——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——</a:t>
                      </a: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096000" y="5915660"/>
            <a:ext cx="4371975" cy="321945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txBody>
          <a:bodyPr rtlCol="0" anchor="ctr"/>
          <a:p>
            <a:pPr algn="ctr"/>
            <a:endParaRPr lang="en-US" sz="1600" dirty="0" smtClean="0">
              <a:latin typeface="+mn-lt"/>
            </a:endParaRP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缺页故障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概念小测验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虚拟内存系统举例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CSAPP 9.6.4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的“简单内存系统”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Intel Core i7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 smtClean="0"/>
              <a:t>虚拟内存实现的奇妙功能</a:t>
            </a:r>
            <a:endParaRPr lang="en-US" dirty="0"/>
          </a:p>
          <a:p>
            <a:pPr lvl="1"/>
            <a:r>
              <a:rPr lang="zh-CN" altLang="en-US" dirty="0" smtClean="0"/>
              <a:t>内存映射的文件（</a:t>
            </a:r>
            <a:r>
              <a:rPr lang="en-US" altLang="zh-CN" dirty="0" smtClean="0"/>
              <a:t>RAM</a:t>
            </a:r>
            <a:r>
              <a:rPr lang="zh-CN" altLang="en-US" dirty="0" smtClean="0"/>
              <a:t>是磁盘的缓存）</a:t>
            </a:r>
            <a:endParaRPr lang="en-US" dirty="0"/>
          </a:p>
          <a:p>
            <a:pPr lvl="1"/>
            <a:r>
              <a:rPr lang="zh-CN" altLang="en-US" dirty="0" smtClean="0"/>
              <a:t>写时复制共享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914083" y="493713"/>
            <a:ext cx="5557837" cy="573087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Memory Mapping</a:t>
            </a:r>
            <a:endParaRPr lang="en-GB" dirty="0"/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内存</a:t>
            </a:r>
            <a:r>
              <a:rPr lang="zh-CN" altLang="en-US"/>
              <a:t>映射</a:t>
            </a:r>
            <a:endParaRPr lang="zh-CN" altLang="en-US"/>
          </a:p>
          <a:p>
            <a:pPr lvl="1"/>
            <a:r>
              <a:rPr lang="zh-CN" altLang="en-US"/>
              <a:t>在初始化</a:t>
            </a:r>
            <a:r>
              <a:rPr lang="en-US" altLang="zh-CN"/>
              <a:t>VM</a:t>
            </a:r>
            <a:r>
              <a:rPr lang="zh-CN" altLang="en-US"/>
              <a:t>区域的过程中</a:t>
            </a:r>
            <a:r>
              <a:rPr lang="en-US" altLang="zh-CN"/>
              <a:t>，</a:t>
            </a:r>
            <a:r>
              <a:rPr lang="zh-CN" altLang="en-US"/>
              <a:t>将</a:t>
            </a:r>
            <a:r>
              <a:rPr lang="en-US" altLang="zh-CN"/>
              <a:t>VM</a:t>
            </a:r>
            <a:r>
              <a:rPr lang="zh-CN" altLang="en-US"/>
              <a:t>区域跟磁盘上的对象关联起来的过程</a:t>
            </a:r>
            <a:r>
              <a:rPr lang="en-US" altLang="zh-CN"/>
              <a:t>，</a:t>
            </a:r>
            <a:r>
              <a:rPr lang="zh-CN" altLang="en-US"/>
              <a:t>称为</a:t>
            </a:r>
            <a:r>
              <a:rPr lang="zh-CN" altLang="en-US">
                <a:solidFill>
                  <a:srgbClr val="00B050"/>
                </a:solidFill>
              </a:rPr>
              <a:t>内存映射</a:t>
            </a:r>
            <a:r>
              <a:rPr lang="en-US" altLang="zh-CN"/>
              <a:t>。</a:t>
            </a:r>
            <a:endParaRPr lang="en-US" altLang="en-GB"/>
          </a:p>
          <a:p>
            <a:endParaRPr lang="en-GB"/>
          </a:p>
          <a:p>
            <a:r>
              <a:rPr lang="zh-CN" altLang="en-GB"/>
              <a:t>关联的磁盘对象</a:t>
            </a:r>
            <a:r>
              <a:rPr lang="en-US" altLang="zh-CN"/>
              <a:t>，</a:t>
            </a:r>
            <a:r>
              <a:rPr lang="zh-CN" altLang="en-US"/>
              <a:t>可以是</a:t>
            </a:r>
            <a:r>
              <a:rPr lang="en-GB"/>
              <a:t> (i.e., get its initial values from) :</a:t>
            </a:r>
            <a:endParaRPr lang="en-GB"/>
          </a:p>
          <a:p>
            <a:pPr lvl="1"/>
            <a:r>
              <a:rPr lang="zh-CN" altLang="en-GB"/>
              <a:t>磁盘上的普通文件</a:t>
            </a:r>
            <a:r>
              <a:rPr lang="en-GB"/>
              <a:t> (e.g., an executable object file)</a:t>
            </a:r>
            <a:endParaRPr lang="en-GB"/>
          </a:p>
          <a:p>
            <a:pPr lvl="2"/>
            <a:r>
              <a:rPr lang="zh-CN" altLang="en-GB"/>
              <a:t>初始化</a:t>
            </a:r>
            <a:r>
              <a:rPr lang="zh-CN" altLang="en-GB"/>
              <a:t>页面时</a:t>
            </a:r>
            <a:r>
              <a:rPr lang="en-US" altLang="zh-CN"/>
              <a:t>，</a:t>
            </a:r>
            <a:r>
              <a:rPr lang="zh-CN" altLang="en-US"/>
              <a:t>可以从对应文件中获取数据内容</a:t>
            </a:r>
            <a:endParaRPr lang="en-GB"/>
          </a:p>
          <a:p>
            <a:pPr lvl="1"/>
            <a:r>
              <a:rPr lang="zh-CN" altLang="en-GB"/>
              <a:t>匿名文件</a:t>
            </a:r>
            <a:r>
              <a:rPr lang="en-GB"/>
              <a:t> (e.g., nothing)</a:t>
            </a:r>
            <a:endParaRPr lang="en-GB"/>
          </a:p>
          <a:p>
            <a:pPr lvl="2"/>
            <a:r>
              <a:rPr lang="zh-CN" altLang="en-GB"/>
              <a:t>第一次</a:t>
            </a:r>
            <a:r>
              <a:rPr lang="en-US" altLang="zh-CN"/>
              <a:t>fault</a:t>
            </a:r>
            <a:r>
              <a:rPr lang="zh-CN" altLang="en-US"/>
              <a:t>时</a:t>
            </a:r>
            <a:r>
              <a:rPr lang="en-US" altLang="zh-CN"/>
              <a:t>，</a:t>
            </a:r>
            <a:r>
              <a:rPr lang="zh-CN" altLang="en-US"/>
              <a:t>再分配一个全为</a:t>
            </a:r>
            <a:r>
              <a:rPr lang="en-US" altLang="zh-CN"/>
              <a:t>0</a:t>
            </a:r>
            <a:r>
              <a:rPr lang="zh-CN" altLang="en-US"/>
              <a:t>值的物理页</a:t>
            </a:r>
            <a:r>
              <a:rPr lang="en-GB"/>
              <a:t>(demand-zero page)</a:t>
            </a:r>
            <a:endParaRPr lang="en-GB"/>
          </a:p>
          <a:p>
            <a:pPr lvl="2"/>
            <a:r>
              <a:rPr lang="zh-CN" altLang="en-GB"/>
              <a:t>一旦这个页面被写入</a:t>
            </a:r>
            <a:r>
              <a:rPr lang="en-GB"/>
              <a:t> (dirtied), </a:t>
            </a:r>
            <a:r>
              <a:rPr lang="zh-CN" altLang="en-GB"/>
              <a:t>就当前其他页面处理</a:t>
            </a:r>
            <a:endParaRPr lang="zh-CN" altLang="en-GB"/>
          </a:p>
          <a:p>
            <a:pPr lvl="2"/>
            <a:r>
              <a:rPr lang="zh-CN" altLang="en-GB"/>
              <a:t>脏页在内存和一个特殊的</a:t>
            </a:r>
            <a:r>
              <a:rPr lang="en-US" altLang="zh-CN"/>
              <a:t>swap</a:t>
            </a:r>
            <a:r>
              <a:rPr lang="zh-CN" altLang="en-US"/>
              <a:t>文件直接进行换入换出</a:t>
            </a:r>
            <a:endParaRPr lang="en-GB"/>
          </a:p>
          <a:p>
            <a:pPr lvl="1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Sharing Revisited: Shared Objects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00" y="2097772"/>
            <a:ext cx="2651125" cy="4607828"/>
          </a:xfrm>
        </p:spPr>
        <p:txBody>
          <a:bodyPr/>
          <a:lstStyle/>
          <a:p>
            <a:r>
              <a:rPr lang="en-US" dirty="0" smtClean="0"/>
              <a:t>Process 1  </a:t>
            </a:r>
            <a:r>
              <a:rPr lang="zh-CN" altLang="en-US" dirty="0" smtClean="0"/>
              <a:t>映射共享文件</a:t>
            </a:r>
            <a:r>
              <a:rPr lang="en-US" dirty="0" smtClean="0"/>
              <a:t>. </a:t>
            </a:r>
            <a:endParaRPr lang="en-US" dirty="0"/>
          </a:p>
        </p:txBody>
      </p:sp>
      <p:sp>
        <p:nvSpPr>
          <p:cNvPr id="4" name="Rectangle 379"/>
          <p:cNvSpPr>
            <a:spLocks noChangeArrowheads="1"/>
          </p:cNvSpPr>
          <p:nvPr/>
        </p:nvSpPr>
        <p:spPr bwMode="auto">
          <a:xfrm>
            <a:off x="3879850" y="55267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Text Box 380"/>
          <p:cNvSpPr txBox="1">
            <a:spLocks noChangeArrowheads="1"/>
          </p:cNvSpPr>
          <p:nvPr/>
        </p:nvSpPr>
        <p:spPr bwMode="auto">
          <a:xfrm>
            <a:off x="3703100" y="6059854"/>
            <a:ext cx="817880" cy="64516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/>
              <a:t>Shared</a:t>
            </a:r>
            <a:endParaRPr lang="en-US" sz="1800" dirty="0"/>
          </a:p>
          <a:p>
            <a:pPr algn="ctr"/>
            <a:r>
              <a:rPr lang="en-US" sz="1800" dirty="0"/>
              <a:t>object</a:t>
            </a:r>
            <a:endParaRPr lang="en-US" sz="1800" dirty="0"/>
          </a:p>
        </p:txBody>
      </p:sp>
      <p:sp>
        <p:nvSpPr>
          <p:cNvPr id="6" name="Rectangle 382"/>
          <p:cNvSpPr>
            <a:spLocks noChangeArrowheads="1"/>
          </p:cNvSpPr>
          <p:nvPr/>
        </p:nvSpPr>
        <p:spPr bwMode="auto">
          <a:xfrm>
            <a:off x="3879850" y="2707372"/>
            <a:ext cx="381000" cy="2057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Text Box 383"/>
          <p:cNvSpPr txBox="1">
            <a:spLocks noChangeArrowheads="1"/>
          </p:cNvSpPr>
          <p:nvPr/>
        </p:nvSpPr>
        <p:spPr bwMode="auto">
          <a:xfrm>
            <a:off x="3632403" y="2065704"/>
            <a:ext cx="942975" cy="64516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/>
              <a:t>Physical</a:t>
            </a:r>
            <a:endParaRPr lang="en-US" sz="1800"/>
          </a:p>
          <a:p>
            <a:pPr algn="ctr"/>
            <a:r>
              <a:rPr lang="en-US" sz="1800"/>
              <a:t>memory</a:t>
            </a:r>
            <a:endParaRPr lang="en-US" sz="1800"/>
          </a:p>
        </p:txBody>
      </p:sp>
      <p:sp>
        <p:nvSpPr>
          <p:cNvPr id="8" name="Rectangle 385"/>
          <p:cNvSpPr>
            <a:spLocks noChangeArrowheads="1"/>
          </p:cNvSpPr>
          <p:nvPr/>
        </p:nvSpPr>
        <p:spPr bwMode="auto">
          <a:xfrm>
            <a:off x="2203450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386"/>
          <p:cNvSpPr>
            <a:spLocks noChangeArrowheads="1"/>
          </p:cNvSpPr>
          <p:nvPr/>
        </p:nvSpPr>
        <p:spPr bwMode="auto">
          <a:xfrm>
            <a:off x="5556250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388"/>
          <p:cNvSpPr>
            <a:spLocks noChangeArrowheads="1"/>
          </p:cNvSpPr>
          <p:nvPr/>
        </p:nvSpPr>
        <p:spPr bwMode="auto">
          <a:xfrm>
            <a:off x="3879850" y="28597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389"/>
          <p:cNvSpPr>
            <a:spLocks noChangeArrowheads="1"/>
          </p:cNvSpPr>
          <p:nvPr/>
        </p:nvSpPr>
        <p:spPr bwMode="auto">
          <a:xfrm>
            <a:off x="2203450" y="33169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Line 391"/>
          <p:cNvSpPr>
            <a:spLocks noChangeShapeType="1"/>
          </p:cNvSpPr>
          <p:nvPr/>
        </p:nvSpPr>
        <p:spPr bwMode="auto">
          <a:xfrm flipH="1" flipV="1">
            <a:off x="2584450" y="33169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Line 392"/>
          <p:cNvSpPr>
            <a:spLocks noChangeShapeType="1"/>
          </p:cNvSpPr>
          <p:nvPr/>
        </p:nvSpPr>
        <p:spPr bwMode="auto">
          <a:xfrm flipH="1" flipV="1">
            <a:off x="2584450" y="38503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396"/>
          <p:cNvSpPr>
            <a:spLocks noChangeShapeType="1"/>
          </p:cNvSpPr>
          <p:nvPr/>
        </p:nvSpPr>
        <p:spPr bwMode="auto">
          <a:xfrm flipV="1">
            <a:off x="2584450" y="2859772"/>
            <a:ext cx="12954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Line 397"/>
          <p:cNvSpPr>
            <a:spLocks noChangeShapeType="1"/>
          </p:cNvSpPr>
          <p:nvPr/>
        </p:nvSpPr>
        <p:spPr bwMode="auto">
          <a:xfrm flipV="1">
            <a:off x="2584450" y="3393172"/>
            <a:ext cx="12954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Text Box 400"/>
          <p:cNvSpPr txBox="1">
            <a:spLocks noChangeArrowheads="1"/>
          </p:cNvSpPr>
          <p:nvPr/>
        </p:nvSpPr>
        <p:spPr bwMode="auto">
          <a:xfrm>
            <a:off x="1685771" y="2079993"/>
            <a:ext cx="1525270" cy="64516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/>
              <a:t>Process 1</a:t>
            </a:r>
            <a:endParaRPr lang="en-US" sz="1800" dirty="0"/>
          </a:p>
          <a:p>
            <a:pPr algn="ctr"/>
            <a:r>
              <a:rPr lang="en-US" sz="1800" dirty="0"/>
              <a:t>virtual memory</a:t>
            </a:r>
            <a:endParaRPr lang="en-US" sz="1800" dirty="0"/>
          </a:p>
        </p:txBody>
      </p:sp>
      <p:sp>
        <p:nvSpPr>
          <p:cNvPr id="17" name="Text Box 401"/>
          <p:cNvSpPr txBox="1">
            <a:spLocks noChangeArrowheads="1"/>
          </p:cNvSpPr>
          <p:nvPr/>
        </p:nvSpPr>
        <p:spPr bwMode="auto">
          <a:xfrm>
            <a:off x="5038571" y="2065704"/>
            <a:ext cx="1525270" cy="64516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/>
              <a:t>Process 2</a:t>
            </a:r>
            <a:endParaRPr lang="en-US" sz="1800"/>
          </a:p>
          <a:p>
            <a:pPr algn="ctr"/>
            <a:r>
              <a:rPr lang="en-US" sz="1800"/>
              <a:t>virtual memory</a:t>
            </a:r>
            <a:endParaRPr 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Sharing Revisited: Shared Objects</a:t>
            </a:r>
            <a:endParaRPr lang="en-US" dirty="0"/>
          </a:p>
        </p:txBody>
      </p:sp>
      <p:sp>
        <p:nvSpPr>
          <p:cNvPr id="4" name="Rectangle 379"/>
          <p:cNvSpPr>
            <a:spLocks noChangeArrowheads="1"/>
          </p:cNvSpPr>
          <p:nvPr/>
        </p:nvSpPr>
        <p:spPr bwMode="auto">
          <a:xfrm>
            <a:off x="3879850" y="55267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Text Box 380"/>
          <p:cNvSpPr txBox="1">
            <a:spLocks noChangeArrowheads="1"/>
          </p:cNvSpPr>
          <p:nvPr/>
        </p:nvSpPr>
        <p:spPr bwMode="auto">
          <a:xfrm>
            <a:off x="3752303" y="6059854"/>
            <a:ext cx="817880" cy="64516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/>
              <a:t>Shared</a:t>
            </a:r>
            <a:endParaRPr lang="en-US" sz="1800" dirty="0"/>
          </a:p>
          <a:p>
            <a:pPr algn="ctr"/>
            <a:r>
              <a:rPr lang="en-US" sz="1800" dirty="0"/>
              <a:t>object</a:t>
            </a:r>
            <a:endParaRPr lang="en-US" sz="1800" dirty="0"/>
          </a:p>
        </p:txBody>
      </p:sp>
      <p:sp>
        <p:nvSpPr>
          <p:cNvPr id="6" name="Rectangle 382"/>
          <p:cNvSpPr>
            <a:spLocks noChangeArrowheads="1"/>
          </p:cNvSpPr>
          <p:nvPr/>
        </p:nvSpPr>
        <p:spPr bwMode="auto">
          <a:xfrm>
            <a:off x="3879850" y="2707372"/>
            <a:ext cx="381000" cy="2057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Text Box 383"/>
          <p:cNvSpPr txBox="1">
            <a:spLocks noChangeArrowheads="1"/>
          </p:cNvSpPr>
          <p:nvPr/>
        </p:nvSpPr>
        <p:spPr bwMode="auto">
          <a:xfrm>
            <a:off x="3632403" y="2065704"/>
            <a:ext cx="942975" cy="64516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/>
              <a:t>Physical</a:t>
            </a:r>
            <a:endParaRPr lang="en-US" sz="1800"/>
          </a:p>
          <a:p>
            <a:pPr algn="ctr"/>
            <a:r>
              <a:rPr lang="en-US" sz="1800"/>
              <a:t>memory</a:t>
            </a:r>
            <a:endParaRPr lang="en-US" sz="1800"/>
          </a:p>
        </p:txBody>
      </p:sp>
      <p:sp>
        <p:nvSpPr>
          <p:cNvPr id="8" name="Rectangle 385"/>
          <p:cNvSpPr>
            <a:spLocks noChangeArrowheads="1"/>
          </p:cNvSpPr>
          <p:nvPr/>
        </p:nvSpPr>
        <p:spPr bwMode="auto">
          <a:xfrm>
            <a:off x="2203450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386"/>
          <p:cNvSpPr>
            <a:spLocks noChangeArrowheads="1"/>
          </p:cNvSpPr>
          <p:nvPr/>
        </p:nvSpPr>
        <p:spPr bwMode="auto">
          <a:xfrm>
            <a:off x="5556250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388"/>
          <p:cNvSpPr>
            <a:spLocks noChangeArrowheads="1"/>
          </p:cNvSpPr>
          <p:nvPr/>
        </p:nvSpPr>
        <p:spPr bwMode="auto">
          <a:xfrm>
            <a:off x="3879850" y="28597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389"/>
          <p:cNvSpPr>
            <a:spLocks noChangeArrowheads="1"/>
          </p:cNvSpPr>
          <p:nvPr/>
        </p:nvSpPr>
        <p:spPr bwMode="auto">
          <a:xfrm>
            <a:off x="2203450" y="33169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390"/>
          <p:cNvSpPr>
            <a:spLocks noChangeArrowheads="1"/>
          </p:cNvSpPr>
          <p:nvPr/>
        </p:nvSpPr>
        <p:spPr bwMode="auto">
          <a:xfrm>
            <a:off x="5556250" y="37741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Line 391"/>
          <p:cNvSpPr>
            <a:spLocks noChangeShapeType="1"/>
          </p:cNvSpPr>
          <p:nvPr/>
        </p:nvSpPr>
        <p:spPr bwMode="auto">
          <a:xfrm flipH="1" flipV="1">
            <a:off x="2584450" y="33169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392"/>
          <p:cNvSpPr>
            <a:spLocks noChangeShapeType="1"/>
          </p:cNvSpPr>
          <p:nvPr/>
        </p:nvSpPr>
        <p:spPr bwMode="auto">
          <a:xfrm flipH="1" flipV="1">
            <a:off x="2584450" y="38503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Line 393"/>
          <p:cNvSpPr>
            <a:spLocks noChangeShapeType="1"/>
          </p:cNvSpPr>
          <p:nvPr/>
        </p:nvSpPr>
        <p:spPr bwMode="auto">
          <a:xfrm flipV="1">
            <a:off x="4260850" y="3774172"/>
            <a:ext cx="1295400" cy="1752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Line 394"/>
          <p:cNvSpPr>
            <a:spLocks noChangeShapeType="1"/>
          </p:cNvSpPr>
          <p:nvPr/>
        </p:nvSpPr>
        <p:spPr bwMode="auto">
          <a:xfrm flipV="1">
            <a:off x="4260850" y="4307572"/>
            <a:ext cx="1295400" cy="1752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Line 396"/>
          <p:cNvSpPr>
            <a:spLocks noChangeShapeType="1"/>
          </p:cNvSpPr>
          <p:nvPr/>
        </p:nvSpPr>
        <p:spPr bwMode="auto">
          <a:xfrm flipV="1">
            <a:off x="2584450" y="2859772"/>
            <a:ext cx="12954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397"/>
          <p:cNvSpPr>
            <a:spLocks noChangeShapeType="1"/>
          </p:cNvSpPr>
          <p:nvPr/>
        </p:nvSpPr>
        <p:spPr bwMode="auto">
          <a:xfrm flipV="1">
            <a:off x="2584450" y="3393172"/>
            <a:ext cx="12954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Line 398"/>
          <p:cNvSpPr>
            <a:spLocks noChangeShapeType="1"/>
          </p:cNvSpPr>
          <p:nvPr/>
        </p:nvSpPr>
        <p:spPr bwMode="auto">
          <a:xfrm flipH="1" flipV="1">
            <a:off x="4260850" y="2859772"/>
            <a:ext cx="1295400" cy="914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Line 399"/>
          <p:cNvSpPr>
            <a:spLocks noChangeShapeType="1"/>
          </p:cNvSpPr>
          <p:nvPr/>
        </p:nvSpPr>
        <p:spPr bwMode="auto">
          <a:xfrm flipH="1" flipV="1">
            <a:off x="4260850" y="3393172"/>
            <a:ext cx="1295400" cy="914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Text Box 400"/>
          <p:cNvSpPr txBox="1">
            <a:spLocks noChangeArrowheads="1"/>
          </p:cNvSpPr>
          <p:nvPr/>
        </p:nvSpPr>
        <p:spPr bwMode="auto">
          <a:xfrm>
            <a:off x="1685771" y="2079993"/>
            <a:ext cx="1525270" cy="64516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/>
              <a:t>Process 1</a:t>
            </a:r>
            <a:endParaRPr lang="en-US" sz="1800" dirty="0"/>
          </a:p>
          <a:p>
            <a:pPr algn="ctr"/>
            <a:r>
              <a:rPr lang="en-US" sz="1800" dirty="0"/>
              <a:t>virtual memory</a:t>
            </a:r>
            <a:endParaRPr lang="en-US" sz="1800" dirty="0"/>
          </a:p>
        </p:txBody>
      </p:sp>
      <p:sp>
        <p:nvSpPr>
          <p:cNvPr id="22" name="Text Box 401"/>
          <p:cNvSpPr txBox="1">
            <a:spLocks noChangeArrowheads="1"/>
          </p:cNvSpPr>
          <p:nvPr/>
        </p:nvSpPr>
        <p:spPr bwMode="auto">
          <a:xfrm>
            <a:off x="5038571" y="2065704"/>
            <a:ext cx="1525270" cy="64516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/>
              <a:t>Process 2</a:t>
            </a:r>
            <a:endParaRPr lang="en-US" sz="1800"/>
          </a:p>
          <a:p>
            <a:pPr algn="ctr"/>
            <a:r>
              <a:rPr lang="en-US" sz="1800"/>
              <a:t>virtual memory</a:t>
            </a:r>
            <a:endParaRPr lang="en-US" sz="1800"/>
          </a:p>
        </p:txBody>
      </p:sp>
      <p:sp>
        <p:nvSpPr>
          <p:cNvPr id="24" name="Content Placeholder 2"/>
          <p:cNvSpPr txBox="1"/>
          <p:nvPr/>
        </p:nvSpPr>
        <p:spPr bwMode="auto">
          <a:xfrm>
            <a:off x="7772400" y="2097772"/>
            <a:ext cx="2651125" cy="46078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anose="05020102010507070707" pitchFamily="18" charset="2"/>
              <a:buChar char="¢"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Process 2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映射共享文件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. 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anose="05020102010507070707" pitchFamily="18" charset="2"/>
              <a:buChar char="¢"/>
              <a:defRPr/>
            </a:pPr>
            <a:r>
              <a:rPr lang="zh-CN" altLang="en-US" kern="0" dirty="0" smtClean="0">
                <a:latin typeface="Calibri" pitchFamily="34" charset="0"/>
              </a:rPr>
              <a:t>注意</a:t>
            </a:r>
            <a:r>
              <a:rPr lang="en-US" altLang="zh-CN" kern="0" dirty="0" smtClean="0">
                <a:latin typeface="Calibri" pitchFamily="34" charset="0"/>
              </a:rPr>
              <a:t>：</a:t>
            </a:r>
            <a:r>
              <a:rPr lang="zh-CN" altLang="en-US" kern="0" dirty="0" smtClean="0">
                <a:latin typeface="Calibri" pitchFamily="34" charset="0"/>
              </a:rPr>
              <a:t>两进程</a:t>
            </a:r>
            <a:r>
              <a:rPr lang="zh-CN" altLang="en-US" kern="0" dirty="0" smtClean="0">
                <a:latin typeface="Calibri" pitchFamily="34" charset="0"/>
              </a:rPr>
              <a:t>中的虚拟地址可以不一样</a:t>
            </a:r>
            <a:r>
              <a:rPr lang="en-US" kern="0" dirty="0" smtClean="0">
                <a:latin typeface="Calibri" pitchFamily="34" charset="0"/>
              </a:rPr>
              <a:t>.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0870" y="435610"/>
            <a:ext cx="9061450" cy="1088390"/>
          </a:xfrm>
        </p:spPr>
        <p:txBody>
          <a:bodyPr/>
          <a:lstStyle/>
          <a:p>
            <a:r>
              <a:rPr lang="en-US" dirty="0" smtClean="0"/>
              <a:t>Sharing Revisited: </a:t>
            </a:r>
            <a:br>
              <a:rPr lang="en-US" dirty="0" smtClean="0"/>
            </a:br>
            <a:r>
              <a:rPr lang="en-US" dirty="0" smtClean="0"/>
              <a:t>Private Copy-on-write (COW) Objects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00" y="2097772"/>
            <a:ext cx="2895600" cy="4191000"/>
          </a:xfrm>
        </p:spPr>
        <p:txBody>
          <a:bodyPr/>
          <a:lstStyle/>
          <a:p>
            <a:r>
              <a:rPr lang="zh-CN" altLang="en-US" dirty="0" smtClean="0"/>
              <a:t>两个进程映射一个</a:t>
            </a:r>
            <a:r>
              <a:rPr lang="en-US" dirty="0" smtClean="0"/>
              <a:t> </a:t>
            </a:r>
            <a:r>
              <a:rPr lang="en-US" i="1" dirty="0" smtClean="0">
                <a:solidFill>
                  <a:srgbClr val="990000"/>
                </a:solidFill>
              </a:rPr>
              <a:t>private copy-on-write (COW)  </a:t>
            </a:r>
            <a:r>
              <a:rPr lang="zh-CN" altLang="en-US" i="1" dirty="0" smtClean="0">
                <a:solidFill>
                  <a:srgbClr val="990000"/>
                </a:solidFill>
              </a:rPr>
              <a:t>对象</a:t>
            </a:r>
            <a:r>
              <a:rPr lang="en-US" dirty="0" smtClean="0"/>
              <a:t>. </a:t>
            </a:r>
            <a:endParaRPr lang="en-US" dirty="0" smtClean="0"/>
          </a:p>
          <a:p>
            <a:r>
              <a:rPr lang="zh-CN" altLang="en-US" dirty="0" smtClean="0"/>
              <a:t>对应区域标记为私有的</a:t>
            </a:r>
            <a:r>
              <a:rPr lang="en-US" altLang="zh-CN" dirty="0" smtClean="0"/>
              <a:t>COW</a:t>
            </a:r>
            <a:r>
              <a:rPr lang="zh-CN" altLang="en-US" dirty="0" smtClean="0"/>
              <a:t>对象</a:t>
            </a:r>
            <a:endParaRPr lang="en-US" dirty="0" smtClean="0"/>
          </a:p>
          <a:p>
            <a:r>
              <a:rPr lang="zh-CN" altLang="en-US" dirty="0" err="1" smtClean="0"/>
              <a:t>私有区域的</a:t>
            </a:r>
            <a:r>
              <a:rPr lang="en-US" dirty="0" err="1" smtClean="0"/>
              <a:t>PTEs</a:t>
            </a:r>
            <a:r>
              <a:rPr lang="zh-CN" altLang="en-US" dirty="0" smtClean="0"/>
              <a:t>标记为</a:t>
            </a:r>
            <a:r>
              <a:rPr lang="en-US" dirty="0" smtClean="0"/>
              <a:t> read-only</a:t>
            </a:r>
            <a:endParaRPr lang="en-US" dirty="0"/>
          </a:p>
        </p:txBody>
      </p:sp>
      <p:sp>
        <p:nvSpPr>
          <p:cNvPr id="4" name="Rectangle 379"/>
          <p:cNvSpPr>
            <a:spLocks noChangeArrowheads="1"/>
          </p:cNvSpPr>
          <p:nvPr/>
        </p:nvSpPr>
        <p:spPr bwMode="auto">
          <a:xfrm>
            <a:off x="3893031" y="55267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5" name="Text Box 380"/>
          <p:cNvSpPr txBox="1">
            <a:spLocks noChangeArrowheads="1"/>
          </p:cNvSpPr>
          <p:nvPr/>
        </p:nvSpPr>
        <p:spPr bwMode="auto">
          <a:xfrm>
            <a:off x="3110870" y="6059854"/>
            <a:ext cx="2013585" cy="64516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/>
              <a:t>Private </a:t>
            </a:r>
            <a:endParaRPr lang="en-US" sz="1800"/>
          </a:p>
          <a:p>
            <a:pPr algn="ctr"/>
            <a:r>
              <a:rPr lang="en-US" sz="1800"/>
              <a:t>copy-on-write object</a:t>
            </a:r>
            <a:endParaRPr lang="en-US" sz="1800"/>
          </a:p>
        </p:txBody>
      </p:sp>
      <p:sp>
        <p:nvSpPr>
          <p:cNvPr id="6" name="Rectangle 382"/>
          <p:cNvSpPr>
            <a:spLocks noChangeArrowheads="1"/>
          </p:cNvSpPr>
          <p:nvPr/>
        </p:nvSpPr>
        <p:spPr bwMode="auto">
          <a:xfrm>
            <a:off x="3893031" y="2707372"/>
            <a:ext cx="381000" cy="2057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7" name="Text Box 383"/>
          <p:cNvSpPr txBox="1">
            <a:spLocks noChangeArrowheads="1"/>
          </p:cNvSpPr>
          <p:nvPr/>
        </p:nvSpPr>
        <p:spPr bwMode="auto">
          <a:xfrm>
            <a:off x="3638238" y="2065704"/>
            <a:ext cx="942975" cy="64516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/>
              <a:t>Physical</a:t>
            </a:r>
            <a:endParaRPr lang="en-US" sz="1800"/>
          </a:p>
          <a:p>
            <a:pPr algn="ctr"/>
            <a:r>
              <a:rPr lang="en-US" sz="1800"/>
              <a:t>memory</a:t>
            </a:r>
            <a:endParaRPr lang="en-US" sz="1800"/>
          </a:p>
        </p:txBody>
      </p:sp>
      <p:sp>
        <p:nvSpPr>
          <p:cNvPr id="8" name="Rectangle 385"/>
          <p:cNvSpPr>
            <a:spLocks noChangeArrowheads="1"/>
          </p:cNvSpPr>
          <p:nvPr/>
        </p:nvSpPr>
        <p:spPr bwMode="auto">
          <a:xfrm>
            <a:off x="2216631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9" name="Rectangle 386"/>
          <p:cNvSpPr>
            <a:spLocks noChangeArrowheads="1"/>
          </p:cNvSpPr>
          <p:nvPr/>
        </p:nvSpPr>
        <p:spPr bwMode="auto">
          <a:xfrm>
            <a:off x="5569431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10" name="Rectangle 388"/>
          <p:cNvSpPr>
            <a:spLocks noChangeArrowheads="1"/>
          </p:cNvSpPr>
          <p:nvPr/>
        </p:nvSpPr>
        <p:spPr bwMode="auto">
          <a:xfrm>
            <a:off x="3893031" y="28597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11" name="Rectangle 389"/>
          <p:cNvSpPr>
            <a:spLocks noChangeArrowheads="1"/>
          </p:cNvSpPr>
          <p:nvPr/>
        </p:nvSpPr>
        <p:spPr bwMode="auto">
          <a:xfrm>
            <a:off x="2216631" y="33169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12" name="Rectangle 390"/>
          <p:cNvSpPr>
            <a:spLocks noChangeArrowheads="1"/>
          </p:cNvSpPr>
          <p:nvPr/>
        </p:nvSpPr>
        <p:spPr bwMode="auto">
          <a:xfrm>
            <a:off x="5569431" y="37741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13" name="Line 391"/>
          <p:cNvSpPr>
            <a:spLocks noChangeShapeType="1"/>
          </p:cNvSpPr>
          <p:nvPr/>
        </p:nvSpPr>
        <p:spPr bwMode="auto">
          <a:xfrm flipH="1" flipV="1">
            <a:off x="2597631" y="33169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14" name="Line 392"/>
          <p:cNvSpPr>
            <a:spLocks noChangeShapeType="1"/>
          </p:cNvSpPr>
          <p:nvPr/>
        </p:nvSpPr>
        <p:spPr bwMode="auto">
          <a:xfrm flipH="1" flipV="1">
            <a:off x="2597631" y="38503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15" name="Line 393"/>
          <p:cNvSpPr>
            <a:spLocks noChangeShapeType="1"/>
          </p:cNvSpPr>
          <p:nvPr/>
        </p:nvSpPr>
        <p:spPr bwMode="auto">
          <a:xfrm flipV="1">
            <a:off x="4274031" y="3774172"/>
            <a:ext cx="1295400" cy="1752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16" name="Line 394"/>
          <p:cNvSpPr>
            <a:spLocks noChangeShapeType="1"/>
          </p:cNvSpPr>
          <p:nvPr/>
        </p:nvSpPr>
        <p:spPr bwMode="auto">
          <a:xfrm flipV="1">
            <a:off x="4274031" y="4307572"/>
            <a:ext cx="1295400" cy="1752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17" name="Line 396"/>
          <p:cNvSpPr>
            <a:spLocks noChangeShapeType="1"/>
          </p:cNvSpPr>
          <p:nvPr/>
        </p:nvSpPr>
        <p:spPr bwMode="auto">
          <a:xfrm flipV="1">
            <a:off x="2597631" y="2859772"/>
            <a:ext cx="12954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18" name="Line 397"/>
          <p:cNvSpPr>
            <a:spLocks noChangeShapeType="1"/>
          </p:cNvSpPr>
          <p:nvPr/>
        </p:nvSpPr>
        <p:spPr bwMode="auto">
          <a:xfrm flipV="1">
            <a:off x="2597631" y="3393172"/>
            <a:ext cx="12954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19" name="Line 398"/>
          <p:cNvSpPr>
            <a:spLocks noChangeShapeType="1"/>
          </p:cNvSpPr>
          <p:nvPr/>
        </p:nvSpPr>
        <p:spPr bwMode="auto">
          <a:xfrm flipH="1" flipV="1">
            <a:off x="4274031" y="2859772"/>
            <a:ext cx="1295400" cy="914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20" name="Line 399"/>
          <p:cNvSpPr>
            <a:spLocks noChangeShapeType="1"/>
          </p:cNvSpPr>
          <p:nvPr/>
        </p:nvSpPr>
        <p:spPr bwMode="auto">
          <a:xfrm flipH="1" flipV="1">
            <a:off x="4274031" y="3393172"/>
            <a:ext cx="1295400" cy="914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21" name="Text Box 400"/>
          <p:cNvSpPr txBox="1">
            <a:spLocks noChangeArrowheads="1"/>
          </p:cNvSpPr>
          <p:nvPr/>
        </p:nvSpPr>
        <p:spPr bwMode="auto">
          <a:xfrm>
            <a:off x="1685771" y="2079993"/>
            <a:ext cx="1525270" cy="64516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/>
              <a:t>Process 1</a:t>
            </a:r>
            <a:endParaRPr lang="en-US" sz="1800" dirty="0"/>
          </a:p>
          <a:p>
            <a:pPr algn="ctr"/>
            <a:r>
              <a:rPr lang="en-US" sz="1800" dirty="0"/>
              <a:t>virtual memory</a:t>
            </a:r>
            <a:endParaRPr lang="en-US" sz="1800" dirty="0"/>
          </a:p>
        </p:txBody>
      </p:sp>
      <p:sp>
        <p:nvSpPr>
          <p:cNvPr id="22" name="Text Box 401"/>
          <p:cNvSpPr txBox="1">
            <a:spLocks noChangeArrowheads="1"/>
          </p:cNvSpPr>
          <p:nvPr/>
        </p:nvSpPr>
        <p:spPr bwMode="auto">
          <a:xfrm>
            <a:off x="5038571" y="2065704"/>
            <a:ext cx="1525270" cy="64516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/>
              <a:t>Process 2</a:t>
            </a:r>
            <a:endParaRPr lang="en-US" sz="1800"/>
          </a:p>
          <a:p>
            <a:pPr algn="ctr"/>
            <a:r>
              <a:rPr lang="en-US" sz="1800"/>
              <a:t>virtual memory</a:t>
            </a:r>
            <a:endParaRPr lang="en-US" sz="1800"/>
          </a:p>
        </p:txBody>
      </p:sp>
      <p:sp>
        <p:nvSpPr>
          <p:cNvPr id="23" name="Text Box 410"/>
          <p:cNvSpPr txBox="1">
            <a:spLocks noChangeArrowheads="1"/>
          </p:cNvSpPr>
          <p:nvPr/>
        </p:nvSpPr>
        <p:spPr bwMode="auto">
          <a:xfrm>
            <a:off x="6248400" y="3582055"/>
            <a:ext cx="1410335" cy="92202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r>
              <a:rPr lang="en-US" sz="1800" dirty="0" smtClean="0"/>
              <a:t> </a:t>
            </a:r>
            <a:r>
              <a:rPr lang="en-US" sz="1800" dirty="0"/>
              <a:t>P</a:t>
            </a:r>
            <a:r>
              <a:rPr lang="en-US" sz="1800" dirty="0" smtClean="0"/>
              <a:t>rivate</a:t>
            </a:r>
            <a:endParaRPr lang="en-US" sz="1800" dirty="0"/>
          </a:p>
          <a:p>
            <a:r>
              <a:rPr lang="en-US" sz="1800" dirty="0"/>
              <a:t>copy-on-write</a:t>
            </a:r>
            <a:endParaRPr lang="en-US" sz="1800" dirty="0" smtClean="0"/>
          </a:p>
          <a:p>
            <a:r>
              <a:rPr lang="en-US" sz="1800" dirty="0" smtClean="0"/>
              <a:t>area</a:t>
            </a:r>
            <a:endParaRPr lang="en-US" sz="1800" dirty="0"/>
          </a:p>
        </p:txBody>
      </p:sp>
      <p:sp>
        <p:nvSpPr>
          <p:cNvPr id="24" name="Right Brace 23"/>
          <p:cNvSpPr/>
          <p:nvPr/>
        </p:nvSpPr>
        <p:spPr bwMode="auto">
          <a:xfrm>
            <a:off x="6026631" y="3774172"/>
            <a:ext cx="145569" cy="533400"/>
          </a:xfrm>
          <a:prstGeom prst="rightBrac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0870" y="435610"/>
            <a:ext cx="9823450" cy="1164590"/>
          </a:xfrm>
        </p:spPr>
        <p:txBody>
          <a:bodyPr/>
          <a:lstStyle/>
          <a:p>
            <a:r>
              <a:rPr lang="en-US" dirty="0" smtClean="0"/>
              <a:t>Sharing Revisited: </a:t>
            </a:r>
            <a:br>
              <a:rPr lang="en-US" dirty="0" smtClean="0"/>
            </a:br>
            <a:r>
              <a:rPr lang="en-US" dirty="0" smtClean="0"/>
              <a:t>Private Copy-on-write (COW) Objects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5260" y="2057400"/>
            <a:ext cx="3906520" cy="4505325"/>
          </a:xfrm>
        </p:spPr>
        <p:txBody>
          <a:bodyPr/>
          <a:lstStyle/>
          <a:p>
            <a:r>
              <a:rPr lang="zh-CN" altLang="en-US" sz="2000" dirty="0" smtClean="0"/>
              <a:t>写入私有页的指令会触发保护</a:t>
            </a:r>
            <a:r>
              <a:rPr lang="en-US" altLang="zh-CN" sz="2000" dirty="0" smtClean="0"/>
              <a:t>fault</a:t>
            </a:r>
            <a:r>
              <a:rPr lang="en-US" sz="2000" dirty="0" smtClean="0"/>
              <a:t>. </a:t>
            </a:r>
            <a:endParaRPr lang="en-US" sz="2000" dirty="0" smtClean="0"/>
          </a:p>
          <a:p>
            <a:r>
              <a:rPr lang="en-US" sz="2000" dirty="0" smtClean="0"/>
              <a:t>fault</a:t>
            </a:r>
            <a:r>
              <a:rPr lang="zh-CN" altLang="en-US" sz="2000" dirty="0" smtClean="0"/>
              <a:t>处理程序</a:t>
            </a:r>
            <a:r>
              <a:rPr lang="en-US" altLang="zh-CN" sz="2000" dirty="0" smtClean="0"/>
              <a:t>handler</a:t>
            </a:r>
            <a:r>
              <a:rPr lang="zh-CN" altLang="en-US" sz="2000" dirty="0" smtClean="0"/>
              <a:t>创建新的</a:t>
            </a:r>
            <a:r>
              <a:rPr lang="en-US" altLang="zh-CN" sz="2000" dirty="0" smtClean="0"/>
              <a:t>R/W</a:t>
            </a:r>
            <a:r>
              <a:rPr lang="zh-CN" altLang="en-US" sz="2000" dirty="0" smtClean="0"/>
              <a:t>页</a:t>
            </a:r>
            <a:r>
              <a:rPr lang="en-US" altLang="zh-CN" sz="2000" dirty="0" smtClean="0"/>
              <a:t>。</a:t>
            </a:r>
            <a:endParaRPr lang="en-US" sz="2000" dirty="0" smtClean="0"/>
          </a:p>
          <a:p>
            <a:r>
              <a:rPr lang="en-US" sz="2000" dirty="0" smtClean="0"/>
              <a:t>handler</a:t>
            </a:r>
            <a:r>
              <a:rPr lang="zh-CN" altLang="en-US" sz="2000" dirty="0" smtClean="0"/>
              <a:t>返回时</a:t>
            </a:r>
            <a:r>
              <a:rPr lang="en-US" altLang="zh-CN" sz="2000" dirty="0" smtClean="0"/>
              <a:t>，</a:t>
            </a:r>
            <a:r>
              <a:rPr lang="zh-CN" altLang="en-US" sz="2000" dirty="0" smtClean="0"/>
              <a:t>重启原来的写入指令</a:t>
            </a:r>
            <a:r>
              <a:rPr lang="en-US" altLang="zh-CN" sz="2000" dirty="0" smtClean="0"/>
              <a:t>。</a:t>
            </a:r>
            <a:endParaRPr lang="en-US" sz="2000" dirty="0" smtClean="0"/>
          </a:p>
          <a:p>
            <a:r>
              <a:rPr lang="zh-CN" altLang="en-US" sz="2000" dirty="0" smtClean="0"/>
              <a:t>将拷贝操作尽可能往后推迟</a:t>
            </a:r>
            <a:r>
              <a:rPr lang="en-US" altLang="zh-CN" sz="2000" dirty="0" smtClean="0"/>
              <a:t>！</a:t>
            </a:r>
            <a:endParaRPr lang="en-US" altLang="zh-CN" sz="2000" dirty="0" smtClean="0"/>
          </a:p>
        </p:txBody>
      </p:sp>
      <p:sp>
        <p:nvSpPr>
          <p:cNvPr id="4" name="Rectangle 379"/>
          <p:cNvSpPr>
            <a:spLocks noChangeArrowheads="1"/>
          </p:cNvSpPr>
          <p:nvPr/>
        </p:nvSpPr>
        <p:spPr bwMode="auto">
          <a:xfrm>
            <a:off x="3893031" y="55267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5" name="Text Box 380"/>
          <p:cNvSpPr txBox="1">
            <a:spLocks noChangeArrowheads="1"/>
          </p:cNvSpPr>
          <p:nvPr/>
        </p:nvSpPr>
        <p:spPr bwMode="auto">
          <a:xfrm>
            <a:off x="3129920" y="6059854"/>
            <a:ext cx="2013585" cy="64516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/>
              <a:t>Private  </a:t>
            </a:r>
            <a:endParaRPr lang="en-US" sz="1800"/>
          </a:p>
          <a:p>
            <a:pPr algn="ctr"/>
            <a:r>
              <a:rPr lang="en-US" sz="1800"/>
              <a:t>copy-on-write object</a:t>
            </a:r>
            <a:endParaRPr lang="en-US" sz="1800"/>
          </a:p>
        </p:txBody>
      </p:sp>
      <p:sp>
        <p:nvSpPr>
          <p:cNvPr id="6" name="Rectangle 382"/>
          <p:cNvSpPr>
            <a:spLocks noChangeArrowheads="1"/>
          </p:cNvSpPr>
          <p:nvPr/>
        </p:nvSpPr>
        <p:spPr bwMode="auto">
          <a:xfrm>
            <a:off x="3893031" y="2707372"/>
            <a:ext cx="381000" cy="2057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7" name="Text Box 383"/>
          <p:cNvSpPr txBox="1">
            <a:spLocks noChangeArrowheads="1"/>
          </p:cNvSpPr>
          <p:nvPr/>
        </p:nvSpPr>
        <p:spPr bwMode="auto">
          <a:xfrm>
            <a:off x="3638238" y="2065704"/>
            <a:ext cx="942975" cy="64516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/>
              <a:t>Physical</a:t>
            </a:r>
            <a:endParaRPr lang="en-US" sz="1800"/>
          </a:p>
          <a:p>
            <a:pPr algn="ctr"/>
            <a:r>
              <a:rPr lang="en-US" sz="1800"/>
              <a:t>memory</a:t>
            </a:r>
            <a:endParaRPr lang="en-US" sz="1800"/>
          </a:p>
        </p:txBody>
      </p:sp>
      <p:sp>
        <p:nvSpPr>
          <p:cNvPr id="8" name="Rectangle 385"/>
          <p:cNvSpPr>
            <a:spLocks noChangeArrowheads="1"/>
          </p:cNvSpPr>
          <p:nvPr/>
        </p:nvSpPr>
        <p:spPr bwMode="auto">
          <a:xfrm>
            <a:off x="2216631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9" name="Rectangle 386"/>
          <p:cNvSpPr>
            <a:spLocks noChangeArrowheads="1"/>
          </p:cNvSpPr>
          <p:nvPr/>
        </p:nvSpPr>
        <p:spPr bwMode="auto">
          <a:xfrm>
            <a:off x="5569431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10" name="Rectangle 388"/>
          <p:cNvSpPr>
            <a:spLocks noChangeArrowheads="1"/>
          </p:cNvSpPr>
          <p:nvPr/>
        </p:nvSpPr>
        <p:spPr bwMode="auto">
          <a:xfrm>
            <a:off x="3893031" y="289152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11" name="Rectangle 389"/>
          <p:cNvSpPr>
            <a:spLocks noChangeArrowheads="1"/>
          </p:cNvSpPr>
          <p:nvPr/>
        </p:nvSpPr>
        <p:spPr bwMode="auto">
          <a:xfrm>
            <a:off x="2216631" y="33169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12" name="Rectangle 390"/>
          <p:cNvSpPr>
            <a:spLocks noChangeArrowheads="1"/>
          </p:cNvSpPr>
          <p:nvPr/>
        </p:nvSpPr>
        <p:spPr bwMode="auto">
          <a:xfrm>
            <a:off x="5569431" y="380592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13" name="Line 391"/>
          <p:cNvSpPr>
            <a:spLocks noChangeShapeType="1"/>
          </p:cNvSpPr>
          <p:nvPr/>
        </p:nvSpPr>
        <p:spPr bwMode="auto">
          <a:xfrm flipH="1" flipV="1">
            <a:off x="2597631" y="33169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14" name="Line 392"/>
          <p:cNvSpPr>
            <a:spLocks noChangeShapeType="1"/>
          </p:cNvSpPr>
          <p:nvPr/>
        </p:nvSpPr>
        <p:spPr bwMode="auto">
          <a:xfrm flipH="1" flipV="1">
            <a:off x="2597631" y="38503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15" name="Line 393"/>
          <p:cNvSpPr>
            <a:spLocks noChangeShapeType="1"/>
          </p:cNvSpPr>
          <p:nvPr/>
        </p:nvSpPr>
        <p:spPr bwMode="auto">
          <a:xfrm flipV="1">
            <a:off x="4274031" y="3805922"/>
            <a:ext cx="1301750" cy="17208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16" name="Line 394"/>
          <p:cNvSpPr>
            <a:spLocks noChangeShapeType="1"/>
          </p:cNvSpPr>
          <p:nvPr/>
        </p:nvSpPr>
        <p:spPr bwMode="auto">
          <a:xfrm flipV="1">
            <a:off x="4274031" y="4307572"/>
            <a:ext cx="1295400" cy="1752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17" name="Line 396"/>
          <p:cNvSpPr>
            <a:spLocks noChangeShapeType="1"/>
          </p:cNvSpPr>
          <p:nvPr/>
        </p:nvSpPr>
        <p:spPr bwMode="auto">
          <a:xfrm flipV="1">
            <a:off x="2597631" y="2891522"/>
            <a:ext cx="1301750" cy="4254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18" name="Line 397"/>
          <p:cNvSpPr>
            <a:spLocks noChangeShapeType="1"/>
          </p:cNvSpPr>
          <p:nvPr/>
        </p:nvSpPr>
        <p:spPr bwMode="auto">
          <a:xfrm flipV="1">
            <a:off x="2597631" y="3424922"/>
            <a:ext cx="1301750" cy="4254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19" name="Line 398"/>
          <p:cNvSpPr>
            <a:spLocks noChangeShapeType="1"/>
          </p:cNvSpPr>
          <p:nvPr/>
        </p:nvSpPr>
        <p:spPr bwMode="auto">
          <a:xfrm flipH="1" flipV="1">
            <a:off x="4280381" y="2891522"/>
            <a:ext cx="1289050" cy="8826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20" name="Line 399"/>
          <p:cNvSpPr>
            <a:spLocks noChangeShapeType="1"/>
          </p:cNvSpPr>
          <p:nvPr/>
        </p:nvSpPr>
        <p:spPr bwMode="auto">
          <a:xfrm flipH="1" flipV="1">
            <a:off x="4280381" y="3272522"/>
            <a:ext cx="1295400" cy="914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21" name="Text Box 400"/>
          <p:cNvSpPr txBox="1">
            <a:spLocks noChangeArrowheads="1"/>
          </p:cNvSpPr>
          <p:nvPr/>
        </p:nvSpPr>
        <p:spPr bwMode="auto">
          <a:xfrm>
            <a:off x="1685771" y="2079993"/>
            <a:ext cx="1525270" cy="64516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/>
              <a:t>Process 1</a:t>
            </a:r>
            <a:endParaRPr lang="en-US" sz="1800" dirty="0"/>
          </a:p>
          <a:p>
            <a:pPr algn="ctr"/>
            <a:r>
              <a:rPr lang="en-US" sz="1800" dirty="0"/>
              <a:t>virtual memory</a:t>
            </a:r>
            <a:endParaRPr lang="en-US" sz="1800" dirty="0"/>
          </a:p>
        </p:txBody>
      </p:sp>
      <p:sp>
        <p:nvSpPr>
          <p:cNvPr id="22" name="Text Box 401"/>
          <p:cNvSpPr txBox="1">
            <a:spLocks noChangeArrowheads="1"/>
          </p:cNvSpPr>
          <p:nvPr/>
        </p:nvSpPr>
        <p:spPr bwMode="auto">
          <a:xfrm>
            <a:off x="5038571" y="2065704"/>
            <a:ext cx="1525270" cy="64516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/>
              <a:t>Process 2</a:t>
            </a:r>
            <a:endParaRPr lang="en-US" sz="1800"/>
          </a:p>
          <a:p>
            <a:pPr algn="ctr"/>
            <a:r>
              <a:rPr lang="en-US" sz="1800"/>
              <a:t>virtual memory</a:t>
            </a:r>
            <a:endParaRPr lang="en-US" sz="1800"/>
          </a:p>
        </p:txBody>
      </p:sp>
      <p:sp>
        <p:nvSpPr>
          <p:cNvPr id="23" name="AutoShape 403"/>
          <p:cNvSpPr>
            <a:spLocks noChangeArrowheads="1"/>
          </p:cNvSpPr>
          <p:nvPr/>
        </p:nvSpPr>
        <p:spPr bwMode="auto">
          <a:xfrm>
            <a:off x="4350231" y="3272522"/>
            <a:ext cx="304800" cy="914400"/>
          </a:xfrm>
          <a:prstGeom prst="curvedLeftArrow">
            <a:avLst>
              <a:gd name="adj1" fmla="val 60000"/>
              <a:gd name="adj2" fmla="val 120000"/>
              <a:gd name="adj3" fmla="val 33333"/>
            </a:avLst>
          </a:prstGeom>
          <a:solidFill>
            <a:srgbClr val="990000"/>
          </a:solidFill>
          <a:ln w="12700">
            <a:solidFill>
              <a:srgbClr val="D5F1CF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24" name="Text Box 404"/>
          <p:cNvSpPr txBox="1">
            <a:spLocks noChangeArrowheads="1"/>
          </p:cNvSpPr>
          <p:nvPr/>
        </p:nvSpPr>
        <p:spPr bwMode="auto">
          <a:xfrm>
            <a:off x="4365313" y="3104089"/>
            <a:ext cx="1162050" cy="30670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400" dirty="0"/>
              <a:t>Copy-on-write</a:t>
            </a:r>
            <a:endParaRPr lang="en-US" sz="1400" dirty="0"/>
          </a:p>
        </p:txBody>
      </p:sp>
      <p:sp>
        <p:nvSpPr>
          <p:cNvPr id="25" name="Rectangle 405" descr="Wide upward diagonal"/>
          <p:cNvSpPr>
            <a:spLocks noChangeArrowheads="1"/>
          </p:cNvSpPr>
          <p:nvPr/>
        </p:nvSpPr>
        <p:spPr bwMode="auto">
          <a:xfrm>
            <a:off x="3899381" y="3272522"/>
            <a:ext cx="381000" cy="152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26" name="Rectangle 406" descr="Wide upward diagonal"/>
          <p:cNvSpPr>
            <a:spLocks noChangeArrowheads="1"/>
          </p:cNvSpPr>
          <p:nvPr/>
        </p:nvSpPr>
        <p:spPr bwMode="auto">
          <a:xfrm>
            <a:off x="5575781" y="4186922"/>
            <a:ext cx="381000" cy="1524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27" name="Rectangle 407" descr="Wide upward diagonal"/>
          <p:cNvSpPr>
            <a:spLocks noChangeArrowheads="1"/>
          </p:cNvSpPr>
          <p:nvPr/>
        </p:nvSpPr>
        <p:spPr bwMode="auto">
          <a:xfrm>
            <a:off x="3899381" y="3958322"/>
            <a:ext cx="381000" cy="1524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28" name="Line 408"/>
          <p:cNvSpPr>
            <a:spLocks noChangeShapeType="1"/>
          </p:cNvSpPr>
          <p:nvPr/>
        </p:nvSpPr>
        <p:spPr bwMode="auto">
          <a:xfrm flipH="1" flipV="1">
            <a:off x="4280381" y="3958322"/>
            <a:ext cx="1295400" cy="228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29" name="Line 409"/>
          <p:cNvSpPr>
            <a:spLocks noChangeShapeType="1"/>
          </p:cNvSpPr>
          <p:nvPr/>
        </p:nvSpPr>
        <p:spPr bwMode="auto">
          <a:xfrm flipH="1" flipV="1">
            <a:off x="4280381" y="4110722"/>
            <a:ext cx="1295400" cy="228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  <p:sp>
        <p:nvSpPr>
          <p:cNvPr id="30" name="Text Box 410"/>
          <p:cNvSpPr txBox="1">
            <a:spLocks noChangeArrowheads="1"/>
          </p:cNvSpPr>
          <p:nvPr/>
        </p:nvSpPr>
        <p:spPr bwMode="auto">
          <a:xfrm>
            <a:off x="6242531" y="3833862"/>
            <a:ext cx="1546225" cy="92202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/>
              <a:t>Write to private</a:t>
            </a:r>
            <a:endParaRPr lang="en-US" sz="1800" dirty="0"/>
          </a:p>
          <a:p>
            <a:pPr algn="ctr"/>
            <a:r>
              <a:rPr lang="en-US" sz="1800" dirty="0"/>
              <a:t>copy-on-write</a:t>
            </a:r>
            <a:endParaRPr lang="en-US" sz="1800" dirty="0"/>
          </a:p>
          <a:p>
            <a:pPr algn="ctr"/>
            <a:r>
              <a:rPr lang="en-US" sz="1800" dirty="0"/>
              <a:t>page</a:t>
            </a:r>
            <a:endParaRPr lang="en-US" sz="1800" dirty="0"/>
          </a:p>
        </p:txBody>
      </p:sp>
      <p:sp>
        <p:nvSpPr>
          <p:cNvPr id="31" name="Line 411"/>
          <p:cNvSpPr>
            <a:spLocks noChangeShapeType="1"/>
          </p:cNvSpPr>
          <p:nvPr/>
        </p:nvSpPr>
        <p:spPr bwMode="auto">
          <a:xfrm flipH="1">
            <a:off x="5956781" y="4263122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algn="ctr"/>
            <a:endParaRPr 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79"/>
          <p:cNvSpPr>
            <a:spLocks noChangeArrowheads="1"/>
          </p:cNvSpPr>
          <p:nvPr/>
        </p:nvSpPr>
        <p:spPr bwMode="auto">
          <a:xfrm>
            <a:off x="9347933" y="3012336"/>
            <a:ext cx="285750" cy="40005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5" name="Text Box 380"/>
          <p:cNvSpPr txBox="1">
            <a:spLocks noChangeArrowheads="1"/>
          </p:cNvSpPr>
          <p:nvPr/>
        </p:nvSpPr>
        <p:spPr bwMode="auto">
          <a:xfrm>
            <a:off x="9712231" y="3050734"/>
            <a:ext cx="1114409" cy="369332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800" dirty="0" smtClean="0"/>
              <a:t>交换空间</a:t>
            </a:r>
            <a:endParaRPr lang="en-US" sz="1800" dirty="0"/>
          </a:p>
        </p:txBody>
      </p:sp>
      <p:sp>
        <p:nvSpPr>
          <p:cNvPr id="6" name="Rectangle 382"/>
          <p:cNvSpPr>
            <a:spLocks noChangeArrowheads="1"/>
          </p:cNvSpPr>
          <p:nvPr/>
        </p:nvSpPr>
        <p:spPr bwMode="auto">
          <a:xfrm>
            <a:off x="8134832" y="2656106"/>
            <a:ext cx="285750" cy="15430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7" name="Text Box 383"/>
          <p:cNvSpPr txBox="1">
            <a:spLocks noChangeArrowheads="1"/>
          </p:cNvSpPr>
          <p:nvPr/>
        </p:nvSpPr>
        <p:spPr bwMode="auto">
          <a:xfrm>
            <a:off x="7984209" y="1981200"/>
            <a:ext cx="649537" cy="646331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800" dirty="0" smtClean="0"/>
              <a:t>物理</a:t>
            </a:r>
            <a:endParaRPr lang="en-US" altLang="zh-CN" sz="1800" dirty="0" smtClean="0"/>
          </a:p>
          <a:p>
            <a:pPr algn="ctr"/>
            <a:r>
              <a:rPr lang="zh-CN" altLang="en-US" sz="1800" dirty="0" smtClean="0"/>
              <a:t>内存</a:t>
            </a:r>
            <a:endParaRPr lang="en-US" sz="1800" dirty="0"/>
          </a:p>
        </p:txBody>
      </p:sp>
      <p:sp>
        <p:nvSpPr>
          <p:cNvPr id="8" name="Rectangle 385"/>
          <p:cNvSpPr>
            <a:spLocks noChangeArrowheads="1"/>
          </p:cNvSpPr>
          <p:nvPr/>
        </p:nvSpPr>
        <p:spPr bwMode="auto">
          <a:xfrm>
            <a:off x="6877532" y="2656106"/>
            <a:ext cx="285750" cy="2514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0" name="Rectangle 388"/>
          <p:cNvSpPr>
            <a:spLocks noChangeArrowheads="1"/>
          </p:cNvSpPr>
          <p:nvPr/>
        </p:nvSpPr>
        <p:spPr bwMode="auto">
          <a:xfrm>
            <a:off x="8134832" y="2770406"/>
            <a:ext cx="285750" cy="40005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1" name="Rectangle 389"/>
          <p:cNvSpPr>
            <a:spLocks noChangeArrowheads="1"/>
          </p:cNvSpPr>
          <p:nvPr/>
        </p:nvSpPr>
        <p:spPr bwMode="auto">
          <a:xfrm>
            <a:off x="6877532" y="3113306"/>
            <a:ext cx="285750" cy="40005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2" name="Line 391"/>
          <p:cNvSpPr>
            <a:spLocks noChangeShapeType="1"/>
          </p:cNvSpPr>
          <p:nvPr/>
        </p:nvSpPr>
        <p:spPr bwMode="auto">
          <a:xfrm flipH="1" flipV="1">
            <a:off x="8420582" y="2777386"/>
            <a:ext cx="919162" cy="2349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3" name="Line 392"/>
          <p:cNvSpPr>
            <a:spLocks noChangeShapeType="1"/>
          </p:cNvSpPr>
          <p:nvPr/>
        </p:nvSpPr>
        <p:spPr bwMode="auto">
          <a:xfrm flipH="1" flipV="1">
            <a:off x="8420582" y="3177436"/>
            <a:ext cx="919162" cy="2349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4" name="Line 396"/>
          <p:cNvSpPr>
            <a:spLocks noChangeShapeType="1"/>
          </p:cNvSpPr>
          <p:nvPr/>
        </p:nvSpPr>
        <p:spPr bwMode="auto">
          <a:xfrm flipV="1">
            <a:off x="7163282" y="2770406"/>
            <a:ext cx="971550" cy="3429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5" name="Line 397"/>
          <p:cNvSpPr>
            <a:spLocks noChangeShapeType="1"/>
          </p:cNvSpPr>
          <p:nvPr/>
        </p:nvSpPr>
        <p:spPr bwMode="auto">
          <a:xfrm flipV="1">
            <a:off x="7163282" y="3170456"/>
            <a:ext cx="971550" cy="3429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6" name="Text Box 400"/>
          <p:cNvSpPr txBox="1">
            <a:spLocks noChangeArrowheads="1"/>
          </p:cNvSpPr>
          <p:nvPr/>
        </p:nvSpPr>
        <p:spPr bwMode="auto">
          <a:xfrm>
            <a:off x="6470501" y="1981787"/>
            <a:ext cx="1099820" cy="64516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800" dirty="0" smtClean="0"/>
              <a:t>进程</a:t>
            </a:r>
            <a:endParaRPr lang="en-US" altLang="zh-CN" sz="1800" dirty="0" smtClean="0"/>
          </a:p>
          <a:p>
            <a:pPr algn="ctr"/>
            <a:r>
              <a:rPr lang="zh-CN" altLang="en-US" sz="1800" dirty="0" smtClean="0"/>
              <a:t>虚拟内存</a:t>
            </a:r>
            <a:endParaRPr lang="en-US" sz="1800" dirty="0"/>
          </a:p>
        </p:txBody>
      </p:sp>
      <p:sp>
        <p:nvSpPr>
          <p:cNvPr id="22" name="Rectangle 379"/>
          <p:cNvSpPr>
            <a:spLocks noChangeArrowheads="1"/>
          </p:cNvSpPr>
          <p:nvPr/>
        </p:nvSpPr>
        <p:spPr bwMode="auto">
          <a:xfrm>
            <a:off x="9347933" y="3873874"/>
            <a:ext cx="285750" cy="40005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3" name="Rectangle 388"/>
          <p:cNvSpPr>
            <a:spLocks noChangeArrowheads="1"/>
          </p:cNvSpPr>
          <p:nvPr/>
        </p:nvSpPr>
        <p:spPr bwMode="auto">
          <a:xfrm>
            <a:off x="8134832" y="3631944"/>
            <a:ext cx="285750" cy="40005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4" name="Rectangle 389"/>
          <p:cNvSpPr>
            <a:spLocks noChangeArrowheads="1"/>
          </p:cNvSpPr>
          <p:nvPr/>
        </p:nvSpPr>
        <p:spPr bwMode="auto">
          <a:xfrm>
            <a:off x="6877532" y="3974844"/>
            <a:ext cx="285750" cy="40005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5" name="Line 391"/>
          <p:cNvSpPr>
            <a:spLocks noChangeShapeType="1"/>
          </p:cNvSpPr>
          <p:nvPr/>
        </p:nvSpPr>
        <p:spPr bwMode="auto">
          <a:xfrm flipH="1" flipV="1">
            <a:off x="8420582" y="3638924"/>
            <a:ext cx="919162" cy="2349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6" name="Line 392"/>
          <p:cNvSpPr>
            <a:spLocks noChangeShapeType="1"/>
          </p:cNvSpPr>
          <p:nvPr/>
        </p:nvSpPr>
        <p:spPr bwMode="auto">
          <a:xfrm flipH="1" flipV="1">
            <a:off x="8420582" y="4038974"/>
            <a:ext cx="919162" cy="2349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7" name="Line 396"/>
          <p:cNvSpPr>
            <a:spLocks noChangeShapeType="1"/>
          </p:cNvSpPr>
          <p:nvPr/>
        </p:nvSpPr>
        <p:spPr bwMode="auto">
          <a:xfrm flipV="1">
            <a:off x="7163282" y="3631944"/>
            <a:ext cx="971550" cy="3429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8" name="Line 397"/>
          <p:cNvSpPr>
            <a:spLocks noChangeShapeType="1"/>
          </p:cNvSpPr>
          <p:nvPr/>
        </p:nvSpPr>
        <p:spPr bwMode="auto">
          <a:xfrm flipV="1">
            <a:off x="7163282" y="4031994"/>
            <a:ext cx="971550" cy="3429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9" name="Text Box 380"/>
          <p:cNvSpPr txBox="1">
            <a:spLocks noChangeArrowheads="1"/>
          </p:cNvSpPr>
          <p:nvPr/>
        </p:nvSpPr>
        <p:spPr bwMode="auto">
          <a:xfrm>
            <a:off x="9677400" y="3889233"/>
            <a:ext cx="1579279" cy="369332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800" dirty="0" smtClean="0"/>
              <a:t>磁盘上的文件</a:t>
            </a:r>
            <a:endParaRPr lang="en-US" sz="1800" dirty="0"/>
          </a:p>
        </p:txBody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476025" y="435678"/>
            <a:ext cx="10122791" cy="762000"/>
          </a:xfrm>
        </p:spPr>
        <p:txBody>
          <a:bodyPr/>
          <a:lstStyle/>
          <a:p>
            <a:r>
              <a:rPr lang="zh-CN" altLang="en-US" dirty="0" smtClean="0"/>
              <a:t>内存映射的文件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955" y="1362075"/>
            <a:ext cx="5778500" cy="4972050"/>
          </a:xfrm>
        </p:spPr>
        <p:txBody>
          <a:bodyPr/>
          <a:lstStyle/>
          <a:p>
            <a:r>
              <a:rPr lang="zh-CN" altLang="en-US" dirty="0" smtClean="0"/>
              <a:t>物理内存上每一页都应该在磁盘上有对应</a:t>
            </a:r>
            <a:r>
              <a:rPr lang="en-US" altLang="zh-CN" dirty="0" smtClean="0"/>
              <a:t>，</a:t>
            </a:r>
            <a:r>
              <a:rPr lang="zh-CN" altLang="en-US" dirty="0" smtClean="0"/>
              <a:t>以便支持驱逐行为</a:t>
            </a:r>
            <a:endParaRPr lang="zh-CN" altLang="en-US" dirty="0" smtClean="0"/>
          </a:p>
          <a:p>
            <a:pPr lvl="1"/>
            <a:r>
              <a:rPr lang="zh-CN" altLang="en-US" dirty="0" smtClean="0">
                <a:solidFill>
                  <a:srgbClr val="00B050"/>
                </a:solidFill>
              </a:rPr>
              <a:t>文件页</a:t>
            </a:r>
            <a:r>
              <a:rPr lang="en-US" altLang="zh-CN" dirty="0" smtClean="0"/>
              <a:t>：</a:t>
            </a:r>
            <a:r>
              <a:rPr lang="zh-CN" altLang="en-US" dirty="0" smtClean="0"/>
              <a:t>对应磁盘上原有</a:t>
            </a:r>
            <a:r>
              <a:rPr lang="zh-CN" altLang="en-US" dirty="0" smtClean="0"/>
              <a:t>文件</a:t>
            </a:r>
            <a:endParaRPr lang="zh-CN" altLang="en-US" dirty="0" smtClean="0"/>
          </a:p>
          <a:p>
            <a:pPr lvl="1"/>
            <a:r>
              <a:rPr lang="zh-CN" altLang="en-US" dirty="0" smtClean="0">
                <a:solidFill>
                  <a:srgbClr val="00B050"/>
                </a:solidFill>
              </a:rPr>
              <a:t>匿名页</a:t>
            </a:r>
            <a:r>
              <a:rPr lang="en-US" altLang="zh-CN" dirty="0" smtClean="0"/>
              <a:t>：</a:t>
            </a:r>
            <a:r>
              <a:rPr lang="zh-CN" altLang="en-US" dirty="0" smtClean="0"/>
              <a:t>也称</a:t>
            </a:r>
            <a:r>
              <a:rPr lang="zh-CN" altLang="en-US" i="1" dirty="0" smtClean="0">
                <a:solidFill>
                  <a:srgbClr val="00B050"/>
                </a:solidFill>
              </a:rPr>
              <a:t>交换空间</a:t>
            </a:r>
            <a:r>
              <a:rPr lang="zh-CN" altLang="en-US" i="1" dirty="0" smtClean="0"/>
              <a:t>（</a:t>
            </a:r>
            <a:r>
              <a:rPr lang="en-US" altLang="zh-CN" i="1" dirty="0"/>
              <a:t>swap space</a:t>
            </a:r>
            <a:r>
              <a:rPr lang="zh-CN" altLang="en-US" i="1" dirty="0" smtClean="0"/>
              <a:t>）</a:t>
            </a:r>
            <a:r>
              <a:rPr lang="en-US" altLang="zh-CN" i="1" dirty="0" smtClean="0"/>
              <a:t>，</a:t>
            </a:r>
            <a:r>
              <a:rPr lang="zh-CN" altLang="en-US" i="1" dirty="0" smtClean="0"/>
              <a:t>磁盘上没有对应文件</a:t>
            </a:r>
            <a:endParaRPr lang="en-US" i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traight Connector 48"/>
          <p:cNvCxnSpPr/>
          <p:nvPr/>
        </p:nvCxnSpPr>
        <p:spPr bwMode="auto">
          <a:xfrm flipV="1">
            <a:off x="4489134" y="3632233"/>
            <a:ext cx="2654935" cy="185991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endCxn id="28" idx="1"/>
          </p:cNvCxnSpPr>
          <p:nvPr/>
        </p:nvCxnSpPr>
        <p:spPr bwMode="auto">
          <a:xfrm flipV="1">
            <a:off x="4489134" y="4032283"/>
            <a:ext cx="2654935" cy="185991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39" idx="0"/>
          </p:cNvCxnSpPr>
          <p:nvPr/>
        </p:nvCxnSpPr>
        <p:spPr bwMode="auto">
          <a:xfrm>
            <a:off x="4338638" y="4256307"/>
            <a:ext cx="2822575" cy="14732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39" idx="2"/>
          </p:cNvCxnSpPr>
          <p:nvPr/>
        </p:nvCxnSpPr>
        <p:spPr bwMode="auto">
          <a:xfrm>
            <a:off x="4339207" y="4656314"/>
            <a:ext cx="2804795" cy="14414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Rectangle 379"/>
          <p:cNvSpPr>
            <a:spLocks noChangeArrowheads="1"/>
          </p:cNvSpPr>
          <p:nvPr/>
        </p:nvSpPr>
        <p:spPr bwMode="auto">
          <a:xfrm>
            <a:off x="8357333" y="3012336"/>
            <a:ext cx="285750" cy="40005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5" name="Text Box 380"/>
          <p:cNvSpPr txBox="1">
            <a:spLocks noChangeArrowheads="1"/>
          </p:cNvSpPr>
          <p:nvPr/>
        </p:nvSpPr>
        <p:spPr bwMode="auto">
          <a:xfrm>
            <a:off x="8729820" y="3227720"/>
            <a:ext cx="1114409" cy="369332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800" dirty="0" smtClean="0"/>
              <a:t>交换空间</a:t>
            </a:r>
            <a:endParaRPr lang="en-US" sz="1800" dirty="0"/>
          </a:p>
        </p:txBody>
      </p:sp>
      <p:sp>
        <p:nvSpPr>
          <p:cNvPr id="6" name="Rectangle 382"/>
          <p:cNvSpPr>
            <a:spLocks noChangeArrowheads="1"/>
          </p:cNvSpPr>
          <p:nvPr/>
        </p:nvSpPr>
        <p:spPr bwMode="auto">
          <a:xfrm>
            <a:off x="7144232" y="2656106"/>
            <a:ext cx="285750" cy="2296894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7" name="Text Box 383"/>
          <p:cNvSpPr txBox="1">
            <a:spLocks noChangeArrowheads="1"/>
          </p:cNvSpPr>
          <p:nvPr/>
        </p:nvSpPr>
        <p:spPr bwMode="auto">
          <a:xfrm>
            <a:off x="6993609" y="1981200"/>
            <a:ext cx="649537" cy="646331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800" dirty="0" smtClean="0"/>
              <a:t>物理</a:t>
            </a:r>
            <a:endParaRPr lang="en-US" altLang="zh-CN" sz="1800" dirty="0" smtClean="0"/>
          </a:p>
          <a:p>
            <a:pPr algn="ctr"/>
            <a:r>
              <a:rPr lang="zh-CN" altLang="en-US" sz="1800" dirty="0" smtClean="0"/>
              <a:t>内存</a:t>
            </a:r>
            <a:endParaRPr lang="en-US" sz="1800" dirty="0"/>
          </a:p>
        </p:txBody>
      </p:sp>
      <p:sp>
        <p:nvSpPr>
          <p:cNvPr id="8" name="Rectangle 385"/>
          <p:cNvSpPr>
            <a:spLocks noChangeArrowheads="1"/>
          </p:cNvSpPr>
          <p:nvPr/>
        </p:nvSpPr>
        <p:spPr bwMode="auto">
          <a:xfrm>
            <a:off x="5505932" y="1208306"/>
            <a:ext cx="285750" cy="2514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0" name="Rectangle 388"/>
          <p:cNvSpPr>
            <a:spLocks noChangeArrowheads="1"/>
          </p:cNvSpPr>
          <p:nvPr/>
        </p:nvSpPr>
        <p:spPr bwMode="auto">
          <a:xfrm>
            <a:off x="7144232" y="2770406"/>
            <a:ext cx="285750" cy="40005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1" name="Rectangle 389"/>
          <p:cNvSpPr>
            <a:spLocks noChangeArrowheads="1"/>
          </p:cNvSpPr>
          <p:nvPr/>
        </p:nvSpPr>
        <p:spPr bwMode="auto">
          <a:xfrm>
            <a:off x="5505932" y="1665506"/>
            <a:ext cx="285750" cy="40005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2" name="Line 391"/>
          <p:cNvSpPr>
            <a:spLocks noChangeShapeType="1"/>
          </p:cNvSpPr>
          <p:nvPr/>
        </p:nvSpPr>
        <p:spPr bwMode="auto">
          <a:xfrm flipH="1" flipV="1">
            <a:off x="7429982" y="2777386"/>
            <a:ext cx="919162" cy="2349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3" name="Line 392"/>
          <p:cNvSpPr>
            <a:spLocks noChangeShapeType="1"/>
          </p:cNvSpPr>
          <p:nvPr/>
        </p:nvSpPr>
        <p:spPr bwMode="auto">
          <a:xfrm flipH="1" flipV="1">
            <a:off x="7429982" y="3177436"/>
            <a:ext cx="919162" cy="2349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4" name="Line 396"/>
          <p:cNvSpPr>
            <a:spLocks noChangeShapeType="1"/>
          </p:cNvSpPr>
          <p:nvPr/>
        </p:nvSpPr>
        <p:spPr bwMode="auto">
          <a:xfrm>
            <a:off x="5829300" y="1661160"/>
            <a:ext cx="1315085" cy="110934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5" name="Line 397"/>
          <p:cNvSpPr>
            <a:spLocks noChangeShapeType="1"/>
          </p:cNvSpPr>
          <p:nvPr/>
        </p:nvSpPr>
        <p:spPr bwMode="auto">
          <a:xfrm>
            <a:off x="5793740" y="2068195"/>
            <a:ext cx="1350645" cy="110236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6" name="Text Box 400"/>
          <p:cNvSpPr txBox="1">
            <a:spLocks noChangeArrowheads="1"/>
          </p:cNvSpPr>
          <p:nvPr/>
        </p:nvSpPr>
        <p:spPr bwMode="auto">
          <a:xfrm>
            <a:off x="5098899" y="533986"/>
            <a:ext cx="1099820" cy="64516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800" dirty="0" smtClean="0"/>
              <a:t>进程</a:t>
            </a:r>
            <a:r>
              <a:rPr lang="en-US" altLang="zh-CN" sz="1800" dirty="0" smtClean="0"/>
              <a:t>1</a:t>
            </a:r>
            <a:r>
              <a:rPr lang="zh-CN" altLang="en-US" sz="1800" dirty="0" smtClean="0"/>
              <a:t>的</a:t>
            </a:r>
            <a:endParaRPr lang="en-US" altLang="zh-CN" sz="1800" dirty="0" smtClean="0"/>
          </a:p>
          <a:p>
            <a:pPr algn="ctr"/>
            <a:r>
              <a:rPr lang="zh-CN" altLang="en-US" sz="1800" dirty="0"/>
              <a:t>虚拟内存</a:t>
            </a:r>
            <a:endParaRPr lang="en-US" sz="1800" dirty="0"/>
          </a:p>
        </p:txBody>
      </p:sp>
      <p:sp>
        <p:nvSpPr>
          <p:cNvPr id="22" name="Rectangle 379"/>
          <p:cNvSpPr>
            <a:spLocks noChangeArrowheads="1"/>
          </p:cNvSpPr>
          <p:nvPr/>
        </p:nvSpPr>
        <p:spPr bwMode="auto">
          <a:xfrm>
            <a:off x="8357333" y="3873874"/>
            <a:ext cx="285750" cy="40005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3" name="Rectangle 388"/>
          <p:cNvSpPr>
            <a:spLocks noChangeArrowheads="1"/>
          </p:cNvSpPr>
          <p:nvPr/>
        </p:nvSpPr>
        <p:spPr bwMode="auto">
          <a:xfrm>
            <a:off x="7144232" y="3631944"/>
            <a:ext cx="285750" cy="40005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4" name="Rectangle 389"/>
          <p:cNvSpPr>
            <a:spLocks noChangeArrowheads="1"/>
          </p:cNvSpPr>
          <p:nvPr/>
        </p:nvSpPr>
        <p:spPr bwMode="auto">
          <a:xfrm>
            <a:off x="5505932" y="2527044"/>
            <a:ext cx="285750" cy="40005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5" name="Line 391"/>
          <p:cNvSpPr>
            <a:spLocks noChangeShapeType="1"/>
          </p:cNvSpPr>
          <p:nvPr/>
        </p:nvSpPr>
        <p:spPr bwMode="auto">
          <a:xfrm flipH="1" flipV="1">
            <a:off x="7429982" y="3638924"/>
            <a:ext cx="919162" cy="2349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6" name="Line 392"/>
          <p:cNvSpPr>
            <a:spLocks noChangeShapeType="1"/>
          </p:cNvSpPr>
          <p:nvPr/>
        </p:nvSpPr>
        <p:spPr bwMode="auto">
          <a:xfrm flipH="1" flipV="1">
            <a:off x="7429982" y="4038974"/>
            <a:ext cx="919162" cy="2349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7" name="Line 396"/>
          <p:cNvSpPr>
            <a:spLocks noChangeShapeType="1"/>
          </p:cNvSpPr>
          <p:nvPr/>
        </p:nvSpPr>
        <p:spPr bwMode="auto">
          <a:xfrm>
            <a:off x="5781675" y="2510790"/>
            <a:ext cx="1362710" cy="112141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8" name="Line 397"/>
          <p:cNvSpPr>
            <a:spLocks noChangeShapeType="1"/>
          </p:cNvSpPr>
          <p:nvPr/>
        </p:nvSpPr>
        <p:spPr bwMode="auto">
          <a:xfrm>
            <a:off x="5796915" y="2936240"/>
            <a:ext cx="1347470" cy="109601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9" name="Text Box 380"/>
          <p:cNvSpPr txBox="1">
            <a:spLocks noChangeArrowheads="1"/>
          </p:cNvSpPr>
          <p:nvPr/>
        </p:nvSpPr>
        <p:spPr bwMode="auto">
          <a:xfrm>
            <a:off x="8707722" y="3889233"/>
            <a:ext cx="1579278" cy="369332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800" dirty="0" smtClean="0"/>
              <a:t>磁盘上的文件</a:t>
            </a:r>
            <a:endParaRPr lang="en-US" sz="1800" dirty="0"/>
          </a:p>
        </p:txBody>
      </p:sp>
      <p:sp>
        <p:nvSpPr>
          <p:cNvPr id="38" name="Rectangle 385"/>
          <p:cNvSpPr>
            <a:spLocks noChangeArrowheads="1"/>
          </p:cNvSpPr>
          <p:nvPr/>
        </p:nvSpPr>
        <p:spPr bwMode="auto">
          <a:xfrm>
            <a:off x="4195763" y="3799106"/>
            <a:ext cx="285750" cy="2514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9" name="Rectangle 389"/>
          <p:cNvSpPr>
            <a:spLocks noChangeArrowheads="1"/>
          </p:cNvSpPr>
          <p:nvPr/>
        </p:nvSpPr>
        <p:spPr bwMode="auto">
          <a:xfrm>
            <a:off x="4195763" y="4256306"/>
            <a:ext cx="285750" cy="40005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40" name="Text Box 400"/>
          <p:cNvSpPr txBox="1">
            <a:spLocks noChangeArrowheads="1"/>
          </p:cNvSpPr>
          <p:nvPr/>
        </p:nvSpPr>
        <p:spPr bwMode="auto">
          <a:xfrm>
            <a:off x="3788730" y="3124787"/>
            <a:ext cx="1099820" cy="64516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800" dirty="0" smtClean="0"/>
              <a:t>进程</a:t>
            </a:r>
            <a:r>
              <a:rPr lang="en-US" altLang="zh-CN" sz="1800" dirty="0" smtClean="0"/>
              <a:t>2</a:t>
            </a:r>
            <a:r>
              <a:rPr lang="zh-CN" altLang="en-US" sz="1800" dirty="0" smtClean="0"/>
              <a:t>的</a:t>
            </a:r>
            <a:endParaRPr lang="en-US" altLang="zh-CN" sz="1800" dirty="0" smtClean="0"/>
          </a:p>
          <a:p>
            <a:pPr algn="ctr"/>
            <a:r>
              <a:rPr lang="zh-CN" altLang="en-US" sz="1800" dirty="0"/>
              <a:t>虚拟内存</a:t>
            </a:r>
            <a:endParaRPr lang="en-US" sz="1800" dirty="0"/>
          </a:p>
        </p:txBody>
      </p:sp>
      <p:sp>
        <p:nvSpPr>
          <p:cNvPr id="41" name="Rectangle 389"/>
          <p:cNvSpPr>
            <a:spLocks noChangeArrowheads="1"/>
          </p:cNvSpPr>
          <p:nvPr/>
        </p:nvSpPr>
        <p:spPr bwMode="auto">
          <a:xfrm>
            <a:off x="4195763" y="5492148"/>
            <a:ext cx="285750" cy="40005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42" name="Rectangle 389"/>
          <p:cNvSpPr>
            <a:spLocks noChangeArrowheads="1"/>
          </p:cNvSpPr>
          <p:nvPr/>
        </p:nvSpPr>
        <p:spPr bwMode="auto">
          <a:xfrm>
            <a:off x="7144232" y="4382471"/>
            <a:ext cx="285750" cy="40005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43" name="Rectangle 389"/>
          <p:cNvSpPr>
            <a:spLocks noChangeArrowheads="1"/>
          </p:cNvSpPr>
          <p:nvPr/>
        </p:nvSpPr>
        <p:spPr bwMode="auto">
          <a:xfrm>
            <a:off x="8357333" y="3419366"/>
            <a:ext cx="285750" cy="40005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cxnSp>
        <p:nvCxnSpPr>
          <p:cNvPr id="45" name="Straight Connector 44"/>
          <p:cNvCxnSpPr/>
          <p:nvPr/>
        </p:nvCxnSpPr>
        <p:spPr bwMode="auto">
          <a:xfrm flipV="1">
            <a:off x="7429982" y="3429000"/>
            <a:ext cx="919162" cy="94589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 bwMode="auto">
          <a:xfrm flipV="1">
            <a:off x="7438172" y="3803395"/>
            <a:ext cx="910973" cy="97912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6" name="Title 1"/>
          <p:cNvSpPr>
            <a:spLocks noGrp="1"/>
          </p:cNvSpPr>
          <p:nvPr>
            <p:ph type="title"/>
          </p:nvPr>
        </p:nvSpPr>
        <p:spPr>
          <a:xfrm>
            <a:off x="476025" y="435678"/>
            <a:ext cx="10122791" cy="762000"/>
          </a:xfrm>
        </p:spPr>
        <p:txBody>
          <a:bodyPr/>
          <a:lstStyle/>
          <a:p>
            <a:r>
              <a:rPr lang="zh-CN" altLang="en-US" dirty="0" smtClean="0"/>
              <a:t>内存映射的文件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Line 396"/>
          <p:cNvSpPr>
            <a:spLocks noChangeShapeType="1"/>
          </p:cNvSpPr>
          <p:nvPr/>
        </p:nvSpPr>
        <p:spPr bwMode="auto">
          <a:xfrm flipV="1">
            <a:off x="5177155" y="2179955"/>
            <a:ext cx="2505075" cy="208153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7" name="Line 397"/>
          <p:cNvSpPr>
            <a:spLocks noChangeShapeType="1"/>
          </p:cNvSpPr>
          <p:nvPr/>
        </p:nvSpPr>
        <p:spPr bwMode="auto">
          <a:xfrm flipV="1">
            <a:off x="5157470" y="2587625"/>
            <a:ext cx="2527935" cy="208851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0" name="Line 396"/>
          <p:cNvSpPr>
            <a:spLocks noChangeShapeType="1"/>
          </p:cNvSpPr>
          <p:nvPr/>
        </p:nvSpPr>
        <p:spPr bwMode="auto">
          <a:xfrm flipV="1">
            <a:off x="5149215" y="3035300"/>
            <a:ext cx="2527935" cy="210121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1" name="Line 397"/>
          <p:cNvSpPr>
            <a:spLocks noChangeShapeType="1"/>
          </p:cNvSpPr>
          <p:nvPr/>
        </p:nvSpPr>
        <p:spPr bwMode="auto">
          <a:xfrm flipV="1">
            <a:off x="5129530" y="3442335"/>
            <a:ext cx="2547620" cy="20955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4" name="Rectangle 379"/>
          <p:cNvSpPr>
            <a:spLocks noChangeArrowheads="1"/>
          </p:cNvSpPr>
          <p:nvPr/>
        </p:nvSpPr>
        <p:spPr bwMode="auto">
          <a:xfrm>
            <a:off x="8890733" y="2422519"/>
            <a:ext cx="285750" cy="40005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5" name="Text Box 380"/>
          <p:cNvSpPr txBox="1">
            <a:spLocks noChangeArrowheads="1"/>
          </p:cNvSpPr>
          <p:nvPr/>
        </p:nvSpPr>
        <p:spPr bwMode="auto">
          <a:xfrm>
            <a:off x="9255032" y="2460917"/>
            <a:ext cx="1114408" cy="369332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800" dirty="0"/>
              <a:t>交换</a:t>
            </a:r>
            <a:r>
              <a:rPr lang="zh-CN" altLang="en-US" sz="1800" dirty="0" smtClean="0"/>
              <a:t>空间</a:t>
            </a:r>
            <a:endParaRPr lang="en-US" sz="1800" dirty="0"/>
          </a:p>
        </p:txBody>
      </p:sp>
      <p:sp>
        <p:nvSpPr>
          <p:cNvPr id="6" name="Rectangle 382"/>
          <p:cNvSpPr>
            <a:spLocks noChangeArrowheads="1"/>
          </p:cNvSpPr>
          <p:nvPr/>
        </p:nvSpPr>
        <p:spPr bwMode="auto">
          <a:xfrm>
            <a:off x="7677632" y="2066289"/>
            <a:ext cx="285750" cy="15430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7" name="Text Box 383"/>
          <p:cNvSpPr txBox="1">
            <a:spLocks noChangeArrowheads="1"/>
          </p:cNvSpPr>
          <p:nvPr/>
        </p:nvSpPr>
        <p:spPr bwMode="auto">
          <a:xfrm>
            <a:off x="7527009" y="1391383"/>
            <a:ext cx="649537" cy="646331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800" dirty="0" smtClean="0"/>
              <a:t>物理</a:t>
            </a:r>
            <a:endParaRPr lang="en-US" altLang="zh-CN" sz="1800" dirty="0" smtClean="0"/>
          </a:p>
          <a:p>
            <a:pPr algn="ctr"/>
            <a:r>
              <a:rPr lang="zh-CN" altLang="en-US" sz="1800" dirty="0" smtClean="0"/>
              <a:t>内存</a:t>
            </a:r>
            <a:endParaRPr lang="en-US" sz="1800" dirty="0"/>
          </a:p>
        </p:txBody>
      </p:sp>
      <p:sp>
        <p:nvSpPr>
          <p:cNvPr id="8" name="Rectangle 385"/>
          <p:cNvSpPr>
            <a:spLocks noChangeArrowheads="1"/>
          </p:cNvSpPr>
          <p:nvPr/>
        </p:nvSpPr>
        <p:spPr bwMode="auto">
          <a:xfrm>
            <a:off x="6420332" y="1075689"/>
            <a:ext cx="285750" cy="2514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9" name="Rectangle 388"/>
          <p:cNvSpPr>
            <a:spLocks noChangeArrowheads="1"/>
          </p:cNvSpPr>
          <p:nvPr/>
        </p:nvSpPr>
        <p:spPr bwMode="auto">
          <a:xfrm>
            <a:off x="7677632" y="2180589"/>
            <a:ext cx="285750" cy="40005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0" name="Rectangle 389"/>
          <p:cNvSpPr>
            <a:spLocks noChangeArrowheads="1"/>
          </p:cNvSpPr>
          <p:nvPr/>
        </p:nvSpPr>
        <p:spPr bwMode="auto">
          <a:xfrm>
            <a:off x="6420332" y="1532889"/>
            <a:ext cx="285750" cy="40005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1" name="Line 391"/>
          <p:cNvSpPr>
            <a:spLocks noChangeShapeType="1"/>
          </p:cNvSpPr>
          <p:nvPr/>
        </p:nvSpPr>
        <p:spPr bwMode="auto">
          <a:xfrm flipH="1" flipV="1">
            <a:off x="7963382" y="2187569"/>
            <a:ext cx="919162" cy="2349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2" name="Line 392"/>
          <p:cNvSpPr>
            <a:spLocks noChangeShapeType="1"/>
          </p:cNvSpPr>
          <p:nvPr/>
        </p:nvSpPr>
        <p:spPr bwMode="auto">
          <a:xfrm flipH="1" flipV="1">
            <a:off x="7963382" y="2587619"/>
            <a:ext cx="919162" cy="2349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3" name="Line 396"/>
          <p:cNvSpPr>
            <a:spLocks noChangeShapeType="1"/>
          </p:cNvSpPr>
          <p:nvPr/>
        </p:nvSpPr>
        <p:spPr bwMode="auto">
          <a:xfrm>
            <a:off x="6706235" y="1532890"/>
            <a:ext cx="915035" cy="6064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4" name="Line 397"/>
          <p:cNvSpPr>
            <a:spLocks noChangeShapeType="1"/>
          </p:cNvSpPr>
          <p:nvPr/>
        </p:nvSpPr>
        <p:spPr bwMode="auto">
          <a:xfrm>
            <a:off x="6706235" y="1932940"/>
            <a:ext cx="979170" cy="6445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5" name="Text Box 400"/>
          <p:cNvSpPr txBox="1">
            <a:spLocks noChangeArrowheads="1"/>
          </p:cNvSpPr>
          <p:nvPr/>
        </p:nvSpPr>
        <p:spPr bwMode="auto">
          <a:xfrm>
            <a:off x="6013300" y="401369"/>
            <a:ext cx="1099820" cy="64516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800" dirty="0" smtClean="0"/>
              <a:t>父进程的</a:t>
            </a:r>
            <a:endParaRPr lang="en-US" altLang="zh-CN" sz="1800" dirty="0" smtClean="0"/>
          </a:p>
          <a:p>
            <a:pPr algn="ctr"/>
            <a:r>
              <a:rPr lang="zh-CN" altLang="en-US" sz="1800" dirty="0" smtClean="0"/>
              <a:t>虚拟内存</a:t>
            </a:r>
            <a:endParaRPr lang="en-US" sz="1800" dirty="0"/>
          </a:p>
        </p:txBody>
      </p:sp>
      <p:sp>
        <p:nvSpPr>
          <p:cNvPr id="16" name="Rectangle 379"/>
          <p:cNvSpPr>
            <a:spLocks noChangeArrowheads="1"/>
          </p:cNvSpPr>
          <p:nvPr/>
        </p:nvSpPr>
        <p:spPr bwMode="auto">
          <a:xfrm>
            <a:off x="8890733" y="3284057"/>
            <a:ext cx="285750" cy="40005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7" name="Rectangle 388"/>
          <p:cNvSpPr>
            <a:spLocks noChangeArrowheads="1"/>
          </p:cNvSpPr>
          <p:nvPr/>
        </p:nvSpPr>
        <p:spPr bwMode="auto">
          <a:xfrm>
            <a:off x="7677632" y="3042127"/>
            <a:ext cx="285750" cy="40005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8" name="Rectangle 389"/>
          <p:cNvSpPr>
            <a:spLocks noChangeArrowheads="1"/>
          </p:cNvSpPr>
          <p:nvPr/>
        </p:nvSpPr>
        <p:spPr bwMode="auto">
          <a:xfrm>
            <a:off x="6420332" y="2394427"/>
            <a:ext cx="285750" cy="40005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9" name="Line 391"/>
          <p:cNvSpPr>
            <a:spLocks noChangeShapeType="1"/>
          </p:cNvSpPr>
          <p:nvPr/>
        </p:nvSpPr>
        <p:spPr bwMode="auto">
          <a:xfrm flipH="1" flipV="1">
            <a:off x="7963382" y="3049107"/>
            <a:ext cx="919162" cy="2349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0" name="Line 392"/>
          <p:cNvSpPr>
            <a:spLocks noChangeShapeType="1"/>
          </p:cNvSpPr>
          <p:nvPr/>
        </p:nvSpPr>
        <p:spPr bwMode="auto">
          <a:xfrm flipH="1" flipV="1">
            <a:off x="7963382" y="3449157"/>
            <a:ext cx="919162" cy="2349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1" name="Line 396"/>
          <p:cNvSpPr>
            <a:spLocks noChangeShapeType="1"/>
          </p:cNvSpPr>
          <p:nvPr/>
        </p:nvSpPr>
        <p:spPr bwMode="auto">
          <a:xfrm>
            <a:off x="6706235" y="2394585"/>
            <a:ext cx="979170" cy="65278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2" name="Line 397"/>
          <p:cNvSpPr>
            <a:spLocks noChangeShapeType="1"/>
          </p:cNvSpPr>
          <p:nvPr/>
        </p:nvSpPr>
        <p:spPr bwMode="auto">
          <a:xfrm>
            <a:off x="6706235" y="2794635"/>
            <a:ext cx="946150" cy="63055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3" name="Text Box 380"/>
          <p:cNvSpPr txBox="1">
            <a:spLocks noChangeArrowheads="1"/>
          </p:cNvSpPr>
          <p:nvPr/>
        </p:nvSpPr>
        <p:spPr bwMode="auto">
          <a:xfrm>
            <a:off x="9239518" y="3299416"/>
            <a:ext cx="1580882" cy="369332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800" dirty="0" smtClean="0"/>
              <a:t>磁盘上的文件</a:t>
            </a:r>
            <a:endParaRPr lang="en-US" sz="1800" dirty="0"/>
          </a:p>
        </p:txBody>
      </p:sp>
      <p:sp>
        <p:nvSpPr>
          <p:cNvPr id="24" name="Rectangle 385"/>
          <p:cNvSpPr>
            <a:spLocks noChangeArrowheads="1"/>
          </p:cNvSpPr>
          <p:nvPr/>
        </p:nvSpPr>
        <p:spPr bwMode="auto">
          <a:xfrm>
            <a:off x="4837613" y="3818888"/>
            <a:ext cx="285750" cy="2514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5" name="Rectangle 389"/>
          <p:cNvSpPr>
            <a:spLocks noChangeArrowheads="1"/>
          </p:cNvSpPr>
          <p:nvPr/>
        </p:nvSpPr>
        <p:spPr bwMode="auto">
          <a:xfrm>
            <a:off x="4837613" y="4276088"/>
            <a:ext cx="285750" cy="40005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8" name="Text Box 400"/>
          <p:cNvSpPr txBox="1">
            <a:spLocks noChangeArrowheads="1"/>
          </p:cNvSpPr>
          <p:nvPr/>
        </p:nvSpPr>
        <p:spPr bwMode="auto">
          <a:xfrm>
            <a:off x="4430580" y="3144569"/>
            <a:ext cx="1099820" cy="64516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800" dirty="0" smtClean="0"/>
              <a:t>子进程的</a:t>
            </a:r>
            <a:endParaRPr lang="en-US" altLang="zh-CN" sz="1800" dirty="0" smtClean="0"/>
          </a:p>
          <a:p>
            <a:pPr algn="ctr"/>
            <a:r>
              <a:rPr lang="zh-CN" altLang="en-US" sz="1800" dirty="0" smtClean="0"/>
              <a:t>虚拟内存</a:t>
            </a:r>
            <a:endParaRPr lang="en-US" sz="1800" dirty="0"/>
          </a:p>
        </p:txBody>
      </p:sp>
      <p:sp>
        <p:nvSpPr>
          <p:cNvPr id="29" name="Rectangle 389"/>
          <p:cNvSpPr>
            <a:spLocks noChangeArrowheads="1"/>
          </p:cNvSpPr>
          <p:nvPr/>
        </p:nvSpPr>
        <p:spPr bwMode="auto">
          <a:xfrm>
            <a:off x="4837613" y="5137626"/>
            <a:ext cx="285750" cy="40005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" name="Title 1"/>
          <p:cNvSpPr>
            <a:spLocks noGrp="1"/>
          </p:cNvSpPr>
          <p:nvPr>
            <p:ph type="title"/>
          </p:nvPr>
        </p:nvSpPr>
        <p:spPr>
          <a:xfrm>
            <a:off x="476025" y="435678"/>
            <a:ext cx="10122791" cy="762000"/>
          </a:xfrm>
        </p:spPr>
        <p:txBody>
          <a:bodyPr/>
          <a:lstStyle/>
          <a:p>
            <a:r>
              <a:rPr lang="zh-CN" altLang="en-US" dirty="0" smtClean="0"/>
              <a:t>写时复制共享</a:t>
            </a:r>
            <a:endParaRPr lang="en-US" dirty="0"/>
          </a:p>
        </p:txBody>
      </p:sp>
      <p:sp>
        <p:nvSpPr>
          <p:cNvPr id="35" name="Content Placeholder 2"/>
          <p:cNvSpPr txBox="1"/>
          <p:nvPr/>
        </p:nvSpPr>
        <p:spPr bwMode="auto">
          <a:xfrm>
            <a:off x="640715" y="1290955"/>
            <a:ext cx="5978525" cy="15614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anose="05020102010507070707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r>
              <a:rPr lang="zh-CN" altLang="en-US" kern="0" dirty="0" smtClean="0"/>
              <a:t>巧妙的方法：</a:t>
            </a:r>
            <a:endParaRPr lang="en-US" kern="0" dirty="0"/>
          </a:p>
          <a:p>
            <a:pPr lvl="1"/>
            <a:r>
              <a:rPr lang="zh-CN" altLang="en-US" b="0" kern="0" dirty="0" smtClean="0"/>
              <a:t>只复制页表</a:t>
            </a:r>
            <a:endParaRPr lang="en-US" b="0" kern="0" dirty="0"/>
          </a:p>
          <a:p>
            <a:pPr lvl="1"/>
            <a:r>
              <a:rPr lang="zh-CN" altLang="en-US" b="0" kern="0" dirty="0" smtClean="0"/>
              <a:t>把所有内容标记为只读</a:t>
            </a:r>
            <a:endParaRPr lang="en-US" b="0" kern="0" dirty="0"/>
          </a:p>
          <a:p>
            <a:pPr lvl="1"/>
            <a:r>
              <a:rPr lang="zh-CN" altLang="en-US" b="0" kern="0" dirty="0"/>
              <a:t>仅在</a:t>
            </a:r>
            <a:r>
              <a:rPr lang="zh-CN" altLang="en-US" b="0" kern="0" dirty="0" smtClean="0"/>
              <a:t>写入时才复制</a:t>
            </a:r>
            <a:r>
              <a:rPr lang="en-US" altLang="zh-CN">
                <a:sym typeface="+mn-ea"/>
              </a:rPr>
              <a:t> (Copy On Write, CoW）</a:t>
            </a:r>
            <a:endParaRPr lang="en-US" b="0" kern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Line 396"/>
          <p:cNvSpPr>
            <a:spLocks noChangeShapeType="1"/>
          </p:cNvSpPr>
          <p:nvPr/>
        </p:nvSpPr>
        <p:spPr bwMode="auto">
          <a:xfrm flipV="1">
            <a:off x="5099050" y="2797810"/>
            <a:ext cx="2578100" cy="1733550"/>
          </a:xfrm>
          <a:prstGeom prst="line">
            <a:avLst/>
          </a:prstGeom>
          <a:noFill/>
          <a:ln w="12700">
            <a:solidFill>
              <a:srgbClr val="FFC000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7" name="Line 396"/>
          <p:cNvSpPr>
            <a:spLocks noChangeShapeType="1"/>
          </p:cNvSpPr>
          <p:nvPr/>
        </p:nvSpPr>
        <p:spPr bwMode="auto">
          <a:xfrm flipV="1">
            <a:off x="5132705" y="2914650"/>
            <a:ext cx="2540000" cy="1695450"/>
          </a:xfrm>
          <a:prstGeom prst="line">
            <a:avLst/>
          </a:prstGeom>
          <a:noFill/>
          <a:ln w="12700">
            <a:solidFill>
              <a:srgbClr val="FFC000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6" name="Line 396"/>
          <p:cNvSpPr>
            <a:spLocks noChangeShapeType="1"/>
          </p:cNvSpPr>
          <p:nvPr/>
        </p:nvSpPr>
        <p:spPr bwMode="auto">
          <a:xfrm flipV="1">
            <a:off x="5110480" y="2202180"/>
            <a:ext cx="2508250" cy="200914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7" name="Line 397"/>
          <p:cNvSpPr>
            <a:spLocks noChangeShapeType="1"/>
          </p:cNvSpPr>
          <p:nvPr/>
        </p:nvSpPr>
        <p:spPr bwMode="auto">
          <a:xfrm flipV="1">
            <a:off x="5161280" y="2498725"/>
            <a:ext cx="2532380" cy="199644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0" name="Line 396"/>
          <p:cNvSpPr>
            <a:spLocks noChangeShapeType="1"/>
          </p:cNvSpPr>
          <p:nvPr/>
        </p:nvSpPr>
        <p:spPr bwMode="auto">
          <a:xfrm flipV="1">
            <a:off x="5099050" y="3035300"/>
            <a:ext cx="2578100" cy="200977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1" name="Line 397"/>
          <p:cNvSpPr>
            <a:spLocks noChangeShapeType="1"/>
          </p:cNvSpPr>
          <p:nvPr/>
        </p:nvSpPr>
        <p:spPr bwMode="auto">
          <a:xfrm flipV="1">
            <a:off x="5160645" y="3442335"/>
            <a:ext cx="2516505" cy="19939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4" name="Rectangle 379"/>
          <p:cNvSpPr>
            <a:spLocks noChangeArrowheads="1"/>
          </p:cNvSpPr>
          <p:nvPr/>
        </p:nvSpPr>
        <p:spPr bwMode="auto">
          <a:xfrm>
            <a:off x="8890733" y="2422519"/>
            <a:ext cx="285750" cy="40005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6" name="Rectangle 382"/>
          <p:cNvSpPr>
            <a:spLocks noChangeArrowheads="1"/>
          </p:cNvSpPr>
          <p:nvPr/>
        </p:nvSpPr>
        <p:spPr bwMode="auto">
          <a:xfrm>
            <a:off x="7677632" y="2066289"/>
            <a:ext cx="285750" cy="15430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8" name="Rectangle 385"/>
          <p:cNvSpPr>
            <a:spLocks noChangeArrowheads="1"/>
          </p:cNvSpPr>
          <p:nvPr/>
        </p:nvSpPr>
        <p:spPr bwMode="auto">
          <a:xfrm>
            <a:off x="6420332" y="1151889"/>
            <a:ext cx="285750" cy="2514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9" name="Rectangle 388"/>
          <p:cNvSpPr>
            <a:spLocks noChangeArrowheads="1"/>
          </p:cNvSpPr>
          <p:nvPr/>
        </p:nvSpPr>
        <p:spPr bwMode="auto">
          <a:xfrm>
            <a:off x="7677632" y="2180589"/>
            <a:ext cx="285750" cy="40005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0" name="Rectangle 389"/>
          <p:cNvSpPr>
            <a:spLocks noChangeArrowheads="1"/>
          </p:cNvSpPr>
          <p:nvPr/>
        </p:nvSpPr>
        <p:spPr bwMode="auto">
          <a:xfrm>
            <a:off x="6420332" y="1609089"/>
            <a:ext cx="285750" cy="40005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1" name="Line 391"/>
          <p:cNvSpPr>
            <a:spLocks noChangeShapeType="1"/>
          </p:cNvSpPr>
          <p:nvPr/>
        </p:nvSpPr>
        <p:spPr bwMode="auto">
          <a:xfrm flipH="1" flipV="1">
            <a:off x="7963382" y="2187569"/>
            <a:ext cx="919162" cy="2349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2" name="Line 392"/>
          <p:cNvSpPr>
            <a:spLocks noChangeShapeType="1"/>
          </p:cNvSpPr>
          <p:nvPr/>
        </p:nvSpPr>
        <p:spPr bwMode="auto">
          <a:xfrm flipH="1" flipV="1">
            <a:off x="7963382" y="2587619"/>
            <a:ext cx="919162" cy="2349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3" name="Line 396"/>
          <p:cNvSpPr>
            <a:spLocks noChangeShapeType="1"/>
          </p:cNvSpPr>
          <p:nvPr/>
        </p:nvSpPr>
        <p:spPr bwMode="auto">
          <a:xfrm>
            <a:off x="6706235" y="1609090"/>
            <a:ext cx="987425" cy="56451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4" name="Line 397"/>
          <p:cNvSpPr>
            <a:spLocks noChangeShapeType="1"/>
          </p:cNvSpPr>
          <p:nvPr/>
        </p:nvSpPr>
        <p:spPr bwMode="auto">
          <a:xfrm>
            <a:off x="6706235" y="2009140"/>
            <a:ext cx="987425" cy="58928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6" name="Rectangle 379"/>
          <p:cNvSpPr>
            <a:spLocks noChangeArrowheads="1"/>
          </p:cNvSpPr>
          <p:nvPr/>
        </p:nvSpPr>
        <p:spPr bwMode="auto">
          <a:xfrm>
            <a:off x="8890733" y="3284057"/>
            <a:ext cx="285750" cy="40005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7" name="Rectangle 388"/>
          <p:cNvSpPr>
            <a:spLocks noChangeArrowheads="1"/>
          </p:cNvSpPr>
          <p:nvPr/>
        </p:nvSpPr>
        <p:spPr bwMode="auto">
          <a:xfrm>
            <a:off x="7677632" y="3042127"/>
            <a:ext cx="285750" cy="40005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8" name="Rectangle 389"/>
          <p:cNvSpPr>
            <a:spLocks noChangeArrowheads="1"/>
          </p:cNvSpPr>
          <p:nvPr/>
        </p:nvSpPr>
        <p:spPr bwMode="auto">
          <a:xfrm>
            <a:off x="6420332" y="2470627"/>
            <a:ext cx="285750" cy="40005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9" name="Line 391"/>
          <p:cNvSpPr>
            <a:spLocks noChangeShapeType="1"/>
          </p:cNvSpPr>
          <p:nvPr/>
        </p:nvSpPr>
        <p:spPr bwMode="auto">
          <a:xfrm flipH="1" flipV="1">
            <a:off x="7963382" y="3049107"/>
            <a:ext cx="919162" cy="2349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0" name="Line 392"/>
          <p:cNvSpPr>
            <a:spLocks noChangeShapeType="1"/>
          </p:cNvSpPr>
          <p:nvPr/>
        </p:nvSpPr>
        <p:spPr bwMode="auto">
          <a:xfrm flipH="1" flipV="1">
            <a:off x="7963382" y="3449157"/>
            <a:ext cx="919162" cy="2349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1" name="Line 396"/>
          <p:cNvSpPr>
            <a:spLocks noChangeShapeType="1"/>
          </p:cNvSpPr>
          <p:nvPr/>
        </p:nvSpPr>
        <p:spPr bwMode="auto">
          <a:xfrm>
            <a:off x="6706235" y="2470785"/>
            <a:ext cx="987425" cy="5778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2" name="Line 397"/>
          <p:cNvSpPr>
            <a:spLocks noChangeShapeType="1"/>
          </p:cNvSpPr>
          <p:nvPr/>
        </p:nvSpPr>
        <p:spPr bwMode="auto">
          <a:xfrm>
            <a:off x="6706235" y="2870835"/>
            <a:ext cx="946785" cy="5778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4" name="Rectangle 385"/>
          <p:cNvSpPr>
            <a:spLocks noChangeArrowheads="1"/>
          </p:cNvSpPr>
          <p:nvPr/>
        </p:nvSpPr>
        <p:spPr bwMode="auto">
          <a:xfrm>
            <a:off x="4837613" y="3742688"/>
            <a:ext cx="285750" cy="2514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5" name="Rectangle 389"/>
          <p:cNvSpPr>
            <a:spLocks noChangeArrowheads="1"/>
          </p:cNvSpPr>
          <p:nvPr/>
        </p:nvSpPr>
        <p:spPr bwMode="auto">
          <a:xfrm>
            <a:off x="4837613" y="4199889"/>
            <a:ext cx="285750" cy="30676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9" name="Rectangle 389"/>
          <p:cNvSpPr>
            <a:spLocks noChangeArrowheads="1"/>
          </p:cNvSpPr>
          <p:nvPr/>
        </p:nvSpPr>
        <p:spPr bwMode="auto">
          <a:xfrm>
            <a:off x="4837613" y="5061426"/>
            <a:ext cx="285750" cy="40005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2" name="Rectangle 31"/>
          <p:cNvSpPr/>
          <p:nvPr/>
        </p:nvSpPr>
        <p:spPr bwMode="auto">
          <a:xfrm>
            <a:off x="4837614" y="4506649"/>
            <a:ext cx="285749" cy="93288"/>
          </a:xfrm>
          <a:prstGeom prst="rect">
            <a:avLst/>
          </a:prstGeom>
          <a:solidFill>
            <a:srgbClr val="FFC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7681728" y="2807177"/>
            <a:ext cx="281655" cy="83810"/>
          </a:xfrm>
          <a:prstGeom prst="rect">
            <a:avLst/>
          </a:prstGeom>
          <a:solidFill>
            <a:srgbClr val="FFC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8890734" y="2828136"/>
            <a:ext cx="281655" cy="83810"/>
          </a:xfrm>
          <a:prstGeom prst="rect">
            <a:avLst/>
          </a:prstGeom>
          <a:solidFill>
            <a:srgbClr val="FFC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35" name="Callout: Bent Line 34"/>
          <p:cNvSpPr/>
          <p:nvPr/>
        </p:nvSpPr>
        <p:spPr bwMode="auto">
          <a:xfrm flipH="1">
            <a:off x="2717798" y="4199888"/>
            <a:ext cx="1066801" cy="79344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43425"/>
              <a:gd name="adj6" fmla="val -99470"/>
            </a:avLst>
          </a:prstGeom>
          <a:solidFill>
            <a:srgbClr val="FFC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zh-CN" altLang="en-US" sz="1600" dirty="0">
                <a:latin typeface="+mn-lt"/>
              </a:rPr>
              <a:t>子进</a:t>
            </a:r>
            <a:r>
              <a:rPr lang="zh-CN" altLang="en-US" sz="1600" dirty="0" smtClean="0">
                <a:latin typeface="+mn-lt"/>
              </a:rPr>
              <a:t>程</a:t>
            </a:r>
            <a:endParaRPr lang="en-US" altLang="zh-CN" sz="1600" dirty="0" smtClean="0">
              <a:latin typeface="+mn-lt"/>
            </a:endParaRPr>
          </a:p>
          <a:p>
            <a:pPr algn="ctr"/>
            <a:r>
              <a:rPr lang="zh-CN" altLang="en-US" sz="1600" dirty="0" smtClean="0">
                <a:latin typeface="+mn-lt"/>
              </a:rPr>
              <a:t>写这一页</a:t>
            </a:r>
            <a:endParaRPr lang="en-US" sz="1600" dirty="0">
              <a:latin typeface="+mn-lt"/>
            </a:endParaRPr>
          </a:p>
        </p:txBody>
      </p:sp>
      <p:sp>
        <p:nvSpPr>
          <p:cNvPr id="38" name="Line 392"/>
          <p:cNvSpPr>
            <a:spLocks noChangeShapeType="1"/>
          </p:cNvSpPr>
          <p:nvPr/>
        </p:nvSpPr>
        <p:spPr bwMode="auto">
          <a:xfrm flipH="1" flipV="1">
            <a:off x="7956708" y="2792889"/>
            <a:ext cx="934025" cy="3736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9" name="Line 392"/>
          <p:cNvSpPr>
            <a:spLocks noChangeShapeType="1"/>
          </p:cNvSpPr>
          <p:nvPr/>
        </p:nvSpPr>
        <p:spPr bwMode="auto">
          <a:xfrm flipH="1" flipV="1">
            <a:off x="7963383" y="2899365"/>
            <a:ext cx="934025" cy="2019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476025" y="435678"/>
            <a:ext cx="10122791" cy="762000"/>
          </a:xfrm>
        </p:spPr>
        <p:txBody>
          <a:bodyPr/>
          <a:lstStyle/>
          <a:p>
            <a:r>
              <a:rPr lang="zh-CN" altLang="en-US" dirty="0" smtClean="0"/>
              <a:t>写时复制共享</a:t>
            </a:r>
            <a:endParaRPr lang="en-US" dirty="0"/>
          </a:p>
        </p:txBody>
      </p:sp>
      <p:sp>
        <p:nvSpPr>
          <p:cNvPr id="44" name="Text Box 380"/>
          <p:cNvSpPr txBox="1">
            <a:spLocks noChangeArrowheads="1"/>
          </p:cNvSpPr>
          <p:nvPr/>
        </p:nvSpPr>
        <p:spPr bwMode="auto">
          <a:xfrm>
            <a:off x="9255032" y="2460917"/>
            <a:ext cx="1114408" cy="369332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800" dirty="0"/>
              <a:t>交换</a:t>
            </a:r>
            <a:r>
              <a:rPr lang="zh-CN" altLang="en-US" sz="1800" dirty="0" smtClean="0"/>
              <a:t>空间</a:t>
            </a:r>
            <a:endParaRPr lang="en-US" sz="1800" dirty="0"/>
          </a:p>
        </p:txBody>
      </p:sp>
      <p:sp>
        <p:nvSpPr>
          <p:cNvPr id="45" name="Text Box 383"/>
          <p:cNvSpPr txBox="1">
            <a:spLocks noChangeArrowheads="1"/>
          </p:cNvSpPr>
          <p:nvPr/>
        </p:nvSpPr>
        <p:spPr bwMode="auto">
          <a:xfrm>
            <a:off x="7527009" y="1391383"/>
            <a:ext cx="649537" cy="646331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800" dirty="0" smtClean="0"/>
              <a:t>物理</a:t>
            </a:r>
            <a:endParaRPr lang="en-US" altLang="zh-CN" sz="1800" dirty="0" smtClean="0"/>
          </a:p>
          <a:p>
            <a:pPr algn="ctr"/>
            <a:r>
              <a:rPr lang="zh-CN" altLang="en-US" sz="1800" dirty="0" smtClean="0"/>
              <a:t>内存</a:t>
            </a:r>
            <a:endParaRPr lang="en-US" sz="1800" dirty="0"/>
          </a:p>
        </p:txBody>
      </p:sp>
      <p:sp>
        <p:nvSpPr>
          <p:cNvPr id="46" name="Text Box 400"/>
          <p:cNvSpPr txBox="1">
            <a:spLocks noChangeArrowheads="1"/>
          </p:cNvSpPr>
          <p:nvPr/>
        </p:nvSpPr>
        <p:spPr bwMode="auto">
          <a:xfrm>
            <a:off x="6013300" y="477569"/>
            <a:ext cx="1099820" cy="64516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800" dirty="0" smtClean="0"/>
              <a:t>父进程的</a:t>
            </a:r>
            <a:endParaRPr lang="en-US" altLang="zh-CN" sz="1800" dirty="0" smtClean="0"/>
          </a:p>
          <a:p>
            <a:pPr algn="ctr"/>
            <a:r>
              <a:rPr lang="zh-CN" altLang="en-US" sz="1800" dirty="0" smtClean="0"/>
              <a:t>虚拟内存</a:t>
            </a:r>
            <a:endParaRPr lang="en-US" sz="1800" dirty="0"/>
          </a:p>
        </p:txBody>
      </p:sp>
      <p:sp>
        <p:nvSpPr>
          <p:cNvPr id="47" name="Text Box 380"/>
          <p:cNvSpPr txBox="1">
            <a:spLocks noChangeArrowheads="1"/>
          </p:cNvSpPr>
          <p:nvPr/>
        </p:nvSpPr>
        <p:spPr bwMode="auto">
          <a:xfrm>
            <a:off x="9239518" y="3299416"/>
            <a:ext cx="1580882" cy="369332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800" dirty="0" smtClean="0"/>
              <a:t>磁盘上的文件</a:t>
            </a:r>
            <a:endParaRPr lang="en-US" sz="1800" dirty="0"/>
          </a:p>
        </p:txBody>
      </p:sp>
      <p:sp>
        <p:nvSpPr>
          <p:cNvPr id="48" name="Text Box 400"/>
          <p:cNvSpPr txBox="1">
            <a:spLocks noChangeArrowheads="1"/>
          </p:cNvSpPr>
          <p:nvPr/>
        </p:nvSpPr>
        <p:spPr bwMode="auto">
          <a:xfrm>
            <a:off x="4430580" y="3068369"/>
            <a:ext cx="1099820" cy="64516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800" dirty="0" smtClean="0"/>
              <a:t>子进程的</a:t>
            </a:r>
            <a:endParaRPr lang="en-US" altLang="zh-CN" sz="1800" dirty="0" smtClean="0"/>
          </a:p>
          <a:p>
            <a:pPr algn="ctr"/>
            <a:r>
              <a:rPr lang="zh-CN" altLang="en-US" sz="1800" dirty="0" smtClean="0"/>
              <a:t>虚拟内存</a:t>
            </a:r>
            <a:endParaRPr lang="en-US" sz="1800" dirty="0"/>
          </a:p>
        </p:txBody>
      </p:sp>
      <p:sp>
        <p:nvSpPr>
          <p:cNvPr id="2" name="Content Placeholder 2"/>
          <p:cNvSpPr txBox="1"/>
          <p:nvPr/>
        </p:nvSpPr>
        <p:spPr bwMode="auto">
          <a:xfrm>
            <a:off x="640715" y="1290955"/>
            <a:ext cx="5978525" cy="15614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anose="05020102010507070707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r>
              <a:rPr lang="zh-CN" altLang="en-US" kern="0" dirty="0" smtClean="0"/>
              <a:t>巧妙的方法：</a:t>
            </a:r>
            <a:endParaRPr lang="en-US" kern="0" dirty="0"/>
          </a:p>
          <a:p>
            <a:pPr lvl="1"/>
            <a:r>
              <a:rPr lang="zh-CN" altLang="en-US" b="0" kern="0" dirty="0" smtClean="0"/>
              <a:t>只复制页表</a:t>
            </a:r>
            <a:endParaRPr lang="en-US" b="0" kern="0" dirty="0"/>
          </a:p>
          <a:p>
            <a:pPr lvl="1"/>
            <a:r>
              <a:rPr lang="zh-CN" altLang="en-US" b="0" kern="0" dirty="0" smtClean="0"/>
              <a:t>把所有内容标记为只读</a:t>
            </a:r>
            <a:endParaRPr lang="en-US" b="0" kern="0" dirty="0"/>
          </a:p>
          <a:p>
            <a:pPr lvl="1"/>
            <a:r>
              <a:rPr lang="zh-CN" altLang="en-US" b="0" kern="0" dirty="0"/>
              <a:t>仅在</a:t>
            </a:r>
            <a:r>
              <a:rPr lang="zh-CN" altLang="en-US" b="0" kern="0" dirty="0" smtClean="0"/>
              <a:t>写入时才复制</a:t>
            </a:r>
            <a:r>
              <a:rPr lang="en-US" altLang="zh-CN">
                <a:sym typeface="+mn-ea"/>
              </a:rPr>
              <a:t> (Copy On Write, CoW）</a:t>
            </a:r>
            <a:endParaRPr lang="en-US" b="0" kern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写时复制共享</a:t>
            </a:r>
            <a:r>
              <a:rPr lang="en-US" altLang="zh-CN"/>
              <a:t>——</a:t>
            </a:r>
            <a:r>
              <a:rPr lang="zh-CN" altLang="en-US"/>
              <a:t>重新理解</a:t>
            </a:r>
            <a:r>
              <a:rPr lang="en-US" altLang="zh-CN"/>
              <a:t>fork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955" y="1362075"/>
            <a:ext cx="6419850" cy="4972050"/>
          </a:xfrm>
        </p:spPr>
        <p:txBody>
          <a:bodyPr/>
          <a:lstStyle/>
          <a:p>
            <a:r>
              <a:rPr lang="en-US"/>
              <a:t>fork </a:t>
            </a:r>
            <a:r>
              <a:rPr lang="zh-CN" altLang="en-US"/>
              <a:t>通过复制父进程的整个地址空间</a:t>
            </a:r>
            <a:endParaRPr lang="en-US"/>
          </a:p>
          <a:p>
            <a:pPr lvl="1"/>
            <a:r>
              <a:rPr lang="zh-CN" altLang="en-US"/>
              <a:t>看起来很慢</a:t>
            </a:r>
            <a:endParaRPr lang="en-US"/>
          </a:p>
          <a:p>
            <a:pPr lvl="0"/>
            <a:r>
              <a:rPr lang="zh-CN" altLang="en-US"/>
              <a:t>巧妙的方法</a:t>
            </a:r>
            <a:endParaRPr lang="en-US"/>
          </a:p>
          <a:p>
            <a:pPr lvl="1"/>
            <a:r>
              <a:rPr lang="zh-CN" altLang="en-GB" dirty="0" err="1" smtClean="0">
                <a:latin typeface="Courier New" panose="02070609020205020404"/>
                <a:cs typeface="Courier New" panose="02070609020205020404"/>
                <a:sym typeface="+mn-ea"/>
              </a:rPr>
              <a:t>只复制</a:t>
            </a:r>
            <a:r>
              <a:rPr lang="en-GB" dirty="0" err="1" smtClean="0">
                <a:latin typeface="Courier New" panose="02070609020205020404"/>
                <a:cs typeface="Courier New" panose="02070609020205020404"/>
                <a:sym typeface="+mn-ea"/>
              </a:rPr>
              <a:t>mm_struct</a:t>
            </a:r>
            <a:r>
              <a:rPr lang="en-GB" dirty="0" smtClean="0">
                <a:sym typeface="+mn-ea"/>
              </a:rPr>
              <a:t>, </a:t>
            </a:r>
            <a:r>
              <a:rPr lang="en-GB" dirty="0" err="1" smtClean="0">
                <a:latin typeface="Courier New" panose="02070609020205020404"/>
                <a:cs typeface="Courier New" panose="02070609020205020404"/>
                <a:sym typeface="+mn-ea"/>
              </a:rPr>
              <a:t>vm_area_struct</a:t>
            </a:r>
            <a:r>
              <a:rPr lang="zh-CN" altLang="en-GB" dirty="0" err="1" smtClean="0">
                <a:latin typeface="Courier New" panose="02070609020205020404"/>
                <a:cs typeface="Courier New" panose="02070609020205020404"/>
                <a:sym typeface="+mn-ea"/>
              </a:rPr>
              <a:t>和页</a:t>
            </a:r>
            <a:r>
              <a:rPr lang="zh-CN" altLang="en-US"/>
              <a:t>表</a:t>
            </a:r>
            <a:endParaRPr lang="en-US"/>
          </a:p>
          <a:p>
            <a:pPr lvl="1"/>
            <a:r>
              <a:rPr lang="zh-CN" altLang="en-US"/>
              <a:t>把所有内容标记为只读</a:t>
            </a:r>
            <a:r>
              <a:rPr lang="en-US" altLang="zh-CN"/>
              <a:t>，</a:t>
            </a:r>
            <a:r>
              <a:rPr lang="zh-CN" altLang="en-US"/>
              <a:t>且仅在写入时才复制</a:t>
            </a:r>
            <a:r>
              <a:rPr lang="en-US" altLang="zh-CN"/>
              <a:t> (Copy On Write, CoW）</a:t>
            </a:r>
            <a:endParaRPr lang="zh-CN" altLang="en-US"/>
          </a:p>
          <a:p>
            <a:pPr lvl="2"/>
            <a:r>
              <a:rPr lang="zh-CN" altLang="en-US"/>
              <a:t>当任一进程尝试写入某个被标记为只读的内存页时，</a:t>
            </a:r>
            <a:r>
              <a:rPr lang="en-US" altLang="en-US"/>
              <a:t>CPU </a:t>
            </a:r>
            <a:r>
              <a:rPr lang="zh-CN" altLang="en-US"/>
              <a:t>会触发缺页异常。</a:t>
            </a:r>
            <a:r>
              <a:rPr lang="en-US" altLang="zh-CN"/>
              <a:t>OS</a:t>
            </a:r>
            <a:r>
              <a:rPr lang="zh-CN" altLang="en-US"/>
              <a:t>的异常处理程序会识别出这是由</a:t>
            </a:r>
            <a:r>
              <a:rPr lang="en-US" altLang="zh-CN"/>
              <a:t>CoW</a:t>
            </a:r>
            <a:r>
              <a:rPr lang="zh-CN" altLang="en-US"/>
              <a:t>引发的</a:t>
            </a:r>
            <a:endParaRPr lang="zh-CN" altLang="en-US"/>
          </a:p>
          <a:p>
            <a:pPr lvl="2"/>
            <a:r>
              <a:rPr lang="zh-CN" altLang="en-US"/>
              <a:t>分配一个新的物理内存页</a:t>
            </a:r>
            <a:r>
              <a:rPr lang="en-US" altLang="zh-CN"/>
              <a:t>，</a:t>
            </a:r>
            <a:r>
              <a:rPr lang="zh-CN" altLang="en-US"/>
              <a:t>并</a:t>
            </a:r>
            <a:r>
              <a:rPr lang="zh-CN" altLang="en-US"/>
              <a:t>复制内容到新页</a:t>
            </a:r>
            <a:endParaRPr lang="en-US" altLang="en-US"/>
          </a:p>
          <a:p>
            <a:pPr lvl="2"/>
            <a:r>
              <a:rPr lang="zh-CN" altLang="en-US"/>
              <a:t>更新触发</a:t>
            </a:r>
            <a:r>
              <a:rPr lang="zh-CN" altLang="en-US" b="1">
                <a:latin typeface="Arial Bold" panose="020B0704020202020204" charset="0"/>
              </a:rPr>
              <a:t>新进程</a:t>
            </a:r>
            <a:r>
              <a:rPr lang="zh-CN" altLang="en-US"/>
              <a:t>的页表，使其指向这个新页，并恢复该页的读写权限。</a:t>
            </a:r>
            <a:endParaRPr lang="en-US" altLang="en-US"/>
          </a:p>
          <a:p>
            <a:pPr lvl="2"/>
            <a:r>
              <a:rPr lang="zh-CN" altLang="en-US" b="1">
                <a:latin typeface="Arial Bold" panose="020B0704020202020204" charset="0"/>
              </a:rPr>
              <a:t>旧进程</a:t>
            </a:r>
            <a:r>
              <a:rPr lang="zh-CN" altLang="en-US"/>
              <a:t>的页表仍然指向原物理页（且通常仍保持只读状态，直到它自己写入时再复制）。</a:t>
            </a:r>
            <a:endParaRPr lang="zh-CN" altLang="en-US"/>
          </a:p>
          <a:p>
            <a:pPr lvl="0"/>
            <a:endParaRPr lang="zh-CN" altLang="en-US"/>
          </a:p>
        </p:txBody>
      </p:sp>
      <p:sp>
        <p:nvSpPr>
          <p:cNvPr id="4" name="Rectangle 379"/>
          <p:cNvSpPr>
            <a:spLocks noChangeArrowheads="1"/>
          </p:cNvSpPr>
          <p:nvPr/>
        </p:nvSpPr>
        <p:spPr bwMode="auto">
          <a:xfrm>
            <a:off x="9652733" y="2422519"/>
            <a:ext cx="285750" cy="40005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5" name="Text Box 380"/>
          <p:cNvSpPr txBox="1">
            <a:spLocks noChangeArrowheads="1"/>
          </p:cNvSpPr>
          <p:nvPr/>
        </p:nvSpPr>
        <p:spPr bwMode="auto">
          <a:xfrm>
            <a:off x="10017031" y="2460917"/>
            <a:ext cx="1114409" cy="369332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800" dirty="0" smtClean="0"/>
              <a:t>交换空间</a:t>
            </a:r>
            <a:endParaRPr lang="en-US" sz="1800" dirty="0"/>
          </a:p>
        </p:txBody>
      </p:sp>
      <p:sp>
        <p:nvSpPr>
          <p:cNvPr id="6" name="Rectangle 382"/>
          <p:cNvSpPr>
            <a:spLocks noChangeArrowheads="1"/>
          </p:cNvSpPr>
          <p:nvPr/>
        </p:nvSpPr>
        <p:spPr bwMode="auto">
          <a:xfrm>
            <a:off x="8439632" y="2066289"/>
            <a:ext cx="285750" cy="15430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7" name="Text Box 383"/>
          <p:cNvSpPr txBox="1">
            <a:spLocks noChangeArrowheads="1"/>
          </p:cNvSpPr>
          <p:nvPr/>
        </p:nvSpPr>
        <p:spPr bwMode="auto">
          <a:xfrm>
            <a:off x="8289009" y="1391383"/>
            <a:ext cx="649537" cy="646331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800" dirty="0" smtClean="0"/>
              <a:t>物理</a:t>
            </a:r>
            <a:endParaRPr lang="en-US" altLang="zh-CN" sz="1800" dirty="0" smtClean="0"/>
          </a:p>
          <a:p>
            <a:pPr algn="ctr"/>
            <a:r>
              <a:rPr lang="zh-CN" altLang="en-US" sz="1800" dirty="0" smtClean="0"/>
              <a:t>内存</a:t>
            </a:r>
            <a:endParaRPr lang="en-US" sz="1800" dirty="0"/>
          </a:p>
        </p:txBody>
      </p:sp>
      <p:sp>
        <p:nvSpPr>
          <p:cNvPr id="8" name="Rectangle 385"/>
          <p:cNvSpPr>
            <a:spLocks noChangeArrowheads="1"/>
          </p:cNvSpPr>
          <p:nvPr/>
        </p:nvSpPr>
        <p:spPr bwMode="auto">
          <a:xfrm>
            <a:off x="7182332" y="2066289"/>
            <a:ext cx="285750" cy="2514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9" name="Rectangle 388"/>
          <p:cNvSpPr>
            <a:spLocks noChangeArrowheads="1"/>
          </p:cNvSpPr>
          <p:nvPr/>
        </p:nvSpPr>
        <p:spPr bwMode="auto">
          <a:xfrm>
            <a:off x="8439632" y="2180589"/>
            <a:ext cx="285750" cy="40005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0" name="Rectangle 389"/>
          <p:cNvSpPr>
            <a:spLocks noChangeArrowheads="1"/>
          </p:cNvSpPr>
          <p:nvPr/>
        </p:nvSpPr>
        <p:spPr bwMode="auto">
          <a:xfrm>
            <a:off x="7182332" y="2523489"/>
            <a:ext cx="285750" cy="40005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1" name="Line 391"/>
          <p:cNvSpPr>
            <a:spLocks noChangeShapeType="1"/>
          </p:cNvSpPr>
          <p:nvPr/>
        </p:nvSpPr>
        <p:spPr bwMode="auto">
          <a:xfrm flipH="1" flipV="1">
            <a:off x="8725382" y="2187569"/>
            <a:ext cx="919162" cy="2349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2" name="Line 392"/>
          <p:cNvSpPr>
            <a:spLocks noChangeShapeType="1"/>
          </p:cNvSpPr>
          <p:nvPr/>
        </p:nvSpPr>
        <p:spPr bwMode="auto">
          <a:xfrm flipH="1" flipV="1">
            <a:off x="8725382" y="2587619"/>
            <a:ext cx="919162" cy="2349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3" name="Line 396"/>
          <p:cNvSpPr>
            <a:spLocks noChangeShapeType="1"/>
          </p:cNvSpPr>
          <p:nvPr/>
        </p:nvSpPr>
        <p:spPr bwMode="auto">
          <a:xfrm flipV="1">
            <a:off x="7468082" y="2180589"/>
            <a:ext cx="971550" cy="3429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4" name="Line 397"/>
          <p:cNvSpPr>
            <a:spLocks noChangeShapeType="1"/>
          </p:cNvSpPr>
          <p:nvPr/>
        </p:nvSpPr>
        <p:spPr bwMode="auto">
          <a:xfrm flipV="1">
            <a:off x="7468082" y="2580639"/>
            <a:ext cx="971550" cy="3429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5" name="Text Box 400"/>
          <p:cNvSpPr txBox="1">
            <a:spLocks noChangeArrowheads="1"/>
          </p:cNvSpPr>
          <p:nvPr/>
        </p:nvSpPr>
        <p:spPr bwMode="auto">
          <a:xfrm>
            <a:off x="6775299" y="1391969"/>
            <a:ext cx="1099820" cy="64516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800" dirty="0" smtClean="0"/>
              <a:t>父进程的</a:t>
            </a:r>
            <a:endParaRPr lang="en-US" altLang="zh-CN" sz="1800" dirty="0" smtClean="0"/>
          </a:p>
          <a:p>
            <a:pPr algn="ctr"/>
            <a:r>
              <a:rPr lang="zh-CN" altLang="en-US" sz="1800" dirty="0" smtClean="0"/>
              <a:t>虚拟内存</a:t>
            </a:r>
            <a:endParaRPr lang="en-US" sz="1800" dirty="0"/>
          </a:p>
        </p:txBody>
      </p:sp>
      <p:sp>
        <p:nvSpPr>
          <p:cNvPr id="16" name="Rectangle 379"/>
          <p:cNvSpPr>
            <a:spLocks noChangeArrowheads="1"/>
          </p:cNvSpPr>
          <p:nvPr/>
        </p:nvSpPr>
        <p:spPr bwMode="auto">
          <a:xfrm>
            <a:off x="9652733" y="3284057"/>
            <a:ext cx="285750" cy="40005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7" name="Rectangle 388"/>
          <p:cNvSpPr>
            <a:spLocks noChangeArrowheads="1"/>
          </p:cNvSpPr>
          <p:nvPr/>
        </p:nvSpPr>
        <p:spPr bwMode="auto">
          <a:xfrm>
            <a:off x="8439632" y="3042127"/>
            <a:ext cx="285750" cy="40005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8" name="Rectangle 389"/>
          <p:cNvSpPr>
            <a:spLocks noChangeArrowheads="1"/>
          </p:cNvSpPr>
          <p:nvPr/>
        </p:nvSpPr>
        <p:spPr bwMode="auto">
          <a:xfrm>
            <a:off x="7182332" y="3385027"/>
            <a:ext cx="285750" cy="40005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9" name="Line 391"/>
          <p:cNvSpPr>
            <a:spLocks noChangeShapeType="1"/>
          </p:cNvSpPr>
          <p:nvPr/>
        </p:nvSpPr>
        <p:spPr bwMode="auto">
          <a:xfrm flipH="1" flipV="1">
            <a:off x="8725382" y="3049107"/>
            <a:ext cx="919162" cy="2349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0" name="Line 392"/>
          <p:cNvSpPr>
            <a:spLocks noChangeShapeType="1"/>
          </p:cNvSpPr>
          <p:nvPr/>
        </p:nvSpPr>
        <p:spPr bwMode="auto">
          <a:xfrm flipH="1" flipV="1">
            <a:off x="8725382" y="3449157"/>
            <a:ext cx="919162" cy="2349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1" name="Line 396"/>
          <p:cNvSpPr>
            <a:spLocks noChangeShapeType="1"/>
          </p:cNvSpPr>
          <p:nvPr/>
        </p:nvSpPr>
        <p:spPr bwMode="auto">
          <a:xfrm flipV="1">
            <a:off x="7468082" y="3042127"/>
            <a:ext cx="971550" cy="3429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2" name="Line 397"/>
          <p:cNvSpPr>
            <a:spLocks noChangeShapeType="1"/>
          </p:cNvSpPr>
          <p:nvPr/>
        </p:nvSpPr>
        <p:spPr bwMode="auto">
          <a:xfrm flipV="1">
            <a:off x="7468082" y="3442177"/>
            <a:ext cx="971550" cy="3429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3" name="Text Box 380"/>
          <p:cNvSpPr txBox="1">
            <a:spLocks noChangeArrowheads="1"/>
          </p:cNvSpPr>
          <p:nvPr/>
        </p:nvSpPr>
        <p:spPr bwMode="auto">
          <a:xfrm>
            <a:off x="10003122" y="3299416"/>
            <a:ext cx="1579278" cy="369332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800" dirty="0" smtClean="0"/>
              <a:t>磁盘上的文件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400" y="1447800"/>
            <a:ext cx="6096000" cy="4972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重新理解</a:t>
            </a:r>
            <a:r>
              <a:rPr lang="en-US" altLang="zh-CN"/>
              <a:t>execv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955" y="1362075"/>
            <a:ext cx="5985510" cy="4972050"/>
          </a:xfrm>
        </p:spPr>
        <p:txBody>
          <a:bodyPr/>
          <a:p>
            <a:r>
              <a:rPr lang="zh-CN" altLang="en-US"/>
              <a:t>过程</a:t>
            </a:r>
            <a:endParaRPr lang="zh-CN" altLang="en-US"/>
          </a:p>
          <a:p>
            <a:pPr lvl="1"/>
            <a:r>
              <a:rPr lang="zh-CN" altLang="en-US"/>
              <a:t>删除旧的用户虚拟地址数据</a:t>
            </a:r>
            <a:r>
              <a:rPr lang="en-GB" dirty="0" err="1" smtClean="0">
                <a:latin typeface="Courier New" panose="02070609020205020404"/>
                <a:cs typeface="Courier New" panose="02070609020205020404"/>
                <a:sym typeface="+mn-ea"/>
              </a:rPr>
              <a:t>vm_area_struct</a:t>
            </a:r>
            <a:r>
              <a:rPr lang="zh-CN" altLang="en-GB" dirty="0" err="1" smtClean="0">
                <a:latin typeface="Courier New" panose="02070609020205020404"/>
                <a:cs typeface="Courier New" panose="02070609020205020404"/>
                <a:sym typeface="+mn-ea"/>
              </a:rPr>
              <a:t>和页表</a:t>
            </a:r>
            <a:endParaRPr lang="en-US" altLang="zh-CN"/>
          </a:p>
          <a:p>
            <a:pPr lvl="1"/>
            <a:r>
              <a:rPr lang="zh-CN" altLang="en-US"/>
              <a:t>建立新的私有</a:t>
            </a:r>
            <a:r>
              <a:rPr lang="en-GB" dirty="0" err="1" smtClean="0">
                <a:latin typeface="Courier New" panose="02070609020205020404"/>
                <a:cs typeface="Courier New" panose="02070609020205020404"/>
                <a:sym typeface="+mn-ea"/>
              </a:rPr>
              <a:t>vm_area_struct</a:t>
            </a:r>
            <a:r>
              <a:rPr lang="zh-CN" altLang="en-GB" dirty="0" err="1" smtClean="0">
                <a:latin typeface="Courier New" panose="02070609020205020404"/>
                <a:cs typeface="Courier New" panose="02070609020205020404"/>
                <a:sym typeface="+mn-ea"/>
              </a:rPr>
              <a:t>和页表</a:t>
            </a:r>
            <a:endParaRPr lang="en-US" altLang="zh-CN"/>
          </a:p>
          <a:p>
            <a:pPr lvl="2"/>
            <a:r>
              <a:rPr lang="zh-CN" altLang="en-US"/>
              <a:t>文件页</a:t>
            </a:r>
            <a:r>
              <a:rPr lang="en-US" altLang="zh-CN"/>
              <a:t>: .data, .text</a:t>
            </a:r>
            <a:endParaRPr lang="en-US" altLang="zh-CN"/>
          </a:p>
          <a:p>
            <a:pPr lvl="2"/>
            <a:r>
              <a:rPr lang="zh-CN" altLang="en-US"/>
              <a:t>匿名页</a:t>
            </a:r>
            <a:r>
              <a:rPr lang="en-US" altLang="zh-CN"/>
              <a:t>：.bss, stack, hea</a:t>
            </a:r>
            <a:r>
              <a:rPr lang="en-US" altLang="zh-CN"/>
              <a:t>p</a:t>
            </a:r>
            <a:endParaRPr lang="en-US" altLang="zh-CN"/>
          </a:p>
          <a:p>
            <a:pPr lvl="1"/>
            <a:r>
              <a:rPr lang="zh-CN" altLang="en-US"/>
              <a:t>建立共享</a:t>
            </a:r>
            <a:r>
              <a:rPr lang="en-US" altLang="zh-CN"/>
              <a:t>vma</a:t>
            </a:r>
            <a:endParaRPr lang="en-US" altLang="zh-CN"/>
          </a:p>
          <a:p>
            <a:pPr lvl="2"/>
            <a:r>
              <a:rPr lang="zh-CN" altLang="en-US"/>
              <a:t>如果</a:t>
            </a:r>
            <a:r>
              <a:rPr lang="en-US" altLang="zh-CN"/>
              <a:t>a.out</a:t>
            </a:r>
            <a:r>
              <a:rPr lang="zh-CN" altLang="en-US"/>
              <a:t>需要链接共享库</a:t>
            </a:r>
            <a:endParaRPr lang="zh-CN" altLang="en-US"/>
          </a:p>
          <a:p>
            <a:pPr lvl="2"/>
            <a:r>
              <a:rPr lang="en-US" altLang="zh-CN"/>
              <a:t>比如libc.so</a:t>
            </a:r>
            <a:endParaRPr lang="en-US" altLang="zh-CN"/>
          </a:p>
          <a:p>
            <a:pPr lvl="1"/>
            <a:r>
              <a:rPr lang="zh-CN" altLang="en-US"/>
              <a:t>修改</a:t>
            </a:r>
            <a:r>
              <a:rPr lang="en-US" altLang="zh-CN"/>
              <a:t>PC</a:t>
            </a:r>
            <a:r>
              <a:rPr lang="zh-CN" altLang="en-US"/>
              <a:t>寄存器</a:t>
            </a:r>
            <a:endParaRPr lang="zh-CN" altLang="en-US"/>
          </a:p>
          <a:p>
            <a:pPr lvl="2"/>
            <a:r>
              <a:rPr lang="zh-CN" altLang="en-US"/>
              <a:t>指向</a:t>
            </a:r>
            <a:r>
              <a:rPr lang="en-US" altLang="zh-CN"/>
              <a:t>code</a:t>
            </a:r>
            <a:r>
              <a:rPr lang="zh-CN" altLang="en-US"/>
              <a:t>段的入口点</a:t>
            </a:r>
            <a:br>
              <a:rPr lang="zh-CN" altLang="en-US"/>
            </a:br>
            <a:endParaRPr lang="en-US" altLang="zh-CN"/>
          </a:p>
          <a:p>
            <a:pPr lvl="1"/>
            <a:endParaRPr lang="en-US" altLang="zh-CN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977497" y="434447"/>
            <a:ext cx="7259637" cy="573087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User-Level Memory Mapping</a:t>
            </a:r>
            <a:endParaRPr lang="en-GB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79613" y="1220788"/>
            <a:ext cx="8459787" cy="5637212"/>
          </a:xfrm>
        </p:spPr>
        <p:txBody>
          <a:bodyPr/>
          <a:lstStyle/>
          <a:p>
            <a:pPr>
              <a:lnSpc>
                <a:spcPct val="94000"/>
              </a:lnSpc>
              <a:spcBef>
                <a:spcPct val="0"/>
              </a:spcBef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en-GB" sz="1800" dirty="0">
                <a:effectLst/>
                <a:latin typeface="Courier New" panose="02070609020205020404" pitchFamily="49" charset="0"/>
              </a:rPr>
              <a:t>void *</a:t>
            </a:r>
            <a:r>
              <a:rPr lang="en-GB" sz="1800" dirty="0" err="1">
                <a:effectLst/>
                <a:latin typeface="Courier New" panose="02070609020205020404" pitchFamily="49" charset="0"/>
              </a:rPr>
              <a:t>mmap</a:t>
            </a:r>
            <a:r>
              <a:rPr lang="en-GB" sz="1800" dirty="0">
                <a:effectLst/>
                <a:latin typeface="Courier New" panose="02070609020205020404" pitchFamily="49" charset="0"/>
              </a:rPr>
              <a:t>(void *start, </a:t>
            </a:r>
            <a:r>
              <a:rPr lang="en-GB" sz="1800" dirty="0" err="1">
                <a:effectLst/>
                <a:latin typeface="Courier New" panose="02070609020205020404" pitchFamily="49" charset="0"/>
              </a:rPr>
              <a:t>int</a:t>
            </a:r>
            <a:r>
              <a:rPr lang="en-GB" sz="1800" dirty="0">
                <a:effectLst/>
                <a:latin typeface="Courier New" panose="02070609020205020404" pitchFamily="49" charset="0"/>
              </a:rPr>
              <a:t> </a:t>
            </a:r>
            <a:r>
              <a:rPr lang="en-GB" sz="1800" dirty="0" err="1">
                <a:effectLst/>
                <a:latin typeface="Courier New" panose="02070609020205020404" pitchFamily="49" charset="0"/>
              </a:rPr>
              <a:t>len</a:t>
            </a:r>
            <a:r>
              <a:rPr lang="en-GB" sz="1800" dirty="0">
                <a:effectLst/>
                <a:latin typeface="Courier New" panose="02070609020205020404" pitchFamily="49" charset="0"/>
              </a:rPr>
              <a:t>,</a:t>
            </a:r>
            <a:endParaRPr lang="en-GB" sz="1800" dirty="0">
              <a:effectLst/>
              <a:latin typeface="Courier New" panose="02070609020205020404" pitchFamily="49" charset="0"/>
            </a:endParaRPr>
          </a:p>
          <a:p>
            <a:pPr>
              <a:lnSpc>
                <a:spcPct val="94000"/>
              </a:lnSpc>
              <a:spcBef>
                <a:spcPct val="0"/>
              </a:spcBef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en-GB" sz="1800" dirty="0">
                <a:effectLst/>
                <a:latin typeface="Courier New" panose="02070609020205020404" pitchFamily="49" charset="0"/>
              </a:rPr>
              <a:t>           </a:t>
            </a:r>
            <a:r>
              <a:rPr lang="en-GB" sz="1800" dirty="0" err="1">
                <a:effectLst/>
                <a:latin typeface="Courier New" panose="02070609020205020404" pitchFamily="49" charset="0"/>
              </a:rPr>
              <a:t>int</a:t>
            </a:r>
            <a:r>
              <a:rPr lang="en-GB" sz="1800" dirty="0">
                <a:effectLst/>
                <a:latin typeface="Courier New" panose="02070609020205020404" pitchFamily="49" charset="0"/>
              </a:rPr>
              <a:t> </a:t>
            </a:r>
            <a:r>
              <a:rPr lang="en-GB" sz="1800" dirty="0" err="1">
                <a:effectLst/>
                <a:latin typeface="Courier New" panose="02070609020205020404" pitchFamily="49" charset="0"/>
              </a:rPr>
              <a:t>prot</a:t>
            </a:r>
            <a:r>
              <a:rPr lang="en-GB" sz="1800" dirty="0">
                <a:effectLst/>
                <a:latin typeface="Courier New" panose="02070609020205020404" pitchFamily="49" charset="0"/>
              </a:rPr>
              <a:t>, </a:t>
            </a:r>
            <a:r>
              <a:rPr lang="en-GB" sz="1800" dirty="0" err="1">
                <a:effectLst/>
                <a:latin typeface="Courier New" panose="02070609020205020404" pitchFamily="49" charset="0"/>
              </a:rPr>
              <a:t>int</a:t>
            </a:r>
            <a:r>
              <a:rPr lang="en-GB" sz="1800" dirty="0">
                <a:effectLst/>
                <a:latin typeface="Courier New" panose="02070609020205020404" pitchFamily="49" charset="0"/>
              </a:rPr>
              <a:t> flags, </a:t>
            </a:r>
            <a:r>
              <a:rPr lang="en-GB" sz="1800" dirty="0" err="1">
                <a:effectLst/>
                <a:latin typeface="Courier New" panose="02070609020205020404" pitchFamily="49" charset="0"/>
              </a:rPr>
              <a:t>int</a:t>
            </a:r>
            <a:r>
              <a:rPr lang="en-GB" sz="1800" dirty="0">
                <a:effectLst/>
                <a:latin typeface="Courier New" panose="02070609020205020404" pitchFamily="49" charset="0"/>
              </a:rPr>
              <a:t> </a:t>
            </a:r>
            <a:r>
              <a:rPr lang="en-GB" sz="1800" dirty="0" err="1">
                <a:effectLst/>
                <a:latin typeface="Courier New" panose="02070609020205020404" pitchFamily="49" charset="0"/>
              </a:rPr>
              <a:t>fd</a:t>
            </a:r>
            <a:r>
              <a:rPr lang="en-GB" sz="1800" dirty="0">
                <a:effectLst/>
                <a:latin typeface="Courier New" panose="02070609020205020404" pitchFamily="49" charset="0"/>
              </a:rPr>
              <a:t>, </a:t>
            </a:r>
            <a:r>
              <a:rPr lang="en-GB" sz="1800" dirty="0" err="1">
                <a:effectLst/>
                <a:latin typeface="Courier New" panose="02070609020205020404" pitchFamily="49" charset="0"/>
              </a:rPr>
              <a:t>int</a:t>
            </a:r>
            <a:r>
              <a:rPr lang="en-GB" sz="1800" dirty="0">
                <a:effectLst/>
                <a:latin typeface="Courier New" panose="02070609020205020404" pitchFamily="49" charset="0"/>
              </a:rPr>
              <a:t> offset</a:t>
            </a:r>
            <a:r>
              <a:rPr lang="en-GB" sz="2000" dirty="0">
                <a:effectLst/>
              </a:rPr>
              <a:t>)</a:t>
            </a:r>
            <a:endParaRPr lang="en-GB" sz="2000" dirty="0">
              <a:effectLst/>
            </a:endParaRPr>
          </a:p>
          <a:p>
            <a:pPr lvl="1">
              <a:buFont typeface="Wingdings" panose="05000000000000000000" pitchFamily="2" charset="2"/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dirty="0"/>
          </a:p>
          <a:p>
            <a:pPr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en-GB" dirty="0"/>
              <a:t>Map </a:t>
            </a:r>
            <a:r>
              <a:rPr lang="en-GB" b="1" dirty="0" err="1">
                <a:latin typeface="Courier New" panose="02070609020205020404" pitchFamily="49" charset="0"/>
              </a:rPr>
              <a:t>len</a:t>
            </a:r>
            <a:r>
              <a:rPr lang="en-GB" dirty="0"/>
              <a:t> bytes starting at offset </a:t>
            </a:r>
            <a:r>
              <a:rPr lang="en-GB" b="1" dirty="0" err="1">
                <a:latin typeface="Courier New" panose="02070609020205020404" pitchFamily="49" charset="0"/>
              </a:rPr>
              <a:t>offset</a:t>
            </a:r>
            <a:r>
              <a:rPr lang="en-GB" dirty="0">
                <a:latin typeface="Courier New" panose="02070609020205020404" pitchFamily="49" charset="0"/>
              </a:rPr>
              <a:t> </a:t>
            </a:r>
            <a:r>
              <a:rPr lang="en-GB" dirty="0"/>
              <a:t>of the file specified by file description </a:t>
            </a:r>
            <a:r>
              <a:rPr lang="en-GB" b="1" dirty="0" err="1">
                <a:latin typeface="Courier New" panose="02070609020205020404" pitchFamily="49" charset="0"/>
              </a:rPr>
              <a:t>fd</a:t>
            </a:r>
            <a:r>
              <a:rPr lang="en-GB" dirty="0"/>
              <a:t>, preferably at address </a:t>
            </a:r>
            <a:r>
              <a:rPr lang="en-GB" b="1" dirty="0">
                <a:latin typeface="Courier New" panose="02070609020205020404" pitchFamily="49" charset="0"/>
              </a:rPr>
              <a:t>start</a:t>
            </a:r>
            <a:r>
              <a:rPr lang="en-GB" dirty="0"/>
              <a:t> </a:t>
            </a:r>
            <a:endParaRPr lang="en-GB" dirty="0"/>
          </a:p>
          <a:p>
            <a:pPr lvl="1">
              <a:lnSpc>
                <a:spcPct val="101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en-GB" b="1" dirty="0">
                <a:latin typeface="Courier New" panose="02070609020205020404" pitchFamily="49" charset="0"/>
              </a:rPr>
              <a:t>start</a:t>
            </a:r>
            <a:r>
              <a:rPr lang="en-GB" dirty="0">
                <a:latin typeface="Courier New" panose="02070609020205020404" pitchFamily="49" charset="0"/>
              </a:rPr>
              <a:t>:</a:t>
            </a:r>
            <a:r>
              <a:rPr lang="en-GB" dirty="0"/>
              <a:t> may be 0 for “pick an address”</a:t>
            </a:r>
            <a:endParaRPr lang="en-GB" dirty="0"/>
          </a:p>
          <a:p>
            <a:pPr lvl="1">
              <a:lnSpc>
                <a:spcPct val="101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en-GB" b="1" dirty="0" err="1">
                <a:latin typeface="Courier New" panose="02070609020205020404" pitchFamily="49" charset="0"/>
              </a:rPr>
              <a:t>prot</a:t>
            </a:r>
            <a:r>
              <a:rPr lang="en-GB" dirty="0"/>
              <a:t>: </a:t>
            </a:r>
            <a:r>
              <a:rPr lang="en-GB" dirty="0" smtClean="0"/>
              <a:t>PROT_READ</a:t>
            </a:r>
            <a:r>
              <a:rPr lang="en-GB" dirty="0"/>
              <a:t>, </a:t>
            </a:r>
            <a:r>
              <a:rPr lang="en-GB" dirty="0" smtClean="0"/>
              <a:t>PROT_WRITE, ...</a:t>
            </a:r>
            <a:endParaRPr lang="en-GB" dirty="0"/>
          </a:p>
          <a:p>
            <a:pPr lvl="1">
              <a:lnSpc>
                <a:spcPct val="101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en-GB" b="1" dirty="0">
                <a:latin typeface="Courier New" panose="02070609020205020404" pitchFamily="49" charset="0"/>
              </a:rPr>
              <a:t>flags</a:t>
            </a:r>
            <a:r>
              <a:rPr lang="en-GB" dirty="0"/>
              <a:t>:</a:t>
            </a:r>
            <a:r>
              <a:rPr lang="en-GB" dirty="0" smtClean="0"/>
              <a:t> MAP_ANON, MAP_PRIVATE</a:t>
            </a:r>
            <a:r>
              <a:rPr lang="en-GB" dirty="0"/>
              <a:t>, </a:t>
            </a:r>
            <a:r>
              <a:rPr lang="en-GB" dirty="0" smtClean="0"/>
              <a:t>MAP_SHARED, ...</a:t>
            </a:r>
            <a:endParaRPr lang="en-GB" dirty="0"/>
          </a:p>
          <a:p>
            <a:pPr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dirty="0" smtClean="0"/>
          </a:p>
          <a:p>
            <a:pPr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en-GB" dirty="0" smtClean="0"/>
              <a:t>Return </a:t>
            </a:r>
            <a:r>
              <a:rPr lang="en-GB" dirty="0"/>
              <a:t>a pointer to start of mapped area (may not be </a:t>
            </a:r>
            <a:r>
              <a:rPr lang="en-GB" b="1" dirty="0">
                <a:latin typeface="Courier New" panose="02070609020205020404" pitchFamily="49" charset="0"/>
              </a:rPr>
              <a:t>start</a:t>
            </a:r>
            <a:r>
              <a:rPr lang="en-GB" dirty="0" smtClean="0"/>
              <a:t>)</a:t>
            </a:r>
            <a:endParaRPr lang="en-GB" dirty="0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828800" y="493713"/>
            <a:ext cx="7259637" cy="573087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User-Level Memory Mapping</a:t>
            </a:r>
            <a:endParaRPr lang="en-GB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854201" y="1220789"/>
            <a:ext cx="8307387" cy="836612"/>
          </a:xfrm>
        </p:spPr>
        <p:txBody>
          <a:bodyPr/>
          <a:lstStyle/>
          <a:p>
            <a:pPr>
              <a:lnSpc>
                <a:spcPct val="94000"/>
              </a:lnSpc>
              <a:spcBef>
                <a:spcPct val="0"/>
              </a:spcBef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en-GB" sz="1800" dirty="0">
                <a:effectLst/>
                <a:latin typeface="Courier New" panose="02070609020205020404" pitchFamily="49" charset="0"/>
              </a:rPr>
              <a:t>void *</a:t>
            </a:r>
            <a:r>
              <a:rPr lang="en-GB" sz="1800" dirty="0" err="1">
                <a:effectLst/>
                <a:latin typeface="Courier New" panose="02070609020205020404" pitchFamily="49" charset="0"/>
              </a:rPr>
              <a:t>mmap</a:t>
            </a:r>
            <a:r>
              <a:rPr lang="en-GB" sz="1800" dirty="0">
                <a:effectLst/>
                <a:latin typeface="Courier New" panose="02070609020205020404" pitchFamily="49" charset="0"/>
              </a:rPr>
              <a:t>(void *start, </a:t>
            </a:r>
            <a:r>
              <a:rPr lang="en-GB" sz="1800" dirty="0" err="1">
                <a:effectLst/>
                <a:latin typeface="Courier New" panose="02070609020205020404" pitchFamily="49" charset="0"/>
              </a:rPr>
              <a:t>int</a:t>
            </a:r>
            <a:r>
              <a:rPr lang="en-GB" sz="1800" dirty="0">
                <a:effectLst/>
                <a:latin typeface="Courier New" panose="02070609020205020404" pitchFamily="49" charset="0"/>
              </a:rPr>
              <a:t> </a:t>
            </a:r>
            <a:r>
              <a:rPr lang="en-GB" sz="1800" dirty="0" err="1">
                <a:effectLst/>
                <a:latin typeface="Courier New" panose="02070609020205020404" pitchFamily="49" charset="0"/>
              </a:rPr>
              <a:t>len</a:t>
            </a:r>
            <a:r>
              <a:rPr lang="en-GB" sz="1800" dirty="0">
                <a:effectLst/>
                <a:latin typeface="Courier New" panose="02070609020205020404" pitchFamily="49" charset="0"/>
              </a:rPr>
              <a:t>,</a:t>
            </a:r>
            <a:endParaRPr lang="en-GB" sz="1800" dirty="0">
              <a:effectLst/>
              <a:latin typeface="Courier New" panose="02070609020205020404" pitchFamily="49" charset="0"/>
            </a:endParaRPr>
          </a:p>
          <a:p>
            <a:pPr>
              <a:lnSpc>
                <a:spcPct val="94000"/>
              </a:lnSpc>
              <a:spcBef>
                <a:spcPct val="0"/>
              </a:spcBef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en-GB" sz="1800" dirty="0">
                <a:effectLst/>
                <a:latin typeface="Courier New" panose="02070609020205020404" pitchFamily="49" charset="0"/>
              </a:rPr>
              <a:t>           </a:t>
            </a:r>
            <a:r>
              <a:rPr lang="en-GB" sz="1800" dirty="0" err="1">
                <a:effectLst/>
                <a:latin typeface="Courier New" panose="02070609020205020404" pitchFamily="49" charset="0"/>
              </a:rPr>
              <a:t>int</a:t>
            </a:r>
            <a:r>
              <a:rPr lang="en-GB" sz="1800" dirty="0">
                <a:effectLst/>
                <a:latin typeface="Courier New" panose="02070609020205020404" pitchFamily="49" charset="0"/>
              </a:rPr>
              <a:t> </a:t>
            </a:r>
            <a:r>
              <a:rPr lang="en-GB" sz="1800" dirty="0" err="1">
                <a:effectLst/>
                <a:latin typeface="Courier New" panose="02070609020205020404" pitchFamily="49" charset="0"/>
              </a:rPr>
              <a:t>prot</a:t>
            </a:r>
            <a:r>
              <a:rPr lang="en-GB" sz="1800" dirty="0">
                <a:effectLst/>
                <a:latin typeface="Courier New" panose="02070609020205020404" pitchFamily="49" charset="0"/>
              </a:rPr>
              <a:t>, </a:t>
            </a:r>
            <a:r>
              <a:rPr lang="en-GB" sz="1800" dirty="0" err="1">
                <a:effectLst/>
                <a:latin typeface="Courier New" panose="02070609020205020404" pitchFamily="49" charset="0"/>
              </a:rPr>
              <a:t>int</a:t>
            </a:r>
            <a:r>
              <a:rPr lang="en-GB" sz="1800" dirty="0">
                <a:effectLst/>
                <a:latin typeface="Courier New" panose="02070609020205020404" pitchFamily="49" charset="0"/>
              </a:rPr>
              <a:t> flags, </a:t>
            </a:r>
            <a:r>
              <a:rPr lang="en-GB" sz="1800" dirty="0" err="1">
                <a:effectLst/>
                <a:latin typeface="Courier New" panose="02070609020205020404" pitchFamily="49" charset="0"/>
              </a:rPr>
              <a:t>int</a:t>
            </a:r>
            <a:r>
              <a:rPr lang="en-GB" sz="1800" dirty="0">
                <a:effectLst/>
                <a:latin typeface="Courier New" panose="02070609020205020404" pitchFamily="49" charset="0"/>
              </a:rPr>
              <a:t> </a:t>
            </a:r>
            <a:r>
              <a:rPr lang="en-GB" sz="1800" dirty="0" err="1">
                <a:effectLst/>
                <a:latin typeface="Courier New" panose="02070609020205020404" pitchFamily="49" charset="0"/>
              </a:rPr>
              <a:t>fd</a:t>
            </a:r>
            <a:r>
              <a:rPr lang="en-GB" sz="1800" dirty="0">
                <a:effectLst/>
                <a:latin typeface="Courier New" panose="02070609020205020404" pitchFamily="49" charset="0"/>
              </a:rPr>
              <a:t>, </a:t>
            </a:r>
            <a:r>
              <a:rPr lang="en-GB" sz="1800" dirty="0" err="1">
                <a:effectLst/>
                <a:latin typeface="Courier New" panose="02070609020205020404" pitchFamily="49" charset="0"/>
              </a:rPr>
              <a:t>int</a:t>
            </a:r>
            <a:r>
              <a:rPr lang="en-GB" sz="1800" dirty="0">
                <a:effectLst/>
                <a:latin typeface="Courier New" panose="02070609020205020404" pitchFamily="49" charset="0"/>
              </a:rPr>
              <a:t> offset</a:t>
            </a:r>
            <a:r>
              <a:rPr lang="en-GB" sz="2000" dirty="0" smtClean="0">
                <a:effectLst/>
              </a:rPr>
              <a:t>)</a:t>
            </a:r>
            <a:endParaRPr lang="en-GB" sz="2000" dirty="0">
              <a:effectLst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3581400" y="2362200"/>
            <a:ext cx="990600" cy="36576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 smtClean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3581400" y="3733800"/>
            <a:ext cx="990600" cy="1143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 smtClean="0"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7162800" y="1981200"/>
            <a:ext cx="990600" cy="403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 smtClean="0"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7162800" y="2590800"/>
            <a:ext cx="990600" cy="1143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 smtClean="0">
              <a:latin typeface="+mn-lt"/>
            </a:endParaRPr>
          </a:p>
        </p:txBody>
      </p:sp>
      <p:cxnSp>
        <p:nvCxnSpPr>
          <p:cNvPr id="9" name="Straight Connector 8"/>
          <p:cNvCxnSpPr/>
          <p:nvPr/>
        </p:nvCxnSpPr>
        <p:spPr bwMode="auto">
          <a:xfrm flipV="1">
            <a:off x="4572000" y="2590800"/>
            <a:ext cx="2590800" cy="1143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 flipV="1">
            <a:off x="4572000" y="3733800"/>
            <a:ext cx="2590800" cy="1143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AutoShape 51"/>
          <p:cNvSpPr/>
          <p:nvPr/>
        </p:nvSpPr>
        <p:spPr bwMode="auto">
          <a:xfrm>
            <a:off x="8229600" y="2590800"/>
            <a:ext cx="228600" cy="1143000"/>
          </a:xfrm>
          <a:prstGeom prst="rightBrace">
            <a:avLst>
              <a:gd name="adj1" fmla="val 63889"/>
              <a:gd name="adj2" fmla="val 50000"/>
            </a:avLst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458200" y="2963336"/>
            <a:ext cx="145161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 err="1" smtClean="0">
                <a:latin typeface="Courier New" panose="02070609020205020404" pitchFamily="49" charset="0"/>
              </a:rPr>
              <a:t>len</a:t>
            </a:r>
            <a:r>
              <a:rPr lang="en-GB" sz="2000" dirty="0" smtClean="0">
                <a:latin typeface="Courier New" panose="02070609020205020404" pitchFamily="49" charset="0"/>
              </a:rPr>
              <a:t> </a:t>
            </a:r>
            <a:r>
              <a:rPr lang="en-GB" sz="2000" dirty="0" smtClean="0">
                <a:latin typeface="+mn-lt"/>
              </a:rPr>
              <a:t>bytes</a:t>
            </a:r>
            <a:endParaRPr lang="en-US" sz="2000" dirty="0">
              <a:latin typeface="+mn-lt"/>
            </a:endParaRPr>
          </a:p>
        </p:txBody>
      </p:sp>
      <p:cxnSp>
        <p:nvCxnSpPr>
          <p:cNvPr id="15" name="Straight Arrow Connector 14"/>
          <p:cNvCxnSpPr/>
          <p:nvPr/>
        </p:nvCxnSpPr>
        <p:spPr bwMode="auto">
          <a:xfrm rot="10800000">
            <a:off x="8153400" y="3733800"/>
            <a:ext cx="609600" cy="158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6" name="Rectangle 15"/>
          <p:cNvSpPr/>
          <p:nvPr/>
        </p:nvSpPr>
        <p:spPr>
          <a:xfrm>
            <a:off x="8763000" y="3536889"/>
            <a:ext cx="944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 smtClean="0">
                <a:latin typeface="Courier New" panose="02070609020205020404" pitchFamily="49" charset="0"/>
              </a:rPr>
              <a:t>start</a:t>
            </a:r>
            <a:endParaRPr 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8182827" y="3857936"/>
            <a:ext cx="210947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 smtClean="0">
                <a:latin typeface="Calibri" pitchFamily="34" charset="0"/>
              </a:rPr>
              <a:t>(or address </a:t>
            </a:r>
            <a:endParaRPr lang="en-US" sz="1800" dirty="0" smtClean="0">
              <a:latin typeface="Calibri" pitchFamily="34" charset="0"/>
            </a:endParaRPr>
          </a:p>
          <a:p>
            <a:pPr algn="ctr"/>
            <a:r>
              <a:rPr lang="en-US" sz="1800" dirty="0" smtClean="0">
                <a:latin typeface="Calibri" pitchFamily="34" charset="0"/>
              </a:rPr>
              <a:t>chosen by kernel)</a:t>
            </a:r>
            <a:endParaRPr lang="en-US" sz="1800" dirty="0" smtClean="0">
              <a:latin typeface="Calibri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58468" y="6031468"/>
            <a:ext cx="30410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Process virtual memory</a:t>
            </a:r>
            <a:endParaRPr lang="en-US" sz="2000" i="1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717877" y="6019800"/>
            <a:ext cx="274320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Disk file specified by </a:t>
            </a:r>
            <a:endParaRPr lang="en-US" sz="2000" i="1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</a:endParaRPr>
          </a:p>
          <a:p>
            <a:pPr algn="ctr"/>
            <a:r>
              <a:rPr lang="en-US" sz="20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file descriptor </a:t>
            </a:r>
            <a:r>
              <a:rPr lang="en-US" sz="2000" dirty="0" err="1" smtClean="0">
                <a:latin typeface="Courier New" panose="02070609020205020404" pitchFamily="49" charset="0"/>
              </a:rPr>
              <a:t>fd</a:t>
            </a:r>
            <a:endParaRPr lang="en-US" sz="2000" dirty="0" smtClean="0">
              <a:latin typeface="Courier New" panose="02070609020205020404" pitchFamily="49" charset="0"/>
            </a:endParaRPr>
          </a:p>
        </p:txBody>
      </p:sp>
      <p:sp>
        <p:nvSpPr>
          <p:cNvPr id="20" name="AutoShape 51"/>
          <p:cNvSpPr/>
          <p:nvPr/>
        </p:nvSpPr>
        <p:spPr bwMode="auto">
          <a:xfrm flipH="1">
            <a:off x="3276600" y="3733800"/>
            <a:ext cx="228600" cy="1143000"/>
          </a:xfrm>
          <a:prstGeom prst="rightBrace">
            <a:avLst>
              <a:gd name="adj1" fmla="val 63889"/>
              <a:gd name="adj2" fmla="val 50000"/>
            </a:avLst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882366" y="4104157"/>
            <a:ext cx="145161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 err="1" smtClean="0">
                <a:latin typeface="Courier New" panose="02070609020205020404" pitchFamily="49" charset="0"/>
              </a:rPr>
              <a:t>len</a:t>
            </a:r>
            <a:r>
              <a:rPr lang="en-GB" sz="2000" dirty="0" smtClean="0">
                <a:latin typeface="Courier New" panose="02070609020205020404" pitchFamily="49" charset="0"/>
              </a:rPr>
              <a:t> </a:t>
            </a:r>
            <a:r>
              <a:rPr lang="en-GB" sz="2000" dirty="0" smtClean="0">
                <a:latin typeface="+mn-lt"/>
              </a:rPr>
              <a:t>bytes</a:t>
            </a:r>
            <a:endParaRPr lang="en-US" sz="2000" dirty="0">
              <a:latin typeface="+mn-lt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676400" y="4676745"/>
            <a:ext cx="10972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 smtClean="0">
                <a:latin typeface="Courier New" panose="02070609020205020404" pitchFamily="49" charset="0"/>
              </a:rPr>
              <a:t>offset</a:t>
            </a:r>
            <a:endParaRPr lang="en-US" sz="2000" dirty="0"/>
          </a:p>
        </p:txBody>
      </p:sp>
      <p:cxnSp>
        <p:nvCxnSpPr>
          <p:cNvPr id="24" name="Straight Arrow Connector 23"/>
          <p:cNvCxnSpPr>
            <a:stCxn id="22" idx="3"/>
          </p:cNvCxnSpPr>
          <p:nvPr/>
        </p:nvCxnSpPr>
        <p:spPr bwMode="auto">
          <a:xfrm>
            <a:off x="4297601" y="4876165"/>
            <a:ext cx="797004" cy="158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1786468" y="5003799"/>
            <a:ext cx="9118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alibri" pitchFamily="34" charset="0"/>
              </a:rPr>
              <a:t>(bytes)</a:t>
            </a:r>
            <a:endParaRPr lang="en-US" sz="1800" dirty="0" smtClean="0">
              <a:latin typeface="Calibri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314004" y="5819001"/>
            <a:ext cx="28956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dirty="0" smtClean="0">
                <a:latin typeface="Courier New" panose="02070609020205020404"/>
                <a:cs typeface="Courier New" panose="02070609020205020404"/>
              </a:rPr>
              <a:t>0</a:t>
            </a:r>
            <a:endParaRPr lang="en-US" sz="1400" b="0" dirty="0" smtClean="0">
              <a:latin typeface="Courier New" panose="02070609020205020404"/>
              <a:cs typeface="Courier New" panose="020706090202050204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75542" y="5791200"/>
            <a:ext cx="28956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dirty="0" smtClean="0">
                <a:latin typeface="Courier New" panose="02070609020205020404"/>
                <a:cs typeface="Courier New" panose="02070609020205020404"/>
              </a:rPr>
              <a:t>0</a:t>
            </a:r>
            <a:endParaRPr lang="en-US" sz="1400" b="0" dirty="0" smtClean="0">
              <a:latin typeface="Courier New" panose="02070609020205020404"/>
              <a:cs typeface="Courier New" panose="020706090202050204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461963"/>
            <a:ext cx="9144000" cy="604837"/>
          </a:xfrm>
        </p:spPr>
        <p:txBody>
          <a:bodyPr/>
          <a:lstStyle/>
          <a:p>
            <a:pPr>
              <a:lnSpc>
                <a:spcPct val="82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smtClean="0">
                <a:latin typeface="+mn-lt"/>
              </a:rPr>
              <a:t>Example: Using </a:t>
            </a:r>
            <a:r>
              <a:rPr lang="en-GB" dirty="0" err="1" smtClean="0">
                <a:latin typeface="Courier New" panose="02070609020205020404"/>
                <a:cs typeface="Courier New" panose="02070609020205020404"/>
              </a:rPr>
              <a:t>mmap</a:t>
            </a:r>
            <a:r>
              <a:rPr lang="en-GB" dirty="0" smtClean="0">
                <a:latin typeface="+mn-lt"/>
              </a:rPr>
              <a:t> to Copy Files</a:t>
            </a:r>
            <a:endParaRPr lang="en-GB" dirty="0">
              <a:latin typeface="Courier New" panose="02070609020205020404"/>
              <a:cs typeface="Courier New" panose="02070609020205020404"/>
            </a:endParaRPr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5943600" y="2436812"/>
            <a:ext cx="4572000" cy="4116388"/>
          </a:xfrm>
          <a:prstGeom prst="rect">
            <a:avLst/>
          </a:prstGeom>
          <a:solidFill>
            <a:srgbClr val="F6F5BD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lIns="90360" tIns="44280" rIns="90360" bIns="44280"/>
          <a:lstStyle/>
          <a:p>
            <a:r>
              <a:rPr lang="en-US" sz="1400" dirty="0">
                <a:solidFill>
                  <a:srgbClr val="CB2418"/>
                </a:solidFill>
                <a:latin typeface="Menlo-Regular" panose="020B0609030804020204"/>
              </a:rPr>
              <a:t>/* </a:t>
            </a:r>
            <a:r>
              <a:rPr lang="en-US" sz="1400" dirty="0" err="1">
                <a:solidFill>
                  <a:srgbClr val="CB2418"/>
                </a:solidFill>
                <a:latin typeface="Menlo-Regular" panose="020B0609030804020204"/>
              </a:rPr>
              <a:t>mmapcopy</a:t>
            </a:r>
            <a:r>
              <a:rPr lang="en-US" sz="1400" dirty="0">
                <a:solidFill>
                  <a:srgbClr val="CB2418"/>
                </a:solidFill>
                <a:latin typeface="Menlo-Regular" panose="020B0609030804020204"/>
              </a:rPr>
              <a:t> driver */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400" dirty="0">
                <a:solidFill>
                  <a:srgbClr val="4A00FF"/>
                </a:solidFill>
                <a:latin typeface="Menlo-Regular" panose="020B0609030804020204"/>
              </a:rPr>
              <a:t>main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4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400" dirty="0" err="1">
                <a:solidFill>
                  <a:srgbClr val="C1651C"/>
                </a:solidFill>
                <a:latin typeface="Menlo-Regular" panose="020B0609030804020204"/>
              </a:rPr>
              <a:t>argc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en-US" sz="1400" dirty="0">
                <a:solidFill>
                  <a:srgbClr val="2D961E"/>
                </a:solidFill>
                <a:latin typeface="Menlo-Regular" panose="020B0609030804020204"/>
              </a:rPr>
              <a:t>char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**</a:t>
            </a:r>
            <a:r>
              <a:rPr lang="en-US" sz="1400" dirty="0" err="1">
                <a:solidFill>
                  <a:srgbClr val="C1651C"/>
                </a:solidFill>
                <a:latin typeface="Menlo-Regular" panose="020B0609030804020204"/>
              </a:rPr>
              <a:t>argv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)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400" dirty="0" err="1">
                <a:solidFill>
                  <a:srgbClr val="C200FF"/>
                </a:solidFill>
                <a:latin typeface="Menlo-Regular" panose="020B0609030804020204"/>
              </a:rPr>
              <a:t>struct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400" dirty="0">
                <a:solidFill>
                  <a:srgbClr val="2D961E"/>
                </a:solidFill>
                <a:latin typeface="Menlo-Regular" panose="020B0609030804020204"/>
              </a:rPr>
              <a:t>stat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400" dirty="0">
                <a:solidFill>
                  <a:srgbClr val="C1651C"/>
                </a:solidFill>
                <a:latin typeface="Menlo-Regular" panose="020B0609030804020204"/>
              </a:rPr>
              <a:t>stat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4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nl-NL" sz="1400" dirty="0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nl-NL" sz="14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nl-NL" sz="1400" dirty="0" err="1">
                <a:solidFill>
                  <a:srgbClr val="C1651C"/>
                </a:solidFill>
                <a:latin typeface="Menlo-Regular" panose="020B0609030804020204"/>
              </a:rPr>
              <a:t>fd</a:t>
            </a:r>
            <a:r>
              <a:rPr lang="nl-NL" sz="14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nl-NL" sz="14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nl-NL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4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nl-NL" sz="1400" dirty="0">
                <a:solidFill>
                  <a:srgbClr val="CB2418"/>
                </a:solidFill>
                <a:latin typeface="Menlo-Regular" panose="020B0609030804020204"/>
              </a:rPr>
              <a:t>/* Check </a:t>
            </a:r>
            <a:r>
              <a:rPr lang="nl-NL" sz="1400" dirty="0" err="1">
                <a:solidFill>
                  <a:srgbClr val="CB2418"/>
                </a:solidFill>
                <a:latin typeface="Menlo-Regular" panose="020B0609030804020204"/>
              </a:rPr>
              <a:t>for</a:t>
            </a:r>
            <a:r>
              <a:rPr lang="nl-NL" sz="1400" dirty="0">
                <a:solidFill>
                  <a:srgbClr val="CB2418"/>
                </a:solidFill>
                <a:latin typeface="Menlo-Regular" panose="020B0609030804020204"/>
              </a:rPr>
              <a:t> </a:t>
            </a:r>
            <a:r>
              <a:rPr lang="nl-NL" sz="1400" dirty="0" err="1">
                <a:solidFill>
                  <a:srgbClr val="CB2418"/>
                </a:solidFill>
                <a:latin typeface="Menlo-Regular" panose="020B0609030804020204"/>
              </a:rPr>
              <a:t>required</a:t>
            </a:r>
            <a:r>
              <a:rPr lang="nl-NL" sz="1400" dirty="0">
                <a:solidFill>
                  <a:srgbClr val="CB2418"/>
                </a:solidFill>
                <a:latin typeface="Menlo-Regular" panose="020B0609030804020204"/>
              </a:rPr>
              <a:t> </a:t>
            </a:r>
            <a:r>
              <a:rPr lang="nl-NL" sz="1400" dirty="0" err="1">
                <a:solidFill>
                  <a:srgbClr val="CB2418"/>
                </a:solidFill>
                <a:latin typeface="Menlo-Regular" panose="020B0609030804020204"/>
              </a:rPr>
              <a:t>cmd</a:t>
            </a:r>
            <a:r>
              <a:rPr lang="nl-NL" sz="1400" dirty="0">
                <a:solidFill>
                  <a:srgbClr val="CB2418"/>
                </a:solidFill>
                <a:latin typeface="Menlo-Regular" panose="020B0609030804020204"/>
              </a:rPr>
              <a:t> line </a:t>
            </a:r>
            <a:r>
              <a:rPr lang="nl-NL" sz="1400" dirty="0" err="1">
                <a:solidFill>
                  <a:srgbClr val="CB2418"/>
                </a:solidFill>
                <a:latin typeface="Menlo-Regular" panose="020B0609030804020204"/>
              </a:rPr>
              <a:t>arg</a:t>
            </a:r>
            <a:r>
              <a:rPr lang="nl-NL" sz="1400" dirty="0">
                <a:solidFill>
                  <a:srgbClr val="CB2418"/>
                </a:solidFill>
                <a:latin typeface="Menlo-Regular" panose="020B0609030804020204"/>
              </a:rPr>
              <a:t> */</a:t>
            </a:r>
            <a:endParaRPr lang="nl-NL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400" dirty="0">
                <a:solidFill>
                  <a:srgbClr val="C200FF"/>
                </a:solidFill>
                <a:latin typeface="Menlo-Regular" panose="020B0609030804020204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Menlo-Regular" panose="020B0609030804020204"/>
              </a:rPr>
              <a:t>argc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!= 2) {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Menlo-Regular" panose="020B0609030804020204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400" dirty="0">
                <a:solidFill>
                  <a:srgbClr val="9D206F"/>
                </a:solidFill>
                <a:latin typeface="Menlo-Regular" panose="020B0609030804020204"/>
              </a:rPr>
              <a:t>"usage: %s &lt;filename&gt;\n"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,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              </a:t>
            </a:r>
            <a:r>
              <a:rPr lang="en-US" sz="1400" dirty="0" err="1">
                <a:solidFill>
                  <a:srgbClr val="000000"/>
                </a:solidFill>
                <a:latin typeface="Menlo-Regular" panose="020B0609030804020204"/>
              </a:rPr>
              <a:t>argv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[0]);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       exit(0);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   }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400" dirty="0">
                <a:solidFill>
                  <a:srgbClr val="CB2418"/>
                </a:solidFill>
                <a:latin typeface="Menlo-Regular" panose="020B0609030804020204"/>
              </a:rPr>
              <a:t>/* Copy input file to </a:t>
            </a:r>
            <a:r>
              <a:rPr lang="en-US" sz="1400" dirty="0" err="1">
                <a:solidFill>
                  <a:srgbClr val="CB2418"/>
                </a:solidFill>
                <a:latin typeface="Menlo-Regular" panose="020B0609030804020204"/>
              </a:rPr>
              <a:t>stdout</a:t>
            </a:r>
            <a:r>
              <a:rPr lang="en-US" sz="1400" dirty="0">
                <a:solidFill>
                  <a:srgbClr val="CB2418"/>
                </a:solidFill>
                <a:latin typeface="Menlo-Regular" panose="020B0609030804020204"/>
              </a:rPr>
              <a:t> */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4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nl-NL" sz="1400" dirty="0" err="1">
                <a:solidFill>
                  <a:srgbClr val="000000"/>
                </a:solidFill>
                <a:latin typeface="Menlo-Regular" panose="020B0609030804020204"/>
              </a:rPr>
              <a:t>fd</a:t>
            </a:r>
            <a:r>
              <a:rPr lang="nl-NL" sz="1400" dirty="0">
                <a:solidFill>
                  <a:srgbClr val="000000"/>
                </a:solidFill>
                <a:latin typeface="Menlo-Regular" panose="020B0609030804020204"/>
              </a:rPr>
              <a:t> = Open(</a:t>
            </a:r>
            <a:r>
              <a:rPr lang="nl-NL" sz="1400" dirty="0" err="1">
                <a:solidFill>
                  <a:srgbClr val="000000"/>
                </a:solidFill>
                <a:latin typeface="Menlo-Regular" panose="020B0609030804020204"/>
              </a:rPr>
              <a:t>argv</a:t>
            </a:r>
            <a:r>
              <a:rPr lang="nl-NL" sz="1400" dirty="0">
                <a:solidFill>
                  <a:srgbClr val="000000"/>
                </a:solidFill>
                <a:latin typeface="Menlo-Regular" panose="020B0609030804020204"/>
              </a:rPr>
              <a:t>[1], O_RDONLY, 0);</a:t>
            </a:r>
            <a:endParaRPr lang="nl-NL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4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nl-NL" sz="1400" dirty="0" err="1">
                <a:solidFill>
                  <a:srgbClr val="000000"/>
                </a:solidFill>
                <a:latin typeface="Menlo-Regular" panose="020B0609030804020204"/>
              </a:rPr>
              <a:t>Fstat</a:t>
            </a:r>
            <a:r>
              <a:rPr lang="nl-NL" sz="14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nl-NL" sz="1400" dirty="0" err="1">
                <a:solidFill>
                  <a:srgbClr val="000000"/>
                </a:solidFill>
                <a:latin typeface="Menlo-Regular" panose="020B0609030804020204"/>
              </a:rPr>
              <a:t>fd</a:t>
            </a:r>
            <a:r>
              <a:rPr lang="nl-NL" sz="1400" dirty="0">
                <a:solidFill>
                  <a:srgbClr val="000000"/>
                </a:solidFill>
                <a:latin typeface="Menlo-Regular" panose="020B0609030804020204"/>
              </a:rPr>
              <a:t>, &amp;stat);</a:t>
            </a:r>
            <a:endParaRPr lang="nl-NL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4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nl-NL" sz="1400" dirty="0" err="1">
                <a:solidFill>
                  <a:srgbClr val="00B050"/>
                </a:solidFill>
                <a:latin typeface="Menlo Bold" panose="020B0609030804020204" charset="0"/>
                <a:cs typeface="Menlo Bold" panose="020B0609030804020204" charset="0"/>
              </a:rPr>
              <a:t>mmapcopy</a:t>
            </a:r>
            <a:r>
              <a:rPr lang="nl-NL" sz="1400" dirty="0">
                <a:solidFill>
                  <a:srgbClr val="00B050"/>
                </a:solidFill>
                <a:latin typeface="Menlo Bold" panose="020B0609030804020204" charset="0"/>
                <a:cs typeface="Menlo Bold" panose="020B0609030804020204" charset="0"/>
              </a:rPr>
              <a:t>(</a:t>
            </a:r>
            <a:r>
              <a:rPr lang="nl-NL" sz="1400" dirty="0" err="1">
                <a:solidFill>
                  <a:srgbClr val="00B050"/>
                </a:solidFill>
                <a:latin typeface="Menlo Bold" panose="020B0609030804020204" charset="0"/>
                <a:cs typeface="Menlo Bold" panose="020B0609030804020204" charset="0"/>
              </a:rPr>
              <a:t>fd</a:t>
            </a:r>
            <a:r>
              <a:rPr lang="nl-NL" sz="1400" dirty="0">
                <a:solidFill>
                  <a:srgbClr val="00B050"/>
                </a:solidFill>
                <a:latin typeface="Menlo Bold" panose="020B0609030804020204" charset="0"/>
                <a:cs typeface="Menlo Bold" panose="020B0609030804020204" charset="0"/>
              </a:rPr>
              <a:t>, </a:t>
            </a:r>
            <a:r>
              <a:rPr lang="nl-NL" sz="1400" dirty="0" err="1">
                <a:solidFill>
                  <a:srgbClr val="00B050"/>
                </a:solidFill>
                <a:latin typeface="Menlo Bold" panose="020B0609030804020204" charset="0"/>
                <a:cs typeface="Menlo Bold" panose="020B0609030804020204" charset="0"/>
              </a:rPr>
              <a:t>stat.st_size</a:t>
            </a:r>
            <a:r>
              <a:rPr lang="nl-NL" sz="1400" dirty="0">
                <a:solidFill>
                  <a:srgbClr val="00B050"/>
                </a:solidFill>
                <a:latin typeface="Menlo Bold" panose="020B0609030804020204" charset="0"/>
                <a:cs typeface="Menlo Bold" panose="020B0609030804020204" charset="0"/>
              </a:rPr>
              <a:t>);</a:t>
            </a:r>
            <a:endParaRPr lang="nl-NL" sz="1400" dirty="0">
              <a:solidFill>
                <a:srgbClr val="00B050"/>
              </a:solidFill>
              <a:latin typeface="Menlo Bold" panose="020B0609030804020204" charset="0"/>
              <a:cs typeface="Menlo Bold" panose="020B0609030804020204" charset="0"/>
            </a:endParaRPr>
          </a:p>
          <a:p>
            <a:r>
              <a:rPr lang="nl-NL" sz="1400" dirty="0">
                <a:solidFill>
                  <a:srgbClr val="000000"/>
                </a:solidFill>
                <a:latin typeface="Menlo-Regular" panose="020B0609030804020204"/>
              </a:rPr>
              <a:t>    exit(0);</a:t>
            </a:r>
            <a:endParaRPr lang="nl-NL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40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en-GB" sz="1400" dirty="0">
              <a:latin typeface="Courier New" panose="02070609020205020404" pitchFamily="49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920875" y="1362075"/>
            <a:ext cx="7896225" cy="5429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anose="05020102010507070707" pitchFamily="18" charset="2"/>
              <a:buChar char="¢"/>
              <a:defRPr/>
            </a:pP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1920875" y="1362075"/>
            <a:ext cx="8594725" cy="7715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anose="05020102010507070707" pitchFamily="18" charset="2"/>
              <a:buChar char="¢"/>
              <a:defRPr/>
            </a:pPr>
            <a:r>
              <a:rPr lang="en-GB" kern="0" dirty="0" smtClean="0">
                <a:latin typeface="Calibri" pitchFamily="34" charset="0"/>
              </a:rPr>
              <a:t>Copying a file to </a:t>
            </a:r>
            <a:r>
              <a:rPr lang="en-GB" kern="0" dirty="0" err="1" smtClean="0">
                <a:latin typeface="Courier New" panose="02070609020205020404"/>
                <a:cs typeface="Courier New" panose="02070609020205020404"/>
              </a:rPr>
              <a:t>stdout</a:t>
            </a:r>
            <a:r>
              <a:rPr lang="en-GB" kern="0" dirty="0" smtClean="0">
                <a:latin typeface="Calibri" pitchFamily="34" charset="0"/>
              </a:rPr>
              <a:t> without transferring data to user space .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647318" y="2436812"/>
            <a:ext cx="3991482" cy="4116388"/>
          </a:xfrm>
          <a:prstGeom prst="rect">
            <a:avLst/>
          </a:prstGeom>
          <a:solidFill>
            <a:srgbClr val="F6F5BD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lIns="90360" tIns="44280" rIns="90360" bIns="44280"/>
          <a:lstStyle/>
          <a:p>
            <a:r>
              <a:rPr lang="en-US" sz="1400" dirty="0">
                <a:solidFill>
                  <a:srgbClr val="926492"/>
                </a:solidFill>
                <a:latin typeface="Menlo-Regular" panose="020B0609030804020204"/>
              </a:rPr>
              <a:t>#include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400" dirty="0">
                <a:solidFill>
                  <a:srgbClr val="9D206F"/>
                </a:solidFill>
                <a:latin typeface="Menlo-Regular" panose="020B0609030804020204"/>
              </a:rPr>
              <a:t>"</a:t>
            </a:r>
            <a:r>
              <a:rPr lang="en-US" sz="1400" dirty="0" err="1">
                <a:solidFill>
                  <a:srgbClr val="9D206F"/>
                </a:solidFill>
                <a:latin typeface="Menlo-Regular" panose="020B0609030804020204"/>
              </a:rPr>
              <a:t>csapp.h</a:t>
            </a:r>
            <a:r>
              <a:rPr lang="en-US" sz="1400" dirty="0">
                <a:solidFill>
                  <a:srgbClr val="9D206F"/>
                </a:solidFill>
                <a:latin typeface="Menlo-Regular" panose="020B0609030804020204"/>
              </a:rPr>
              <a:t>"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 smtClean="0">
                <a:solidFill>
                  <a:srgbClr val="2D961E"/>
                </a:solidFill>
                <a:latin typeface="Menlo-Regular" panose="020B0609030804020204"/>
              </a:rPr>
              <a:t>void</a:t>
            </a:r>
            <a:r>
              <a:rPr lang="en-US" sz="1400" dirty="0" smtClean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400" dirty="0" err="1">
                <a:solidFill>
                  <a:srgbClr val="4A00FF"/>
                </a:solidFill>
                <a:latin typeface="Menlo-Regular" panose="020B0609030804020204"/>
              </a:rPr>
              <a:t>mmapcopy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4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400" dirty="0" err="1">
                <a:solidFill>
                  <a:srgbClr val="C1651C"/>
                </a:solidFill>
                <a:latin typeface="Menlo-Regular" panose="020B0609030804020204"/>
              </a:rPr>
              <a:t>fd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en-US" sz="14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400" dirty="0">
                <a:solidFill>
                  <a:srgbClr val="C1651C"/>
                </a:solidFill>
                <a:latin typeface="Menlo-Regular" panose="020B0609030804020204"/>
              </a:rPr>
              <a:t>size</a:t>
            </a:r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)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en-US" sz="1400" dirty="0">
                <a:solidFill>
                  <a:srgbClr val="CB2418"/>
                </a:solidFill>
                <a:latin typeface="Menlo-Regular" panose="020B0609030804020204"/>
              </a:rPr>
              <a:t>/* </a:t>
            </a:r>
            <a:r>
              <a:rPr lang="en-US" sz="1400" dirty="0" err="1">
                <a:solidFill>
                  <a:srgbClr val="CB2418"/>
                </a:solidFill>
                <a:latin typeface="Menlo-Regular" panose="020B0609030804020204"/>
              </a:rPr>
              <a:t>Ptr</a:t>
            </a:r>
            <a:r>
              <a:rPr lang="en-US" sz="1400" dirty="0">
                <a:solidFill>
                  <a:srgbClr val="CB2418"/>
                </a:solidFill>
                <a:latin typeface="Menlo-Regular" panose="020B0609030804020204"/>
              </a:rPr>
              <a:t> to memory mapped </a:t>
            </a:r>
            <a:r>
              <a:rPr lang="en-US" sz="1400" dirty="0" smtClean="0">
                <a:solidFill>
                  <a:srgbClr val="CB2418"/>
                </a:solidFill>
                <a:latin typeface="Menlo-Regular" panose="020B0609030804020204"/>
              </a:rPr>
              <a:t>area </a:t>
            </a:r>
            <a:r>
              <a:rPr lang="en-US" sz="1400" dirty="0">
                <a:solidFill>
                  <a:srgbClr val="CB2418"/>
                </a:solidFill>
                <a:latin typeface="Menlo-Regular" panose="020B0609030804020204"/>
              </a:rPr>
              <a:t>*/</a:t>
            </a:r>
            <a:endParaRPr lang="en-U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da-DK" sz="14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da-DK" sz="1400" dirty="0" err="1">
                <a:solidFill>
                  <a:srgbClr val="2D961E"/>
                </a:solidFill>
                <a:latin typeface="Menlo-Regular" panose="020B0609030804020204"/>
              </a:rPr>
              <a:t>char</a:t>
            </a:r>
            <a:r>
              <a:rPr lang="da-DK" sz="1400" dirty="0">
                <a:solidFill>
                  <a:srgbClr val="000000"/>
                </a:solidFill>
                <a:latin typeface="Menlo-Regular" panose="020B0609030804020204"/>
              </a:rPr>
              <a:t> *</a:t>
            </a:r>
            <a:r>
              <a:rPr lang="da-DK" sz="1400" dirty="0" err="1">
                <a:solidFill>
                  <a:srgbClr val="C1651C"/>
                </a:solidFill>
                <a:latin typeface="Menlo-Regular" panose="020B0609030804020204"/>
              </a:rPr>
              <a:t>bufp</a:t>
            </a:r>
            <a:r>
              <a:rPr lang="da-DK" sz="14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da-DK" sz="14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da-DK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da-DK" sz="14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da-DK" sz="1400" dirty="0" err="1">
                <a:solidFill>
                  <a:srgbClr val="000000"/>
                </a:solidFill>
                <a:latin typeface="Menlo-Regular" panose="020B0609030804020204"/>
              </a:rPr>
              <a:t>bufp</a:t>
            </a:r>
            <a:r>
              <a:rPr lang="da-DK" sz="1400" dirty="0">
                <a:solidFill>
                  <a:srgbClr val="000000"/>
                </a:solidFill>
                <a:latin typeface="Menlo-Regular" panose="020B0609030804020204"/>
              </a:rPr>
              <a:t> = </a:t>
            </a:r>
            <a:r>
              <a:rPr lang="da-DK" sz="1400" dirty="0" err="1">
                <a:solidFill>
                  <a:srgbClr val="000000"/>
                </a:solidFill>
                <a:latin typeface="Menlo-Regular" panose="020B0609030804020204"/>
              </a:rPr>
              <a:t>Mmap</a:t>
            </a:r>
            <a:r>
              <a:rPr lang="da-DK" sz="14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da-DK" sz="1400" dirty="0">
                <a:solidFill>
                  <a:srgbClr val="2C9290"/>
                </a:solidFill>
                <a:latin typeface="Menlo-Regular" panose="020B0609030804020204"/>
              </a:rPr>
              <a:t>NULL</a:t>
            </a:r>
            <a:r>
              <a:rPr lang="da-DK" sz="14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da-DK" sz="1400" dirty="0" err="1">
                <a:solidFill>
                  <a:srgbClr val="000000"/>
                </a:solidFill>
                <a:latin typeface="Menlo-Regular" panose="020B0609030804020204"/>
              </a:rPr>
              <a:t>size</a:t>
            </a:r>
            <a:r>
              <a:rPr lang="da-DK" sz="14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endParaRPr lang="da-DK" sz="1400" dirty="0" smtClean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da-DK" sz="14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da-DK" sz="1400" dirty="0" smtClean="0">
                <a:solidFill>
                  <a:srgbClr val="000000"/>
                </a:solidFill>
                <a:latin typeface="Menlo-Regular" panose="020B0609030804020204"/>
              </a:rPr>
              <a:t>               PROT_READ</a:t>
            </a:r>
            <a:r>
              <a:rPr lang="da-DK" sz="1400" dirty="0">
                <a:solidFill>
                  <a:srgbClr val="000000"/>
                </a:solidFill>
                <a:latin typeface="Menlo-Regular" panose="020B0609030804020204"/>
              </a:rPr>
              <a:t>,</a:t>
            </a:r>
            <a:endParaRPr lang="da-DK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400" dirty="0">
                <a:solidFill>
                  <a:srgbClr val="000000"/>
                </a:solidFill>
                <a:latin typeface="Menlo-Regular" panose="020B0609030804020204"/>
              </a:rPr>
              <a:t>                MAP_PRIVATE, </a:t>
            </a:r>
            <a:endParaRPr lang="nl-NL" sz="1400" dirty="0" smtClean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nl-NL" sz="14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nl-NL" sz="1400" dirty="0" smtClean="0">
                <a:solidFill>
                  <a:srgbClr val="000000"/>
                </a:solidFill>
                <a:latin typeface="Menlo-Regular" panose="020B0609030804020204"/>
              </a:rPr>
              <a:t>               </a:t>
            </a:r>
            <a:r>
              <a:rPr lang="nl-NL" sz="1400" dirty="0" err="1" smtClean="0">
                <a:solidFill>
                  <a:srgbClr val="000000"/>
                </a:solidFill>
                <a:latin typeface="Menlo-Regular" panose="020B0609030804020204"/>
              </a:rPr>
              <a:t>fd</a:t>
            </a:r>
            <a:r>
              <a:rPr lang="nl-NL" sz="1400" dirty="0">
                <a:solidFill>
                  <a:srgbClr val="000000"/>
                </a:solidFill>
                <a:latin typeface="Menlo-Regular" panose="020B0609030804020204"/>
              </a:rPr>
              <a:t>, 0);</a:t>
            </a:r>
            <a:endParaRPr lang="nl-NL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de-DE" sz="1400" dirty="0">
                <a:solidFill>
                  <a:srgbClr val="000000"/>
                </a:solidFill>
                <a:latin typeface="Menlo-Regular" panose="020B0609030804020204"/>
              </a:rPr>
              <a:t>    Write(1, </a:t>
            </a:r>
            <a:r>
              <a:rPr lang="de-DE" sz="1400" dirty="0" err="1">
                <a:solidFill>
                  <a:srgbClr val="000000"/>
                </a:solidFill>
                <a:latin typeface="Menlo-Regular" panose="020B0609030804020204"/>
              </a:rPr>
              <a:t>bufp</a:t>
            </a:r>
            <a:r>
              <a:rPr lang="de-DE" sz="14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de-DE" sz="1400" dirty="0" err="1">
                <a:solidFill>
                  <a:srgbClr val="000000"/>
                </a:solidFill>
                <a:latin typeface="Menlo-Regular" panose="020B0609030804020204"/>
              </a:rPr>
              <a:t>size</a:t>
            </a:r>
            <a:r>
              <a:rPr lang="de-DE" sz="14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de-DE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is-IS" sz="14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is-IS" sz="1400" dirty="0">
                <a:solidFill>
                  <a:srgbClr val="C200FF"/>
                </a:solidFill>
                <a:latin typeface="Menlo-Regular" panose="020B0609030804020204"/>
              </a:rPr>
              <a:t>return</a:t>
            </a:r>
            <a:r>
              <a:rPr lang="is-IS" sz="1400" dirty="0">
                <a:solidFill>
                  <a:srgbClr val="000000"/>
                </a:solidFill>
                <a:latin typeface="Menlo-Regular" panose="020B0609030804020204"/>
              </a:rPr>
              <a:t>;</a:t>
            </a:r>
            <a:endParaRPr lang="is-IS" sz="14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is-IS" sz="140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is-IS" sz="1400" dirty="0">
              <a:solidFill>
                <a:srgbClr val="000000"/>
              </a:solidFill>
              <a:latin typeface="Menlo-Regular" panose="020B06090308040202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191000" y="6172200"/>
            <a:ext cx="15925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mmapcopy.c</a:t>
            </a:r>
            <a:endParaRPr lang="en-US" sz="1800" dirty="0" smtClean="0">
              <a:solidFill>
                <a:schemeClr val="bg1">
                  <a:lumMod val="50000"/>
                </a:schemeClr>
              </a:solidFill>
              <a:latin typeface="Calibri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05426" y="6183868"/>
            <a:ext cx="15925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mmapcopy.c</a:t>
            </a:r>
            <a:endParaRPr lang="en-US" sz="1800" dirty="0" smtClean="0">
              <a:solidFill>
                <a:schemeClr val="bg1">
                  <a:lumMod val="50000"/>
                </a:schemeClr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93900" y="1809115"/>
            <a:ext cx="7772400" cy="40767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80870" y="1197610"/>
            <a:ext cx="533400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libc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10690" y="1021080"/>
            <a:ext cx="5541010" cy="27120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220" y="976630"/>
            <a:ext cx="5316855" cy="27565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265" y="4271010"/>
            <a:ext cx="6757035" cy="20447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概念小测验：</a:t>
            </a:r>
            <a:r>
              <a:rPr lang="en-US" altLang="zh-CN" dirty="0" smtClean="0"/>
              <a:t>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为什么单级页表不实用，以及多级页表如何修复这个问题？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zh-CN" altLang="en-US" b="0" dirty="0" smtClean="0">
                <a:solidFill>
                  <a:schemeClr val="accent6">
                    <a:lumMod val="75000"/>
                  </a:schemeClr>
                </a:solidFill>
              </a:rPr>
              <a:t>覆盖典型系统整个地址空间的单级页表将会非常庞大。例如，对于</a:t>
            </a:r>
            <a:r>
              <a:rPr lang="en-US" altLang="zh-CN" b="0" dirty="0" smtClean="0">
                <a:solidFill>
                  <a:schemeClr val="accent6">
                    <a:lumMod val="75000"/>
                  </a:schemeClr>
                </a:solidFill>
              </a:rPr>
              <a:t>4KB</a:t>
            </a:r>
            <a:r>
              <a:rPr lang="zh-CN" altLang="en-US" b="0" dirty="0" smtClean="0">
                <a:solidFill>
                  <a:schemeClr val="accent6">
                    <a:lumMod val="75000"/>
                  </a:schemeClr>
                </a:solidFill>
              </a:rPr>
              <a:t>大小的页，</a:t>
            </a:r>
            <a:r>
              <a:rPr lang="en-US" altLang="zh-CN" b="0" dirty="0" smtClean="0">
                <a:solidFill>
                  <a:schemeClr val="accent6">
                    <a:lumMod val="75000"/>
                  </a:schemeClr>
                </a:solidFill>
              </a:rPr>
              <a:t>48</a:t>
            </a:r>
            <a:r>
              <a:rPr lang="zh-CN" altLang="en-US" b="0" dirty="0" smtClean="0">
                <a:solidFill>
                  <a:schemeClr val="accent6">
                    <a:lumMod val="75000"/>
                  </a:schemeClr>
                </a:solidFill>
              </a:rPr>
              <a:t>位地址空间，</a:t>
            </a:r>
            <a:r>
              <a:rPr lang="en-US" altLang="zh-CN" b="0" dirty="0" smtClean="0">
                <a:solidFill>
                  <a:schemeClr val="accent6">
                    <a:lumMod val="75000"/>
                  </a:schemeClr>
                </a:solidFill>
              </a:rPr>
              <a:t>8</a:t>
            </a:r>
            <a:r>
              <a:rPr lang="zh-CN" altLang="en-US" b="0" dirty="0" smtClean="0">
                <a:solidFill>
                  <a:schemeClr val="accent6">
                    <a:lumMod val="75000"/>
                  </a:schemeClr>
                </a:solidFill>
              </a:rPr>
              <a:t>字节的页表项，单级页表将占用</a:t>
            </a:r>
            <a:r>
              <a:rPr lang="en-US" altLang="zh-CN" b="0" dirty="0" smtClean="0">
                <a:solidFill>
                  <a:schemeClr val="accent6">
                    <a:lumMod val="75000"/>
                  </a:schemeClr>
                </a:solidFill>
              </a:rPr>
              <a:t>512GB</a:t>
            </a:r>
            <a:r>
              <a:rPr lang="zh-CN" altLang="en-US" b="0" dirty="0" smtClean="0">
                <a:solidFill>
                  <a:schemeClr val="accent6">
                    <a:lumMod val="75000"/>
                  </a:schemeClr>
                </a:solidFill>
              </a:rPr>
              <a:t>，这个容量比大多数计算机的</a:t>
            </a:r>
            <a:r>
              <a:rPr lang="en-US" altLang="zh-CN" b="0" dirty="0" smtClean="0">
                <a:solidFill>
                  <a:schemeClr val="accent6">
                    <a:lumMod val="75000"/>
                  </a:schemeClr>
                </a:solidFill>
              </a:rPr>
              <a:t>RAM</a:t>
            </a:r>
            <a:r>
              <a:rPr lang="zh-CN" altLang="en-US" b="0" dirty="0" smtClean="0">
                <a:solidFill>
                  <a:schemeClr val="accent6">
                    <a:lumMod val="75000"/>
                  </a:schemeClr>
                </a:solidFill>
              </a:rPr>
              <a:t>还多。</a:t>
            </a:r>
            <a:endParaRPr lang="en-US" b="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概念小测验：</a:t>
            </a:r>
            <a:r>
              <a:rPr lang="en-US" altLang="zh-CN" dirty="0" smtClean="0"/>
              <a:t>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为什么多级页表的内存访问比单级页表的要慢</a:t>
            </a:r>
            <a:r>
              <a:rPr lang="en-US" altLang="zh-CN" dirty="0" smtClean="0"/>
              <a:t>?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0" i="1" dirty="0" smtClean="0">
                <a:solidFill>
                  <a:schemeClr val="accent6">
                    <a:lumMod val="75000"/>
                  </a:schemeClr>
                </a:solidFill>
              </a:rPr>
              <a:t>k</a:t>
            </a:r>
            <a:r>
              <a:rPr lang="zh-CN" altLang="en-US" b="0" dirty="0" smtClean="0">
                <a:solidFill>
                  <a:schemeClr val="accent6">
                    <a:lumMod val="75000"/>
                  </a:schemeClr>
                </a:solidFill>
              </a:rPr>
              <a:t>级页表需要</a:t>
            </a:r>
            <a:r>
              <a:rPr lang="en-US" b="0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0" i="1" dirty="0">
                <a:solidFill>
                  <a:schemeClr val="accent6">
                    <a:lumMod val="75000"/>
                  </a:schemeClr>
                </a:solidFill>
              </a:rPr>
              <a:t>k</a:t>
            </a:r>
            <a:r>
              <a:rPr lang="en-US" b="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zh-CN" altLang="en-US" b="0" dirty="0" smtClean="0">
                <a:solidFill>
                  <a:schemeClr val="accent6">
                    <a:lumMod val="75000"/>
                  </a:schemeClr>
                </a:solidFill>
              </a:rPr>
              <a:t>次内存加载才能确定物理地址。</a:t>
            </a:r>
            <a:endParaRPr lang="zh-CN" altLang="en-US" b="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b="0" dirty="0" smtClean="0">
                <a:solidFill>
                  <a:schemeClr val="accent6">
                    <a:lumMod val="75000"/>
                  </a:schemeClr>
                </a:solidFill>
              </a:rPr>
              <a:t>并且</a:t>
            </a:r>
            <a:r>
              <a:rPr lang="en-US" altLang="zh-CN" b="0" dirty="0" smtClean="0">
                <a:solidFill>
                  <a:schemeClr val="accent6">
                    <a:lumMod val="75000"/>
                  </a:schemeClr>
                </a:solidFill>
              </a:rPr>
              <a:t>，</a:t>
            </a:r>
            <a:r>
              <a:rPr lang="zh-CN" altLang="en-US" b="0" dirty="0" smtClean="0">
                <a:solidFill>
                  <a:schemeClr val="accent6">
                    <a:lumMod val="75000"/>
                  </a:schemeClr>
                </a:solidFill>
              </a:rPr>
              <a:t>这些加载没有空间局部性</a:t>
            </a:r>
            <a:r>
              <a:rPr lang="en-US" b="0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zh-CN" altLang="en-US" b="0" dirty="0">
                <a:solidFill>
                  <a:schemeClr val="accent6">
                    <a:lumMod val="75000"/>
                  </a:schemeClr>
                </a:solidFill>
              </a:rPr>
              <a:t>。</a:t>
            </a:r>
            <a:endParaRPr lang="en-US" b="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概念小测验：</a:t>
            </a:r>
            <a:r>
              <a:rPr lang="en-US" altLang="zh-CN" dirty="0" smtClean="0"/>
              <a:t>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什</a:t>
            </a:r>
            <a:r>
              <a:rPr lang="zh-CN" altLang="en-US" dirty="0" smtClean="0"/>
              <a:t>么是</a:t>
            </a:r>
            <a:r>
              <a:rPr lang="en-US" altLang="zh-CN" dirty="0" smtClean="0"/>
              <a:t>TLB</a:t>
            </a:r>
            <a:r>
              <a:rPr lang="zh-CN" altLang="en-US" dirty="0" smtClean="0"/>
              <a:t>，它解决了什么问题，何时使用它？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0" dirty="0" smtClean="0">
                <a:solidFill>
                  <a:schemeClr val="accent6">
                    <a:lumMod val="75000"/>
                  </a:schemeClr>
                </a:solidFill>
              </a:rPr>
              <a:t>TLB </a:t>
            </a:r>
            <a:r>
              <a:rPr lang="zh-CN" altLang="en-US" b="0" dirty="0" smtClean="0">
                <a:solidFill>
                  <a:schemeClr val="accent6">
                    <a:lumMod val="75000"/>
                  </a:schemeClr>
                </a:solidFill>
              </a:rPr>
              <a:t>是一个小型缓存，专门用于存储从虚拟地址到物理地址的映射。它避免了查找多级页表的开销。</a:t>
            </a:r>
            <a:br>
              <a:rPr lang="en-US" b="0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US" b="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b="0" dirty="0" smtClean="0">
                <a:solidFill>
                  <a:schemeClr val="accent6">
                    <a:lumMod val="75000"/>
                  </a:schemeClr>
                </a:solidFill>
              </a:rPr>
              <a:t>MMU </a:t>
            </a:r>
            <a:r>
              <a:rPr lang="zh-CN" altLang="en-US" b="0" dirty="0" smtClean="0">
                <a:solidFill>
                  <a:schemeClr val="accent6">
                    <a:lumMod val="75000"/>
                  </a:schemeClr>
                </a:solidFill>
              </a:rPr>
              <a:t>把每个地址的查询先交给</a:t>
            </a:r>
            <a:r>
              <a:rPr lang="en-US" altLang="zh-CN" b="0" dirty="0" smtClean="0">
                <a:solidFill>
                  <a:schemeClr val="accent6">
                    <a:lumMod val="75000"/>
                  </a:schemeClr>
                </a:solidFill>
              </a:rPr>
              <a:t>TLB</a:t>
            </a:r>
            <a:r>
              <a:rPr lang="zh-CN" altLang="en-US" b="0" dirty="0" smtClean="0">
                <a:solidFill>
                  <a:schemeClr val="accent6">
                    <a:lumMod val="75000"/>
                  </a:schemeClr>
                </a:solidFill>
              </a:rPr>
              <a:t>；如果</a:t>
            </a:r>
            <a:r>
              <a:rPr lang="en-US" altLang="zh-CN" b="0" dirty="0" smtClean="0">
                <a:solidFill>
                  <a:schemeClr val="accent6">
                    <a:lumMod val="75000"/>
                  </a:schemeClr>
                </a:solidFill>
              </a:rPr>
              <a:t>TLB</a:t>
            </a:r>
            <a:r>
              <a:rPr lang="zh-CN" altLang="en-US" b="0" dirty="0" smtClean="0">
                <a:solidFill>
                  <a:schemeClr val="accent6">
                    <a:lumMod val="75000"/>
                  </a:schemeClr>
                </a:solidFill>
              </a:rPr>
              <a:t>命中，就不需要从页表中获取任何内容。</a:t>
            </a:r>
            <a:endParaRPr lang="en-US" b="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概念小测验：</a:t>
            </a:r>
            <a:r>
              <a:rPr lang="en-US" altLang="zh-CN" dirty="0" smtClean="0"/>
              <a:t>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虚拟内存如何与缓存交互？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zh-CN" altLang="en-US" b="0" dirty="0" smtClean="0">
                <a:solidFill>
                  <a:schemeClr val="accent6">
                    <a:lumMod val="75000"/>
                  </a:schemeClr>
                </a:solidFill>
              </a:rPr>
              <a:t>缓存的功能是加速最常使用数据的访问速</a:t>
            </a:r>
            <a:r>
              <a:rPr lang="zh-CN" altLang="en-US" b="0" dirty="0" smtClean="0">
                <a:solidFill>
                  <a:schemeClr val="accent6">
                    <a:lumMod val="75000"/>
                  </a:schemeClr>
                </a:solidFill>
              </a:rPr>
              <a:t>度</a:t>
            </a:r>
            <a:r>
              <a:rPr lang="zh-CN" altLang="en-US" b="0" dirty="0">
                <a:solidFill>
                  <a:schemeClr val="accent6">
                    <a:lumMod val="75000"/>
                  </a:schemeClr>
                </a:solidFill>
              </a:rPr>
              <a:t>。</a:t>
            </a:r>
            <a:endParaRPr lang="zh-CN" altLang="en-US" b="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b="0" dirty="0" smtClean="0">
                <a:solidFill>
                  <a:schemeClr val="accent6">
                    <a:lumMod val="75000"/>
                  </a:schemeClr>
                </a:solidFill>
              </a:rPr>
              <a:t>MMU </a:t>
            </a:r>
            <a:r>
              <a:rPr lang="zh-CN" altLang="en-US" b="0" dirty="0" smtClean="0">
                <a:solidFill>
                  <a:schemeClr val="accent6">
                    <a:lumMod val="75000"/>
                  </a:schemeClr>
                </a:solidFill>
              </a:rPr>
              <a:t>位于</a:t>
            </a:r>
            <a:r>
              <a:rPr lang="en-US" altLang="zh-CN" b="0" dirty="0" smtClean="0">
                <a:solidFill>
                  <a:schemeClr val="accent6">
                    <a:lumMod val="75000"/>
                  </a:schemeClr>
                </a:solidFill>
              </a:rPr>
              <a:t>CPU</a:t>
            </a:r>
            <a:r>
              <a:rPr lang="zh-CN" altLang="en-US" b="0" dirty="0" smtClean="0">
                <a:solidFill>
                  <a:schemeClr val="accent6">
                    <a:lumMod val="75000"/>
                  </a:schemeClr>
                </a:solidFill>
              </a:rPr>
              <a:t>和</a:t>
            </a:r>
            <a:r>
              <a:rPr lang="en-US" altLang="zh-CN" b="0" dirty="0" smtClean="0">
                <a:solidFill>
                  <a:schemeClr val="accent6">
                    <a:lumMod val="75000"/>
                  </a:schemeClr>
                </a:solidFill>
              </a:rPr>
              <a:t>cache</a:t>
            </a:r>
            <a:r>
              <a:rPr lang="zh-CN" altLang="en-US" b="0" dirty="0" smtClean="0">
                <a:solidFill>
                  <a:schemeClr val="accent6">
                    <a:lumMod val="75000"/>
                  </a:schemeClr>
                </a:solidFill>
              </a:rPr>
              <a:t>之间</a:t>
            </a:r>
            <a:r>
              <a:rPr lang="en-US" altLang="zh-CN" b="0" dirty="0" smtClean="0">
                <a:solidFill>
                  <a:schemeClr val="accent6">
                    <a:lumMod val="75000"/>
                  </a:schemeClr>
                </a:solidFill>
              </a:rPr>
              <a:t>，</a:t>
            </a:r>
            <a:r>
              <a:rPr lang="zh-CN" altLang="en-US" b="0" dirty="0" smtClean="0">
                <a:solidFill>
                  <a:schemeClr val="accent6">
                    <a:lumMod val="75000"/>
                  </a:schemeClr>
                </a:solidFill>
              </a:rPr>
              <a:t>将</a:t>
            </a:r>
            <a:r>
              <a:rPr lang="en-US" altLang="zh-CN" b="0" dirty="0" smtClean="0">
                <a:solidFill>
                  <a:schemeClr val="accent6">
                    <a:lumMod val="75000"/>
                  </a:schemeClr>
                </a:solidFill>
              </a:rPr>
              <a:t>（</a:t>
            </a:r>
            <a:r>
              <a:rPr lang="zh-CN" altLang="en-US" b="0" dirty="0" smtClean="0">
                <a:solidFill>
                  <a:schemeClr val="accent6">
                    <a:lumMod val="75000"/>
                  </a:schemeClr>
                </a:solidFill>
              </a:rPr>
              <a:t>基于页表</a:t>
            </a:r>
            <a:r>
              <a:rPr lang="en-US" altLang="zh-CN" b="0" dirty="0" smtClean="0">
                <a:solidFill>
                  <a:schemeClr val="accent6">
                    <a:lumMod val="75000"/>
                  </a:schemeClr>
                </a:solidFill>
              </a:rPr>
              <a:t>）</a:t>
            </a:r>
            <a:r>
              <a:rPr lang="zh-CN" altLang="en-US" b="0" dirty="0" smtClean="0">
                <a:solidFill>
                  <a:schemeClr val="accent6">
                    <a:lumMod val="75000"/>
                  </a:schemeClr>
                </a:solidFill>
              </a:rPr>
              <a:t>将虚拟地址映射成物理地址</a:t>
            </a:r>
            <a:r>
              <a:rPr lang="en-US" altLang="zh-CN" b="0" dirty="0" smtClean="0">
                <a:solidFill>
                  <a:schemeClr val="accent6">
                    <a:lumMod val="75000"/>
                  </a:schemeClr>
                </a:solidFill>
              </a:rPr>
              <a:t>。</a:t>
            </a:r>
            <a:endParaRPr lang="en-US" altLang="zh-CN" b="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b="0" dirty="0" smtClean="0">
                <a:solidFill>
                  <a:schemeClr val="accent6">
                    <a:lumMod val="75000"/>
                  </a:schemeClr>
                </a:solidFill>
              </a:rPr>
              <a:t>cache</a:t>
            </a:r>
            <a:r>
              <a:rPr lang="zh-CN" altLang="en-US" b="0" dirty="0" smtClean="0">
                <a:solidFill>
                  <a:schemeClr val="accent6">
                    <a:lumMod val="75000"/>
                  </a:schemeClr>
                </a:solidFill>
              </a:rPr>
              <a:t>只使用物理地址。</a:t>
            </a:r>
            <a:endParaRPr lang="zh-CN" altLang="en-US" b="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b="0" dirty="0" smtClean="0">
                <a:solidFill>
                  <a:schemeClr val="accent6">
                    <a:lumMod val="75000"/>
                  </a:schemeClr>
                </a:solidFill>
              </a:rPr>
              <a:t>多个进程的数据可能在</a:t>
            </a:r>
            <a:r>
              <a:rPr lang="en-US" altLang="zh-CN" b="0" dirty="0" smtClean="0">
                <a:solidFill>
                  <a:schemeClr val="accent6">
                    <a:lumMod val="75000"/>
                  </a:schemeClr>
                </a:solidFill>
              </a:rPr>
              <a:t>cache</a:t>
            </a:r>
            <a:r>
              <a:rPr lang="zh-CN" altLang="en-US" b="0" dirty="0" smtClean="0">
                <a:solidFill>
                  <a:schemeClr val="accent6">
                    <a:lumMod val="75000"/>
                  </a:schemeClr>
                </a:solidFill>
              </a:rPr>
              <a:t>中共存（或者争夺</a:t>
            </a:r>
            <a:r>
              <a:rPr lang="en-US" altLang="zh-CN" b="0" dirty="0" smtClean="0">
                <a:solidFill>
                  <a:schemeClr val="accent6">
                    <a:lumMod val="75000"/>
                  </a:schemeClr>
                </a:solidFill>
              </a:rPr>
              <a:t>cache</a:t>
            </a:r>
            <a:r>
              <a:rPr lang="zh-CN" altLang="en-US" b="0" dirty="0" smtClean="0">
                <a:solidFill>
                  <a:schemeClr val="accent6">
                    <a:lumMod val="75000"/>
                  </a:schemeClr>
                </a:solidFill>
              </a:rPr>
              <a:t>空间</a:t>
            </a:r>
            <a:r>
              <a:rPr lang="en-US" altLang="zh-CN" b="0" dirty="0" smtClean="0">
                <a:solidFill>
                  <a:schemeClr val="accent6">
                    <a:lumMod val="75000"/>
                  </a:schemeClr>
                </a:solidFill>
              </a:rPr>
              <a:t>）</a:t>
            </a:r>
            <a:r>
              <a:rPr lang="zh-CN" altLang="en-US" b="0" dirty="0" smtClean="0">
                <a:solidFill>
                  <a:schemeClr val="accent6">
                    <a:lumMod val="75000"/>
                  </a:schemeClr>
                </a:solidFill>
              </a:rPr>
              <a:t>。</a:t>
            </a:r>
            <a:endParaRPr lang="en-US" b="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TABLE_ENDDRAG_ORIGIN_RECT" val="116*258"/>
  <p:tag name="TABLE_ENDDRAG_RECT" val="280*207*116*258"/>
</p:tagLst>
</file>

<file path=ppt/tags/tag2.xml><?xml version="1.0" encoding="utf-8"?>
<p:tagLst xmlns:p="http://schemas.openxmlformats.org/presentationml/2006/main">
  <p:tag name="TABLE_ENDDRAG_ORIGIN_RECT" val="198*261"/>
  <p:tag name="TABLE_ENDDRAG_RECT" val="76*207*198*261"/>
</p:tagLst>
</file>

<file path=ppt/tags/tag3.xml><?xml version="1.0" encoding="utf-8"?>
<p:tagLst xmlns:p="http://schemas.openxmlformats.org/presentationml/2006/main">
  <p:tag name="TABLE_ENDDRAG_ORIGIN_RECT" val="116*258"/>
  <p:tag name="TABLE_ENDDRAG_RECT" val="280*207*116*258"/>
</p:tagLst>
</file>

<file path=ppt/tags/tag4.xml><?xml version="1.0" encoding="utf-8"?>
<p:tagLst xmlns:p="http://schemas.openxmlformats.org/presentationml/2006/main">
  <p:tag name="TABLE_ENDDRAG_ORIGIN_RECT" val="198*261"/>
  <p:tag name="TABLE_ENDDRAG_RECT" val="76*207*198*261"/>
</p:tagLst>
</file>

<file path=ppt/tags/tag5.xml><?xml version="1.0" encoding="utf-8"?>
<p:tagLst xmlns:p="http://schemas.openxmlformats.org/presentationml/2006/main">
  <p:tag name="TABLE_ENDDRAG_ORIGIN_RECT" val="700*87"/>
  <p:tag name="TABLE_ENDDRAG_RECT" val="8*429*700*87"/>
</p:tagLst>
</file>

<file path=ppt/tags/tag6.xml><?xml version="1.0" encoding="utf-8"?>
<p:tagLst xmlns:p="http://schemas.openxmlformats.org/presentationml/2006/main">
  <p:tag name="TABLE_ENDDRAG_ORIGIN_RECT" val="198*261"/>
  <p:tag name="TABLE_ENDDRAG_RECT" val="76*207*198*261"/>
</p:tagLst>
</file>

<file path=ppt/tags/tag7.xml><?xml version="1.0" encoding="utf-8"?>
<p:tagLst xmlns:p="http://schemas.openxmlformats.org/presentationml/2006/main">
  <p:tag name="TABLE_ENDDRAG_ORIGIN_RECT" val="700*87"/>
  <p:tag name="TABLE_ENDDRAG_RECT" val="8*429*700*87"/>
</p:tagLst>
</file>

<file path=ppt/tags/tag8.xml><?xml version="1.0" encoding="utf-8"?>
<p:tagLst xmlns:p="http://schemas.openxmlformats.org/presentationml/2006/main">
  <p:tag name="TABLE_ENDDRAG_ORIGIN_RECT" val="198*261"/>
  <p:tag name="TABLE_ENDDRAG_RECT" val="76*207*198*261"/>
</p:tagLst>
</file>

<file path=ppt/tags/tag9.xml><?xml version="1.0" encoding="utf-8"?>
<p:tagLst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95000"/>
          </a:schemeClr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</a:spPr>
      <a:bodyPr rtlCol="0" anchor="ctr"/>
      <a:lstStyle>
        <a:defPPr algn="ctr">
          <a:defRPr sz="1600" dirty="0" smtClean="0">
            <a:latin typeface="+mn-lt"/>
          </a:defRPr>
        </a:defPPr>
      </a:lstStyle>
    </a:spDef>
    <a:ln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0</TotalTime>
  <Words>10009</Words>
  <Application>WPS Presentation</Application>
  <PresentationFormat>宽屏</PresentationFormat>
  <Paragraphs>2653</Paragraphs>
  <Slides>53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82" baseType="lpstr">
      <vt:lpstr>Arial</vt:lpstr>
      <vt:lpstr>SimSun</vt:lpstr>
      <vt:lpstr>Wingdings</vt:lpstr>
      <vt:lpstr>Arial Narrow</vt:lpstr>
      <vt:lpstr>Calibri</vt:lpstr>
      <vt:lpstr>Helvetica Neue</vt:lpstr>
      <vt:lpstr>Times New Roman</vt:lpstr>
      <vt:lpstr>MS PGothic</vt:lpstr>
      <vt:lpstr>Wingdings 2</vt:lpstr>
      <vt:lpstr>Calibri</vt:lpstr>
      <vt:lpstr>Arial Narrow</vt:lpstr>
      <vt:lpstr>Cambria Math</vt:lpstr>
      <vt:lpstr>Kingsoft Math</vt:lpstr>
      <vt:lpstr>Times New Roman</vt:lpstr>
      <vt:lpstr>SimSun</vt:lpstr>
      <vt:lpstr>汉仪书宋二KW</vt:lpstr>
      <vt:lpstr>Microsoft YaHei</vt:lpstr>
      <vt:lpstr>汉仪旗黑</vt:lpstr>
      <vt:lpstr>Arial Unicode MS</vt:lpstr>
      <vt:lpstr>Courier New</vt:lpstr>
      <vt:lpstr>msgothic</vt:lpstr>
      <vt:lpstr>Arial Bold</vt:lpstr>
      <vt:lpstr>冬青黑体简体中文</vt:lpstr>
      <vt:lpstr>苹方-简</vt:lpstr>
      <vt:lpstr>SimSun</vt:lpstr>
      <vt:lpstr>Courier New</vt:lpstr>
      <vt:lpstr>Menlo-Regular</vt:lpstr>
      <vt:lpstr>Menlo Bold</vt:lpstr>
      <vt:lpstr>template2007</vt:lpstr>
      <vt:lpstr>虚拟内存：详解  15-213/15-503/14-513: Introduction to Computer Systems  12th Lecture, Oct 2, 2025</vt:lpstr>
      <vt:lpstr>Today</vt:lpstr>
      <vt:lpstr>复习：虚拟寻址</vt:lpstr>
      <vt:lpstr>复习：无虚存的内存访问</vt:lpstr>
      <vt:lpstr>复习：有虚存的内存访问</vt:lpstr>
      <vt:lpstr>复习：有虚存的内存访问</vt:lpstr>
      <vt:lpstr>复习：有虚存的内存访问</vt:lpstr>
      <vt:lpstr>复习：存在的问题</vt:lpstr>
      <vt:lpstr>复习：存在的问题（使用k级页表）</vt:lpstr>
      <vt:lpstr>Today</vt:lpstr>
      <vt:lpstr>缺页故障发生了什么？</vt:lpstr>
      <vt:lpstr>OS 跟踪虚存“区域”</vt:lpstr>
      <vt:lpstr>故障类型</vt:lpstr>
      <vt:lpstr>Today</vt:lpstr>
      <vt:lpstr>概念小测验：1</vt:lpstr>
      <vt:lpstr>概念小测验：2</vt:lpstr>
      <vt:lpstr>Today</vt:lpstr>
      <vt:lpstr>简单内存系统举例</vt:lpstr>
      <vt:lpstr>简单内存系统 TLB</vt:lpstr>
      <vt:lpstr>简单内存系统的页表</vt:lpstr>
      <vt:lpstr>简单内存系统 Cache</vt:lpstr>
      <vt:lpstr>Intel Core i7 存储器系统</vt:lpstr>
      <vt:lpstr>Core i7 页表转换</vt:lpstr>
      <vt:lpstr>Core i7 1-3 级页表项</vt:lpstr>
      <vt:lpstr>Core i7 4 级页表项</vt:lpstr>
      <vt:lpstr>端到端 Core i7 地址转换</vt:lpstr>
      <vt:lpstr>加快L1访问的技巧</vt:lpstr>
      <vt:lpstr>Exercise 2:</vt:lpstr>
      <vt:lpstr>Exercise 2:</vt:lpstr>
      <vt:lpstr>Exercise 2:</vt:lpstr>
      <vt:lpstr>Exercise 2:</vt:lpstr>
      <vt:lpstr>Today</vt:lpstr>
      <vt:lpstr>Memory Mapping</vt:lpstr>
      <vt:lpstr>Sharing Revisited: Shared Objects</vt:lpstr>
      <vt:lpstr>Sharing Revisited: Shared Objects</vt:lpstr>
      <vt:lpstr>Sharing Revisited:  Private Copy-on-write (COW) Objects</vt:lpstr>
      <vt:lpstr>Sharing Revisited:  Private Copy-on-write (COW) Objects</vt:lpstr>
      <vt:lpstr>内存映射的文件</vt:lpstr>
      <vt:lpstr>内存映射的文件</vt:lpstr>
      <vt:lpstr>写时复制共享</vt:lpstr>
      <vt:lpstr>写时复制共享</vt:lpstr>
      <vt:lpstr>写时复制共享——用于fork（）</vt:lpstr>
      <vt:lpstr>重新理解execv</vt:lpstr>
      <vt:lpstr>User-Level Memory Mapping</vt:lpstr>
      <vt:lpstr>User-Level Memory Mapping</vt:lpstr>
      <vt:lpstr>Example: Using mmap to Copy Files</vt:lpstr>
      <vt:lpstr>PowerPoint 演示文稿</vt:lpstr>
      <vt:lpstr>PowerPoint 演示文稿</vt:lpstr>
      <vt:lpstr>libc</vt:lpstr>
      <vt:lpstr>概念小测验：3</vt:lpstr>
      <vt:lpstr>概念小测验：4</vt:lpstr>
      <vt:lpstr>概念小测验：5</vt:lpstr>
      <vt:lpstr>概念小测验：6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</dc:title>
  <dc:creator>Markus Pueschel</dc:creator>
  <dc:description>Redesign of slides created by Randal E. Bryant and David R. O'Hallaron</dc:description>
  <cp:lastModifiedBy>00030832</cp:lastModifiedBy>
  <cp:revision>808</cp:revision>
  <cp:lastPrinted>2026-05-27T06:47:47Z</cp:lastPrinted>
  <dcterms:created xsi:type="dcterms:W3CDTF">2026-05-27T06:47:47Z</dcterms:created>
  <dcterms:modified xsi:type="dcterms:W3CDTF">2026-05-27T06:47:47Z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1033-12.1.24031.24031</vt:lpwstr>
  </property>
  <property fmtid="{D5CDD505-2E9C-101B-9397-08002B2CF9AE}" pid="3" name="ICV">
    <vt:lpwstr>FA075AEE0BB8596439A4A169DE60FD89_42</vt:lpwstr>
  </property>
</Properties>
</file>