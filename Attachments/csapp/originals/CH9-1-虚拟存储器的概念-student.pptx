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76"/>
  </p:handoutMasterIdLst>
  <p:sldIdLst>
    <p:sldId id="256" r:id="rId3"/>
    <p:sldId id="1290" r:id="rId5"/>
    <p:sldId id="1265" r:id="rId6"/>
    <p:sldId id="1320" r:id="rId7"/>
    <p:sldId id="1317" r:id="rId8"/>
    <p:sldId id="1249" r:id="rId9"/>
    <p:sldId id="257" r:id="rId10"/>
    <p:sldId id="298" r:id="rId11"/>
    <p:sldId id="1264" r:id="rId12"/>
    <p:sldId id="1263" r:id="rId13"/>
    <p:sldId id="260" r:id="rId14"/>
    <p:sldId id="277" r:id="rId15"/>
    <p:sldId id="278" r:id="rId16"/>
    <p:sldId id="279" r:id="rId17"/>
    <p:sldId id="261" r:id="rId18"/>
    <p:sldId id="262" r:id="rId19"/>
    <p:sldId id="283" r:id="rId20"/>
    <p:sldId id="1256" r:id="rId21"/>
    <p:sldId id="1270" r:id="rId22"/>
    <p:sldId id="267" r:id="rId23"/>
    <p:sldId id="1302" r:id="rId24"/>
    <p:sldId id="268" r:id="rId25"/>
    <p:sldId id="285" r:id="rId26"/>
    <p:sldId id="286" r:id="rId27"/>
    <p:sldId id="269" r:id="rId28"/>
    <p:sldId id="287" r:id="rId29"/>
    <p:sldId id="270" r:id="rId30"/>
    <p:sldId id="271" r:id="rId31"/>
    <p:sldId id="272" r:id="rId32"/>
    <p:sldId id="273" r:id="rId33"/>
    <p:sldId id="274" r:id="rId34"/>
    <p:sldId id="1291" r:id="rId35"/>
    <p:sldId id="1292" r:id="rId36"/>
    <p:sldId id="1293" r:id="rId37"/>
    <p:sldId id="1294" r:id="rId38"/>
    <p:sldId id="1295" r:id="rId39"/>
    <p:sldId id="1296" r:id="rId40"/>
    <p:sldId id="1297" r:id="rId41"/>
    <p:sldId id="1298" r:id="rId42"/>
    <p:sldId id="1299" r:id="rId43"/>
    <p:sldId id="1304" r:id="rId44"/>
    <p:sldId id="1252" r:id="rId45"/>
    <p:sldId id="264" r:id="rId46"/>
    <p:sldId id="266" r:id="rId47"/>
    <p:sldId id="1277" r:id="rId48"/>
    <p:sldId id="288" r:id="rId49"/>
    <p:sldId id="1257" r:id="rId50"/>
    <p:sldId id="1259" r:id="rId51"/>
    <p:sldId id="1260" r:id="rId52"/>
    <p:sldId id="1261" r:id="rId53"/>
    <p:sldId id="1262" r:id="rId54"/>
    <p:sldId id="1266" r:id="rId55"/>
    <p:sldId id="1258" r:id="rId56"/>
    <p:sldId id="275" r:id="rId57"/>
    <p:sldId id="1308" r:id="rId58"/>
    <p:sldId id="1278" r:id="rId59"/>
    <p:sldId id="289" r:id="rId60"/>
    <p:sldId id="1307" r:id="rId61"/>
    <p:sldId id="290" r:id="rId62"/>
    <p:sldId id="1279" r:id="rId63"/>
    <p:sldId id="291" r:id="rId64"/>
    <p:sldId id="292" r:id="rId65"/>
    <p:sldId id="1280" r:id="rId66"/>
    <p:sldId id="1281" r:id="rId67"/>
    <p:sldId id="1283" r:id="rId68"/>
    <p:sldId id="1305" r:id="rId69"/>
    <p:sldId id="1312" r:id="rId70"/>
    <p:sldId id="1315" r:id="rId71"/>
    <p:sldId id="1322" r:id="rId72"/>
    <p:sldId id="1323" r:id="rId73"/>
    <p:sldId id="1324" r:id="rId74"/>
    <p:sldId id="1325" r:id="rId75"/>
  </p:sldIdLst>
  <p:sldSz cx="12192000" cy="6858000"/>
  <p:notesSz cx="7302500" cy="9586595"/>
  <p:embeddedFontLst>
    <p:embeddedFont>
      <p:font typeface="Calibri" panose="020F0502020204030204"/>
      <p:regular r:id="rId80"/>
    </p:embeddedFont>
    <p:embeddedFont>
      <p:font typeface="Arial Narrow" panose="020B0706020202030204"/>
      <p:regular r:id="rId81"/>
    </p:embeddedFont>
    <p:embeddedFont>
      <p:font typeface="Calibri" panose="020F0502020204030204" pitchFamily="34" charset="0"/>
      <p:regular r:id="rId8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3266" userDrawn="1">
          <p15:clr>
            <a:srgbClr val="A4A3A4"/>
          </p15:clr>
        </p15:guide>
        <p15:guide id="2" pos="37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 autoAdjust="0"/>
    <p:restoredTop sz="86359" autoAdjust="0"/>
  </p:normalViewPr>
  <p:slideViewPr>
    <p:cSldViewPr snapToGrid="0" showGuides="1">
      <p:cViewPr varScale="1">
        <p:scale>
          <a:sx n="105" d="100"/>
          <a:sy n="105" d="100"/>
        </p:scale>
        <p:origin x="906" y="102"/>
      </p:cViewPr>
      <p:guideLst>
        <p:guide orient="horz" pos="3266"/>
        <p:guide pos="3757"/>
      </p:guideLst>
    </p:cSldViewPr>
  </p:slideViewPr>
  <p:outlineViewPr>
    <p:cViewPr>
      <p:scale>
        <a:sx n="33" d="100"/>
        <a:sy n="33" d="100"/>
      </p:scale>
      <p:origin x="0" y="-198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2" Type="http://schemas.openxmlformats.org/officeDocument/2006/relationships/font" Target="fonts/font3.fntdata"/><Relationship Id="rId81" Type="http://schemas.openxmlformats.org/officeDocument/2006/relationships/font" Target="fonts/font2.fntdata"/><Relationship Id="rId80" Type="http://schemas.openxmlformats.org/officeDocument/2006/relationships/font" Target="fonts/font1.fntdata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handoutMaster" Target="handoutMasters/handoutMaster1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9518" cy="504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32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404493" y="0"/>
            <a:ext cx="3369518" cy="504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32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46338"/>
            <a:ext cx="3369518" cy="504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404493" y="9546338"/>
            <a:ext cx="3369518" cy="504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2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85800"/>
            <a:ext cx="6502400" cy="3657600"/>
          </a:xfrm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Shape 875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76" name="Shape 876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77" name="Shape 87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Shape 919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20" name="Shape 920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1" name="Shape 92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Shape 963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64" name="Shape 964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65" name="Shape 96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5" name="Shape 175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6" name="Shape 176"/>
          <p:cNvSpPr txBox="1">
            <a:spLocks noGrp="1"/>
          </p:cNvSpPr>
          <p:nvPr>
            <p:ph type="sldNum" idx="12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Shape 108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1" name="Shape 1081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如果在虚拟地址</a:t>
            </a:r>
            <a:r>
              <a:rPr lang="en-US" altLang="zh-CN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zh-CN" altLang="en-US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的数据存在于</a:t>
            </a:r>
            <a:r>
              <a:rPr lang="en-US" altLang="zh-CN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</a:t>
            </a:r>
            <a:r>
              <a:rPr lang="zh-CN" altLang="en-US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中的物理地址</a:t>
            </a:r>
            <a:r>
              <a:rPr lang="en-US" altLang="zh-CN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zh-CN" altLang="en-US" sz="1200" b="0" i="0" u="none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‘</a:t>
            </a:r>
            <a:endParaRPr sz="12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52" name="Shape 352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3" name="Shape 35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14" name="Shape 414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5" name="Shape 41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Shape 109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3" name="Shape 1093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94" name="Shape 1094"/>
          <p:cNvSpPr txBox="1">
            <a:spLocks noGrp="1"/>
          </p:cNvSpPr>
          <p:nvPr>
            <p:ph type="sldNum" idx="12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Shape 1132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33" name="Shape 1133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34" name="Shape 113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9" name="Shape 47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Shape 1159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60" name="Shape 1160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61" name="Shape 116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42" name="Shape 542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43" name="Shape 54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Shape 605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06" name="Shape 606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07" name="Shape 60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70" name="Shape 670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71" name="Shape 67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733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34" name="Shape 734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5" name="Shape 73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798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799" name="Shape 79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Shape 1385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86" name="Shape 1386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87" name="Shape 1387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1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8482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6661" tIns="48331" rIns="96661" bIns="48331" anchor="t"/>
          <a:p>
            <a:pPr lvl="0"/>
            <a:endParaRPr lang="en-US" altLang="en-US"/>
          </a:p>
        </p:txBody>
      </p:sp>
      <p:sp>
        <p:nvSpPr>
          <p:cNvPr id="148483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6661" tIns="48331" rIns="96661" bIns="48331" anchor="b"/>
          <a:p>
            <a:pPr lvl="0" indent="0" algn="r" defTabSz="967105"/>
            <a:r>
              <a:rPr lang="en-AU" altLang="zh-CN" sz="1300">
                <a:latin typeface="Times New Roman" panose="02020603050405020304" charset="0"/>
                <a:ea typeface="SimSun" pitchFamily="2" charset="-122"/>
              </a:rPr>
              <a:t>*</a:t>
            </a:r>
            <a:endParaRPr lang="en-AU" altLang="zh-CN" sz="1300">
              <a:latin typeface="Times New Roman" panose="02020603050405020304" charset="0"/>
              <a:ea typeface="SimSun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Shape 1363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64" name="Shape 1364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65" name="Shape 1365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Shape 1427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28" name="Shape 1428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9" name="Shape 1429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Shape 1489"/>
          <p:cNvSpPr txBox="1"/>
          <p:nvPr/>
        </p:nvSpPr>
        <p:spPr>
          <a:xfrm>
            <a:off x="1264660" y="726233"/>
            <a:ext cx="4774840" cy="358197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4900" tIns="47450" rIns="94900" bIns="47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90" name="Shape 1490"/>
          <p:cNvSpPr txBox="1">
            <a:spLocks noGrp="1"/>
          </p:cNvSpPr>
          <p:nvPr>
            <p:ph type="body" idx="1"/>
          </p:nvPr>
        </p:nvSpPr>
        <p:spPr>
          <a:xfrm>
            <a:off x="972560" y="4554112"/>
            <a:ext cx="5357380" cy="431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1" name="Shape 1491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6" name="Shape 19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6" name="Shape 34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F4BBD0FF-4BBD-4949-AA92-132253A65FFA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613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61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31E866E4-898E-054F-AF6B-7DAE434D9796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61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119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Shape 1194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862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63" name="Shape 863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64" name="Shape 864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A624900C-83A2-1948-8445-ACABF96171BB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71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71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E4822016-5E10-FF4B-A5C2-CCECD4F3B30B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71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1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Shape 1234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235" name="Shape 1235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36" name="Shape 123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Shape 108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7" name="Shape 1087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Shape 1241"/>
          <p:cNvSpPr txBox="1">
            <a:spLocks noGrp="1"/>
          </p:cNvSpPr>
          <p:nvPr>
            <p:ph type="body" idx="1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242" name="Shape 1242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20DB1513-C19E-C647-8F13-27A4016ACB6B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818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8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9FB78F6A-6644-6D47-A0F0-3BC86DB33367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8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Shape 1298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299" name="Shape 1299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0" name="Shape 130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Shape 1331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32" name="Shape 1332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33" name="Shape 133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B9A19F32-3D5D-784D-AB71-AA79EF768BA8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92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74965FA8-3D9A-7740-A539-46DBB5E8DA3B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792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92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53801EEF-7A70-E34A-BBFA-34BAAF575C2E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125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12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C16F1D66-6C24-7F4F-B35A-A9250D32FBB9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12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12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B5363D7F-35AF-6347-88F0-68EDD5DAF4E4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227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2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E9ACFA37-93B8-404F-8B97-53BDC8FC9813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2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22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Morgan Kaufmann Publishers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FC4A669C-9F2F-0C47-9380-B6111C787E10}" type="datetime3">
              <a:rPr lang="en-AU" altLang="en-US" smtClean="0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33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charset="0"/>
              </a:rPr>
              <a:t>Chapter 5 — Large and Fast: Exploiting Memory Hierarchy</a:t>
            </a:r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33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 defTabSz="96647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fld id="{56183F50-79F1-E644-A7AD-81AA9A178234}" type="slidenum">
              <a:rPr lang="en-AU" altLang="en-US">
                <a:latin typeface="Times New Roman" panose="02020603050405020304" charset="0"/>
              </a:rPr>
            </a:fld>
            <a:endParaRPr lang="en-AU" altLang="en-US">
              <a:latin typeface="Times New Roman" panose="02020603050405020304" charset="0"/>
            </a:endParaRPr>
          </a:p>
        </p:txBody>
      </p:sp>
      <p:sp>
        <p:nvSpPr>
          <p:cNvPr id="1833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998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99" name="Shape 999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0" name="Shape 100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Shape 1544"/>
          <p:cNvSpPr txBox="1"/>
          <p:nvPr/>
        </p:nvSpPr>
        <p:spPr>
          <a:xfrm>
            <a:off x="1264626" y="725993"/>
            <a:ext cx="4774834" cy="358241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275" tIns="45625" rIns="91275" bIns="456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45" name="Shape 1545"/>
          <p:cNvSpPr txBox="1">
            <a:spLocks noGrp="1"/>
          </p:cNvSpPr>
          <p:nvPr>
            <p:ph type="body" idx="1"/>
          </p:nvPr>
        </p:nvSpPr>
        <p:spPr>
          <a:xfrm>
            <a:off x="973033" y="4554101"/>
            <a:ext cx="5356434" cy="431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46" name="Shape 1546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85800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ctrTitle"/>
          </p:nvPr>
        </p:nvSpPr>
        <p:spPr>
          <a:xfrm>
            <a:off x="914400" y="1708013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18" name="Shape 18"/>
          <p:cNvSpPr txBox="1">
            <a:spLocks noGrp="1"/>
          </p:cNvSpPr>
          <p:nvPr>
            <p:ph type="subTitle" idx="1"/>
          </p:nvPr>
        </p:nvSpPr>
        <p:spPr>
          <a:xfrm>
            <a:off x="914400" y="3886200"/>
            <a:ext cx="102366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477017" y="445070"/>
            <a:ext cx="10121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476025" y="435678"/>
            <a:ext cx="1012279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529167" y="1362075"/>
            <a:ext cx="10528300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98787" y="371182"/>
            <a:ext cx="10121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850901" y="1362075"/>
            <a:ext cx="5162551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5280" algn="l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 Symbols"/>
              <a:buChar char="⬛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962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30" name="Shape 30"/>
          <p:cNvSpPr txBox="1">
            <a:spLocks noGrp="1"/>
          </p:cNvSpPr>
          <p:nvPr>
            <p:ph type="body" idx="2"/>
          </p:nvPr>
        </p:nvSpPr>
        <p:spPr>
          <a:xfrm>
            <a:off x="6216651" y="1362075"/>
            <a:ext cx="5162549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5280" algn="l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 Symbols"/>
              <a:buChar char="⬛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962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»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35" name="Shape 3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  <a:defRPr sz="1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None/>
              <a:defRPr sz="1600" b="1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36" name="Shape 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004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Char char="–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Char char="»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704020202020204"/>
              <a:buChar char="»"/>
              <a:defRPr sz="16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rgbClr val="990000"/>
              </a:buClr>
              <a:buSzPts val="1920"/>
              <a:buFont typeface="Noto Sans Symbols"/>
              <a:buChar char="⬛"/>
              <a:defRPr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24180" algn="l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308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052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44" name="Shape 4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990000"/>
              </a:buClr>
              <a:buSzPts val="1920"/>
              <a:buFont typeface="Noto Sans Symbols"/>
              <a:buNone/>
              <a:defRPr sz="32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990000"/>
              </a:buClr>
              <a:buSzPts val="308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 Symbols"/>
              <a:buNone/>
              <a:defRPr sz="1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 panose="020F050202020403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7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>
            <a:off x="498787" y="371182"/>
            <a:ext cx="10121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3307291" y="-1416050"/>
            <a:ext cx="4972050" cy="10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 rot="5400000">
            <a:off x="7681914" y="1824039"/>
            <a:ext cx="6105525" cy="2914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 rot="5400000">
            <a:off x="1748898" y="-991129"/>
            <a:ext cx="6105525" cy="854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, Content, and 2 Content">
  <p:cSld name="OBJECT_AND_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850901" y="1362075"/>
            <a:ext cx="5162551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55" name="Shape 55"/>
          <p:cNvSpPr txBox="1">
            <a:spLocks noGrp="1"/>
          </p:cNvSpPr>
          <p:nvPr>
            <p:ph type="body" idx="2"/>
          </p:nvPr>
        </p:nvSpPr>
        <p:spPr>
          <a:xfrm>
            <a:off x="6216651" y="1362076"/>
            <a:ext cx="5162549" cy="240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56" name="Shape 56"/>
          <p:cNvSpPr txBox="1">
            <a:spLocks noGrp="1"/>
          </p:cNvSpPr>
          <p:nvPr>
            <p:ph type="body" idx="3"/>
          </p:nvPr>
        </p:nvSpPr>
        <p:spPr>
          <a:xfrm>
            <a:off x="6216651" y="3924301"/>
            <a:ext cx="5162549" cy="240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matchingName="Title, Text, and Content">
  <p:cSld name="TEXT_AND_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529168" y="228600"/>
            <a:ext cx="1166283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59" name="Shape 59"/>
          <p:cNvSpPr txBox="1">
            <a:spLocks noGrp="1"/>
          </p:cNvSpPr>
          <p:nvPr>
            <p:ph type="body" idx="1"/>
          </p:nvPr>
        </p:nvSpPr>
        <p:spPr>
          <a:xfrm>
            <a:off x="850901" y="1362075"/>
            <a:ext cx="5162551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60" name="Shape 60"/>
          <p:cNvSpPr txBox="1">
            <a:spLocks noGrp="1"/>
          </p:cNvSpPr>
          <p:nvPr>
            <p:ph type="body" idx="2"/>
          </p:nvPr>
        </p:nvSpPr>
        <p:spPr>
          <a:xfrm>
            <a:off x="6216651" y="1362075"/>
            <a:ext cx="5162549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sz="24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3163" y="6458109"/>
            <a:ext cx="402590" cy="30670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284" y="146050"/>
            <a:ext cx="11013016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912284" y="1125538"/>
            <a:ext cx="5412316" cy="51117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27800" y="1125538"/>
            <a:ext cx="5412317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/>
          <a:lstStyle>
            <a:lvl1pPr>
              <a:defRPr/>
            </a:lvl1pPr>
          </a:lstStyle>
          <a:p>
            <a:r>
              <a:rPr lang="en-AU" altLang="en-US"/>
              <a:t>Chapter 5 — Large and Fast: Exploiting Memory Hierarchy — </a:t>
            </a:r>
            <a:fld id="{89F15A75-152F-1B48-B42A-44FA23C22BF2}" type="slidenum">
              <a:rPr lang="en-AU" altLang="en-US"/>
            </a:fld>
            <a:endParaRPr lang="en-AU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98787" y="371182"/>
            <a:ext cx="10121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defRPr>
            </a:lvl9pPr>
          </a:lstStyle>
          <a:p/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529167" y="1362075"/>
            <a:ext cx="10528300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20040" algn="l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kumimoji="0" sz="2400" b="1" i="0" u="none" strike="noStrike" kern="0" cap="none" spc="0" normalizeH="0" baseline="0" noProof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68300" algn="l" rtl="0"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10530418" y="-26987"/>
            <a:ext cx="1746249" cy="27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Carnegie Mellon</a:t>
            </a:r>
            <a:endParaRPr sz="1400"/>
          </a:p>
        </p:txBody>
      </p:sp>
      <p:sp>
        <p:nvSpPr>
          <p:cNvPr id="14" name="Shape 14"/>
          <p:cNvSpPr/>
          <p:nvPr/>
        </p:nvSpPr>
        <p:spPr>
          <a:xfrm>
            <a:off x="11774458" y="6611780"/>
            <a:ext cx="55399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000000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</a:fld>
            <a:endParaRPr sz="2400" b="1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-21375" y="6629401"/>
            <a:ext cx="61991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Bryant and O’Hallaron, Computer Systems: A Programmer’s Perspective, Third Edition</a:t>
            </a:r>
            <a:endParaRPr sz="1000" b="0" i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xfrm>
            <a:off x="2209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虚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拟存储器：概念</a:t>
            </a:r>
            <a:br>
              <a:rPr lang="en-GB" dirty="0" smtClean="0"/>
            </a:br>
            <a:br>
              <a:rPr lang="en-GB" dirty="0" smtClean="0"/>
            </a:br>
            <a:r>
              <a:rPr lang="en-US" sz="2000" b="0" dirty="0" smtClean="0"/>
              <a:t>15-213/15-503/14-513</a:t>
            </a:r>
            <a:r>
              <a:rPr lang="en-US" sz="2000" b="0" dirty="0"/>
              <a:t>: Introduction to Computer Systems </a:t>
            </a:r>
            <a:br>
              <a:rPr lang="en-US" sz="2000" b="0" dirty="0"/>
            </a:br>
            <a:r>
              <a:rPr lang="en-GB" sz="2000" b="0" dirty="0"/>
              <a:t>11</a:t>
            </a:r>
            <a:r>
              <a:rPr lang="en-GB" sz="2000" b="0" baseline="30000" dirty="0"/>
              <a:t>th</a:t>
            </a:r>
            <a:r>
              <a:rPr lang="en-GB" sz="2000" b="0" dirty="0"/>
              <a:t> Lecture, </a:t>
            </a:r>
            <a:r>
              <a:rPr lang="en-US" sz="2000" b="0" dirty="0">
                <a:solidFill>
                  <a:srgbClr val="000000"/>
                </a:solidFill>
                <a:sym typeface="Calibri Bold" charset="0"/>
              </a:rPr>
              <a:t>Sept 30, 2025</a:t>
            </a:r>
            <a:endParaRPr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虚拟内存的</a:t>
            </a:r>
            <a:r>
              <a:rPr lang="zh-CN" altLang="en-US"/>
              <a:t>概念</a:t>
            </a:r>
            <a:endParaRPr lang="zh-CN" altLang="en-US"/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Dram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作为虚拟内存的缓存</a:t>
            </a:r>
            <a:endParaRPr lang="en-US" altLang="zh-CN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TLB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加速页表的访问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虚拟内存用于内存保护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 1"/>
          <p:cNvSpPr txBox="1">
            <a:spLocks noGrp="1"/>
          </p:cNvSpPr>
          <p:nvPr>
            <p:ph type="title"/>
          </p:nvPr>
        </p:nvSpPr>
        <p:spPr>
          <a:xfrm>
            <a:off x="498475" y="371475"/>
            <a:ext cx="10121900" cy="585470"/>
          </a:xfrm>
          <a:prstGeom prst="rect">
            <a:avLst/>
          </a:prstGeom>
        </p:spPr>
        <p:txBody>
          <a:bodyPr/>
          <a:lstStyle/>
          <a:p>
            <a:r>
              <a:rPr lang="zh-CN" altLang="en-US" sz="3200"/>
              <a:t>回顾</a:t>
            </a:r>
            <a:r>
              <a:rPr lang="en-US" altLang="zh-CN" sz="3200"/>
              <a:t>：</a:t>
            </a:r>
            <a:r>
              <a:rPr lang="en-US" sz="3200"/>
              <a:t>存储器层次结构</a:t>
            </a:r>
            <a:endParaRPr lang="en-US" sz="3200"/>
          </a:p>
        </p:txBody>
      </p:sp>
      <p:sp>
        <p:nvSpPr>
          <p:cNvPr id="803" name="AutoShape 195"/>
          <p:cNvSpPr/>
          <p:nvPr/>
        </p:nvSpPr>
        <p:spPr>
          <a:xfrm>
            <a:off x="2076450" y="401321"/>
            <a:ext cx="6902451" cy="6456363"/>
          </a:xfrm>
          <a:prstGeom prst="triangle">
            <a:avLst/>
          </a:prstGeom>
          <a:gradFill>
            <a:gsLst>
              <a:gs pos="0">
                <a:srgbClr val="D2D2F4">
                  <a:alpha val="7000"/>
                </a:srgbClr>
              </a:gs>
              <a:gs pos="100000">
                <a:srgbClr val="D2D2F4"/>
              </a:gs>
            </a:gsLst>
            <a:lin ang="16140000"/>
          </a:gradFill>
          <a:ln w="12700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4" name="Text Box 196"/>
          <p:cNvSpPr txBox="1"/>
          <p:nvPr/>
        </p:nvSpPr>
        <p:spPr>
          <a:xfrm>
            <a:off x="5280721" y="834509"/>
            <a:ext cx="598880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Regs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5" name="Text Box 198"/>
          <p:cNvSpPr txBox="1"/>
          <p:nvPr/>
        </p:nvSpPr>
        <p:spPr>
          <a:xfrm>
            <a:off x="4964128" y="1283386"/>
            <a:ext cx="1232067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L1 cache 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(SRAM)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6" name="Text Box 199"/>
          <p:cNvSpPr txBox="1"/>
          <p:nvPr/>
        </p:nvSpPr>
        <p:spPr>
          <a:xfrm>
            <a:off x="4811177" y="3822384"/>
            <a:ext cx="1537970" cy="6451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 b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Main memory</a:t>
            </a:r>
            <a:endParaRPr sz="1800" b="1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 b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(DRAM)</a:t>
            </a:r>
            <a:endParaRPr sz="1800" b="1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7" name="Text Box 200"/>
          <p:cNvSpPr txBox="1"/>
          <p:nvPr/>
        </p:nvSpPr>
        <p:spPr>
          <a:xfrm>
            <a:off x="4077666" y="4847323"/>
            <a:ext cx="3004988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Local secondary storage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(local disks)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8" name="Line 203"/>
          <p:cNvSpPr/>
          <p:nvPr/>
        </p:nvSpPr>
        <p:spPr>
          <a:xfrm>
            <a:off x="5037137" y="1265238"/>
            <a:ext cx="981076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09" name="Line 204"/>
          <p:cNvSpPr/>
          <p:nvPr/>
        </p:nvSpPr>
        <p:spPr>
          <a:xfrm>
            <a:off x="4686300" y="1903414"/>
            <a:ext cx="1671639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0" name="Line 205"/>
          <p:cNvSpPr/>
          <p:nvPr/>
        </p:nvSpPr>
        <p:spPr>
          <a:xfrm>
            <a:off x="4303713" y="2655889"/>
            <a:ext cx="2447926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1" name="Line 222"/>
          <p:cNvSpPr/>
          <p:nvPr/>
        </p:nvSpPr>
        <p:spPr>
          <a:xfrm flipH="1">
            <a:off x="1507733" y="3473450"/>
            <a:ext cx="2" cy="2344739"/>
          </a:xfrm>
          <a:prstGeom prst="line">
            <a:avLst/>
          </a:prstGeom>
          <a:ln w="38100">
            <a:solidFill>
              <a:srgbClr val="22228B"/>
            </a:solidFill>
            <a:tailEnd type="triangle"/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2" name="Text Box 223"/>
          <p:cNvSpPr txBox="1"/>
          <p:nvPr/>
        </p:nvSpPr>
        <p:spPr>
          <a:xfrm>
            <a:off x="1601079" y="3994498"/>
            <a:ext cx="1733806" cy="107721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更大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、</a:t>
            </a:r>
            <a:endParaRPr lang="en-US" altLang="zh-CN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更慢、</a:t>
            </a:r>
            <a:endParaRPr lang="en-US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更便宜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（每字节）</a:t>
            </a:r>
            <a:endParaRPr lang="en-US" altLang="zh-CN"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的存储设备</a:t>
            </a:r>
            <a:endParaRPr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3" name="Line 224"/>
          <p:cNvSpPr/>
          <p:nvPr/>
        </p:nvSpPr>
        <p:spPr>
          <a:xfrm>
            <a:off x="3779838" y="3586163"/>
            <a:ext cx="3475038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4" name="Text Box 225"/>
          <p:cNvSpPr txBox="1"/>
          <p:nvPr/>
        </p:nvSpPr>
        <p:spPr>
          <a:xfrm>
            <a:off x="4014349" y="5947461"/>
            <a:ext cx="3131626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Remote secondary storage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(e.g., Web servers)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5" name="Text Box 227"/>
          <p:cNvSpPr txBox="1"/>
          <p:nvPr/>
        </p:nvSpPr>
        <p:spPr>
          <a:xfrm>
            <a:off x="8643027" y="5590493"/>
            <a:ext cx="3192802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/>
          <a:p>
            <a: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4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本地磁盘保存检索自远程服务器的文件</a:t>
            </a:r>
            <a:endParaRPr sz="14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6" name="Line 235"/>
          <p:cNvSpPr/>
          <p:nvPr/>
        </p:nvSpPr>
        <p:spPr>
          <a:xfrm>
            <a:off x="3232150" y="4632325"/>
            <a:ext cx="4576764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7" name="Text Box 236"/>
          <p:cNvSpPr txBox="1"/>
          <p:nvPr/>
        </p:nvSpPr>
        <p:spPr>
          <a:xfrm>
            <a:off x="4964128" y="1948548"/>
            <a:ext cx="1232067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L2 cache 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(SRAM)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8" name="Text Box 243"/>
          <p:cNvSpPr txBox="1"/>
          <p:nvPr/>
        </p:nvSpPr>
        <p:spPr>
          <a:xfrm>
            <a:off x="6532247" y="1749525"/>
            <a:ext cx="4052324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L1 cache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保存检索自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L2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的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行</a:t>
            </a:r>
            <a:endParaRPr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19" name="Text Box 233"/>
          <p:cNvSpPr txBox="1"/>
          <p:nvPr/>
        </p:nvSpPr>
        <p:spPr>
          <a:xfrm>
            <a:off x="6143308" y="1081186"/>
            <a:ext cx="3257158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CPU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寄存器保存检索自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L1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的字</a:t>
            </a:r>
            <a:endParaRPr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0" name="Text Box 231"/>
          <p:cNvSpPr txBox="1"/>
          <p:nvPr/>
        </p:nvSpPr>
        <p:spPr>
          <a:xfrm>
            <a:off x="6935472" y="2511521"/>
            <a:ext cx="3965408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/>
          <a:p>
            <a: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4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L2 cache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保存检索自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L3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的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行</a:t>
            </a:r>
            <a:endParaRPr sz="14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1" name="Text Box 247"/>
          <p:cNvSpPr txBox="1"/>
          <p:nvPr/>
        </p:nvSpPr>
        <p:spPr>
          <a:xfrm>
            <a:off x="4805045" y="644009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L0: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2" name="Text Box 248"/>
          <p:cNvSpPr txBox="1"/>
          <p:nvPr/>
        </p:nvSpPr>
        <p:spPr>
          <a:xfrm>
            <a:off x="4436745" y="1353622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L1: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3" name="Text Box 249"/>
          <p:cNvSpPr txBox="1"/>
          <p:nvPr/>
        </p:nvSpPr>
        <p:spPr>
          <a:xfrm>
            <a:off x="4055745" y="2041009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L2: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4" name="Text Box 250"/>
          <p:cNvSpPr txBox="1"/>
          <p:nvPr/>
        </p:nvSpPr>
        <p:spPr>
          <a:xfrm>
            <a:off x="3649345" y="2796659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L3: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5" name="Text Box 251"/>
          <p:cNvSpPr txBox="1"/>
          <p:nvPr/>
        </p:nvSpPr>
        <p:spPr>
          <a:xfrm>
            <a:off x="3123883" y="3795197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L4: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6" name="Text Box 252"/>
          <p:cNvSpPr txBox="1"/>
          <p:nvPr/>
        </p:nvSpPr>
        <p:spPr>
          <a:xfrm>
            <a:off x="2503170" y="4912797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L5: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7" name="Text Box 289"/>
          <p:cNvSpPr txBox="1"/>
          <p:nvPr/>
        </p:nvSpPr>
        <p:spPr>
          <a:xfrm>
            <a:off x="1607429" y="1506884"/>
            <a:ext cx="1938990" cy="107721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更小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、</a:t>
            </a:r>
            <a:endParaRPr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更快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、</a:t>
            </a:r>
            <a:endParaRPr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成本更高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每字节</a:t>
            </a:r>
            <a:r>
              <a:rPr lang="zh-CN" altLang="en-US" sz="16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）</a:t>
            </a:r>
            <a:endParaRPr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>
              <a:defRPr sz="16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lang="en-US" sz="1600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的存储设备</a:t>
            </a:r>
            <a:endParaRPr sz="16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8" name="Line 291"/>
          <p:cNvSpPr/>
          <p:nvPr/>
        </p:nvSpPr>
        <p:spPr>
          <a:xfrm flipV="1">
            <a:off x="1523293" y="954089"/>
            <a:ext cx="1" cy="2154237"/>
          </a:xfrm>
          <a:prstGeom prst="line">
            <a:avLst/>
          </a:prstGeom>
          <a:ln w="38100">
            <a:solidFill>
              <a:srgbClr val="22228B"/>
            </a:solidFill>
            <a:tailEnd type="triangle"/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29" name="Line 292"/>
          <p:cNvSpPr/>
          <p:nvPr/>
        </p:nvSpPr>
        <p:spPr>
          <a:xfrm>
            <a:off x="2641601" y="5743575"/>
            <a:ext cx="57658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txBody>
          <a:bodyPr lIns="45719" rIns="45719"/>
          <a:lstStyle/>
          <a:p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30" name="Text Box 293"/>
          <p:cNvSpPr txBox="1"/>
          <p:nvPr/>
        </p:nvSpPr>
        <p:spPr>
          <a:xfrm>
            <a:off x="4964128" y="2780398"/>
            <a:ext cx="1232067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/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L3 cache 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  <a:p>
            <a:pPr algn="ctr">
              <a:defRPr sz="1800" b="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80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(SRAM)</a:t>
            </a:r>
            <a:endParaRPr sz="180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31" name="Text Box 295"/>
          <p:cNvSpPr txBox="1"/>
          <p:nvPr/>
        </p:nvSpPr>
        <p:spPr>
          <a:xfrm>
            <a:off x="7379970" y="3305501"/>
            <a:ext cx="3047868" cy="5232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/>
          <a:p>
            <a: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r>
              <a:rPr sz="1400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L3 cache </a:t>
            </a:r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保存检索自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主存的 </a:t>
            </a:r>
            <a:r>
              <a:rPr lang="en-US" altLang="zh-CN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cache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 行</a:t>
            </a:r>
            <a:endParaRPr sz="1400"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32" name="Text Box 297"/>
          <p:cNvSpPr txBox="1"/>
          <p:nvPr/>
        </p:nvSpPr>
        <p:spPr>
          <a:xfrm>
            <a:off x="1957070" y="5963722"/>
            <a:ext cx="472243" cy="3693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800">
                <a:solidFill>
                  <a:srgbClr val="2222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L6:</a:t>
            </a:r>
            <a:endParaRPr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833" name="Text Box 229"/>
          <p:cNvSpPr txBox="1"/>
          <p:nvPr/>
        </p:nvSpPr>
        <p:spPr>
          <a:xfrm>
            <a:off x="7969407" y="4453842"/>
            <a:ext cx="2931473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>
              <a:defRPr sz="1400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lang="en-US" dirty="0" err="1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主存保存检索自</a:t>
            </a:r>
            <a:r>
              <a:rPr lang="zh-CN" altLang="en-US" dirty="0">
                <a:latin typeface="Consolas" panose="020B0609020204030204" pitchFamily="49" charset="0"/>
                <a:ea typeface="FangSong" panose="02010609060101010101" pitchFamily="49" charset="-122"/>
                <a:cs typeface="Consolas" panose="020B0609020204030204" pitchFamily="49" charset="0"/>
              </a:rPr>
              <a:t>本地磁盘的磁盘块</a:t>
            </a:r>
            <a:endParaRPr dirty="0">
              <a:latin typeface="Consolas" panose="020B0609020204030204" pitchFamily="49" charset="0"/>
              <a:ea typeface="FangSong" panose="02010609060101010101" pitchFamily="49" charset="-122"/>
              <a:cs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r>
              <a:t>*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25"/>
          <p:cNvSpPr>
            <a:spLocks noChangeArrowheads="1"/>
          </p:cNvSpPr>
          <p:nvPr/>
        </p:nvSpPr>
        <p:spPr bwMode="auto">
          <a:xfrm>
            <a:off x="1752600" y="1676400"/>
            <a:ext cx="6172200" cy="38862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prstDash val="solid"/>
            <a:miter lim="800000"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1" name="Rectangle 404"/>
          <p:cNvSpPr>
            <a:spLocks noChangeArrowheads="1"/>
          </p:cNvSpPr>
          <p:nvPr/>
        </p:nvSpPr>
        <p:spPr bwMode="auto">
          <a:xfrm>
            <a:off x="19050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0" name="Rectangle 413"/>
          <p:cNvSpPr>
            <a:spLocks noChangeArrowheads="1"/>
          </p:cNvSpPr>
          <p:nvPr/>
        </p:nvSpPr>
        <p:spPr bwMode="auto">
          <a:xfrm>
            <a:off x="5638800" y="1981200"/>
            <a:ext cx="2122488" cy="2438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回顾</a:t>
            </a:r>
            <a:r>
              <a:rPr lang="en-US" altLang="zh-CN" dirty="0"/>
              <a:t>：</a:t>
            </a:r>
            <a:r>
              <a:rPr lang="en-US" dirty="0"/>
              <a:t>Intel Core i7 Cache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层次结构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Rectangle 396"/>
          <p:cNvSpPr>
            <a:spLocks noChangeArrowheads="1"/>
          </p:cNvSpPr>
          <p:nvPr/>
        </p:nvSpPr>
        <p:spPr bwMode="auto">
          <a:xfrm>
            <a:off x="20701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 dirty="0" err="1">
                <a:latin typeface="Calibri" panose="020F0502020204030204" pitchFamily="34" charset="0"/>
              </a:rPr>
              <a:t>Regs</a:t>
            </a:r>
            <a:endParaRPr lang="en-US" sz="1800" dirty="0">
              <a:latin typeface="Calibri" panose="020F0502020204030204" pitchFamily="34" charset="0"/>
            </a:endParaRPr>
          </a:p>
        </p:txBody>
      </p:sp>
      <p:sp>
        <p:nvSpPr>
          <p:cNvPr id="5" name="Rectangle 397"/>
          <p:cNvSpPr>
            <a:spLocks noChangeArrowheads="1"/>
          </p:cNvSpPr>
          <p:nvPr/>
        </p:nvSpPr>
        <p:spPr bwMode="auto">
          <a:xfrm>
            <a:off x="2112964" y="2781300"/>
            <a:ext cx="782637" cy="5715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L1 </a:t>
            </a:r>
            <a:endParaRPr lang="en-US" sz="1600" dirty="0">
              <a:latin typeface="Calibri" panose="020F0502020204030204" pitchFamily="34" charset="0"/>
            </a:endParaRPr>
          </a:p>
          <a:p>
            <a:pPr algn="ctr"/>
            <a:r>
              <a:rPr lang="en-US" sz="1600" dirty="0">
                <a:latin typeface="Calibri" panose="020F0502020204030204" pitchFamily="34" charset="0"/>
              </a:rPr>
              <a:t>d-cache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6" name="Rectangle 399"/>
          <p:cNvSpPr>
            <a:spLocks noChangeArrowheads="1"/>
          </p:cNvSpPr>
          <p:nvPr/>
        </p:nvSpPr>
        <p:spPr bwMode="auto">
          <a:xfrm>
            <a:off x="30480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L1 </a:t>
            </a:r>
            <a:endParaRPr lang="en-US" sz="1600" dirty="0">
              <a:latin typeface="Calibri" panose="020F0502020204030204" pitchFamily="34" charset="0"/>
            </a:endParaRPr>
          </a:p>
          <a:p>
            <a:pPr algn="ctr"/>
            <a:r>
              <a:rPr lang="en-US" sz="1600" dirty="0" err="1">
                <a:latin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</a:rPr>
              <a:t>-cache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7" name="Rectangle 400"/>
          <p:cNvSpPr>
            <a:spLocks noChangeArrowheads="1"/>
          </p:cNvSpPr>
          <p:nvPr/>
        </p:nvSpPr>
        <p:spPr bwMode="auto">
          <a:xfrm>
            <a:off x="2133600" y="3695700"/>
            <a:ext cx="1709738" cy="5715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en-US" sz="1800">
                <a:latin typeface="Calibri" panose="020F0502020204030204" pitchFamily="34" charset="0"/>
              </a:rPr>
              <a:t>L2 unified cache</a:t>
            </a:r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8" name="Line 401"/>
          <p:cNvSpPr>
            <a:spLocks noChangeShapeType="1"/>
          </p:cNvSpPr>
          <p:nvPr/>
        </p:nvSpPr>
        <p:spPr bwMode="auto">
          <a:xfrm>
            <a:off x="25908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9" name="Line 402"/>
          <p:cNvSpPr>
            <a:spLocks noChangeShapeType="1"/>
          </p:cNvSpPr>
          <p:nvPr/>
        </p:nvSpPr>
        <p:spPr bwMode="auto">
          <a:xfrm>
            <a:off x="2590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0" name="Line 403"/>
          <p:cNvSpPr>
            <a:spLocks noChangeShapeType="1"/>
          </p:cNvSpPr>
          <p:nvPr/>
        </p:nvSpPr>
        <p:spPr bwMode="auto">
          <a:xfrm>
            <a:off x="34290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2" name="Text Box 405"/>
          <p:cNvSpPr txBox="1">
            <a:spLocks noChangeArrowheads="1"/>
          </p:cNvSpPr>
          <p:nvPr/>
        </p:nvSpPr>
        <p:spPr bwMode="auto">
          <a:xfrm>
            <a:off x="1828800" y="1676400"/>
            <a:ext cx="79444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alibri" panose="020F0502020204030204" pitchFamily="34" charset="0"/>
              </a:rPr>
              <a:t>Core 0</a:t>
            </a:r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3" name="Rectangle 406"/>
          <p:cNvSpPr>
            <a:spLocks noChangeArrowheads="1"/>
          </p:cNvSpPr>
          <p:nvPr/>
        </p:nvSpPr>
        <p:spPr bwMode="auto">
          <a:xfrm>
            <a:off x="5803900" y="2133600"/>
            <a:ext cx="9779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800">
                <a:latin typeface="Calibri" panose="020F0502020204030204" pitchFamily="34" charset="0"/>
              </a:rPr>
              <a:t>Regs</a:t>
            </a:r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4" name="Rectangle 407"/>
          <p:cNvSpPr>
            <a:spLocks noChangeArrowheads="1"/>
          </p:cNvSpPr>
          <p:nvPr/>
        </p:nvSpPr>
        <p:spPr bwMode="auto">
          <a:xfrm>
            <a:off x="5846764" y="2781300"/>
            <a:ext cx="782637" cy="5715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anose="020F0502020204030204" pitchFamily="34" charset="0"/>
              </a:rPr>
              <a:t>L1 </a:t>
            </a:r>
            <a:endParaRPr lang="en-US" sz="1600" dirty="0">
              <a:latin typeface="Calibri" panose="020F0502020204030204" pitchFamily="34" charset="0"/>
            </a:endParaRPr>
          </a:p>
          <a:p>
            <a:pPr algn="ctr"/>
            <a:r>
              <a:rPr lang="en-US" sz="1600" dirty="0" err="1">
                <a:latin typeface="Calibri" panose="020F0502020204030204" pitchFamily="34" charset="0"/>
              </a:rPr>
              <a:t>d</a:t>
            </a:r>
            <a:r>
              <a:rPr lang="en-US" sz="1600" dirty="0">
                <a:latin typeface="Calibri" panose="020F0502020204030204" pitchFamily="34" charset="0"/>
              </a:rPr>
              <a:t>-cache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5" name="Rectangle 408"/>
          <p:cNvSpPr>
            <a:spLocks noChangeArrowheads="1"/>
          </p:cNvSpPr>
          <p:nvPr/>
        </p:nvSpPr>
        <p:spPr bwMode="auto">
          <a:xfrm>
            <a:off x="6781800" y="2781300"/>
            <a:ext cx="795338" cy="5715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600">
                <a:latin typeface="Calibri" panose="020F0502020204030204" pitchFamily="34" charset="0"/>
              </a:rPr>
              <a:t>L1 </a:t>
            </a:r>
            <a:endParaRPr lang="en-US" sz="1600">
              <a:latin typeface="Calibri" panose="020F0502020204030204" pitchFamily="34" charset="0"/>
            </a:endParaRPr>
          </a:p>
          <a:p>
            <a:pPr algn="ctr"/>
            <a:r>
              <a:rPr lang="en-US" sz="1600">
                <a:latin typeface="Calibri" panose="020F0502020204030204" pitchFamily="34" charset="0"/>
              </a:rPr>
              <a:t>i-cache</a:t>
            </a:r>
            <a:endParaRPr lang="en-US" sz="1600">
              <a:latin typeface="Calibri" panose="020F0502020204030204" pitchFamily="34" charset="0"/>
            </a:endParaRPr>
          </a:p>
        </p:txBody>
      </p:sp>
      <p:sp>
        <p:nvSpPr>
          <p:cNvPr id="16" name="Rectangle 409"/>
          <p:cNvSpPr>
            <a:spLocks noChangeArrowheads="1"/>
          </p:cNvSpPr>
          <p:nvPr/>
        </p:nvSpPr>
        <p:spPr bwMode="auto">
          <a:xfrm>
            <a:off x="5867400" y="3695700"/>
            <a:ext cx="1709738" cy="5715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en-US" sz="1800">
                <a:latin typeface="Calibri" panose="020F0502020204030204" pitchFamily="34" charset="0"/>
              </a:rPr>
              <a:t>L2 unified cache</a:t>
            </a:r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7" name="Line 410"/>
          <p:cNvSpPr>
            <a:spLocks noChangeShapeType="1"/>
          </p:cNvSpPr>
          <p:nvPr/>
        </p:nvSpPr>
        <p:spPr bwMode="auto">
          <a:xfrm>
            <a:off x="6324600" y="24384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8" name="Line 411"/>
          <p:cNvSpPr>
            <a:spLocks noChangeShapeType="1"/>
          </p:cNvSpPr>
          <p:nvPr/>
        </p:nvSpPr>
        <p:spPr bwMode="auto">
          <a:xfrm>
            <a:off x="63246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19" name="Line 412"/>
          <p:cNvSpPr>
            <a:spLocks noChangeShapeType="1"/>
          </p:cNvSpPr>
          <p:nvPr/>
        </p:nvSpPr>
        <p:spPr bwMode="auto">
          <a:xfrm>
            <a:off x="7162800" y="3352800"/>
            <a:ext cx="0" cy="342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1" name="Text Box 414"/>
          <p:cNvSpPr txBox="1">
            <a:spLocks noChangeArrowheads="1"/>
          </p:cNvSpPr>
          <p:nvPr/>
        </p:nvSpPr>
        <p:spPr bwMode="auto">
          <a:xfrm>
            <a:off x="5562600" y="1676400"/>
            <a:ext cx="79444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Calibri" panose="020F0502020204030204" pitchFamily="34" charset="0"/>
              </a:rPr>
              <a:t>Core 3</a:t>
            </a:r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2" name="Text Box 415"/>
          <p:cNvSpPr txBox="1">
            <a:spLocks noChangeArrowheads="1"/>
          </p:cNvSpPr>
          <p:nvPr/>
        </p:nvSpPr>
        <p:spPr bwMode="auto">
          <a:xfrm>
            <a:off x="4495800" y="2983469"/>
            <a:ext cx="723900" cy="646331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</a:rPr>
              <a:t>…</a:t>
            </a:r>
            <a:endParaRPr lang="en-US" sz="3600" dirty="0">
              <a:latin typeface="Calibri" panose="020F0502020204030204" pitchFamily="34" charset="0"/>
            </a:endParaRPr>
          </a:p>
        </p:txBody>
      </p:sp>
      <p:sp>
        <p:nvSpPr>
          <p:cNvPr id="23" name="Line 417"/>
          <p:cNvSpPr>
            <a:spLocks noChangeShapeType="1"/>
          </p:cNvSpPr>
          <p:nvPr/>
        </p:nvSpPr>
        <p:spPr bwMode="auto">
          <a:xfrm>
            <a:off x="29718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4" name="Line 418"/>
          <p:cNvSpPr>
            <a:spLocks noChangeShapeType="1"/>
          </p:cNvSpPr>
          <p:nvPr/>
        </p:nvSpPr>
        <p:spPr bwMode="auto">
          <a:xfrm>
            <a:off x="6705600" y="42672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5" name="Rectangle 419"/>
          <p:cNvSpPr>
            <a:spLocks noChangeArrowheads="1"/>
          </p:cNvSpPr>
          <p:nvPr/>
        </p:nvSpPr>
        <p:spPr bwMode="auto">
          <a:xfrm>
            <a:off x="2622550" y="4800600"/>
            <a:ext cx="4387850" cy="5715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en-US" sz="1800" dirty="0">
                <a:latin typeface="Calibri" panose="020F0502020204030204" pitchFamily="34" charset="0"/>
              </a:rPr>
              <a:t>L3 unified cache</a:t>
            </a:r>
            <a:endParaRPr lang="en-US" sz="1800" dirty="0">
              <a:latin typeface="Calibri" panose="020F0502020204030204" pitchFamily="34" charset="0"/>
            </a:endParaRPr>
          </a:p>
          <a:p>
            <a:pPr algn="ctr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（所有内核共享）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6" name="Rectangle 420"/>
          <p:cNvSpPr>
            <a:spLocks noChangeArrowheads="1"/>
          </p:cNvSpPr>
          <p:nvPr/>
        </p:nvSpPr>
        <p:spPr bwMode="auto">
          <a:xfrm>
            <a:off x="1752600" y="6057900"/>
            <a:ext cx="6172200" cy="5715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anchor="ctr"/>
          <a:lstStyle/>
          <a:p>
            <a:pPr algn="ctr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主存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7" name="Line 421"/>
          <p:cNvSpPr>
            <a:spLocks noChangeShapeType="1"/>
          </p:cNvSpPr>
          <p:nvPr/>
        </p:nvSpPr>
        <p:spPr bwMode="auto">
          <a:xfrm>
            <a:off x="4895850" y="53721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1800">
              <a:latin typeface="Calibri" panose="020F0502020204030204" pitchFamily="34" charset="0"/>
            </a:endParaRPr>
          </a:p>
        </p:txBody>
      </p:sp>
      <p:sp>
        <p:nvSpPr>
          <p:cNvPr id="29" name="Text Box 426"/>
          <p:cNvSpPr txBox="1">
            <a:spLocks noChangeArrowheads="1"/>
          </p:cNvSpPr>
          <p:nvPr/>
        </p:nvSpPr>
        <p:spPr bwMode="auto">
          <a:xfrm>
            <a:off x="1676400" y="1295400"/>
            <a:ext cx="1338828" cy="369332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处理器封装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77199" y="1676400"/>
            <a:ext cx="35813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L1 </a:t>
            </a:r>
            <a:r>
              <a:rPr lang="en-US" sz="18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-cache and </a:t>
            </a:r>
            <a:r>
              <a:rPr lang="en-US" sz="1800" dirty="0" err="1">
                <a:latin typeface="仿宋" panose="02010609060101010101" pitchFamily="49" charset="-122"/>
                <a:ea typeface="仿宋" panose="02010609060101010101" pitchFamily="49" charset="-122"/>
              </a:rPr>
              <a:t>d</a:t>
            </a:r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-cache: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32 KB,  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路组相联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, 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访问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 4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个周期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L2 unified cache: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 256 KB, 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路组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相联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, 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访问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 10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个周期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L3 unified cache: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8 MB, 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路组相联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访问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 40-75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个周期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块大小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: 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所有</a:t>
            </a:r>
            <a:r>
              <a:rPr lang="en-US" altLang="zh-CN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cache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均为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lang="zh-CN" alt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r>
              <a:rPr lang="en-US" sz="18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en-US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物</a:t>
            </a:r>
            <a:r>
              <a:rPr lang="zh-CN" altLang="en-US"/>
              <a:t>理寻址系统</a:t>
            </a:r>
            <a:endParaRPr lang="zh-CN" altLang="en-US"/>
          </a:p>
        </p:txBody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在“简单”系统中应用</a:t>
            </a:r>
            <a:r>
              <a:rPr lang="en-US" altLang="zh-CN"/>
              <a:t>，</a:t>
            </a:r>
            <a:r>
              <a:rPr lang="zh-CN" altLang="en-US"/>
              <a:t>直接使用物理</a:t>
            </a:r>
            <a:r>
              <a:rPr lang="zh-CN" altLang="en-US"/>
              <a:t>地址</a:t>
            </a:r>
            <a:endParaRPr lang="zh-CN" altLang="en-US"/>
          </a:p>
          <a:p>
            <a:pPr lvl="1"/>
            <a:r>
              <a:rPr lang="zh-CN" altLang="en-US"/>
              <a:t>比如汽车、电梯、数码相框等设备中的嵌入式微控制器</a:t>
            </a:r>
            <a:endParaRPr lang="zh-CN" altLang="en-US"/>
          </a:p>
          <a:p>
            <a:pPr lvl="1"/>
            <a:r>
              <a:rPr lang="zh-CN" altLang="en-US"/>
              <a:t>比如</a:t>
            </a:r>
            <a:r>
              <a:rPr lang="en-US" altLang="zh-CN"/>
              <a:t>，</a:t>
            </a:r>
            <a:r>
              <a:rPr lang="zh-CN" altLang="en-US"/>
              <a:t>单任务</a:t>
            </a:r>
            <a:r>
              <a:rPr lang="en-US" altLang="zh-CN"/>
              <a:t>（</a:t>
            </a:r>
            <a:r>
              <a:rPr lang="zh-CN" altLang="en-US"/>
              <a:t>进程</a:t>
            </a:r>
            <a:r>
              <a:rPr lang="en-US" altLang="zh-CN"/>
              <a:t>）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96" name="Shape 96"/>
          <p:cNvSpPr/>
          <p:nvPr/>
        </p:nvSpPr>
        <p:spPr>
          <a:xfrm>
            <a:off x="6172200" y="5426393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5865814" y="28578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Shape 98"/>
          <p:cNvSpPr txBox="1"/>
          <p:nvPr/>
        </p:nvSpPr>
        <p:spPr>
          <a:xfrm>
            <a:off x="5865814" y="30864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Shape 99"/>
          <p:cNvSpPr txBox="1"/>
          <p:nvPr/>
        </p:nvSpPr>
        <p:spPr>
          <a:xfrm>
            <a:off x="5627003" y="5378769"/>
            <a:ext cx="584839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Shape 100"/>
          <p:cNvSpPr txBox="1"/>
          <p:nvPr/>
        </p:nvSpPr>
        <p:spPr>
          <a:xfrm>
            <a:off x="5903914" y="2564131"/>
            <a:ext cx="1388841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600" b="1" dirty="0" smtClean="0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1" name="Shape 101"/>
          <p:cNvSpPr/>
          <p:nvPr/>
        </p:nvSpPr>
        <p:spPr>
          <a:xfrm>
            <a:off x="3124200" y="3659938"/>
            <a:ext cx="1066800" cy="5334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Shape 102"/>
          <p:cNvSpPr txBox="1"/>
          <p:nvPr/>
        </p:nvSpPr>
        <p:spPr>
          <a:xfrm>
            <a:off x="5867401" y="33150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Shape 103"/>
          <p:cNvSpPr txBox="1"/>
          <p:nvPr/>
        </p:nvSpPr>
        <p:spPr>
          <a:xfrm>
            <a:off x="5865814" y="35436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Shape 104"/>
          <p:cNvSpPr/>
          <p:nvPr/>
        </p:nvSpPr>
        <p:spPr>
          <a:xfrm>
            <a:off x="6172200" y="286258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6172200" y="309118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6172200" y="331978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6172200" y="354838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6172200" y="377698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6172200" y="400558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" name="Shape 110"/>
          <p:cNvSpPr txBox="1"/>
          <p:nvPr/>
        </p:nvSpPr>
        <p:spPr>
          <a:xfrm>
            <a:off x="5865814" y="37722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Shape 111"/>
          <p:cNvSpPr txBox="1"/>
          <p:nvPr/>
        </p:nvSpPr>
        <p:spPr>
          <a:xfrm>
            <a:off x="5865814" y="40008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" name="Shape 112"/>
          <p:cNvSpPr/>
          <p:nvPr/>
        </p:nvSpPr>
        <p:spPr>
          <a:xfrm>
            <a:off x="6172200" y="423418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3" name="Shape 113"/>
          <p:cNvSpPr/>
          <p:nvPr/>
        </p:nvSpPr>
        <p:spPr>
          <a:xfrm>
            <a:off x="6172200" y="446278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4" name="Shape 114"/>
          <p:cNvSpPr txBox="1"/>
          <p:nvPr/>
        </p:nvSpPr>
        <p:spPr>
          <a:xfrm>
            <a:off x="5865814" y="42294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Shape 115"/>
          <p:cNvSpPr txBox="1"/>
          <p:nvPr/>
        </p:nvSpPr>
        <p:spPr>
          <a:xfrm>
            <a:off x="5867401" y="445801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6172200" y="5202555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7" name="Shape 117"/>
          <p:cNvSpPr txBox="1"/>
          <p:nvPr/>
        </p:nvSpPr>
        <p:spPr>
          <a:xfrm>
            <a:off x="4096513" y="3136475"/>
            <a:ext cx="1957070" cy="740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</a:t>
            </a:r>
            <a:endParaRPr lang="en-US" altLang="zh-CN" sz="1600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Physical address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(PA)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7162801" y="377698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9" name="Shape 119"/>
          <p:cNvSpPr txBox="1"/>
          <p:nvPr/>
        </p:nvSpPr>
        <p:spPr>
          <a:xfrm>
            <a:off x="5239726" y="6025270"/>
            <a:ext cx="1069320" cy="33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数据字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6172200" y="4691831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21" name="Shape 121"/>
          <p:cNvSpPr txBox="1"/>
          <p:nvPr/>
        </p:nvSpPr>
        <p:spPr>
          <a:xfrm>
            <a:off x="5865814" y="469296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Shape 122"/>
          <p:cNvSpPr/>
          <p:nvPr/>
        </p:nvSpPr>
        <p:spPr>
          <a:xfrm rot="5400000">
            <a:off x="6591300" y="4583430"/>
            <a:ext cx="2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 rtl="1">
              <a:lnSpc>
                <a:spcPct val="98000"/>
              </a:lnSpc>
            </a:pPr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3" name="Shape 123"/>
          <p:cNvCxnSpPr>
            <a:stCxn id="101" idx="3"/>
            <a:endCxn id="110" idx="1"/>
          </p:cNvCxnSpPr>
          <p:nvPr/>
        </p:nvCxnSpPr>
        <p:spPr>
          <a:xfrm rot="10800000" flipH="1">
            <a:off x="4191000" y="3925138"/>
            <a:ext cx="1674900" cy="1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4" name="Shape 124"/>
          <p:cNvCxnSpPr/>
          <p:nvPr/>
        </p:nvCxnSpPr>
        <p:spPr>
          <a:xfrm rot="10800000" flipH="1">
            <a:off x="7315202" y="4234180"/>
            <a:ext cx="533399" cy="15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5" name="Shape 125"/>
          <p:cNvCxnSpPr/>
          <p:nvPr/>
        </p:nvCxnSpPr>
        <p:spPr>
          <a:xfrm rot="5400000">
            <a:off x="6927850" y="5149374"/>
            <a:ext cx="1839912" cy="15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Shape 126"/>
          <p:cNvCxnSpPr/>
          <p:nvPr/>
        </p:nvCxnSpPr>
        <p:spPr>
          <a:xfrm rot="10800000">
            <a:off x="3657512" y="4193326"/>
            <a:ext cx="4189500" cy="1876800"/>
          </a:xfrm>
          <a:prstGeom prst="bentConnector3">
            <a:avLst>
              <a:gd name="adj1" fmla="val 99988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7" name="Shape 127"/>
          <p:cNvSpPr txBox="1"/>
          <p:nvPr/>
        </p:nvSpPr>
        <p:spPr>
          <a:xfrm>
            <a:off x="4876801" y="3859530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600">
                <a:solidFill>
                  <a:schemeClr val="dk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  <a:t>4</a:t>
            </a:r>
            <a:endParaRPr lang="en-GB" sz="1600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  <p:pic>
        <p:nvPicPr>
          <p:cNvPr id="7" name="Shape 7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933266" y="1854200"/>
            <a:ext cx="2924708" cy="4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</a:t>
            </a:r>
            <a:r>
              <a:rPr lang="en-US" altLang="zh-CN"/>
              <a:t>：</a:t>
            </a:r>
            <a:r>
              <a:rPr lang="zh-CN" altLang="en-US"/>
              <a:t>进程</a:t>
            </a:r>
            <a:endParaRPr lang="zh-CN" altLang="en-US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定义：进程（</a:t>
            </a:r>
            <a:r>
              <a:rPr lang="en-US" altLang="zh-CN"/>
              <a:t>process</a:t>
            </a:r>
            <a:r>
              <a:rPr lang="zh-CN" altLang="en-US"/>
              <a:t>）</a:t>
            </a:r>
            <a:r>
              <a:rPr lang="en-US"/>
              <a:t> </a:t>
            </a:r>
            <a:r>
              <a:rPr lang="zh-CN" altLang="en-US"/>
              <a:t>是正在运行程序的一个实例。</a:t>
            </a:r>
            <a:endParaRPr lang="en-US"/>
          </a:p>
          <a:p>
            <a:pPr lvl="1"/>
            <a:r>
              <a:rPr lang="zh-CN" altLang="en-US"/>
              <a:t>计算机科学中最深刻的思想之一</a:t>
            </a:r>
            <a:endParaRPr lang="en-US"/>
          </a:p>
          <a:p>
            <a:pPr lvl="1"/>
            <a:r>
              <a:rPr lang="zh-CN" altLang="en-US"/>
              <a:t>不同于“程序”或“处理器”</a:t>
            </a:r>
            <a:endParaRPr lang="en-US"/>
          </a:p>
          <a:p>
            <a:pPr lvl="1"/>
            <a:endParaRPr lang="en-US"/>
          </a:p>
          <a:p>
            <a:r>
              <a:rPr lang="en-US"/>
              <a:t>Unix: </a:t>
            </a:r>
            <a:r>
              <a:rPr lang="zh-CN" altLang="en-US"/>
              <a:t>父进程通过调用</a:t>
            </a:r>
            <a:r>
              <a:rPr lang="en-US" altLang="zh-CN"/>
              <a:t>fork</a:t>
            </a:r>
            <a:r>
              <a:rPr lang="zh-CN" altLang="en-US"/>
              <a:t>创建一个新的子进程</a:t>
            </a:r>
            <a:endParaRPr lang="en-US"/>
          </a:p>
          <a:p>
            <a:pPr lvl="1"/>
            <a:r>
              <a:rPr lang="zh-CN" altLang="en-US"/>
              <a:t>子进程（在某种程度上）是父进程的副本</a:t>
            </a:r>
            <a:endParaRPr lang="en-US"/>
          </a:p>
          <a:p>
            <a:pPr lvl="1"/>
            <a:r>
              <a:rPr lang="en-US"/>
              <a:t>fork </a:t>
            </a:r>
            <a:r>
              <a:rPr lang="zh-CN" altLang="en-US"/>
              <a:t>返回两次</a:t>
            </a:r>
            <a:r>
              <a:rPr lang="en-US" altLang="zh-CN"/>
              <a:t>——</a:t>
            </a:r>
            <a:r>
              <a:rPr lang="zh-CN" altLang="en-US"/>
              <a:t>每个进程一次</a:t>
            </a:r>
            <a:endParaRPr lang="en-US"/>
          </a:p>
          <a:p>
            <a:pPr lvl="2"/>
            <a:r>
              <a:rPr lang="zh-CN" altLang="en-US"/>
              <a:t>每次的返回值都不同</a:t>
            </a:r>
            <a:endParaRPr lang="en-US"/>
          </a:p>
          <a:p>
            <a:pPr lvl="2"/>
            <a:endParaRPr lang="en-US"/>
          </a:p>
          <a:p>
            <a:r>
              <a:rPr lang="zh-CN" altLang="en-US"/>
              <a:t>父进程可以通过调用</a:t>
            </a:r>
            <a:r>
              <a:rPr lang="en-US" altLang="zh-CN"/>
              <a:t>waitpid</a:t>
            </a:r>
            <a:r>
              <a:rPr lang="zh-CN" altLang="en-US"/>
              <a:t>等待子进程结束</a:t>
            </a:r>
            <a:endParaRPr lang="en-US"/>
          </a:p>
          <a:p>
            <a:pPr lvl="1"/>
            <a:r>
              <a:rPr lang="zh-CN" altLang="en-US"/>
              <a:t>暂时把这看作是“</a:t>
            </a:r>
            <a:r>
              <a:rPr lang="en-US"/>
              <a:t> main </a:t>
            </a:r>
            <a:r>
              <a:rPr lang="zh-CN" altLang="en-US"/>
              <a:t>返回到哪里”</a:t>
            </a:r>
            <a:endParaRPr lang="en-US"/>
          </a:p>
          <a:p>
            <a:endParaRPr lang="en-US"/>
          </a:p>
          <a:p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如何支持多个进程同时使用内存地址</a:t>
            </a:r>
            <a:r>
              <a:rPr lang="en-GB"/>
              <a:t>		</a:t>
            </a:r>
            <a:endParaRPr lang="en-GB"/>
          </a:p>
        </p:txBody>
      </p:sp>
      <p:pic>
        <p:nvPicPr>
          <p:cNvPr id="73" name="Shape 7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57400" y="1611212"/>
            <a:ext cx="2924708" cy="45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Shape 74"/>
          <p:cNvPicPr preferRelativeResize="0"/>
          <p:nvPr/>
        </p:nvPicPr>
        <p:blipFill rotWithShape="1">
          <a:blip r:embed="rId1"/>
          <a:srcRect l="60632"/>
          <a:stretch>
            <a:fillRect/>
          </a:stretch>
        </p:blipFill>
        <p:spPr>
          <a:xfrm>
            <a:off x="5638800" y="1611212"/>
            <a:ext cx="1151406" cy="45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Shape 75"/>
          <p:cNvSpPr/>
          <p:nvPr/>
        </p:nvSpPr>
        <p:spPr>
          <a:xfrm>
            <a:off x="7467600" y="3733800"/>
            <a:ext cx="76200" cy="76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" name="Shape 76"/>
          <p:cNvSpPr/>
          <p:nvPr/>
        </p:nvSpPr>
        <p:spPr>
          <a:xfrm>
            <a:off x="7696200" y="3733800"/>
            <a:ext cx="76200" cy="76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" name="Shape 77"/>
          <p:cNvSpPr/>
          <p:nvPr/>
        </p:nvSpPr>
        <p:spPr>
          <a:xfrm>
            <a:off x="7924800" y="3733800"/>
            <a:ext cx="76200" cy="76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" name="Shape 78"/>
          <p:cNvSpPr txBox="1"/>
          <p:nvPr/>
        </p:nvSpPr>
        <p:spPr>
          <a:xfrm>
            <a:off x="3802082" y="1219200"/>
            <a:ext cx="1074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9" name="Shape 79"/>
          <p:cNvSpPr txBox="1"/>
          <p:nvPr/>
        </p:nvSpPr>
        <p:spPr>
          <a:xfrm>
            <a:off x="5562600" y="1219200"/>
            <a:ext cx="10747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 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0" name="Shape 80"/>
          <p:cNvSpPr txBox="1"/>
          <p:nvPr/>
        </p:nvSpPr>
        <p:spPr>
          <a:xfrm>
            <a:off x="8901070" y="1219200"/>
            <a:ext cx="1081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n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1" name="Shape 8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162800" y="1611212"/>
            <a:ext cx="2924708" cy="4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这张图需要更多的</a:t>
            </a:r>
            <a:r>
              <a:rPr lang="zh-CN" altLang="en-US"/>
              <a:t>解释</a:t>
            </a:r>
            <a:endParaRPr lang="zh-CN" alt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850900" y="1362075"/>
            <a:ext cx="7185025" cy="4972050"/>
          </a:xfrm>
        </p:spPr>
        <p:txBody>
          <a:bodyPr/>
          <a:lstStyle/>
          <a:p>
            <a:r>
              <a:rPr lang="zh-CN" altLang="en-US"/>
              <a:t>这是</a:t>
            </a:r>
            <a:r>
              <a:rPr lang="zh-CN" altLang="en-US"/>
              <a:t>内存 </a:t>
            </a:r>
            <a:r>
              <a:rPr lang="en-US" altLang="zh-CN"/>
              <a:t>RAM……</a:t>
            </a:r>
            <a:endParaRPr lang="en-US" altLang="zh-CN"/>
          </a:p>
          <a:p>
            <a:pPr lvl="0"/>
            <a:r>
              <a:rPr lang="zh-CN" altLang="en-US"/>
              <a:t>在编译时</a:t>
            </a:r>
            <a:r>
              <a:rPr lang="en-US" altLang="zh-CN"/>
              <a:t>，</a:t>
            </a:r>
            <a:r>
              <a:rPr lang="zh-CN" altLang="en-US"/>
              <a:t>为</a:t>
            </a:r>
            <a:r>
              <a:rPr lang="zh-CN" altLang="en-US"/>
              <a:t>每个程序对象分配内存地址</a:t>
            </a:r>
            <a:endParaRPr lang="zh-CN" altLang="en-US"/>
          </a:p>
          <a:p>
            <a:pPr lvl="0"/>
            <a:r>
              <a:rPr lang="zh-CN" altLang="en-US"/>
              <a:t>在运行时</a:t>
            </a:r>
            <a:r>
              <a:rPr lang="en-US" altLang="zh-CN"/>
              <a:t>，</a:t>
            </a:r>
            <a:r>
              <a:rPr lang="zh-CN" altLang="en-US"/>
              <a:t>计算机可以同时运行多个程序</a:t>
            </a:r>
            <a:endParaRPr lang="zh-CN" altLang="en-US"/>
          </a:p>
          <a:p>
            <a:pPr lvl="1"/>
            <a:r>
              <a:rPr lang="zh-CN" altLang="en-US" sz="2400"/>
              <a:t>如何避免这些同时运行的程序的地址冲突</a:t>
            </a:r>
            <a:r>
              <a:rPr lang="en-US" altLang="zh-CN" sz="2400"/>
              <a:t>？</a:t>
            </a:r>
            <a:endParaRPr lang="en-US" altLang="zh-CN" sz="2400"/>
          </a:p>
          <a:p>
            <a:pPr lvl="1"/>
            <a:r>
              <a:rPr lang="zh-CN" altLang="en-US" sz="2400" strike="sngStrike"/>
              <a:t>提前预判和分配</a:t>
            </a:r>
            <a:endParaRPr lang="en-US" altLang="zh-CN" sz="2400"/>
          </a:p>
          <a:p>
            <a:pPr lvl="0"/>
            <a:r>
              <a:rPr lang="zh-CN" altLang="en-US" sz="2800"/>
              <a:t>内存扩容升级硬件系统</a:t>
            </a:r>
            <a:r>
              <a:rPr lang="zh-CN" altLang="en-US" sz="2800"/>
              <a:t>时</a:t>
            </a:r>
            <a:endParaRPr lang="zh-CN" altLang="en-US" sz="2800"/>
          </a:p>
          <a:p>
            <a:pPr lvl="1"/>
            <a:r>
              <a:rPr lang="zh-CN" altLang="en-US" sz="2400"/>
              <a:t>如何让程序使用新的内存空间</a:t>
            </a:r>
            <a:r>
              <a:rPr lang="en-US" altLang="zh-CN" sz="2400"/>
              <a:t>？</a:t>
            </a:r>
            <a:endParaRPr lang="en-US" altLang="zh-CN" sz="2400"/>
          </a:p>
          <a:p>
            <a:pPr lvl="1"/>
            <a:r>
              <a:rPr lang="zh-CN" altLang="en-US" sz="2400" strike="sngStrike"/>
              <a:t>重新编译</a:t>
            </a:r>
            <a:endParaRPr lang="zh-CN" altLang="en-US" sz="2400"/>
          </a:p>
          <a:p>
            <a:endParaRPr lang="zh-CN" altLang="en-US"/>
          </a:p>
          <a:p>
            <a:r>
              <a:rPr lang="zh-CN" altLang="en-US"/>
              <a:t>怎么解决</a:t>
            </a:r>
            <a:r>
              <a:rPr lang="en-US" altLang="zh-CN"/>
              <a:t>……</a:t>
            </a:r>
            <a:endParaRPr lang="en-US" altLang="zh-CN"/>
          </a:p>
        </p:txBody>
      </p:sp>
      <p:pic>
        <p:nvPicPr>
          <p:cNvPr id="7" name="Shape 7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66566" y="1587500"/>
            <a:ext cx="2924708" cy="4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中间层 </a:t>
            </a:r>
            <a:r>
              <a:rPr lang="en-US" altLang="zh-CN"/>
              <a:t>or </a:t>
            </a:r>
            <a:r>
              <a:rPr lang="zh-CN" altLang="en-US"/>
              <a:t>抽象层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“Any problem in computer science can be solved with another level of indirection”.  </a:t>
            </a:r>
            <a:endParaRPr lang="en-US" altLang="zh-CN"/>
          </a:p>
          <a:p>
            <a:pPr marL="2844800" lvl="6" indent="0" algn="r">
              <a:buNone/>
            </a:pPr>
            <a:r>
              <a:rPr lang="en-US" altLang="zh-CN"/>
              <a:t>by David Wheeler</a:t>
            </a:r>
            <a:endParaRPr lang="en-US" altLang="zh-CN"/>
          </a:p>
        </p:txBody>
      </p:sp>
      <p:pic>
        <p:nvPicPr>
          <p:cNvPr id="7" name="Picture 2" descr="https://gss0.baidu.com/9fo3dSag_xI4khGko9WTAnF6hhy/zhidao/wh%3D600%2C800/sign=781c96ca67d0f703e6e79dda38ca7d05/d833c895d143ad4b231c861d87025aafa40f063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155" y="2350135"/>
            <a:ext cx="3912235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Shape 82"/>
          <p:cNvSpPr txBox="1"/>
          <p:nvPr/>
        </p:nvSpPr>
        <p:spPr>
          <a:xfrm>
            <a:off x="3156550" y="6143017"/>
            <a:ext cx="4964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解决方法：虚拟</a:t>
            </a:r>
            <a:r>
              <a:rPr lang="zh-CN" altLang="en-US" sz="1800" b="1" i="1" dirty="0" smtClean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内存</a:t>
            </a:r>
            <a:endParaRPr lang="zh-CN" altLang="en-US" sz="1800" b="1" i="1" dirty="0" smtClean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中间层抽象</a:t>
            </a:r>
            <a:r>
              <a:rPr lang="en-US" altLang="zh-CN"/>
              <a:t>——</a:t>
            </a:r>
            <a:r>
              <a:rPr lang="zh-CN" altLang="en-US"/>
              <a:t>虚拟内存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955" y="1362075"/>
            <a:ext cx="8242300" cy="4972050"/>
          </a:xfrm>
        </p:spPr>
        <p:txBody>
          <a:bodyPr/>
          <a:p>
            <a:pPr lvl="0"/>
            <a:r>
              <a:rPr lang="en-US" altLang="zh-CN"/>
              <a:t>Virtual memory</a:t>
            </a:r>
            <a:r>
              <a:rPr lang="zh-CN" altLang="en-US"/>
              <a:t>（虚拟内存）</a:t>
            </a:r>
            <a:endParaRPr lang="en-US" altLang="zh-CN"/>
          </a:p>
          <a:p>
            <a:pPr lvl="1"/>
            <a:r>
              <a:rPr lang="zh-CN" altLang="en-US"/>
              <a:t>编译链接时，每个程序有独立的逻辑地址</a:t>
            </a:r>
            <a:r>
              <a:rPr lang="en-US" altLang="zh-CN"/>
              <a:t>（</a:t>
            </a:r>
            <a:r>
              <a:rPr lang="zh-CN" altLang="en-US"/>
              <a:t>也称虚拟地址</a:t>
            </a:r>
            <a:r>
              <a:rPr lang="en-US" altLang="zh-CN"/>
              <a:t>）</a:t>
            </a:r>
            <a:endParaRPr lang="zh-CN" altLang="en-US"/>
          </a:p>
          <a:p>
            <a:pPr lvl="2"/>
            <a:r>
              <a:rPr lang="zh-CN" altLang="en-US"/>
              <a:t>地址空间：</a:t>
            </a:r>
            <a:r>
              <a:rPr lang="en-US" altLang="zh-CN"/>
              <a:t>0 </a:t>
            </a:r>
            <a:r>
              <a:rPr lang="zh-CN" altLang="en-US"/>
              <a:t>～</a:t>
            </a:r>
            <a:r>
              <a:rPr lang="en-US" altLang="zh-CN"/>
              <a:t> 232-1 （64</a:t>
            </a:r>
            <a:r>
              <a:rPr lang="zh-CN" altLang="en-US"/>
              <a:t>位机器中为</a:t>
            </a:r>
            <a:r>
              <a:rPr lang="en-US" altLang="zh-CN"/>
              <a:t>0 </a:t>
            </a:r>
            <a:r>
              <a:rPr lang="zh-CN" altLang="en-US"/>
              <a:t>～</a:t>
            </a:r>
            <a:r>
              <a:rPr lang="en-US" altLang="zh-CN"/>
              <a:t> 248-1 ）</a:t>
            </a:r>
            <a:endParaRPr lang="en-US" altLang="zh-CN"/>
          </a:p>
          <a:p>
            <a:pPr lvl="2"/>
            <a:r>
              <a:rPr lang="zh-CN" altLang="en-US"/>
              <a:t>为每个程序的对象独立地分配这些地址空间</a:t>
            </a:r>
            <a:endParaRPr lang="zh-CN" altLang="en-US"/>
          </a:p>
          <a:p>
            <a:pPr lvl="1"/>
            <a:r>
              <a:rPr lang="zh-CN" altLang="en-US"/>
              <a:t>运行时，通过</a:t>
            </a:r>
            <a:r>
              <a:rPr lang="en-US" altLang="zh-CN"/>
              <a:t>VM</a:t>
            </a:r>
            <a:r>
              <a:rPr lang="zh-CN" altLang="en-US"/>
              <a:t>系统将逻辑地址动态映射成物理地址</a:t>
            </a:r>
            <a:endParaRPr lang="zh-CN" altLang="en-US"/>
          </a:p>
          <a:p>
            <a:pPr lvl="2"/>
            <a:r>
              <a:rPr lang="zh-CN" altLang="en-US"/>
              <a:t>在运行时为每个程序维护一个映射表（页表）</a:t>
            </a:r>
            <a:endParaRPr lang="zh-CN" altLang="en-US"/>
          </a:p>
          <a:p>
            <a:pPr lvl="2"/>
            <a:r>
              <a:rPr lang="zh-CN" altLang="en-US"/>
              <a:t>将逻辑地址映射为物理地址</a:t>
            </a:r>
            <a:endParaRPr lang="zh-CN" altLang="en-US"/>
          </a:p>
          <a:p>
            <a:pPr lvl="0"/>
            <a:r>
              <a:rPr lang="zh-CN" altLang="en-US"/>
              <a:t>好处</a:t>
            </a:r>
            <a:endParaRPr lang="zh-CN" altLang="en-US"/>
          </a:p>
          <a:p>
            <a:pPr lvl="1"/>
            <a:r>
              <a:rPr lang="en-US" altLang="zh-CN"/>
              <a:t>OS</a:t>
            </a:r>
            <a:r>
              <a:rPr lang="zh-CN" altLang="en-US"/>
              <a:t>管理页表</a:t>
            </a:r>
            <a:r>
              <a:rPr lang="en-US" altLang="zh-CN"/>
              <a:t>，</a:t>
            </a:r>
            <a:r>
              <a:rPr lang="zh-CN" altLang="en-US"/>
              <a:t>来消除同时运行的</a:t>
            </a:r>
            <a:r>
              <a:rPr lang="zh-CN" altLang="en-US"/>
              <a:t>多个程序的地址冲突</a:t>
            </a:r>
            <a:endParaRPr lang="en-US" altLang="zh-CN"/>
          </a:p>
          <a:p>
            <a:pPr lvl="1"/>
            <a:r>
              <a:rPr lang="en-US" altLang="zh-CN"/>
              <a:t>OS</a:t>
            </a:r>
            <a:r>
              <a:rPr lang="zh-CN" altLang="en-US"/>
              <a:t>自动将程序映射到新的</a:t>
            </a:r>
            <a:r>
              <a:rPr lang="zh-CN" altLang="en-US"/>
              <a:t>物理内存</a:t>
            </a:r>
            <a:endParaRPr lang="zh-CN" altLang="en-US"/>
          </a:p>
          <a:p>
            <a:pPr lvl="1"/>
            <a:r>
              <a:rPr lang="zh-CN" altLang="en-US">
                <a:sym typeface="Wingdings" panose="05000000000000000000" pitchFamily="2" charset="2"/>
              </a:rPr>
              <a:t>内存保护</a:t>
            </a:r>
            <a:r>
              <a:rPr lang="en-US" altLang="zh-CN">
                <a:sym typeface="Wingdings" panose="05000000000000000000" pitchFamily="2" charset="2"/>
              </a:rPr>
              <a:t>：</a:t>
            </a:r>
            <a:r>
              <a:rPr lang="zh-CN" altLang="en-US">
                <a:sym typeface="Wingdings" panose="05000000000000000000" pitchFamily="2" charset="2"/>
              </a:rPr>
              <a:t>一个进程不应该破坏另外一个进程的运行</a:t>
            </a:r>
            <a:r>
              <a:rPr lang="en-US" altLang="zh-CN">
                <a:sym typeface="Wingdings" panose="05000000000000000000" pitchFamily="2" charset="2"/>
              </a:rPr>
              <a:t>（</a:t>
            </a:r>
            <a:r>
              <a:rPr lang="zh-CN" altLang="en-US">
                <a:sym typeface="Wingdings" panose="05000000000000000000" pitchFamily="2" charset="2"/>
              </a:rPr>
              <a:t>通过页表限制</a:t>
            </a:r>
            <a:r>
              <a:rPr lang="zh-CN" altLang="en-US">
                <a:sym typeface="Wingdings" panose="05000000000000000000" pitchFamily="2" charset="2"/>
              </a:rPr>
              <a:t>物理地址</a:t>
            </a:r>
            <a:r>
              <a:rPr lang="en-US" altLang="zh-CN">
                <a:sym typeface="Wingdings" panose="05000000000000000000" pitchFamily="2" charset="2"/>
              </a:rPr>
              <a:t>）</a:t>
            </a:r>
            <a:endParaRPr lang="zh-CN" altLang="en-US">
              <a:sym typeface="Wingdings" panose="05000000000000000000" pitchFamily="2" charset="2"/>
            </a:endParaRPr>
          </a:p>
          <a:p>
            <a:endParaRPr lang="zh-CN" altLang="en-US"/>
          </a:p>
        </p:txBody>
      </p:sp>
      <p:pic>
        <p:nvPicPr>
          <p:cNvPr id="7" name="Shape 7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86631" y="1071245"/>
            <a:ext cx="2924708" cy="45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/>
        </p:nvSpPr>
        <p:spPr>
          <a:xfrm>
            <a:off x="2373999" y="3258592"/>
            <a:ext cx="3749615" cy="114935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虚拟寻址系统</a:t>
            </a:r>
            <a:endParaRPr lang="zh-CN" altLang="en-US"/>
          </a:p>
        </p:txBody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用于所有的现代服务器、笔记本电脑和智能手机</a:t>
            </a:r>
            <a:endParaRPr lang="zh-CN" altLang="en-US"/>
          </a:p>
          <a:p>
            <a:pPr lvl="1"/>
            <a:r>
              <a:rPr lang="zh-CN" altLang="en-US" sz="2000"/>
              <a:t>比如</a:t>
            </a:r>
            <a:r>
              <a:rPr lang="en-US" altLang="zh-CN" sz="2000"/>
              <a:t>，</a:t>
            </a:r>
            <a:r>
              <a:rPr lang="zh-CN" altLang="en-US" sz="2000"/>
              <a:t>多任务系统中</a:t>
            </a:r>
            <a:r>
              <a:rPr lang="en-US" altLang="zh-CN" sz="2000"/>
              <a:t>，</a:t>
            </a:r>
            <a:r>
              <a:rPr lang="zh-CN" altLang="en-US" sz="2000"/>
              <a:t>用户随时开启新进程</a:t>
            </a:r>
            <a:r>
              <a:rPr lang="en-US" altLang="zh-CN" sz="2000"/>
              <a:t>、</a:t>
            </a:r>
            <a:r>
              <a:rPr lang="zh-CN" altLang="en-US" sz="2000"/>
              <a:t>关闭</a:t>
            </a:r>
            <a:r>
              <a:rPr lang="zh-CN" altLang="en-US" sz="2000"/>
              <a:t>旧进程</a:t>
            </a:r>
            <a:endParaRPr lang="zh-CN" altLang="en-US" sz="2000"/>
          </a:p>
          <a:p>
            <a:r>
              <a:rPr lang="zh-CN" altLang="en-US"/>
              <a:t>计算机科学的一个伟大思想</a:t>
            </a:r>
            <a:endParaRPr lang="zh-CN" altLang="en-US"/>
          </a:p>
          <a:p>
            <a:r>
              <a:rPr lang="en-US" altLang="zh-CN"/>
              <a:t>MMU（Memory Management U</a:t>
            </a:r>
            <a:r>
              <a:rPr lang="en-US" altLang="zh-CN"/>
              <a:t>nit）</a:t>
            </a:r>
            <a:endParaRPr lang="en-US" altLang="zh-CN"/>
          </a:p>
        </p:txBody>
      </p:sp>
      <p:sp>
        <p:nvSpPr>
          <p:cNvPr id="136" name="Shape 136"/>
          <p:cNvSpPr/>
          <p:nvPr/>
        </p:nvSpPr>
        <p:spPr>
          <a:xfrm>
            <a:off x="7848600" y="5364163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7" name="Shape 137"/>
          <p:cNvSpPr txBox="1"/>
          <p:nvPr/>
        </p:nvSpPr>
        <p:spPr>
          <a:xfrm>
            <a:off x="7542214" y="27955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7542214" y="30241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Shape 139"/>
          <p:cNvSpPr txBox="1"/>
          <p:nvPr/>
        </p:nvSpPr>
        <p:spPr>
          <a:xfrm>
            <a:off x="7303403" y="5316539"/>
            <a:ext cx="584839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" name="Shape 140"/>
          <p:cNvSpPr txBox="1"/>
          <p:nvPr/>
        </p:nvSpPr>
        <p:spPr>
          <a:xfrm>
            <a:off x="7580314" y="2501901"/>
            <a:ext cx="1388841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600" b="1" dirty="0" smtClean="0">
                <a:solidFill>
                  <a:srgbClr val="0033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4953000" y="3597708"/>
            <a:ext cx="1066800" cy="5334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7543801" y="32527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7542214" y="34813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7848600" y="280035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7848600" y="302895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6" name="Shape 146"/>
          <p:cNvSpPr/>
          <p:nvPr/>
        </p:nvSpPr>
        <p:spPr>
          <a:xfrm>
            <a:off x="7848600" y="325755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7" name="Shape 147"/>
          <p:cNvSpPr/>
          <p:nvPr/>
        </p:nvSpPr>
        <p:spPr>
          <a:xfrm>
            <a:off x="7848600" y="3486150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8" name="Shape 148"/>
          <p:cNvSpPr/>
          <p:nvPr/>
        </p:nvSpPr>
        <p:spPr>
          <a:xfrm>
            <a:off x="7848600" y="371475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9" name="Shape 149"/>
          <p:cNvSpPr/>
          <p:nvPr/>
        </p:nvSpPr>
        <p:spPr>
          <a:xfrm>
            <a:off x="7848600" y="394335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" name="Shape 150"/>
          <p:cNvSpPr txBox="1"/>
          <p:nvPr/>
        </p:nvSpPr>
        <p:spPr>
          <a:xfrm>
            <a:off x="7542214" y="37099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Shape 151"/>
          <p:cNvSpPr txBox="1"/>
          <p:nvPr/>
        </p:nvSpPr>
        <p:spPr>
          <a:xfrm>
            <a:off x="7542214" y="39385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7848600" y="417195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3" name="Shape 153"/>
          <p:cNvSpPr/>
          <p:nvPr/>
        </p:nvSpPr>
        <p:spPr>
          <a:xfrm>
            <a:off x="7848600" y="4400550"/>
            <a:ext cx="914400" cy="228600"/>
          </a:xfrm>
          <a:prstGeom prst="rect">
            <a:avLst/>
          </a:prstGeom>
          <a:solidFill>
            <a:srgbClr val="C0C0C0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7542214" y="41671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7543801" y="439578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Shape 156"/>
          <p:cNvSpPr/>
          <p:nvPr/>
        </p:nvSpPr>
        <p:spPr>
          <a:xfrm>
            <a:off x="7848600" y="5140325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5981020" y="3284529"/>
            <a:ext cx="1779187" cy="51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</a:t>
            </a:r>
            <a:endParaRPr lang="en-GB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Physical </a:t>
            </a: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address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(PA)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8" name="Shape 158"/>
          <p:cNvSpPr/>
          <p:nvPr/>
        </p:nvSpPr>
        <p:spPr>
          <a:xfrm>
            <a:off x="8839201" y="3714750"/>
            <a:ext cx="76200" cy="9144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9" name="Shape 159"/>
          <p:cNvSpPr txBox="1"/>
          <p:nvPr/>
        </p:nvSpPr>
        <p:spPr>
          <a:xfrm>
            <a:off x="5524500" y="5978525"/>
            <a:ext cx="956970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数据字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7848600" y="4629601"/>
            <a:ext cx="914400" cy="22860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61" name="Shape 161"/>
          <p:cNvSpPr txBox="1"/>
          <p:nvPr/>
        </p:nvSpPr>
        <p:spPr>
          <a:xfrm>
            <a:off x="7542214" y="4630739"/>
            <a:ext cx="34278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8:</a:t>
            </a:r>
            <a:endParaRPr lang="en-GB" sz="16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Shape 162"/>
          <p:cNvSpPr/>
          <p:nvPr/>
        </p:nvSpPr>
        <p:spPr>
          <a:xfrm rot="5400000">
            <a:off x="8267700" y="4521200"/>
            <a:ext cx="22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 rtl="1">
              <a:lnSpc>
                <a:spcPct val="98000"/>
              </a:lnSpc>
            </a:pPr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63" name="Shape 163"/>
          <p:cNvCxnSpPr>
            <a:stCxn id="141" idx="3"/>
            <a:endCxn id="150" idx="1"/>
          </p:cNvCxnSpPr>
          <p:nvPr/>
        </p:nvCxnSpPr>
        <p:spPr>
          <a:xfrm rot="10800000" flipH="1">
            <a:off x="6019800" y="3862908"/>
            <a:ext cx="1522500" cy="1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64" name="Shape 164"/>
          <p:cNvCxnSpPr/>
          <p:nvPr/>
        </p:nvCxnSpPr>
        <p:spPr>
          <a:xfrm rot="10800000" flipH="1">
            <a:off x="8991602" y="4171950"/>
            <a:ext cx="533399" cy="15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Shape 165"/>
          <p:cNvCxnSpPr/>
          <p:nvPr/>
        </p:nvCxnSpPr>
        <p:spPr>
          <a:xfrm rot="5400000">
            <a:off x="8604250" y="5087144"/>
            <a:ext cx="1839912" cy="15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Shape 166"/>
          <p:cNvCxnSpPr>
            <a:endCxn id="167" idx="2"/>
          </p:cNvCxnSpPr>
          <p:nvPr/>
        </p:nvCxnSpPr>
        <p:spPr>
          <a:xfrm rot="10800000">
            <a:off x="3048000" y="4131595"/>
            <a:ext cx="6475500" cy="18762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7" name="Shape 167"/>
          <p:cNvSpPr/>
          <p:nvPr/>
        </p:nvSpPr>
        <p:spPr>
          <a:xfrm>
            <a:off x="2514600" y="3598195"/>
            <a:ext cx="1066800" cy="5334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68" name="Shape 168"/>
          <p:cNvCxnSpPr>
            <a:stCxn id="167" idx="3"/>
          </p:cNvCxnSpPr>
          <p:nvPr/>
        </p:nvCxnSpPr>
        <p:spPr>
          <a:xfrm rot="10800000" flipH="1">
            <a:off x="3581400" y="3860395"/>
            <a:ext cx="1370100" cy="4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9" name="Shape 169"/>
          <p:cNvSpPr txBox="1"/>
          <p:nvPr/>
        </p:nvSpPr>
        <p:spPr>
          <a:xfrm>
            <a:off x="3499543" y="3234502"/>
            <a:ext cx="155996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Virtual </a:t>
            </a: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address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(VA)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70" name="Shape 170"/>
          <p:cNvSpPr txBox="1"/>
          <p:nvPr/>
        </p:nvSpPr>
        <p:spPr>
          <a:xfrm>
            <a:off x="2286001" y="2954600"/>
            <a:ext cx="10583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Shape 171"/>
          <p:cNvSpPr txBox="1"/>
          <p:nvPr/>
        </p:nvSpPr>
        <p:spPr>
          <a:xfrm>
            <a:off x="6629401" y="3793041"/>
            <a:ext cx="3077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600">
                <a:solidFill>
                  <a:schemeClr val="dk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  <a:t>4</a:t>
            </a:r>
            <a:endParaRPr lang="en-GB" sz="1600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  <p:sp>
        <p:nvSpPr>
          <p:cNvPr id="172" name="Shape 172"/>
          <p:cNvSpPr txBox="1"/>
          <p:nvPr/>
        </p:nvSpPr>
        <p:spPr>
          <a:xfrm>
            <a:off x="3886201" y="3860326"/>
            <a:ext cx="6771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600">
                <a:solidFill>
                  <a:schemeClr val="dk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  <a:t>4100</a:t>
            </a:r>
            <a:endParaRPr lang="en-GB" sz="1600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Shape 8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VM </a:t>
            </a:r>
            <a:r>
              <a:rPr lang="zh-CN" altLang="en-US"/>
              <a:t>是内存管理的工具</a:t>
            </a:r>
            <a:endParaRPr lang="zh-CN" altLang="en-US"/>
          </a:p>
        </p:txBody>
      </p:sp>
      <p:sp>
        <p:nvSpPr>
          <p:cNvPr id="880" name="Shape 88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关键思想：每个进程都有自己的虚拟地址空间</a:t>
            </a:r>
            <a:endParaRPr lang="zh-CN" altLang="en-US"/>
          </a:p>
          <a:p>
            <a:pPr lvl="1"/>
            <a:r>
              <a:rPr lang="zh-CN" altLang="en-US"/>
              <a:t>可以把内存看作是一个简单的线性数组</a:t>
            </a:r>
            <a:endParaRPr lang="zh-CN" altLang="en-US"/>
          </a:p>
          <a:p>
            <a:pPr lvl="1"/>
            <a:r>
              <a:rPr lang="zh-CN" altLang="en-US"/>
              <a:t>通过映射函数在</a:t>
            </a:r>
            <a:r>
              <a:rPr lang="zh-CN" altLang="en-US" b="1"/>
              <a:t>运行时</a:t>
            </a:r>
            <a:r>
              <a:rPr lang="zh-CN" altLang="en-US"/>
              <a:t>把地址分布到物理内存中</a:t>
            </a:r>
            <a:endParaRPr lang="zh-CN" altLang="en-US"/>
          </a:p>
          <a:p>
            <a:pPr lvl="2"/>
            <a:r>
              <a:rPr lang="zh-CN" altLang="en-US"/>
              <a:t>精心选择的映射可以提高局部性</a:t>
            </a:r>
            <a:endParaRPr lang="zh-CN" altLang="en-US"/>
          </a:p>
        </p:txBody>
      </p:sp>
      <p:sp>
        <p:nvSpPr>
          <p:cNvPr id="881" name="Shape 881"/>
          <p:cNvSpPr/>
          <p:nvPr/>
        </p:nvSpPr>
        <p:spPr>
          <a:xfrm>
            <a:off x="2517776" y="3146287"/>
            <a:ext cx="1368425" cy="690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的虚拟地址空间：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82" name="Shape 882"/>
          <p:cNvSpPr/>
          <p:nvPr/>
        </p:nvSpPr>
        <p:spPr>
          <a:xfrm>
            <a:off x="8255635" y="3120390"/>
            <a:ext cx="1122045" cy="117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物理地址空间（</a:t>
            </a:r>
            <a:r>
              <a:rPr lang="en-GB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83" name="Shape 883"/>
          <p:cNvSpPr/>
          <p:nvPr/>
        </p:nvSpPr>
        <p:spPr>
          <a:xfrm>
            <a:off x="3883919" y="30700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4" name="Shape 884"/>
          <p:cNvSpPr/>
          <p:nvPr/>
        </p:nvSpPr>
        <p:spPr>
          <a:xfrm>
            <a:off x="3716339" y="43697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5" name="Shape 885"/>
          <p:cNvSpPr/>
          <p:nvPr/>
        </p:nvSpPr>
        <p:spPr>
          <a:xfrm>
            <a:off x="8153400" y="4634041"/>
            <a:ext cx="1776984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（如：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共享库代码）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86" name="Shape 886"/>
          <p:cNvSpPr/>
          <p:nvPr/>
        </p:nvSpPr>
        <p:spPr>
          <a:xfrm>
            <a:off x="2517776" y="5127487"/>
            <a:ext cx="1368425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的虚拟地址空间：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87" name="Shape 887"/>
          <p:cNvSpPr/>
          <p:nvPr/>
        </p:nvSpPr>
        <p:spPr>
          <a:xfrm>
            <a:off x="4140556" y="3225396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8" name="Shape 888"/>
          <p:cNvSpPr/>
          <p:nvPr/>
        </p:nvSpPr>
        <p:spPr>
          <a:xfrm>
            <a:off x="4140556" y="3480983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9" name="Shape 889"/>
          <p:cNvSpPr/>
          <p:nvPr/>
        </p:nvSpPr>
        <p:spPr>
          <a:xfrm>
            <a:off x="4140556" y="373304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0" name="Shape 890"/>
          <p:cNvSpPr/>
          <p:nvPr/>
        </p:nvSpPr>
        <p:spPr>
          <a:xfrm>
            <a:off x="4140556" y="4242983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1" name="Shape 891"/>
          <p:cNvSpPr txBox="1"/>
          <p:nvPr/>
        </p:nvSpPr>
        <p:spPr>
          <a:xfrm>
            <a:off x="4362718" y="3861958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2" name="Shape 892"/>
          <p:cNvSpPr/>
          <p:nvPr/>
        </p:nvSpPr>
        <p:spPr>
          <a:xfrm>
            <a:off x="3883919" y="50512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3" name="Shape 893"/>
          <p:cNvSpPr/>
          <p:nvPr/>
        </p:nvSpPr>
        <p:spPr>
          <a:xfrm>
            <a:off x="3716339" y="63509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4" name="Shape 894"/>
          <p:cNvSpPr/>
          <p:nvPr/>
        </p:nvSpPr>
        <p:spPr>
          <a:xfrm>
            <a:off x="4140556" y="520279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5" name="Shape 895"/>
          <p:cNvSpPr/>
          <p:nvPr/>
        </p:nvSpPr>
        <p:spPr>
          <a:xfrm>
            <a:off x="4140556" y="5458384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6" name="Shape 896"/>
          <p:cNvSpPr/>
          <p:nvPr/>
        </p:nvSpPr>
        <p:spPr>
          <a:xfrm>
            <a:off x="4140556" y="5710441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7" name="Shape 897"/>
          <p:cNvSpPr/>
          <p:nvPr/>
        </p:nvSpPr>
        <p:spPr>
          <a:xfrm>
            <a:off x="4140556" y="6220384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8" name="Shape 898"/>
          <p:cNvSpPr txBox="1"/>
          <p:nvPr/>
        </p:nvSpPr>
        <p:spPr>
          <a:xfrm>
            <a:off x="4362718" y="5839359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9" name="Shape 899"/>
          <p:cNvSpPr/>
          <p:nvPr/>
        </p:nvSpPr>
        <p:spPr>
          <a:xfrm>
            <a:off x="7239000" y="32224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0" name="Shape 900"/>
          <p:cNvSpPr/>
          <p:nvPr/>
        </p:nvSpPr>
        <p:spPr>
          <a:xfrm>
            <a:off x="7239000" y="3478074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1" name="Shape 901"/>
          <p:cNvSpPr/>
          <p:nvPr/>
        </p:nvSpPr>
        <p:spPr>
          <a:xfrm>
            <a:off x="7239000" y="373657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2" name="Shape 902"/>
          <p:cNvSpPr/>
          <p:nvPr/>
        </p:nvSpPr>
        <p:spPr>
          <a:xfrm>
            <a:off x="7239000" y="3989695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3" name="Shape 903"/>
          <p:cNvSpPr/>
          <p:nvPr/>
        </p:nvSpPr>
        <p:spPr>
          <a:xfrm>
            <a:off x="7239000" y="424528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4" name="Shape 904"/>
          <p:cNvSpPr/>
          <p:nvPr/>
        </p:nvSpPr>
        <p:spPr>
          <a:xfrm>
            <a:off x="7239000" y="4503778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5" name="Shape 905"/>
          <p:cNvSpPr/>
          <p:nvPr/>
        </p:nvSpPr>
        <p:spPr>
          <a:xfrm>
            <a:off x="7239000" y="4759365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6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6" name="Shape 906"/>
          <p:cNvSpPr/>
          <p:nvPr/>
        </p:nvSpPr>
        <p:spPr>
          <a:xfrm>
            <a:off x="7239000" y="5018929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7" name="Shape 907"/>
          <p:cNvSpPr/>
          <p:nvPr/>
        </p:nvSpPr>
        <p:spPr>
          <a:xfrm>
            <a:off x="7239000" y="5274516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8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8" name="Shape 908"/>
          <p:cNvSpPr/>
          <p:nvPr/>
        </p:nvSpPr>
        <p:spPr>
          <a:xfrm>
            <a:off x="7239000" y="553301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9" name="Shape 909"/>
          <p:cNvSpPr/>
          <p:nvPr/>
        </p:nvSpPr>
        <p:spPr>
          <a:xfrm>
            <a:off x="7239000" y="61942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0" name="Shape 910"/>
          <p:cNvSpPr txBox="1"/>
          <p:nvPr/>
        </p:nvSpPr>
        <p:spPr>
          <a:xfrm>
            <a:off x="7484178" y="5742270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1" name="Shape 911"/>
          <p:cNvSpPr/>
          <p:nvPr/>
        </p:nvSpPr>
        <p:spPr>
          <a:xfrm>
            <a:off x="6998234" y="30700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2" name="Shape 912"/>
          <p:cNvSpPr/>
          <p:nvPr/>
        </p:nvSpPr>
        <p:spPr>
          <a:xfrm>
            <a:off x="6785581" y="6344475"/>
            <a:ext cx="485453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13" name="Shape 913"/>
          <p:cNvCxnSpPr>
            <a:stCxn id="888" idx="3"/>
            <a:endCxn id="901" idx="1"/>
          </p:cNvCxnSpPr>
          <p:nvPr/>
        </p:nvCxnSpPr>
        <p:spPr>
          <a:xfrm>
            <a:off x="5054956" y="3608776"/>
            <a:ext cx="2184000" cy="255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14" name="Shape 914"/>
          <p:cNvCxnSpPr>
            <a:stCxn id="889" idx="3"/>
            <a:endCxn id="905" idx="1"/>
          </p:cNvCxnSpPr>
          <p:nvPr/>
        </p:nvCxnSpPr>
        <p:spPr>
          <a:xfrm>
            <a:off x="5054956" y="3860833"/>
            <a:ext cx="2184000" cy="1026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15" name="Shape 915"/>
          <p:cNvCxnSpPr>
            <a:stCxn id="896" idx="3"/>
            <a:endCxn id="905" idx="1"/>
          </p:cNvCxnSpPr>
          <p:nvPr/>
        </p:nvCxnSpPr>
        <p:spPr>
          <a:xfrm rot="10800000" flipH="1">
            <a:off x="5054956" y="4887233"/>
            <a:ext cx="2184000" cy="951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16" name="Shape 916"/>
          <p:cNvCxnSpPr>
            <a:stCxn id="895" idx="3"/>
            <a:endCxn id="907" idx="1"/>
          </p:cNvCxnSpPr>
          <p:nvPr/>
        </p:nvCxnSpPr>
        <p:spPr>
          <a:xfrm rot="10800000" flipH="1">
            <a:off x="5054956" y="5402276"/>
            <a:ext cx="2184000" cy="183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17" name="Shape 917"/>
          <p:cNvSpPr/>
          <p:nvPr/>
        </p:nvSpPr>
        <p:spPr>
          <a:xfrm>
            <a:off x="5379650" y="3251200"/>
            <a:ext cx="13500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zh-CN" altLang="en-US" sz="20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地址转换</a:t>
            </a:r>
            <a:endParaRPr sz="2000" b="1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Arial Narrow" panose="020B0706020202030204"/>
              <a:sym typeface="Arial Narrow" panose="020B0706020202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6" grpId="0"/>
      <p:bldP spid="892" grpId="0"/>
      <p:bldP spid="893" grpId="0"/>
      <p:bldP spid="894" grpId="0" animBg="1"/>
      <p:bldP spid="895" grpId="0" animBg="1"/>
      <p:bldP spid="896" grpId="0" animBg="1"/>
      <p:bldP spid="897" grpId="0" animBg="1"/>
      <p:bldP spid="898" grpId="0"/>
      <p:bldP spid="9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Shape 924"/>
          <p:cNvSpPr txBox="1">
            <a:spLocks noGrp="1"/>
          </p:cNvSpPr>
          <p:nvPr>
            <p:ph type="body" idx="1"/>
          </p:nvPr>
        </p:nvSpPr>
        <p:spPr>
          <a:xfrm>
            <a:off x="529167" y="1184275"/>
            <a:ext cx="10528300" cy="49720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运行时</a:t>
            </a:r>
            <a:r>
              <a:rPr lang="en-US"/>
              <a:t>，</a:t>
            </a:r>
            <a:r>
              <a:rPr lang="zh-CN" altLang="en-US"/>
              <a:t>以页面为单位进行动态管理</a:t>
            </a:r>
            <a:endParaRPr lang="en-US"/>
          </a:p>
          <a:p>
            <a:pPr lvl="1"/>
            <a:r>
              <a:rPr lang="zh-CN" altLang="en-US"/>
              <a:t>每个虚拟页都可以映射到任意物理页</a:t>
            </a:r>
            <a:endParaRPr lang="zh-CN" altLang="en-US"/>
          </a:p>
          <a:p>
            <a:pPr lvl="1"/>
            <a:r>
              <a:rPr lang="zh-CN" altLang="en-US"/>
              <a:t>一个虚拟页在不同时间可以存放到不同的物理页</a:t>
            </a:r>
            <a:endParaRPr lang="zh-CN" altLang="en-US"/>
          </a:p>
          <a:p>
            <a:r>
              <a:rPr lang="zh-CN" altLang="en-US"/>
              <a:t>运行时</a:t>
            </a:r>
            <a:r>
              <a:rPr lang="en-US" altLang="zh-CN"/>
              <a:t>，</a:t>
            </a:r>
            <a:r>
              <a:rPr lang="zh-CN" altLang="en-US"/>
              <a:t>在进程间共享代码和数据</a:t>
            </a:r>
            <a:endParaRPr lang="zh-CN" altLang="en-US"/>
          </a:p>
          <a:p>
            <a:pPr lvl="1"/>
            <a:r>
              <a:rPr lang="zh-CN" altLang="en-US"/>
              <a:t>把虚拟页映射到同一个物理页（参阅</a:t>
            </a:r>
            <a:r>
              <a:rPr lang="en-US" altLang="zh-CN"/>
              <a:t>P6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925" name="Shape 925"/>
          <p:cNvSpPr/>
          <p:nvPr/>
        </p:nvSpPr>
        <p:spPr>
          <a:xfrm>
            <a:off x="2517776" y="3222487"/>
            <a:ext cx="1368425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的虚拟地址空间：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26" name="Shape 926"/>
          <p:cNvSpPr/>
          <p:nvPr/>
        </p:nvSpPr>
        <p:spPr>
          <a:xfrm>
            <a:off x="8255356" y="3196563"/>
            <a:ext cx="1066800" cy="117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物理地址空间（</a:t>
            </a:r>
            <a:r>
              <a:rPr lang="en-GB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27" name="Shape 927"/>
          <p:cNvSpPr/>
          <p:nvPr/>
        </p:nvSpPr>
        <p:spPr>
          <a:xfrm>
            <a:off x="3883919" y="31462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8" name="Shape 928"/>
          <p:cNvSpPr/>
          <p:nvPr/>
        </p:nvSpPr>
        <p:spPr>
          <a:xfrm>
            <a:off x="3716339" y="44459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9" name="Shape 929"/>
          <p:cNvSpPr/>
          <p:nvPr/>
        </p:nvSpPr>
        <p:spPr>
          <a:xfrm>
            <a:off x="8153400" y="4710241"/>
            <a:ext cx="1941576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（如：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共享库代码）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30" name="Shape 930"/>
          <p:cNvSpPr/>
          <p:nvPr/>
        </p:nvSpPr>
        <p:spPr>
          <a:xfrm>
            <a:off x="2517776" y="5203687"/>
            <a:ext cx="1368425" cy="1169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US" altLang="zh-CN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的虚拟地址空间：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31" name="Shape 931"/>
          <p:cNvSpPr/>
          <p:nvPr/>
        </p:nvSpPr>
        <p:spPr>
          <a:xfrm>
            <a:off x="4140556" y="3301596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2" name="Shape 932"/>
          <p:cNvSpPr/>
          <p:nvPr/>
        </p:nvSpPr>
        <p:spPr>
          <a:xfrm>
            <a:off x="4140556" y="3557183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3" name="Shape 933"/>
          <p:cNvSpPr/>
          <p:nvPr/>
        </p:nvSpPr>
        <p:spPr>
          <a:xfrm>
            <a:off x="4140556" y="380924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4" name="Shape 934"/>
          <p:cNvSpPr/>
          <p:nvPr/>
        </p:nvSpPr>
        <p:spPr>
          <a:xfrm>
            <a:off x="4140556" y="4319183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5" name="Shape 935"/>
          <p:cNvSpPr txBox="1"/>
          <p:nvPr/>
        </p:nvSpPr>
        <p:spPr>
          <a:xfrm>
            <a:off x="4362718" y="3938158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6" name="Shape 936"/>
          <p:cNvSpPr/>
          <p:nvPr/>
        </p:nvSpPr>
        <p:spPr>
          <a:xfrm>
            <a:off x="3883919" y="51274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7" name="Shape 937"/>
          <p:cNvSpPr/>
          <p:nvPr/>
        </p:nvSpPr>
        <p:spPr>
          <a:xfrm>
            <a:off x="3716339" y="6427114"/>
            <a:ext cx="446981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8" name="Shape 938"/>
          <p:cNvSpPr/>
          <p:nvPr/>
        </p:nvSpPr>
        <p:spPr>
          <a:xfrm>
            <a:off x="4140556" y="527899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9" name="Shape 939"/>
          <p:cNvSpPr/>
          <p:nvPr/>
        </p:nvSpPr>
        <p:spPr>
          <a:xfrm>
            <a:off x="4140556" y="5534584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0" name="Shape 940"/>
          <p:cNvSpPr/>
          <p:nvPr/>
        </p:nvSpPr>
        <p:spPr>
          <a:xfrm>
            <a:off x="4140556" y="5786641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1" name="Shape 941"/>
          <p:cNvSpPr/>
          <p:nvPr/>
        </p:nvSpPr>
        <p:spPr>
          <a:xfrm>
            <a:off x="4140556" y="6296584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2" name="Shape 942"/>
          <p:cNvSpPr txBox="1"/>
          <p:nvPr/>
        </p:nvSpPr>
        <p:spPr>
          <a:xfrm>
            <a:off x="4362718" y="5915559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3" name="Shape 943"/>
          <p:cNvSpPr/>
          <p:nvPr/>
        </p:nvSpPr>
        <p:spPr>
          <a:xfrm>
            <a:off x="7239000" y="32986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4" name="Shape 944"/>
          <p:cNvSpPr/>
          <p:nvPr/>
        </p:nvSpPr>
        <p:spPr>
          <a:xfrm>
            <a:off x="7239000" y="3552688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5" name="Shape 945"/>
          <p:cNvSpPr/>
          <p:nvPr/>
        </p:nvSpPr>
        <p:spPr>
          <a:xfrm>
            <a:off x="7239000" y="3812770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6" name="Shape 946"/>
          <p:cNvSpPr/>
          <p:nvPr/>
        </p:nvSpPr>
        <p:spPr>
          <a:xfrm>
            <a:off x="7239000" y="4065895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7" name="Shape 947"/>
          <p:cNvSpPr/>
          <p:nvPr/>
        </p:nvSpPr>
        <p:spPr>
          <a:xfrm>
            <a:off x="7239000" y="432148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8" name="Shape 948"/>
          <p:cNvSpPr/>
          <p:nvPr/>
        </p:nvSpPr>
        <p:spPr>
          <a:xfrm>
            <a:off x="7239000" y="4579978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9" name="Shape 949"/>
          <p:cNvSpPr/>
          <p:nvPr/>
        </p:nvSpPr>
        <p:spPr>
          <a:xfrm>
            <a:off x="7239000" y="4835565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6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0" name="Shape 950"/>
          <p:cNvSpPr/>
          <p:nvPr/>
        </p:nvSpPr>
        <p:spPr>
          <a:xfrm>
            <a:off x="7239000" y="5095129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1" name="Shape 951"/>
          <p:cNvSpPr/>
          <p:nvPr/>
        </p:nvSpPr>
        <p:spPr>
          <a:xfrm>
            <a:off x="7239000" y="5350716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8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2" name="Shape 952"/>
          <p:cNvSpPr/>
          <p:nvPr/>
        </p:nvSpPr>
        <p:spPr>
          <a:xfrm>
            <a:off x="7239000" y="5609212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3" name="Shape 953"/>
          <p:cNvSpPr/>
          <p:nvPr/>
        </p:nvSpPr>
        <p:spPr>
          <a:xfrm>
            <a:off x="7239000" y="6270487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4" name="Shape 954"/>
          <p:cNvSpPr txBox="1"/>
          <p:nvPr/>
        </p:nvSpPr>
        <p:spPr>
          <a:xfrm>
            <a:off x="7484178" y="5818470"/>
            <a:ext cx="427745" cy="4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2400" b="1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rgbClr val="0033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5" name="Shape 955"/>
          <p:cNvSpPr/>
          <p:nvPr/>
        </p:nvSpPr>
        <p:spPr>
          <a:xfrm>
            <a:off x="6998234" y="3146287"/>
            <a:ext cx="27940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6" name="Shape 956"/>
          <p:cNvSpPr/>
          <p:nvPr/>
        </p:nvSpPr>
        <p:spPr>
          <a:xfrm>
            <a:off x="6785581" y="6420675"/>
            <a:ext cx="485453" cy="30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57" name="Shape 957"/>
          <p:cNvCxnSpPr>
            <a:stCxn id="932" idx="3"/>
            <a:endCxn id="945" idx="1"/>
          </p:cNvCxnSpPr>
          <p:nvPr/>
        </p:nvCxnSpPr>
        <p:spPr>
          <a:xfrm>
            <a:off x="5054956" y="3684976"/>
            <a:ext cx="2184000" cy="2556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58" name="Shape 958"/>
          <p:cNvCxnSpPr>
            <a:stCxn id="933" idx="3"/>
            <a:endCxn id="949" idx="1"/>
          </p:cNvCxnSpPr>
          <p:nvPr/>
        </p:nvCxnSpPr>
        <p:spPr>
          <a:xfrm>
            <a:off x="5054956" y="3937033"/>
            <a:ext cx="2184000" cy="1026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59" name="Shape 959"/>
          <p:cNvCxnSpPr>
            <a:stCxn id="940" idx="3"/>
            <a:endCxn id="949" idx="1"/>
          </p:cNvCxnSpPr>
          <p:nvPr/>
        </p:nvCxnSpPr>
        <p:spPr>
          <a:xfrm rot="10800000" flipH="1">
            <a:off x="5054956" y="4963433"/>
            <a:ext cx="2184000" cy="9510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960" name="Shape 960"/>
          <p:cNvCxnSpPr>
            <a:stCxn id="939" idx="3"/>
            <a:endCxn id="951" idx="1"/>
          </p:cNvCxnSpPr>
          <p:nvPr/>
        </p:nvCxnSpPr>
        <p:spPr>
          <a:xfrm rot="10800000" flipH="1">
            <a:off x="5054956" y="5478476"/>
            <a:ext cx="2184000" cy="183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961" name="Shape 961"/>
          <p:cNvSpPr/>
          <p:nvPr/>
        </p:nvSpPr>
        <p:spPr>
          <a:xfrm>
            <a:off x="5435530" y="3048000"/>
            <a:ext cx="13500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zh-CN" altLang="en-US" sz="20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地址转换</a:t>
            </a:r>
            <a:endParaRPr sz="2000" b="1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" name="Shape 8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VM </a:t>
            </a:r>
            <a:r>
              <a:rPr lang="zh-CN" altLang="en-US"/>
              <a:t>是</a:t>
            </a:r>
            <a:r>
              <a:rPr lang="zh-CN" altLang="en-US" b="1"/>
              <a:t>运行时</a:t>
            </a:r>
            <a:r>
              <a:rPr lang="zh-CN" altLang="en-US"/>
              <a:t>内存管理的工具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Shape 9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简化链接与加载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968" name="Shape 968"/>
          <p:cNvSpPr txBox="1">
            <a:spLocks noGrp="1"/>
          </p:cNvSpPr>
          <p:nvPr>
            <p:ph type="body" idx="1"/>
          </p:nvPr>
        </p:nvSpPr>
        <p:spPr>
          <a:xfrm>
            <a:off x="528955" y="1362075"/>
            <a:ext cx="5720715" cy="49720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链接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US"/>
              <a:t>每个程序都有类似的虚拟地址空间</a:t>
            </a:r>
            <a:endParaRPr lang="zh-CN" altLang="en-US"/>
          </a:p>
          <a:p>
            <a:pPr lvl="1"/>
            <a:r>
              <a:rPr lang="zh-CN" altLang="en-US"/>
              <a:t>代码、数据和堆总是从相同的地址开始</a:t>
            </a:r>
            <a:endParaRPr lang="zh-CN" altLang="en-US"/>
          </a:p>
          <a:p>
            <a:pPr lvl="1"/>
          </a:p>
          <a:p>
            <a:r>
              <a:rPr lang="zh-CN" altLang="en-US"/>
              <a:t>加载</a:t>
            </a:r>
            <a:r>
              <a:rPr lang="en-GB"/>
              <a:t> </a:t>
            </a:r>
            <a:endParaRPr lang="en-GB"/>
          </a:p>
          <a:p>
            <a:pPr lvl="1"/>
            <a:r>
              <a:rPr lang="en-GB"/>
              <a:t>execve </a:t>
            </a:r>
            <a:r>
              <a:rPr lang="zh-CN" altLang="en-US"/>
              <a:t>为</a:t>
            </a:r>
            <a:r>
              <a:rPr lang="en-GB"/>
              <a:t> .text </a:t>
            </a:r>
            <a:r>
              <a:rPr lang="zh-CN" altLang="en-US"/>
              <a:t>和</a:t>
            </a:r>
            <a:r>
              <a:rPr lang="en-GB"/>
              <a:t> .data </a:t>
            </a:r>
            <a:r>
              <a:rPr lang="zh-CN" altLang="en-US"/>
              <a:t>段分配虚拟页，并创建标记为无效的页表项</a:t>
            </a:r>
            <a:endParaRPr lang="zh-CN" altLang="en-US"/>
          </a:p>
          <a:p>
            <a:pPr lvl="1"/>
            <a:r>
              <a:rPr lang="en-GB"/>
              <a:t>.text </a:t>
            </a:r>
            <a:r>
              <a:rPr lang="zh-CN" altLang="en-US"/>
              <a:t>和</a:t>
            </a:r>
            <a:r>
              <a:rPr lang="en-GB"/>
              <a:t> .data </a:t>
            </a:r>
            <a:r>
              <a:rPr lang="zh-CN" altLang="en-US"/>
              <a:t>段由虚拟存储器系统</a:t>
            </a:r>
            <a:r>
              <a:rPr lang="zh-CN" altLang="en-US" b="1"/>
              <a:t>按需逐页复制</a:t>
            </a:r>
            <a:endParaRPr lang="zh-CN" altLang="en-US" b="1">
              <a:solidFill>
                <a:srgbClr val="000066"/>
              </a:solidFill>
            </a:endParaRPr>
          </a:p>
        </p:txBody>
      </p:sp>
      <p:sp>
        <p:nvSpPr>
          <p:cNvPr id="969" name="Shape 969"/>
          <p:cNvSpPr/>
          <p:nvPr/>
        </p:nvSpPr>
        <p:spPr>
          <a:xfrm>
            <a:off x="6522662" y="1262063"/>
            <a:ext cx="2789237" cy="487362"/>
          </a:xfrm>
          <a:prstGeom prst="rect">
            <a:avLst/>
          </a:prstGeom>
          <a:solidFill>
            <a:srgbClr val="F1C7C7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核心虚拟存储器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70" name="Shape 970"/>
          <p:cNvSpPr/>
          <p:nvPr/>
        </p:nvSpPr>
        <p:spPr>
          <a:xfrm>
            <a:off x="6522662" y="2963864"/>
            <a:ext cx="2789237" cy="669925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共享库的内存映射区域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71" name="Shape 971"/>
          <p:cNvSpPr/>
          <p:nvPr/>
        </p:nvSpPr>
        <p:spPr>
          <a:xfrm>
            <a:off x="6522662" y="3629025"/>
            <a:ext cx="2789237" cy="723900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72" name="Shape 972"/>
          <p:cNvSpPr/>
          <p:nvPr/>
        </p:nvSpPr>
        <p:spPr>
          <a:xfrm>
            <a:off x="6522663" y="4350809"/>
            <a:ext cx="2789237" cy="669925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运行时堆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由</a:t>
            </a:r>
            <a:r>
              <a:rPr lang="en-GB" altLang="zh-CN" sz="1600" b="1" dirty="0" err="1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malloc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创建）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73" name="Shape 973"/>
          <p:cNvSpPr/>
          <p:nvPr/>
        </p:nvSpPr>
        <p:spPr>
          <a:xfrm>
            <a:off x="6522662" y="2054226"/>
            <a:ext cx="2789237" cy="906463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974" name="Shape 974"/>
          <p:cNvCxnSpPr/>
          <p:nvPr/>
        </p:nvCxnSpPr>
        <p:spPr>
          <a:xfrm rot="10800000" flipH="1">
            <a:off x="7912782" y="3957639"/>
            <a:ext cx="1588" cy="384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75" name="Shape 975"/>
          <p:cNvSpPr/>
          <p:nvPr/>
        </p:nvSpPr>
        <p:spPr>
          <a:xfrm>
            <a:off x="6522662" y="1719263"/>
            <a:ext cx="2789237" cy="563562"/>
          </a:xfrm>
          <a:prstGeom prst="rect">
            <a:avLst/>
          </a:prstGeom>
          <a:solidFill>
            <a:srgbClr val="D5F1C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用户栈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（运行时创建）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976" name="Shape 976"/>
          <p:cNvCxnSpPr/>
          <p:nvPr/>
        </p:nvCxnSpPr>
        <p:spPr>
          <a:xfrm rot="10800000" flipH="1">
            <a:off x="7912782" y="2738439"/>
            <a:ext cx="1588" cy="2317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7" name="Shape 977"/>
          <p:cNvCxnSpPr/>
          <p:nvPr/>
        </p:nvCxnSpPr>
        <p:spPr>
          <a:xfrm>
            <a:off x="7912782" y="2282825"/>
            <a:ext cx="1588" cy="228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78" name="Shape 978"/>
          <p:cNvSpPr/>
          <p:nvPr/>
        </p:nvSpPr>
        <p:spPr>
          <a:xfrm>
            <a:off x="6522661" y="6312959"/>
            <a:ext cx="2789238" cy="396875"/>
          </a:xfrm>
          <a:prstGeom prst="rect">
            <a:avLst/>
          </a:prstGeom>
          <a:solidFill>
            <a:srgbClr val="BFBFB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未使用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79" name="Shape 979"/>
          <p:cNvSpPr txBox="1"/>
          <p:nvPr/>
        </p:nvSpPr>
        <p:spPr>
          <a:xfrm>
            <a:off x="6257026" y="6531511"/>
            <a:ext cx="285954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0" name="Shape 980"/>
          <p:cNvSpPr txBox="1"/>
          <p:nvPr/>
        </p:nvSpPr>
        <p:spPr>
          <a:xfrm>
            <a:off x="9670054" y="2108200"/>
            <a:ext cx="1031965" cy="808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4000"/>
              </a:lnSpc>
            </a:pPr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%</a:t>
            </a:r>
            <a:r>
              <a:rPr lang="en-GB" sz="1600" b="1" dirty="0" err="1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rsp</a:t>
            </a:r>
            <a:endParaRPr lang="en-GB" sz="1600" b="1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4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（栈指针）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981" name="Shape 981"/>
          <p:cNvCxnSpPr/>
          <p:nvPr/>
        </p:nvCxnSpPr>
        <p:spPr>
          <a:xfrm flipH="1">
            <a:off x="9363667" y="2279650"/>
            <a:ext cx="384175" cy="1588"/>
          </a:xfrm>
          <a:prstGeom prst="straightConnector1">
            <a:avLst/>
          </a:prstGeom>
          <a:noFill/>
          <a:ln w="952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82" name="Shape 982"/>
          <p:cNvSpPr txBox="1"/>
          <p:nvPr/>
        </p:nvSpPr>
        <p:spPr>
          <a:xfrm>
            <a:off x="9532032" y="990601"/>
            <a:ext cx="1267032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用户代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码</a:t>
            </a:r>
            <a:endParaRPr lang="en-US" altLang="zh-CN" sz="1600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可见的内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983" name="Shape 983"/>
          <p:cNvCxnSpPr/>
          <p:nvPr/>
        </p:nvCxnSpPr>
        <p:spPr>
          <a:xfrm rot="10800000" flipH="1">
            <a:off x="9379632" y="1257569"/>
            <a:ext cx="1588" cy="4603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84" name="Shape 984"/>
          <p:cNvSpPr txBox="1"/>
          <p:nvPr/>
        </p:nvSpPr>
        <p:spPr>
          <a:xfrm>
            <a:off x="9724120" y="4173538"/>
            <a:ext cx="552052" cy="325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4000"/>
              </a:lnSpc>
            </a:pPr>
            <a:r>
              <a:rPr lang="en-GB" sz="1600" b="1">
                <a:solidFill>
                  <a:schemeClr val="dk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  <a:t>brk</a:t>
            </a:r>
            <a:endParaRPr lang="en-GB" sz="1600" b="1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  <p:cxnSp>
        <p:nvCxnSpPr>
          <p:cNvPr id="985" name="Shape 985"/>
          <p:cNvCxnSpPr/>
          <p:nvPr/>
        </p:nvCxnSpPr>
        <p:spPr>
          <a:xfrm flipH="1">
            <a:off x="9339946" y="4340225"/>
            <a:ext cx="384175" cy="1588"/>
          </a:xfrm>
          <a:prstGeom prst="straightConnector1">
            <a:avLst/>
          </a:prstGeom>
          <a:noFill/>
          <a:ln w="952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86" name="Shape 986"/>
          <p:cNvSpPr txBox="1"/>
          <p:nvPr/>
        </p:nvSpPr>
        <p:spPr>
          <a:xfrm>
            <a:off x="5509528" y="6189453"/>
            <a:ext cx="1043672" cy="299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4000"/>
              </a:lnSpc>
            </a:pPr>
            <a:r>
              <a:rPr lang="en-GB" b="1">
                <a:solidFill>
                  <a:schemeClr val="dk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rPr>
              <a:t>0x400000</a:t>
            </a:r>
            <a:endParaRPr lang="en-GB" b="1">
              <a:solidFill>
                <a:schemeClr val="dk1"/>
              </a:solidFill>
              <a:latin typeface="Courier New" panose="02070609020205020404"/>
              <a:ea typeface="Courier New" panose="02070609020205020404"/>
              <a:cs typeface="Courier New" panose="02070609020205020404"/>
              <a:sym typeface="Courier New" panose="02070609020205020404"/>
            </a:endParaRPr>
          </a:p>
        </p:txBody>
      </p:sp>
      <p:sp>
        <p:nvSpPr>
          <p:cNvPr id="987" name="Shape 987"/>
          <p:cNvSpPr/>
          <p:nvPr/>
        </p:nvSpPr>
        <p:spPr>
          <a:xfrm>
            <a:off x="6522661" y="5017559"/>
            <a:ext cx="2789238" cy="669925"/>
          </a:xfrm>
          <a:prstGeom prst="rect">
            <a:avLst/>
          </a:prstGeom>
          <a:solidFill>
            <a:srgbClr val="D5D5F4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读</a:t>
            </a:r>
            <a:r>
              <a:rPr lang="en-US" altLang="zh-CN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/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写段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.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data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，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.</a:t>
            </a:r>
            <a:r>
              <a:rPr lang="en-GB" sz="1600" b="1" dirty="0" err="1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bss</a:t>
            </a:r>
            <a:r>
              <a:rPr lang="zh-CN" altLang="en-US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88" name="Shape 988"/>
          <p:cNvSpPr/>
          <p:nvPr/>
        </p:nvSpPr>
        <p:spPr>
          <a:xfrm>
            <a:off x="6522661" y="5643034"/>
            <a:ext cx="2789238" cy="669925"/>
          </a:xfrm>
          <a:prstGeom prst="rect">
            <a:avLst/>
          </a:prstGeom>
          <a:solidFill>
            <a:srgbClr val="F6F5BD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只读段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8000"/>
              </a:lnSpc>
            </a:pP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(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.</a:t>
            </a:r>
            <a:r>
              <a:rPr lang="en-GB" sz="1600" b="1" dirty="0" err="1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init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, </a:t>
            </a:r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.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text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, </a:t>
            </a:r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.</a:t>
            </a:r>
            <a:r>
              <a:rPr lang="en-GB" sz="1600" b="1" dirty="0" err="1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ourier New" panose="02070609020205020404"/>
                <a:sym typeface="Courier New" panose="02070609020205020404"/>
              </a:rPr>
              <a:t>rodata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)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89" name="Shape 989"/>
          <p:cNvSpPr/>
          <p:nvPr/>
        </p:nvSpPr>
        <p:spPr>
          <a:xfrm>
            <a:off x="9360582" y="5026025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990" name="Shape 990"/>
          <p:cNvSpPr txBox="1"/>
          <p:nvPr/>
        </p:nvSpPr>
        <p:spPr>
          <a:xfrm>
            <a:off x="9512983" y="5010151"/>
            <a:ext cx="1149459" cy="130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从可执行文件加载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地址空间</a:t>
            </a:r>
            <a:endParaRPr lang="zh-CN" altLang="en-US"/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/>
              <a:t>线性地址</a:t>
            </a:r>
            <a:r>
              <a:rPr lang="zh-CN" altLang="en-US"/>
              <a:t>空间：有序的连续非负整数地址集合：</a:t>
            </a:r>
            <a:br>
              <a:rPr lang="en-GB"/>
            </a:br>
            <a:r>
              <a:rPr lang="en-GB"/>
              <a:t>		{0, 1, 2, 3 … }</a:t>
            </a:r>
            <a:endParaRPr lang="en-GB"/>
          </a:p>
          <a:p/>
          <a:p>
            <a:r>
              <a:rPr lang="zh-CN" altLang="en-US" b="1"/>
              <a:t>虚拟地址</a:t>
            </a:r>
            <a:r>
              <a:rPr lang="zh-CN" altLang="en-US"/>
              <a:t>空间：</a:t>
            </a:r>
            <a:r>
              <a:rPr lang="en-GB"/>
              <a:t>N = 2</a:t>
            </a:r>
            <a:r>
              <a:rPr lang="en-GB" baseline="30000"/>
              <a:t>n</a:t>
            </a:r>
            <a:r>
              <a:rPr lang="en-GB"/>
              <a:t> </a:t>
            </a:r>
            <a:r>
              <a:rPr lang="zh-CN" altLang="en-US"/>
              <a:t>虚拟地址集合</a:t>
            </a:r>
            <a:br>
              <a:rPr lang="en-GB"/>
            </a:br>
            <a:r>
              <a:rPr lang="en-GB"/>
              <a:t>		{0, 1, 2, 3, …, N-1}</a:t>
            </a:r>
            <a:endParaRPr lang="en-GB"/>
          </a:p>
          <a:p/>
          <a:p>
            <a:r>
              <a:rPr lang="zh-CN" altLang="en-US" b="1"/>
              <a:t>物理地址</a:t>
            </a:r>
            <a:r>
              <a:rPr lang="zh-CN" altLang="en-US"/>
              <a:t>空间：</a:t>
            </a:r>
            <a:r>
              <a:rPr lang="en-GB"/>
              <a:t>M = 2</a:t>
            </a:r>
            <a:r>
              <a:rPr lang="en-GB" baseline="30000"/>
              <a:t>m</a:t>
            </a:r>
            <a:r>
              <a:rPr lang="en-GB"/>
              <a:t> </a:t>
            </a:r>
            <a:r>
              <a:rPr lang="zh-CN" altLang="en-US"/>
              <a:t>物理地址集合</a:t>
            </a:r>
            <a:br>
              <a:rPr lang="en-GB"/>
            </a:br>
            <a:r>
              <a:rPr lang="en-GB"/>
              <a:t>		{0, 1, 2, 3, …, M-1}</a:t>
            </a:r>
            <a:endParaRPr lang="en-GB"/>
          </a:p>
          <a:p>
            <a:pPr marL="0" indent="0">
              <a:spcBef>
                <a:spcPts val="400"/>
              </a:spcBef>
              <a:buSzPts val="1200"/>
              <a:buNone/>
            </a:pPr>
            <a:endParaRPr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为什么</a:t>
            </a:r>
            <a:r>
              <a:rPr lang="zh-CN" altLang="en-US"/>
              <a:t>使用虚拟存储（</a:t>
            </a:r>
            <a:r>
              <a:rPr lang="en-US" altLang="zh-CN"/>
              <a:t>VM</a:t>
            </a:r>
            <a:r>
              <a:rPr lang="zh-CN" altLang="en-US"/>
              <a:t>）？</a:t>
            </a:r>
            <a:endParaRPr lang="zh-CN" altLang="en-US"/>
          </a:p>
        </p:txBody>
      </p:sp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高效使用主存</a:t>
            </a:r>
            <a:endParaRPr lang="zh-CN" altLang="en-US"/>
          </a:p>
          <a:p>
            <a:pPr lvl="1"/>
            <a:r>
              <a:rPr lang="zh-CN" altLang="en-US"/>
              <a:t>把</a:t>
            </a:r>
            <a:r>
              <a:rPr lang="en-US" altLang="zh-CN"/>
              <a:t>DRAM</a:t>
            </a:r>
            <a:r>
              <a:rPr lang="zh-CN" altLang="en-US"/>
              <a:t>用作部分虚拟地址空间的缓存</a:t>
            </a:r>
            <a:endParaRPr lang="zh-CN" altLang="en-US"/>
          </a:p>
          <a:p/>
          <a:p>
            <a:r>
              <a:rPr lang="zh-CN" altLang="en-US"/>
              <a:t>简化内存管理</a:t>
            </a:r>
            <a:endParaRPr lang="zh-CN" altLang="en-US"/>
          </a:p>
          <a:p>
            <a:pPr lvl="1"/>
            <a:r>
              <a:rPr lang="zh-CN" altLang="en-US"/>
              <a:t>每个进程都获得相同的统一线性地址空间</a:t>
            </a:r>
            <a:endParaRPr lang="zh-CN" altLang="en-US"/>
          </a:p>
          <a:p>
            <a:pPr lvl="1"/>
          </a:p>
          <a:p>
            <a:r>
              <a:rPr lang="zh-CN" altLang="en-US"/>
              <a:t>隔离地址空间</a:t>
            </a:r>
            <a:r>
              <a:rPr lang="en-US" altLang="zh-CN"/>
              <a:t>（</a:t>
            </a:r>
            <a:r>
              <a:rPr lang="zh-CN" altLang="en-US"/>
              <a:t>保护</a:t>
            </a:r>
            <a:r>
              <a:rPr lang="en-US" altLang="zh-CN"/>
              <a:t>）</a:t>
            </a:r>
            <a:endParaRPr lang="zh-CN" altLang="en-US"/>
          </a:p>
          <a:p>
            <a:pPr lvl="1"/>
            <a:r>
              <a:rPr lang="zh-CN" altLang="en-US"/>
              <a:t>一个进程不能干扰另一个进程的内存</a:t>
            </a:r>
            <a:r>
              <a:rPr lang="en-GB"/>
              <a:t>	</a:t>
            </a:r>
            <a:endParaRPr lang="en-GB"/>
          </a:p>
          <a:p>
            <a:pPr lvl="1"/>
            <a:r>
              <a:rPr lang="zh-CN" altLang="en-US"/>
              <a:t>用户程序不能访问特权内核信息和代码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Shape 10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虚存地址转换</a:t>
            </a:r>
            <a:endParaRPr lang="zh-CN" altLang="en-US"/>
          </a:p>
        </p:txBody>
      </p:sp>
      <p:sp>
        <p:nvSpPr>
          <p:cNvPr id="1084" name="Shape 108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虚拟地址空间</a:t>
            </a:r>
            <a:endParaRPr lang="zh-CN" altLang="en-US"/>
          </a:p>
          <a:p>
            <a:pPr lvl="1"/>
            <a:r>
              <a:rPr lang="en-GB"/>
              <a:t>V = {0, 1, …, N–1}</a:t>
            </a:r>
            <a:endParaRPr lang="en-GB"/>
          </a:p>
          <a:p>
            <a:r>
              <a:rPr lang="zh-CN" altLang="en-US"/>
              <a:t>物理地址空间</a:t>
            </a:r>
            <a:endParaRPr lang="zh-CN" altLang="en-US"/>
          </a:p>
          <a:p>
            <a:pPr lvl="1"/>
            <a:r>
              <a:rPr lang="en-GB"/>
              <a:t>P = {0, 1, …, M–1}</a:t>
            </a:r>
            <a:endParaRPr lang="en-GB"/>
          </a:p>
          <a:p>
            <a:r>
              <a:rPr lang="zh-CN" altLang="en-US"/>
              <a:t>地址转换</a:t>
            </a:r>
            <a:endParaRPr lang="zh-CN" altLang="en-US"/>
          </a:p>
          <a:p>
            <a:pPr lvl="1"/>
            <a:r>
              <a:rPr lang="en-GB"/>
              <a:t>MAP:  V →  P  U  {∅}</a:t>
            </a:r>
            <a:endParaRPr lang="en-GB"/>
          </a:p>
          <a:p>
            <a:pPr lvl="1"/>
            <a:r>
              <a:rPr lang="zh-CN" altLang="en-US"/>
              <a:t>对于虚拟地址</a:t>
            </a:r>
            <a:r>
              <a:rPr lang="en-GB"/>
              <a:t> a</a:t>
            </a:r>
            <a:r>
              <a:rPr lang="zh-CN" altLang="en-US"/>
              <a:t>：</a:t>
            </a:r>
            <a:endParaRPr lang="zh-CN" altLang="en-US"/>
          </a:p>
          <a:p>
            <a:pPr lvl="2"/>
            <a:r>
              <a:rPr lang="en-GB"/>
              <a:t>MAP(a)  =  a’</a:t>
            </a:r>
            <a:r>
              <a:rPr lang="zh-CN" altLang="en-US"/>
              <a:t>如果在虚拟地址</a:t>
            </a:r>
            <a:r>
              <a:rPr lang="en-GB" altLang="zh-CN"/>
              <a:t>a</a:t>
            </a:r>
            <a:r>
              <a:rPr lang="zh-CN" altLang="en-US"/>
              <a:t>的数据存在于</a:t>
            </a:r>
            <a:r>
              <a:rPr lang="en-GB" altLang="zh-CN"/>
              <a:t>P</a:t>
            </a:r>
            <a:r>
              <a:rPr lang="zh-CN" altLang="en-US"/>
              <a:t>中的物理地址</a:t>
            </a:r>
            <a:r>
              <a:rPr lang="en-GB" altLang="zh-CN"/>
              <a:t>a’</a:t>
            </a:r>
            <a:endParaRPr lang="en-GB" altLang="zh-CN"/>
          </a:p>
          <a:p>
            <a:pPr lvl="2"/>
            <a:r>
              <a:rPr lang="en-GB"/>
              <a:t>MAP(a)  = ∅   </a:t>
            </a:r>
            <a:r>
              <a:rPr lang="zh-CN" altLang="en-US"/>
              <a:t>如果在虚拟地址</a:t>
            </a:r>
            <a:r>
              <a:rPr lang="en-GB" altLang="zh-CN"/>
              <a:t>a</a:t>
            </a:r>
            <a:r>
              <a:rPr lang="zh-CN" altLang="en-US"/>
              <a:t>的数据不在物理内存中</a:t>
            </a:r>
            <a:endParaRPr lang="zh-CN" altLang="en-US"/>
          </a:p>
          <a:p>
            <a:pPr lvl="3"/>
            <a:r>
              <a:rPr lang="zh-CN" altLang="en-US"/>
              <a:t>无效或存于磁盘上</a:t>
            </a:r>
            <a:endParaRPr lang="zh-CN" altLang="en-US"/>
          </a:p>
          <a:p>
            <a:pPr lvl="2"/>
          </a:p>
          <a:p/>
          <a:p>
            <a:pPr marL="742950" lvl="1" indent="-146050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映射：</a:t>
            </a:r>
            <a:r>
              <a:rPr lang="en-US"/>
              <a:t>V </a:t>
            </a:r>
            <a:r>
              <a:rPr lang="en-US"/>
              <a:t>-&gt; P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从虚拟页到物理页的映射功能</a:t>
            </a:r>
            <a:endParaRPr lang="en-US"/>
          </a:p>
          <a:p>
            <a:pPr lvl="1"/>
            <a:r>
              <a:rPr lang="zh-CN" altLang="en-US"/>
              <a:t>页是</a:t>
            </a:r>
            <a:r>
              <a:rPr lang="en-US" altLang="zh-CN"/>
              <a:t>ISA</a:t>
            </a:r>
            <a:r>
              <a:rPr lang="zh-CN" altLang="en-US"/>
              <a:t>设定的映射单位</a:t>
            </a:r>
            <a:endParaRPr lang="en-US"/>
          </a:p>
          <a:p>
            <a:endParaRPr lang="en-US"/>
          </a:p>
          <a:p>
            <a:r>
              <a:rPr lang="zh-CN" altLang="en-US"/>
              <a:t>功能必须简单高效</a:t>
            </a:r>
            <a:endParaRPr lang="en-US"/>
          </a:p>
          <a:p>
            <a:pPr lvl="1"/>
            <a:r>
              <a:rPr lang="zh-CN" altLang="en-US"/>
              <a:t>硬件实现</a:t>
            </a:r>
            <a:endParaRPr lang="en-US"/>
          </a:p>
          <a:p>
            <a:pPr lvl="1"/>
            <a:r>
              <a:rPr lang="zh-CN" altLang="en-US"/>
              <a:t>显著的设计约束</a:t>
            </a:r>
            <a:endParaRPr lang="en-US"/>
          </a:p>
          <a:p>
            <a:pPr lvl="1"/>
            <a:endParaRPr lang="en-US"/>
          </a:p>
          <a:p>
            <a:r>
              <a:rPr lang="en-US"/>
              <a:t>K</a:t>
            </a:r>
            <a:r>
              <a:rPr lang="zh-CN" altLang="en-US"/>
              <a:t>进制树，即页表</a:t>
            </a:r>
            <a:endParaRPr lang="en-US"/>
          </a:p>
          <a:p>
            <a:pPr lvl="1"/>
            <a:r>
              <a:rPr lang="zh-CN" altLang="en-US"/>
              <a:t>树中的每个节点大小为</a:t>
            </a:r>
            <a:r>
              <a:rPr lang="en-US" altLang="zh-CN"/>
              <a:t>1</a:t>
            </a:r>
            <a:r>
              <a:rPr lang="zh-CN" altLang="en-US"/>
              <a:t>页</a:t>
            </a:r>
            <a:endParaRPr lang="zh-CN" altLang="en-US"/>
          </a:p>
        </p:txBody>
      </p:sp>
      <p:pic>
        <p:nvPicPr>
          <p:cNvPr id="13619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735" y="1762125"/>
            <a:ext cx="4845050" cy="347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6804" name="Picture 4" descr="f05-22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025" y="2676525"/>
            <a:ext cx="4839335" cy="3900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启用数据结构：页表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 eaLnBrk="1" hangingPunct="1">
              <a:lnSpc>
                <a:spcPct val="90000"/>
              </a:lnSpc>
            </a:pPr>
            <a:r>
              <a:rPr lang="zh-CN" altLang="en-US" sz="2880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页表</a:t>
            </a:r>
            <a:r>
              <a:rPr lang="zh-CN" altLang="en-US" sz="2880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信息</a:t>
            </a:r>
            <a:endParaRPr lang="zh-CN" altLang="en-US" sz="2880" b="1">
              <a:solidFill>
                <a:schemeClr val="tx1"/>
              </a:solidFill>
              <a:latin typeface="Arial Bold" panose="020B0704020202020204" charset="0"/>
              <a:cs typeface="Arial Bold" panose="020B0704020202020204" charset="0"/>
              <a:sym typeface="+mn-ea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一个页表项</a:t>
            </a:r>
            <a:r>
              <a:rPr lang="en-US" altLang="en-US" sz="2400">
                <a:sym typeface="+mn-ea"/>
              </a:rPr>
              <a:t> (</a:t>
            </a:r>
            <a:r>
              <a:rPr lang="en-US" altLang="en-US" sz="2400">
                <a:solidFill>
                  <a:srgbClr val="00B050"/>
                </a:solidFill>
                <a:sym typeface="+mn-ea"/>
              </a:rPr>
              <a:t>PTE</a:t>
            </a:r>
            <a:r>
              <a:rPr lang="en-US" altLang="en-US" sz="2400">
                <a:sym typeface="+mn-ea"/>
              </a:rPr>
              <a:t>)</a:t>
            </a:r>
            <a:r>
              <a:rPr lang="zh-CN" altLang="en-US" sz="2400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的数组</a:t>
            </a:r>
            <a:r>
              <a:rPr lang="en-US" altLang="en-US" sz="2400">
                <a:solidFill>
                  <a:schemeClr val="tx1"/>
                </a:solidFill>
                <a:sym typeface="+mn-ea"/>
              </a:rPr>
              <a:t>, 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用虚拟页的页号来索引</a:t>
            </a:r>
            <a:endParaRPr lang="en-US" altLang="en-US" sz="240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一个页表寄存器</a:t>
            </a:r>
            <a:r>
              <a:rPr lang="zh-CN" altLang="en-US" sz="2400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：存储页表的</a:t>
            </a:r>
            <a:r>
              <a:rPr lang="zh-CN" altLang="en-US" sz="2400">
                <a:solidFill>
                  <a:srgbClr val="FF0000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物理内存</a:t>
            </a:r>
            <a:r>
              <a:rPr lang="zh-CN" altLang="en-US" sz="2400">
                <a:solidFill>
                  <a:schemeClr val="tx1"/>
                </a:solidFill>
                <a:latin typeface="Arial Bold" panose="020B0704020202020204" charset="0"/>
                <a:cs typeface="Arial Bold" panose="020B0704020202020204" charset="0"/>
                <a:sym typeface="+mn-ea"/>
              </a:rPr>
              <a:t>地址</a:t>
            </a:r>
            <a:endParaRPr lang="en-US" altLang="en-US" sz="2400" b="1">
              <a:solidFill>
                <a:schemeClr val="tx1"/>
              </a:solidFill>
              <a:latin typeface="Arial Bold" panose="020B0704020202020204" charset="0"/>
              <a:cs typeface="Arial Bold" panose="020B070402020202020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>
                <a:sym typeface="+mn-ea"/>
              </a:rPr>
              <a:t>如果一个页在内存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+mn-ea"/>
              </a:rPr>
              <a:t>PTE</a:t>
            </a:r>
            <a:r>
              <a:rPr lang="zh-CN" altLang="en-US" sz="2400">
                <a:sym typeface="+mn-ea"/>
              </a:rPr>
              <a:t>中存储对应的物理页号</a:t>
            </a:r>
            <a:endParaRPr lang="zh-CN" altLang="en-US" sz="240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>
                <a:sym typeface="+mn-ea"/>
              </a:rPr>
              <a:t>以及其他的状态信息</a:t>
            </a:r>
            <a:r>
              <a:rPr lang="en-US" altLang="zh-CN" sz="2400">
                <a:sym typeface="+mn-ea"/>
              </a:rPr>
              <a:t>(</a:t>
            </a:r>
            <a:r>
              <a:rPr lang="zh-CN" altLang="en-US" sz="2400">
                <a:sym typeface="+mn-ea"/>
              </a:rPr>
              <a:t>引用计数、是否脏等</a:t>
            </a:r>
            <a:r>
              <a:rPr lang="en-US" altLang="zh-CN" sz="2400">
                <a:sym typeface="+mn-ea"/>
              </a:rPr>
              <a:t>)</a:t>
            </a: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zh-CN" altLang="en-US" sz="2400">
                <a:sym typeface="+mn-ea"/>
              </a:rPr>
              <a:t>如果一个页没有在内存</a:t>
            </a:r>
            <a:r>
              <a:rPr lang="en-US" altLang="en-US" sz="2400">
                <a:sym typeface="+mn-ea"/>
              </a:rPr>
              <a:t> (</a:t>
            </a:r>
            <a:r>
              <a:rPr lang="en-US" altLang="zh-CN" sz="2400">
                <a:solidFill>
                  <a:srgbClr val="00B050"/>
                </a:solidFill>
                <a:ea typeface="SimSun" charset="0"/>
                <a:sym typeface="+mn-ea"/>
              </a:rPr>
              <a:t>page fault </a:t>
            </a:r>
            <a:r>
              <a:rPr lang="zh-CN" altLang="en-US" sz="2400">
                <a:solidFill>
                  <a:srgbClr val="00B050"/>
                </a:solidFill>
                <a:ea typeface="SimSun" charset="0"/>
                <a:sym typeface="+mn-ea"/>
              </a:rPr>
              <a:t>页失效</a:t>
            </a:r>
            <a:r>
              <a:rPr lang="en-US" altLang="zh-CN" sz="2400">
                <a:ea typeface="SimSun" charset="0"/>
                <a:sym typeface="+mn-ea"/>
              </a:rPr>
              <a:t>)</a:t>
            </a:r>
            <a:endParaRPr lang="en-US" altLang="en-US" sz="240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sym typeface="+mn-ea"/>
              </a:rPr>
              <a:t>PTE </a:t>
            </a:r>
            <a:r>
              <a:rPr lang="zh-CN" altLang="en-US" sz="2400">
                <a:sym typeface="+mn-ea"/>
              </a:rPr>
              <a:t>中存储磁盘上的的位置</a:t>
            </a:r>
            <a:endParaRPr lang="en-US" altLang="en-US" sz="2400"/>
          </a:p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启用数据结构：页表</a:t>
            </a:r>
            <a:endParaRPr lang="zh-CN" altLang="en-US"/>
          </a:p>
        </p:txBody>
      </p:sp>
      <p:sp>
        <p:nvSpPr>
          <p:cNvPr id="356" name="Shape 3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/>
              <a:t>页表（</a:t>
            </a:r>
            <a:r>
              <a:rPr lang="en-GB" altLang="zh-CN" b="1"/>
              <a:t>page table </a:t>
            </a:r>
            <a:r>
              <a:rPr lang="zh-CN" altLang="en-US" b="1"/>
              <a:t>）</a:t>
            </a:r>
            <a:r>
              <a:rPr lang="zh-CN" altLang="en-US"/>
              <a:t>是页表项（</a:t>
            </a:r>
            <a:r>
              <a:rPr lang="en-US" altLang="zh-CN"/>
              <a:t>PTE</a:t>
            </a:r>
            <a:r>
              <a:rPr lang="zh-CN" altLang="en-US"/>
              <a:t>）的数组，用于把虚拟页映射到物理页。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US"/>
              <a:t>页表</a:t>
            </a:r>
            <a:r>
              <a:rPr lang="en-US" altLang="zh-CN"/>
              <a:t>，</a:t>
            </a:r>
            <a:r>
              <a:rPr lang="zh-CN" altLang="en-US"/>
              <a:t>是每个进程</a:t>
            </a:r>
            <a:r>
              <a:rPr lang="zh-CN" altLang="en-US" b="1"/>
              <a:t>驻留在内存</a:t>
            </a:r>
            <a:r>
              <a:rPr lang="zh-CN" altLang="en-US"/>
              <a:t>中的内核数据结构</a:t>
            </a:r>
            <a:endParaRPr lang="zh-CN" altLang="en-US"/>
          </a:p>
          <a:p>
            <a:pPr lvl="1"/>
            <a:r>
              <a:rPr lang="en-US" altLang="zh-CN"/>
              <a:t>OS</a:t>
            </a:r>
            <a:r>
              <a:rPr lang="zh-CN" altLang="en-US"/>
              <a:t>用于管理每个进程的内存使用</a:t>
            </a:r>
            <a:endParaRPr lang="zh-CN" altLang="en-US"/>
          </a:p>
          <a:p>
            <a:pPr lvl="1"/>
            <a:r>
              <a:rPr lang="zh-CN" altLang="en-US"/>
              <a:t>对程序员透明</a:t>
            </a:r>
            <a:endParaRPr lang="zh-CN" altLang="en-US"/>
          </a:p>
        </p:txBody>
      </p:sp>
      <p:sp>
        <p:nvSpPr>
          <p:cNvPr id="357" name="Shape 357"/>
          <p:cNvSpPr/>
          <p:nvPr/>
        </p:nvSpPr>
        <p:spPr>
          <a:xfrm>
            <a:off x="1717040" y="471868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58" name="Shape 358"/>
          <p:cNvSpPr/>
          <p:nvPr/>
        </p:nvSpPr>
        <p:spPr>
          <a:xfrm>
            <a:off x="1717040" y="494728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59" name="Shape 359"/>
          <p:cNvSpPr/>
          <p:nvPr/>
        </p:nvSpPr>
        <p:spPr>
          <a:xfrm>
            <a:off x="1717040" y="449008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0" name="Shape 360"/>
          <p:cNvSpPr/>
          <p:nvPr/>
        </p:nvSpPr>
        <p:spPr>
          <a:xfrm>
            <a:off x="1717040" y="334708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1" name="Shape 361"/>
          <p:cNvSpPr/>
          <p:nvPr/>
        </p:nvSpPr>
        <p:spPr>
          <a:xfrm>
            <a:off x="1717040" y="357568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62" name="Shape 362"/>
          <p:cNvSpPr/>
          <p:nvPr/>
        </p:nvSpPr>
        <p:spPr>
          <a:xfrm>
            <a:off x="1717040" y="380428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63" name="Shape 363"/>
          <p:cNvSpPr/>
          <p:nvPr/>
        </p:nvSpPr>
        <p:spPr>
          <a:xfrm>
            <a:off x="1717040" y="403288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64" name="Shape 364"/>
          <p:cNvSpPr/>
          <p:nvPr/>
        </p:nvSpPr>
        <p:spPr>
          <a:xfrm>
            <a:off x="1717040" y="426148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65" name="Shape 365"/>
          <p:cNvSpPr txBox="1"/>
          <p:nvPr/>
        </p:nvSpPr>
        <p:spPr>
          <a:xfrm>
            <a:off x="1669771" y="521707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66" name="Shape 366"/>
          <p:cNvSpPr txBox="1"/>
          <p:nvPr/>
        </p:nvSpPr>
        <p:spPr>
          <a:xfrm>
            <a:off x="4944429" y="240411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67" name="Shape 367"/>
          <p:cNvSpPr/>
          <p:nvPr/>
        </p:nvSpPr>
        <p:spPr>
          <a:xfrm>
            <a:off x="5061904" y="344260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8" name="Shape 368"/>
          <p:cNvSpPr/>
          <p:nvPr/>
        </p:nvSpPr>
        <p:spPr>
          <a:xfrm>
            <a:off x="5061904" y="365188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69" name="Shape 369"/>
          <p:cNvCxnSpPr/>
          <p:nvPr/>
        </p:nvCxnSpPr>
        <p:spPr>
          <a:xfrm>
            <a:off x="2542540" y="483933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370" name="Shape 370"/>
          <p:cNvCxnSpPr/>
          <p:nvPr/>
        </p:nvCxnSpPr>
        <p:spPr>
          <a:xfrm rot="10800000" flipH="1">
            <a:off x="2542540" y="346932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71" name="Shape 371"/>
          <p:cNvCxnSpPr/>
          <p:nvPr/>
        </p:nvCxnSpPr>
        <p:spPr>
          <a:xfrm rot="10800000" flipH="1">
            <a:off x="2567940" y="324072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372" name="Shape 372"/>
          <p:cNvCxnSpPr/>
          <p:nvPr/>
        </p:nvCxnSpPr>
        <p:spPr>
          <a:xfrm rot="10800000" flipH="1">
            <a:off x="2517140" y="301212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373" name="Shape 373"/>
          <p:cNvSpPr txBox="1"/>
          <p:nvPr/>
        </p:nvSpPr>
        <p:spPr>
          <a:xfrm>
            <a:off x="4996816" y="440118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74" name="Shape 374"/>
          <p:cNvSpPr/>
          <p:nvPr/>
        </p:nvSpPr>
        <p:spPr>
          <a:xfrm>
            <a:off x="1412240" y="47186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75" name="Shape 375"/>
          <p:cNvSpPr/>
          <p:nvPr/>
        </p:nvSpPr>
        <p:spPr>
          <a:xfrm>
            <a:off x="1412240" y="49472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76" name="Shape 376"/>
          <p:cNvSpPr/>
          <p:nvPr/>
        </p:nvSpPr>
        <p:spPr>
          <a:xfrm>
            <a:off x="1412240" y="44900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77" name="Shape 377"/>
          <p:cNvSpPr/>
          <p:nvPr/>
        </p:nvSpPr>
        <p:spPr>
          <a:xfrm>
            <a:off x="1412240" y="33470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78" name="Shape 378"/>
          <p:cNvSpPr/>
          <p:nvPr/>
        </p:nvSpPr>
        <p:spPr>
          <a:xfrm>
            <a:off x="1412240" y="35756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79" name="Shape 379"/>
          <p:cNvSpPr/>
          <p:nvPr/>
        </p:nvSpPr>
        <p:spPr>
          <a:xfrm>
            <a:off x="1412240" y="38042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80" name="Shape 380"/>
          <p:cNvSpPr/>
          <p:nvPr/>
        </p:nvSpPr>
        <p:spPr>
          <a:xfrm>
            <a:off x="1412240" y="40328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81" name="Shape 381"/>
          <p:cNvSpPr/>
          <p:nvPr/>
        </p:nvSpPr>
        <p:spPr>
          <a:xfrm>
            <a:off x="1412240" y="426148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82" name="Shape 382"/>
          <p:cNvSpPr txBox="1"/>
          <p:nvPr/>
        </p:nvSpPr>
        <p:spPr>
          <a:xfrm>
            <a:off x="1183640" y="304228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 dirty="0" smtClean="0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dirty="0"/>
          </a:p>
        </p:txBody>
      </p:sp>
      <p:sp>
        <p:nvSpPr>
          <p:cNvPr id="383" name="Shape 383"/>
          <p:cNvSpPr txBox="1"/>
          <p:nvPr/>
        </p:nvSpPr>
        <p:spPr>
          <a:xfrm>
            <a:off x="1420268" y="331692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4" name="Shape 384"/>
          <p:cNvSpPr txBox="1"/>
          <p:nvPr/>
        </p:nvSpPr>
        <p:spPr>
          <a:xfrm>
            <a:off x="1421060" y="354983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5" name="Shape 385"/>
          <p:cNvSpPr txBox="1"/>
          <p:nvPr/>
        </p:nvSpPr>
        <p:spPr>
          <a:xfrm>
            <a:off x="1420268" y="4015650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6" name="Shape 386"/>
          <p:cNvSpPr txBox="1"/>
          <p:nvPr/>
        </p:nvSpPr>
        <p:spPr>
          <a:xfrm>
            <a:off x="1421060" y="4222803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7" name="Shape 387"/>
          <p:cNvSpPr txBox="1"/>
          <p:nvPr/>
        </p:nvSpPr>
        <p:spPr>
          <a:xfrm>
            <a:off x="1420268" y="446215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8" name="Shape 388"/>
          <p:cNvSpPr txBox="1"/>
          <p:nvPr/>
        </p:nvSpPr>
        <p:spPr>
          <a:xfrm>
            <a:off x="1421060" y="492152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9" name="Shape 389"/>
          <p:cNvSpPr txBox="1"/>
          <p:nvPr/>
        </p:nvSpPr>
        <p:spPr>
          <a:xfrm>
            <a:off x="1420268" y="468862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0" name="Shape 390"/>
          <p:cNvSpPr txBox="1"/>
          <p:nvPr/>
        </p:nvSpPr>
        <p:spPr>
          <a:xfrm>
            <a:off x="1421060" y="378274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1" name="Shape 391"/>
          <p:cNvSpPr txBox="1"/>
          <p:nvPr/>
        </p:nvSpPr>
        <p:spPr>
          <a:xfrm>
            <a:off x="1600200" y="2804795"/>
            <a:ext cx="2155825" cy="81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92" name="Shape 392"/>
          <p:cNvSpPr txBox="1"/>
          <p:nvPr/>
        </p:nvSpPr>
        <p:spPr>
          <a:xfrm>
            <a:off x="805638" y="328182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3" name="Shape 393"/>
          <p:cNvSpPr txBox="1"/>
          <p:nvPr/>
        </p:nvSpPr>
        <p:spPr>
          <a:xfrm>
            <a:off x="802463" y="489472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4" name="Shape 394"/>
          <p:cNvSpPr txBox="1"/>
          <p:nvPr/>
        </p:nvSpPr>
        <p:spPr>
          <a:xfrm>
            <a:off x="6427153" y="295179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5" name="Shape 395"/>
          <p:cNvSpPr/>
          <p:nvPr/>
        </p:nvSpPr>
        <p:spPr>
          <a:xfrm>
            <a:off x="5061904" y="321691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6" name="Shape 396"/>
          <p:cNvSpPr/>
          <p:nvPr/>
        </p:nvSpPr>
        <p:spPr>
          <a:xfrm>
            <a:off x="5061904" y="298831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7" name="Shape 397"/>
          <p:cNvSpPr/>
          <p:nvPr/>
        </p:nvSpPr>
        <p:spPr>
          <a:xfrm>
            <a:off x="2491740" y="504571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98" name="Shape 398"/>
          <p:cNvSpPr/>
          <p:nvPr/>
        </p:nvSpPr>
        <p:spPr>
          <a:xfrm>
            <a:off x="2491740" y="481711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399" name="Shape 399"/>
          <p:cNvSpPr/>
          <p:nvPr/>
        </p:nvSpPr>
        <p:spPr>
          <a:xfrm>
            <a:off x="2491740" y="390906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00" name="Shape 400"/>
          <p:cNvSpPr/>
          <p:nvPr/>
        </p:nvSpPr>
        <p:spPr>
          <a:xfrm>
            <a:off x="2491740" y="367411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01" name="Shape 401"/>
          <p:cNvSpPr txBox="1"/>
          <p:nvPr/>
        </p:nvSpPr>
        <p:spPr>
          <a:xfrm>
            <a:off x="6439853" y="361219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5069840" y="502983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3" name="Shape 403"/>
          <p:cNvSpPr/>
          <p:nvPr/>
        </p:nvSpPr>
        <p:spPr>
          <a:xfrm>
            <a:off x="5069840" y="534035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4" name="Shape 404"/>
          <p:cNvSpPr/>
          <p:nvPr/>
        </p:nvSpPr>
        <p:spPr>
          <a:xfrm>
            <a:off x="5069840" y="596138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Shape 405"/>
          <p:cNvSpPr/>
          <p:nvPr/>
        </p:nvSpPr>
        <p:spPr>
          <a:xfrm>
            <a:off x="5069840" y="627189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6" name="Shape 406"/>
          <p:cNvSpPr/>
          <p:nvPr/>
        </p:nvSpPr>
        <p:spPr>
          <a:xfrm>
            <a:off x="5069840" y="658241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2491740" y="411825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408" name="Shape 408"/>
          <p:cNvCxnSpPr/>
          <p:nvPr/>
        </p:nvCxnSpPr>
        <p:spPr>
          <a:xfrm>
            <a:off x="2504440" y="4162971"/>
            <a:ext cx="2565400" cy="15113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409" name="Shape 409"/>
          <p:cNvSpPr/>
          <p:nvPr/>
        </p:nvSpPr>
        <p:spPr>
          <a:xfrm>
            <a:off x="2491740" y="432816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410" name="Shape 410"/>
          <p:cNvCxnSpPr/>
          <p:nvPr/>
        </p:nvCxnSpPr>
        <p:spPr>
          <a:xfrm rot="10800000" flipH="1">
            <a:off x="2536190" y="3685223"/>
            <a:ext cx="2533650" cy="6731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11" name="Shape 411"/>
          <p:cNvSpPr/>
          <p:nvPr/>
        </p:nvSpPr>
        <p:spPr>
          <a:xfrm>
            <a:off x="5069840" y="565086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619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9495" y="3042285"/>
            <a:ext cx="4287520" cy="3074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核心数据结构</a:t>
            </a:r>
            <a:r>
              <a:rPr lang="en-US" altLang="zh-CN"/>
              <a:t>：</a:t>
            </a:r>
            <a:r>
              <a:rPr lang="zh-CN" altLang="en-US"/>
              <a:t>页表</a:t>
            </a:r>
            <a:endParaRPr lang="zh-CN" altLang="en-US"/>
          </a:p>
        </p:txBody>
      </p:sp>
      <p:pic>
        <p:nvPicPr>
          <p:cNvPr id="139266" name="Content Placeholder 4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500" y="1847850"/>
            <a:ext cx="7673975" cy="476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页命中</a:t>
            </a:r>
            <a:endParaRPr lang="zh-CN" altLang="en-US"/>
          </a:p>
        </p:txBody>
      </p:sp>
      <p:sp>
        <p:nvSpPr>
          <p:cNvPr id="418" name="Shape 4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页命中：访问的虚存字在物理内存中（</a:t>
            </a:r>
            <a:r>
              <a:rPr lang="en-US" altLang="zh-CN"/>
              <a:t>DRAM</a:t>
            </a:r>
            <a:r>
              <a:rPr lang="zh-CN" altLang="en-US"/>
              <a:t>缓存命中）</a:t>
            </a:r>
            <a:endParaRPr lang="zh-CN" altLang="en-US"/>
          </a:p>
        </p:txBody>
      </p:sp>
      <p:sp>
        <p:nvSpPr>
          <p:cNvPr id="419" name="Shape 419"/>
          <p:cNvSpPr/>
          <p:nvPr/>
        </p:nvSpPr>
        <p:spPr>
          <a:xfrm>
            <a:off x="47089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0" name="Shape 420"/>
          <p:cNvSpPr/>
          <p:nvPr/>
        </p:nvSpPr>
        <p:spPr>
          <a:xfrm>
            <a:off x="47089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1" name="Shape 421"/>
          <p:cNvSpPr/>
          <p:nvPr/>
        </p:nvSpPr>
        <p:spPr>
          <a:xfrm>
            <a:off x="47089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2" name="Shape 422"/>
          <p:cNvSpPr/>
          <p:nvPr/>
        </p:nvSpPr>
        <p:spPr>
          <a:xfrm>
            <a:off x="47089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3" name="Shape 423"/>
          <p:cNvSpPr/>
          <p:nvPr/>
        </p:nvSpPr>
        <p:spPr>
          <a:xfrm>
            <a:off x="47089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4" name="Shape 424"/>
          <p:cNvSpPr/>
          <p:nvPr/>
        </p:nvSpPr>
        <p:spPr>
          <a:xfrm>
            <a:off x="47089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5" name="Shape 425"/>
          <p:cNvSpPr/>
          <p:nvPr/>
        </p:nvSpPr>
        <p:spPr>
          <a:xfrm>
            <a:off x="4708939" y="37623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6" name="Shape 426"/>
          <p:cNvSpPr/>
          <p:nvPr/>
        </p:nvSpPr>
        <p:spPr>
          <a:xfrm>
            <a:off x="4708939" y="39909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28" name="Shape 428"/>
          <p:cNvSpPr txBox="1"/>
          <p:nvPr/>
        </p:nvSpPr>
        <p:spPr>
          <a:xfrm>
            <a:off x="79363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29" name="Shape 429"/>
          <p:cNvSpPr/>
          <p:nvPr/>
        </p:nvSpPr>
        <p:spPr>
          <a:xfrm>
            <a:off x="80538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30" name="Shape 430"/>
          <p:cNvSpPr/>
          <p:nvPr/>
        </p:nvSpPr>
        <p:spPr>
          <a:xfrm>
            <a:off x="8053803" y="33813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31" name="Shape 431"/>
          <p:cNvCxnSpPr/>
          <p:nvPr/>
        </p:nvCxnSpPr>
        <p:spPr>
          <a:xfrm>
            <a:off x="55344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432" name="Shape 432"/>
          <p:cNvCxnSpPr/>
          <p:nvPr/>
        </p:nvCxnSpPr>
        <p:spPr>
          <a:xfrm rot="10800000" flipH="1">
            <a:off x="55344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3" name="Shape 433"/>
          <p:cNvCxnSpPr>
            <a:endCxn id="457" idx="1"/>
          </p:cNvCxnSpPr>
          <p:nvPr/>
        </p:nvCxnSpPr>
        <p:spPr>
          <a:xfrm flipV="1">
            <a:off x="5559839" y="3060383"/>
            <a:ext cx="2493645" cy="60833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4" name="Shape 434"/>
          <p:cNvCxnSpPr/>
          <p:nvPr/>
        </p:nvCxnSpPr>
        <p:spPr>
          <a:xfrm rot="10800000" flipH="1">
            <a:off x="55090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35" name="Shape 435"/>
          <p:cNvSpPr txBox="1"/>
          <p:nvPr/>
        </p:nvSpPr>
        <p:spPr>
          <a:xfrm>
            <a:off x="79887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36" name="Shape 436"/>
          <p:cNvSpPr/>
          <p:nvPr/>
        </p:nvSpPr>
        <p:spPr>
          <a:xfrm>
            <a:off x="44041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37" name="Shape 437"/>
          <p:cNvSpPr/>
          <p:nvPr/>
        </p:nvSpPr>
        <p:spPr>
          <a:xfrm>
            <a:off x="44041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38" name="Shape 438"/>
          <p:cNvSpPr/>
          <p:nvPr/>
        </p:nvSpPr>
        <p:spPr>
          <a:xfrm>
            <a:off x="44041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39" name="Shape 439"/>
          <p:cNvSpPr/>
          <p:nvPr/>
        </p:nvSpPr>
        <p:spPr>
          <a:xfrm>
            <a:off x="44041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40" name="Shape 440"/>
          <p:cNvSpPr/>
          <p:nvPr/>
        </p:nvSpPr>
        <p:spPr>
          <a:xfrm>
            <a:off x="44041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41" name="Shape 441"/>
          <p:cNvSpPr/>
          <p:nvPr/>
        </p:nvSpPr>
        <p:spPr>
          <a:xfrm>
            <a:off x="44041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42" name="Shape 442"/>
          <p:cNvSpPr/>
          <p:nvPr/>
        </p:nvSpPr>
        <p:spPr>
          <a:xfrm>
            <a:off x="44041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43" name="Shape 443"/>
          <p:cNvSpPr/>
          <p:nvPr/>
        </p:nvSpPr>
        <p:spPr>
          <a:xfrm>
            <a:off x="44041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44" name="Shape 444"/>
          <p:cNvSpPr txBox="1"/>
          <p:nvPr/>
        </p:nvSpPr>
        <p:spPr>
          <a:xfrm>
            <a:off x="41755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5" name="Shape 445"/>
          <p:cNvSpPr txBox="1"/>
          <p:nvPr/>
        </p:nvSpPr>
        <p:spPr>
          <a:xfrm>
            <a:off x="44121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6" name="Shape 446"/>
          <p:cNvSpPr txBox="1"/>
          <p:nvPr/>
        </p:nvSpPr>
        <p:spPr>
          <a:xfrm>
            <a:off x="44129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7" name="Shape 447"/>
          <p:cNvSpPr txBox="1"/>
          <p:nvPr/>
        </p:nvSpPr>
        <p:spPr>
          <a:xfrm>
            <a:off x="4412167" y="3745140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8" name="Shape 448"/>
          <p:cNvSpPr txBox="1"/>
          <p:nvPr/>
        </p:nvSpPr>
        <p:spPr>
          <a:xfrm>
            <a:off x="4412959" y="3952293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9" name="Shape 449"/>
          <p:cNvSpPr txBox="1"/>
          <p:nvPr/>
        </p:nvSpPr>
        <p:spPr>
          <a:xfrm>
            <a:off x="44121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0" name="Shape 450"/>
          <p:cNvSpPr txBox="1"/>
          <p:nvPr/>
        </p:nvSpPr>
        <p:spPr>
          <a:xfrm>
            <a:off x="44129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1" name="Shape 451"/>
          <p:cNvSpPr txBox="1"/>
          <p:nvPr/>
        </p:nvSpPr>
        <p:spPr>
          <a:xfrm>
            <a:off x="44121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2" name="Shape 452"/>
          <p:cNvSpPr txBox="1"/>
          <p:nvPr/>
        </p:nvSpPr>
        <p:spPr>
          <a:xfrm>
            <a:off x="44129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3" name="Shape 453"/>
          <p:cNvSpPr txBox="1"/>
          <p:nvPr/>
        </p:nvSpPr>
        <p:spPr>
          <a:xfrm>
            <a:off x="47756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54" name="Shape 454"/>
          <p:cNvSpPr txBox="1"/>
          <p:nvPr/>
        </p:nvSpPr>
        <p:spPr>
          <a:xfrm>
            <a:off x="37975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5" name="Shape 455"/>
          <p:cNvSpPr txBox="1"/>
          <p:nvPr/>
        </p:nvSpPr>
        <p:spPr>
          <a:xfrm>
            <a:off x="37943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6" name="Shape 456"/>
          <p:cNvSpPr txBox="1"/>
          <p:nvPr/>
        </p:nvSpPr>
        <p:spPr>
          <a:xfrm>
            <a:off x="94190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7" name="Shape 457"/>
          <p:cNvSpPr/>
          <p:nvPr/>
        </p:nvSpPr>
        <p:spPr>
          <a:xfrm>
            <a:off x="80538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8" name="Shape 458"/>
          <p:cNvSpPr/>
          <p:nvPr/>
        </p:nvSpPr>
        <p:spPr>
          <a:xfrm>
            <a:off x="80538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9" name="Shape 459"/>
          <p:cNvSpPr/>
          <p:nvPr/>
        </p:nvSpPr>
        <p:spPr>
          <a:xfrm>
            <a:off x="54836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60" name="Shape 460"/>
          <p:cNvSpPr/>
          <p:nvPr/>
        </p:nvSpPr>
        <p:spPr>
          <a:xfrm>
            <a:off x="54836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61" name="Shape 461"/>
          <p:cNvSpPr/>
          <p:nvPr/>
        </p:nvSpPr>
        <p:spPr>
          <a:xfrm>
            <a:off x="54836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62" name="Shape 462"/>
          <p:cNvSpPr/>
          <p:nvPr/>
        </p:nvSpPr>
        <p:spPr>
          <a:xfrm>
            <a:off x="54836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63" name="Shape 463"/>
          <p:cNvSpPr txBox="1"/>
          <p:nvPr/>
        </p:nvSpPr>
        <p:spPr>
          <a:xfrm>
            <a:off x="94317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4" name="Shape 464"/>
          <p:cNvSpPr/>
          <p:nvPr/>
        </p:nvSpPr>
        <p:spPr>
          <a:xfrm>
            <a:off x="80617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5" name="Shape 465"/>
          <p:cNvSpPr/>
          <p:nvPr/>
        </p:nvSpPr>
        <p:spPr>
          <a:xfrm>
            <a:off x="80617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6" name="Shape 466"/>
          <p:cNvSpPr/>
          <p:nvPr/>
        </p:nvSpPr>
        <p:spPr>
          <a:xfrm>
            <a:off x="80617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" name="Shape 467"/>
          <p:cNvSpPr/>
          <p:nvPr/>
        </p:nvSpPr>
        <p:spPr>
          <a:xfrm>
            <a:off x="80617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8" name="Shape 468"/>
          <p:cNvSpPr/>
          <p:nvPr/>
        </p:nvSpPr>
        <p:spPr>
          <a:xfrm>
            <a:off x="80617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9" name="Shape 469"/>
          <p:cNvSpPr/>
          <p:nvPr/>
        </p:nvSpPr>
        <p:spPr>
          <a:xfrm>
            <a:off x="54836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470" name="Shape 470"/>
          <p:cNvCxnSpPr/>
          <p:nvPr/>
        </p:nvCxnSpPr>
        <p:spPr>
          <a:xfrm>
            <a:off x="5496339" y="3892461"/>
            <a:ext cx="2565400" cy="15113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471" name="Shape 471"/>
          <p:cNvSpPr/>
          <p:nvPr/>
        </p:nvSpPr>
        <p:spPr>
          <a:xfrm>
            <a:off x="54836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472" name="Shape 472"/>
          <p:cNvCxnSpPr/>
          <p:nvPr/>
        </p:nvCxnSpPr>
        <p:spPr>
          <a:xfrm rot="10800000" flipH="1">
            <a:off x="5528089" y="3414713"/>
            <a:ext cx="2533650" cy="6731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Shape 473"/>
          <p:cNvSpPr/>
          <p:nvPr/>
        </p:nvSpPr>
        <p:spPr>
          <a:xfrm>
            <a:off x="80617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4" name="Shape 474"/>
          <p:cNvSpPr/>
          <p:nvPr/>
        </p:nvSpPr>
        <p:spPr>
          <a:xfrm>
            <a:off x="1905000" y="24384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475" name="Shape 475"/>
          <p:cNvCxnSpPr>
            <a:stCxn id="474" idx="2"/>
            <a:endCxn id="452" idx="1"/>
          </p:cNvCxnSpPr>
          <p:nvPr/>
        </p:nvCxnSpPr>
        <p:spPr>
          <a:xfrm rot="-5400000" flipH="1">
            <a:off x="3067350" y="2319038"/>
            <a:ext cx="983400" cy="17079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" name="Shape 365"/>
          <p:cNvSpPr txBox="1"/>
          <p:nvPr/>
        </p:nvSpPr>
        <p:spPr>
          <a:xfrm>
            <a:off x="4685191" y="5029112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Shape 1096"/>
          <p:cNvSpPr txBox="1">
            <a:spLocks noGrp="1"/>
          </p:cNvSpPr>
          <p:nvPr>
            <p:ph type="title"/>
          </p:nvPr>
        </p:nvSpPr>
        <p:spPr>
          <a:xfrm>
            <a:off x="1881763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使用页表的地址转换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97" name="Shape 1097"/>
          <p:cNvSpPr/>
          <p:nvPr/>
        </p:nvSpPr>
        <p:spPr>
          <a:xfrm>
            <a:off x="5277117" y="1840468"/>
            <a:ext cx="2514600" cy="304800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虚拟页号（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VPN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98" name="Shape 1098"/>
          <p:cNvSpPr/>
          <p:nvPr/>
        </p:nvSpPr>
        <p:spPr>
          <a:xfrm>
            <a:off x="7791717" y="1840468"/>
            <a:ext cx="21336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虚拟页偏移量（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VPO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99" name="Shape 1099"/>
          <p:cNvSpPr/>
          <p:nvPr/>
        </p:nvSpPr>
        <p:spPr>
          <a:xfrm>
            <a:off x="5277117" y="3212068"/>
            <a:ext cx="25146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0" name="Shape 1100"/>
          <p:cNvSpPr/>
          <p:nvPr/>
        </p:nvSpPr>
        <p:spPr>
          <a:xfrm>
            <a:off x="4896117" y="3212068"/>
            <a:ext cx="3810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1" name="Shape 1101"/>
          <p:cNvSpPr/>
          <p:nvPr/>
        </p:nvSpPr>
        <p:spPr>
          <a:xfrm>
            <a:off x="5277117" y="35168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2" name="Shape 1102"/>
          <p:cNvSpPr/>
          <p:nvPr/>
        </p:nvSpPr>
        <p:spPr>
          <a:xfrm>
            <a:off x="4896117" y="3516868"/>
            <a:ext cx="381000" cy="304800"/>
          </a:xfrm>
          <a:prstGeom prst="rect">
            <a:avLst/>
          </a:prstGeom>
          <a:solidFill>
            <a:srgbClr val="8DBA8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3" name="Shape 1103"/>
          <p:cNvSpPr/>
          <p:nvPr/>
        </p:nvSpPr>
        <p:spPr>
          <a:xfrm>
            <a:off x="5277117" y="3821668"/>
            <a:ext cx="25146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4" name="Shape 1104"/>
          <p:cNvSpPr/>
          <p:nvPr/>
        </p:nvSpPr>
        <p:spPr>
          <a:xfrm>
            <a:off x="4896117" y="3821668"/>
            <a:ext cx="3810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5" name="Shape 1105"/>
          <p:cNvSpPr/>
          <p:nvPr/>
        </p:nvSpPr>
        <p:spPr>
          <a:xfrm>
            <a:off x="5277117" y="4126468"/>
            <a:ext cx="25146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6" name="Shape 1106"/>
          <p:cNvSpPr/>
          <p:nvPr/>
        </p:nvSpPr>
        <p:spPr>
          <a:xfrm>
            <a:off x="4896117" y="4126468"/>
            <a:ext cx="381000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07" name="Shape 1107"/>
          <p:cNvSpPr/>
          <p:nvPr/>
        </p:nvSpPr>
        <p:spPr>
          <a:xfrm>
            <a:off x="5277117" y="5726668"/>
            <a:ext cx="2514600" cy="304800"/>
          </a:xfrm>
          <a:prstGeom prst="rect">
            <a:avLst/>
          </a:prstGeom>
          <a:solidFill>
            <a:srgbClr val="D5F1CF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物理页号（</a:t>
            </a:r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PPN</a:t>
            </a:r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08" name="Shape 1108"/>
          <p:cNvSpPr/>
          <p:nvPr/>
        </p:nvSpPr>
        <p:spPr>
          <a:xfrm>
            <a:off x="7791717" y="5726668"/>
            <a:ext cx="2133600" cy="304800"/>
          </a:xfrm>
          <a:prstGeom prst="rect">
            <a:avLst/>
          </a:prstGeom>
          <a:solidFill>
            <a:srgbClr val="D5D5F4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理页偏移量（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PPO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09" name="Shape 1109"/>
          <p:cNvSpPr txBox="1"/>
          <p:nvPr/>
        </p:nvSpPr>
        <p:spPr>
          <a:xfrm>
            <a:off x="5277118" y="1207070"/>
            <a:ext cx="16232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10" name="Shape 1110"/>
          <p:cNvSpPr txBox="1"/>
          <p:nvPr/>
        </p:nvSpPr>
        <p:spPr>
          <a:xfrm>
            <a:off x="5277118" y="6031468"/>
            <a:ext cx="17502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11" name="Shape 1111"/>
          <p:cNvSpPr txBox="1"/>
          <p:nvPr/>
        </p:nvSpPr>
        <p:spPr>
          <a:xfrm>
            <a:off x="4809355" y="2939464"/>
            <a:ext cx="5591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dirty="0"/>
          </a:p>
        </p:txBody>
      </p:sp>
      <p:sp>
        <p:nvSpPr>
          <p:cNvPr id="1112" name="Shape 1112"/>
          <p:cNvSpPr txBox="1"/>
          <p:nvPr/>
        </p:nvSpPr>
        <p:spPr>
          <a:xfrm>
            <a:off x="5444703" y="2940532"/>
            <a:ext cx="2270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物理页号（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PPN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113" name="Shape 1113"/>
          <p:cNvCxnSpPr>
            <a:stCxn id="1097" idx="1"/>
            <a:endCxn id="1102" idx="1"/>
          </p:cNvCxnSpPr>
          <p:nvPr/>
        </p:nvCxnSpPr>
        <p:spPr>
          <a:xfrm flipH="1">
            <a:off x="4896117" y="1992868"/>
            <a:ext cx="381000" cy="1676400"/>
          </a:xfrm>
          <a:prstGeom prst="bentConnector3">
            <a:avLst>
              <a:gd name="adj1" fmla="val 258028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4" name="Shape 1114"/>
          <p:cNvCxnSpPr>
            <a:stCxn id="1098" idx="2"/>
            <a:endCxn id="1108" idx="0"/>
          </p:cNvCxnSpPr>
          <p:nvPr/>
        </p:nvCxnSpPr>
        <p:spPr>
          <a:xfrm>
            <a:off x="8858517" y="2145268"/>
            <a:ext cx="0" cy="35814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5" name="Shape 1115"/>
          <p:cNvCxnSpPr/>
          <p:nvPr/>
        </p:nvCxnSpPr>
        <p:spPr>
          <a:xfrm rot="5400000">
            <a:off x="5500677" y="4692134"/>
            <a:ext cx="2069068" cy="158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16" name="Shape 1116"/>
          <p:cNvSpPr/>
          <p:nvPr/>
        </p:nvSpPr>
        <p:spPr>
          <a:xfrm>
            <a:off x="1881763" y="1633337"/>
            <a:ext cx="1740959" cy="719063"/>
          </a:xfrm>
          <a:prstGeom prst="rect">
            <a:avLst/>
          </a:prstGeom>
          <a:solidFill>
            <a:srgbClr val="F1C7C7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页表基址寄存器（</a:t>
            </a:r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PTBR</a:t>
            </a:r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</a:t>
            </a:r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CR3 </a:t>
            </a:r>
            <a:r>
              <a:rPr lang="en-GB" b="1" dirty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in </a:t>
            </a:r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x86</a:t>
            </a:r>
            <a:r>
              <a:rPr lang="zh-CN" altLang="en-US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117" name="Shape 1117"/>
          <p:cNvCxnSpPr/>
          <p:nvPr/>
        </p:nvCxnSpPr>
        <p:spPr>
          <a:xfrm flipH="1">
            <a:off x="3600717" y="3669269"/>
            <a:ext cx="1485900" cy="10668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8" name="Shape 1118"/>
          <p:cNvCxnSpPr>
            <a:stCxn id="1116" idx="2"/>
          </p:cNvCxnSpPr>
          <p:nvPr/>
        </p:nvCxnSpPr>
        <p:spPr>
          <a:xfrm rot="-5400000" flipH="1">
            <a:off x="3394241" y="1710399"/>
            <a:ext cx="859800" cy="2143800"/>
          </a:xfrm>
          <a:prstGeom prst="bentConnector2">
            <a:avLst/>
          </a:prstGeom>
          <a:noFill/>
          <a:ln w="25400" cap="flat" cmpd="sng">
            <a:solidFill>
              <a:srgbClr val="99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19" name="Shape 1119"/>
          <p:cNvSpPr/>
          <p:nvPr/>
        </p:nvSpPr>
        <p:spPr>
          <a:xfrm>
            <a:off x="4796477" y="2639892"/>
            <a:ext cx="129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20" name="Shape 1120"/>
          <p:cNvSpPr txBox="1"/>
          <p:nvPr/>
        </p:nvSpPr>
        <p:spPr>
          <a:xfrm>
            <a:off x="1609242" y="3196475"/>
            <a:ext cx="22711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b="1" dirty="0" smtClean="0">
                <a:solidFill>
                  <a:srgbClr val="99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当前进程的物理页表地址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21" name="Shape 1121"/>
          <p:cNvSpPr txBox="1"/>
          <p:nvPr/>
        </p:nvSpPr>
        <p:spPr>
          <a:xfrm>
            <a:off x="2210334" y="4371965"/>
            <a:ext cx="141238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Valid 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位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= 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0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/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页不在内存中</a:t>
            </a:r>
            <a:endParaRPr lang="en-US" altLang="zh-CN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（缺缺页故障）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22" name="Shape 1122"/>
          <p:cNvSpPr txBox="1"/>
          <p:nvPr/>
        </p:nvSpPr>
        <p:spPr>
          <a:xfrm>
            <a:off x="9753600" y="1551802"/>
            <a:ext cx="2986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3" name="Shape 1123"/>
          <p:cNvSpPr txBox="1"/>
          <p:nvPr/>
        </p:nvSpPr>
        <p:spPr>
          <a:xfrm>
            <a:off x="7761046" y="1551802"/>
            <a:ext cx="4269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p-1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4" name="Shape 1124"/>
          <p:cNvSpPr txBox="1"/>
          <p:nvPr/>
        </p:nvSpPr>
        <p:spPr>
          <a:xfrm>
            <a:off x="7581355" y="1551802"/>
            <a:ext cx="3018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endParaRPr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5" name="Shape 1125"/>
          <p:cNvSpPr txBox="1"/>
          <p:nvPr/>
        </p:nvSpPr>
        <p:spPr>
          <a:xfrm>
            <a:off x="5277117" y="1551802"/>
            <a:ext cx="4268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6" name="Shape 1126"/>
          <p:cNvSpPr txBox="1"/>
          <p:nvPr/>
        </p:nvSpPr>
        <p:spPr>
          <a:xfrm>
            <a:off x="9759796" y="5450464"/>
            <a:ext cx="2986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7" name="Shape 1127"/>
          <p:cNvSpPr txBox="1"/>
          <p:nvPr/>
        </p:nvSpPr>
        <p:spPr>
          <a:xfrm>
            <a:off x="7767242" y="5450464"/>
            <a:ext cx="4269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p-1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8" name="Shape 1128"/>
          <p:cNvSpPr txBox="1"/>
          <p:nvPr/>
        </p:nvSpPr>
        <p:spPr>
          <a:xfrm>
            <a:off x="7546766" y="5450464"/>
            <a:ext cx="3018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endParaRPr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29" name="Shape 1129"/>
          <p:cNvSpPr txBox="1"/>
          <p:nvPr/>
        </p:nvSpPr>
        <p:spPr>
          <a:xfrm>
            <a:off x="5242529" y="5450464"/>
            <a:ext cx="469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2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</a:t>
            </a:r>
            <a:endParaRPr lang="en-GB" sz="12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0" name="Shape 1130"/>
          <p:cNvSpPr txBox="1"/>
          <p:nvPr/>
        </p:nvSpPr>
        <p:spPr>
          <a:xfrm>
            <a:off x="6477000" y="4691629"/>
            <a:ext cx="10695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Valid </a:t>
            </a: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位</a:t>
            </a:r>
            <a:r>
              <a:rPr lang="en-GB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= 1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261485" y="2500630"/>
            <a:ext cx="520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536055" y="5064760"/>
            <a:ext cx="520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787765" y="4999355"/>
            <a:ext cx="520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Shape 1136"/>
          <p:cNvSpPr/>
          <p:nvPr/>
        </p:nvSpPr>
        <p:spPr>
          <a:xfrm>
            <a:off x="2908986" y="1572895"/>
            <a:ext cx="3749615" cy="167744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37" name="Shape 11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地址转换：页命中</a:t>
            </a:r>
            <a:endParaRPr lang="zh-CN" altLang="en-US"/>
          </a:p>
        </p:txBody>
      </p:sp>
      <p:sp>
        <p:nvSpPr>
          <p:cNvPr id="1138" name="Shape 11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1) </a:t>
            </a:r>
            <a:r>
              <a:rPr lang="zh-CN" altLang="en-US"/>
              <a:t>进程把</a:t>
            </a:r>
            <a:r>
              <a:rPr lang="zh-CN" altLang="en-US" b="1"/>
              <a:t>虚拟地址</a:t>
            </a:r>
            <a:r>
              <a:rPr lang="en-US" altLang="zh-CN"/>
              <a:t>(VA)</a:t>
            </a:r>
            <a:r>
              <a:rPr lang="zh-CN" altLang="en-US"/>
              <a:t>发给</a:t>
            </a:r>
            <a:r>
              <a:rPr lang="en-US" altLang="zh-CN"/>
              <a:t>MMU</a:t>
            </a:r>
            <a:r>
              <a:rPr lang="en-GB"/>
              <a:t> </a:t>
            </a:r>
            <a:endParaRPr lang="en-GB"/>
          </a:p>
          <a:p>
            <a:r>
              <a:rPr lang="en-GB"/>
              <a:t>2-3) MMU</a:t>
            </a:r>
            <a:r>
              <a:rPr lang="zh-CN" altLang="en-US"/>
              <a:t>从缓存</a:t>
            </a:r>
            <a:r>
              <a:rPr lang="en-US" altLang="zh-CN"/>
              <a:t>/</a:t>
            </a:r>
            <a:r>
              <a:rPr lang="zh-CN" altLang="en-US"/>
              <a:t>内存访问</a:t>
            </a:r>
            <a:r>
              <a:rPr lang="zh-CN" altLang="en-US" b="1"/>
              <a:t>页表</a:t>
            </a:r>
            <a:r>
              <a:rPr lang="en-US" altLang="zh-CN"/>
              <a:t>，</a:t>
            </a:r>
            <a:r>
              <a:rPr lang="zh-CN" altLang="en-US"/>
              <a:t>获取</a:t>
            </a:r>
            <a:r>
              <a:rPr lang="zh-CN" altLang="en-US" b="1"/>
              <a:t>页表项</a:t>
            </a:r>
            <a:r>
              <a:rPr lang="en-US" altLang="zh-CN"/>
              <a:t>(PTE)</a:t>
            </a:r>
            <a:endParaRPr lang="en-US" altLang="zh-CN"/>
          </a:p>
          <a:p>
            <a:r>
              <a:rPr lang="en-GB"/>
              <a:t>4) MMU</a:t>
            </a:r>
            <a:r>
              <a:rPr lang="zh-CN" altLang="en-US"/>
              <a:t>把物理地址</a:t>
            </a:r>
            <a:r>
              <a:rPr lang="en-US" altLang="zh-CN"/>
              <a:t>(PA)</a:t>
            </a:r>
            <a:r>
              <a:rPr lang="zh-CN" altLang="en-US"/>
              <a:t>发给</a:t>
            </a:r>
            <a:r>
              <a:rPr lang="en-GB"/>
              <a:t>cache/</a:t>
            </a:r>
            <a:r>
              <a:rPr lang="zh-CN" altLang="en-US"/>
              <a:t>内存</a:t>
            </a:r>
            <a:endParaRPr lang="zh-CN" altLang="en-US"/>
          </a:p>
          <a:p>
            <a:r>
              <a:rPr lang="en-GB"/>
              <a:t>5) Cache/</a:t>
            </a:r>
            <a:r>
              <a:rPr lang="zh-CN" altLang="en-US"/>
              <a:t>内存把数据字发给进程</a:t>
            </a:r>
            <a:endParaRPr lang="zh-CN" altLang="en-US"/>
          </a:p>
        </p:txBody>
      </p:sp>
      <p:sp>
        <p:nvSpPr>
          <p:cNvPr id="1139" name="Shape 1139"/>
          <p:cNvSpPr/>
          <p:nvPr/>
        </p:nvSpPr>
        <p:spPr>
          <a:xfrm>
            <a:off x="5487987" y="1809754"/>
            <a:ext cx="1066800" cy="1237384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0" name="Shape 1140"/>
          <p:cNvSpPr/>
          <p:nvPr/>
        </p:nvSpPr>
        <p:spPr>
          <a:xfrm>
            <a:off x="8077200" y="1524728"/>
            <a:ext cx="914400" cy="2284410"/>
          </a:xfrm>
          <a:prstGeom prst="rect">
            <a:avLst/>
          </a:prstGeom>
          <a:solidFill>
            <a:srgbClr val="F2F2F2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Cache/</a:t>
            </a:r>
            <a:endParaRPr dirty="0"/>
          </a:p>
          <a:p>
            <a:r>
              <a:rPr lang="zh-CN" altLang="en-US" sz="1600" b="1" dirty="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内存</a:t>
            </a:r>
            <a:endParaRPr dirty="0"/>
          </a:p>
        </p:txBody>
      </p:sp>
      <p:sp>
        <p:nvSpPr>
          <p:cNvPr id="1141" name="Shape 1141"/>
          <p:cNvSpPr txBox="1"/>
          <p:nvPr/>
        </p:nvSpPr>
        <p:spPr>
          <a:xfrm>
            <a:off x="7130299" y="2631411"/>
            <a:ext cx="414257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</a:t>
            </a:r>
            <a:endParaRPr dirty="0"/>
          </a:p>
        </p:txBody>
      </p:sp>
      <p:sp>
        <p:nvSpPr>
          <p:cNvPr id="1142" name="Shape 1142"/>
          <p:cNvSpPr txBox="1"/>
          <p:nvPr/>
        </p:nvSpPr>
        <p:spPr>
          <a:xfrm>
            <a:off x="5411787" y="3580538"/>
            <a:ext cx="531020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43" name="Shape 1143"/>
          <p:cNvCxnSpPr/>
          <p:nvPr/>
        </p:nvCxnSpPr>
        <p:spPr>
          <a:xfrm rot="10800000" flipH="1">
            <a:off x="6554788" y="2884270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44" name="Shape 1144"/>
          <p:cNvSpPr/>
          <p:nvPr/>
        </p:nvSpPr>
        <p:spPr>
          <a:xfrm>
            <a:off x="3049587" y="2162233"/>
            <a:ext cx="1066800" cy="5334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45" name="Shape 1145"/>
          <p:cNvCxnSpPr>
            <a:stCxn id="1144" idx="3"/>
          </p:cNvCxnSpPr>
          <p:nvPr/>
        </p:nvCxnSpPr>
        <p:spPr>
          <a:xfrm rot="10800000" flipH="1">
            <a:off x="4116387" y="2424433"/>
            <a:ext cx="1370100" cy="4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46" name="Shape 1146"/>
          <p:cNvSpPr txBox="1"/>
          <p:nvPr/>
        </p:nvSpPr>
        <p:spPr>
          <a:xfrm>
            <a:off x="4573587" y="2157277"/>
            <a:ext cx="422348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</a:t>
            </a:r>
            <a:endParaRPr dirty="0"/>
          </a:p>
        </p:txBody>
      </p:sp>
      <p:sp>
        <p:nvSpPr>
          <p:cNvPr id="1147" name="Shape 1147"/>
          <p:cNvSpPr txBox="1"/>
          <p:nvPr/>
        </p:nvSpPr>
        <p:spPr>
          <a:xfrm>
            <a:off x="2914152" y="1577141"/>
            <a:ext cx="10583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8" name="Shape 1148"/>
          <p:cNvSpPr txBox="1"/>
          <p:nvPr/>
        </p:nvSpPr>
        <p:spPr>
          <a:xfrm>
            <a:off x="6884035" y="1715770"/>
            <a:ext cx="97218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49" name="Shape 1149"/>
          <p:cNvCxnSpPr/>
          <p:nvPr/>
        </p:nvCxnSpPr>
        <p:spPr>
          <a:xfrm rot="10800000" flipH="1">
            <a:off x="6554788" y="1969870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50" name="Shape 1150"/>
          <p:cNvSpPr txBox="1"/>
          <p:nvPr/>
        </p:nvSpPr>
        <p:spPr>
          <a:xfrm>
            <a:off x="7090801" y="2021811"/>
            <a:ext cx="45375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51" name="Shape 1151"/>
          <p:cNvCxnSpPr/>
          <p:nvPr/>
        </p:nvCxnSpPr>
        <p:spPr>
          <a:xfrm rot="10800000">
            <a:off x="6554788" y="2274670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52" name="Shape 1152"/>
          <p:cNvCxnSpPr>
            <a:endCxn id="1144" idx="2"/>
          </p:cNvCxnSpPr>
          <p:nvPr/>
        </p:nvCxnSpPr>
        <p:spPr>
          <a:xfrm rot="10800000">
            <a:off x="3582987" y="2695633"/>
            <a:ext cx="4494300" cy="8850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53" name="Shape 1153"/>
          <p:cNvSpPr/>
          <p:nvPr/>
        </p:nvSpPr>
        <p:spPr>
          <a:xfrm>
            <a:off x="4631267" y="1921934"/>
            <a:ext cx="274637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4" name="Shape 1154"/>
          <p:cNvSpPr/>
          <p:nvPr/>
        </p:nvSpPr>
        <p:spPr>
          <a:xfrm>
            <a:off x="7180358" y="1469495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5" name="Shape 1155"/>
          <p:cNvSpPr/>
          <p:nvPr/>
        </p:nvSpPr>
        <p:spPr>
          <a:xfrm>
            <a:off x="7180358" y="2324631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6" name="Shape 1156"/>
          <p:cNvSpPr/>
          <p:nvPr/>
        </p:nvSpPr>
        <p:spPr>
          <a:xfrm>
            <a:off x="7180358" y="2951163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7" name="Shape 1157"/>
          <p:cNvSpPr/>
          <p:nvPr/>
        </p:nvSpPr>
        <p:spPr>
          <a:xfrm>
            <a:off x="5545666" y="3865565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4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缺页故障</a:t>
            </a:r>
            <a:endParaRPr lang="zh-CN" altLang="en-US"/>
          </a:p>
        </p:txBody>
      </p:sp>
      <p:sp>
        <p:nvSpPr>
          <p:cNvPr id="482" name="Shape 48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b="1"/>
              <a:t>缺页故障</a:t>
            </a:r>
            <a:r>
              <a:rPr lang="zh-CN" altLang="en-US"/>
              <a:t>：访问的虚存字不在物理内存中（</a:t>
            </a:r>
            <a:r>
              <a:rPr lang="en-US" altLang="zh-CN"/>
              <a:t>DRAM</a:t>
            </a:r>
            <a:r>
              <a:rPr lang="zh-CN" altLang="en-US"/>
              <a:t>缓存缺失）</a:t>
            </a:r>
            <a:endParaRPr lang="zh-CN" altLang="en-US"/>
          </a:p>
          <a:p>
            <a:pPr marL="342900" indent="-342900">
              <a:spcBef>
                <a:spcPts val="0"/>
              </a:spcBef>
            </a:pPr>
            <a:endParaRPr lang="zh-CN" altLang="en-US"/>
          </a:p>
        </p:txBody>
      </p:sp>
      <p:sp>
        <p:nvSpPr>
          <p:cNvPr id="483" name="Shape 483"/>
          <p:cNvSpPr/>
          <p:nvPr/>
        </p:nvSpPr>
        <p:spPr>
          <a:xfrm>
            <a:off x="47851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84" name="Shape 484"/>
          <p:cNvSpPr/>
          <p:nvPr/>
        </p:nvSpPr>
        <p:spPr>
          <a:xfrm>
            <a:off x="47851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85" name="Shape 485"/>
          <p:cNvSpPr/>
          <p:nvPr/>
        </p:nvSpPr>
        <p:spPr>
          <a:xfrm>
            <a:off x="47851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6" name="Shape 486"/>
          <p:cNvSpPr/>
          <p:nvPr/>
        </p:nvSpPr>
        <p:spPr>
          <a:xfrm>
            <a:off x="47851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7" name="Shape 487"/>
          <p:cNvSpPr/>
          <p:nvPr/>
        </p:nvSpPr>
        <p:spPr>
          <a:xfrm>
            <a:off x="47851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88" name="Shape 488"/>
          <p:cNvSpPr/>
          <p:nvPr/>
        </p:nvSpPr>
        <p:spPr>
          <a:xfrm>
            <a:off x="47851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89" name="Shape 489"/>
          <p:cNvSpPr/>
          <p:nvPr/>
        </p:nvSpPr>
        <p:spPr>
          <a:xfrm>
            <a:off x="4785139" y="37623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90" name="Shape 490"/>
          <p:cNvSpPr/>
          <p:nvPr/>
        </p:nvSpPr>
        <p:spPr>
          <a:xfrm>
            <a:off x="4785139" y="39909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491" name="Shape 491"/>
          <p:cNvSpPr txBox="1"/>
          <p:nvPr/>
        </p:nvSpPr>
        <p:spPr>
          <a:xfrm>
            <a:off x="4737870" y="49465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92" name="Shape 492"/>
          <p:cNvSpPr txBox="1"/>
          <p:nvPr/>
        </p:nvSpPr>
        <p:spPr>
          <a:xfrm>
            <a:off x="80125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GB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93" name="Shape 493"/>
          <p:cNvSpPr/>
          <p:nvPr/>
        </p:nvSpPr>
        <p:spPr>
          <a:xfrm>
            <a:off x="81300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4" name="Shape 494"/>
          <p:cNvSpPr/>
          <p:nvPr/>
        </p:nvSpPr>
        <p:spPr>
          <a:xfrm>
            <a:off x="8130003" y="33813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495" name="Shape 495"/>
          <p:cNvCxnSpPr/>
          <p:nvPr/>
        </p:nvCxnSpPr>
        <p:spPr>
          <a:xfrm>
            <a:off x="56106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496" name="Shape 496"/>
          <p:cNvCxnSpPr/>
          <p:nvPr/>
        </p:nvCxnSpPr>
        <p:spPr>
          <a:xfrm rot="10800000" flipH="1">
            <a:off x="56106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97" name="Shape 497"/>
          <p:cNvCxnSpPr/>
          <p:nvPr/>
        </p:nvCxnSpPr>
        <p:spPr>
          <a:xfrm rot="10800000" flipH="1">
            <a:off x="5636039" y="29702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98" name="Shape 498"/>
          <p:cNvCxnSpPr/>
          <p:nvPr/>
        </p:nvCxnSpPr>
        <p:spPr>
          <a:xfrm rot="10800000" flipH="1">
            <a:off x="55852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9" name="Shape 499"/>
          <p:cNvSpPr txBox="1"/>
          <p:nvPr/>
        </p:nvSpPr>
        <p:spPr>
          <a:xfrm>
            <a:off x="80649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00" name="Shape 500"/>
          <p:cNvSpPr/>
          <p:nvPr/>
        </p:nvSpPr>
        <p:spPr>
          <a:xfrm>
            <a:off x="44803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1" name="Shape 501"/>
          <p:cNvSpPr/>
          <p:nvPr/>
        </p:nvSpPr>
        <p:spPr>
          <a:xfrm>
            <a:off x="44803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2" name="Shape 502"/>
          <p:cNvSpPr/>
          <p:nvPr/>
        </p:nvSpPr>
        <p:spPr>
          <a:xfrm>
            <a:off x="44803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3" name="Shape 503"/>
          <p:cNvSpPr/>
          <p:nvPr/>
        </p:nvSpPr>
        <p:spPr>
          <a:xfrm>
            <a:off x="44803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4" name="Shape 504"/>
          <p:cNvSpPr/>
          <p:nvPr/>
        </p:nvSpPr>
        <p:spPr>
          <a:xfrm>
            <a:off x="44803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5" name="Shape 505"/>
          <p:cNvSpPr/>
          <p:nvPr/>
        </p:nvSpPr>
        <p:spPr>
          <a:xfrm>
            <a:off x="44803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6" name="Shape 506"/>
          <p:cNvSpPr/>
          <p:nvPr/>
        </p:nvSpPr>
        <p:spPr>
          <a:xfrm>
            <a:off x="44803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7" name="Shape 507"/>
          <p:cNvSpPr/>
          <p:nvPr/>
        </p:nvSpPr>
        <p:spPr>
          <a:xfrm>
            <a:off x="44803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08" name="Shape 508"/>
          <p:cNvSpPr txBox="1"/>
          <p:nvPr/>
        </p:nvSpPr>
        <p:spPr>
          <a:xfrm>
            <a:off x="42517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9" name="Shape 509"/>
          <p:cNvSpPr txBox="1"/>
          <p:nvPr/>
        </p:nvSpPr>
        <p:spPr>
          <a:xfrm>
            <a:off x="44883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0" name="Shape 510"/>
          <p:cNvSpPr txBox="1"/>
          <p:nvPr/>
        </p:nvSpPr>
        <p:spPr>
          <a:xfrm>
            <a:off x="44891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1" name="Shape 511"/>
          <p:cNvSpPr txBox="1"/>
          <p:nvPr/>
        </p:nvSpPr>
        <p:spPr>
          <a:xfrm>
            <a:off x="4488367" y="3745140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2" name="Shape 512"/>
          <p:cNvSpPr txBox="1"/>
          <p:nvPr/>
        </p:nvSpPr>
        <p:spPr>
          <a:xfrm>
            <a:off x="4489159" y="3952293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3" name="Shape 513"/>
          <p:cNvSpPr txBox="1"/>
          <p:nvPr/>
        </p:nvSpPr>
        <p:spPr>
          <a:xfrm>
            <a:off x="44883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4" name="Shape 514"/>
          <p:cNvSpPr txBox="1"/>
          <p:nvPr/>
        </p:nvSpPr>
        <p:spPr>
          <a:xfrm>
            <a:off x="44891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5" name="Shape 515"/>
          <p:cNvSpPr txBox="1"/>
          <p:nvPr/>
        </p:nvSpPr>
        <p:spPr>
          <a:xfrm>
            <a:off x="44883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6" name="Shape 516"/>
          <p:cNvSpPr txBox="1"/>
          <p:nvPr/>
        </p:nvSpPr>
        <p:spPr>
          <a:xfrm>
            <a:off x="44891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7" name="Shape 517"/>
          <p:cNvSpPr txBox="1"/>
          <p:nvPr/>
        </p:nvSpPr>
        <p:spPr>
          <a:xfrm>
            <a:off x="48518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18" name="Shape 518"/>
          <p:cNvSpPr txBox="1"/>
          <p:nvPr/>
        </p:nvSpPr>
        <p:spPr>
          <a:xfrm>
            <a:off x="38737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19" name="Shape 519"/>
          <p:cNvSpPr txBox="1"/>
          <p:nvPr/>
        </p:nvSpPr>
        <p:spPr>
          <a:xfrm>
            <a:off x="38705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0" name="Shape 520"/>
          <p:cNvSpPr txBox="1"/>
          <p:nvPr/>
        </p:nvSpPr>
        <p:spPr>
          <a:xfrm>
            <a:off x="94952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1" name="Shape 521"/>
          <p:cNvSpPr/>
          <p:nvPr/>
        </p:nvSpPr>
        <p:spPr>
          <a:xfrm>
            <a:off x="81300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2" name="Shape 522"/>
          <p:cNvSpPr/>
          <p:nvPr/>
        </p:nvSpPr>
        <p:spPr>
          <a:xfrm>
            <a:off x="81300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3" name="Shape 523"/>
          <p:cNvSpPr/>
          <p:nvPr/>
        </p:nvSpPr>
        <p:spPr>
          <a:xfrm>
            <a:off x="55598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24" name="Shape 524"/>
          <p:cNvSpPr/>
          <p:nvPr/>
        </p:nvSpPr>
        <p:spPr>
          <a:xfrm>
            <a:off x="55598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25" name="Shape 525"/>
          <p:cNvSpPr/>
          <p:nvPr/>
        </p:nvSpPr>
        <p:spPr>
          <a:xfrm>
            <a:off x="55598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26" name="Shape 526"/>
          <p:cNvSpPr/>
          <p:nvPr/>
        </p:nvSpPr>
        <p:spPr>
          <a:xfrm>
            <a:off x="55598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27" name="Shape 527"/>
          <p:cNvSpPr txBox="1"/>
          <p:nvPr/>
        </p:nvSpPr>
        <p:spPr>
          <a:xfrm>
            <a:off x="95079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8" name="Shape 528"/>
          <p:cNvSpPr/>
          <p:nvPr/>
        </p:nvSpPr>
        <p:spPr>
          <a:xfrm>
            <a:off x="81379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29" name="Shape 529"/>
          <p:cNvSpPr/>
          <p:nvPr/>
        </p:nvSpPr>
        <p:spPr>
          <a:xfrm>
            <a:off x="81379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0" name="Shape 530"/>
          <p:cNvSpPr/>
          <p:nvPr/>
        </p:nvSpPr>
        <p:spPr>
          <a:xfrm>
            <a:off x="81379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1" name="Shape 531"/>
          <p:cNvSpPr/>
          <p:nvPr/>
        </p:nvSpPr>
        <p:spPr>
          <a:xfrm>
            <a:off x="81379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2" name="Shape 532"/>
          <p:cNvSpPr/>
          <p:nvPr/>
        </p:nvSpPr>
        <p:spPr>
          <a:xfrm>
            <a:off x="81379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3" name="Shape 533"/>
          <p:cNvSpPr/>
          <p:nvPr/>
        </p:nvSpPr>
        <p:spPr>
          <a:xfrm>
            <a:off x="55598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534" name="Shape 534"/>
          <p:cNvCxnSpPr/>
          <p:nvPr/>
        </p:nvCxnSpPr>
        <p:spPr>
          <a:xfrm>
            <a:off x="5572539" y="3892461"/>
            <a:ext cx="2565400" cy="151130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535" name="Shape 535"/>
          <p:cNvSpPr/>
          <p:nvPr/>
        </p:nvSpPr>
        <p:spPr>
          <a:xfrm>
            <a:off x="55598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536" name="Shape 536"/>
          <p:cNvCxnSpPr/>
          <p:nvPr/>
        </p:nvCxnSpPr>
        <p:spPr>
          <a:xfrm rot="10800000" flipH="1">
            <a:off x="5604289" y="3414713"/>
            <a:ext cx="2533650" cy="6731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37" name="Shape 537"/>
          <p:cNvSpPr/>
          <p:nvPr/>
        </p:nvSpPr>
        <p:spPr>
          <a:xfrm>
            <a:off x="81379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8" name="Shape 538"/>
          <p:cNvSpPr/>
          <p:nvPr/>
        </p:nvSpPr>
        <p:spPr>
          <a:xfrm>
            <a:off x="1981200" y="25146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539" name="Shape 539"/>
          <p:cNvCxnSpPr>
            <a:stCxn id="538" idx="2"/>
            <a:endCxn id="506" idx="1"/>
          </p:cNvCxnSpPr>
          <p:nvPr/>
        </p:nvCxnSpPr>
        <p:spPr>
          <a:xfrm rot="-5400000" flipH="1">
            <a:off x="3071100" y="2467688"/>
            <a:ext cx="1119300" cy="16989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Shape 1163"/>
          <p:cNvSpPr/>
          <p:nvPr/>
        </p:nvSpPr>
        <p:spPr>
          <a:xfrm>
            <a:off x="2133601" y="2237000"/>
            <a:ext cx="3749615" cy="167744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164" name="Shape 11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地址转</a:t>
            </a:r>
            <a:r>
              <a:rPr lang="zh-CN" altLang="en-US"/>
              <a:t>换：缺页故障</a:t>
            </a:r>
            <a:endParaRPr lang="zh-CN" altLang="en-US"/>
          </a:p>
        </p:txBody>
      </p:sp>
      <p:sp>
        <p:nvSpPr>
          <p:cNvPr id="1165" name="Shape 116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1)</a:t>
            </a:r>
            <a:r>
              <a:rPr lang="zh-CN" altLang="en-US"/>
              <a:t>进程把虚拟地址发给</a:t>
            </a:r>
            <a:r>
              <a:rPr lang="en-US" altLang="zh-CN"/>
              <a:t>MMU</a:t>
            </a:r>
            <a:r>
              <a:rPr lang="en-GB" altLang="zh-CN"/>
              <a:t> </a:t>
            </a:r>
            <a:endParaRPr lang="en-GB" altLang="zh-CN"/>
          </a:p>
          <a:p>
            <a:r>
              <a:rPr lang="en-GB"/>
              <a:t>2-3) </a:t>
            </a:r>
            <a:r>
              <a:rPr lang="en-US" altLang="zh-CN"/>
              <a:t>MMU</a:t>
            </a:r>
            <a:r>
              <a:rPr lang="zh-CN" altLang="en-US"/>
              <a:t>访问缓存</a:t>
            </a:r>
            <a:r>
              <a:rPr lang="en-US" altLang="zh-CN"/>
              <a:t>/</a:t>
            </a:r>
            <a:r>
              <a:rPr lang="zh-CN" altLang="en-US"/>
              <a:t>内存中的页表</a:t>
            </a:r>
            <a:r>
              <a:rPr lang="en-US" altLang="zh-CN"/>
              <a:t>，</a:t>
            </a:r>
            <a:r>
              <a:rPr lang="zh-CN" altLang="en-US"/>
              <a:t>获取页表项</a:t>
            </a:r>
            <a:endParaRPr lang="zh-CN" altLang="en-US"/>
          </a:p>
          <a:p>
            <a:r>
              <a:rPr lang="en-GB"/>
              <a:t>4) </a:t>
            </a:r>
            <a:r>
              <a:rPr lang="zh-CN" altLang="en-GB"/>
              <a:t>发现页表项</a:t>
            </a:r>
            <a:r>
              <a:rPr lang="zh-CN" altLang="en-US"/>
              <a:t>有效位为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MMU</a:t>
            </a:r>
            <a:r>
              <a:rPr lang="zh-CN" altLang="en-US"/>
              <a:t>触发</a:t>
            </a:r>
            <a:r>
              <a:rPr lang="zh-CN" altLang="en-US" b="1"/>
              <a:t>缺页故障</a:t>
            </a:r>
            <a:r>
              <a:rPr lang="zh-CN" altLang="en-US"/>
              <a:t>异常</a:t>
            </a:r>
            <a:endParaRPr lang="zh-CN" altLang="en-US"/>
          </a:p>
          <a:p>
            <a:r>
              <a:rPr lang="en-GB"/>
              <a:t>5) </a:t>
            </a:r>
            <a:r>
              <a:rPr lang="zh-CN" altLang="en-US"/>
              <a:t>处理程序确认驱逐页（如果</a:t>
            </a:r>
            <a:r>
              <a:rPr lang="en-US" altLang="zh-CN"/>
              <a:t>dirty</a:t>
            </a:r>
            <a:r>
              <a:rPr lang="zh-CN" altLang="en-US"/>
              <a:t>位为</a:t>
            </a:r>
            <a:r>
              <a:rPr lang="en-US" altLang="zh-CN"/>
              <a:t>1</a:t>
            </a:r>
            <a:r>
              <a:rPr lang="zh-CN" altLang="en-US"/>
              <a:t>，将该页复制回磁盘）</a:t>
            </a:r>
            <a:endParaRPr lang="zh-CN" altLang="en-US"/>
          </a:p>
          <a:p>
            <a:r>
              <a:rPr lang="en-GB"/>
              <a:t>6) </a:t>
            </a:r>
            <a:r>
              <a:rPr lang="zh-CN" altLang="en-US"/>
              <a:t>处理程序从磁盘读取新页</a:t>
            </a:r>
            <a:r>
              <a:rPr lang="en-US" altLang="zh-CN"/>
              <a:t>、</a:t>
            </a:r>
            <a:r>
              <a:rPr lang="zh-CN" altLang="en-US" b="1"/>
              <a:t>同步更新页表</a:t>
            </a:r>
            <a:endParaRPr lang="zh-CN" altLang="en-US" b="1"/>
          </a:p>
          <a:p>
            <a:r>
              <a:rPr lang="en-GB"/>
              <a:t>7) </a:t>
            </a:r>
            <a:r>
              <a:rPr lang="zh-CN" altLang="en-US"/>
              <a:t>处理程序返回原始进程，重启引发故障的指令</a:t>
            </a:r>
            <a:endParaRPr lang="zh-CN" altLang="en-US"/>
          </a:p>
        </p:txBody>
      </p:sp>
      <p:sp>
        <p:nvSpPr>
          <p:cNvPr id="1166" name="Shape 1166"/>
          <p:cNvSpPr/>
          <p:nvPr/>
        </p:nvSpPr>
        <p:spPr>
          <a:xfrm>
            <a:off x="4712602" y="2473859"/>
            <a:ext cx="1066800" cy="1237384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7" name="Shape 1167"/>
          <p:cNvSpPr/>
          <p:nvPr/>
        </p:nvSpPr>
        <p:spPr>
          <a:xfrm>
            <a:off x="7301815" y="2188834"/>
            <a:ext cx="914400" cy="1925967"/>
          </a:xfrm>
          <a:prstGeom prst="rect">
            <a:avLst/>
          </a:prstGeom>
          <a:solidFill>
            <a:srgbClr val="F5F5F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Cache/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内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68" name="Shape 1168"/>
          <p:cNvSpPr/>
          <p:nvPr/>
        </p:nvSpPr>
        <p:spPr>
          <a:xfrm>
            <a:off x="2274202" y="2826338"/>
            <a:ext cx="1066800" cy="5334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69" name="Shape 1169"/>
          <p:cNvCxnSpPr>
            <a:stCxn id="1168" idx="3"/>
          </p:cNvCxnSpPr>
          <p:nvPr/>
        </p:nvCxnSpPr>
        <p:spPr>
          <a:xfrm rot="10800000" flipH="1">
            <a:off x="3341002" y="3088538"/>
            <a:ext cx="1370100" cy="4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70" name="Shape 1170"/>
          <p:cNvSpPr txBox="1"/>
          <p:nvPr/>
        </p:nvSpPr>
        <p:spPr>
          <a:xfrm>
            <a:off x="3798202" y="2829849"/>
            <a:ext cx="422582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</a:t>
            </a:r>
            <a:endParaRPr dirty="0"/>
          </a:p>
        </p:txBody>
      </p:sp>
      <p:sp>
        <p:nvSpPr>
          <p:cNvPr id="1171" name="Shape 1171"/>
          <p:cNvSpPr txBox="1"/>
          <p:nvPr/>
        </p:nvSpPr>
        <p:spPr>
          <a:xfrm>
            <a:off x="2138767" y="2241246"/>
            <a:ext cx="10583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73" name="Shape 1173"/>
          <p:cNvCxnSpPr/>
          <p:nvPr/>
        </p:nvCxnSpPr>
        <p:spPr>
          <a:xfrm rot="10800000" flipH="1">
            <a:off x="5779403" y="2647203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74" name="Shape 1174"/>
          <p:cNvSpPr txBox="1"/>
          <p:nvPr/>
        </p:nvSpPr>
        <p:spPr>
          <a:xfrm>
            <a:off x="6315416" y="2835472"/>
            <a:ext cx="45375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75" name="Shape 1175"/>
          <p:cNvCxnSpPr/>
          <p:nvPr/>
        </p:nvCxnSpPr>
        <p:spPr>
          <a:xfrm rot="10800000">
            <a:off x="5779403" y="3104403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76" name="Shape 1176"/>
          <p:cNvSpPr/>
          <p:nvPr/>
        </p:nvSpPr>
        <p:spPr>
          <a:xfrm>
            <a:off x="3854388" y="2594506"/>
            <a:ext cx="274637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7" name="Shape 1177"/>
          <p:cNvSpPr/>
          <p:nvPr/>
        </p:nvSpPr>
        <p:spPr>
          <a:xfrm>
            <a:off x="6404973" y="2146828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8" name="Shape 1178"/>
          <p:cNvSpPr/>
          <p:nvPr/>
        </p:nvSpPr>
        <p:spPr>
          <a:xfrm>
            <a:off x="6404973" y="3154364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9" name="Shape 1179"/>
          <p:cNvSpPr/>
          <p:nvPr/>
        </p:nvSpPr>
        <p:spPr>
          <a:xfrm>
            <a:off x="6087533" y="1554162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0" name="Shape 1180"/>
          <p:cNvSpPr/>
          <p:nvPr/>
        </p:nvSpPr>
        <p:spPr>
          <a:xfrm>
            <a:off x="8716962" y="2700869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1" name="Shape 1181"/>
          <p:cNvSpPr/>
          <p:nvPr/>
        </p:nvSpPr>
        <p:spPr>
          <a:xfrm>
            <a:off x="9448800" y="2192867"/>
            <a:ext cx="914400" cy="1925967"/>
          </a:xfrm>
          <a:prstGeom prst="rect">
            <a:avLst/>
          </a:prstGeom>
          <a:solidFill>
            <a:srgbClr val="F5F5F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磁盘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2" name="Shape 1182"/>
          <p:cNvSpPr/>
          <p:nvPr/>
        </p:nvSpPr>
        <p:spPr>
          <a:xfrm>
            <a:off x="7284881" y="1219200"/>
            <a:ext cx="2527985" cy="533400"/>
          </a:xfrm>
          <a:prstGeom prst="rect">
            <a:avLst/>
          </a:prstGeom>
          <a:solidFill>
            <a:srgbClr val="F6F5BD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缺页故障处理程序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183" name="Shape 1183"/>
          <p:cNvCxnSpPr>
            <a:stCxn id="1166" idx="0"/>
            <a:endCxn id="1182" idx="1"/>
          </p:cNvCxnSpPr>
          <p:nvPr/>
        </p:nvCxnSpPr>
        <p:spPr>
          <a:xfrm rot="-5400000">
            <a:off x="5771452" y="960509"/>
            <a:ext cx="987900" cy="20388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stealth" w="med" len="med"/>
          </a:ln>
        </p:spPr>
      </p:cxnSp>
      <p:cxnSp>
        <p:nvCxnSpPr>
          <p:cNvPr id="1184" name="Shape 1184"/>
          <p:cNvCxnSpPr/>
          <p:nvPr/>
        </p:nvCxnSpPr>
        <p:spPr>
          <a:xfrm>
            <a:off x="8231188" y="2633133"/>
            <a:ext cx="1217613" cy="2219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85" name="Shape 1185"/>
          <p:cNvCxnSpPr/>
          <p:nvPr/>
        </p:nvCxnSpPr>
        <p:spPr>
          <a:xfrm rot="10800000">
            <a:off x="8231189" y="3580024"/>
            <a:ext cx="12176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86" name="Shape 1186"/>
          <p:cNvSpPr/>
          <p:nvPr/>
        </p:nvSpPr>
        <p:spPr>
          <a:xfrm>
            <a:off x="8610600" y="1752600"/>
            <a:ext cx="457200" cy="628516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7" name="Shape 1187"/>
          <p:cNvSpPr txBox="1"/>
          <p:nvPr/>
        </p:nvSpPr>
        <p:spPr>
          <a:xfrm>
            <a:off x="8297333" y="2353733"/>
            <a:ext cx="1058280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驱逐页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8" name="Shape 1188"/>
          <p:cNvSpPr txBox="1"/>
          <p:nvPr/>
        </p:nvSpPr>
        <p:spPr>
          <a:xfrm>
            <a:off x="8382001" y="3302001"/>
            <a:ext cx="91952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新页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9" name="Shape 1189"/>
          <p:cNvSpPr txBox="1"/>
          <p:nvPr/>
        </p:nvSpPr>
        <p:spPr>
          <a:xfrm>
            <a:off x="5791201" y="1180238"/>
            <a:ext cx="90791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Exception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0" name="Shape 1190"/>
          <p:cNvSpPr/>
          <p:nvPr/>
        </p:nvSpPr>
        <p:spPr>
          <a:xfrm>
            <a:off x="8729132" y="3662363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1" name="Shape 1191"/>
          <p:cNvSpPr/>
          <p:nvPr/>
        </p:nvSpPr>
        <p:spPr>
          <a:xfrm>
            <a:off x="3854386" y="3173150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8" name="Shape 1148"/>
          <p:cNvSpPr txBox="1"/>
          <p:nvPr/>
        </p:nvSpPr>
        <p:spPr>
          <a:xfrm>
            <a:off x="6087745" y="2393950"/>
            <a:ext cx="972185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79665" y="5685790"/>
            <a:ext cx="4282440" cy="7067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marL="400050" lvl="1" indent="0">
              <a:buNone/>
            </a:pPr>
            <a:r>
              <a:rPr lang="zh-CN" altLang="en-US" sz="2000" dirty="0" smtClean="0">
                <a:solidFill>
                  <a:srgbClr val="00B050"/>
                </a:solidFill>
                <a:sym typeface="+mn-ea"/>
              </a:rPr>
              <a:t>回顾第</a:t>
            </a:r>
            <a:r>
              <a:rPr lang="en-US" altLang="zh-CN" sz="2000" dirty="0" smtClean="0">
                <a:solidFill>
                  <a:srgbClr val="00B050"/>
                </a:solidFill>
                <a:sym typeface="+mn-ea"/>
              </a:rPr>
              <a:t>8</a:t>
            </a:r>
            <a:r>
              <a:rPr lang="zh-CN" altLang="en-US" sz="2000" dirty="0" smtClean="0">
                <a:solidFill>
                  <a:srgbClr val="00B050"/>
                </a:solidFill>
                <a:sym typeface="+mn-ea"/>
              </a:rPr>
              <a:t>章</a:t>
            </a:r>
            <a:r>
              <a:rPr lang="en-US" altLang="zh-CN" sz="2000" dirty="0" smtClean="0">
                <a:solidFill>
                  <a:srgbClr val="00B050"/>
                </a:solidFill>
                <a:sym typeface="+mn-ea"/>
              </a:rPr>
              <a:t>：</a:t>
            </a:r>
            <a:r>
              <a:rPr lang="zh-CN" altLang="en-US" sz="2000" dirty="0" smtClean="0">
                <a:solidFill>
                  <a:srgbClr val="00B050"/>
                </a:solidFill>
                <a:sym typeface="+mn-ea"/>
              </a:rPr>
              <a:t>缺页故障是一种异常</a:t>
            </a:r>
            <a:r>
              <a:rPr lang="en-US" altLang="zh-CN" sz="2000" dirty="0" smtClean="0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sz="2000" dirty="0" smtClean="0">
                <a:solidFill>
                  <a:srgbClr val="00B050"/>
                </a:solidFill>
                <a:sym typeface="+mn-ea"/>
              </a:rPr>
              <a:t>由</a:t>
            </a:r>
            <a:r>
              <a:rPr lang="en-US" altLang="zh-CN" sz="2000" dirty="0" smtClean="0">
                <a:solidFill>
                  <a:srgbClr val="00B050"/>
                </a:solidFill>
                <a:sym typeface="+mn-ea"/>
              </a:rPr>
              <a:t>MMU</a:t>
            </a:r>
            <a:r>
              <a:rPr lang="zh-CN" altLang="en-US" sz="2000" dirty="0" smtClean="0">
                <a:solidFill>
                  <a:srgbClr val="00B050"/>
                </a:solidFill>
                <a:sym typeface="+mn-ea"/>
              </a:rPr>
              <a:t>触发</a:t>
            </a:r>
            <a:endParaRPr lang="zh-CN" altLang="en-US" sz="2000" dirty="0" smtClean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处理缺页故障</a:t>
            </a:r>
            <a:endParaRPr lang="zh-CN" altLang="en-US"/>
          </a:p>
        </p:txBody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页缺失导致缺页故障（异常）</a:t>
            </a:r>
            <a:endParaRPr lang="zh-CN" altLang="en-US"/>
          </a:p>
        </p:txBody>
      </p:sp>
      <p:sp>
        <p:nvSpPr>
          <p:cNvPr id="547" name="Shape 547"/>
          <p:cNvSpPr/>
          <p:nvPr/>
        </p:nvSpPr>
        <p:spPr>
          <a:xfrm>
            <a:off x="47851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48" name="Shape 548"/>
          <p:cNvSpPr/>
          <p:nvPr/>
        </p:nvSpPr>
        <p:spPr>
          <a:xfrm>
            <a:off x="47851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49" name="Shape 549"/>
          <p:cNvSpPr/>
          <p:nvPr/>
        </p:nvSpPr>
        <p:spPr>
          <a:xfrm>
            <a:off x="47851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0" name="Shape 550"/>
          <p:cNvSpPr/>
          <p:nvPr/>
        </p:nvSpPr>
        <p:spPr>
          <a:xfrm>
            <a:off x="47851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1" name="Shape 551"/>
          <p:cNvSpPr/>
          <p:nvPr/>
        </p:nvSpPr>
        <p:spPr>
          <a:xfrm>
            <a:off x="47851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52" name="Shape 552"/>
          <p:cNvSpPr/>
          <p:nvPr/>
        </p:nvSpPr>
        <p:spPr>
          <a:xfrm>
            <a:off x="47851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53" name="Shape 553"/>
          <p:cNvSpPr/>
          <p:nvPr/>
        </p:nvSpPr>
        <p:spPr>
          <a:xfrm>
            <a:off x="4785139" y="37623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54" name="Shape 554"/>
          <p:cNvSpPr/>
          <p:nvPr/>
        </p:nvSpPr>
        <p:spPr>
          <a:xfrm>
            <a:off x="4785139" y="39909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55" name="Shape 555"/>
          <p:cNvSpPr txBox="1"/>
          <p:nvPr/>
        </p:nvSpPr>
        <p:spPr>
          <a:xfrm>
            <a:off x="4737870" y="49465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6" name="Shape 556"/>
          <p:cNvSpPr txBox="1"/>
          <p:nvPr/>
        </p:nvSpPr>
        <p:spPr>
          <a:xfrm>
            <a:off x="80125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57" name="Shape 557"/>
          <p:cNvSpPr/>
          <p:nvPr/>
        </p:nvSpPr>
        <p:spPr>
          <a:xfrm>
            <a:off x="81300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8" name="Shape 558"/>
          <p:cNvSpPr/>
          <p:nvPr/>
        </p:nvSpPr>
        <p:spPr>
          <a:xfrm>
            <a:off x="8130003" y="33813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59" name="Shape 559"/>
          <p:cNvCxnSpPr/>
          <p:nvPr/>
        </p:nvCxnSpPr>
        <p:spPr>
          <a:xfrm>
            <a:off x="56106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560" name="Shape 560"/>
          <p:cNvCxnSpPr/>
          <p:nvPr/>
        </p:nvCxnSpPr>
        <p:spPr>
          <a:xfrm rot="10800000" flipH="1">
            <a:off x="56106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61" name="Shape 561"/>
          <p:cNvCxnSpPr/>
          <p:nvPr/>
        </p:nvCxnSpPr>
        <p:spPr>
          <a:xfrm rot="10800000" flipH="1">
            <a:off x="5636039" y="29702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62" name="Shape 562"/>
          <p:cNvCxnSpPr/>
          <p:nvPr/>
        </p:nvCxnSpPr>
        <p:spPr>
          <a:xfrm rot="10800000" flipH="1">
            <a:off x="55852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63" name="Shape 563"/>
          <p:cNvSpPr txBox="1"/>
          <p:nvPr/>
        </p:nvSpPr>
        <p:spPr>
          <a:xfrm>
            <a:off x="80649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64" name="Shape 564"/>
          <p:cNvSpPr/>
          <p:nvPr/>
        </p:nvSpPr>
        <p:spPr>
          <a:xfrm>
            <a:off x="44803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65" name="Shape 565"/>
          <p:cNvSpPr/>
          <p:nvPr/>
        </p:nvSpPr>
        <p:spPr>
          <a:xfrm>
            <a:off x="44803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66" name="Shape 566"/>
          <p:cNvSpPr/>
          <p:nvPr/>
        </p:nvSpPr>
        <p:spPr>
          <a:xfrm>
            <a:off x="44803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67" name="Shape 567"/>
          <p:cNvSpPr/>
          <p:nvPr/>
        </p:nvSpPr>
        <p:spPr>
          <a:xfrm>
            <a:off x="44803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68" name="Shape 568"/>
          <p:cNvSpPr/>
          <p:nvPr/>
        </p:nvSpPr>
        <p:spPr>
          <a:xfrm>
            <a:off x="44803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69" name="Shape 569"/>
          <p:cNvSpPr/>
          <p:nvPr/>
        </p:nvSpPr>
        <p:spPr>
          <a:xfrm>
            <a:off x="44803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70" name="Shape 570"/>
          <p:cNvSpPr/>
          <p:nvPr/>
        </p:nvSpPr>
        <p:spPr>
          <a:xfrm>
            <a:off x="44803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71" name="Shape 571"/>
          <p:cNvSpPr/>
          <p:nvPr/>
        </p:nvSpPr>
        <p:spPr>
          <a:xfrm>
            <a:off x="44803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72" name="Shape 572"/>
          <p:cNvSpPr txBox="1"/>
          <p:nvPr/>
        </p:nvSpPr>
        <p:spPr>
          <a:xfrm>
            <a:off x="42517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" name="Shape 573"/>
          <p:cNvSpPr txBox="1"/>
          <p:nvPr/>
        </p:nvSpPr>
        <p:spPr>
          <a:xfrm>
            <a:off x="44883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4" name="Shape 574"/>
          <p:cNvSpPr txBox="1"/>
          <p:nvPr/>
        </p:nvSpPr>
        <p:spPr>
          <a:xfrm>
            <a:off x="44891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5" name="Shape 575"/>
          <p:cNvSpPr txBox="1"/>
          <p:nvPr/>
        </p:nvSpPr>
        <p:spPr>
          <a:xfrm>
            <a:off x="4488367" y="3745140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6" name="Shape 576"/>
          <p:cNvSpPr txBox="1"/>
          <p:nvPr/>
        </p:nvSpPr>
        <p:spPr>
          <a:xfrm>
            <a:off x="4489159" y="3952293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7" name="Shape 577"/>
          <p:cNvSpPr txBox="1"/>
          <p:nvPr/>
        </p:nvSpPr>
        <p:spPr>
          <a:xfrm>
            <a:off x="44883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8" name="Shape 578"/>
          <p:cNvSpPr txBox="1"/>
          <p:nvPr/>
        </p:nvSpPr>
        <p:spPr>
          <a:xfrm>
            <a:off x="44891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9" name="Shape 579"/>
          <p:cNvSpPr txBox="1"/>
          <p:nvPr/>
        </p:nvSpPr>
        <p:spPr>
          <a:xfrm>
            <a:off x="44883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" name="Shape 580"/>
          <p:cNvSpPr txBox="1"/>
          <p:nvPr/>
        </p:nvSpPr>
        <p:spPr>
          <a:xfrm>
            <a:off x="44891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1" name="Shape 581"/>
          <p:cNvSpPr txBox="1"/>
          <p:nvPr/>
        </p:nvSpPr>
        <p:spPr>
          <a:xfrm>
            <a:off x="48518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82" name="Shape 582"/>
          <p:cNvSpPr txBox="1"/>
          <p:nvPr/>
        </p:nvSpPr>
        <p:spPr>
          <a:xfrm>
            <a:off x="38737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3" name="Shape 583"/>
          <p:cNvSpPr txBox="1"/>
          <p:nvPr/>
        </p:nvSpPr>
        <p:spPr>
          <a:xfrm>
            <a:off x="38705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4" name="Shape 584"/>
          <p:cNvSpPr txBox="1"/>
          <p:nvPr/>
        </p:nvSpPr>
        <p:spPr>
          <a:xfrm>
            <a:off x="94952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5" name="Shape 585"/>
          <p:cNvSpPr/>
          <p:nvPr/>
        </p:nvSpPr>
        <p:spPr>
          <a:xfrm>
            <a:off x="81300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6" name="Shape 586"/>
          <p:cNvSpPr/>
          <p:nvPr/>
        </p:nvSpPr>
        <p:spPr>
          <a:xfrm>
            <a:off x="81300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7" name="Shape 587"/>
          <p:cNvSpPr/>
          <p:nvPr/>
        </p:nvSpPr>
        <p:spPr>
          <a:xfrm>
            <a:off x="55598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88" name="Shape 588"/>
          <p:cNvSpPr/>
          <p:nvPr/>
        </p:nvSpPr>
        <p:spPr>
          <a:xfrm>
            <a:off x="55598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89" name="Shape 589"/>
          <p:cNvSpPr/>
          <p:nvPr/>
        </p:nvSpPr>
        <p:spPr>
          <a:xfrm>
            <a:off x="55598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90" name="Shape 590"/>
          <p:cNvSpPr/>
          <p:nvPr/>
        </p:nvSpPr>
        <p:spPr>
          <a:xfrm>
            <a:off x="55598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91" name="Shape 591"/>
          <p:cNvSpPr txBox="1"/>
          <p:nvPr/>
        </p:nvSpPr>
        <p:spPr>
          <a:xfrm>
            <a:off x="95079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2" name="Shape 592"/>
          <p:cNvSpPr/>
          <p:nvPr/>
        </p:nvSpPr>
        <p:spPr>
          <a:xfrm>
            <a:off x="81379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3" name="Shape 593"/>
          <p:cNvSpPr/>
          <p:nvPr/>
        </p:nvSpPr>
        <p:spPr>
          <a:xfrm>
            <a:off x="81379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4" name="Shape 594"/>
          <p:cNvSpPr/>
          <p:nvPr/>
        </p:nvSpPr>
        <p:spPr>
          <a:xfrm>
            <a:off x="81379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" name="Shape 595"/>
          <p:cNvSpPr/>
          <p:nvPr/>
        </p:nvSpPr>
        <p:spPr>
          <a:xfrm>
            <a:off x="81379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6" name="Shape 596"/>
          <p:cNvSpPr/>
          <p:nvPr/>
        </p:nvSpPr>
        <p:spPr>
          <a:xfrm>
            <a:off x="81379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7" name="Shape 597"/>
          <p:cNvSpPr/>
          <p:nvPr/>
        </p:nvSpPr>
        <p:spPr>
          <a:xfrm>
            <a:off x="55598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598" name="Shape 598"/>
          <p:cNvCxnSpPr/>
          <p:nvPr/>
        </p:nvCxnSpPr>
        <p:spPr>
          <a:xfrm>
            <a:off x="5572539" y="3892461"/>
            <a:ext cx="2565400" cy="151130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599" name="Shape 599"/>
          <p:cNvSpPr/>
          <p:nvPr/>
        </p:nvSpPr>
        <p:spPr>
          <a:xfrm>
            <a:off x="55598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600" name="Shape 600"/>
          <p:cNvCxnSpPr/>
          <p:nvPr/>
        </p:nvCxnSpPr>
        <p:spPr>
          <a:xfrm rot="10800000" flipH="1">
            <a:off x="5604289" y="3414713"/>
            <a:ext cx="2533650" cy="6731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01" name="Shape 601"/>
          <p:cNvSpPr/>
          <p:nvPr/>
        </p:nvSpPr>
        <p:spPr>
          <a:xfrm>
            <a:off x="81379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" name="Shape 602"/>
          <p:cNvSpPr/>
          <p:nvPr/>
        </p:nvSpPr>
        <p:spPr>
          <a:xfrm>
            <a:off x="1981200" y="25146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03" name="Shape 603"/>
          <p:cNvCxnSpPr>
            <a:stCxn id="602" idx="2"/>
            <a:endCxn id="570" idx="1"/>
          </p:cNvCxnSpPr>
          <p:nvPr/>
        </p:nvCxnSpPr>
        <p:spPr>
          <a:xfrm rot="-5400000" flipH="1">
            <a:off x="3071100" y="2467688"/>
            <a:ext cx="1119300" cy="1698900"/>
          </a:xfrm>
          <a:prstGeom prst="bentConnector2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处理缺页故障</a:t>
            </a:r>
            <a:endParaRPr lang="zh-CN" altLang="en-US"/>
          </a:p>
        </p:txBody>
      </p:sp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页缺失导致</a:t>
            </a:r>
            <a:r>
              <a:rPr lang="zh-CN" altLang="en-US" b="1"/>
              <a:t>缺页故障</a:t>
            </a:r>
            <a:r>
              <a:rPr lang="zh-CN" altLang="en-US"/>
              <a:t>（</a:t>
            </a:r>
            <a:r>
              <a:rPr lang="zh-CN" altLang="en-US" b="1"/>
              <a:t>异常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缺页故障处理程序选择一个将被替换的对象（下图中的</a:t>
            </a:r>
            <a:r>
              <a:rPr lang="en-GB"/>
              <a:t> VP 4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11" name="Shape 611"/>
          <p:cNvSpPr/>
          <p:nvPr/>
        </p:nvSpPr>
        <p:spPr>
          <a:xfrm>
            <a:off x="47851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2" name="Shape 612"/>
          <p:cNvSpPr/>
          <p:nvPr/>
        </p:nvSpPr>
        <p:spPr>
          <a:xfrm>
            <a:off x="47851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3" name="Shape 613"/>
          <p:cNvSpPr/>
          <p:nvPr/>
        </p:nvSpPr>
        <p:spPr>
          <a:xfrm>
            <a:off x="47851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4" name="Shape 614"/>
          <p:cNvSpPr/>
          <p:nvPr/>
        </p:nvSpPr>
        <p:spPr>
          <a:xfrm>
            <a:off x="47851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5" name="Shape 615"/>
          <p:cNvSpPr/>
          <p:nvPr/>
        </p:nvSpPr>
        <p:spPr>
          <a:xfrm>
            <a:off x="47851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6" name="Shape 616"/>
          <p:cNvSpPr/>
          <p:nvPr/>
        </p:nvSpPr>
        <p:spPr>
          <a:xfrm>
            <a:off x="47851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7" name="Shape 617"/>
          <p:cNvSpPr/>
          <p:nvPr/>
        </p:nvSpPr>
        <p:spPr>
          <a:xfrm>
            <a:off x="4785139" y="37623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8" name="Shape 618"/>
          <p:cNvSpPr/>
          <p:nvPr/>
        </p:nvSpPr>
        <p:spPr>
          <a:xfrm>
            <a:off x="4785139" y="39909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19" name="Shape 619"/>
          <p:cNvSpPr txBox="1"/>
          <p:nvPr/>
        </p:nvSpPr>
        <p:spPr>
          <a:xfrm>
            <a:off x="4737870" y="49465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20" name="Shape 620"/>
          <p:cNvSpPr txBox="1"/>
          <p:nvPr/>
        </p:nvSpPr>
        <p:spPr>
          <a:xfrm>
            <a:off x="80125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21" name="Shape 621"/>
          <p:cNvSpPr/>
          <p:nvPr/>
        </p:nvSpPr>
        <p:spPr>
          <a:xfrm>
            <a:off x="81300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2" name="Shape 622"/>
          <p:cNvSpPr/>
          <p:nvPr/>
        </p:nvSpPr>
        <p:spPr>
          <a:xfrm>
            <a:off x="8130003" y="3381375"/>
            <a:ext cx="1379537" cy="228600"/>
          </a:xfrm>
          <a:prstGeom prst="rect">
            <a:avLst/>
          </a:prstGeom>
          <a:solidFill>
            <a:srgbClr val="F1C7C7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23" name="Shape 623"/>
          <p:cNvCxnSpPr/>
          <p:nvPr/>
        </p:nvCxnSpPr>
        <p:spPr>
          <a:xfrm>
            <a:off x="56106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624" name="Shape 624"/>
          <p:cNvCxnSpPr/>
          <p:nvPr/>
        </p:nvCxnSpPr>
        <p:spPr>
          <a:xfrm rot="10800000" flipH="1">
            <a:off x="56106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25" name="Shape 625"/>
          <p:cNvCxnSpPr/>
          <p:nvPr/>
        </p:nvCxnSpPr>
        <p:spPr>
          <a:xfrm rot="10800000" flipH="1">
            <a:off x="5636039" y="29702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26" name="Shape 626"/>
          <p:cNvCxnSpPr/>
          <p:nvPr/>
        </p:nvCxnSpPr>
        <p:spPr>
          <a:xfrm rot="10800000" flipH="1">
            <a:off x="55852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27" name="Shape 627"/>
          <p:cNvSpPr txBox="1"/>
          <p:nvPr/>
        </p:nvSpPr>
        <p:spPr>
          <a:xfrm>
            <a:off x="80649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</a:t>
            </a:r>
            <a:r>
              <a:rPr lang="zh-CN" altLang="en-US" sz="1600" b="1" dirty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磁盘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28" name="Shape 628"/>
          <p:cNvSpPr/>
          <p:nvPr/>
        </p:nvSpPr>
        <p:spPr>
          <a:xfrm>
            <a:off x="44803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29" name="Shape 629"/>
          <p:cNvSpPr/>
          <p:nvPr/>
        </p:nvSpPr>
        <p:spPr>
          <a:xfrm>
            <a:off x="44803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0" name="Shape 630"/>
          <p:cNvSpPr/>
          <p:nvPr/>
        </p:nvSpPr>
        <p:spPr>
          <a:xfrm>
            <a:off x="44803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1" name="Shape 631"/>
          <p:cNvSpPr/>
          <p:nvPr/>
        </p:nvSpPr>
        <p:spPr>
          <a:xfrm>
            <a:off x="44803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2" name="Shape 632"/>
          <p:cNvSpPr/>
          <p:nvPr/>
        </p:nvSpPr>
        <p:spPr>
          <a:xfrm>
            <a:off x="44803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3" name="Shape 633"/>
          <p:cNvSpPr/>
          <p:nvPr/>
        </p:nvSpPr>
        <p:spPr>
          <a:xfrm>
            <a:off x="44803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4" name="Shape 634"/>
          <p:cNvSpPr/>
          <p:nvPr/>
        </p:nvSpPr>
        <p:spPr>
          <a:xfrm>
            <a:off x="44803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5" name="Shape 635"/>
          <p:cNvSpPr/>
          <p:nvPr/>
        </p:nvSpPr>
        <p:spPr>
          <a:xfrm>
            <a:off x="44803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36" name="Shape 636"/>
          <p:cNvSpPr txBox="1"/>
          <p:nvPr/>
        </p:nvSpPr>
        <p:spPr>
          <a:xfrm>
            <a:off x="42517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7" name="Shape 637"/>
          <p:cNvSpPr txBox="1"/>
          <p:nvPr/>
        </p:nvSpPr>
        <p:spPr>
          <a:xfrm>
            <a:off x="44883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8" name="Shape 638"/>
          <p:cNvSpPr txBox="1"/>
          <p:nvPr/>
        </p:nvSpPr>
        <p:spPr>
          <a:xfrm>
            <a:off x="44891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9" name="Shape 639"/>
          <p:cNvSpPr txBox="1"/>
          <p:nvPr/>
        </p:nvSpPr>
        <p:spPr>
          <a:xfrm>
            <a:off x="4488367" y="3745140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0" name="Shape 640"/>
          <p:cNvSpPr txBox="1"/>
          <p:nvPr/>
        </p:nvSpPr>
        <p:spPr>
          <a:xfrm>
            <a:off x="4489159" y="3952293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1" name="Shape 641"/>
          <p:cNvSpPr txBox="1"/>
          <p:nvPr/>
        </p:nvSpPr>
        <p:spPr>
          <a:xfrm>
            <a:off x="44883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2" name="Shape 642"/>
          <p:cNvSpPr txBox="1"/>
          <p:nvPr/>
        </p:nvSpPr>
        <p:spPr>
          <a:xfrm>
            <a:off x="44891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3" name="Shape 643"/>
          <p:cNvSpPr txBox="1"/>
          <p:nvPr/>
        </p:nvSpPr>
        <p:spPr>
          <a:xfrm>
            <a:off x="44883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4" name="Shape 644"/>
          <p:cNvSpPr txBox="1"/>
          <p:nvPr/>
        </p:nvSpPr>
        <p:spPr>
          <a:xfrm>
            <a:off x="44891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5" name="Shape 645"/>
          <p:cNvSpPr txBox="1"/>
          <p:nvPr/>
        </p:nvSpPr>
        <p:spPr>
          <a:xfrm>
            <a:off x="48518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46" name="Shape 646"/>
          <p:cNvSpPr txBox="1"/>
          <p:nvPr/>
        </p:nvSpPr>
        <p:spPr>
          <a:xfrm>
            <a:off x="38737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7" name="Shape 647"/>
          <p:cNvSpPr txBox="1"/>
          <p:nvPr/>
        </p:nvSpPr>
        <p:spPr>
          <a:xfrm>
            <a:off x="38705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8" name="Shape 648"/>
          <p:cNvSpPr txBox="1"/>
          <p:nvPr/>
        </p:nvSpPr>
        <p:spPr>
          <a:xfrm>
            <a:off x="94952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9" name="Shape 649"/>
          <p:cNvSpPr/>
          <p:nvPr/>
        </p:nvSpPr>
        <p:spPr>
          <a:xfrm>
            <a:off x="81300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0" name="Shape 650"/>
          <p:cNvSpPr/>
          <p:nvPr/>
        </p:nvSpPr>
        <p:spPr>
          <a:xfrm>
            <a:off x="81300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1" name="Shape 651"/>
          <p:cNvSpPr/>
          <p:nvPr/>
        </p:nvSpPr>
        <p:spPr>
          <a:xfrm>
            <a:off x="55598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52" name="Shape 652"/>
          <p:cNvSpPr/>
          <p:nvPr/>
        </p:nvSpPr>
        <p:spPr>
          <a:xfrm>
            <a:off x="55598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53" name="Shape 653"/>
          <p:cNvSpPr/>
          <p:nvPr/>
        </p:nvSpPr>
        <p:spPr>
          <a:xfrm>
            <a:off x="55598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54" name="Shape 654"/>
          <p:cNvSpPr/>
          <p:nvPr/>
        </p:nvSpPr>
        <p:spPr>
          <a:xfrm>
            <a:off x="55598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55" name="Shape 655"/>
          <p:cNvSpPr txBox="1"/>
          <p:nvPr/>
        </p:nvSpPr>
        <p:spPr>
          <a:xfrm>
            <a:off x="95079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6" name="Shape 656"/>
          <p:cNvSpPr/>
          <p:nvPr/>
        </p:nvSpPr>
        <p:spPr>
          <a:xfrm>
            <a:off x="81379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7" name="Shape 657"/>
          <p:cNvSpPr/>
          <p:nvPr/>
        </p:nvSpPr>
        <p:spPr>
          <a:xfrm>
            <a:off x="81379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8" name="Shape 658"/>
          <p:cNvSpPr/>
          <p:nvPr/>
        </p:nvSpPr>
        <p:spPr>
          <a:xfrm>
            <a:off x="81379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9" name="Shape 659"/>
          <p:cNvSpPr/>
          <p:nvPr/>
        </p:nvSpPr>
        <p:spPr>
          <a:xfrm>
            <a:off x="81379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0" name="Shape 660"/>
          <p:cNvSpPr/>
          <p:nvPr/>
        </p:nvSpPr>
        <p:spPr>
          <a:xfrm>
            <a:off x="81379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1" name="Shape 661"/>
          <p:cNvSpPr/>
          <p:nvPr/>
        </p:nvSpPr>
        <p:spPr>
          <a:xfrm>
            <a:off x="55598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662" name="Shape 662"/>
          <p:cNvCxnSpPr/>
          <p:nvPr/>
        </p:nvCxnSpPr>
        <p:spPr>
          <a:xfrm>
            <a:off x="5572539" y="3892461"/>
            <a:ext cx="2565400" cy="151130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663" name="Shape 663"/>
          <p:cNvSpPr/>
          <p:nvPr/>
        </p:nvSpPr>
        <p:spPr>
          <a:xfrm>
            <a:off x="55598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664" name="Shape 664"/>
          <p:cNvCxnSpPr/>
          <p:nvPr/>
        </p:nvCxnSpPr>
        <p:spPr>
          <a:xfrm rot="10800000" flipH="1">
            <a:off x="5604289" y="3414713"/>
            <a:ext cx="2533650" cy="67310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65" name="Shape 665"/>
          <p:cNvSpPr/>
          <p:nvPr/>
        </p:nvSpPr>
        <p:spPr>
          <a:xfrm>
            <a:off x="81379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6" name="Shape 666"/>
          <p:cNvSpPr/>
          <p:nvPr/>
        </p:nvSpPr>
        <p:spPr>
          <a:xfrm>
            <a:off x="1981200" y="25146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67" name="Shape 667"/>
          <p:cNvCxnSpPr>
            <a:stCxn id="666" idx="2"/>
          </p:cNvCxnSpPr>
          <p:nvPr/>
        </p:nvCxnSpPr>
        <p:spPr>
          <a:xfrm rot="-5400000" flipH="1">
            <a:off x="3071100" y="2467688"/>
            <a:ext cx="1119300" cy="1698900"/>
          </a:xfrm>
          <a:prstGeom prst="bentConnector2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hape 675"/>
          <p:cNvSpPr/>
          <p:nvPr/>
        </p:nvSpPr>
        <p:spPr>
          <a:xfrm>
            <a:off x="47851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76" name="Shape 676"/>
          <p:cNvSpPr/>
          <p:nvPr/>
        </p:nvSpPr>
        <p:spPr>
          <a:xfrm>
            <a:off x="47851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77" name="Shape 677"/>
          <p:cNvSpPr/>
          <p:nvPr/>
        </p:nvSpPr>
        <p:spPr>
          <a:xfrm>
            <a:off x="47851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8" name="Shape 678"/>
          <p:cNvSpPr/>
          <p:nvPr/>
        </p:nvSpPr>
        <p:spPr>
          <a:xfrm>
            <a:off x="47851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9" name="Shape 679"/>
          <p:cNvSpPr/>
          <p:nvPr/>
        </p:nvSpPr>
        <p:spPr>
          <a:xfrm>
            <a:off x="47851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80" name="Shape 680"/>
          <p:cNvSpPr/>
          <p:nvPr/>
        </p:nvSpPr>
        <p:spPr>
          <a:xfrm>
            <a:off x="47851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81" name="Shape 681"/>
          <p:cNvSpPr/>
          <p:nvPr/>
        </p:nvSpPr>
        <p:spPr>
          <a:xfrm>
            <a:off x="4785139" y="37623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82" name="Shape 682"/>
          <p:cNvSpPr/>
          <p:nvPr/>
        </p:nvSpPr>
        <p:spPr>
          <a:xfrm>
            <a:off x="4785139" y="39909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83" name="Shape 683"/>
          <p:cNvSpPr txBox="1"/>
          <p:nvPr/>
        </p:nvSpPr>
        <p:spPr>
          <a:xfrm>
            <a:off x="4737870" y="49465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84" name="Shape 684"/>
          <p:cNvSpPr txBox="1"/>
          <p:nvPr/>
        </p:nvSpPr>
        <p:spPr>
          <a:xfrm>
            <a:off x="80125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85" name="Shape 685"/>
          <p:cNvSpPr/>
          <p:nvPr/>
        </p:nvSpPr>
        <p:spPr>
          <a:xfrm>
            <a:off x="81300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6" name="Shape 686"/>
          <p:cNvSpPr/>
          <p:nvPr/>
        </p:nvSpPr>
        <p:spPr>
          <a:xfrm>
            <a:off x="8130003" y="33813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687" name="Shape 687"/>
          <p:cNvCxnSpPr/>
          <p:nvPr/>
        </p:nvCxnSpPr>
        <p:spPr>
          <a:xfrm>
            <a:off x="56106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688" name="Shape 688"/>
          <p:cNvCxnSpPr/>
          <p:nvPr/>
        </p:nvCxnSpPr>
        <p:spPr>
          <a:xfrm rot="10800000" flipH="1">
            <a:off x="56106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89" name="Shape 689"/>
          <p:cNvCxnSpPr/>
          <p:nvPr/>
        </p:nvCxnSpPr>
        <p:spPr>
          <a:xfrm rot="10800000" flipH="1">
            <a:off x="5636039" y="29702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90" name="Shape 690"/>
          <p:cNvCxnSpPr/>
          <p:nvPr/>
        </p:nvCxnSpPr>
        <p:spPr>
          <a:xfrm rot="10800000" flipH="1">
            <a:off x="55852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91" name="Shape 691"/>
          <p:cNvSpPr txBox="1"/>
          <p:nvPr/>
        </p:nvSpPr>
        <p:spPr>
          <a:xfrm>
            <a:off x="80649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92" name="Shape 692"/>
          <p:cNvSpPr/>
          <p:nvPr/>
        </p:nvSpPr>
        <p:spPr>
          <a:xfrm>
            <a:off x="44803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3" name="Shape 693"/>
          <p:cNvSpPr/>
          <p:nvPr/>
        </p:nvSpPr>
        <p:spPr>
          <a:xfrm>
            <a:off x="44803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4" name="Shape 694"/>
          <p:cNvSpPr/>
          <p:nvPr/>
        </p:nvSpPr>
        <p:spPr>
          <a:xfrm>
            <a:off x="44803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5" name="Shape 695"/>
          <p:cNvSpPr/>
          <p:nvPr/>
        </p:nvSpPr>
        <p:spPr>
          <a:xfrm>
            <a:off x="44803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6" name="Shape 696"/>
          <p:cNvSpPr/>
          <p:nvPr/>
        </p:nvSpPr>
        <p:spPr>
          <a:xfrm>
            <a:off x="44803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7" name="Shape 697"/>
          <p:cNvSpPr/>
          <p:nvPr/>
        </p:nvSpPr>
        <p:spPr>
          <a:xfrm>
            <a:off x="44803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8" name="Shape 698"/>
          <p:cNvSpPr/>
          <p:nvPr/>
        </p:nvSpPr>
        <p:spPr>
          <a:xfrm>
            <a:off x="44803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699" name="Shape 699"/>
          <p:cNvSpPr/>
          <p:nvPr/>
        </p:nvSpPr>
        <p:spPr>
          <a:xfrm>
            <a:off x="44803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00" name="Shape 700"/>
          <p:cNvSpPr txBox="1"/>
          <p:nvPr/>
        </p:nvSpPr>
        <p:spPr>
          <a:xfrm>
            <a:off x="42517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1" name="Shape 701"/>
          <p:cNvSpPr txBox="1"/>
          <p:nvPr/>
        </p:nvSpPr>
        <p:spPr>
          <a:xfrm>
            <a:off x="44883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2" name="Shape 702"/>
          <p:cNvSpPr txBox="1"/>
          <p:nvPr/>
        </p:nvSpPr>
        <p:spPr>
          <a:xfrm>
            <a:off x="44891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3" name="Shape 703"/>
          <p:cNvSpPr txBox="1"/>
          <p:nvPr/>
        </p:nvSpPr>
        <p:spPr>
          <a:xfrm>
            <a:off x="4488367" y="3745140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4" name="Shape 704"/>
          <p:cNvSpPr txBox="1"/>
          <p:nvPr/>
        </p:nvSpPr>
        <p:spPr>
          <a:xfrm>
            <a:off x="4489160" y="3952293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5" name="Shape 705"/>
          <p:cNvSpPr txBox="1"/>
          <p:nvPr/>
        </p:nvSpPr>
        <p:spPr>
          <a:xfrm>
            <a:off x="44883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6" name="Shape 706"/>
          <p:cNvSpPr txBox="1"/>
          <p:nvPr/>
        </p:nvSpPr>
        <p:spPr>
          <a:xfrm>
            <a:off x="44891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7" name="Shape 707"/>
          <p:cNvSpPr txBox="1"/>
          <p:nvPr/>
        </p:nvSpPr>
        <p:spPr>
          <a:xfrm>
            <a:off x="44883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8" name="Shape 708"/>
          <p:cNvSpPr txBox="1"/>
          <p:nvPr/>
        </p:nvSpPr>
        <p:spPr>
          <a:xfrm>
            <a:off x="44891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9" name="Shape 709"/>
          <p:cNvSpPr txBox="1"/>
          <p:nvPr/>
        </p:nvSpPr>
        <p:spPr>
          <a:xfrm>
            <a:off x="48518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10" name="Shape 710"/>
          <p:cNvSpPr txBox="1"/>
          <p:nvPr/>
        </p:nvSpPr>
        <p:spPr>
          <a:xfrm>
            <a:off x="38737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1" name="Shape 711"/>
          <p:cNvSpPr txBox="1"/>
          <p:nvPr/>
        </p:nvSpPr>
        <p:spPr>
          <a:xfrm>
            <a:off x="38705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2" name="Shape 712"/>
          <p:cNvSpPr txBox="1"/>
          <p:nvPr/>
        </p:nvSpPr>
        <p:spPr>
          <a:xfrm>
            <a:off x="94952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3" name="Shape 713"/>
          <p:cNvSpPr/>
          <p:nvPr/>
        </p:nvSpPr>
        <p:spPr>
          <a:xfrm>
            <a:off x="81300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4" name="Shape 714"/>
          <p:cNvSpPr/>
          <p:nvPr/>
        </p:nvSpPr>
        <p:spPr>
          <a:xfrm>
            <a:off x="81300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5" name="Shape 715"/>
          <p:cNvSpPr/>
          <p:nvPr/>
        </p:nvSpPr>
        <p:spPr>
          <a:xfrm>
            <a:off x="55598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16" name="Shape 716"/>
          <p:cNvSpPr/>
          <p:nvPr/>
        </p:nvSpPr>
        <p:spPr>
          <a:xfrm>
            <a:off x="55598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17" name="Shape 717"/>
          <p:cNvSpPr/>
          <p:nvPr/>
        </p:nvSpPr>
        <p:spPr>
          <a:xfrm>
            <a:off x="55598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18" name="Shape 718"/>
          <p:cNvSpPr/>
          <p:nvPr/>
        </p:nvSpPr>
        <p:spPr>
          <a:xfrm>
            <a:off x="55598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19" name="Shape 719"/>
          <p:cNvSpPr txBox="1"/>
          <p:nvPr/>
        </p:nvSpPr>
        <p:spPr>
          <a:xfrm>
            <a:off x="95079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0" name="Shape 720"/>
          <p:cNvSpPr/>
          <p:nvPr/>
        </p:nvSpPr>
        <p:spPr>
          <a:xfrm>
            <a:off x="81379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1" name="Shape 721"/>
          <p:cNvSpPr/>
          <p:nvPr/>
        </p:nvSpPr>
        <p:spPr>
          <a:xfrm>
            <a:off x="81379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2" name="Shape 722"/>
          <p:cNvSpPr/>
          <p:nvPr/>
        </p:nvSpPr>
        <p:spPr>
          <a:xfrm>
            <a:off x="81379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3" name="Shape 723"/>
          <p:cNvSpPr/>
          <p:nvPr/>
        </p:nvSpPr>
        <p:spPr>
          <a:xfrm>
            <a:off x="81379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4" name="Shape 724"/>
          <p:cNvSpPr/>
          <p:nvPr/>
        </p:nvSpPr>
        <p:spPr>
          <a:xfrm>
            <a:off x="81379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5" name="Shape 725"/>
          <p:cNvSpPr/>
          <p:nvPr/>
        </p:nvSpPr>
        <p:spPr>
          <a:xfrm>
            <a:off x="55598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726" name="Shape 726"/>
          <p:cNvCxnSpPr/>
          <p:nvPr/>
        </p:nvCxnSpPr>
        <p:spPr>
          <a:xfrm>
            <a:off x="5604289" y="4087813"/>
            <a:ext cx="2533650" cy="1603057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727" name="Shape 727"/>
          <p:cNvSpPr/>
          <p:nvPr/>
        </p:nvSpPr>
        <p:spPr>
          <a:xfrm>
            <a:off x="55598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728" name="Shape 728"/>
          <p:cNvCxnSpPr/>
          <p:nvPr/>
        </p:nvCxnSpPr>
        <p:spPr>
          <a:xfrm rot="10800000" flipH="1">
            <a:off x="5610639" y="3443287"/>
            <a:ext cx="2527300" cy="433386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9" name="Shape 729"/>
          <p:cNvSpPr/>
          <p:nvPr/>
        </p:nvSpPr>
        <p:spPr>
          <a:xfrm>
            <a:off x="81379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0" name="Shape 730"/>
          <p:cNvSpPr/>
          <p:nvPr/>
        </p:nvSpPr>
        <p:spPr>
          <a:xfrm>
            <a:off x="1981200" y="25146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731" name="Shape 731"/>
          <p:cNvCxnSpPr>
            <a:stCxn id="730" idx="2"/>
          </p:cNvCxnSpPr>
          <p:nvPr/>
        </p:nvCxnSpPr>
        <p:spPr>
          <a:xfrm rot="-5400000" flipH="1">
            <a:off x="3071100" y="2467688"/>
            <a:ext cx="1119300" cy="1698900"/>
          </a:xfrm>
          <a:prstGeom prst="bentConnector2">
            <a:avLst/>
          </a:prstGeom>
          <a:noFill/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3" name="Shape 6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处理缺页故障</a:t>
            </a:r>
            <a:endParaRPr lang="zh-CN" altLang="en-US"/>
          </a:p>
        </p:txBody>
      </p:sp>
      <p:sp>
        <p:nvSpPr>
          <p:cNvPr id="610" name="Shape 6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页缺失导致</a:t>
            </a:r>
            <a:r>
              <a:rPr lang="zh-CN" altLang="en-US" b="1"/>
              <a:t>缺页故障</a:t>
            </a:r>
            <a:r>
              <a:rPr lang="zh-CN" altLang="en-US"/>
              <a:t>（</a:t>
            </a:r>
            <a:r>
              <a:rPr lang="zh-CN" altLang="en-US" b="1"/>
              <a:t>异常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缺页故障处理程序选择一个将被替换的对象（下图中的</a:t>
            </a:r>
            <a:r>
              <a:rPr lang="en-GB"/>
              <a:t> VP 4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hape 738"/>
          <p:cNvSpPr txBox="1">
            <a:spLocks noGrp="1"/>
          </p:cNvSpPr>
          <p:nvPr>
            <p:ph type="body" idx="1"/>
          </p:nvPr>
        </p:nvSpPr>
        <p:spPr>
          <a:xfrm>
            <a:off x="529167" y="1196975"/>
            <a:ext cx="10528300" cy="49720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页缺失导致缺页故障（异常）</a:t>
            </a:r>
            <a:endParaRPr lang="zh-CN" altLang="en-US"/>
          </a:p>
          <a:p>
            <a:r>
              <a:rPr lang="zh-CN" altLang="en-US"/>
              <a:t>缺页故障处理程序选择一个将被替换的对象（下图中的 </a:t>
            </a:r>
            <a:r>
              <a:rPr lang="en-US" altLang="zh-CN"/>
              <a:t>VP 4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引发故障的指令已重启：页命中！</a:t>
            </a:r>
            <a:endParaRPr lang="zh-CN" altLang="en-US"/>
          </a:p>
        </p:txBody>
      </p:sp>
      <p:sp>
        <p:nvSpPr>
          <p:cNvPr id="739" name="Shape 739"/>
          <p:cNvSpPr/>
          <p:nvPr/>
        </p:nvSpPr>
        <p:spPr>
          <a:xfrm>
            <a:off x="4785139" y="44481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0" name="Shape 740"/>
          <p:cNvSpPr/>
          <p:nvPr/>
        </p:nvSpPr>
        <p:spPr>
          <a:xfrm>
            <a:off x="4785139" y="4676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1" name="Shape 741"/>
          <p:cNvSpPr/>
          <p:nvPr/>
        </p:nvSpPr>
        <p:spPr>
          <a:xfrm>
            <a:off x="4785139" y="4219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2" name="Shape 742"/>
          <p:cNvSpPr/>
          <p:nvPr/>
        </p:nvSpPr>
        <p:spPr>
          <a:xfrm>
            <a:off x="4785139" y="30765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3" name="Shape 743"/>
          <p:cNvSpPr/>
          <p:nvPr/>
        </p:nvSpPr>
        <p:spPr>
          <a:xfrm>
            <a:off x="4785139" y="33051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4" name="Shape 744"/>
          <p:cNvSpPr/>
          <p:nvPr/>
        </p:nvSpPr>
        <p:spPr>
          <a:xfrm>
            <a:off x="4785139" y="35337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5" name="Shape 745"/>
          <p:cNvSpPr/>
          <p:nvPr/>
        </p:nvSpPr>
        <p:spPr>
          <a:xfrm>
            <a:off x="4785139" y="37623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6" name="Shape 746"/>
          <p:cNvSpPr/>
          <p:nvPr/>
        </p:nvSpPr>
        <p:spPr>
          <a:xfrm>
            <a:off x="4785139" y="39909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47" name="Shape 747"/>
          <p:cNvSpPr txBox="1"/>
          <p:nvPr/>
        </p:nvSpPr>
        <p:spPr>
          <a:xfrm>
            <a:off x="4737870" y="49465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48" name="Shape 748"/>
          <p:cNvSpPr txBox="1"/>
          <p:nvPr/>
        </p:nvSpPr>
        <p:spPr>
          <a:xfrm>
            <a:off x="8012528" y="21336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49" name="Shape 749"/>
          <p:cNvSpPr/>
          <p:nvPr/>
        </p:nvSpPr>
        <p:spPr>
          <a:xfrm>
            <a:off x="8130003" y="31720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0" name="Shape 750"/>
          <p:cNvSpPr/>
          <p:nvPr/>
        </p:nvSpPr>
        <p:spPr>
          <a:xfrm>
            <a:off x="8130003" y="33813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51" name="Shape 751"/>
          <p:cNvCxnSpPr/>
          <p:nvPr/>
        </p:nvCxnSpPr>
        <p:spPr>
          <a:xfrm>
            <a:off x="5610639" y="4568826"/>
            <a:ext cx="2527300" cy="14509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752" name="Shape 752"/>
          <p:cNvCxnSpPr/>
          <p:nvPr/>
        </p:nvCxnSpPr>
        <p:spPr>
          <a:xfrm rot="10800000" flipH="1">
            <a:off x="5610639" y="31988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53" name="Shape 753"/>
          <p:cNvCxnSpPr/>
          <p:nvPr/>
        </p:nvCxnSpPr>
        <p:spPr>
          <a:xfrm rot="10800000" flipH="1">
            <a:off x="5636039" y="29702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54" name="Shape 754"/>
          <p:cNvCxnSpPr/>
          <p:nvPr/>
        </p:nvCxnSpPr>
        <p:spPr>
          <a:xfrm rot="10800000" flipH="1">
            <a:off x="5585239" y="27416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55" name="Shape 755"/>
          <p:cNvSpPr txBox="1"/>
          <p:nvPr/>
        </p:nvSpPr>
        <p:spPr>
          <a:xfrm>
            <a:off x="8064915" y="41306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56" name="Shape 756"/>
          <p:cNvSpPr/>
          <p:nvPr/>
        </p:nvSpPr>
        <p:spPr>
          <a:xfrm>
            <a:off x="4480339" y="4448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57" name="Shape 757"/>
          <p:cNvSpPr/>
          <p:nvPr/>
        </p:nvSpPr>
        <p:spPr>
          <a:xfrm>
            <a:off x="4480339" y="4676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58" name="Shape 758"/>
          <p:cNvSpPr/>
          <p:nvPr/>
        </p:nvSpPr>
        <p:spPr>
          <a:xfrm>
            <a:off x="4480339" y="4219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59" name="Shape 759"/>
          <p:cNvSpPr/>
          <p:nvPr/>
        </p:nvSpPr>
        <p:spPr>
          <a:xfrm>
            <a:off x="4480339" y="30765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60" name="Shape 760"/>
          <p:cNvSpPr/>
          <p:nvPr/>
        </p:nvSpPr>
        <p:spPr>
          <a:xfrm>
            <a:off x="4480339" y="33051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61" name="Shape 761"/>
          <p:cNvSpPr/>
          <p:nvPr/>
        </p:nvSpPr>
        <p:spPr>
          <a:xfrm>
            <a:off x="4480339" y="35337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62" name="Shape 762"/>
          <p:cNvSpPr/>
          <p:nvPr/>
        </p:nvSpPr>
        <p:spPr>
          <a:xfrm>
            <a:off x="4480339" y="37623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63" name="Shape 763"/>
          <p:cNvSpPr/>
          <p:nvPr/>
        </p:nvSpPr>
        <p:spPr>
          <a:xfrm>
            <a:off x="4480339" y="39909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64" name="Shape 764"/>
          <p:cNvSpPr txBox="1"/>
          <p:nvPr/>
        </p:nvSpPr>
        <p:spPr>
          <a:xfrm>
            <a:off x="4251739" y="27717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5" name="Shape 765"/>
          <p:cNvSpPr txBox="1"/>
          <p:nvPr/>
        </p:nvSpPr>
        <p:spPr>
          <a:xfrm>
            <a:off x="4488367" y="30464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6" name="Shape 766"/>
          <p:cNvSpPr txBox="1"/>
          <p:nvPr/>
        </p:nvSpPr>
        <p:spPr>
          <a:xfrm>
            <a:off x="4489159" y="32793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7" name="Shape 767"/>
          <p:cNvSpPr txBox="1"/>
          <p:nvPr/>
        </p:nvSpPr>
        <p:spPr>
          <a:xfrm>
            <a:off x="4488367" y="3745140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FF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8" name="Shape 768"/>
          <p:cNvSpPr txBox="1"/>
          <p:nvPr/>
        </p:nvSpPr>
        <p:spPr>
          <a:xfrm>
            <a:off x="4489160" y="3952293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9" name="Shape 769"/>
          <p:cNvSpPr txBox="1"/>
          <p:nvPr/>
        </p:nvSpPr>
        <p:spPr>
          <a:xfrm>
            <a:off x="4488367" y="41916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0" name="Shape 770"/>
          <p:cNvSpPr txBox="1"/>
          <p:nvPr/>
        </p:nvSpPr>
        <p:spPr>
          <a:xfrm>
            <a:off x="4489159" y="46510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1" name="Shape 771"/>
          <p:cNvSpPr txBox="1"/>
          <p:nvPr/>
        </p:nvSpPr>
        <p:spPr>
          <a:xfrm>
            <a:off x="4488367" y="44181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2" name="Shape 772"/>
          <p:cNvSpPr txBox="1"/>
          <p:nvPr/>
        </p:nvSpPr>
        <p:spPr>
          <a:xfrm>
            <a:off x="4489159" y="35122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3" name="Shape 773"/>
          <p:cNvSpPr txBox="1"/>
          <p:nvPr/>
        </p:nvSpPr>
        <p:spPr>
          <a:xfrm>
            <a:off x="4851814" y="22828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74" name="Shape 774"/>
          <p:cNvSpPr txBox="1"/>
          <p:nvPr/>
        </p:nvSpPr>
        <p:spPr>
          <a:xfrm>
            <a:off x="3873737" y="30113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5" name="Shape 775"/>
          <p:cNvSpPr txBox="1"/>
          <p:nvPr/>
        </p:nvSpPr>
        <p:spPr>
          <a:xfrm>
            <a:off x="3870562" y="46242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6" name="Shape 776"/>
          <p:cNvSpPr txBox="1"/>
          <p:nvPr/>
        </p:nvSpPr>
        <p:spPr>
          <a:xfrm>
            <a:off x="9495252" y="26812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7" name="Shape 777"/>
          <p:cNvSpPr/>
          <p:nvPr/>
        </p:nvSpPr>
        <p:spPr>
          <a:xfrm>
            <a:off x="8130003" y="29464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8" name="Shape 778"/>
          <p:cNvSpPr/>
          <p:nvPr/>
        </p:nvSpPr>
        <p:spPr>
          <a:xfrm>
            <a:off x="8130003" y="27178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9" name="Shape 779"/>
          <p:cNvSpPr/>
          <p:nvPr/>
        </p:nvSpPr>
        <p:spPr>
          <a:xfrm>
            <a:off x="5559839" y="47752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80" name="Shape 780"/>
          <p:cNvSpPr/>
          <p:nvPr/>
        </p:nvSpPr>
        <p:spPr>
          <a:xfrm>
            <a:off x="5559839" y="4546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81" name="Shape 781"/>
          <p:cNvSpPr/>
          <p:nvPr/>
        </p:nvSpPr>
        <p:spPr>
          <a:xfrm>
            <a:off x="5559839" y="36385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82" name="Shape 782"/>
          <p:cNvSpPr/>
          <p:nvPr/>
        </p:nvSpPr>
        <p:spPr>
          <a:xfrm>
            <a:off x="5559839" y="34036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783" name="Shape 783"/>
          <p:cNvSpPr txBox="1"/>
          <p:nvPr/>
        </p:nvSpPr>
        <p:spPr>
          <a:xfrm>
            <a:off x="9507952" y="33416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4" name="Shape 784"/>
          <p:cNvSpPr/>
          <p:nvPr/>
        </p:nvSpPr>
        <p:spPr>
          <a:xfrm>
            <a:off x="8137939" y="47593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5" name="Shape 785"/>
          <p:cNvSpPr/>
          <p:nvPr/>
        </p:nvSpPr>
        <p:spPr>
          <a:xfrm>
            <a:off x="8137939" y="50698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6" name="Shape 786"/>
          <p:cNvSpPr/>
          <p:nvPr/>
        </p:nvSpPr>
        <p:spPr>
          <a:xfrm>
            <a:off x="8137939" y="56908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7" name="Shape 787"/>
          <p:cNvSpPr/>
          <p:nvPr/>
        </p:nvSpPr>
        <p:spPr>
          <a:xfrm>
            <a:off x="8137939" y="60013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8" name="Shape 788"/>
          <p:cNvSpPr/>
          <p:nvPr/>
        </p:nvSpPr>
        <p:spPr>
          <a:xfrm>
            <a:off x="8137939" y="63119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9" name="Shape 789"/>
          <p:cNvSpPr/>
          <p:nvPr/>
        </p:nvSpPr>
        <p:spPr>
          <a:xfrm>
            <a:off x="5559839" y="38477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790" name="Shape 790"/>
          <p:cNvCxnSpPr/>
          <p:nvPr/>
        </p:nvCxnSpPr>
        <p:spPr>
          <a:xfrm>
            <a:off x="5604289" y="4087813"/>
            <a:ext cx="2533650" cy="1603057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791" name="Shape 791"/>
          <p:cNvSpPr/>
          <p:nvPr/>
        </p:nvSpPr>
        <p:spPr>
          <a:xfrm>
            <a:off x="5559839" y="40576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792" name="Shape 792"/>
          <p:cNvCxnSpPr/>
          <p:nvPr/>
        </p:nvCxnSpPr>
        <p:spPr>
          <a:xfrm rot="10800000" flipH="1">
            <a:off x="5610639" y="3443287"/>
            <a:ext cx="2527300" cy="433386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93" name="Shape 793"/>
          <p:cNvSpPr/>
          <p:nvPr/>
        </p:nvSpPr>
        <p:spPr>
          <a:xfrm>
            <a:off x="8137939" y="53803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4" name="Shape 794"/>
          <p:cNvSpPr/>
          <p:nvPr/>
        </p:nvSpPr>
        <p:spPr>
          <a:xfrm>
            <a:off x="1981200" y="2514600"/>
            <a:ext cx="1600200" cy="242888"/>
          </a:xfrm>
          <a:prstGeom prst="rect">
            <a:avLst/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795" name="Shape 795"/>
          <p:cNvCxnSpPr>
            <a:stCxn id="794" idx="2"/>
            <a:endCxn id="762" idx="1"/>
          </p:cNvCxnSpPr>
          <p:nvPr/>
        </p:nvCxnSpPr>
        <p:spPr>
          <a:xfrm rot="-5400000" flipH="1">
            <a:off x="3071100" y="2467688"/>
            <a:ext cx="1119300" cy="1698900"/>
          </a:xfrm>
          <a:prstGeom prst="bentConnector2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96" name="Shape 796"/>
          <p:cNvSpPr txBox="1"/>
          <p:nvPr/>
        </p:nvSpPr>
        <p:spPr>
          <a:xfrm>
            <a:off x="836295" y="5854700"/>
            <a:ext cx="6783705" cy="646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关键点</a:t>
            </a:r>
            <a:r>
              <a:rPr lang="zh-CN" altLang="en-US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只有在缺失时才将页复制到</a:t>
            </a:r>
            <a:r>
              <a:rPr lang="en-US" altLang="zh-CN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的方式被称为</a:t>
            </a:r>
            <a:r>
              <a:rPr lang="zh-CN" altLang="en-US" sz="1800" b="1" i="1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按需分页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3" name="Shape 6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处理缺页故障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801"/>
          <p:cNvSpPr/>
          <p:nvPr/>
        </p:nvSpPr>
        <p:spPr>
          <a:xfrm>
            <a:off x="4785139" y="38512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02" name="Shape 8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分配页</a:t>
            </a:r>
            <a:endParaRPr lang="zh-CN" altLang="en-US"/>
          </a:p>
        </p:txBody>
      </p:sp>
      <p:sp>
        <p:nvSpPr>
          <p:cNvPr id="803" name="Shape 803"/>
          <p:cNvSpPr txBox="1">
            <a:spLocks noGrp="1"/>
          </p:cNvSpPr>
          <p:nvPr>
            <p:ph type="body" idx="1"/>
          </p:nvPr>
        </p:nvSpPr>
        <p:spPr>
          <a:xfrm>
            <a:off x="529167" y="1285875"/>
            <a:ext cx="10528300" cy="49720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分配虚存的一个新页（</a:t>
            </a:r>
            <a:r>
              <a:rPr lang="en-US" altLang="zh-CN"/>
              <a:t>VP5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 b="1"/>
              <a:t>只是建立映射</a:t>
            </a:r>
            <a:r>
              <a:rPr lang="en-US" altLang="zh-CN" b="1"/>
              <a:t>，</a:t>
            </a:r>
            <a:r>
              <a:rPr lang="zh-CN" altLang="en-US" b="1"/>
              <a:t>只有第一次访问才会真正</a:t>
            </a:r>
            <a:r>
              <a:rPr lang="zh-CN" altLang="en-US" b="1"/>
              <a:t>按需加载到内存</a:t>
            </a:r>
            <a:endParaRPr lang="zh-CN" altLang="en-US" b="1"/>
          </a:p>
        </p:txBody>
      </p:sp>
      <p:sp>
        <p:nvSpPr>
          <p:cNvPr id="804" name="Shape 804"/>
          <p:cNvSpPr/>
          <p:nvPr/>
        </p:nvSpPr>
        <p:spPr>
          <a:xfrm>
            <a:off x="4785139" y="40798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05" name="Shape 805"/>
          <p:cNvSpPr/>
          <p:nvPr/>
        </p:nvSpPr>
        <p:spPr>
          <a:xfrm>
            <a:off x="4785139" y="43084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06" name="Shape 806"/>
          <p:cNvSpPr/>
          <p:nvPr/>
        </p:nvSpPr>
        <p:spPr>
          <a:xfrm>
            <a:off x="4785139" y="2708275"/>
            <a:ext cx="16002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7" name="Shape 807"/>
          <p:cNvSpPr/>
          <p:nvPr/>
        </p:nvSpPr>
        <p:spPr>
          <a:xfrm>
            <a:off x="4785139" y="29368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08" name="Shape 808"/>
          <p:cNvSpPr/>
          <p:nvPr/>
        </p:nvSpPr>
        <p:spPr>
          <a:xfrm>
            <a:off x="4785139" y="31654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09" name="Shape 809"/>
          <p:cNvSpPr/>
          <p:nvPr/>
        </p:nvSpPr>
        <p:spPr>
          <a:xfrm>
            <a:off x="4785139" y="3394075"/>
            <a:ext cx="16002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10" name="Shape 810"/>
          <p:cNvSpPr/>
          <p:nvPr/>
        </p:nvSpPr>
        <p:spPr>
          <a:xfrm>
            <a:off x="4785139" y="3622675"/>
            <a:ext cx="1600200" cy="228600"/>
          </a:xfrm>
          <a:prstGeom prst="rect">
            <a:avLst/>
          </a:prstGeom>
          <a:solidFill>
            <a:srgbClr val="D8D8D8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11" name="Shape 811"/>
          <p:cNvSpPr txBox="1"/>
          <p:nvPr/>
        </p:nvSpPr>
        <p:spPr>
          <a:xfrm>
            <a:off x="4737870" y="4578261"/>
            <a:ext cx="1690688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常驻内存的页表（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12" name="Shape 812"/>
          <p:cNvSpPr txBox="1"/>
          <p:nvPr/>
        </p:nvSpPr>
        <p:spPr>
          <a:xfrm>
            <a:off x="8012528" y="1765300"/>
            <a:ext cx="1627153" cy="5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物理内存（</a:t>
            </a:r>
            <a:r>
              <a:rPr lang="en-US" altLang="zh-CN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13" name="Shape 813"/>
          <p:cNvSpPr/>
          <p:nvPr/>
        </p:nvSpPr>
        <p:spPr>
          <a:xfrm>
            <a:off x="8130003" y="2803792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4" name="Shape 814"/>
          <p:cNvSpPr/>
          <p:nvPr/>
        </p:nvSpPr>
        <p:spPr>
          <a:xfrm>
            <a:off x="8130003" y="3013075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815" name="Shape 815"/>
          <p:cNvCxnSpPr/>
          <p:nvPr/>
        </p:nvCxnSpPr>
        <p:spPr>
          <a:xfrm>
            <a:off x="5610640" y="4200525"/>
            <a:ext cx="2519363" cy="173736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cxnSp>
        <p:nvCxnSpPr>
          <p:cNvPr id="816" name="Shape 816"/>
          <p:cNvCxnSpPr/>
          <p:nvPr/>
        </p:nvCxnSpPr>
        <p:spPr>
          <a:xfrm rot="10800000" flipH="1">
            <a:off x="5610639" y="2830513"/>
            <a:ext cx="2527300" cy="16129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17" name="Shape 817"/>
          <p:cNvCxnSpPr/>
          <p:nvPr/>
        </p:nvCxnSpPr>
        <p:spPr>
          <a:xfrm rot="10800000" flipH="1">
            <a:off x="5636039" y="2601913"/>
            <a:ext cx="2501900" cy="698500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18" name="Shape 818"/>
          <p:cNvCxnSpPr/>
          <p:nvPr/>
        </p:nvCxnSpPr>
        <p:spPr>
          <a:xfrm rot="10800000" flipH="1">
            <a:off x="5585239" y="2373314"/>
            <a:ext cx="2552700" cy="701675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19" name="Shape 819"/>
          <p:cNvSpPr txBox="1"/>
          <p:nvPr/>
        </p:nvSpPr>
        <p:spPr>
          <a:xfrm>
            <a:off x="8064915" y="3762375"/>
            <a:ext cx="1541463" cy="57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</a:t>
            </a: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拟内存</a:t>
            </a:r>
            <a:endParaRPr lang="en-US" altLang="zh-CN" sz="1600" b="1" dirty="0" smtClean="0">
              <a:solidFill>
                <a:srgbClr val="595959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（磁盘）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20" name="Shape 820"/>
          <p:cNvSpPr/>
          <p:nvPr/>
        </p:nvSpPr>
        <p:spPr>
          <a:xfrm>
            <a:off x="4480339" y="40798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1" name="Shape 821"/>
          <p:cNvSpPr/>
          <p:nvPr/>
        </p:nvSpPr>
        <p:spPr>
          <a:xfrm>
            <a:off x="4480339" y="43084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2" name="Shape 822"/>
          <p:cNvSpPr/>
          <p:nvPr/>
        </p:nvSpPr>
        <p:spPr>
          <a:xfrm>
            <a:off x="4480339" y="38512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3" name="Shape 823"/>
          <p:cNvSpPr/>
          <p:nvPr/>
        </p:nvSpPr>
        <p:spPr>
          <a:xfrm>
            <a:off x="4480339" y="27082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4" name="Shape 824"/>
          <p:cNvSpPr/>
          <p:nvPr/>
        </p:nvSpPr>
        <p:spPr>
          <a:xfrm>
            <a:off x="4480339" y="29368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5" name="Shape 825"/>
          <p:cNvSpPr/>
          <p:nvPr/>
        </p:nvSpPr>
        <p:spPr>
          <a:xfrm>
            <a:off x="4480339" y="31654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6" name="Shape 826"/>
          <p:cNvSpPr/>
          <p:nvPr/>
        </p:nvSpPr>
        <p:spPr>
          <a:xfrm>
            <a:off x="4480339" y="33940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7" name="Shape 827"/>
          <p:cNvSpPr/>
          <p:nvPr/>
        </p:nvSpPr>
        <p:spPr>
          <a:xfrm>
            <a:off x="4480339" y="3622675"/>
            <a:ext cx="304800" cy="228600"/>
          </a:xfrm>
          <a:prstGeom prst="rect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28" name="Shape 828"/>
          <p:cNvSpPr txBox="1"/>
          <p:nvPr/>
        </p:nvSpPr>
        <p:spPr>
          <a:xfrm>
            <a:off x="4251739" y="2403476"/>
            <a:ext cx="685800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600" b="1" i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Valid</a:t>
            </a:r>
            <a:endParaRPr lang="en-GB" sz="1600" b="1" i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9" name="Shape 829"/>
          <p:cNvSpPr txBox="1"/>
          <p:nvPr/>
        </p:nvSpPr>
        <p:spPr>
          <a:xfrm>
            <a:off x="4488367" y="2678113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0" name="Shape 830"/>
          <p:cNvSpPr txBox="1"/>
          <p:nvPr/>
        </p:nvSpPr>
        <p:spPr>
          <a:xfrm>
            <a:off x="4489159" y="2911022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1" name="Shape 831"/>
          <p:cNvSpPr txBox="1"/>
          <p:nvPr/>
        </p:nvSpPr>
        <p:spPr>
          <a:xfrm>
            <a:off x="4488367" y="3376840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2" name="Shape 832"/>
          <p:cNvSpPr txBox="1"/>
          <p:nvPr/>
        </p:nvSpPr>
        <p:spPr>
          <a:xfrm>
            <a:off x="4489160" y="3583993"/>
            <a:ext cx="27312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3" name="Shape 833"/>
          <p:cNvSpPr txBox="1"/>
          <p:nvPr/>
        </p:nvSpPr>
        <p:spPr>
          <a:xfrm>
            <a:off x="4488367" y="382334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4" name="Shape 834"/>
          <p:cNvSpPr txBox="1"/>
          <p:nvPr/>
        </p:nvSpPr>
        <p:spPr>
          <a:xfrm>
            <a:off x="4489159" y="4282719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5" name="Shape 835"/>
          <p:cNvSpPr txBox="1"/>
          <p:nvPr/>
        </p:nvSpPr>
        <p:spPr>
          <a:xfrm>
            <a:off x="4488367" y="4049811"/>
            <a:ext cx="28098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6" name="Shape 836"/>
          <p:cNvSpPr txBox="1"/>
          <p:nvPr/>
        </p:nvSpPr>
        <p:spPr>
          <a:xfrm>
            <a:off x="4489159" y="3143931"/>
            <a:ext cx="279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7" name="Shape 837"/>
          <p:cNvSpPr txBox="1"/>
          <p:nvPr/>
        </p:nvSpPr>
        <p:spPr>
          <a:xfrm>
            <a:off x="4851814" y="1914526"/>
            <a:ext cx="1339126" cy="8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i="1" dirty="0" smtClean="0">
                <a:solidFill>
                  <a:srgbClr val="595959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物理页号或磁盘地址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38" name="Shape 838"/>
          <p:cNvSpPr txBox="1"/>
          <p:nvPr/>
        </p:nvSpPr>
        <p:spPr>
          <a:xfrm>
            <a:off x="3873737" y="26430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9" name="Shape 839"/>
          <p:cNvSpPr txBox="1"/>
          <p:nvPr/>
        </p:nvSpPr>
        <p:spPr>
          <a:xfrm>
            <a:off x="3870562" y="4255911"/>
            <a:ext cx="641243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0" name="Shape 840"/>
          <p:cNvSpPr txBox="1"/>
          <p:nvPr/>
        </p:nvSpPr>
        <p:spPr>
          <a:xfrm>
            <a:off x="9495252" y="23129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1" name="Shape 841"/>
          <p:cNvSpPr/>
          <p:nvPr/>
        </p:nvSpPr>
        <p:spPr>
          <a:xfrm>
            <a:off x="8130003" y="25781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2" name="Shape 842"/>
          <p:cNvSpPr/>
          <p:nvPr/>
        </p:nvSpPr>
        <p:spPr>
          <a:xfrm>
            <a:off x="8130003" y="2349500"/>
            <a:ext cx="1379537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3" name="Shape 843"/>
          <p:cNvSpPr/>
          <p:nvPr/>
        </p:nvSpPr>
        <p:spPr>
          <a:xfrm>
            <a:off x="5559839" y="44069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44" name="Shape 844"/>
          <p:cNvSpPr/>
          <p:nvPr/>
        </p:nvSpPr>
        <p:spPr>
          <a:xfrm>
            <a:off x="5559839" y="41783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45" name="Shape 845"/>
          <p:cNvSpPr/>
          <p:nvPr/>
        </p:nvSpPr>
        <p:spPr>
          <a:xfrm>
            <a:off x="5559839" y="32702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46" name="Shape 846"/>
          <p:cNvSpPr/>
          <p:nvPr/>
        </p:nvSpPr>
        <p:spPr>
          <a:xfrm>
            <a:off x="5559839" y="303530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847" name="Shape 847"/>
          <p:cNvSpPr txBox="1"/>
          <p:nvPr/>
        </p:nvSpPr>
        <p:spPr>
          <a:xfrm>
            <a:off x="9507952" y="2973389"/>
            <a:ext cx="550448" cy="33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3</a:t>
            </a:r>
            <a:endParaRPr lang="en-GB" sz="1600" b="1">
              <a:solidFill>
                <a:srgbClr val="5959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8" name="Shape 848"/>
          <p:cNvSpPr/>
          <p:nvPr/>
        </p:nvSpPr>
        <p:spPr>
          <a:xfrm>
            <a:off x="8137939" y="439102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9" name="Shape 849"/>
          <p:cNvSpPr/>
          <p:nvPr/>
        </p:nvSpPr>
        <p:spPr>
          <a:xfrm>
            <a:off x="8137939" y="470154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0" name="Shape 850"/>
          <p:cNvSpPr/>
          <p:nvPr/>
        </p:nvSpPr>
        <p:spPr>
          <a:xfrm>
            <a:off x="8137939" y="53225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4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1" name="Shape 851"/>
          <p:cNvSpPr/>
          <p:nvPr/>
        </p:nvSpPr>
        <p:spPr>
          <a:xfrm>
            <a:off x="8137939" y="593788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6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2" name="Shape 852"/>
          <p:cNvSpPr/>
          <p:nvPr/>
        </p:nvSpPr>
        <p:spPr>
          <a:xfrm>
            <a:off x="8137939" y="624840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7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3" name="Shape 853"/>
          <p:cNvSpPr/>
          <p:nvPr/>
        </p:nvSpPr>
        <p:spPr>
          <a:xfrm>
            <a:off x="5559839" y="3479444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854" name="Shape 854"/>
          <p:cNvCxnSpPr/>
          <p:nvPr/>
        </p:nvCxnSpPr>
        <p:spPr>
          <a:xfrm>
            <a:off x="5604289" y="3719513"/>
            <a:ext cx="2533650" cy="1603057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855" name="Shape 855"/>
          <p:cNvSpPr/>
          <p:nvPr/>
        </p:nvSpPr>
        <p:spPr>
          <a:xfrm>
            <a:off x="5559839" y="368935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856" name="Shape 856"/>
          <p:cNvCxnSpPr/>
          <p:nvPr/>
        </p:nvCxnSpPr>
        <p:spPr>
          <a:xfrm rot="10800000" flipH="1">
            <a:off x="5610639" y="3074987"/>
            <a:ext cx="2527300" cy="433386"/>
          </a:xfrm>
          <a:prstGeom prst="straightConnector1">
            <a:avLst/>
          </a:prstGeom>
          <a:noFill/>
          <a:ln w="19075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57" name="Shape 857"/>
          <p:cNvSpPr/>
          <p:nvPr/>
        </p:nvSpPr>
        <p:spPr>
          <a:xfrm>
            <a:off x="8137939" y="5012055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3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58" name="Shape 858"/>
          <p:cNvSpPr/>
          <p:nvPr/>
        </p:nvSpPr>
        <p:spPr>
          <a:xfrm>
            <a:off x="8137939" y="5627370"/>
            <a:ext cx="1379538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rgbClr val="00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5</a:t>
            </a:r>
            <a:endParaRPr lang="en-GB" b="1">
              <a:solidFill>
                <a:srgbClr val="00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859" name="Shape 859"/>
          <p:cNvCxnSpPr/>
          <p:nvPr/>
        </p:nvCxnSpPr>
        <p:spPr>
          <a:xfrm>
            <a:off x="5618577" y="3932835"/>
            <a:ext cx="2519363" cy="1737360"/>
          </a:xfrm>
          <a:prstGeom prst="straightConnector1">
            <a:avLst/>
          </a:prstGeom>
          <a:noFill/>
          <a:ln w="19075" cap="flat" cmpd="sng">
            <a:solidFill>
              <a:srgbClr val="FF0000"/>
            </a:solidFill>
            <a:prstDash val="dash"/>
            <a:miter lim="800000"/>
            <a:headEnd type="none" w="med" len="med"/>
            <a:tailEnd type="triangle" w="med" len="med"/>
          </a:ln>
        </p:spPr>
      </p:cxnSp>
      <p:sp>
        <p:nvSpPr>
          <p:cNvPr id="860" name="Shape 860"/>
          <p:cNvSpPr/>
          <p:nvPr/>
        </p:nvSpPr>
        <p:spPr>
          <a:xfrm>
            <a:off x="5567776" y="3910610"/>
            <a:ext cx="76200" cy="76200"/>
          </a:xfrm>
          <a:prstGeom prst="ellipse">
            <a:avLst/>
          </a:prstGeom>
          <a:solidFill>
            <a:srgbClr val="000066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Shape 1389"/>
          <p:cNvSpPr txBox="1">
            <a:spLocks noGrp="1"/>
          </p:cNvSpPr>
          <p:nvPr>
            <p:ph type="title"/>
          </p:nvPr>
        </p:nvSpPr>
        <p:spPr>
          <a:xfrm>
            <a:off x="156928" y="300831"/>
            <a:ext cx="10043980" cy="78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一个问题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90" name="Shape 1390"/>
          <p:cNvSpPr txBox="1"/>
          <p:nvPr/>
        </p:nvSpPr>
        <p:spPr>
          <a:xfrm rot="5400000">
            <a:off x="7469346" y="6339786"/>
            <a:ext cx="334685" cy="50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rtl="1">
              <a:lnSpc>
                <a:spcPct val="88000"/>
              </a:lnSpc>
            </a:pPr>
            <a:r>
              <a:rPr lang="en-GB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1" name="Shape 1391"/>
          <p:cNvSpPr/>
          <p:nvPr/>
        </p:nvSpPr>
        <p:spPr>
          <a:xfrm>
            <a:off x="7062788" y="17795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2" name="Shape 1392"/>
          <p:cNvSpPr/>
          <p:nvPr/>
        </p:nvSpPr>
        <p:spPr>
          <a:xfrm>
            <a:off x="7062788" y="20843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3" name="Shape 1393"/>
          <p:cNvSpPr/>
          <p:nvPr/>
        </p:nvSpPr>
        <p:spPr>
          <a:xfrm>
            <a:off x="7062788" y="23891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1023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4" name="Shape 1394"/>
          <p:cNvSpPr/>
          <p:nvPr/>
        </p:nvSpPr>
        <p:spPr>
          <a:xfrm>
            <a:off x="7062788" y="26939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1024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5" name="Shape 1395"/>
          <p:cNvSpPr/>
          <p:nvPr/>
        </p:nvSpPr>
        <p:spPr>
          <a:xfrm>
            <a:off x="7062788" y="29987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6" name="Shape 1396"/>
          <p:cNvSpPr/>
          <p:nvPr/>
        </p:nvSpPr>
        <p:spPr>
          <a:xfrm>
            <a:off x="7062788" y="33035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2047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7" name="Shape 1397"/>
          <p:cNvSpPr/>
          <p:nvPr/>
        </p:nvSpPr>
        <p:spPr>
          <a:xfrm>
            <a:off x="7062788" y="17795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98" name="Shape 1398"/>
          <p:cNvSpPr/>
          <p:nvPr/>
        </p:nvSpPr>
        <p:spPr>
          <a:xfrm>
            <a:off x="7062788" y="26939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99" name="Shape 1399"/>
          <p:cNvSpPr/>
          <p:nvPr/>
        </p:nvSpPr>
        <p:spPr>
          <a:xfrm>
            <a:off x="7062788" y="3608388"/>
            <a:ext cx="990600" cy="1841500"/>
          </a:xfrm>
          <a:prstGeom prst="rect">
            <a:avLst/>
          </a:prstGeom>
          <a:solidFill>
            <a:srgbClr val="F6F5BD"/>
          </a:solidFill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Gap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0" name="Shape 1400"/>
          <p:cNvSpPr txBox="1"/>
          <p:nvPr/>
        </p:nvSpPr>
        <p:spPr>
          <a:xfrm>
            <a:off x="7997825" y="1641476"/>
            <a:ext cx="266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1" name="Shape 1401"/>
          <p:cNvSpPr/>
          <p:nvPr/>
        </p:nvSpPr>
        <p:spPr>
          <a:xfrm>
            <a:off x="7062788" y="5449888"/>
            <a:ext cx="990600" cy="609600"/>
          </a:xfrm>
          <a:prstGeom prst="rect">
            <a:avLst/>
          </a:prstGeom>
          <a:solidFill>
            <a:srgbClr val="DEDFF5"/>
          </a:solidFill>
          <a:ln w="12600" cap="flat" cmpd="sng">
            <a:solidFill>
              <a:srgbClr val="DEDFF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1023 </a:t>
            </a:r>
            <a:endParaRPr sz="1200" dirty="0"/>
          </a:p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unallocated</a:t>
            </a:r>
            <a:endParaRPr sz="1200" dirty="0"/>
          </a:p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pages</a:t>
            </a:r>
            <a:endParaRPr sz="1200" dirty="0"/>
          </a:p>
        </p:txBody>
      </p:sp>
      <p:sp>
        <p:nvSpPr>
          <p:cNvPr id="1402" name="Shape 1402"/>
          <p:cNvSpPr/>
          <p:nvPr/>
        </p:nvSpPr>
        <p:spPr>
          <a:xfrm>
            <a:off x="7062788" y="60594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9215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03" name="Shape 1403"/>
          <p:cNvSpPr/>
          <p:nvPr/>
        </p:nvSpPr>
        <p:spPr>
          <a:xfrm>
            <a:off x="7062788" y="54498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04" name="Shape 1404"/>
          <p:cNvSpPr txBox="1"/>
          <p:nvPr/>
        </p:nvSpPr>
        <p:spPr>
          <a:xfrm>
            <a:off x="6879547" y="1316448"/>
            <a:ext cx="1645483" cy="33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虚拟存储器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405" name="Shape 1405"/>
          <p:cNvCxnSpPr/>
          <p:nvPr/>
        </p:nvCxnSpPr>
        <p:spPr>
          <a:xfrm>
            <a:off x="5283994" y="838201"/>
            <a:ext cx="1778794" cy="952499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6" name="Shape 1406"/>
          <p:cNvCxnSpPr/>
          <p:nvPr/>
        </p:nvCxnSpPr>
        <p:spPr>
          <a:xfrm>
            <a:off x="5283994" y="914400"/>
            <a:ext cx="1778794" cy="1485900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7" name="Shape 1407"/>
          <p:cNvCxnSpPr/>
          <p:nvPr/>
        </p:nvCxnSpPr>
        <p:spPr>
          <a:xfrm>
            <a:off x="5283994" y="1066800"/>
            <a:ext cx="1778794" cy="1638300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8" name="Shape 1408"/>
          <p:cNvCxnSpPr/>
          <p:nvPr/>
        </p:nvCxnSpPr>
        <p:spPr>
          <a:xfrm>
            <a:off x="5283994" y="1612078"/>
            <a:ext cx="1778794" cy="1702623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09" name="Shape 1409"/>
          <p:cNvCxnSpPr/>
          <p:nvPr/>
        </p:nvCxnSpPr>
        <p:spPr>
          <a:xfrm rot="10800000" flipH="1">
            <a:off x="5638800" y="6059488"/>
            <a:ext cx="1347788" cy="152400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10" name="Shape 1410"/>
          <p:cNvSpPr/>
          <p:nvPr/>
        </p:nvSpPr>
        <p:spPr>
          <a:xfrm>
            <a:off x="8189678" y="17922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11" name="Shape 1411"/>
          <p:cNvSpPr txBox="1"/>
          <p:nvPr/>
        </p:nvSpPr>
        <p:spPr>
          <a:xfrm>
            <a:off x="8442089" y="2403476"/>
            <a:ext cx="2850751" cy="51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为代码和数据分配的</a:t>
            </a: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2K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12" name="Shape 1412"/>
          <p:cNvSpPr/>
          <p:nvPr/>
        </p:nvSpPr>
        <p:spPr>
          <a:xfrm>
            <a:off x="8189678" y="36210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13" name="Shape 1413"/>
          <p:cNvSpPr txBox="1"/>
          <p:nvPr/>
        </p:nvSpPr>
        <p:spPr>
          <a:xfrm>
            <a:off x="8440504" y="4306888"/>
            <a:ext cx="2516091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6K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个未分配的虚存页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14" name="Shape 1414"/>
          <p:cNvSpPr/>
          <p:nvPr/>
        </p:nvSpPr>
        <p:spPr>
          <a:xfrm>
            <a:off x="8113478" y="544988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15" name="Shape 1415"/>
          <p:cNvSpPr txBox="1"/>
          <p:nvPr/>
        </p:nvSpPr>
        <p:spPr>
          <a:xfrm>
            <a:off x="8440503" y="5588000"/>
            <a:ext cx="2411132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1023 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个未分配页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16" name="Shape 1416"/>
          <p:cNvSpPr/>
          <p:nvPr/>
        </p:nvSpPr>
        <p:spPr>
          <a:xfrm>
            <a:off x="8113478" y="605948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17" name="Shape 1417"/>
          <p:cNvSpPr txBox="1"/>
          <p:nvPr/>
        </p:nvSpPr>
        <p:spPr>
          <a:xfrm>
            <a:off x="8442091" y="5936743"/>
            <a:ext cx="2082653" cy="51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为栈分配的</a:t>
            </a: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18" name="Shape 1418"/>
          <p:cNvSpPr txBox="1"/>
          <p:nvPr/>
        </p:nvSpPr>
        <p:spPr>
          <a:xfrm>
            <a:off x="1905001" y="6324600"/>
            <a:ext cx="4976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32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位，页大小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4KB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，页表项大小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4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字节</a:t>
            </a:r>
            <a:endParaRPr sz="1800" b="1" i="1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19" name="Shape 14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62525" y="2649845"/>
            <a:ext cx="1021470" cy="139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Shape 14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62525" y="4004281"/>
            <a:ext cx="1021470" cy="139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Shape 14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62525" y="4750594"/>
            <a:ext cx="1021470" cy="1398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" name="Shape 14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262526" y="6108497"/>
            <a:ext cx="1021469" cy="13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3" name="Shape 142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62527" y="713003"/>
            <a:ext cx="1021469" cy="97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Shape 14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62525" y="1666661"/>
            <a:ext cx="1021470" cy="139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Shape 1425"/>
          <p:cNvSpPr txBox="1"/>
          <p:nvPr/>
        </p:nvSpPr>
        <p:spPr>
          <a:xfrm>
            <a:off x="1905001" y="2111701"/>
            <a:ext cx="210288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28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</a:t>
            </a:r>
            <a:r>
              <a:rPr lang="en-GB" sz="2800" b="1" baseline="30000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20 </a:t>
            </a:r>
            <a:r>
              <a:rPr lang="zh-CN" altLang="en-US" sz="2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个表项，每个表项</a:t>
            </a:r>
            <a:r>
              <a:rPr lang="en-US" altLang="zh-CN" sz="2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4</a:t>
            </a:r>
            <a:r>
              <a:rPr lang="zh-CN" altLang="en-US" sz="2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个字节</a:t>
            </a:r>
            <a:endParaRPr sz="2800" b="1" baseline="30000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7" name="Title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 vert="horz" wrap="square" lIns="91440" tIns="45720" rIns="91440" bIns="45720" anchor="b">
            <a:spAutoFit/>
          </a:bodyPr>
          <a:p>
            <a:r>
              <a:rPr lang="zh-CN" altLang="en-US"/>
              <a:t>线性</a:t>
            </a:r>
            <a:r>
              <a:rPr lang="en-US" altLang="en-US"/>
              <a:t> (</a:t>
            </a:r>
            <a:r>
              <a:rPr lang="zh-CN" altLang="en-US"/>
              <a:t>简单</a:t>
            </a:r>
            <a:r>
              <a:rPr lang="en-US" altLang="en-US"/>
              <a:t>) </a:t>
            </a:r>
            <a:r>
              <a:rPr lang="zh-CN" altLang="en-US"/>
              <a:t>页表</a:t>
            </a:r>
            <a:endParaRPr lang="zh-CN" altLang="en-US"/>
          </a:p>
        </p:txBody>
      </p:sp>
      <p:sp>
        <p:nvSpPr>
          <p:cNvPr id="147458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5pPr>
          </a:lstStyle>
          <a:p>
            <a:pPr lvl="0" indent="0" algn="r" eaLnBrk="1" hangingPunct="1"/>
            <a:r>
              <a:rPr lang="en-AU" altLang="zh-CN" sz="1400" b="1">
                <a:ea typeface="SimSun" pitchFamily="2" charset="-122"/>
              </a:rPr>
              <a:t>Chapter 5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Large and Fast: Exploiting Memory Hierarchy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*</a:t>
            </a:r>
            <a:endParaRPr lang="en-AU" altLang="zh-CN" sz="1400" b="1">
              <a:ea typeface="SimSun" pitchFamily="2" charset="-122"/>
            </a:endParaRPr>
          </a:p>
        </p:txBody>
      </p:sp>
      <p:pic>
        <p:nvPicPr>
          <p:cNvPr id="14745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9375" y="1222375"/>
            <a:ext cx="5495925" cy="5518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7460" name="TextBox 4"/>
          <p:cNvSpPr txBox="1"/>
          <p:nvPr/>
        </p:nvSpPr>
        <p:spPr>
          <a:xfrm>
            <a:off x="1703388" y="1055688"/>
            <a:ext cx="4968875" cy="45231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pPr marL="285750" indent="-285750" eaLnBrk="0" hangingPunct="0">
              <a:buFont typeface="Arial" panose="020B0704020202020204" pitchFamily="34" charset="0"/>
              <a:buChar char="•"/>
            </a:pPr>
            <a:r>
              <a:rPr lang="zh-CN" altLang="en-US" sz="2400">
                <a:latin typeface="Arial" panose="020B0704020202020204" pitchFamily="34" charset="0"/>
              </a:rPr>
              <a:t>页表项</a:t>
            </a:r>
            <a:r>
              <a:rPr lang="en-US" altLang="en-US" sz="2400">
                <a:latin typeface="Arial" panose="020B0704020202020204" pitchFamily="34" charset="0"/>
              </a:rPr>
              <a:t> (PTE) </a:t>
            </a:r>
            <a:r>
              <a:rPr lang="zh-CN" altLang="en-US" sz="2400">
                <a:latin typeface="Arial" panose="020B0704020202020204" pitchFamily="34" charset="0"/>
              </a:rPr>
              <a:t>包括</a:t>
            </a:r>
            <a:r>
              <a:rPr lang="en-US" altLang="en-US" sz="2400">
                <a:latin typeface="Arial" panose="020B0704020202020204" pitchFamily="34" charset="0"/>
              </a:rPr>
              <a:t>:</a:t>
            </a:r>
            <a:endParaRPr lang="en-US" altLang="en-US" sz="2400">
              <a:latin typeface="Arial" panose="020B07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7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1</a:t>
            </a:r>
            <a:r>
              <a:rPr lang="zh-CN" altLang="en-US" sz="2400">
                <a:solidFill>
                  <a:schemeClr val="tx1"/>
                </a:solidFill>
                <a:latin typeface="Arial" panose="020B0704020202020204" pitchFamily="34" charset="0"/>
              </a:rPr>
              <a:t>个比特位，标记该页是物理页</a:t>
            </a:r>
            <a:r>
              <a:rPr lang="en-US" altLang="zh-CN" sz="2400">
                <a:solidFill>
                  <a:schemeClr val="tx1"/>
                </a:solidFill>
                <a:latin typeface="Arial" panose="020B0704020202020204" pitchFamily="34" charset="0"/>
              </a:rPr>
              <a:t>PPN</a:t>
            </a:r>
            <a:r>
              <a:rPr lang="zh-CN" altLang="en-US" sz="2400">
                <a:solidFill>
                  <a:schemeClr val="tx1"/>
                </a:solidFill>
                <a:latin typeface="Arial" panose="020B0704020202020204" pitchFamily="34" charset="0"/>
              </a:rPr>
              <a:t>还是磁盘页</a:t>
            </a:r>
            <a:r>
              <a:rPr lang="en-US" altLang="zh-CN" sz="2400">
                <a:solidFill>
                  <a:schemeClr val="tx1"/>
                </a:solidFill>
                <a:latin typeface="Arial" panose="020B0704020202020204" pitchFamily="34" charset="0"/>
              </a:rPr>
              <a:t>DPN</a:t>
            </a:r>
            <a:endParaRPr lang="en-US" altLang="en-US" sz="2400">
              <a:solidFill>
                <a:schemeClr val="tx1"/>
              </a:solidFill>
              <a:latin typeface="Arial" panose="020B0704020202020204" pitchFamily="34" charset="0"/>
            </a:endParaRP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7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PPN </a:t>
            </a:r>
            <a:r>
              <a:rPr lang="zh-CN" altLang="en-US" sz="2400">
                <a:solidFill>
                  <a:schemeClr val="tx1"/>
                </a:solidFill>
                <a:latin typeface="Arial" panose="020B0704020202020204" pitchFamily="34" charset="0"/>
                <a:ea typeface="SimSun" charset="0"/>
              </a:rPr>
              <a:t>：</a:t>
            </a: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physical page number</a:t>
            </a:r>
            <a:endParaRPr lang="en-US" altLang="en-US" sz="2400">
              <a:solidFill>
                <a:schemeClr val="tx1"/>
              </a:solidFill>
              <a:latin typeface="Arial" panose="020B0704020202020204" pitchFamily="34" charset="0"/>
            </a:endParaRP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704020202020204" pitchFamily="34" charset="0"/>
              <a:buChar char="•"/>
            </a:pP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DPN </a:t>
            </a:r>
            <a:r>
              <a:rPr lang="zh-CN" altLang="en-US" sz="2400">
                <a:solidFill>
                  <a:schemeClr val="tx1"/>
                </a:solidFill>
                <a:latin typeface="Arial" panose="020B0704020202020204" pitchFamily="34" charset="0"/>
                <a:ea typeface="SimSun" charset="0"/>
              </a:rPr>
              <a:t>：</a:t>
            </a: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disk page numbe</a:t>
            </a: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r</a:t>
            </a:r>
            <a:endParaRPr lang="en-US" altLang="en-US" sz="2400">
              <a:solidFill>
                <a:schemeClr val="tx1"/>
              </a:solidFill>
              <a:latin typeface="Arial" panose="020B07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704020202020204" pitchFamily="34" charset="0"/>
              <a:buChar char="•"/>
            </a:pPr>
            <a:r>
              <a:rPr lang="zh-CN" altLang="en-US" sz="2400">
                <a:solidFill>
                  <a:schemeClr val="tx1"/>
                </a:solidFill>
                <a:latin typeface="Arial" panose="020B0704020202020204" pitchFamily="34" charset="0"/>
              </a:rPr>
              <a:t>状态位：标记该页的页保护</a:t>
            </a:r>
            <a:r>
              <a:rPr lang="en-US" altLang="en-US" sz="2400">
                <a:solidFill>
                  <a:schemeClr val="tx1"/>
                </a:solidFill>
                <a:latin typeface="Arial" panose="020B0704020202020204" pitchFamily="34" charset="0"/>
              </a:rPr>
              <a:t> (read, write, exec)</a:t>
            </a:r>
            <a:endParaRPr lang="en-US" altLang="en-US" sz="2400">
              <a:solidFill>
                <a:schemeClr val="tx1"/>
              </a:solidFill>
              <a:latin typeface="Arial" panose="020B0704020202020204" pitchFamily="34" charset="0"/>
            </a:endParaRPr>
          </a:p>
          <a:p>
            <a:pPr marL="285750" indent="-285750" eaLnBrk="0" hangingPunct="0">
              <a:buFont typeface="Arial" panose="020B0704020202020204" pitchFamily="34" charset="0"/>
              <a:buChar char="•"/>
            </a:pPr>
            <a:r>
              <a:rPr lang="zh-CN" altLang="en-US" sz="2400">
                <a:latin typeface="Arial" panose="020B0704020202020204" pitchFamily="34" charset="0"/>
              </a:rPr>
              <a:t>每当</a:t>
            </a:r>
            <a:r>
              <a:rPr lang="en-US" altLang="zh-CN" sz="2400">
                <a:latin typeface="Arial" panose="020B0704020202020204" pitchFamily="34" charset="0"/>
              </a:rPr>
              <a:t>CPU</a:t>
            </a:r>
            <a:r>
              <a:rPr lang="zh-CN" altLang="en-US" sz="2400">
                <a:latin typeface="Arial" panose="020B0704020202020204" pitchFamily="34" charset="0"/>
              </a:rPr>
              <a:t>调度新的用户进程执行时，</a:t>
            </a:r>
            <a:r>
              <a:rPr lang="en-US" altLang="zh-CN" sz="2400">
                <a:latin typeface="Arial" panose="020B0704020202020204" pitchFamily="34" charset="0"/>
              </a:rPr>
              <a:t>OS</a:t>
            </a:r>
            <a:r>
              <a:rPr lang="zh-CN" altLang="en-US" sz="2400">
                <a:latin typeface="Arial" panose="020B0704020202020204" pitchFamily="34" charset="0"/>
              </a:rPr>
              <a:t>会在页表寄存器中设置该进程对应的页表的</a:t>
            </a:r>
            <a:r>
              <a:rPr lang="zh-CN" altLang="en-US" sz="2400">
                <a:latin typeface="Arial" panose="020B0704020202020204" pitchFamily="34" charset="0"/>
              </a:rPr>
              <a:t>物理基地址</a:t>
            </a:r>
            <a:endParaRPr lang="en-US" altLang="en-US" sz="2400">
              <a:latin typeface="Arial" panose="020B0704020202020204" pitchFamily="34" charset="0"/>
            </a:endParaRPr>
          </a:p>
          <a:p>
            <a:pPr marL="285750" indent="-285750" eaLnBrk="0" hangingPunct="0">
              <a:buFont typeface="Arial" panose="020B0704020202020204" pitchFamily="34" charset="0"/>
              <a:buChar char="•"/>
            </a:pPr>
            <a:endParaRPr lang="en-US" altLang="en-US" sz="2400">
              <a:latin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5" name="Title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 vert="horz" wrap="square" lIns="91440" tIns="45720" rIns="91440" bIns="45720" anchor="b">
            <a:spAutoFit/>
          </a:bodyPr>
          <a:p>
            <a:r>
              <a:rPr lang="zh-CN" altLang="en-US">
                <a:ea typeface="SimSun" pitchFamily="2" charset="-122"/>
              </a:rPr>
              <a:t>线性页表的</a:t>
            </a:r>
            <a:r>
              <a:rPr lang="zh-CN" altLang="en-US">
                <a:ea typeface="SimSun" pitchFamily="2" charset="-122"/>
              </a:rPr>
              <a:t>大小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4950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5pPr>
          </a:lstStyle>
          <a:p>
            <a:pPr lvl="0" indent="0" algn="r" eaLnBrk="1" hangingPunct="1"/>
            <a:r>
              <a:rPr lang="en-AU" altLang="zh-CN" sz="1400" b="1">
                <a:ea typeface="SimSun" pitchFamily="2" charset="-122"/>
              </a:rPr>
              <a:t>Chapter 5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Large and Fast: Exploiting Memory Hierarchy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*</a:t>
            </a:r>
            <a:endParaRPr lang="en-AU" altLang="zh-CN" sz="1400" b="1">
              <a:ea typeface="SimSun" pitchFamily="2" charset="-122"/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2208530" y="1125855"/>
            <a:ext cx="8270875" cy="41160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假设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32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虚拟内存地址，每个页表大小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4K: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itchFamily="2" charset="-122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⇒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每个进程需要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/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20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虚拟页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（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= 1M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）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⇒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假设页表项占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4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个字节，则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个页表项占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4 MB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内存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注意：页表常驻内存。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个进程，需要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k * 4MB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的内存。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更大的页（更小的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页表）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内部碎片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页面内有些空间不会使用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更大的页面失效惩罚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从磁盘读取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大页面需要更长时间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64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位虚拟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内存地址呢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???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即便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大小页面，也需要</a:t>
            </a:r>
            <a:r>
              <a:rPr 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2</a:t>
            </a:r>
            <a:r>
              <a:rPr lang="en-US" sz="2400" baseline="30000" noProof="0" dirty="0">
                <a:ln>
                  <a:noFill/>
                </a:ln>
                <a:effectLst/>
                <a:uLnTx/>
                <a:uFillTx/>
                <a:sym typeface="+mn-ea"/>
              </a:rPr>
              <a:t>44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字节的页表项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35 TB!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7780" y="5372735"/>
            <a:ext cx="7910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有什么优化机会</a:t>
            </a:r>
            <a:r>
              <a:rPr lang="en-US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? </a:t>
            </a:r>
            <a:endParaRPr lang="zh-CN" altLang="en-US" sz="1800" b="1" i="1">
              <a:solidFill>
                <a:srgbClr val="FF0000"/>
              </a:solidFill>
              <a:latin typeface="Arial Bold Italic" panose="020B0704020202020204" charset="0"/>
              <a:ea typeface="SimSun" charset="0"/>
              <a:cs typeface="Arial Bold Italic" panose="020B07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5" name="Title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 vert="horz" wrap="square" lIns="91440" tIns="45720" rIns="91440" bIns="45720" anchor="b">
            <a:spAutoFit/>
          </a:bodyPr>
          <a:p>
            <a:r>
              <a:rPr lang="zh-CN" altLang="en-US">
                <a:ea typeface="SimSun" pitchFamily="2" charset="-122"/>
              </a:rPr>
              <a:t>线性页表的</a:t>
            </a:r>
            <a:r>
              <a:rPr lang="zh-CN" altLang="en-US">
                <a:ea typeface="SimSun" pitchFamily="2" charset="-122"/>
              </a:rPr>
              <a:t>大小</a:t>
            </a:r>
            <a:endParaRPr lang="zh-CN" altLang="en-US">
              <a:ea typeface="SimSun" pitchFamily="2" charset="-122"/>
            </a:endParaRPr>
          </a:p>
        </p:txBody>
      </p:sp>
      <p:sp>
        <p:nvSpPr>
          <p:cNvPr id="14950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5pPr>
          </a:lstStyle>
          <a:p>
            <a:pPr lvl="0" indent="0" algn="r" eaLnBrk="1" hangingPunct="1"/>
            <a:r>
              <a:rPr lang="en-AU" altLang="zh-CN" sz="1400" b="1">
                <a:ea typeface="SimSun" pitchFamily="2" charset="-122"/>
              </a:rPr>
              <a:t>Chapter 5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Large and Fast: Exploiting Memory Hierarchy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*</a:t>
            </a:r>
            <a:endParaRPr lang="en-AU" altLang="zh-CN" sz="1400" b="1">
              <a:ea typeface="SimSun" pitchFamily="2" charset="-122"/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2208530" y="1125855"/>
            <a:ext cx="8270875" cy="41160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假设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32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位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虚拟内存地址，每个页表大小位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pitchFamily="2" charset="-122"/>
                <a:cs typeface="+mn-cs"/>
                <a:sym typeface="+mn-ea"/>
              </a:rPr>
              <a:t>4K: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SimSun" pitchFamily="2" charset="-122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⇒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每个进程需要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/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20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虚拟页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（</a:t>
            </a:r>
            <a:r>
              <a:rPr kumimoji="0" lang="en-US" altLang="zh-CN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= 1M</a:t>
            </a:r>
            <a:r>
              <a:rPr kumimoji="0" lang="zh-CN" alt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）</a:t>
            </a:r>
            <a:endParaRPr kumimoji="0" lang="zh-CN" altLang="en-US" sz="24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⇒ 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假设页表项占</a:t>
            </a:r>
            <a:r>
              <a:rPr lang="en-US" altLang="zh-CN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4</a:t>
            </a: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个字节，则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个页表项占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4 MB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内存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注意：页表常驻内存。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个进程，需要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k * 4MB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的内存。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342900" marR="0" lvl="0" indent="-34290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更大的页（更小的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页表）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内部碎片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页面内有些空间不会使用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更大的页面失效惩罚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从磁盘读取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大页面需要更长时间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)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64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位虚拟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内存地址呢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???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即便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大小页面，也需要</a:t>
            </a:r>
            <a:r>
              <a:rPr lang="en-US" sz="2400" noProof="0" dirty="0">
                <a:ln>
                  <a:noFill/>
                </a:ln>
                <a:effectLst/>
                <a:uLnTx/>
                <a:uFillTx/>
                <a:sym typeface="+mn-ea"/>
              </a:rPr>
              <a:t>2</a:t>
            </a:r>
            <a:r>
              <a:rPr lang="en-US" sz="2400" baseline="30000" noProof="0" dirty="0">
                <a:ln>
                  <a:noFill/>
                </a:ln>
                <a:effectLst/>
                <a:uLnTx/>
                <a:uFillTx/>
                <a:sym typeface="+mn-ea"/>
              </a:rPr>
              <a:t>44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字节的页表项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35 TB!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SimSun" charset="0"/>
                <a:cs typeface="+mn-cs"/>
                <a:sym typeface="+mn-ea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7780" y="5372735"/>
            <a:ext cx="791019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有什么优化机会</a:t>
            </a:r>
            <a:r>
              <a:rPr lang="en-US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? </a:t>
            </a:r>
            <a:endParaRPr lang="en-US" altLang="en-US" sz="1800" i="1">
              <a:solidFill>
                <a:srgbClr val="FF0000"/>
              </a:solidFill>
              <a:latin typeface="Arial" panose="020B0704020202020204" pitchFamily="34" charset="0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线性表是基于数组的实现，但是该数组是</a:t>
            </a:r>
            <a:r>
              <a:rPr lang="zh-CN" altLang="en-US" sz="1800" b="1" i="1">
                <a:solidFill>
                  <a:srgbClr val="FF0000"/>
                </a:solidFill>
                <a:latin typeface="Arial Bold Italic" panose="020B0704020202020204" charset="0"/>
              </a:rPr>
              <a:t>稀疏</a:t>
            </a: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的！</a:t>
            </a:r>
            <a:endParaRPr lang="zh-CN" altLang="en-US" sz="1800" i="1">
              <a:solidFill>
                <a:srgbClr val="FF0000"/>
              </a:solidFill>
              <a:latin typeface="Arial" panose="020B0704020202020204" pitchFamily="34" charset="0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——一个进程不大可能使用</a:t>
            </a:r>
            <a:r>
              <a:rPr lang="en-US" altLang="zh-CN" sz="1800" i="1">
                <a:solidFill>
                  <a:srgbClr val="FF0000"/>
                </a:solidFill>
                <a:latin typeface="Arial" panose="020B0704020202020204" pitchFamily="34" charset="0"/>
              </a:rPr>
              <a:t>2</a:t>
            </a:r>
            <a:r>
              <a:rPr lang="en-US" sz="1800" baseline="30000" noProof="0" dirty="0">
                <a:ln>
                  <a:noFill/>
                </a:ln>
                <a:effectLst/>
                <a:uLnTx/>
                <a:uFillTx/>
                <a:latin typeface="+mn-lt"/>
                <a:sym typeface="+mn-ea"/>
              </a:rPr>
              <a:t>64</a:t>
            </a: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地址空间。绝大多数进程仅使用少量高地址</a:t>
            </a:r>
            <a:r>
              <a:rPr lang="en-US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 (stack), </a:t>
            </a:r>
            <a:r>
              <a:rPr lang="zh-CN" altLang="en-US" sz="1800" i="1">
                <a:solidFill>
                  <a:srgbClr val="FF0000"/>
                </a:solidFill>
                <a:latin typeface="Arial" panose="020B0704020202020204" pitchFamily="34" charset="0"/>
              </a:rPr>
              <a:t>以及少量低地址（代码、堆）</a:t>
            </a:r>
            <a:endParaRPr lang="zh-CN" altLang="en-US" sz="1800" b="1" i="1">
              <a:solidFill>
                <a:srgbClr val="FF0000"/>
              </a:solidFill>
              <a:latin typeface="Arial Bold Italic" panose="020B0704020202020204" charset="0"/>
              <a:ea typeface="SimSun" charset="0"/>
              <a:cs typeface="Arial Bold Italic" panose="020B07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29" name="Title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 vert="horz" wrap="square" lIns="91440" tIns="45720" rIns="91440" bIns="45720" anchor="b">
            <a:spAutoFit/>
          </a:bodyPr>
          <a:p>
            <a:r>
              <a:rPr lang="zh-CN" altLang="en-US"/>
              <a:t>多级</a:t>
            </a:r>
            <a:r>
              <a:rPr lang="zh-CN" altLang="en-US"/>
              <a:t>页表</a:t>
            </a:r>
            <a:endParaRPr lang="zh-CN" altLang="en-US"/>
          </a:p>
        </p:txBody>
      </p:sp>
      <p:sp>
        <p:nvSpPr>
          <p:cNvPr id="15053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704020202020204" pitchFamily="34" charset="0"/>
                <a:ea typeface="+mn-ea"/>
                <a:cs typeface="+mn-cs"/>
              </a:defRPr>
            </a:lvl5pPr>
          </a:lstStyle>
          <a:p>
            <a:pPr lvl="0" indent="0" algn="r" eaLnBrk="1" hangingPunct="1"/>
            <a:r>
              <a:rPr lang="en-AU" altLang="zh-CN" sz="1400" b="1">
                <a:ea typeface="SimSun" pitchFamily="2" charset="-122"/>
              </a:rPr>
              <a:t>Chapter 5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Large and Fast: Exploiting Memory Hierarchy </a:t>
            </a:r>
            <a:r>
              <a:rPr lang="en-AU" altLang="zh-CN" sz="1400" b="1">
                <a:latin typeface="Arial" panose="020B0704020202020204" pitchFamily="34" charset="0"/>
                <a:ea typeface="SimSun" pitchFamily="2" charset="-122"/>
              </a:rPr>
              <a:t>—</a:t>
            </a:r>
            <a:r>
              <a:rPr lang="en-AU" altLang="zh-CN" sz="1400" b="1">
                <a:ea typeface="SimSun" pitchFamily="2" charset="-122"/>
              </a:rPr>
              <a:t> *</a:t>
            </a:r>
            <a:endParaRPr lang="en-AU" altLang="zh-CN" sz="1400" b="1">
              <a:ea typeface="SimSun" pitchFamily="2" charset="-122"/>
            </a:endParaRPr>
          </a:p>
        </p:txBody>
      </p:sp>
      <p:pic>
        <p:nvPicPr>
          <p:cNvPr id="15053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8825" y="1289050"/>
            <a:ext cx="8419465" cy="4512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2351405" y="5841365"/>
            <a:ext cx="75590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highlight>
                  <a:srgbClr val="C0C0C0"/>
                </a:highlight>
              </a:rPr>
              <a:t>思考：数据结构课程中稀疏矩阵的</a:t>
            </a:r>
            <a:r>
              <a:rPr lang="zh-CN" altLang="en-US" sz="2000">
                <a:solidFill>
                  <a:srgbClr val="FF0000"/>
                </a:solidFill>
                <a:highlight>
                  <a:srgbClr val="C0C0C0"/>
                </a:highlight>
              </a:rPr>
              <a:t>表示：邻接矩阵</a:t>
            </a:r>
            <a:r>
              <a:rPr lang="en-US" altLang="zh-CN" sz="2000">
                <a:solidFill>
                  <a:srgbClr val="FF0000"/>
                </a:solidFill>
                <a:highlight>
                  <a:srgbClr val="C0C0C0"/>
                </a:highlight>
              </a:rPr>
              <a:t> vs </a:t>
            </a:r>
            <a:r>
              <a:rPr lang="zh-CN" altLang="en-US" sz="2000">
                <a:solidFill>
                  <a:srgbClr val="FF0000"/>
                </a:solidFill>
                <a:highlight>
                  <a:srgbClr val="C0C0C0"/>
                </a:highlight>
              </a:rPr>
              <a:t>邻接表</a:t>
            </a:r>
            <a:r>
              <a:rPr lang="zh-CN" altLang="en-US" sz="2000">
                <a:solidFill>
                  <a:srgbClr val="FF0000"/>
                </a:solidFill>
                <a:highlight>
                  <a:srgbClr val="C0C0C0"/>
                </a:highlight>
                <a:ea typeface="SimSun" charset="0"/>
              </a:rPr>
              <a:t>？</a:t>
            </a:r>
            <a:endParaRPr lang="zh-CN" altLang="en-US" sz="2000">
              <a:solidFill>
                <a:srgbClr val="FF0000"/>
              </a:solidFill>
              <a:highlight>
                <a:srgbClr val="C0C0C0"/>
              </a:highlight>
              <a:ea typeface="SimSun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Shape 136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多级页表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68" name="Shape 1368"/>
          <p:cNvSpPr txBox="1">
            <a:spLocks noGrp="1"/>
          </p:cNvSpPr>
          <p:nvPr>
            <p:ph type="body" idx="1"/>
          </p:nvPr>
        </p:nvSpPr>
        <p:spPr>
          <a:xfrm>
            <a:off x="1920876" y="1295400"/>
            <a:ext cx="7620692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假设：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4KB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(2</a:t>
            </a:r>
            <a:r>
              <a:rPr lang="en-GB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12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)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页大小，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48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位地址空间，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8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PTE 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251460">
              <a:buNone/>
            </a:pP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问题：</a:t>
            </a:r>
            <a:endParaRPr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需要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512 GB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的页表！</a:t>
            </a:r>
            <a:endParaRPr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143000" lvl="2" indent="-228600"/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en-GB" baseline="30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48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* 2</a:t>
            </a:r>
            <a:r>
              <a:rPr lang="en-GB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-12 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* 2</a:t>
            </a:r>
            <a:r>
              <a:rPr lang="en-GB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 = 2</a:t>
            </a:r>
            <a:r>
              <a:rPr lang="en-GB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39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字节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251460">
              <a:buNone/>
            </a:pP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常见的解决方法：多级页表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/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示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例：二级页表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一级表：每个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PTE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指向一个页表（常驻内存）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二级表：每个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PTE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指向一个页（像其他数据一样按页进出）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369" name="Shape 1369"/>
          <p:cNvGrpSpPr/>
          <p:nvPr/>
        </p:nvGrpSpPr>
        <p:grpSpPr>
          <a:xfrm>
            <a:off x="7687205" y="1600201"/>
            <a:ext cx="2825846" cy="4430195"/>
            <a:chOff x="6163204" y="1600200"/>
            <a:chExt cx="2825846" cy="4430195"/>
          </a:xfrm>
        </p:grpSpPr>
        <p:sp>
          <p:nvSpPr>
            <p:cNvPr id="1370" name="Shape 1370"/>
            <p:cNvSpPr txBox="1"/>
            <p:nvPr/>
          </p:nvSpPr>
          <p:spPr>
            <a:xfrm>
              <a:off x="6163204" y="2949142"/>
              <a:ext cx="1087038" cy="3238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350" tIns="44275" rIns="90350" bIns="44275" anchor="t" anchorCtr="0">
              <a:noAutofit/>
            </a:bodyPr>
            <a:lstStyle/>
            <a:p>
              <a:pPr algn="ctr">
                <a:lnSpc>
                  <a:spcPct val="88000"/>
                </a:lnSpc>
              </a:pPr>
              <a:r>
                <a:rPr lang="zh-CN" altLang="en-US" sz="1800" b="1" dirty="0" smtClean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一级表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371" name="Shape 1371"/>
            <p:cNvSpPr/>
            <p:nvPr/>
          </p:nvSpPr>
          <p:spPr>
            <a:xfrm>
              <a:off x="6327247" y="3363395"/>
              <a:ext cx="758952" cy="1143000"/>
            </a:xfrm>
            <a:prstGeom prst="rect">
              <a:avLst/>
            </a:prstGeom>
            <a:solidFill>
              <a:srgbClr val="F6F5BD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endParaRPr>
            </a:p>
          </p:txBody>
        </p:sp>
        <p:sp>
          <p:nvSpPr>
            <p:cNvPr id="1372" name="Shape 1372"/>
            <p:cNvSpPr/>
            <p:nvPr/>
          </p:nvSpPr>
          <p:spPr>
            <a:xfrm>
              <a:off x="8170334" y="19917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endParaRPr>
            </a:p>
          </p:txBody>
        </p:sp>
        <p:sp>
          <p:nvSpPr>
            <p:cNvPr id="1373" name="Shape 1373"/>
            <p:cNvSpPr/>
            <p:nvPr/>
          </p:nvSpPr>
          <p:spPr>
            <a:xfrm>
              <a:off x="8170334" y="3363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endParaRPr>
            </a:p>
          </p:txBody>
        </p:sp>
        <p:sp>
          <p:nvSpPr>
            <p:cNvPr id="1374" name="Shape 1374"/>
            <p:cNvSpPr/>
            <p:nvPr/>
          </p:nvSpPr>
          <p:spPr>
            <a:xfrm>
              <a:off x="8170334" y="4887395"/>
              <a:ext cx="700088" cy="1143000"/>
            </a:xfrm>
            <a:prstGeom prst="rect">
              <a:avLst/>
            </a:prstGeom>
            <a:solidFill>
              <a:srgbClr val="DBF2DA"/>
            </a:solidFill>
            <a:ln w="2857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 b="1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endParaRPr>
            </a:p>
          </p:txBody>
        </p:sp>
        <p:sp>
          <p:nvSpPr>
            <p:cNvPr id="1375" name="Shape 1375"/>
            <p:cNvSpPr txBox="1"/>
            <p:nvPr/>
          </p:nvSpPr>
          <p:spPr>
            <a:xfrm rot="-5400000">
              <a:off x="8261381" y="4527581"/>
              <a:ext cx="365227" cy="333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350" tIns="44275" rIns="90350" bIns="44275" anchor="t" anchorCtr="0">
              <a:noAutofit/>
            </a:bodyPr>
            <a:lstStyle/>
            <a:p>
              <a:pPr>
                <a:lnSpc>
                  <a:spcPct val="88000"/>
                </a:lnSpc>
              </a:pPr>
              <a:r>
                <a:rPr lang="en-GB" sz="1800" b="1" dirty="0">
                  <a:solidFill>
                    <a:srgbClr val="003300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...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376" name="Shape 1376"/>
            <p:cNvSpPr txBox="1"/>
            <p:nvPr/>
          </p:nvSpPr>
          <p:spPr>
            <a:xfrm>
              <a:off x="8051706" y="1600200"/>
              <a:ext cx="937344" cy="2757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350" tIns="44275" rIns="90350" bIns="44275" anchor="t" anchorCtr="0">
              <a:noAutofit/>
            </a:bodyPr>
            <a:lstStyle/>
            <a:p>
              <a:pPr algn="ctr">
                <a:lnSpc>
                  <a:spcPct val="88000"/>
                </a:lnSpc>
              </a:pPr>
              <a:r>
                <a:rPr lang="zh-CN" altLang="en-US" sz="1800" b="1" dirty="0" smtClean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二级表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cxnSp>
          <p:nvCxnSpPr>
            <p:cNvPr id="1377" name="Shape 1377"/>
            <p:cNvCxnSpPr/>
            <p:nvPr/>
          </p:nvCxnSpPr>
          <p:spPr>
            <a:xfrm rot="10800000" flipH="1">
              <a:off x="6874934" y="1990208"/>
              <a:ext cx="1295400" cy="1450975"/>
            </a:xfrm>
            <a:prstGeom prst="straightConnector1">
              <a:avLst/>
            </a:prstGeom>
            <a:noFill/>
            <a:ln w="25250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378" name="Shape 1378"/>
            <p:cNvCxnSpPr/>
            <p:nvPr/>
          </p:nvCxnSpPr>
          <p:spPr>
            <a:xfrm rot="10800000" flipH="1">
              <a:off x="6874934" y="3361808"/>
              <a:ext cx="1295400" cy="231775"/>
            </a:xfrm>
            <a:prstGeom prst="straightConnector1">
              <a:avLst/>
            </a:prstGeom>
            <a:noFill/>
            <a:ln w="25250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379" name="Shape 1379"/>
            <p:cNvCxnSpPr/>
            <p:nvPr/>
          </p:nvCxnSpPr>
          <p:spPr>
            <a:xfrm>
              <a:off x="7027334" y="4423845"/>
              <a:ext cx="1143000" cy="463550"/>
            </a:xfrm>
            <a:prstGeom prst="straightConnector1">
              <a:avLst/>
            </a:prstGeom>
            <a:noFill/>
            <a:ln w="25250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triangle" w="med" len="med"/>
            </a:ln>
          </p:spPr>
        </p:cxnSp>
        <p:cxnSp>
          <p:nvCxnSpPr>
            <p:cNvPr id="1380" name="Shape 1380"/>
            <p:cNvCxnSpPr/>
            <p:nvPr/>
          </p:nvCxnSpPr>
          <p:spPr>
            <a:xfrm>
              <a:off x="6333067" y="3515795"/>
              <a:ext cx="762000" cy="1588"/>
            </a:xfrm>
            <a:prstGeom prst="straightConnector1">
              <a:avLst/>
            </a:prstGeom>
            <a:noFill/>
            <a:ln w="19075" cap="flat" cmpd="sng">
              <a:solidFill>
                <a:srgbClr val="0033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81" name="Shape 1381"/>
            <p:cNvCxnSpPr/>
            <p:nvPr/>
          </p:nvCxnSpPr>
          <p:spPr>
            <a:xfrm>
              <a:off x="6333067" y="3668195"/>
              <a:ext cx="762000" cy="1588"/>
            </a:xfrm>
            <a:prstGeom prst="straightConnector1">
              <a:avLst/>
            </a:prstGeom>
            <a:noFill/>
            <a:ln w="19075" cap="flat" cmpd="sng">
              <a:solidFill>
                <a:srgbClr val="0033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382" name="Shape 1382"/>
            <p:cNvCxnSpPr/>
            <p:nvPr/>
          </p:nvCxnSpPr>
          <p:spPr>
            <a:xfrm>
              <a:off x="6333067" y="4353995"/>
              <a:ext cx="762000" cy="1588"/>
            </a:xfrm>
            <a:prstGeom prst="straightConnector1">
              <a:avLst/>
            </a:prstGeom>
            <a:noFill/>
            <a:ln w="19075" cap="flat" cmpd="sng">
              <a:solidFill>
                <a:srgbClr val="003300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2" name="Shape 1375"/>
          <p:cNvSpPr txBox="1"/>
          <p:nvPr/>
        </p:nvSpPr>
        <p:spPr>
          <a:xfrm rot="16200000">
            <a:off x="8006558" y="3866078"/>
            <a:ext cx="365227" cy="33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800" b="1" dirty="0">
                <a:solidFill>
                  <a:srgbClr val="0033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Shape 1431"/>
          <p:cNvSpPr txBox="1">
            <a:spLocks noGrp="1"/>
          </p:cNvSpPr>
          <p:nvPr>
            <p:ph type="title"/>
          </p:nvPr>
        </p:nvSpPr>
        <p:spPr>
          <a:xfrm>
            <a:off x="1928814" y="284162"/>
            <a:ext cx="8283575" cy="78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二级页表层次结构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32" name="Shape 1432"/>
          <p:cNvSpPr txBox="1"/>
          <p:nvPr/>
        </p:nvSpPr>
        <p:spPr>
          <a:xfrm>
            <a:off x="2324887" y="1664272"/>
            <a:ext cx="1205715" cy="365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一级页表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33" name="Shape 1433"/>
          <p:cNvSpPr txBox="1"/>
          <p:nvPr/>
        </p:nvSpPr>
        <p:spPr>
          <a:xfrm rot="5400000">
            <a:off x="7469346" y="6339786"/>
            <a:ext cx="334685" cy="50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rtl="1">
              <a:lnSpc>
                <a:spcPct val="88000"/>
              </a:lnSpc>
            </a:pPr>
            <a:r>
              <a:rPr lang="en-GB" sz="24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4" name="Shape 1434"/>
          <p:cNvSpPr txBox="1"/>
          <p:nvPr/>
        </p:nvSpPr>
        <p:spPr>
          <a:xfrm>
            <a:off x="4620272" y="1668464"/>
            <a:ext cx="1297085" cy="331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二级页表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35" name="Shape 1435"/>
          <p:cNvSpPr/>
          <p:nvPr/>
        </p:nvSpPr>
        <p:spPr>
          <a:xfrm>
            <a:off x="7062788" y="17795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6" name="Shape 1436"/>
          <p:cNvSpPr/>
          <p:nvPr/>
        </p:nvSpPr>
        <p:spPr>
          <a:xfrm>
            <a:off x="7062788" y="20843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7" name="Shape 1437"/>
          <p:cNvSpPr/>
          <p:nvPr/>
        </p:nvSpPr>
        <p:spPr>
          <a:xfrm>
            <a:off x="7062788" y="23891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1023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8" name="Shape 1438"/>
          <p:cNvSpPr/>
          <p:nvPr/>
        </p:nvSpPr>
        <p:spPr>
          <a:xfrm>
            <a:off x="7062788" y="26939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1024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9" name="Shape 1439"/>
          <p:cNvSpPr/>
          <p:nvPr/>
        </p:nvSpPr>
        <p:spPr>
          <a:xfrm>
            <a:off x="7062788" y="29987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0" name="Shape 1440"/>
          <p:cNvSpPr/>
          <p:nvPr/>
        </p:nvSpPr>
        <p:spPr>
          <a:xfrm>
            <a:off x="7062788" y="33035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2047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1" name="Shape 1441"/>
          <p:cNvSpPr/>
          <p:nvPr/>
        </p:nvSpPr>
        <p:spPr>
          <a:xfrm>
            <a:off x="7062788" y="17795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42" name="Shape 1442"/>
          <p:cNvSpPr/>
          <p:nvPr/>
        </p:nvSpPr>
        <p:spPr>
          <a:xfrm>
            <a:off x="7062788" y="26939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43" name="Shape 1443"/>
          <p:cNvSpPr/>
          <p:nvPr/>
        </p:nvSpPr>
        <p:spPr>
          <a:xfrm>
            <a:off x="7062788" y="3608388"/>
            <a:ext cx="990600" cy="1841500"/>
          </a:xfrm>
          <a:prstGeom prst="rect">
            <a:avLst/>
          </a:prstGeom>
          <a:solidFill>
            <a:srgbClr val="F6F5BD"/>
          </a:solidFill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Gap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4" name="Shape 1444"/>
          <p:cNvSpPr txBox="1"/>
          <p:nvPr/>
        </p:nvSpPr>
        <p:spPr>
          <a:xfrm>
            <a:off x="7997825" y="1641476"/>
            <a:ext cx="2667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5" name="Shape 1445"/>
          <p:cNvSpPr/>
          <p:nvPr/>
        </p:nvSpPr>
        <p:spPr>
          <a:xfrm>
            <a:off x="4776788" y="21732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6" name="Shape 1446"/>
          <p:cNvSpPr/>
          <p:nvPr/>
        </p:nvSpPr>
        <p:spPr>
          <a:xfrm>
            <a:off x="4776788" y="24780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7" name="Shape 1447"/>
          <p:cNvSpPr/>
          <p:nvPr/>
        </p:nvSpPr>
        <p:spPr>
          <a:xfrm>
            <a:off x="4776788" y="27828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1023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8" name="Shape 1448"/>
          <p:cNvSpPr/>
          <p:nvPr/>
        </p:nvSpPr>
        <p:spPr>
          <a:xfrm>
            <a:off x="4776788" y="21732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49" name="Shape 1449"/>
          <p:cNvSpPr/>
          <p:nvPr/>
        </p:nvSpPr>
        <p:spPr>
          <a:xfrm>
            <a:off x="4776788" y="35448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0" name="Shape 1450"/>
          <p:cNvSpPr/>
          <p:nvPr/>
        </p:nvSpPr>
        <p:spPr>
          <a:xfrm>
            <a:off x="4776788" y="3849688"/>
            <a:ext cx="9906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1" name="Shape 1451"/>
          <p:cNvSpPr/>
          <p:nvPr/>
        </p:nvSpPr>
        <p:spPr>
          <a:xfrm>
            <a:off x="4776788" y="41544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1023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2" name="Shape 1452"/>
          <p:cNvSpPr/>
          <p:nvPr/>
        </p:nvSpPr>
        <p:spPr>
          <a:xfrm>
            <a:off x="4776788" y="35448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53" name="Shape 1453"/>
          <p:cNvSpPr/>
          <p:nvPr/>
        </p:nvSpPr>
        <p:spPr>
          <a:xfrm>
            <a:off x="4776788" y="4840288"/>
            <a:ext cx="990600" cy="609600"/>
          </a:xfrm>
          <a:prstGeom prst="rect">
            <a:avLst/>
          </a:prstGeom>
          <a:solidFill>
            <a:srgbClr val="F1C7C7"/>
          </a:solidFill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1023 null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PTEs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4" name="Shape 1454"/>
          <p:cNvSpPr/>
          <p:nvPr/>
        </p:nvSpPr>
        <p:spPr>
          <a:xfrm>
            <a:off x="4776788" y="54498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1023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5" name="Shape 1455"/>
          <p:cNvSpPr/>
          <p:nvPr/>
        </p:nvSpPr>
        <p:spPr>
          <a:xfrm>
            <a:off x="4776788" y="48402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56" name="Shape 1456"/>
          <p:cNvSpPr/>
          <p:nvPr/>
        </p:nvSpPr>
        <p:spPr>
          <a:xfrm>
            <a:off x="7062788" y="5449888"/>
            <a:ext cx="990600" cy="609600"/>
          </a:xfrm>
          <a:prstGeom prst="rect">
            <a:avLst/>
          </a:prstGeom>
          <a:solidFill>
            <a:srgbClr val="DEDFF5"/>
          </a:solidFill>
          <a:ln w="12600" cap="flat" cmpd="sng">
            <a:solidFill>
              <a:srgbClr val="DEDFF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1023 </a:t>
            </a:r>
            <a:endParaRPr sz="1200" dirty="0"/>
          </a:p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unallocated</a:t>
            </a:r>
            <a:endParaRPr sz="1200" dirty="0"/>
          </a:p>
          <a:p>
            <a:pPr algn="ctr">
              <a:lnSpc>
                <a:spcPct val="98000"/>
              </a:lnSpc>
            </a:pPr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pages</a:t>
            </a:r>
            <a:endParaRPr sz="1200" dirty="0"/>
          </a:p>
        </p:txBody>
      </p:sp>
      <p:sp>
        <p:nvSpPr>
          <p:cNvPr id="1457" name="Shape 1457"/>
          <p:cNvSpPr/>
          <p:nvPr/>
        </p:nvSpPr>
        <p:spPr>
          <a:xfrm>
            <a:off x="7062788" y="6059488"/>
            <a:ext cx="990600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9215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8" name="Shape 1458"/>
          <p:cNvSpPr/>
          <p:nvPr/>
        </p:nvSpPr>
        <p:spPr>
          <a:xfrm>
            <a:off x="7062788" y="5449888"/>
            <a:ext cx="990600" cy="914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59" name="Shape 1459"/>
          <p:cNvSpPr txBox="1"/>
          <p:nvPr/>
        </p:nvSpPr>
        <p:spPr>
          <a:xfrm>
            <a:off x="7071132" y="1384365"/>
            <a:ext cx="982256" cy="33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460" name="Shape 1460"/>
          <p:cNvCxnSpPr/>
          <p:nvPr/>
        </p:nvCxnSpPr>
        <p:spPr>
          <a:xfrm rot="10800000" flipH="1">
            <a:off x="5767388" y="1790701"/>
            <a:ext cx="1295400" cy="536575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1" name="Shape 1461"/>
          <p:cNvCxnSpPr/>
          <p:nvPr/>
        </p:nvCxnSpPr>
        <p:spPr>
          <a:xfrm rot="10800000" flipH="1">
            <a:off x="5767388" y="2400301"/>
            <a:ext cx="1295400" cy="536575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2" name="Shape 1462"/>
          <p:cNvCxnSpPr/>
          <p:nvPr/>
        </p:nvCxnSpPr>
        <p:spPr>
          <a:xfrm rot="10800000" flipH="1">
            <a:off x="5767388" y="2705101"/>
            <a:ext cx="1295400" cy="993775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3" name="Shape 1463"/>
          <p:cNvCxnSpPr/>
          <p:nvPr/>
        </p:nvCxnSpPr>
        <p:spPr>
          <a:xfrm rot="10800000" flipH="1">
            <a:off x="5767388" y="3314701"/>
            <a:ext cx="1295400" cy="993775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4" name="Shape 1464"/>
          <p:cNvCxnSpPr/>
          <p:nvPr/>
        </p:nvCxnSpPr>
        <p:spPr>
          <a:xfrm>
            <a:off x="5767388" y="5602288"/>
            <a:ext cx="1219200" cy="457200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5" name="Shape 1465"/>
          <p:cNvCxnSpPr/>
          <p:nvPr/>
        </p:nvCxnSpPr>
        <p:spPr>
          <a:xfrm rot="10800000" flipH="1">
            <a:off x="3481388" y="2171701"/>
            <a:ext cx="1243012" cy="231775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6" name="Shape 1466"/>
          <p:cNvCxnSpPr/>
          <p:nvPr/>
        </p:nvCxnSpPr>
        <p:spPr>
          <a:xfrm>
            <a:off x="3481388" y="2706688"/>
            <a:ext cx="1295400" cy="838200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7" name="Shape 1467"/>
          <p:cNvCxnSpPr/>
          <p:nvPr/>
        </p:nvCxnSpPr>
        <p:spPr>
          <a:xfrm>
            <a:off x="3481388" y="4840289"/>
            <a:ext cx="1295400" cy="1587"/>
          </a:xfrm>
          <a:prstGeom prst="straightConnector1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68" name="Shape 1468"/>
          <p:cNvSpPr/>
          <p:nvPr/>
        </p:nvSpPr>
        <p:spPr>
          <a:xfrm>
            <a:off x="2362200" y="4992688"/>
            <a:ext cx="1119188" cy="8382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(1K - 9)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null PTEs 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9" name="Shape 1469"/>
          <p:cNvSpPr/>
          <p:nvPr/>
        </p:nvSpPr>
        <p:spPr>
          <a:xfrm>
            <a:off x="2362200" y="2249488"/>
            <a:ext cx="1119188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0" name="Shape 1470"/>
          <p:cNvSpPr/>
          <p:nvPr/>
        </p:nvSpPr>
        <p:spPr>
          <a:xfrm>
            <a:off x="2362200" y="2554288"/>
            <a:ext cx="1119188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1" name="Shape 1471"/>
          <p:cNvSpPr/>
          <p:nvPr/>
        </p:nvSpPr>
        <p:spPr>
          <a:xfrm>
            <a:off x="2362200" y="28590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2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2" name="Shape 1472"/>
          <p:cNvSpPr/>
          <p:nvPr/>
        </p:nvSpPr>
        <p:spPr>
          <a:xfrm>
            <a:off x="2362200" y="31638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3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3" name="Shape 1473"/>
          <p:cNvSpPr/>
          <p:nvPr/>
        </p:nvSpPr>
        <p:spPr>
          <a:xfrm>
            <a:off x="2362200" y="34686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4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4" name="Shape 1474"/>
          <p:cNvSpPr/>
          <p:nvPr/>
        </p:nvSpPr>
        <p:spPr>
          <a:xfrm>
            <a:off x="2362200" y="37734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5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5" name="Shape 1475"/>
          <p:cNvSpPr/>
          <p:nvPr/>
        </p:nvSpPr>
        <p:spPr>
          <a:xfrm>
            <a:off x="2362200" y="40782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6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6" name="Shape 1476"/>
          <p:cNvSpPr/>
          <p:nvPr/>
        </p:nvSpPr>
        <p:spPr>
          <a:xfrm>
            <a:off x="2362200" y="4383088"/>
            <a:ext cx="1119188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7 (null)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7" name="Shape 1477"/>
          <p:cNvSpPr/>
          <p:nvPr/>
        </p:nvSpPr>
        <p:spPr>
          <a:xfrm>
            <a:off x="2362200" y="4687888"/>
            <a:ext cx="1119188" cy="304800"/>
          </a:xfrm>
          <a:prstGeom prst="rect">
            <a:avLst/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 8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8" name="Shape 1478"/>
          <p:cNvSpPr/>
          <p:nvPr/>
        </p:nvSpPr>
        <p:spPr>
          <a:xfrm>
            <a:off x="2362200" y="2249488"/>
            <a:ext cx="1119188" cy="3581400"/>
          </a:xfrm>
          <a:prstGeom prst="rect">
            <a:avLst/>
          </a:prstGeom>
          <a:noFill/>
          <a:ln w="28575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79" name="Shape 1479"/>
          <p:cNvSpPr/>
          <p:nvPr/>
        </p:nvSpPr>
        <p:spPr>
          <a:xfrm>
            <a:off x="8189678" y="17922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81" name="Shape 1481"/>
          <p:cNvSpPr/>
          <p:nvPr/>
        </p:nvSpPr>
        <p:spPr>
          <a:xfrm>
            <a:off x="8189678" y="3621088"/>
            <a:ext cx="228600" cy="17526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83" name="Shape 1483"/>
          <p:cNvSpPr/>
          <p:nvPr/>
        </p:nvSpPr>
        <p:spPr>
          <a:xfrm>
            <a:off x="8113478" y="5449888"/>
            <a:ext cx="304800" cy="609600"/>
          </a:xfrm>
          <a:prstGeom prst="rightBrace">
            <a:avLst>
              <a:gd name="adj1" fmla="val 16667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85" name="Shape 1485"/>
          <p:cNvSpPr/>
          <p:nvPr/>
        </p:nvSpPr>
        <p:spPr>
          <a:xfrm>
            <a:off x="8113478" y="6059488"/>
            <a:ext cx="304800" cy="3048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600" cap="flat" cmpd="sng">
            <a:solidFill>
              <a:srgbClr val="00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59" name="Shape 1411"/>
          <p:cNvSpPr txBox="1"/>
          <p:nvPr/>
        </p:nvSpPr>
        <p:spPr>
          <a:xfrm>
            <a:off x="8442089" y="2403476"/>
            <a:ext cx="2850751" cy="51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为代码和数据分配的</a:t>
            </a: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2K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0" name="Shape 1413"/>
          <p:cNvSpPr txBox="1"/>
          <p:nvPr/>
        </p:nvSpPr>
        <p:spPr>
          <a:xfrm>
            <a:off x="8440504" y="4306888"/>
            <a:ext cx="2516091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6K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个未分配的虚存页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1" name="Shape 1415"/>
          <p:cNvSpPr txBox="1"/>
          <p:nvPr/>
        </p:nvSpPr>
        <p:spPr>
          <a:xfrm>
            <a:off x="8440503" y="5588000"/>
            <a:ext cx="2411132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1023 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个未分配页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2" name="Shape 1417"/>
          <p:cNvSpPr txBox="1"/>
          <p:nvPr/>
        </p:nvSpPr>
        <p:spPr>
          <a:xfrm>
            <a:off x="8442091" y="5936743"/>
            <a:ext cx="2082653" cy="516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为栈分配的</a:t>
            </a:r>
            <a:r>
              <a:rPr lang="en-US" altLang="zh-CN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1</a:t>
            </a:r>
            <a:r>
              <a:rPr lang="zh-CN" altLang="en-US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个虚存页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3" name="Shape 1418"/>
          <p:cNvSpPr txBox="1"/>
          <p:nvPr/>
        </p:nvSpPr>
        <p:spPr>
          <a:xfrm>
            <a:off x="1905001" y="6324600"/>
            <a:ext cx="49769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32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位，页大小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4KB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，页表项大小</a:t>
            </a:r>
            <a:r>
              <a:rPr lang="en-US" altLang="zh-CN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4</a:t>
            </a:r>
            <a:r>
              <a:rPr lang="zh-CN" altLang="en-US" sz="18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字节</a:t>
            </a:r>
            <a:endParaRPr sz="1800" b="1" i="1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Shape 1493"/>
          <p:cNvSpPr txBox="1">
            <a:spLocks noGrp="1"/>
          </p:cNvSpPr>
          <p:nvPr>
            <p:ph type="title"/>
          </p:nvPr>
        </p:nvSpPr>
        <p:spPr>
          <a:xfrm>
            <a:off x="1928814" y="247650"/>
            <a:ext cx="8283575" cy="78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K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级页表的地址转换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94" name="Shape 1494"/>
          <p:cNvSpPr/>
          <p:nvPr/>
        </p:nvSpPr>
        <p:spPr>
          <a:xfrm>
            <a:off x="1701800" y="1833362"/>
            <a:ext cx="1524000" cy="719063"/>
          </a:xfrm>
          <a:prstGeom prst="rect">
            <a:avLst/>
          </a:prstGeom>
          <a:solidFill>
            <a:srgbClr val="F1C7C7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页表基址</a:t>
            </a:r>
            <a:endParaRPr lang="en-US" altLang="zh-CN" sz="1600" b="1" dirty="0" smtClean="0"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zh-CN" altLang="en-US" sz="1600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寄存器</a:t>
            </a:r>
            <a:r>
              <a:rPr lang="en-GB" sz="1600" b="1" dirty="0" smtClean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(PTBR</a:t>
            </a:r>
            <a:r>
              <a:rPr lang="en-GB" sz="1600" b="1" dirty="0"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)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495" name="Shape 1495"/>
          <p:cNvCxnSpPr>
            <a:stCxn id="1494" idx="2"/>
          </p:cNvCxnSpPr>
          <p:nvPr/>
        </p:nvCxnSpPr>
        <p:spPr>
          <a:xfrm>
            <a:off x="2463800" y="2552424"/>
            <a:ext cx="0" cy="1486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6" name="Shape 1496"/>
          <p:cNvCxnSpPr/>
          <p:nvPr/>
        </p:nvCxnSpPr>
        <p:spPr>
          <a:xfrm>
            <a:off x="2463800" y="4038601"/>
            <a:ext cx="1193800" cy="952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497" name="Shape 1497"/>
          <p:cNvSpPr/>
          <p:nvPr/>
        </p:nvSpPr>
        <p:spPr>
          <a:xfrm>
            <a:off x="3154362" y="2981325"/>
            <a:ext cx="1239838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VPN 1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98" name="Shape 1498"/>
          <p:cNvSpPr txBox="1"/>
          <p:nvPr/>
        </p:nvSpPr>
        <p:spPr>
          <a:xfrm>
            <a:off x="8912226" y="2692986"/>
            <a:ext cx="2782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0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499" name="Shape 1499"/>
          <p:cNvSpPr txBox="1"/>
          <p:nvPr/>
        </p:nvSpPr>
        <p:spPr>
          <a:xfrm>
            <a:off x="8083551" y="2692986"/>
            <a:ext cx="4370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p-1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0" name="Shape 1500"/>
          <p:cNvSpPr txBox="1"/>
          <p:nvPr/>
        </p:nvSpPr>
        <p:spPr>
          <a:xfrm>
            <a:off x="3048001" y="2654886"/>
            <a:ext cx="4370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n-1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1" name="Shape 1501"/>
          <p:cNvSpPr/>
          <p:nvPr/>
        </p:nvSpPr>
        <p:spPr>
          <a:xfrm>
            <a:off x="8134350" y="2981325"/>
            <a:ext cx="919162" cy="304800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VPO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2" name="Shape 1502"/>
          <p:cNvSpPr/>
          <p:nvPr/>
        </p:nvSpPr>
        <p:spPr>
          <a:xfrm>
            <a:off x="4403726" y="2981325"/>
            <a:ext cx="1239837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VPN 2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3" name="Shape 1503"/>
          <p:cNvSpPr/>
          <p:nvPr/>
        </p:nvSpPr>
        <p:spPr>
          <a:xfrm>
            <a:off x="5648326" y="2981325"/>
            <a:ext cx="1239837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...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04" name="Shape 1504"/>
          <p:cNvSpPr/>
          <p:nvPr/>
        </p:nvSpPr>
        <p:spPr>
          <a:xfrm>
            <a:off x="6888162" y="2981325"/>
            <a:ext cx="1239838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VPN k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05" name="Shape 1505"/>
          <p:cNvCxnSpPr/>
          <p:nvPr/>
        </p:nvCxnSpPr>
        <p:spPr>
          <a:xfrm>
            <a:off x="3344862" y="3143250"/>
            <a:ext cx="0" cy="13451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06" name="Shape 1506"/>
          <p:cNvSpPr/>
          <p:nvPr/>
        </p:nvSpPr>
        <p:spPr>
          <a:xfrm>
            <a:off x="3687762" y="4031248"/>
            <a:ext cx="520700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07" name="Shape 1507"/>
          <p:cNvCxnSpPr/>
          <p:nvPr/>
        </p:nvCxnSpPr>
        <p:spPr>
          <a:xfrm>
            <a:off x="3344862" y="44884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8" name="Shape 1508"/>
          <p:cNvSpPr/>
          <p:nvPr/>
        </p:nvSpPr>
        <p:spPr>
          <a:xfrm>
            <a:off x="3687762" y="4424948"/>
            <a:ext cx="520700" cy="1143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09" name="Shape 1509"/>
          <p:cNvCxnSpPr/>
          <p:nvPr/>
        </p:nvCxnSpPr>
        <p:spPr>
          <a:xfrm>
            <a:off x="4551362" y="3143250"/>
            <a:ext cx="0" cy="11038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10" name="Shape 1510"/>
          <p:cNvSpPr/>
          <p:nvPr/>
        </p:nvSpPr>
        <p:spPr>
          <a:xfrm>
            <a:off x="4894262" y="4031248"/>
            <a:ext cx="520700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1" name="Shape 1511"/>
          <p:cNvCxnSpPr/>
          <p:nvPr/>
        </p:nvCxnSpPr>
        <p:spPr>
          <a:xfrm>
            <a:off x="4551362" y="42471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2" name="Shape 1512"/>
          <p:cNvSpPr/>
          <p:nvPr/>
        </p:nvSpPr>
        <p:spPr>
          <a:xfrm>
            <a:off x="4894262" y="4196348"/>
            <a:ext cx="520700" cy="114300"/>
          </a:xfrm>
          <a:prstGeom prst="rect">
            <a:avLst/>
          </a:prstGeom>
          <a:solidFill>
            <a:srgbClr val="C0C0C0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3" name="Shape 1513"/>
          <p:cNvCxnSpPr/>
          <p:nvPr/>
        </p:nvCxnSpPr>
        <p:spPr>
          <a:xfrm>
            <a:off x="7065962" y="3143250"/>
            <a:ext cx="0" cy="148489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sp>
        <p:nvSpPr>
          <p:cNvPr id="1514" name="Shape 1514"/>
          <p:cNvSpPr/>
          <p:nvPr/>
        </p:nvSpPr>
        <p:spPr>
          <a:xfrm>
            <a:off x="7408862" y="4031248"/>
            <a:ext cx="520700" cy="7747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15" name="Shape 1515"/>
          <p:cNvCxnSpPr/>
          <p:nvPr/>
        </p:nvCxnSpPr>
        <p:spPr>
          <a:xfrm>
            <a:off x="7065962" y="4628148"/>
            <a:ext cx="3429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6" name="Shape 1516"/>
          <p:cNvSpPr/>
          <p:nvPr/>
        </p:nvSpPr>
        <p:spPr>
          <a:xfrm>
            <a:off x="7408862" y="4539248"/>
            <a:ext cx="520700" cy="152400"/>
          </a:xfrm>
          <a:prstGeom prst="rect">
            <a:avLst/>
          </a:prstGeom>
          <a:solidFill>
            <a:srgbClr val="DED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b="1" dirty="0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PPN</a:t>
            </a:r>
            <a:endParaRPr sz="1200" dirty="0"/>
          </a:p>
        </p:txBody>
      </p:sp>
      <p:sp>
        <p:nvSpPr>
          <p:cNvPr id="1517" name="Shape 1517"/>
          <p:cNvSpPr txBox="1"/>
          <p:nvPr/>
        </p:nvSpPr>
        <p:spPr>
          <a:xfrm>
            <a:off x="8912226" y="5101809"/>
            <a:ext cx="27824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0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18" name="Shape 1518"/>
          <p:cNvSpPr txBox="1"/>
          <p:nvPr/>
        </p:nvSpPr>
        <p:spPr>
          <a:xfrm>
            <a:off x="8083551" y="5101809"/>
            <a:ext cx="43703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p-1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19" name="Shape 1519"/>
          <p:cNvSpPr txBox="1"/>
          <p:nvPr/>
        </p:nvSpPr>
        <p:spPr>
          <a:xfrm>
            <a:off x="4275137" y="5098634"/>
            <a:ext cx="4838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m-1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20" name="Shape 1520"/>
          <p:cNvSpPr/>
          <p:nvPr/>
        </p:nvSpPr>
        <p:spPr>
          <a:xfrm>
            <a:off x="8134350" y="5390148"/>
            <a:ext cx="919162" cy="304800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PPO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21" name="Shape 1521"/>
          <p:cNvSpPr/>
          <p:nvPr/>
        </p:nvSpPr>
        <p:spPr>
          <a:xfrm>
            <a:off x="4403726" y="5390148"/>
            <a:ext cx="3724275" cy="304800"/>
          </a:xfrm>
          <a:prstGeom prst="rect">
            <a:avLst/>
          </a:prstGeom>
          <a:solidFill>
            <a:srgbClr val="DED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PPN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1522" name="Shape 1522"/>
          <p:cNvCxnSpPr/>
          <p:nvPr/>
        </p:nvCxnSpPr>
        <p:spPr>
          <a:xfrm>
            <a:off x="4094163" y="4488448"/>
            <a:ext cx="3095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cxnSp>
        <p:nvCxnSpPr>
          <p:cNvPr id="1523" name="Shape 1523"/>
          <p:cNvCxnSpPr/>
          <p:nvPr/>
        </p:nvCxnSpPr>
        <p:spPr>
          <a:xfrm rot="10800000">
            <a:off x="4398962" y="4034423"/>
            <a:ext cx="0" cy="457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4" name="Shape 1524"/>
          <p:cNvCxnSpPr/>
          <p:nvPr/>
        </p:nvCxnSpPr>
        <p:spPr>
          <a:xfrm>
            <a:off x="4403726" y="4031248"/>
            <a:ext cx="4905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5" name="Shape 1525"/>
          <p:cNvCxnSpPr/>
          <p:nvPr/>
        </p:nvCxnSpPr>
        <p:spPr>
          <a:xfrm>
            <a:off x="5313363" y="4247148"/>
            <a:ext cx="3095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oval" w="sm" len="sm"/>
            <a:tailEnd type="none" w="med" len="med"/>
          </a:ln>
        </p:spPr>
      </p:cxnSp>
      <p:cxnSp>
        <p:nvCxnSpPr>
          <p:cNvPr id="1526" name="Shape 1526"/>
          <p:cNvCxnSpPr/>
          <p:nvPr/>
        </p:nvCxnSpPr>
        <p:spPr>
          <a:xfrm rot="10800000" flipH="1">
            <a:off x="5614988" y="4031248"/>
            <a:ext cx="4763" cy="215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7" name="Shape 1527"/>
          <p:cNvCxnSpPr/>
          <p:nvPr/>
        </p:nvCxnSpPr>
        <p:spPr>
          <a:xfrm>
            <a:off x="5622926" y="4031248"/>
            <a:ext cx="490537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28" name="Shape 1528"/>
          <p:cNvSpPr txBox="1"/>
          <p:nvPr/>
        </p:nvSpPr>
        <p:spPr>
          <a:xfrm>
            <a:off x="5219701" y="2548523"/>
            <a:ext cx="177484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虚拟地址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29" name="Shape 1529"/>
          <p:cNvSpPr txBox="1"/>
          <p:nvPr/>
        </p:nvSpPr>
        <p:spPr>
          <a:xfrm>
            <a:off x="5724526" y="5757446"/>
            <a:ext cx="190308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物理地址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530" name="Shape 1530"/>
          <p:cNvCxnSpPr/>
          <p:nvPr/>
        </p:nvCxnSpPr>
        <p:spPr>
          <a:xfrm>
            <a:off x="8586787" y="3419476"/>
            <a:ext cx="0" cy="1970673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1" name="Shape 1531"/>
          <p:cNvCxnSpPr/>
          <p:nvPr/>
        </p:nvCxnSpPr>
        <p:spPr>
          <a:xfrm>
            <a:off x="8081963" y="4609098"/>
            <a:ext cx="220663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2" name="Shape 1532"/>
          <p:cNvCxnSpPr/>
          <p:nvPr/>
        </p:nvCxnSpPr>
        <p:spPr>
          <a:xfrm>
            <a:off x="8297862" y="4613862"/>
            <a:ext cx="0" cy="53498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3" name="Shape 1533"/>
          <p:cNvCxnSpPr/>
          <p:nvPr/>
        </p:nvCxnSpPr>
        <p:spPr>
          <a:xfrm flipH="1">
            <a:off x="6303962" y="5145674"/>
            <a:ext cx="1993900" cy="317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4" name="Shape 1534"/>
          <p:cNvCxnSpPr/>
          <p:nvPr/>
        </p:nvCxnSpPr>
        <p:spPr>
          <a:xfrm>
            <a:off x="6303962" y="5148848"/>
            <a:ext cx="0" cy="2413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5" name="Shape 1535"/>
          <p:cNvCxnSpPr/>
          <p:nvPr/>
        </p:nvCxnSpPr>
        <p:spPr>
          <a:xfrm>
            <a:off x="6710362" y="4031248"/>
            <a:ext cx="7112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6" name="Shape 1536"/>
          <p:cNvSpPr txBox="1"/>
          <p:nvPr/>
        </p:nvSpPr>
        <p:spPr>
          <a:xfrm>
            <a:off x="6049963" y="3801646"/>
            <a:ext cx="325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...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37" name="Shape 1537"/>
          <p:cNvSpPr txBox="1"/>
          <p:nvPr/>
        </p:nvSpPr>
        <p:spPr>
          <a:xfrm>
            <a:off x="6418263" y="3801646"/>
            <a:ext cx="325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Arial Narrow" panose="020B0706020202030204"/>
                <a:ea typeface="Arial Narrow" panose="020B0706020202030204"/>
                <a:cs typeface="Arial Narrow" panose="020B0706020202030204"/>
                <a:sym typeface="Arial Narrow" panose="020B0706020202030204"/>
              </a:rPr>
              <a:t>...</a:t>
            </a:r>
            <a:endParaRPr lang="en-GB"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38" name="Shape 1538"/>
          <p:cNvSpPr txBox="1"/>
          <p:nvPr/>
        </p:nvSpPr>
        <p:spPr>
          <a:xfrm>
            <a:off x="3464705" y="3371563"/>
            <a:ext cx="105028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一级页表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39" name="Shape 1539"/>
          <p:cNvSpPr txBox="1"/>
          <p:nvPr/>
        </p:nvSpPr>
        <p:spPr>
          <a:xfrm>
            <a:off x="4700588" y="3362037"/>
            <a:ext cx="1016925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二级页表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40" name="Shape 1540"/>
          <p:cNvSpPr txBox="1"/>
          <p:nvPr/>
        </p:nvSpPr>
        <p:spPr>
          <a:xfrm>
            <a:off x="7205663" y="3352512"/>
            <a:ext cx="1016925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zh-CN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k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Arial Narrow" panose="020B0706020202030204"/>
                <a:sym typeface="Arial Narrow" panose="020B0706020202030204"/>
              </a:rPr>
              <a:t>级页表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41" name="Shape 1541"/>
          <p:cNvSpPr/>
          <p:nvPr/>
        </p:nvSpPr>
        <p:spPr>
          <a:xfrm rot="5400000">
            <a:off x="8538369" y="2905919"/>
            <a:ext cx="112712" cy="914400"/>
          </a:xfrm>
          <a:prstGeom prst="rightBrace">
            <a:avLst>
              <a:gd name="adj1" fmla="val 67606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542" name="Shape 1542"/>
          <p:cNvSpPr/>
          <p:nvPr/>
        </p:nvSpPr>
        <p:spPr>
          <a:xfrm>
            <a:off x="7970838" y="4539249"/>
            <a:ext cx="74613" cy="142875"/>
          </a:xfrm>
          <a:prstGeom prst="rightBrace">
            <a:avLst>
              <a:gd name="adj1" fmla="val 15957"/>
              <a:gd name="adj2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76450" y="262890"/>
            <a:ext cx="8391525" cy="645160"/>
          </a:xfrm>
        </p:spPr>
        <p:txBody>
          <a:bodyPr wrap="square"/>
          <a:p>
            <a:r>
              <a:rPr lang="en-US" altLang="zh-CN" sz="3600"/>
              <a:t>R</a:t>
            </a:r>
            <a:r>
              <a:rPr lang="en-US" altLang="zh-CN" sz="3600"/>
              <a:t>ISC-V </a:t>
            </a:r>
            <a:r>
              <a:rPr lang="zh-CN" altLang="en-US" sz="3600"/>
              <a:t>使用四级</a:t>
            </a:r>
            <a:r>
              <a:rPr lang="zh-CN" altLang="en-US" sz="3600"/>
              <a:t>页表</a:t>
            </a:r>
            <a:endParaRPr lang="zh-CN" altLang="en-US" sz="3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0920" y="2040255"/>
            <a:ext cx="7367270" cy="3648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21865" y="5756910"/>
            <a:ext cx="80137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solidFill>
                  <a:schemeClr val="tx1"/>
                </a:solidFill>
                <a:sym typeface="+mn-ea"/>
              </a:rPr>
              <a:t>使用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48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位虚拟地址，映射到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40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位物理地址（可支持高达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1T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物理内存）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498215" y="1162685"/>
          <a:ext cx="6678295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270"/>
                <a:gridCol w="1620520"/>
                <a:gridCol w="1253490"/>
                <a:gridCol w="1356995"/>
                <a:gridCol w="795020"/>
              </a:tblGrid>
              <a:tr h="4114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47:39</a:t>
                      </a:r>
                      <a:endParaRPr lang="zh-CN" altLang="en-US">
                        <a:ea typeface="SimSun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38:30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29:21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20:12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11:0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>
            <a:off x="4079875" y="1572895"/>
            <a:ext cx="0" cy="19996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>
            <p:custDataLst>
              <p:tags r:id="rId3"/>
            </p:custDataLst>
          </p:nvPr>
        </p:nvCxnSpPr>
        <p:spPr>
          <a:xfrm>
            <a:off x="5664200" y="1556385"/>
            <a:ext cx="0" cy="15125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/>
          <p:nvPr>
            <p:custDataLst>
              <p:tags r:id="rId4"/>
            </p:custDataLst>
          </p:nvPr>
        </p:nvCxnSpPr>
        <p:spPr>
          <a:xfrm>
            <a:off x="7104380" y="1574165"/>
            <a:ext cx="0" cy="9823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直接箭头连接符 9"/>
          <p:cNvCxnSpPr/>
          <p:nvPr>
            <p:custDataLst>
              <p:tags r:id="rId5"/>
            </p:custDataLst>
          </p:nvPr>
        </p:nvCxnSpPr>
        <p:spPr>
          <a:xfrm>
            <a:off x="8544560" y="1572895"/>
            <a:ext cx="0" cy="4876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1" name="文本框 10"/>
          <p:cNvSpPr txBox="1"/>
          <p:nvPr/>
        </p:nvSpPr>
        <p:spPr>
          <a:xfrm>
            <a:off x="3143885" y="2924810"/>
            <a:ext cx="1526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512</a:t>
            </a:r>
            <a:r>
              <a:rPr lang="zh-CN" altLang="en-US"/>
              <a:t>个</a:t>
            </a:r>
            <a:r>
              <a:rPr lang="zh-CN" altLang="en-US"/>
              <a:t>页表项</a:t>
            </a:r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4900930" y="2556510"/>
            <a:ext cx="1526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512</a:t>
            </a:r>
            <a:r>
              <a:rPr lang="zh-CN" altLang="en-US"/>
              <a:t>个</a:t>
            </a:r>
            <a:r>
              <a:rPr lang="zh-CN" altLang="en-US"/>
              <a:t>页表项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6311900" y="2060575"/>
            <a:ext cx="1526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512</a:t>
            </a:r>
            <a:r>
              <a:rPr lang="zh-CN" altLang="en-US"/>
              <a:t>个</a:t>
            </a:r>
            <a:r>
              <a:rPr lang="zh-CN" altLang="en-US"/>
              <a:t>页表项</a:t>
            </a:r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7895590" y="1772285"/>
            <a:ext cx="1526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512</a:t>
            </a:r>
            <a:r>
              <a:rPr lang="zh-CN" altLang="en-US"/>
              <a:t>个</a:t>
            </a:r>
            <a:r>
              <a:rPr lang="zh-CN" altLang="en-US"/>
              <a:t>页表项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9048750" y="2116455"/>
            <a:ext cx="141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4K</a:t>
            </a:r>
            <a:r>
              <a:rPr lang="zh-CN" altLang="en-US"/>
              <a:t>页内</a:t>
            </a:r>
            <a:r>
              <a:rPr lang="zh-CN" altLang="en-US"/>
              <a:t>地址</a:t>
            </a:r>
            <a:endParaRPr lang="zh-CN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3048000" y="327533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虚拟内存的</a:t>
            </a:r>
            <a:r>
              <a:rPr lang="zh-CN" altLang="en-US"/>
              <a:t>概念</a:t>
            </a:r>
            <a:endParaRPr lang="zh-CN" altLang="en-US"/>
          </a:p>
          <a:p>
            <a:r>
              <a:rPr lang="en-US" altLang="zh-CN">
                <a:solidFill>
                  <a:schemeClr val="tx1"/>
                </a:solidFill>
              </a:rPr>
              <a:t>Dram</a:t>
            </a:r>
            <a:r>
              <a:rPr lang="zh-CN" altLang="en-US">
                <a:solidFill>
                  <a:schemeClr val="tx1"/>
                </a:solidFill>
              </a:rPr>
              <a:t>作为虚拟内存的缓存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TLB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加速页表的访问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虚拟内存用于内存保护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虚存也要缓存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程序分配虚拟地址范围</a:t>
            </a:r>
            <a:endParaRPr lang="en-US"/>
          </a:p>
          <a:p>
            <a:pPr lvl="1"/>
            <a:r>
              <a:rPr lang="zh-CN" altLang="en-US"/>
              <a:t>通过二进制文件</a:t>
            </a:r>
            <a:r>
              <a:rPr lang="en-US" altLang="zh-CN"/>
              <a:t>/</a:t>
            </a:r>
            <a:r>
              <a:rPr lang="zh-CN" altLang="en-US"/>
              <a:t>库隐式实现</a:t>
            </a:r>
            <a:endParaRPr lang="en-US"/>
          </a:p>
          <a:p>
            <a:pPr lvl="1"/>
            <a:r>
              <a:rPr lang="zh-CN" altLang="en-US"/>
              <a:t>通过堆</a:t>
            </a:r>
            <a:r>
              <a:rPr lang="en-US" altLang="zh-CN"/>
              <a:t>/</a:t>
            </a:r>
            <a:r>
              <a:rPr lang="zh-CN" altLang="en-US"/>
              <a:t>栈显式实现</a:t>
            </a:r>
            <a:endParaRPr lang="en-US"/>
          </a:p>
          <a:p>
            <a:endParaRPr lang="en-US"/>
          </a:p>
          <a:p>
            <a:r>
              <a:rPr lang="zh-CN" altLang="en-US"/>
              <a:t>操作系统决定哪些虚页应该</a:t>
            </a:r>
            <a:r>
              <a:rPr lang="zh-CN" altLang="en-US" b="1"/>
              <a:t>驻留</a:t>
            </a:r>
            <a:r>
              <a:rPr lang="en-US"/>
              <a:t> </a:t>
            </a:r>
            <a:r>
              <a:rPr lang="zh-CN" altLang="en-US"/>
              <a:t>（即在物理内存中）</a:t>
            </a:r>
            <a:endParaRPr lang="en-US"/>
          </a:p>
          <a:p>
            <a:pPr lvl="1"/>
            <a:r>
              <a:rPr lang="en-US"/>
              <a:t>OS</a:t>
            </a:r>
            <a:r>
              <a:rPr lang="zh-CN" altLang="en-US"/>
              <a:t>管理</a:t>
            </a:r>
            <a:r>
              <a:rPr lang="en-US" altLang="zh-CN"/>
              <a:t>DRAM</a:t>
            </a:r>
            <a:r>
              <a:rPr lang="zh-CN" altLang="en-US"/>
              <a:t>和磁盘间数据的存放</a:t>
            </a:r>
            <a:r>
              <a:rPr lang="en-US" altLang="zh-CN"/>
              <a:t>/</a:t>
            </a:r>
            <a:r>
              <a:rPr lang="zh-CN" altLang="en-US"/>
              <a:t>置换策略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虚存是缓存的工具</a:t>
            </a:r>
            <a:endParaRPr lang="zh-CN" altLang="en-US"/>
          </a:p>
        </p:txBody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从概念上讲</a:t>
            </a:r>
            <a:r>
              <a:rPr lang="zh-CN" altLang="en-US" b="1"/>
              <a:t>虚拟存储器</a:t>
            </a:r>
            <a:r>
              <a:rPr lang="en-GB"/>
              <a:t> </a:t>
            </a:r>
            <a:r>
              <a:rPr lang="zh-CN" altLang="en-US"/>
              <a:t>是存储在磁盘上的</a:t>
            </a:r>
            <a:r>
              <a:rPr lang="en-US" altLang="zh-CN"/>
              <a:t>N</a:t>
            </a:r>
            <a:r>
              <a:rPr lang="zh-CN" altLang="en-US"/>
              <a:t>个连续字节数组</a:t>
            </a:r>
            <a:r>
              <a:rPr lang="en-GB"/>
              <a:t>. </a:t>
            </a:r>
            <a:endParaRPr lang="en-GB"/>
          </a:p>
          <a:p>
            <a:r>
              <a:rPr lang="zh-CN" altLang="en-US"/>
              <a:t>磁盘上数组的内容被</a:t>
            </a:r>
            <a:r>
              <a:rPr lang="zh-CN" altLang="en-US" b="1"/>
              <a:t>缓存</a:t>
            </a:r>
            <a:r>
              <a:rPr lang="zh-CN" altLang="en-US"/>
              <a:t>在</a:t>
            </a:r>
            <a:r>
              <a:rPr lang="zh-CN" altLang="en-US" b="1"/>
              <a:t>物理存储器</a:t>
            </a:r>
            <a:r>
              <a:rPr lang="en-GB"/>
              <a:t> </a:t>
            </a:r>
            <a:r>
              <a:rPr lang="zh-CN" altLang="en-US"/>
              <a:t>（</a:t>
            </a:r>
            <a:r>
              <a:rPr lang="en-GB"/>
              <a:t>DRAM</a:t>
            </a:r>
            <a:r>
              <a:rPr lang="zh-CN" altLang="en-US"/>
              <a:t>）中</a:t>
            </a:r>
            <a:endParaRPr lang="zh-CN" altLang="en-US"/>
          </a:p>
          <a:p>
            <a:pPr lvl="1"/>
            <a:r>
              <a:rPr lang="zh-CN" altLang="en-US"/>
              <a:t>这些被缓存的数据块被称为页（大小是</a:t>
            </a:r>
            <a:r>
              <a:rPr lang="en-GB"/>
              <a:t> P = 2p </a:t>
            </a:r>
            <a:r>
              <a:rPr lang="zh-CN" altLang="en-US"/>
              <a:t>字节）</a:t>
            </a:r>
            <a:endParaRPr lang="zh-CN" altLang="en-US" baseline="30000"/>
          </a:p>
        </p:txBody>
      </p:sp>
      <p:sp>
        <p:nvSpPr>
          <p:cNvPr id="200" name="Shape 200"/>
          <p:cNvSpPr/>
          <p:nvPr/>
        </p:nvSpPr>
        <p:spPr>
          <a:xfrm>
            <a:off x="6669248" y="5302250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201" name="Shape 201"/>
          <p:cNvSpPr txBox="1"/>
          <p:nvPr/>
        </p:nvSpPr>
        <p:spPr>
          <a:xfrm>
            <a:off x="7545510" y="5281614"/>
            <a:ext cx="850938" cy="279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2</a:t>
            </a:r>
            <a:r>
              <a:rPr lang="en-GB" b="1" baseline="30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m-p</a:t>
            </a: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Shape 202"/>
          <p:cNvSpPr txBox="1"/>
          <p:nvPr/>
        </p:nvSpPr>
        <p:spPr>
          <a:xfrm>
            <a:off x="6286662" y="3503914"/>
            <a:ext cx="1627881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物理存储器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6669248" y="4171950"/>
            <a:ext cx="9144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Empty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6669248" y="4400550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6669248" y="4629150"/>
            <a:ext cx="9144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Empty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3853023" y="5508625"/>
            <a:ext cx="914400" cy="228600"/>
          </a:xfrm>
          <a:prstGeom prst="rect">
            <a:avLst/>
          </a:prstGeom>
          <a:solidFill>
            <a:srgbClr val="E5E5E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Uncached</a:t>
            </a:r>
            <a:endParaRPr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Shape 207"/>
          <p:cNvSpPr txBox="1"/>
          <p:nvPr/>
        </p:nvSpPr>
        <p:spPr>
          <a:xfrm>
            <a:off x="3358984" y="3916364"/>
            <a:ext cx="515909" cy="279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r">
              <a:lnSpc>
                <a:spcPct val="8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Shape 208"/>
          <p:cNvSpPr txBox="1"/>
          <p:nvPr/>
        </p:nvSpPr>
        <p:spPr>
          <a:xfrm>
            <a:off x="3358984" y="4144964"/>
            <a:ext cx="515909" cy="279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r">
              <a:lnSpc>
                <a:spcPct val="8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Shape 209"/>
          <p:cNvSpPr txBox="1"/>
          <p:nvPr/>
        </p:nvSpPr>
        <p:spPr>
          <a:xfrm>
            <a:off x="3048000" y="5505451"/>
            <a:ext cx="826892" cy="279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r">
              <a:lnSpc>
                <a:spcPct val="8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</a:t>
            </a:r>
            <a:r>
              <a:rPr lang="en-GB" b="1" baseline="30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n-p</a:t>
            </a: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Shape 210"/>
          <p:cNvSpPr txBox="1"/>
          <p:nvPr/>
        </p:nvSpPr>
        <p:spPr>
          <a:xfrm>
            <a:off x="3543462" y="3503914"/>
            <a:ext cx="152509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虚拟存储器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3853023" y="3927024"/>
            <a:ext cx="9144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1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Unallocated</a:t>
            </a:r>
            <a:endParaRPr sz="1200" dirty="0"/>
          </a:p>
        </p:txBody>
      </p:sp>
      <p:sp>
        <p:nvSpPr>
          <p:cNvPr id="212" name="Shape 212"/>
          <p:cNvSpPr/>
          <p:nvPr/>
        </p:nvSpPr>
        <p:spPr>
          <a:xfrm>
            <a:off x="3853023" y="4155624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Cached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Shape 213"/>
          <p:cNvSpPr/>
          <p:nvPr/>
        </p:nvSpPr>
        <p:spPr>
          <a:xfrm>
            <a:off x="3853023" y="4384224"/>
            <a:ext cx="914400" cy="228600"/>
          </a:xfrm>
          <a:prstGeom prst="rect">
            <a:avLst/>
          </a:prstGeom>
          <a:solidFill>
            <a:srgbClr val="E5E5E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Uncached</a:t>
            </a:r>
            <a:endParaRPr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Shape 214"/>
          <p:cNvSpPr/>
          <p:nvPr/>
        </p:nvSpPr>
        <p:spPr>
          <a:xfrm>
            <a:off x="3853023" y="4610100"/>
            <a:ext cx="9144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1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Unallocated</a:t>
            </a:r>
            <a:endParaRPr sz="1200" dirty="0"/>
          </a:p>
        </p:txBody>
      </p:sp>
      <p:sp>
        <p:nvSpPr>
          <p:cNvPr id="215" name="Shape 215"/>
          <p:cNvSpPr/>
          <p:nvPr/>
        </p:nvSpPr>
        <p:spPr>
          <a:xfrm>
            <a:off x="3853023" y="4835525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Cached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Shape 216"/>
          <p:cNvSpPr/>
          <p:nvPr/>
        </p:nvSpPr>
        <p:spPr>
          <a:xfrm>
            <a:off x="3853023" y="5064125"/>
            <a:ext cx="914400" cy="228600"/>
          </a:xfrm>
          <a:prstGeom prst="rect">
            <a:avLst/>
          </a:prstGeom>
          <a:solidFill>
            <a:srgbClr val="E5E5E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Uncached</a:t>
            </a:r>
            <a:endParaRPr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Shape 217"/>
          <p:cNvSpPr txBox="1"/>
          <p:nvPr/>
        </p:nvSpPr>
        <p:spPr>
          <a:xfrm>
            <a:off x="7545510" y="4141788"/>
            <a:ext cx="505564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0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Shape 218"/>
          <p:cNvSpPr txBox="1"/>
          <p:nvPr/>
        </p:nvSpPr>
        <p:spPr>
          <a:xfrm>
            <a:off x="7545510" y="4370388"/>
            <a:ext cx="505564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1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19" name="Shape 219"/>
          <p:cNvCxnSpPr/>
          <p:nvPr/>
        </p:nvCxnSpPr>
        <p:spPr>
          <a:xfrm>
            <a:off x="4767423" y="4264025"/>
            <a:ext cx="1905000" cy="260350"/>
          </a:xfrm>
          <a:prstGeom prst="straightConnector1">
            <a:avLst/>
          </a:prstGeom>
          <a:noFill/>
          <a:ln w="126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0" name="Shape 220"/>
          <p:cNvSpPr/>
          <p:nvPr/>
        </p:nvSpPr>
        <p:spPr>
          <a:xfrm>
            <a:off x="6669248" y="5073650"/>
            <a:ext cx="914400" cy="228600"/>
          </a:xfrm>
          <a:prstGeom prst="rect">
            <a:avLst/>
          </a:prstGeom>
          <a:solidFill>
            <a:srgbClr val="FFFFFF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Empty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21" name="Shape 221"/>
          <p:cNvCxnSpPr/>
          <p:nvPr/>
        </p:nvCxnSpPr>
        <p:spPr>
          <a:xfrm>
            <a:off x="4767423" y="4981575"/>
            <a:ext cx="1905000" cy="457200"/>
          </a:xfrm>
          <a:prstGeom prst="straightConnector1">
            <a:avLst/>
          </a:prstGeom>
          <a:noFill/>
          <a:ln w="126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2" name="Shape 222"/>
          <p:cNvSpPr/>
          <p:nvPr/>
        </p:nvSpPr>
        <p:spPr>
          <a:xfrm>
            <a:off x="3853023" y="5286375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Cached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Shape 223"/>
          <p:cNvSpPr/>
          <p:nvPr/>
        </p:nvSpPr>
        <p:spPr>
          <a:xfrm>
            <a:off x="6669248" y="4857750"/>
            <a:ext cx="914400" cy="228600"/>
          </a:xfrm>
          <a:prstGeom prst="rect">
            <a:avLst/>
          </a:prstGeom>
          <a:solidFill>
            <a:srgbClr val="ACACEA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cxnSp>
        <p:nvCxnSpPr>
          <p:cNvPr id="224" name="Shape 224"/>
          <p:cNvCxnSpPr/>
          <p:nvPr/>
        </p:nvCxnSpPr>
        <p:spPr>
          <a:xfrm rot="10800000" flipH="1">
            <a:off x="4767423" y="4979989"/>
            <a:ext cx="1905000" cy="384175"/>
          </a:xfrm>
          <a:prstGeom prst="straightConnector1">
            <a:avLst/>
          </a:prstGeom>
          <a:noFill/>
          <a:ln w="126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5" name="Shape 225"/>
          <p:cNvSpPr txBox="1"/>
          <p:nvPr/>
        </p:nvSpPr>
        <p:spPr>
          <a:xfrm>
            <a:off x="4713448" y="3810001"/>
            <a:ext cx="254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Shape 226"/>
          <p:cNvSpPr txBox="1"/>
          <p:nvPr/>
        </p:nvSpPr>
        <p:spPr>
          <a:xfrm>
            <a:off x="4727286" y="5606794"/>
            <a:ext cx="370486" cy="24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sz="1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Shape 227"/>
          <p:cNvSpPr txBox="1"/>
          <p:nvPr/>
        </p:nvSpPr>
        <p:spPr>
          <a:xfrm>
            <a:off x="6323217" y="5414351"/>
            <a:ext cx="398101" cy="24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M-1</a:t>
            </a:r>
            <a:endParaRPr lang="en-GB" sz="1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Shape 228"/>
          <p:cNvSpPr txBox="1"/>
          <p:nvPr/>
        </p:nvSpPr>
        <p:spPr>
          <a:xfrm>
            <a:off x="6472131" y="4055886"/>
            <a:ext cx="2540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Shape 229"/>
          <p:cNvSpPr txBox="1"/>
          <p:nvPr/>
        </p:nvSpPr>
        <p:spPr>
          <a:xfrm>
            <a:off x="3647847" y="5899496"/>
            <a:ext cx="1463650" cy="57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存储在磁盘的虚拟页（</a:t>
            </a:r>
            <a:r>
              <a:rPr lang="en-GB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VP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30" name="Shape 230"/>
          <p:cNvSpPr txBox="1"/>
          <p:nvPr/>
        </p:nvSpPr>
        <p:spPr>
          <a:xfrm>
            <a:off x="6406713" y="5899496"/>
            <a:ext cx="1585143" cy="577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缓存在</a:t>
            </a:r>
            <a:r>
              <a:rPr lang="en-US" altLang="zh-CN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DRAM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的物理页（</a:t>
            </a:r>
            <a:r>
              <a:rPr lang="en-US" altLang="zh-CN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PP</a:t>
            </a: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DRAM </a:t>
            </a:r>
            <a:r>
              <a:rPr lang="zh-CN" altLang="en-US"/>
              <a:t>缓存结构</a:t>
            </a:r>
            <a:endParaRPr lang="zh-CN" altLang="en-US"/>
          </a:p>
        </p:txBody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/>
              <a:t>DRAM</a:t>
            </a:r>
            <a:r>
              <a:rPr lang="zh-CN" altLang="en-US"/>
              <a:t>失效时</a:t>
            </a:r>
            <a:r>
              <a:rPr lang="en-US" altLang="zh-CN"/>
              <a:t>，</a:t>
            </a:r>
            <a:r>
              <a:rPr lang="zh-CN" altLang="en-US"/>
              <a:t>失效惩罚非常高</a:t>
            </a:r>
            <a:endParaRPr lang="zh-CN" altLang="en-US"/>
          </a:p>
          <a:p>
            <a:pPr lvl="1"/>
            <a:r>
              <a:rPr lang="en-GB"/>
              <a:t>DRAM </a:t>
            </a:r>
            <a:r>
              <a:rPr lang="zh-CN" altLang="en-US"/>
              <a:t>大约比</a:t>
            </a:r>
            <a:r>
              <a:rPr lang="en-US" altLang="zh-CN"/>
              <a:t>SRAM</a:t>
            </a:r>
            <a:r>
              <a:rPr lang="zh-CN" altLang="en-US"/>
              <a:t>慢 </a:t>
            </a:r>
            <a:r>
              <a:rPr lang="en-GB">
                <a:solidFill>
                  <a:srgbClr val="FF0000"/>
                </a:solidFill>
              </a:rPr>
              <a:t>10</a:t>
            </a:r>
            <a:r>
              <a:rPr lang="zh-CN" altLang="en-US"/>
              <a:t>倍</a:t>
            </a:r>
            <a:r>
              <a:rPr lang="en-US" altLang="zh-CN"/>
              <a:t>（</a:t>
            </a:r>
            <a:r>
              <a:rPr lang="zh-CN" altLang="en-US"/>
              <a:t>内存访问需要约</a:t>
            </a:r>
            <a:r>
              <a:rPr lang="en-US" altLang="zh-CN"/>
              <a:t>100</a:t>
            </a:r>
            <a:r>
              <a:rPr lang="zh-CN" altLang="en-US"/>
              <a:t>个时钟</a:t>
            </a:r>
            <a:r>
              <a:rPr lang="en-US" altLang="zh-CN"/>
              <a:t>）</a:t>
            </a:r>
            <a:endParaRPr lang="en-US" altLang="zh-CN"/>
          </a:p>
          <a:p>
            <a:pPr lvl="1"/>
            <a:r>
              <a:rPr lang="zh-CN" altLang="en-US"/>
              <a:t>磁盘大于比</a:t>
            </a:r>
            <a:r>
              <a:rPr lang="en-US" altLang="zh-CN"/>
              <a:t>DRAM</a:t>
            </a:r>
            <a:r>
              <a:rPr lang="zh-CN" altLang="en-US"/>
              <a:t>慢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10,000</a:t>
            </a:r>
            <a:r>
              <a:rPr lang="zh-CN" altLang="en-US"/>
              <a:t>倍</a:t>
            </a:r>
            <a:r>
              <a:rPr lang="en-US" altLang="zh-CN"/>
              <a:t>（</a:t>
            </a:r>
            <a:r>
              <a:rPr lang="zh-CN" altLang="en-US"/>
              <a:t>磁盘访问需要</a:t>
            </a:r>
            <a:r>
              <a:rPr lang="zh-CN" altLang="en-US"/>
              <a:t>约百万个时钟</a:t>
            </a:r>
            <a:r>
              <a:rPr lang="en-US" altLang="zh-CN"/>
              <a:t>）</a:t>
            </a:r>
            <a:endParaRPr lang="en-US" altLang="zh-CN"/>
          </a:p>
          <a:p/>
          <a:p>
            <a:r>
              <a:rPr lang="zh-CN"/>
              <a:t>因此</a:t>
            </a:r>
            <a:r>
              <a:rPr lang="en-US" altLang="zh-CN"/>
              <a:t>，</a:t>
            </a:r>
            <a:r>
              <a:rPr lang="zh-CN" altLang="en-US"/>
              <a:t>需要降低失效率</a:t>
            </a:r>
            <a:endParaRPr lang="zh-CN" altLang="en-US"/>
          </a:p>
          <a:p>
            <a:pPr lvl="1"/>
            <a:r>
              <a:rPr lang="zh-CN" altLang="en-US"/>
              <a:t>大的页（数据块）容量：一般为</a:t>
            </a:r>
            <a:r>
              <a:rPr lang="en-US" altLang="zh-CN"/>
              <a:t>4KB</a:t>
            </a:r>
            <a:r>
              <a:rPr lang="zh-CN" altLang="en-US"/>
              <a:t>，有时是</a:t>
            </a:r>
            <a:r>
              <a:rPr lang="en-US" altLang="zh-CN"/>
              <a:t>4MB</a:t>
            </a:r>
            <a:endParaRPr lang="en-US" altLang="zh-CN"/>
          </a:p>
          <a:p>
            <a:pPr lvl="1"/>
            <a:r>
              <a:rPr lang="zh-CN" altLang="en-US"/>
              <a:t>全相联</a:t>
            </a:r>
            <a:r>
              <a:rPr lang="en-GB"/>
              <a:t> </a:t>
            </a:r>
            <a:endParaRPr lang="en-GB"/>
          </a:p>
          <a:p>
            <a:pPr lvl="2"/>
            <a:r>
              <a:rPr lang="zh-CN" altLang="en-US"/>
              <a:t>每个</a:t>
            </a:r>
            <a:r>
              <a:rPr lang="en-GB"/>
              <a:t> </a:t>
            </a:r>
            <a:r>
              <a:rPr lang="zh-CN" altLang="en-GB"/>
              <a:t>虚拟页</a:t>
            </a:r>
            <a:r>
              <a:rPr lang="en-GB"/>
              <a:t> </a:t>
            </a:r>
            <a:r>
              <a:rPr lang="zh-CN" altLang="en-US"/>
              <a:t>都可以放到任意 物理页</a:t>
            </a:r>
            <a:r>
              <a:rPr lang="en-US" altLang="zh-CN"/>
              <a:t> </a:t>
            </a:r>
            <a:r>
              <a:rPr lang="zh-CN" altLang="en-US"/>
              <a:t>中</a:t>
            </a:r>
            <a:endParaRPr lang="zh-CN" altLang="en-US"/>
          </a:p>
          <a:p>
            <a:pPr lvl="2"/>
            <a:r>
              <a:rPr lang="zh-CN" altLang="en-US"/>
              <a:t>需要“大”映射函数</a:t>
            </a:r>
            <a:r>
              <a:rPr lang="en-US" altLang="zh-CN"/>
              <a:t>—</a:t>
            </a:r>
            <a:r>
              <a:rPr lang="zh-CN" altLang="en-US"/>
              <a:t>与</a:t>
            </a:r>
            <a:r>
              <a:rPr lang="en-US" altLang="zh-CN"/>
              <a:t>cache</a:t>
            </a:r>
            <a:r>
              <a:rPr lang="zh-CN" altLang="en-US"/>
              <a:t>存储器不同</a:t>
            </a:r>
            <a:endParaRPr lang="zh-CN" altLang="en-US"/>
          </a:p>
          <a:p>
            <a:pPr lvl="1"/>
            <a:r>
              <a:rPr lang="zh-CN" altLang="en-US"/>
              <a:t>高度复杂且昂贵的替换算法</a:t>
            </a:r>
            <a:endParaRPr lang="zh-CN" altLang="en-US"/>
          </a:p>
          <a:p>
            <a:pPr lvl="2"/>
            <a:r>
              <a:rPr lang="zh-CN" altLang="en-US"/>
              <a:t>过于复杂开放而无法在硬件中实现</a:t>
            </a:r>
            <a:endParaRPr lang="zh-CN" altLang="en-US"/>
          </a:p>
          <a:p>
            <a:pPr lvl="1"/>
            <a:r>
              <a:rPr lang="zh-CN" altLang="en-US"/>
              <a:t>回写而</a:t>
            </a:r>
            <a:r>
              <a:rPr lang="zh-CN" altLang="en-US"/>
              <a:t>非通写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BBE00FA3-1ACD-3143-99A5-F7C43A7ED212}" type="slidenum">
              <a:rPr lang="en-AU" altLang="en-US"/>
            </a:fld>
            <a:endParaRPr lang="en-AU" altLang="en-US"/>
          </a:p>
        </p:txBody>
      </p:sp>
      <p:sp>
        <p:nvSpPr>
          <p:cNvPr id="7782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内存上的替换算法和写操作</a:t>
            </a:r>
            <a:endParaRPr lang="zh-CN" altLang="en-US"/>
          </a:p>
        </p:txBody>
      </p:sp>
      <p:sp>
        <p:nvSpPr>
          <p:cNvPr id="7782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为了降低页失效率</a:t>
            </a:r>
            <a:r>
              <a:rPr lang="en-US" altLang="en-US"/>
              <a:t>, </a:t>
            </a:r>
            <a:r>
              <a:rPr lang="zh-CN" altLang="en-US"/>
              <a:t>偏好</a:t>
            </a:r>
            <a:r>
              <a:rPr lang="en-US" altLang="zh-CN"/>
              <a:t>LRU</a:t>
            </a:r>
            <a:r>
              <a:rPr lang="zh-CN" altLang="en-US"/>
              <a:t>替换算法</a:t>
            </a:r>
            <a:endParaRPr lang="zh-CN" altLang="en-US"/>
          </a:p>
          <a:p>
            <a:pPr lvl="1"/>
            <a:r>
              <a:rPr lang="zh-CN" altLang="en-US"/>
              <a:t>每次访问页面时，页表项中的“</a:t>
            </a:r>
            <a:r>
              <a:rPr lang="zh-CN" altLang="en-US" b="1" i="1"/>
              <a:t>引用位</a:t>
            </a:r>
            <a:r>
              <a:rPr lang="zh-CN" altLang="en-US"/>
              <a:t>”设置为</a:t>
            </a:r>
            <a:r>
              <a:rPr lang="en-US" altLang="zh-CN"/>
              <a:t>1</a:t>
            </a:r>
            <a:endParaRPr lang="en-US" altLang="en-US"/>
          </a:p>
          <a:p>
            <a:pPr lvl="1"/>
            <a:r>
              <a:rPr lang="en-US" altLang="zh-CN"/>
              <a:t>OS</a:t>
            </a:r>
            <a:r>
              <a:rPr lang="zh-CN" altLang="en-US"/>
              <a:t>周期性地将这些引用位清零</a:t>
            </a:r>
            <a:endParaRPr lang="en-US" altLang="en-US"/>
          </a:p>
          <a:p>
            <a:pPr lvl="2"/>
            <a:r>
              <a:rPr lang="zh-CN" altLang="en-US"/>
              <a:t>这样，如果一个页表项的引用位为</a:t>
            </a:r>
            <a:r>
              <a:rPr lang="en-US" altLang="zh-CN"/>
              <a:t>0</a:t>
            </a:r>
            <a:r>
              <a:rPr lang="zh-CN" altLang="en-US"/>
              <a:t>，则对应页面不是最近使用的（自最近清零后，没被使用过）</a:t>
            </a:r>
            <a:endParaRPr lang="zh-CN" altLang="en-US"/>
          </a:p>
          <a:p>
            <a:pPr lvl="2"/>
            <a:endParaRPr lang="en-US" altLang="en-US"/>
          </a:p>
          <a:p>
            <a:r>
              <a:rPr lang="zh-CN" altLang="en-US"/>
              <a:t>磁盘的写操作需要百万级别的时钟周期</a:t>
            </a:r>
            <a:endParaRPr lang="zh-CN" altLang="en-US"/>
          </a:p>
          <a:p>
            <a:pPr lvl="1"/>
            <a:r>
              <a:rPr lang="zh-CN" altLang="en-US"/>
              <a:t>偏好一次访问</a:t>
            </a:r>
            <a:r>
              <a:rPr lang="zh-CN" altLang="en-US" b="1" i="1"/>
              <a:t>大的存储块</a:t>
            </a:r>
            <a:r>
              <a:rPr lang="zh-CN" altLang="en-US"/>
              <a:t>，而不是单个地址</a:t>
            </a:r>
            <a:endParaRPr lang="en-US" altLang="en-US"/>
          </a:p>
          <a:p>
            <a:pPr lvl="1"/>
            <a:r>
              <a:rPr lang="zh-CN" altLang="en-US"/>
              <a:t>写直达是不现实的，使用写回策略</a:t>
            </a:r>
            <a:endParaRPr lang="en-US" altLang="en-US"/>
          </a:p>
          <a:p>
            <a:pPr lvl="1"/>
            <a:r>
              <a:rPr lang="zh-CN" altLang="en-AU"/>
              <a:t>每当页面被写的时候，页表项中的“</a:t>
            </a:r>
            <a:r>
              <a:rPr lang="zh-CN" altLang="en-AU" b="1" i="1"/>
              <a:t>脏位</a:t>
            </a:r>
            <a:r>
              <a:rPr lang="zh-CN" altLang="en-AU"/>
              <a:t>”设置位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把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Cache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和虚存集成在一起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98" name="Shape 1198"/>
          <p:cNvSpPr/>
          <p:nvPr/>
        </p:nvSpPr>
        <p:spPr>
          <a:xfrm>
            <a:off x="4076701" y="3411249"/>
            <a:ext cx="384721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064" y="2922299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5" name="Shape 1205"/>
          <p:cNvSpPr txBox="1"/>
          <p:nvPr/>
        </p:nvSpPr>
        <p:spPr>
          <a:xfrm>
            <a:off x="5810251" y="1764009"/>
            <a:ext cx="4949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216650" y="3563649"/>
            <a:ext cx="377289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</a:t>
            </a:r>
            <a:endParaRPr dirty="0"/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3" name="Shape 1213"/>
          <p:cNvSpPr txBox="1"/>
          <p:nvPr/>
        </p:nvSpPr>
        <p:spPr>
          <a:xfrm>
            <a:off x="8274050" y="3516609"/>
            <a:ext cx="43462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</a:t>
            </a:r>
            <a:endParaRPr dirty="0"/>
          </a:p>
        </p:txBody>
      </p:sp>
      <p:sp>
        <p:nvSpPr>
          <p:cNvPr id="1214" name="Shape 1214"/>
          <p:cNvSpPr txBox="1"/>
          <p:nvPr/>
        </p:nvSpPr>
        <p:spPr>
          <a:xfrm>
            <a:off x="7505507" y="3575705"/>
            <a:ext cx="4796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r"/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miss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8619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6" name="Shape 1216"/>
          <p:cNvSpPr txBox="1"/>
          <p:nvPr/>
        </p:nvSpPr>
        <p:spPr>
          <a:xfrm>
            <a:off x="7428356" y="2905780"/>
            <a:ext cx="53454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dirty="0"/>
          </a:p>
          <a:p>
            <a:pPr algn="r"/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miss</a:t>
            </a:r>
            <a:endParaRPr dirty="0"/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 </a:t>
            </a:r>
            <a:endParaRPr dirty="0"/>
          </a:p>
          <a:p>
            <a:r>
              <a:rPr lang="en-GB" sz="12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hit</a:t>
            </a:r>
            <a:endParaRPr dirty="0"/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089" y="4155143"/>
            <a:ext cx="3583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 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hit</a:t>
            </a:r>
            <a:endParaRPr lang="en-GB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500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213726" y="2265659"/>
            <a:ext cx="4949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3877945" y="34112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380" y="29222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098540" y="35540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313295" y="35756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8619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405" y="41554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500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056245" y="22790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8199120" y="35712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5645785" y="17583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410134" y="29562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5415" y="3144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2510" y="26574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829300" y="149225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138545" y="39471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751070" y="46342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2351232" y="5371445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缓存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缓存</a:t>
            </a:r>
            <a:endParaRPr lang="zh-CN" altLang="en-US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3877945" y="34112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380" y="29222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098540" y="35540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313295" y="35756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8619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405" y="41554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500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056245" y="22790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8199120" y="35712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5645785" y="1758315"/>
            <a:ext cx="821055" cy="338455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410134" y="29562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5415" y="3144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2510" y="26574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247380" y="307911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138545" y="39471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751070" y="46342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2466167" y="5371445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缓存</a:t>
            </a:r>
            <a:endParaRPr lang="zh-CN" altLang="en-US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82940" y="207137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876925" y="146431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3877945" y="34112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380" y="29222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098540" y="35540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313295" y="35756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9381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405" y="41554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881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056245" y="22790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8199120" y="35204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5645785" y="17583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410134" y="29562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5415" y="3144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2510" y="26574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829300" y="149225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138545" y="39471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751070" y="46342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2351232" y="5371445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缓存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endParaRPr lang="zh-CN" altLang="en-US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95640" y="38303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308340" y="4287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3877945" y="34112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380" y="29222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098540" y="35540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313295" y="35756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8619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405" y="41554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500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056245" y="22790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8199120" y="34950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5645785" y="1758315"/>
            <a:ext cx="821055" cy="338455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410134" y="29562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5415" y="3144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2510" y="26574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247380" y="307911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138545" y="39471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751070" y="46342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(9)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2466167" y="5371445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endParaRPr lang="zh-CN" altLang="en-US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82940" y="207137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876925" y="146431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8295640" y="38430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295640" y="43002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(8)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2351089" y="22222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3877945" y="34112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552701" y="31826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791075" y="24206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972301" y="24206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783013" y="34112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3162300" y="3639849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6088380" y="29222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810250" y="31810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6098540" y="35540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3162300" y="4889211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724400" y="48130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829300" y="3822411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9056688" y="24206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897814" y="3822411"/>
            <a:ext cx="117792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313295" y="35756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8172451" y="28619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7" name="Shape 1217"/>
          <p:cNvCxnSpPr/>
          <p:nvPr/>
        </p:nvCxnSpPr>
        <p:spPr>
          <a:xfrm rot="10800000">
            <a:off x="5287964" y="2071399"/>
            <a:ext cx="1443037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Shape 1218"/>
          <p:cNvCxnSpPr/>
          <p:nvPr/>
        </p:nvCxnSpPr>
        <p:spPr>
          <a:xfrm rot="10800000">
            <a:off x="5287963" y="2071399"/>
            <a:ext cx="0" cy="34925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9" name="Shape 1219"/>
          <p:cNvCxnSpPr/>
          <p:nvPr/>
        </p:nvCxnSpPr>
        <p:spPr>
          <a:xfrm rot="10800000">
            <a:off x="6731000" y="2603211"/>
            <a:ext cx="2413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Shape 1220"/>
          <p:cNvCxnSpPr/>
          <p:nvPr/>
        </p:nvCxnSpPr>
        <p:spPr>
          <a:xfrm rot="10800000">
            <a:off x="6731000" y="2071399"/>
            <a:ext cx="0" cy="531812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6923089" y="24025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731000" y="4355811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731000" y="4355811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923405" y="41554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913688" y="3182650"/>
            <a:ext cx="1162050" cy="158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897814" y="43558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8196263" y="40500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885114" y="2603211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8056245" y="22790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7097714" y="4596824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362201" y="22222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8199120" y="34950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5645785" y="1758315"/>
            <a:ext cx="821055" cy="338455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410134" y="29562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955415" y="31445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112510" y="26574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247380" y="307911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6138545" y="39471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751070" y="46342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(9)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2466167" y="5371445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磁盘</a:t>
            </a:r>
            <a:endParaRPr lang="zh-CN" altLang="en-US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82940" y="207137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876925" y="146431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8295640" y="38430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8295640" y="43002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(8)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Shape 1196"/>
          <p:cNvSpPr/>
          <p:nvPr/>
        </p:nvSpPr>
        <p:spPr>
          <a:xfrm>
            <a:off x="590234" y="2184111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7" name="Shape 11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把</a:t>
            </a:r>
            <a:r>
              <a:rPr lang="en-US" altLang="zh-CN"/>
              <a:t>Cache</a:t>
            </a:r>
            <a:r>
              <a:rPr lang="zh-CN" altLang="en-US"/>
              <a:t>和虚存集成在一起</a:t>
            </a:r>
            <a:endParaRPr lang="zh-CN" altLang="en-US"/>
          </a:p>
        </p:txBody>
      </p:sp>
      <p:sp>
        <p:nvSpPr>
          <p:cNvPr id="1198" name="Shape 1198"/>
          <p:cNvSpPr/>
          <p:nvPr/>
        </p:nvSpPr>
        <p:spPr>
          <a:xfrm>
            <a:off x="2117090" y="3373120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791846" y="3144549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3030220" y="2382549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5211446" y="2382549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2022158" y="3373149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>
            <a:off x="1401445" y="3601749"/>
            <a:ext cx="0" cy="1249362"/>
          </a:xfrm>
          <a:prstGeom prst="straightConnector1">
            <a:avLst/>
          </a:prstGeom>
          <a:noFill/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4327525" y="2884170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4049395" y="3142961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4337685" y="351599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>
            <a:off x="1401445" y="4851111"/>
            <a:ext cx="3568700" cy="0"/>
          </a:xfrm>
          <a:prstGeom prst="straightConnector1">
            <a:avLst/>
          </a:prstGeom>
          <a:noFill/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2963545" y="4774911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4068445" y="3784311"/>
            <a:ext cx="1162050" cy="0"/>
          </a:xfrm>
          <a:prstGeom prst="straightConnector1">
            <a:avLst/>
          </a:prstGeom>
          <a:noFill/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7295833" y="2382549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6136959" y="3784311"/>
            <a:ext cx="1177925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5552440" y="3537585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6411596" y="2823874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19" name="Shape 1219"/>
          <p:cNvCxnSpPr/>
          <p:nvPr/>
        </p:nvCxnSpPr>
        <p:spPr>
          <a:xfrm flipH="1">
            <a:off x="4081780" y="2565111"/>
            <a:ext cx="1129665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221" name="Shape 1221"/>
          <p:cNvSpPr txBox="1"/>
          <p:nvPr/>
        </p:nvSpPr>
        <p:spPr>
          <a:xfrm>
            <a:off x="5162234" y="236444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>
            <a:off x="4970145" y="4317711"/>
            <a:ext cx="241300" cy="0"/>
          </a:xfrm>
          <a:prstGeom prst="straightConnector1">
            <a:avLst/>
          </a:prstGeom>
          <a:noFill/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>
            <a:off x="4970145" y="4317711"/>
            <a:ext cx="0" cy="533400"/>
          </a:xfrm>
          <a:prstGeom prst="straightConnector1">
            <a:avLst/>
          </a:prstGeom>
          <a:noFill/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5162550" y="4117340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6152833" y="3144550"/>
            <a:ext cx="1162050" cy="158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6136959" y="4317711"/>
            <a:ext cx="1171575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6435408" y="4011909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6124259" y="2565111"/>
            <a:ext cx="1171575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6295390" y="2240915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5230495" y="4544695"/>
            <a:ext cx="821055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601346" y="2184111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2" name="Shape 1232"/>
          <p:cNvSpPr/>
          <p:nvPr/>
        </p:nvSpPr>
        <p:spPr>
          <a:xfrm>
            <a:off x="2467437" y="6191230"/>
            <a:ext cx="7241252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VA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：虚拟地址，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PA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PTE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：页表项，</a:t>
            </a:r>
            <a:r>
              <a:rPr lang="en-GB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600" b="1" i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PTEA = PTE </a:t>
            </a: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6438265" y="345694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Shape 1229"/>
          <p:cNvSpPr txBox="1"/>
          <p:nvPr/>
        </p:nvSpPr>
        <p:spPr>
          <a:xfrm>
            <a:off x="4122420" y="2251075"/>
            <a:ext cx="821055" cy="338455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5649279" y="2918163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194560" y="31064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351655" y="261937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609330" y="2734310"/>
            <a:ext cx="43878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(5)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4377690" y="390906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990215" y="459613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(9)</a:t>
            </a:r>
            <a:endParaRPr lang="en-US"/>
          </a:p>
        </p:txBody>
      </p:sp>
      <p:sp>
        <p:nvSpPr>
          <p:cNvPr id="12" name="Shape 1232"/>
          <p:cNvSpPr/>
          <p:nvPr/>
        </p:nvSpPr>
        <p:spPr>
          <a:xfrm>
            <a:off x="1708150" y="5371465"/>
            <a:ext cx="765048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 &amp; 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数据不命中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页表在</a:t>
            </a:r>
            <a:r>
              <a:rPr lang="zh-CN" altLang="en-US" sz="1800" b="1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缓存</a:t>
            </a:r>
            <a:r>
              <a:rPr lang="en-US" altLang="zh-CN" sz="18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数据在</a:t>
            </a:r>
            <a:r>
              <a:rPr lang="zh-CN" altLang="en-US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磁盘</a:t>
            </a:r>
            <a:r>
              <a:rPr lang="en-US" altLang="zh-CN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（-&gt; </a:t>
            </a:r>
            <a:r>
              <a:rPr lang="zh-CN" altLang="en-US" sz="1800" b="1" dirty="0">
                <a:solidFill>
                  <a:srgbClr val="00B05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数据在内存</a:t>
            </a:r>
            <a:r>
              <a:rPr lang="en-US" altLang="zh-CN" sz="1800" b="1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1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72810" y="147510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353560" y="195707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6534785" y="38049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534785" y="426212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(8)</a:t>
            </a:r>
            <a:endParaRPr lang="en-US"/>
          </a:p>
        </p:txBody>
      </p:sp>
      <p:sp>
        <p:nvSpPr>
          <p:cNvPr id="1181" name="Shape 1181"/>
          <p:cNvSpPr/>
          <p:nvPr/>
        </p:nvSpPr>
        <p:spPr>
          <a:xfrm>
            <a:off x="9512935" y="2424642"/>
            <a:ext cx="914400" cy="1925967"/>
          </a:xfrm>
          <a:prstGeom prst="rect">
            <a:avLst/>
          </a:prstGeom>
          <a:solidFill>
            <a:srgbClr val="F5F5F5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磁盘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2" name="Shape 1182"/>
          <p:cNvSpPr/>
          <p:nvPr/>
        </p:nvSpPr>
        <p:spPr>
          <a:xfrm>
            <a:off x="7688106" y="1142365"/>
            <a:ext cx="2527985" cy="533400"/>
          </a:xfrm>
          <a:prstGeom prst="rect">
            <a:avLst/>
          </a:prstGeom>
          <a:solidFill>
            <a:srgbClr val="F6F5BD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缺页故障处理程序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183" name="Shape 1183"/>
          <p:cNvCxnSpPr>
            <a:endCxn id="1182" idx="1"/>
          </p:cNvCxnSpPr>
          <p:nvPr/>
        </p:nvCxnSpPr>
        <p:spPr>
          <a:xfrm flipV="1">
            <a:off x="3558540" y="1409065"/>
            <a:ext cx="4129405" cy="962025"/>
          </a:xfrm>
          <a:prstGeom prst="bentConnector3">
            <a:avLst>
              <a:gd name="adj1" fmla="val 30"/>
            </a:avLst>
          </a:prstGeom>
          <a:noFill/>
          <a:ln w="25400" cap="flat" cmpd="sng">
            <a:solidFill>
              <a:srgbClr val="FF0000"/>
            </a:solidFill>
            <a:prstDash val="dash"/>
            <a:round/>
            <a:headEnd type="none" w="sm" len="sm"/>
            <a:tailEnd type="stealth" w="lg" len="med"/>
          </a:ln>
        </p:spPr>
      </p:cxnSp>
      <p:cxnSp>
        <p:nvCxnSpPr>
          <p:cNvPr id="1185" name="Shape 1185"/>
          <p:cNvCxnSpPr/>
          <p:nvPr/>
        </p:nvCxnSpPr>
        <p:spPr>
          <a:xfrm rot="10800000">
            <a:off x="8268654" y="3997854"/>
            <a:ext cx="1217613" cy="1376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86" name="Shape 1186"/>
          <p:cNvSpPr/>
          <p:nvPr/>
        </p:nvSpPr>
        <p:spPr>
          <a:xfrm>
            <a:off x="8680450" y="1753870"/>
            <a:ext cx="457200" cy="628516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7" name="Shape 1187"/>
          <p:cNvSpPr txBox="1"/>
          <p:nvPr/>
        </p:nvSpPr>
        <p:spPr>
          <a:xfrm>
            <a:off x="8268758" y="2396913"/>
            <a:ext cx="1058280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驱逐页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8" name="Shape 1188"/>
          <p:cNvSpPr txBox="1"/>
          <p:nvPr/>
        </p:nvSpPr>
        <p:spPr>
          <a:xfrm>
            <a:off x="8449311" y="3693796"/>
            <a:ext cx="91952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新页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89" name="Shape 1189"/>
          <p:cNvSpPr txBox="1"/>
          <p:nvPr/>
        </p:nvSpPr>
        <p:spPr>
          <a:xfrm>
            <a:off x="5713096" y="1149123"/>
            <a:ext cx="90791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Exception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5" name="Shape 1185"/>
          <p:cNvCxnSpPr/>
          <p:nvPr/>
        </p:nvCxnSpPr>
        <p:spPr>
          <a:xfrm rot="10800000">
            <a:off x="8268019" y="2701184"/>
            <a:ext cx="1217613" cy="1376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6" name="Text Box 15"/>
          <p:cNvSpPr txBox="1"/>
          <p:nvPr/>
        </p:nvSpPr>
        <p:spPr>
          <a:xfrm>
            <a:off x="8680450" y="3994785"/>
            <a:ext cx="438785" cy="26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(6)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其余组合</a:t>
            </a:r>
            <a:r>
              <a:rPr lang="en-US" altLang="zh-CN"/>
              <a:t>？</a:t>
            </a:r>
            <a:endParaRPr lang="en-US" altLang="zh-C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63345" y="2026920"/>
          <a:ext cx="85344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9624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页表在缓存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页表在内存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页表在磁盘</a:t>
                      </a:r>
                      <a:endParaRPr lang="zh-CN" altLang="en-US" sz="2000"/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数据在缓存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页表命中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r>
                        <a:rPr lang="zh-CN" altLang="en-US" sz="2000"/>
                        <a:t>数据</a:t>
                      </a:r>
                      <a:r>
                        <a:rPr lang="zh-CN" altLang="en-US" sz="2000"/>
                        <a:t>命中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页表不</a:t>
                      </a:r>
                      <a:r>
                        <a:rPr lang="zh-CN" altLang="en-US" sz="2000"/>
                        <a:t>命中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r>
                        <a:rPr lang="zh-CN" altLang="en-US" sz="2000"/>
                        <a:t>数据</a:t>
                      </a:r>
                      <a:r>
                        <a:rPr lang="zh-CN" altLang="en-US" sz="2000"/>
                        <a:t>命中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/>
                        <a:t>------</a:t>
                      </a:r>
                      <a:endParaRPr lang="en-US" sz="2000"/>
                    </a:p>
                  </a:txBody>
                  <a:tcPr/>
                </a:tc>
              </a:tr>
              <a:tr h="7010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数据在内存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页表命中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数据不</a:t>
                      </a:r>
                      <a:r>
                        <a:rPr lang="zh-CN" altLang="en-US" sz="2000">
                          <a:sym typeface="+mn-ea"/>
                        </a:rPr>
                        <a:t>命中</a:t>
                      </a:r>
                      <a:endParaRPr lang="zh-CN" altLang="en-US" sz="2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</a:t>
                      </a:r>
                      <a:r>
                        <a:rPr lang="zh-CN" altLang="en-US" sz="2000"/>
                        <a:t>不命中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r>
                        <a:rPr lang="zh-CN" altLang="en-US" sz="2000"/>
                        <a:t>数据</a:t>
                      </a:r>
                      <a:r>
                        <a:rPr lang="zh-CN" altLang="en-US" sz="2000"/>
                        <a:t>不命中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sym typeface="+mn-ea"/>
                        </a:rPr>
                        <a:t>------</a:t>
                      </a:r>
                      <a:endParaRPr lang="en-US" sz="2000"/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数据在磁盘</a:t>
                      </a:r>
                      <a:endParaRPr lang="zh-CN" alt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页表命中</a:t>
                      </a:r>
                      <a:endParaRPr lang="zh-CN" altLang="en-US" sz="20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但页表项</a:t>
                      </a:r>
                      <a:r>
                        <a:rPr lang="en-US" altLang="zh-CN" sz="2000">
                          <a:sym typeface="+mn-ea"/>
                        </a:rPr>
                        <a:t>invalid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页表</a:t>
                      </a:r>
                      <a:r>
                        <a:rPr lang="zh-CN" altLang="en-US" sz="2000"/>
                        <a:t>不命中</a:t>
                      </a:r>
                      <a:endParaRPr lang="zh-CN" altLang="en-US" sz="2000"/>
                    </a:p>
                    <a:p>
                      <a:pPr>
                        <a:buNone/>
                      </a:pPr>
                      <a:r>
                        <a:rPr lang="zh-CN" altLang="en-US" sz="2000"/>
                        <a:t>且页表项</a:t>
                      </a:r>
                      <a:r>
                        <a:rPr lang="en-US" altLang="zh-CN" sz="2000"/>
                        <a:t>inva</a:t>
                      </a:r>
                      <a:r>
                        <a:rPr lang="en-US" altLang="zh-CN" sz="2000"/>
                        <a:t>lid</a:t>
                      </a:r>
                      <a:endParaRPr lang="en-US" altLang="zh-CN" sz="2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sym typeface="+mn-ea"/>
                        </a:rPr>
                        <a:t>------</a:t>
                      </a:r>
                      <a:endParaRPr lang="en-US"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Shape 8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再次被局部性拯救了！</a:t>
            </a:r>
            <a:endParaRPr lang="zh-CN" altLang="en-US"/>
          </a:p>
        </p:txBody>
      </p:sp>
      <p:sp>
        <p:nvSpPr>
          <p:cNvPr id="867" name="Shape 86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虚拟存储器看起来效率极低，但由于局部性它却是有效的。</a:t>
            </a:r>
            <a:r>
              <a:rPr lang="en-GB"/>
              <a:t> </a:t>
            </a:r>
            <a:endParaRPr lang="en-GB"/>
          </a:p>
          <a:p/>
          <a:p>
            <a:r>
              <a:rPr lang="zh-CN" altLang="en-US"/>
              <a:t>在任何时间点，程序通常会访问一组活跃的虚拟页，称之为</a:t>
            </a:r>
            <a:r>
              <a:rPr lang="zh-CN" altLang="en-US" b="1" i="1"/>
              <a:t>工作集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程序的时间局部性越好，工作集越小</a:t>
            </a:r>
            <a:endParaRPr lang="zh-CN" altLang="en-US"/>
          </a:p>
          <a:p>
            <a:pPr lvl="1"/>
          </a:p>
          <a:p>
            <a:r>
              <a:rPr lang="zh-CN" altLang="en-US"/>
              <a:t>如果（工作集大小 </a:t>
            </a:r>
            <a:r>
              <a:rPr lang="en-GB"/>
              <a:t>&lt; </a:t>
            </a:r>
            <a:r>
              <a:rPr lang="zh-CN" altLang="en-US"/>
              <a:t>主存容量）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US"/>
              <a:t>强制缺失后，单个进程表现良好</a:t>
            </a:r>
            <a:endParaRPr lang="zh-CN" altLang="en-US"/>
          </a:p>
          <a:p>
            <a:pPr lvl="1"/>
          </a:p>
          <a:p>
            <a:r>
              <a:rPr lang="zh-CN" altLang="en-US"/>
              <a:t>如果（</a:t>
            </a:r>
            <a:r>
              <a:rPr lang="en-GB"/>
              <a:t>SUM</a:t>
            </a:r>
            <a:r>
              <a:rPr lang="zh-CN" altLang="en-US"/>
              <a:t>（工作集大小）</a:t>
            </a:r>
            <a:r>
              <a:rPr lang="en-GB"/>
              <a:t> &gt; </a:t>
            </a:r>
            <a:r>
              <a:rPr lang="zh-CN" altLang="en-US"/>
              <a:t>主存容量）</a:t>
            </a:r>
            <a:r>
              <a:rPr lang="en-GB"/>
              <a:t> </a:t>
            </a:r>
            <a:endParaRPr lang="en-GB"/>
          </a:p>
          <a:p>
            <a:pPr lvl="1"/>
            <a:r>
              <a:rPr lang="zh-CN" altLang="en-US" b="1" i="1"/>
              <a:t>抖动</a:t>
            </a:r>
            <a:r>
              <a:rPr lang="zh-CN" altLang="en-US"/>
              <a:t>：</a:t>
            </a:r>
            <a:r>
              <a:rPr lang="en-GB"/>
              <a:t> </a:t>
            </a:r>
            <a:r>
              <a:rPr lang="zh-CN" altLang="en-US"/>
              <a:t>不</a:t>
            </a:r>
            <a:r>
              <a:rPr lang="zh-CN" altLang="en-US"/>
              <a:t>断交换页导致性能崩溃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虚拟内存的</a:t>
            </a:r>
            <a:r>
              <a:rPr lang="zh-CN" altLang="en-US"/>
              <a:t>概念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Dram</a:t>
            </a:r>
            <a:r>
              <a:rPr lang="zh-CN" altLang="en-US">
                <a:solidFill>
                  <a:schemeClr val="tx1"/>
                </a:solidFill>
              </a:rPr>
              <a:t>作为虚拟内存的缓存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TLB</a:t>
            </a:r>
            <a:r>
              <a:rPr lang="zh-CN" altLang="en-US">
                <a:solidFill>
                  <a:schemeClr val="tx1"/>
                </a:solidFill>
              </a:rPr>
              <a:t>加速页表的访问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虚拟内存用于内存保护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1D222FEA-E7D9-6A40-B929-A5F473FF9361}" type="slidenum">
              <a:rPr lang="en-AU" altLang="en-US"/>
            </a:fld>
            <a:endParaRPr lang="en-AU" altLang="en-US"/>
          </a:p>
        </p:txBody>
      </p:sp>
      <p:sp>
        <p:nvSpPr>
          <p:cNvPr id="78851" name="Rectangle 4"/>
          <p:cNvSpPr>
            <a:spLocks noGrp="1" noChangeArrowheads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lstStyle/>
          <a:p>
            <a:pPr eaLnBrk="1" hangingPunct="1"/>
            <a:r>
              <a:rPr lang="zh-CN" altLang="en-US"/>
              <a:t>利用</a:t>
            </a:r>
            <a:r>
              <a:rPr lang="en-US" altLang="en-US"/>
              <a:t>TLB</a:t>
            </a:r>
            <a:r>
              <a:rPr lang="zh-CN" altLang="en-US"/>
              <a:t>加速页表的</a:t>
            </a:r>
            <a:r>
              <a:rPr lang="zh-CN" altLang="en-US"/>
              <a:t>访问</a:t>
            </a:r>
            <a:endParaRPr lang="zh-CN" altLang="en-US"/>
          </a:p>
        </p:txBody>
      </p:sp>
      <p:sp>
        <p:nvSpPr>
          <p:cNvPr id="7885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利用页表将虚拟地址翻译成物理地址，会导致额外的内存访问</a:t>
            </a:r>
            <a:endParaRPr lang="en-US" altLang="en-US" sz="2800"/>
          </a:p>
          <a:p>
            <a:pPr lvl="1" eaLnBrk="1" hangingPunct="1"/>
            <a:r>
              <a:rPr lang="zh-CN" altLang="en-US" sz="2400"/>
              <a:t>访问页表项需要内存访问（多级页表需要</a:t>
            </a:r>
            <a:r>
              <a:rPr lang="zh-CN" altLang="en-US" sz="2400"/>
              <a:t>多次）</a:t>
            </a:r>
            <a:endParaRPr lang="zh-CN" altLang="en-US" sz="2400"/>
          </a:p>
          <a:p>
            <a:pPr lvl="1" eaLnBrk="1" hangingPunct="1"/>
            <a:r>
              <a:rPr lang="zh-CN" altLang="en-US" sz="2400"/>
              <a:t>然后才是实际内存数据的</a:t>
            </a:r>
            <a:r>
              <a:rPr lang="zh-CN" altLang="en-US" sz="2400"/>
              <a:t>访问</a:t>
            </a:r>
            <a:endParaRPr lang="zh-CN" altLang="en-US" sz="2400"/>
          </a:p>
          <a:p>
            <a:pPr eaLnBrk="1" hangingPunct="1"/>
            <a:r>
              <a:rPr lang="zh-CN" altLang="en-US" sz="2800"/>
              <a:t>幸好，页表也有很好的局部性（</a:t>
            </a:r>
            <a:r>
              <a:rPr lang="zh-CN" altLang="en-US" sz="2800">
                <a:solidFill>
                  <a:srgbClr val="00B050"/>
                </a:solidFill>
              </a:rPr>
              <a:t>为什么</a:t>
            </a:r>
            <a:r>
              <a:rPr lang="zh-CN" altLang="en-US" sz="2800"/>
              <a:t>？）</a:t>
            </a:r>
            <a:endParaRPr lang="en-US" altLang="en-US" sz="2450"/>
          </a:p>
          <a:p>
            <a:pPr lvl="1" eaLnBrk="1" hangingPunct="1"/>
            <a:r>
              <a:rPr lang="zh-CN" altLang="en-US" sz="2450"/>
              <a:t>因此，在</a:t>
            </a:r>
            <a:r>
              <a:rPr lang="en-US" altLang="zh-CN" sz="2450"/>
              <a:t>CPU</a:t>
            </a:r>
            <a:r>
              <a:rPr lang="zh-CN" altLang="en-US" sz="2450"/>
              <a:t>内部提供一个专门用于</a:t>
            </a:r>
            <a:r>
              <a:rPr lang="zh-CN" altLang="en-US" sz="2450"/>
              <a:t>页表的快速缓存</a:t>
            </a:r>
            <a:endParaRPr lang="zh-CN" altLang="en-US" sz="2450"/>
          </a:p>
          <a:p>
            <a:pPr lvl="1" eaLnBrk="1" hangingPunct="1"/>
            <a:r>
              <a:rPr lang="zh-CN" altLang="en-US" sz="2400"/>
              <a:t>称为</a:t>
            </a:r>
            <a:r>
              <a:rPr lang="en-US" altLang="en-US" sz="2400">
                <a:sym typeface="+mn-ea"/>
              </a:rPr>
              <a:t>Translation Look-aside Buffer (TLB)</a:t>
            </a:r>
            <a:endParaRPr lang="en-US" altLang="en-US" sz="2400"/>
          </a:p>
          <a:p>
            <a:pPr lvl="2" eaLnBrk="1" hangingPunct="1"/>
            <a:r>
              <a:rPr lang="zh-CN" altLang="en-US" sz="2055">
                <a:solidFill>
                  <a:srgbClr val="00B050"/>
                </a:solidFill>
              </a:rPr>
              <a:t>页表的缓存</a:t>
            </a:r>
            <a:endParaRPr lang="en-US" altLang="en-US" sz="2055"/>
          </a:p>
          <a:p>
            <a:pPr lvl="1" eaLnBrk="1" hangingPunct="1"/>
            <a:r>
              <a:rPr lang="zh-CN" altLang="en-US" sz="2400"/>
              <a:t>一个典型的例子</a:t>
            </a:r>
            <a:endParaRPr lang="zh-CN" altLang="en-US" sz="2400"/>
          </a:p>
          <a:p>
            <a:pPr lvl="2" eaLnBrk="1" hangingPunct="1"/>
            <a:r>
              <a:rPr lang="en-US" altLang="en-US" sz="2055"/>
              <a:t>16–512 </a:t>
            </a:r>
            <a:r>
              <a:rPr lang="zh-CN" altLang="en-US" sz="2055"/>
              <a:t>页表项</a:t>
            </a:r>
            <a:r>
              <a:rPr lang="en-US" altLang="en-US" sz="2055"/>
              <a:t>, </a:t>
            </a:r>
            <a:r>
              <a:rPr lang="zh-CN" altLang="en-US" sz="2055"/>
              <a:t>命中时需要</a:t>
            </a:r>
            <a:r>
              <a:rPr lang="en-US" altLang="en-US" sz="2055"/>
              <a:t>0.5–1</a:t>
            </a:r>
            <a:r>
              <a:rPr lang="zh-CN" altLang="en-US" sz="2055"/>
              <a:t>个时钟</a:t>
            </a:r>
            <a:r>
              <a:rPr lang="en-US" altLang="en-US" sz="2055"/>
              <a:t>, </a:t>
            </a:r>
            <a:r>
              <a:rPr lang="zh-CN" altLang="en-US" sz="2055"/>
              <a:t>失效惩罚</a:t>
            </a:r>
            <a:r>
              <a:rPr lang="en-US" altLang="en-US" sz="2055"/>
              <a:t>10–100 </a:t>
            </a:r>
            <a:r>
              <a:rPr lang="zh-CN" altLang="en-US" sz="2055"/>
              <a:t>个时钟</a:t>
            </a:r>
            <a:r>
              <a:rPr lang="en-US" altLang="en-US" sz="2055"/>
              <a:t>, </a:t>
            </a:r>
            <a:r>
              <a:rPr lang="zh-CN" altLang="en-US" sz="2055"/>
              <a:t>失效率</a:t>
            </a:r>
            <a:r>
              <a:rPr lang="en-US" altLang="en-US" sz="2055"/>
              <a:t>0.01%–1%</a:t>
            </a:r>
            <a:endParaRPr lang="en-US" altLang="en-US" sz="2055"/>
          </a:p>
          <a:p>
            <a:pPr marL="457200" lvl="1" indent="0" eaLnBrk="1" hangingPunct="1">
              <a:buNone/>
            </a:pPr>
            <a:endParaRPr lang="en-US" altLang="en-US" sz="2800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Shape 12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TLB</a:t>
            </a:r>
            <a:r>
              <a:rPr lang="zh-CN" altLang="en-US"/>
              <a:t>加速地址转换</a:t>
            </a:r>
            <a:endParaRPr lang="zh-CN" altLang="en-US"/>
          </a:p>
        </p:txBody>
      </p:sp>
      <p:sp>
        <p:nvSpPr>
          <p:cNvPr id="1239" name="Shape 123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页表项（</a:t>
            </a:r>
            <a:r>
              <a:rPr lang="en-US" altLang="zh-CN"/>
              <a:t>PTE</a:t>
            </a:r>
            <a:r>
              <a:rPr lang="zh-CN" altLang="en-US"/>
              <a:t>）像其他内存字一样被缓存在</a:t>
            </a:r>
            <a:r>
              <a:rPr lang="en-US" altLang="zh-CN"/>
              <a:t>L1</a:t>
            </a:r>
            <a:endParaRPr lang="en-US" altLang="zh-CN"/>
          </a:p>
          <a:p>
            <a:pPr lvl="1"/>
            <a:r>
              <a:rPr lang="zh-CN" altLang="en-US"/>
              <a:t>页表可能被其他数据引用被替换</a:t>
            </a:r>
            <a:endParaRPr lang="zh-CN" altLang="en-US"/>
          </a:p>
          <a:p>
            <a:pPr lvl="1"/>
            <a:r>
              <a:rPr lang="en-US" altLang="zh-CN"/>
              <a:t>PTE</a:t>
            </a:r>
            <a:r>
              <a:rPr lang="zh-CN" altLang="en-US"/>
              <a:t>命中仍有</a:t>
            </a:r>
            <a:r>
              <a:rPr lang="en-US" altLang="zh-CN"/>
              <a:t>L1</a:t>
            </a:r>
            <a:r>
              <a:rPr lang="zh-CN" altLang="en-US"/>
              <a:t>延迟</a:t>
            </a:r>
            <a:endParaRPr lang="zh-CN" altLang="en-US"/>
          </a:p>
          <a:p>
            <a:r>
              <a:rPr lang="zh-CN" altLang="en-US"/>
              <a:t>解决方法：</a:t>
            </a:r>
            <a:r>
              <a:rPr lang="zh-CN" altLang="en-US" b="1"/>
              <a:t>转换后援缓冲器</a:t>
            </a:r>
            <a:r>
              <a:rPr lang="en-GB"/>
              <a:t> </a:t>
            </a:r>
            <a:r>
              <a:rPr lang="zh-CN" altLang="en-US"/>
              <a:t>（</a:t>
            </a:r>
            <a:r>
              <a:rPr lang="en-US" altLang="zh-CN"/>
              <a:t>TLB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GB"/>
              <a:t>MMU</a:t>
            </a:r>
            <a:r>
              <a:rPr lang="zh-CN" altLang="en-US"/>
              <a:t>中的一个小型组相联硬件缓存</a:t>
            </a:r>
            <a:r>
              <a:rPr lang="en-US" altLang="zh-CN"/>
              <a:t>，</a:t>
            </a:r>
            <a:r>
              <a:rPr lang="zh-CN" altLang="en-US"/>
              <a:t>专门存储</a:t>
            </a:r>
            <a:r>
              <a:rPr lang="zh-CN" altLang="en-US">
                <a:sym typeface="+mn-ea"/>
              </a:rPr>
              <a:t>少量页的完整页表项</a:t>
            </a:r>
            <a:endParaRPr lang="zh-CN" altLang="en-US">
              <a:sym typeface="+mn-ea"/>
            </a:endParaRPr>
          </a:p>
          <a:p>
            <a:pPr lvl="1"/>
            <a:r>
              <a:rPr lang="zh-CN" altLang="en-US"/>
              <a:t>将虚拟页号映射到物理页号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1196" name="Shape 1196"/>
          <p:cNvSpPr/>
          <p:nvPr/>
        </p:nvSpPr>
        <p:spPr>
          <a:xfrm>
            <a:off x="2143444" y="3927186"/>
            <a:ext cx="3646487" cy="243840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8" name="Shape 1198"/>
          <p:cNvSpPr/>
          <p:nvPr/>
        </p:nvSpPr>
        <p:spPr>
          <a:xfrm>
            <a:off x="3670300" y="5116195"/>
            <a:ext cx="58356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虚拟地址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9" name="Shape 1199"/>
          <p:cNvSpPr/>
          <p:nvPr/>
        </p:nvSpPr>
        <p:spPr>
          <a:xfrm>
            <a:off x="2345056" y="4887624"/>
            <a:ext cx="1230313" cy="457200"/>
          </a:xfrm>
          <a:prstGeom prst="rect">
            <a:avLst/>
          </a:prstGeom>
          <a:solidFill>
            <a:srgbClr val="F6D2D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0" name="Shape 1200"/>
          <p:cNvSpPr/>
          <p:nvPr/>
        </p:nvSpPr>
        <p:spPr>
          <a:xfrm>
            <a:off x="4583430" y="4125624"/>
            <a:ext cx="1022350" cy="2119312"/>
          </a:xfrm>
          <a:prstGeom prst="rect">
            <a:avLst/>
          </a:prstGeom>
          <a:solidFill>
            <a:srgbClr val="DBF2DA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1" name="Shape 1201"/>
          <p:cNvSpPr/>
          <p:nvPr/>
        </p:nvSpPr>
        <p:spPr>
          <a:xfrm>
            <a:off x="6764656" y="4125624"/>
            <a:ext cx="925513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2" name="Shape 1202"/>
          <p:cNvCxnSpPr/>
          <p:nvPr/>
        </p:nvCxnSpPr>
        <p:spPr>
          <a:xfrm>
            <a:off x="3575368" y="5116224"/>
            <a:ext cx="1001712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3" name="Shape 1203"/>
          <p:cNvCxnSpPr/>
          <p:nvPr/>
        </p:nvCxnSpPr>
        <p:spPr>
          <a:xfrm rot="10800000">
            <a:off x="2954655" y="5344824"/>
            <a:ext cx="0" cy="1249362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4" name="Shape 1204"/>
          <p:cNvSpPr/>
          <p:nvPr/>
        </p:nvSpPr>
        <p:spPr>
          <a:xfrm>
            <a:off x="5880735" y="4627245"/>
            <a:ext cx="565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US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访问页表</a:t>
            </a:r>
            <a:endParaRPr lang="zh-CN" altLang="en-US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6" name="Shape 1206"/>
          <p:cNvCxnSpPr/>
          <p:nvPr/>
        </p:nvCxnSpPr>
        <p:spPr>
          <a:xfrm>
            <a:off x="5602605" y="4886036"/>
            <a:ext cx="1162050" cy="1588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7" name="Shape 1207"/>
          <p:cNvSpPr/>
          <p:nvPr/>
        </p:nvSpPr>
        <p:spPr>
          <a:xfrm>
            <a:off x="5890895" y="5259070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08" name="Shape 1208"/>
          <p:cNvCxnSpPr/>
          <p:nvPr/>
        </p:nvCxnSpPr>
        <p:spPr>
          <a:xfrm rot="10800000">
            <a:off x="2954655" y="6594186"/>
            <a:ext cx="35687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9" name="Shape 1209"/>
          <p:cNvSpPr txBox="1"/>
          <p:nvPr/>
        </p:nvSpPr>
        <p:spPr>
          <a:xfrm>
            <a:off x="4516755" y="6517986"/>
            <a:ext cx="7802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0" name="Shape 1210"/>
          <p:cNvCxnSpPr/>
          <p:nvPr/>
        </p:nvCxnSpPr>
        <p:spPr>
          <a:xfrm>
            <a:off x="5621655" y="5527386"/>
            <a:ext cx="116205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1" name="Shape 1211"/>
          <p:cNvSpPr/>
          <p:nvPr/>
        </p:nvSpPr>
        <p:spPr>
          <a:xfrm>
            <a:off x="8849043" y="4125624"/>
            <a:ext cx="925512" cy="2119312"/>
          </a:xfrm>
          <a:prstGeom prst="rect">
            <a:avLst/>
          </a:prstGeom>
          <a:solidFill>
            <a:srgbClr val="F5F5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  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212" name="Shape 1212"/>
          <p:cNvCxnSpPr/>
          <p:nvPr/>
        </p:nvCxnSpPr>
        <p:spPr>
          <a:xfrm>
            <a:off x="7690169" y="5527386"/>
            <a:ext cx="117792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4" name="Shape 1214"/>
          <p:cNvSpPr txBox="1"/>
          <p:nvPr/>
        </p:nvSpPr>
        <p:spPr>
          <a:xfrm>
            <a:off x="7105650" y="5280660"/>
            <a:ext cx="671830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数据失效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5" name="Shape 1215"/>
          <p:cNvSpPr/>
          <p:nvPr/>
        </p:nvSpPr>
        <p:spPr>
          <a:xfrm>
            <a:off x="7964806" y="4566949"/>
            <a:ext cx="564257" cy="26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1" name="Shape 1221"/>
          <p:cNvSpPr txBox="1"/>
          <p:nvPr/>
        </p:nvSpPr>
        <p:spPr>
          <a:xfrm>
            <a:off x="6715444" y="4107518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命中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2" name="Shape 1222"/>
          <p:cNvCxnSpPr/>
          <p:nvPr/>
        </p:nvCxnSpPr>
        <p:spPr>
          <a:xfrm rot="10800000">
            <a:off x="6523355" y="6060786"/>
            <a:ext cx="241300" cy="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Shape 1223"/>
          <p:cNvCxnSpPr/>
          <p:nvPr/>
        </p:nvCxnSpPr>
        <p:spPr>
          <a:xfrm rot="10800000">
            <a:off x="6523355" y="6060786"/>
            <a:ext cx="0" cy="533400"/>
          </a:xfrm>
          <a:prstGeom prst="straightConnector1">
            <a:avLst/>
          </a:prstGeom>
          <a:noFill/>
          <a:ln w="222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Shape 1224"/>
          <p:cNvSpPr txBox="1"/>
          <p:nvPr/>
        </p:nvSpPr>
        <p:spPr>
          <a:xfrm>
            <a:off x="6715760" y="5860415"/>
            <a:ext cx="67119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数据命中</a:t>
            </a:r>
            <a:endParaRPr lang="zh-CN" alt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5" name="Shape 1225"/>
          <p:cNvCxnSpPr/>
          <p:nvPr/>
        </p:nvCxnSpPr>
        <p:spPr>
          <a:xfrm>
            <a:off x="7706043" y="4887625"/>
            <a:ext cx="1162050" cy="158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6" name="Shape 1226"/>
          <p:cNvCxnSpPr/>
          <p:nvPr/>
        </p:nvCxnSpPr>
        <p:spPr>
          <a:xfrm rot="10800000">
            <a:off x="7690169" y="6060786"/>
            <a:ext cx="11715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7" name="Shape 1227"/>
          <p:cNvSpPr txBox="1"/>
          <p:nvPr/>
        </p:nvSpPr>
        <p:spPr>
          <a:xfrm>
            <a:off x="7988618" y="5754984"/>
            <a:ext cx="58381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8" name="Shape 1228"/>
          <p:cNvCxnSpPr/>
          <p:nvPr/>
        </p:nvCxnSpPr>
        <p:spPr>
          <a:xfrm rot="10800000">
            <a:off x="7677469" y="4308186"/>
            <a:ext cx="1171575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9" name="Shape 1229"/>
          <p:cNvSpPr txBox="1"/>
          <p:nvPr/>
        </p:nvSpPr>
        <p:spPr>
          <a:xfrm>
            <a:off x="7848600" y="3983990"/>
            <a:ext cx="821055" cy="33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0" name="Shape 1230"/>
          <p:cNvSpPr txBox="1"/>
          <p:nvPr/>
        </p:nvSpPr>
        <p:spPr>
          <a:xfrm>
            <a:off x="6890069" y="6301799"/>
            <a:ext cx="67197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cache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1" name="Shape 1231"/>
          <p:cNvSpPr txBox="1"/>
          <p:nvPr/>
        </p:nvSpPr>
        <p:spPr>
          <a:xfrm>
            <a:off x="2154556" y="3927186"/>
            <a:ext cx="1106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>
                <a:solidFill>
                  <a:srgbClr val="7F7F7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Chip</a:t>
            </a:r>
            <a:endParaRPr lang="en-GB" sz="1800" b="1" i="1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Shape 1207"/>
          <p:cNvSpPr/>
          <p:nvPr/>
        </p:nvSpPr>
        <p:spPr>
          <a:xfrm>
            <a:off x="7991475" y="5276215"/>
            <a:ext cx="5353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noAutofit/>
          </a:bodyPr>
          <a:lstStyle/>
          <a:p>
            <a:pPr>
              <a:lnSpc>
                <a:spcPct val="85000"/>
              </a:lnSpc>
            </a:pPr>
            <a:r>
              <a:rPr lang="zh-CN" altLang="en-GB" sz="16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物理地址</a:t>
            </a:r>
            <a:endParaRPr lang="zh-CN" altLang="en-GB" sz="16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hape 1221"/>
          <p:cNvSpPr txBox="1"/>
          <p:nvPr/>
        </p:nvSpPr>
        <p:spPr>
          <a:xfrm>
            <a:off x="7202489" y="4661238"/>
            <a:ext cx="557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页表</a:t>
            </a:r>
            <a:endParaRPr dirty="0"/>
          </a:p>
          <a:p>
            <a:r>
              <a:rPr lang="zh-CN" alt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失效</a:t>
            </a:r>
            <a:endParaRPr lang="zh-CN" altLang="en-GB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747770" y="484949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(1)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5904865" y="436245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(2)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8039735" y="4784090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(3)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5930900" y="565213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(6)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4543425" y="633920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(7)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8075295" y="377634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(4)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5864860" y="3728085"/>
            <a:ext cx="438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(5)</a:t>
            </a:r>
            <a:endParaRPr lang="en-US"/>
          </a:p>
        </p:txBody>
      </p:sp>
      <p:cxnSp>
        <p:nvCxnSpPr>
          <p:cNvPr id="12" name="Shape 1219"/>
          <p:cNvCxnSpPr/>
          <p:nvPr/>
        </p:nvCxnSpPr>
        <p:spPr>
          <a:xfrm flipH="1">
            <a:off x="5654040" y="4338031"/>
            <a:ext cx="1129665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3" name="Shape 1229"/>
          <p:cNvSpPr txBox="1"/>
          <p:nvPr/>
        </p:nvSpPr>
        <p:spPr>
          <a:xfrm>
            <a:off x="5694680" y="4023995"/>
            <a:ext cx="821055" cy="338455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zh-CN" altLang="en-US" sz="16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页表项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52895" y="3837305"/>
            <a:ext cx="1178560" cy="13373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20580000">
            <a:off x="7819390" y="3361055"/>
            <a:ext cx="1904365" cy="2019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757410" y="2816225"/>
            <a:ext cx="821055" cy="5854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TLB</a:t>
            </a:r>
            <a:endParaRPr lang="en-US"/>
          </a:p>
          <a:p>
            <a:pPr algn="ctr"/>
            <a:r>
              <a:rPr lang="zh-CN" altLang="en-US"/>
              <a:t>缓存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Shape 1089"/>
          <p:cNvSpPr txBox="1">
            <a:spLocks noGrp="1"/>
          </p:cNvSpPr>
          <p:nvPr>
            <p:ph type="title"/>
          </p:nvPr>
        </p:nvSpPr>
        <p:spPr>
          <a:xfrm>
            <a:off x="1881018" y="435678"/>
            <a:ext cx="8329782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地址转换符号说明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90" name="Shape 1090"/>
          <p:cNvSpPr txBox="1">
            <a:spLocks noGrp="1"/>
          </p:cNvSpPr>
          <p:nvPr>
            <p:ph type="body" idx="1"/>
          </p:nvPr>
        </p:nvSpPr>
        <p:spPr>
          <a:xfrm>
            <a:off x="1920876" y="1362075"/>
            <a:ext cx="7896225" cy="526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基本参数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>
                <a:latin typeface="仿宋" panose="02010609060101010101" pitchFamily="49" charset="-122"/>
                <a:ea typeface="仿宋" panose="02010609060101010101" pitchFamily="49" charset="-122"/>
              </a:rPr>
              <a:t>N = 2</a:t>
            </a:r>
            <a:r>
              <a:rPr lang="en-GB" b="1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n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：虚拟地址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空间的地址数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量</a:t>
            </a:r>
            <a:endParaRPr baseline="30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>
                <a:latin typeface="仿宋" panose="02010609060101010101" pitchFamily="49" charset="-122"/>
                <a:ea typeface="仿宋" panose="02010609060101010101" pitchFamily="49" charset="-122"/>
              </a:rPr>
              <a:t>M = 2</a:t>
            </a:r>
            <a:r>
              <a:rPr lang="en-GB" b="1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m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：物理地址空间的地址数量</a:t>
            </a:r>
            <a:endParaRPr baseline="30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>
                <a:latin typeface="仿宋" panose="02010609060101010101" pitchFamily="49" charset="-122"/>
                <a:ea typeface="仿宋" panose="02010609060101010101" pitchFamily="49" charset="-122"/>
              </a:rPr>
              <a:t>P = 2</a:t>
            </a:r>
            <a:r>
              <a:rPr lang="en-GB" b="1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p </a:t>
            </a:r>
            <a:r>
              <a:rPr lang="en-GB" b="1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：页大小（字节）</a:t>
            </a:r>
            <a:endParaRPr baseline="30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虚拟地址（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VA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）的组成部分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TLBI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索引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TLBT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标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签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VPO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：虚拟页偏移量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VPN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：虚拟页号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物理地址（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PA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）的组成部分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PPO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：物理页偏移量（与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VPO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相同）</a:t>
            </a:r>
            <a:endParaRPr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742950" lvl="1" indent="-285750"/>
            <a:r>
              <a:rPr lang="en-GB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PPN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：物理页号</a:t>
            </a:r>
            <a:endParaRPr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Shape 1244"/>
          <p:cNvSpPr txBox="1">
            <a:spLocks noGrp="1"/>
          </p:cNvSpPr>
          <p:nvPr>
            <p:ph type="title"/>
          </p:nvPr>
        </p:nvSpPr>
        <p:spPr>
          <a:xfrm>
            <a:off x="1881019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访问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45" name="Shape 1245"/>
          <p:cNvSpPr txBox="1">
            <a:spLocks noGrp="1"/>
          </p:cNvSpPr>
          <p:nvPr>
            <p:ph type="body" idx="1"/>
          </p:nvPr>
        </p:nvSpPr>
        <p:spPr>
          <a:xfrm>
            <a:off x="1920876" y="1362076"/>
            <a:ext cx="7896225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0"/>
              </a:spcBef>
            </a:pP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MMU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用虚拟地址中的</a:t>
            </a:r>
            <a:r>
              <a:rPr lang="en-GB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VPN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访问 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46" name="Shape 1246"/>
          <p:cNvSpPr/>
          <p:nvPr/>
        </p:nvSpPr>
        <p:spPr>
          <a:xfrm>
            <a:off x="5978527" y="2908300"/>
            <a:ext cx="1658937" cy="30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TLB tag (TLBT)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7" name="Shape 1247"/>
          <p:cNvSpPr/>
          <p:nvPr/>
        </p:nvSpPr>
        <p:spPr>
          <a:xfrm>
            <a:off x="7632701" y="2908300"/>
            <a:ext cx="1770062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TLB index (TLBI)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8" name="Shape 1248"/>
          <p:cNvSpPr txBox="1"/>
          <p:nvPr/>
        </p:nvSpPr>
        <p:spPr>
          <a:xfrm>
            <a:off x="10194926" y="260726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9" name="Shape 1249"/>
          <p:cNvSpPr txBox="1"/>
          <p:nvPr/>
        </p:nvSpPr>
        <p:spPr>
          <a:xfrm>
            <a:off x="9366251" y="2607261"/>
            <a:ext cx="4619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p-1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0" name="Shape 1250"/>
          <p:cNvSpPr txBox="1"/>
          <p:nvPr/>
        </p:nvSpPr>
        <p:spPr>
          <a:xfrm>
            <a:off x="9161463" y="2607261"/>
            <a:ext cx="29527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1" name="Shape 1251"/>
          <p:cNvSpPr txBox="1"/>
          <p:nvPr/>
        </p:nvSpPr>
        <p:spPr>
          <a:xfrm>
            <a:off x="5867400" y="2607261"/>
            <a:ext cx="46198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n-1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2" name="Shape 1252"/>
          <p:cNvSpPr/>
          <p:nvPr/>
        </p:nvSpPr>
        <p:spPr>
          <a:xfrm>
            <a:off x="9404351" y="2908300"/>
            <a:ext cx="919162" cy="3048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VPO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3" name="Shape 1253"/>
          <p:cNvSpPr/>
          <p:nvPr/>
        </p:nvSpPr>
        <p:spPr>
          <a:xfrm rot="-5400000" flipH="1">
            <a:off x="7580313" y="869950"/>
            <a:ext cx="177800" cy="3403600"/>
          </a:xfrm>
          <a:prstGeom prst="leftBrace">
            <a:avLst>
              <a:gd name="adj1" fmla="val 159524"/>
              <a:gd name="adj2" fmla="val 4994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4" name="Shape 1254"/>
          <p:cNvSpPr txBox="1"/>
          <p:nvPr/>
        </p:nvSpPr>
        <p:spPr>
          <a:xfrm>
            <a:off x="7364413" y="2113518"/>
            <a:ext cx="5966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VPN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5" name="Shape 1255"/>
          <p:cNvSpPr txBox="1"/>
          <p:nvPr/>
        </p:nvSpPr>
        <p:spPr>
          <a:xfrm>
            <a:off x="7631113" y="2607261"/>
            <a:ext cx="63511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p+t-1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6" name="Shape 1256"/>
          <p:cNvSpPr txBox="1"/>
          <p:nvPr/>
        </p:nvSpPr>
        <p:spPr>
          <a:xfrm>
            <a:off x="7273926" y="2607261"/>
            <a:ext cx="4683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p+t</a:t>
            </a: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7" name="Shape 1257"/>
          <p:cNvSpPr/>
          <p:nvPr/>
        </p:nvSpPr>
        <p:spPr>
          <a:xfrm>
            <a:off x="2362200" y="3739783"/>
            <a:ext cx="52578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8" name="Shape 1258"/>
          <p:cNvSpPr/>
          <p:nvPr/>
        </p:nvSpPr>
        <p:spPr>
          <a:xfrm>
            <a:off x="2511608" y="3815986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9" name="Shape 1259"/>
          <p:cNvSpPr/>
          <p:nvPr/>
        </p:nvSpPr>
        <p:spPr>
          <a:xfrm>
            <a:off x="3804925" y="3914651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0" name="Shape 1260"/>
          <p:cNvSpPr/>
          <p:nvPr/>
        </p:nvSpPr>
        <p:spPr>
          <a:xfrm>
            <a:off x="3025789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1" name="Shape 1261"/>
          <p:cNvSpPr/>
          <p:nvPr/>
        </p:nvSpPr>
        <p:spPr>
          <a:xfrm>
            <a:off x="2620929" y="3914651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2" name="Shape 1262"/>
          <p:cNvSpPr txBox="1"/>
          <p:nvPr/>
        </p:nvSpPr>
        <p:spPr>
          <a:xfrm rot="-5400000">
            <a:off x="4574943" y="4994139"/>
            <a:ext cx="549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…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3" name="Shape 1263"/>
          <p:cNvSpPr/>
          <p:nvPr/>
        </p:nvSpPr>
        <p:spPr>
          <a:xfrm>
            <a:off x="5064308" y="3815986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4" name="Shape 1264"/>
          <p:cNvSpPr/>
          <p:nvPr/>
        </p:nvSpPr>
        <p:spPr>
          <a:xfrm>
            <a:off x="6357625" y="3914651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5" name="Shape 1265"/>
          <p:cNvSpPr/>
          <p:nvPr/>
        </p:nvSpPr>
        <p:spPr>
          <a:xfrm>
            <a:off x="5578489" y="3914651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6" name="Shape 1266"/>
          <p:cNvSpPr/>
          <p:nvPr/>
        </p:nvSpPr>
        <p:spPr>
          <a:xfrm>
            <a:off x="5173629" y="3914651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7" name="Shape 1267"/>
          <p:cNvSpPr txBox="1"/>
          <p:nvPr/>
        </p:nvSpPr>
        <p:spPr>
          <a:xfrm>
            <a:off x="1727200" y="3847561"/>
            <a:ext cx="659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0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8" name="Shape 1268"/>
          <p:cNvSpPr/>
          <p:nvPr/>
        </p:nvSpPr>
        <p:spPr>
          <a:xfrm>
            <a:off x="2387600" y="4520969"/>
            <a:ext cx="52578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9" name="Shape 1269"/>
          <p:cNvSpPr/>
          <p:nvPr/>
        </p:nvSpPr>
        <p:spPr>
          <a:xfrm>
            <a:off x="2537008" y="4597172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0" name="Shape 1270"/>
          <p:cNvSpPr/>
          <p:nvPr/>
        </p:nvSpPr>
        <p:spPr>
          <a:xfrm>
            <a:off x="3830325" y="4695837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1" name="Shape 1271"/>
          <p:cNvSpPr/>
          <p:nvPr/>
        </p:nvSpPr>
        <p:spPr>
          <a:xfrm>
            <a:off x="3051189" y="4695837"/>
            <a:ext cx="61978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2" name="Shape 1272"/>
          <p:cNvSpPr/>
          <p:nvPr/>
        </p:nvSpPr>
        <p:spPr>
          <a:xfrm>
            <a:off x="2646329" y="4695837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3" name="Shape 1273"/>
          <p:cNvSpPr/>
          <p:nvPr/>
        </p:nvSpPr>
        <p:spPr>
          <a:xfrm>
            <a:off x="5089708" y="4597172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4" name="Shape 1274"/>
          <p:cNvSpPr/>
          <p:nvPr/>
        </p:nvSpPr>
        <p:spPr>
          <a:xfrm>
            <a:off x="6383025" y="4695837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5" name="Shape 1275"/>
          <p:cNvSpPr/>
          <p:nvPr/>
        </p:nvSpPr>
        <p:spPr>
          <a:xfrm>
            <a:off x="5603889" y="4695837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6" name="Shape 1276"/>
          <p:cNvSpPr/>
          <p:nvPr/>
        </p:nvSpPr>
        <p:spPr>
          <a:xfrm>
            <a:off x="5199029" y="4695837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7" name="Shape 1277"/>
          <p:cNvSpPr txBox="1"/>
          <p:nvPr/>
        </p:nvSpPr>
        <p:spPr>
          <a:xfrm>
            <a:off x="1752600" y="4628747"/>
            <a:ext cx="659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1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8" name="Shape 1278"/>
          <p:cNvSpPr/>
          <p:nvPr/>
        </p:nvSpPr>
        <p:spPr>
          <a:xfrm>
            <a:off x="2387600" y="5559358"/>
            <a:ext cx="5257800" cy="612843"/>
          </a:xfrm>
          <a:prstGeom prst="rect">
            <a:avLst/>
          </a:prstGeom>
          <a:solidFill>
            <a:srgbClr val="D5D5F4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9" name="Shape 1279"/>
          <p:cNvSpPr/>
          <p:nvPr/>
        </p:nvSpPr>
        <p:spPr>
          <a:xfrm>
            <a:off x="2537008" y="5635561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0" name="Shape 1280"/>
          <p:cNvSpPr/>
          <p:nvPr/>
        </p:nvSpPr>
        <p:spPr>
          <a:xfrm>
            <a:off x="3830325" y="5734226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1" name="Shape 1281"/>
          <p:cNvSpPr/>
          <p:nvPr/>
        </p:nvSpPr>
        <p:spPr>
          <a:xfrm>
            <a:off x="3051189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2" name="Shape 1282"/>
          <p:cNvSpPr/>
          <p:nvPr/>
        </p:nvSpPr>
        <p:spPr>
          <a:xfrm>
            <a:off x="2646329" y="5734226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3" name="Shape 1283"/>
          <p:cNvSpPr/>
          <p:nvPr/>
        </p:nvSpPr>
        <p:spPr>
          <a:xfrm>
            <a:off x="5089708" y="5635561"/>
            <a:ext cx="2377893" cy="460443"/>
          </a:xfrm>
          <a:prstGeom prst="rect">
            <a:avLst/>
          </a:prstGeom>
          <a:solidFill>
            <a:srgbClr val="ACACEA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4" name="Shape 1284"/>
          <p:cNvSpPr/>
          <p:nvPr/>
        </p:nvSpPr>
        <p:spPr>
          <a:xfrm>
            <a:off x="6383025" y="5734226"/>
            <a:ext cx="932626" cy="26635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5" name="Shape 1285"/>
          <p:cNvSpPr/>
          <p:nvPr/>
        </p:nvSpPr>
        <p:spPr>
          <a:xfrm>
            <a:off x="5603889" y="5734226"/>
            <a:ext cx="619789" cy="26311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tag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6" name="Shape 1286"/>
          <p:cNvSpPr/>
          <p:nvPr/>
        </p:nvSpPr>
        <p:spPr>
          <a:xfrm>
            <a:off x="5199029" y="5734226"/>
            <a:ext cx="235319" cy="2631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7" name="Shape 1287"/>
          <p:cNvSpPr txBox="1"/>
          <p:nvPr/>
        </p:nvSpPr>
        <p:spPr>
          <a:xfrm>
            <a:off x="1524001" y="5667136"/>
            <a:ext cx="8441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T-1</a:t>
            </a:r>
            <a:endParaRPr lang="en-GB" sz="18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8" name="Shape 1288"/>
          <p:cNvSpPr txBox="1"/>
          <p:nvPr/>
        </p:nvSpPr>
        <p:spPr>
          <a:xfrm>
            <a:off x="8901611" y="1928852"/>
            <a:ext cx="11430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T = 2</a:t>
            </a:r>
            <a:r>
              <a:rPr lang="en-GB" sz="1800" b="1" baseline="30000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t</a:t>
            </a:r>
            <a:r>
              <a:rPr lang="en-GB" sz="18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zh-CN" altLang="en-US" sz="18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组</a:t>
            </a:r>
            <a:endParaRPr sz="1800" b="1" baseline="30000" dirty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89" name="Shape 1289"/>
          <p:cNvGrpSpPr/>
          <p:nvPr/>
        </p:nvGrpSpPr>
        <p:grpSpPr>
          <a:xfrm>
            <a:off x="7645401" y="3213100"/>
            <a:ext cx="2967558" cy="1663800"/>
            <a:chOff x="6121401" y="3213100"/>
            <a:chExt cx="2967558" cy="1663800"/>
          </a:xfrm>
        </p:grpSpPr>
        <p:cxnSp>
          <p:nvCxnSpPr>
            <p:cNvPr id="1290" name="Shape 1290"/>
            <p:cNvCxnSpPr>
              <a:stCxn id="1247" idx="2"/>
            </p:cNvCxnSpPr>
            <p:nvPr/>
          </p:nvCxnSpPr>
          <p:spPr>
            <a:xfrm>
              <a:off x="6993732" y="3213100"/>
              <a:ext cx="0" cy="16638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1" name="Shape 1291"/>
            <p:cNvCxnSpPr/>
            <p:nvPr/>
          </p:nvCxnSpPr>
          <p:spPr>
            <a:xfrm rot="10800000">
              <a:off x="6121401" y="4876800"/>
              <a:ext cx="872331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92" name="Shape 1292"/>
            <p:cNvSpPr txBox="1"/>
            <p:nvPr/>
          </p:nvSpPr>
          <p:spPr>
            <a:xfrm>
              <a:off x="7086600" y="4177761"/>
              <a:ext cx="200235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TLBI </a:t>
              </a:r>
              <a:r>
                <a:rPr lang="zh-CN" altLang="en-US" sz="1800" b="1" dirty="0" smtClean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选择组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grpSp>
        <p:nvGrpSpPr>
          <p:cNvPr id="1293" name="Shape 1293"/>
          <p:cNvGrpSpPr/>
          <p:nvPr/>
        </p:nvGrpSpPr>
        <p:grpSpPr>
          <a:xfrm>
            <a:off x="3352682" y="2395319"/>
            <a:ext cx="2625844" cy="2300518"/>
            <a:chOff x="1828682" y="2395319"/>
            <a:chExt cx="2625844" cy="2300518"/>
          </a:xfrm>
        </p:grpSpPr>
        <p:cxnSp>
          <p:nvCxnSpPr>
            <p:cNvPr id="1294" name="Shape 1294"/>
            <p:cNvCxnSpPr>
              <a:stCxn id="1246" idx="1"/>
            </p:cNvCxnSpPr>
            <p:nvPr/>
          </p:nvCxnSpPr>
          <p:spPr>
            <a:xfrm rot="10800000">
              <a:off x="1828926" y="3048100"/>
              <a:ext cx="2625600" cy="126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5" name="Shape 1295"/>
            <p:cNvCxnSpPr>
              <a:endCxn id="1271" idx="0"/>
            </p:cNvCxnSpPr>
            <p:nvPr/>
          </p:nvCxnSpPr>
          <p:spPr>
            <a:xfrm>
              <a:off x="1828682" y="3047937"/>
              <a:ext cx="8400" cy="16479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296" name="Shape 1296"/>
            <p:cNvSpPr txBox="1"/>
            <p:nvPr/>
          </p:nvSpPr>
          <p:spPr>
            <a:xfrm>
              <a:off x="2281787" y="2395319"/>
              <a:ext cx="206161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GB" sz="1800" b="1" dirty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TLBT </a:t>
              </a:r>
              <a:r>
                <a:rPr lang="zh-CN" altLang="en-US" sz="1800" b="1" dirty="0" smtClean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匹配组内行的标签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793355" y="2000250"/>
            <a:ext cx="1894840" cy="197358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91585" y="1484630"/>
            <a:ext cx="3481070" cy="1644650"/>
          </a:xfrm>
          <a:prstGeom prst="rect">
            <a:avLst/>
          </a:prstGeom>
          <a:gradFill>
            <a:gsLst>
              <a:gs pos="0">
                <a:srgbClr val="00B050">
                  <a:alpha val="100000"/>
                </a:srgbClr>
              </a:gs>
              <a:gs pos="100000">
                <a:srgbClr val="52762D"/>
              </a:gs>
            </a:gsLst>
            <a:lin ang="5400000" scaled="0"/>
          </a:gra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800" b="0" i="0" u="none" strike="noStrike" cap="none" normalizeH="0" baseline="0" smtClean="0">
              <a:ln>
                <a:noFill/>
              </a:ln>
              <a:solidFill>
                <a:srgbClr val="00B050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33750" y="3394075"/>
            <a:ext cx="3177540" cy="2574290"/>
          </a:xfrm>
          <a:prstGeom prst="rect">
            <a:avLst/>
          </a:prstGeom>
          <a:solidFill>
            <a:schemeClr val="bg1">
              <a:lumMod val="75000"/>
            </a:schemeClr>
          </a:solidFill>
          <a:ln w="285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AU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704020202020204" pitchFamily="34" charset="0"/>
            </a:endParaRPr>
          </a:p>
        </p:txBody>
      </p:sp>
      <p:sp>
        <p:nvSpPr>
          <p:cNvPr id="79874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41596EE5-D4B2-B544-A153-6DA93991EB85}" type="slidenum">
              <a:rPr lang="en-AU" altLang="en-US"/>
            </a:fld>
            <a:endParaRPr lang="en-AU" altLang="en-US"/>
          </a:p>
        </p:txBody>
      </p:sp>
      <p:pic>
        <p:nvPicPr>
          <p:cNvPr id="79875" name="Picture 5" descr="f05-2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085" y="1244600"/>
            <a:ext cx="6570345" cy="4631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lstStyle/>
          <a:p>
            <a:pPr eaLnBrk="1" hangingPunct="1"/>
            <a:r>
              <a:rPr lang="zh-CN" altLang="en-US"/>
              <a:t>利用</a:t>
            </a:r>
            <a:r>
              <a:rPr lang="en-US" altLang="en-US"/>
              <a:t>TLB</a:t>
            </a:r>
            <a:r>
              <a:rPr lang="zh-CN" altLang="en-US"/>
              <a:t>实现快速的页地址</a:t>
            </a:r>
            <a:r>
              <a:rPr lang="zh-CN" altLang="en-US"/>
              <a:t>翻译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6031230" y="1128395"/>
            <a:ext cx="2895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00B050"/>
                </a:solidFill>
                <a:sym typeface="+mn-ea"/>
              </a:rPr>
              <a:t>页表的缓存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, 0.5~1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个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周期</a:t>
            </a:r>
            <a:endParaRPr lang="zh-CN" altLang="en-US"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719830" y="6021070"/>
            <a:ext cx="2602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>
                <a:solidFill>
                  <a:schemeClr val="bg1">
                    <a:lumMod val="50000"/>
                  </a:schemeClr>
                </a:solidFill>
                <a:sym typeface="+mn-ea"/>
              </a:rPr>
              <a:t>memory, 10~100 cycles</a:t>
            </a:r>
            <a:endParaRPr lang="en-US" altLang="en-US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Shape 1302"/>
          <p:cNvSpPr/>
          <p:nvPr/>
        </p:nvSpPr>
        <p:spPr>
          <a:xfrm>
            <a:off x="2908986" y="1752600"/>
            <a:ext cx="3749615" cy="269524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03" name="Shape 1303"/>
          <p:cNvSpPr txBox="1">
            <a:spLocks noGrp="1"/>
          </p:cNvSpPr>
          <p:nvPr>
            <p:ph type="title"/>
          </p:nvPr>
        </p:nvSpPr>
        <p:spPr>
          <a:xfrm>
            <a:off x="1981201" y="436562"/>
            <a:ext cx="8716963" cy="78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命中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04" name="Shape 1304"/>
          <p:cNvSpPr/>
          <p:nvPr/>
        </p:nvSpPr>
        <p:spPr>
          <a:xfrm>
            <a:off x="5487987" y="3007259"/>
            <a:ext cx="1066800" cy="1237384"/>
          </a:xfrm>
          <a:prstGeom prst="rect">
            <a:avLst/>
          </a:prstGeom>
          <a:solidFill>
            <a:srgbClr val="DBF2DA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5" name="Shape 1305"/>
          <p:cNvSpPr/>
          <p:nvPr/>
        </p:nvSpPr>
        <p:spPr>
          <a:xfrm>
            <a:off x="8077200" y="2722233"/>
            <a:ext cx="914400" cy="2284410"/>
          </a:xfrm>
          <a:prstGeom prst="rect">
            <a:avLst/>
          </a:prstGeom>
          <a:solidFill>
            <a:srgbClr val="EBEBEB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Cache/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06" name="Shape 1306"/>
          <p:cNvSpPr/>
          <p:nvPr/>
        </p:nvSpPr>
        <p:spPr>
          <a:xfrm>
            <a:off x="3049587" y="3359738"/>
            <a:ext cx="1066800" cy="533400"/>
          </a:xfrm>
          <a:prstGeom prst="rect">
            <a:avLst/>
          </a:prstGeom>
          <a:solidFill>
            <a:srgbClr val="F6D2D2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7" name="Shape 1307"/>
          <p:cNvSpPr txBox="1"/>
          <p:nvPr/>
        </p:nvSpPr>
        <p:spPr>
          <a:xfrm>
            <a:off x="2914152" y="1752600"/>
            <a:ext cx="1202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 dirty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CPU 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芯片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1308" name="Shape 1308"/>
          <p:cNvGrpSpPr/>
          <p:nvPr/>
        </p:nvGrpSpPr>
        <p:grpSpPr>
          <a:xfrm>
            <a:off x="4116387" y="3119440"/>
            <a:ext cx="1370100" cy="541005"/>
            <a:chOff x="2592387" y="3119439"/>
            <a:chExt cx="1370100" cy="541005"/>
          </a:xfrm>
        </p:grpSpPr>
        <p:cxnSp>
          <p:nvCxnSpPr>
            <p:cNvPr id="1309" name="Shape 1309"/>
            <p:cNvCxnSpPr>
              <a:stCxn id="1306" idx="3"/>
            </p:cNvCxnSpPr>
            <p:nvPr/>
          </p:nvCxnSpPr>
          <p:spPr>
            <a:xfrm rot="10800000" flipH="1">
              <a:off x="2592387" y="3621938"/>
              <a:ext cx="1370100" cy="450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10" name="Shape 1310"/>
            <p:cNvSpPr txBox="1"/>
            <p:nvPr/>
          </p:nvSpPr>
          <p:spPr>
            <a:xfrm>
              <a:off x="3049587" y="3354782"/>
              <a:ext cx="442702" cy="30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VA</a:t>
              </a:r>
              <a:endParaRPr dirty="0"/>
            </a:p>
          </p:txBody>
        </p:sp>
        <p:sp>
          <p:nvSpPr>
            <p:cNvPr id="1311" name="Shape 1311"/>
            <p:cNvSpPr/>
            <p:nvPr/>
          </p:nvSpPr>
          <p:spPr>
            <a:xfrm>
              <a:off x="3107266" y="3119439"/>
              <a:ext cx="274637" cy="274638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1</a:t>
              </a:r>
              <a:endPara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12" name="Shape 1312"/>
          <p:cNvGrpSpPr/>
          <p:nvPr/>
        </p:nvGrpSpPr>
        <p:grpSpPr>
          <a:xfrm>
            <a:off x="6554788" y="3352800"/>
            <a:ext cx="1522413" cy="594390"/>
            <a:chOff x="5030787" y="3352800"/>
            <a:chExt cx="1522413" cy="594390"/>
          </a:xfrm>
        </p:grpSpPr>
        <p:sp>
          <p:nvSpPr>
            <p:cNvPr id="1313" name="Shape 1313"/>
            <p:cNvSpPr txBox="1"/>
            <p:nvPr/>
          </p:nvSpPr>
          <p:spPr>
            <a:xfrm>
              <a:off x="5606298" y="3352800"/>
              <a:ext cx="399964" cy="30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 dirty="0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PA</a:t>
              </a:r>
              <a:endParaRPr dirty="0"/>
            </a:p>
          </p:txBody>
        </p:sp>
        <p:cxnSp>
          <p:nvCxnSpPr>
            <p:cNvPr id="1314" name="Shape 1314"/>
            <p:cNvCxnSpPr/>
            <p:nvPr/>
          </p:nvCxnSpPr>
          <p:spPr>
            <a:xfrm rot="10800000" flipH="1">
              <a:off x="5030787" y="3605659"/>
              <a:ext cx="1522413" cy="1376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15" name="Shape 1315"/>
            <p:cNvSpPr/>
            <p:nvPr/>
          </p:nvSpPr>
          <p:spPr>
            <a:xfrm>
              <a:off x="5656358" y="3672552"/>
              <a:ext cx="274638" cy="274638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4</a:t>
              </a:r>
              <a:endPara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16" name="Shape 1316"/>
          <p:cNvGrpSpPr/>
          <p:nvPr/>
        </p:nvGrpSpPr>
        <p:grpSpPr>
          <a:xfrm>
            <a:off x="3582987" y="3893138"/>
            <a:ext cx="4494300" cy="1444568"/>
            <a:chOff x="2058987" y="3893138"/>
            <a:chExt cx="4494300" cy="1444568"/>
          </a:xfrm>
        </p:grpSpPr>
        <p:sp>
          <p:nvSpPr>
            <p:cNvPr id="1317" name="Shape 1317"/>
            <p:cNvSpPr txBox="1"/>
            <p:nvPr/>
          </p:nvSpPr>
          <p:spPr>
            <a:xfrm>
              <a:off x="3768915" y="4778043"/>
              <a:ext cx="758826" cy="30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zh-CN" altLang="en-US" b="1" dirty="0" smtClean="0">
                  <a:solidFill>
                    <a:schemeClr val="dk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数据</a:t>
              </a:r>
              <a:endParaRPr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cxnSp>
          <p:nvCxnSpPr>
            <p:cNvPr id="1318" name="Shape 1318"/>
            <p:cNvCxnSpPr>
              <a:endCxn id="1306" idx="2"/>
            </p:cNvCxnSpPr>
            <p:nvPr/>
          </p:nvCxnSpPr>
          <p:spPr>
            <a:xfrm rot="10800000">
              <a:off x="2058987" y="3893138"/>
              <a:ext cx="4494300" cy="885000"/>
            </a:xfrm>
            <a:prstGeom prst="bentConnector2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19" name="Shape 1319"/>
            <p:cNvSpPr/>
            <p:nvPr/>
          </p:nvSpPr>
          <p:spPr>
            <a:xfrm>
              <a:off x="4021666" y="5063069"/>
              <a:ext cx="274638" cy="274637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lt1"/>
                  </a:solidFill>
                  <a:latin typeface="仿宋" panose="02010609060101010101" pitchFamily="49" charset="-122"/>
                  <a:ea typeface="仿宋" panose="02010609060101010101" pitchFamily="49" charset="-122"/>
                  <a:cs typeface="Calibri" panose="020F0502020204030204"/>
                  <a:sym typeface="Calibri" panose="020F0502020204030204"/>
                </a:rPr>
                <a:t>5</a:t>
              </a:r>
              <a:endParaRPr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</p:grpSp>
      <p:sp>
        <p:nvSpPr>
          <p:cNvPr id="1320" name="Shape 1320"/>
          <p:cNvSpPr txBox="1"/>
          <p:nvPr/>
        </p:nvSpPr>
        <p:spPr>
          <a:xfrm>
            <a:off x="2030095" y="5822950"/>
            <a:ext cx="8381365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rgbClr val="990000"/>
              </a:buClr>
              <a:buSzPts val="1440"/>
            </a:pPr>
            <a:r>
              <a:rPr lang="en-GB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24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TLB </a:t>
            </a:r>
            <a:r>
              <a:rPr lang="zh-CN" altLang="en-US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命中可以消除</a:t>
            </a:r>
            <a:r>
              <a:rPr lang="zh-CN" altLang="en-US" sz="2400" b="1" i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一次内存访问</a:t>
            </a:r>
            <a:r>
              <a:rPr lang="en-US" altLang="zh-CN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（</a:t>
            </a:r>
            <a:r>
              <a:rPr lang="zh-CN" altLang="en-US" sz="2400">
                <a:sym typeface="+mn-ea"/>
              </a:rPr>
              <a:t>多级页表则消除多次</a:t>
            </a:r>
            <a:r>
              <a:rPr lang="en-US" altLang="zh-CN" sz="2400">
                <a:sym typeface="+mn-ea"/>
              </a:rPr>
              <a:t>）</a:t>
            </a:r>
            <a:endParaRPr lang="en-US" altLang="zh-CN" sz="2400" b="1" dirty="0" smtClean="0">
              <a:solidFill>
                <a:schemeClr val="dk1"/>
              </a:solidFill>
              <a:latin typeface="仿宋" panose="02010609060101010101" pitchFamily="49" charset="-122"/>
              <a:ea typeface="仿宋" panose="02010609060101010101" pitchFamily="49" charset="-122"/>
              <a:cs typeface="Calibri" panose="020F0502020204030204"/>
              <a:sym typeface="+mn-ea"/>
            </a:endParaRPr>
          </a:p>
        </p:txBody>
      </p:sp>
      <p:sp>
        <p:nvSpPr>
          <p:cNvPr id="1321" name="Shape 1321"/>
          <p:cNvSpPr/>
          <p:nvPr/>
        </p:nvSpPr>
        <p:spPr>
          <a:xfrm>
            <a:off x="5486400" y="1905000"/>
            <a:ext cx="1066800" cy="381000"/>
          </a:xfrm>
          <a:prstGeom prst="rect">
            <a:avLst/>
          </a:prstGeom>
          <a:solidFill>
            <a:srgbClr val="D5D5F4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TLB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322" name="Shape 1322"/>
          <p:cNvGrpSpPr/>
          <p:nvPr/>
        </p:nvGrpSpPr>
        <p:grpSpPr>
          <a:xfrm>
            <a:off x="5452532" y="2286001"/>
            <a:ext cx="502358" cy="721259"/>
            <a:chOff x="3928532" y="2286000"/>
            <a:chExt cx="502358" cy="721259"/>
          </a:xfrm>
        </p:grpSpPr>
        <p:sp>
          <p:nvSpPr>
            <p:cNvPr id="1323" name="Shape 1323"/>
            <p:cNvSpPr/>
            <p:nvPr/>
          </p:nvSpPr>
          <p:spPr>
            <a:xfrm>
              <a:off x="4038600" y="2362200"/>
              <a:ext cx="274638" cy="274638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2</a:t>
              </a:r>
              <a:endPara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1324" name="Shape 1324"/>
            <p:cNvCxnSpPr/>
            <p:nvPr/>
          </p:nvCxnSpPr>
          <p:spPr>
            <a:xfrm rot="5400000" flipH="1">
              <a:off x="4058177" y="2645836"/>
              <a:ext cx="721259" cy="1587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25" name="Shape 1325"/>
            <p:cNvSpPr txBox="1"/>
            <p:nvPr/>
          </p:nvSpPr>
          <p:spPr>
            <a:xfrm>
              <a:off x="3928532" y="2667000"/>
              <a:ext cx="502358" cy="30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VPN</a:t>
              </a:r>
              <a:endPara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26" name="Shape 1326"/>
          <p:cNvGrpSpPr/>
          <p:nvPr/>
        </p:nvGrpSpPr>
        <p:grpSpPr>
          <a:xfrm>
            <a:off x="6170613" y="2286001"/>
            <a:ext cx="455342" cy="721259"/>
            <a:chOff x="4646613" y="2286000"/>
            <a:chExt cx="455342" cy="721259"/>
          </a:xfrm>
        </p:grpSpPr>
        <p:sp>
          <p:nvSpPr>
            <p:cNvPr id="1327" name="Shape 1327"/>
            <p:cNvSpPr txBox="1"/>
            <p:nvPr/>
          </p:nvSpPr>
          <p:spPr>
            <a:xfrm>
              <a:off x="4648200" y="2311401"/>
              <a:ext cx="453755" cy="305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PTE</a:t>
              </a:r>
              <a:endPara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1328" name="Shape 1328"/>
            <p:cNvCxnSpPr/>
            <p:nvPr/>
          </p:nvCxnSpPr>
          <p:spPr>
            <a:xfrm rot="5400000">
              <a:off x="4286777" y="2645836"/>
              <a:ext cx="721259" cy="1587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1329" name="Shape 1329"/>
            <p:cNvSpPr/>
            <p:nvPr/>
          </p:nvSpPr>
          <p:spPr>
            <a:xfrm>
              <a:off x="4737628" y="2633132"/>
              <a:ext cx="274638" cy="274637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algn="ctr">
                <a:lnSpc>
                  <a:spcPct val="98000"/>
                </a:lnSpc>
              </a:pPr>
              <a:r>
                <a:rPr lang="en-GB" b="1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3</a:t>
              </a:r>
              <a:endPara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Shape 1335"/>
          <p:cNvSpPr/>
          <p:nvPr/>
        </p:nvSpPr>
        <p:spPr>
          <a:xfrm>
            <a:off x="2908986" y="1724358"/>
            <a:ext cx="3749615" cy="269524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2400" b="1">
              <a:solidFill>
                <a:schemeClr val="dk1"/>
              </a:solidFill>
              <a:latin typeface="Arial Narrow" panose="020B0706020202030204"/>
              <a:ea typeface="Arial Narrow" panose="020B0706020202030204"/>
              <a:cs typeface="Arial Narrow" panose="020B0706020202030204"/>
              <a:sym typeface="Arial Narrow" panose="020B0706020202030204"/>
            </a:endParaRPr>
          </a:p>
        </p:txBody>
      </p:sp>
      <p:sp>
        <p:nvSpPr>
          <p:cNvPr id="1336" name="Shape 1336"/>
          <p:cNvSpPr txBox="1">
            <a:spLocks noGrp="1"/>
          </p:cNvSpPr>
          <p:nvPr>
            <p:ph type="title"/>
          </p:nvPr>
        </p:nvSpPr>
        <p:spPr>
          <a:xfrm>
            <a:off x="1981201" y="436562"/>
            <a:ext cx="8716963" cy="78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9380" indent="-119380"/>
            <a:r>
              <a:rPr lang="en-GB" dirty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缺失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37" name="Shape 1337"/>
          <p:cNvSpPr/>
          <p:nvPr/>
        </p:nvSpPr>
        <p:spPr>
          <a:xfrm>
            <a:off x="5487987" y="3007259"/>
            <a:ext cx="1066800" cy="1237384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MMU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8" name="Shape 1338"/>
          <p:cNvSpPr/>
          <p:nvPr/>
        </p:nvSpPr>
        <p:spPr>
          <a:xfrm>
            <a:off x="8077200" y="2722233"/>
            <a:ext cx="914400" cy="2284410"/>
          </a:xfrm>
          <a:prstGeom prst="rect">
            <a:avLst/>
          </a:prstGeom>
          <a:solidFill>
            <a:srgbClr val="EBEBEB"/>
          </a:solidFill>
          <a:ln w="190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sz="16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Cache/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主存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39" name="Shape 1339"/>
          <p:cNvSpPr txBox="1"/>
          <p:nvPr/>
        </p:nvSpPr>
        <p:spPr>
          <a:xfrm>
            <a:off x="7100701" y="3810000"/>
            <a:ext cx="414257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</a:t>
            </a:r>
            <a:endParaRPr dirty="0"/>
          </a:p>
        </p:txBody>
      </p:sp>
      <p:sp>
        <p:nvSpPr>
          <p:cNvPr id="1340" name="Shape 1340"/>
          <p:cNvSpPr txBox="1"/>
          <p:nvPr/>
        </p:nvSpPr>
        <p:spPr>
          <a:xfrm>
            <a:off x="5411786" y="4778043"/>
            <a:ext cx="65068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数据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341" name="Shape 1341"/>
          <p:cNvCxnSpPr/>
          <p:nvPr/>
        </p:nvCxnSpPr>
        <p:spPr>
          <a:xfrm rot="10800000" flipH="1">
            <a:off x="6554788" y="4062859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42" name="Shape 1342"/>
          <p:cNvSpPr/>
          <p:nvPr/>
        </p:nvSpPr>
        <p:spPr>
          <a:xfrm>
            <a:off x="3049587" y="3359738"/>
            <a:ext cx="1066800" cy="5334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43" name="Shape 1343"/>
          <p:cNvCxnSpPr>
            <a:stCxn id="1342" idx="3"/>
          </p:cNvCxnSpPr>
          <p:nvPr/>
        </p:nvCxnSpPr>
        <p:spPr>
          <a:xfrm rot="10800000" flipH="1">
            <a:off x="4116387" y="3621938"/>
            <a:ext cx="1370100" cy="45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44" name="Shape 1344"/>
          <p:cNvSpPr txBox="1"/>
          <p:nvPr/>
        </p:nvSpPr>
        <p:spPr>
          <a:xfrm>
            <a:off x="4573588" y="3354782"/>
            <a:ext cx="408423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VA</a:t>
            </a:r>
            <a:endParaRPr dirty="0"/>
          </a:p>
        </p:txBody>
      </p:sp>
      <p:sp>
        <p:nvSpPr>
          <p:cNvPr id="1345" name="Shape 1345"/>
          <p:cNvSpPr txBox="1"/>
          <p:nvPr/>
        </p:nvSpPr>
        <p:spPr>
          <a:xfrm>
            <a:off x="2914152" y="1752600"/>
            <a:ext cx="12022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GB" sz="1800" b="1" i="1" dirty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CPU 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芯片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46" name="Shape 1346"/>
          <p:cNvSpPr txBox="1"/>
          <p:nvPr/>
        </p:nvSpPr>
        <p:spPr>
          <a:xfrm>
            <a:off x="7061203" y="2361338"/>
            <a:ext cx="453755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47" name="Shape 1347"/>
          <p:cNvCxnSpPr>
            <a:endCxn id="1342" idx="2"/>
          </p:cNvCxnSpPr>
          <p:nvPr/>
        </p:nvCxnSpPr>
        <p:spPr>
          <a:xfrm rot="10800000">
            <a:off x="3582987" y="3893138"/>
            <a:ext cx="4494300" cy="885000"/>
          </a:xfrm>
          <a:prstGeom prst="bentConnector2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48" name="Shape 1348"/>
          <p:cNvSpPr/>
          <p:nvPr/>
        </p:nvSpPr>
        <p:spPr>
          <a:xfrm>
            <a:off x="4631267" y="3119439"/>
            <a:ext cx="274637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9" name="Shape 1349"/>
          <p:cNvSpPr/>
          <p:nvPr/>
        </p:nvSpPr>
        <p:spPr>
          <a:xfrm>
            <a:off x="5562600" y="2362200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0" name="Shape 1350"/>
          <p:cNvSpPr/>
          <p:nvPr/>
        </p:nvSpPr>
        <p:spPr>
          <a:xfrm>
            <a:off x="7150760" y="4129752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1" name="Shape 1351"/>
          <p:cNvSpPr/>
          <p:nvPr/>
        </p:nvSpPr>
        <p:spPr>
          <a:xfrm>
            <a:off x="5545666" y="5063070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r>
            <a:endParaRPr lang="en-GB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2" name="Shape 1352"/>
          <p:cNvSpPr/>
          <p:nvPr/>
        </p:nvSpPr>
        <p:spPr>
          <a:xfrm>
            <a:off x="5486400" y="1905000"/>
            <a:ext cx="1066800" cy="381000"/>
          </a:xfrm>
          <a:prstGeom prst="rect">
            <a:avLst/>
          </a:prstGeom>
          <a:solidFill>
            <a:srgbClr val="D5D5F4"/>
          </a:solidFill>
          <a:ln w="126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TLB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53" name="Shape 1353"/>
          <p:cNvCxnSpPr/>
          <p:nvPr/>
        </p:nvCxnSpPr>
        <p:spPr>
          <a:xfrm rot="5400000" flipH="1">
            <a:off x="5582178" y="2645837"/>
            <a:ext cx="721259" cy="158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354" name="Shape 1354"/>
          <p:cNvCxnSpPr/>
          <p:nvPr/>
        </p:nvCxnSpPr>
        <p:spPr>
          <a:xfrm rot="5400000">
            <a:off x="5810778" y="2645837"/>
            <a:ext cx="721259" cy="1587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355" name="Shape 1355"/>
          <p:cNvSpPr txBox="1"/>
          <p:nvPr/>
        </p:nvSpPr>
        <p:spPr>
          <a:xfrm>
            <a:off x="5452532" y="2667000"/>
            <a:ext cx="502358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VPN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6" name="Shape 1356"/>
          <p:cNvSpPr/>
          <p:nvPr/>
        </p:nvSpPr>
        <p:spPr>
          <a:xfrm>
            <a:off x="7150760" y="2121432"/>
            <a:ext cx="274638" cy="274637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r>
            <a:endParaRPr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7" name="Shape 1357"/>
          <p:cNvSpPr txBox="1"/>
          <p:nvPr/>
        </p:nvSpPr>
        <p:spPr>
          <a:xfrm>
            <a:off x="7037389" y="3371716"/>
            <a:ext cx="560579" cy="305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PTEA</a:t>
            </a:r>
            <a:endParaRPr lang="en-GB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58" name="Shape 1358"/>
          <p:cNvCxnSpPr/>
          <p:nvPr/>
        </p:nvCxnSpPr>
        <p:spPr>
          <a:xfrm rot="10800000" flipH="1">
            <a:off x="6554788" y="3624575"/>
            <a:ext cx="1522413" cy="137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59" name="Shape 1359"/>
          <p:cNvSpPr/>
          <p:nvPr/>
        </p:nvSpPr>
        <p:spPr>
          <a:xfrm>
            <a:off x="7150760" y="3124200"/>
            <a:ext cx="274638" cy="274638"/>
          </a:xfrm>
          <a:prstGeom prst="ellipse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r>
            <a:endParaRPr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360" name="Shape 1360"/>
          <p:cNvCxnSpPr/>
          <p:nvPr/>
        </p:nvCxnSpPr>
        <p:spPr>
          <a:xfrm rot="10800000">
            <a:off x="6172200" y="2636740"/>
            <a:ext cx="1905000" cy="482700"/>
          </a:xfrm>
          <a:prstGeom prst="bentConnector3">
            <a:avLst>
              <a:gd name="adj1" fmla="val 21556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61" name="Shape 1361"/>
          <p:cNvSpPr txBox="1"/>
          <p:nvPr/>
        </p:nvSpPr>
        <p:spPr>
          <a:xfrm>
            <a:off x="2043114" y="5715000"/>
            <a:ext cx="77104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990000"/>
              </a:buClr>
              <a:buSzPts val="1440"/>
            </a:pPr>
            <a:r>
              <a:rPr lang="en-GB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TLB </a:t>
            </a:r>
            <a:r>
              <a:rPr lang="zh-CN" altLang="en-US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缺失会导致额外的内存访问（</a:t>
            </a:r>
            <a:r>
              <a:rPr lang="en-US" altLang="zh-CN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PTE</a:t>
            </a:r>
            <a:r>
              <a:rPr lang="zh-CN" altLang="en-US" sz="24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）</a:t>
            </a:r>
            <a:br>
              <a:rPr lang="en-GB" sz="2400" b="1" dirty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</a:br>
            <a:r>
              <a:rPr lang="zh-CN" altLang="en-US" sz="2000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幸运的是，</a:t>
            </a:r>
            <a:r>
              <a:rPr lang="en-US" altLang="zh-CN" sz="2000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TLB</a:t>
            </a:r>
            <a:r>
              <a:rPr lang="zh-CN" altLang="en-US" sz="2000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缺失很少发生。为什么？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ED2ECC7D-DBEC-4E49-BD7B-4A5073720DDE}" type="slidenum">
              <a:rPr lang="en-AU" altLang="en-US"/>
            </a:fld>
            <a:endParaRPr lang="en-AU" altLang="en-US"/>
          </a:p>
        </p:txBody>
      </p:sp>
      <p:sp>
        <p:nvSpPr>
          <p:cNvPr id="808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TLB</a:t>
            </a:r>
            <a:r>
              <a:rPr lang="zh-CN" altLang="en-US"/>
              <a:t>失效</a:t>
            </a:r>
            <a:endParaRPr lang="zh-CN" altLang="en-US"/>
          </a:p>
        </p:txBody>
      </p:sp>
      <p:sp>
        <p:nvSpPr>
          <p:cNvPr id="8090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检查内存中的页表</a:t>
            </a:r>
            <a:endParaRPr lang="en-US" altLang="en-US"/>
          </a:p>
          <a:p>
            <a:pPr lvl="1"/>
            <a:r>
              <a:rPr lang="zh-CN" altLang="en-US"/>
              <a:t>如果页表项中存的是页号</a:t>
            </a:r>
            <a:endParaRPr lang="zh-CN" altLang="en-US"/>
          </a:p>
          <a:p>
            <a:pPr lvl="2"/>
            <a:r>
              <a:rPr lang="zh-CN" altLang="en-US"/>
              <a:t>从页表中加载页表项到</a:t>
            </a:r>
            <a:r>
              <a:rPr lang="en-US" altLang="zh-CN"/>
              <a:t>TLB</a:t>
            </a:r>
            <a:r>
              <a:rPr lang="zh-CN" altLang="en-US"/>
              <a:t>，然后重启内存访问指令</a:t>
            </a:r>
            <a:endParaRPr lang="zh-CN" altLang="en-US"/>
          </a:p>
          <a:p>
            <a:pPr lvl="2"/>
            <a:r>
              <a:rPr lang="zh-CN" altLang="en-US"/>
              <a:t>可以用硬件处理</a:t>
            </a:r>
            <a:r>
              <a:rPr lang="en-US" altLang="zh-CN"/>
              <a:t>：</a:t>
            </a:r>
            <a:r>
              <a:rPr lang="zh-CN" altLang="en-US"/>
              <a:t>复杂的页表结构会导致复杂的硬件</a:t>
            </a:r>
            <a:endParaRPr lang="zh-CN" altLang="en-US"/>
          </a:p>
          <a:p>
            <a:pPr lvl="2"/>
            <a:r>
              <a:rPr lang="zh-CN" altLang="en-US"/>
              <a:t>也可以用软件处理</a:t>
            </a:r>
            <a:r>
              <a:rPr lang="en-US" altLang="zh-CN"/>
              <a:t>：</a:t>
            </a:r>
            <a:r>
              <a:rPr lang="zh-CN" altLang="en-US"/>
              <a:t>触发一个特殊的异常，然后转异常处理代码来处理</a:t>
            </a:r>
            <a:endParaRPr lang="en-US" altLang="en-US"/>
          </a:p>
          <a:p>
            <a:pPr lvl="1"/>
            <a:r>
              <a:rPr lang="zh-CN" altLang="en-US"/>
              <a:t>如果页表项中存的是磁盘地址</a:t>
            </a:r>
            <a:endParaRPr lang="en-US" altLang="en-US"/>
          </a:p>
          <a:p>
            <a:pPr lvl="2"/>
            <a:r>
              <a:rPr lang="zh-CN" altLang="en-US"/>
              <a:t>表示要访问的数据不在内存（</a:t>
            </a:r>
            <a:r>
              <a:rPr lang="zh-CN" altLang="en-US" b="1"/>
              <a:t>页失效</a:t>
            </a:r>
            <a:r>
              <a:rPr lang="zh-CN" altLang="en-US"/>
              <a:t>）</a:t>
            </a:r>
            <a:endParaRPr lang="zh-CN" altLang="en-US"/>
          </a:p>
          <a:p>
            <a:pPr lvl="2"/>
            <a:r>
              <a:rPr lang="zh-CN" altLang="en-US"/>
              <a:t>需要进行</a:t>
            </a:r>
            <a:r>
              <a:rPr lang="zh-CN" altLang="en-US" b="1"/>
              <a:t>页失效处理</a:t>
            </a:r>
            <a:r>
              <a:rPr lang="en-US" altLang="zh-CN"/>
              <a:t>：OS</a:t>
            </a:r>
            <a:r>
              <a:rPr lang="zh-CN" altLang="en-US"/>
              <a:t>从磁盘读取页面到内存，重启内存访问指令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B0440E41-B499-414F-BE6B-1CA409B00767}" type="slidenum">
              <a:rPr lang="en-AU" altLang="en-US"/>
            </a:fld>
            <a:endParaRPr lang="en-AU" alt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AU"/>
              <a:t>页失效的处理</a:t>
            </a:r>
            <a:endParaRPr lang="zh-CN" altLang="en-AU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AU"/>
              <a:t>根据失效时的内存访问指令找到页表项</a:t>
            </a:r>
            <a:endParaRPr lang="zh-CN" altLang="en-AU"/>
          </a:p>
          <a:p>
            <a:pPr lvl="1"/>
            <a:r>
              <a:rPr lang="zh-CN" altLang="en-AU"/>
              <a:t>页表项中找到磁盘页号，而不是物理内存页号</a:t>
            </a:r>
            <a:endParaRPr lang="en-AU" altLang="en-US"/>
          </a:p>
          <a:p>
            <a:r>
              <a:rPr lang="zh-CN" altLang="en-AU"/>
              <a:t>在磁盘中找到对应的页面</a:t>
            </a:r>
            <a:r>
              <a:rPr lang="en-US" altLang="zh-CN"/>
              <a:t>diskP</a:t>
            </a:r>
            <a:endParaRPr lang="zh-CN" altLang="en-AU"/>
          </a:p>
          <a:p>
            <a:r>
              <a:rPr lang="zh-CN" altLang="en-AU"/>
              <a:t>选择一个物理页面进行替换（即，分配）</a:t>
            </a:r>
            <a:endParaRPr lang="en-AU" altLang="en-US"/>
          </a:p>
          <a:p>
            <a:pPr lvl="1"/>
            <a:r>
              <a:rPr lang="zh-CN" altLang="en-AU"/>
              <a:t>如果对应的物理页面是</a:t>
            </a:r>
            <a:r>
              <a:rPr lang="zh-CN" altLang="en-AU" b="1"/>
              <a:t>脏</a:t>
            </a:r>
            <a:r>
              <a:rPr lang="zh-CN" altLang="en-AU"/>
              <a:t>的，则在替换之前将旧的内容写回到磁盘，并更新对应的页表项</a:t>
            </a:r>
            <a:endParaRPr lang="en-AU" altLang="en-US"/>
          </a:p>
          <a:p>
            <a:r>
              <a:rPr lang="zh-CN" altLang="en-AU"/>
              <a:t>将</a:t>
            </a:r>
            <a:r>
              <a:rPr lang="en-US" altLang="zh-CN"/>
              <a:t>diskP的</a:t>
            </a:r>
            <a:r>
              <a:rPr lang="zh-CN" altLang="en-US"/>
              <a:t>内容加载到内存，同时更新页表</a:t>
            </a:r>
            <a:endParaRPr lang="en-AU" altLang="en-US"/>
          </a:p>
          <a:p>
            <a:r>
              <a:rPr lang="zh-CN" altLang="en-AU"/>
              <a:t>重新调度进程执行</a:t>
            </a:r>
            <a:endParaRPr lang="zh-CN" altLang="en-AU"/>
          </a:p>
          <a:p>
            <a:pPr lvl="1"/>
            <a:r>
              <a:rPr lang="zh-CN" altLang="en-AU"/>
              <a:t>从失效时的访存指令重启</a:t>
            </a:r>
            <a:endParaRPr lang="zh-CN" altLang="en-AU"/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2BCD4294-3DED-E84C-9D8D-95D24A8B378C}" type="slidenum">
              <a:rPr lang="en-AU" altLang="en-US"/>
            </a:fld>
            <a:endParaRPr lang="en-AU" altLang="en-US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lstStyle/>
          <a:p>
            <a:pPr eaLnBrk="1" hangingPunct="1"/>
            <a:r>
              <a:rPr lang="en-US" altLang="en-US"/>
              <a:t>TLB </a:t>
            </a:r>
            <a:r>
              <a:rPr lang="zh-CN" altLang="en-US"/>
              <a:t>和</a:t>
            </a:r>
            <a:r>
              <a:rPr lang="en-US" altLang="en-US"/>
              <a:t> Cache</a:t>
            </a:r>
            <a:r>
              <a:rPr lang="zh-CN" altLang="en-US"/>
              <a:t>之间的</a:t>
            </a:r>
            <a:r>
              <a:rPr lang="zh-CN" altLang="en-US"/>
              <a:t>互动</a:t>
            </a:r>
            <a:endParaRPr lang="zh-CN" altLang="en-US"/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547485" y="1125855"/>
            <a:ext cx="3931920" cy="5111750"/>
          </a:xfrm>
        </p:spPr>
        <p:txBody>
          <a:bodyPr/>
          <a:lstStyle/>
          <a:p>
            <a:pPr eaLnBrk="1" hangingPunct="1"/>
            <a:r>
              <a:rPr lang="zh-CN" altLang="en-US" sz="2400"/>
              <a:t>如果缓存标签使用物理地址</a:t>
            </a:r>
            <a:endParaRPr lang="en-US" altLang="en-US" sz="2400"/>
          </a:p>
          <a:p>
            <a:pPr lvl="1" eaLnBrk="1" hangingPunct="1"/>
            <a:r>
              <a:rPr lang="zh-CN" altLang="en-US" sz="2000"/>
              <a:t>缓存查询之前，先将内存地址转换成物理地址</a:t>
            </a:r>
            <a:endParaRPr lang="en-US" altLang="en-US" sz="2000"/>
          </a:p>
          <a:p>
            <a:pPr eaLnBrk="1" hangingPunct="1"/>
            <a:r>
              <a:rPr lang="zh-CN" altLang="en-US" sz="2400">
                <a:solidFill>
                  <a:schemeClr val="bg1">
                    <a:lumMod val="50000"/>
                  </a:schemeClr>
                </a:solidFill>
              </a:rPr>
              <a:t>另一种选择</a:t>
            </a:r>
            <a:r>
              <a:rPr lang="en-US" altLang="en-US" sz="240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zh-CN" altLang="en-US" sz="2400" b="1">
                <a:solidFill>
                  <a:schemeClr val="bg1">
                    <a:lumMod val="50000"/>
                  </a:schemeClr>
                </a:solidFill>
                <a:latin typeface="Arial Bold" panose="020B0704020202020204" charset="0"/>
                <a:cs typeface="Arial Bold" panose="020B0704020202020204" charset="0"/>
              </a:rPr>
              <a:t>缓存标签使用虚拟地址</a:t>
            </a:r>
            <a:endParaRPr lang="en-US" altLang="en-US" sz="2400">
              <a:solidFill>
                <a:schemeClr val="bg1">
                  <a:lumMod val="50000"/>
                </a:schemeClr>
              </a:solidFill>
            </a:endParaRPr>
          </a:p>
          <a:p>
            <a:pPr lvl="1" eaLnBrk="1" hangingPunct="1"/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缓存命中时，无须访问</a:t>
            </a:r>
            <a:r>
              <a:rPr lang="en-US" altLang="zh-CN" sz="2000">
                <a:solidFill>
                  <a:schemeClr val="bg1">
                    <a:lumMod val="50000"/>
                  </a:schemeClr>
                </a:solidFill>
              </a:rPr>
              <a:t>TLB</a:t>
            </a:r>
            <a:endParaRPr lang="en-US" altLang="en-US" sz="2000">
              <a:solidFill>
                <a:schemeClr val="bg1">
                  <a:lumMod val="50000"/>
                </a:schemeClr>
              </a:solidFill>
            </a:endParaRPr>
          </a:p>
          <a:p>
            <a:pPr lvl="1" eaLnBrk="1" hangingPunct="1"/>
            <a:r>
              <a:rPr lang="zh-CN" altLang="en-US" sz="2000">
                <a:solidFill>
                  <a:schemeClr val="bg1">
                    <a:lumMod val="50000"/>
                  </a:schemeClr>
                </a:solidFill>
              </a:rPr>
              <a:t>但是需要处理别名带来的复杂情况</a:t>
            </a:r>
            <a:endParaRPr lang="zh-CN" altLang="en-US" sz="2000">
              <a:solidFill>
                <a:schemeClr val="bg1">
                  <a:lumMod val="50000"/>
                </a:schemeClr>
              </a:solidFill>
            </a:endParaRPr>
          </a:p>
          <a:p>
            <a:pPr lvl="2" eaLnBrk="1" hangingPunct="1"/>
            <a:r>
              <a:rPr lang="zh-CN" altLang="en-US" sz="1710">
                <a:solidFill>
                  <a:schemeClr val="bg1">
                    <a:lumMod val="50000"/>
                  </a:schemeClr>
                </a:solidFill>
              </a:rPr>
              <a:t>额外区分不同进程的相同虚拟地址</a:t>
            </a:r>
            <a:endParaRPr lang="en-US" altLang="en-US" sz="1710">
              <a:solidFill>
                <a:schemeClr val="bg1">
                  <a:lumMod val="50000"/>
                </a:schemeClr>
              </a:solidFill>
            </a:endParaRPr>
          </a:p>
          <a:p>
            <a:pPr lvl="2" eaLnBrk="1" hangingPunct="1"/>
            <a:endParaRPr lang="en-US" altLang="en-US" sz="171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3973" name="Picture 5" descr="f05-2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125855"/>
            <a:ext cx="4700270" cy="48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204085" y="5876925"/>
            <a:ext cx="83356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highlight>
                  <a:srgbClr val="C0C0C0"/>
                </a:highlight>
              </a:rPr>
              <a:t>Physical tag or virtual tag?</a:t>
            </a:r>
            <a:endParaRPr lang="zh-CN" altLang="en-US">
              <a:highlight>
                <a:srgbClr val="C0C0C0"/>
              </a:highlight>
            </a:endParaRPr>
          </a:p>
          <a:p>
            <a:r>
              <a:rPr lang="zh-CN" altLang="en-US">
                <a:highlight>
                  <a:srgbClr val="C0C0C0"/>
                </a:highlight>
              </a:rPr>
              <a:t>https://www.geeksforgeeks.org/virtually-indexed-physically-tagged-vipt-cache/</a:t>
            </a:r>
            <a:endParaRPr lang="zh-CN" altLang="en-US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dirty="0" smtClean="0">
                <a:latin typeface="仿宋" panose="02010609060101010101" pitchFamily="49" charset="-122"/>
                <a:ea typeface="仿宋" panose="02010609060101010101" pitchFamily="49" charset="-122"/>
              </a:rPr>
              <a:t>k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级页表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 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缓存虚拟到物理的完整映射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不论页表有多少级，</a:t>
            </a:r>
            <a:r>
              <a:rPr 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br>
              <a:rPr lang="en-US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TLB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保存</a:t>
            </a:r>
            <a:r>
              <a:rPr 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dirty="0">
                <a:latin typeface="仿宋" panose="02010609060101010101" pitchFamily="49" charset="-122"/>
                <a:ea typeface="仿宋" panose="02010609060101010101" pitchFamily="49" charset="-122"/>
              </a:rPr>
              <a:t>VPN -&gt; PPN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</p:spPr>
        <p:txBody>
          <a:bodyPr/>
          <a:p>
            <a:pPr>
              <a:defRPr/>
            </a:pPr>
            <a:r>
              <a:rPr lang="en-AU" altLang="en-US"/>
              <a:t>Chapter 4 — The Processor — </a:t>
            </a:r>
            <a:fld id="{62EE205E-A80F-9B49-936D-590C54AB73DE}" type="slidenum">
              <a:rPr lang="en-AU" altLang="en-US"/>
            </a:fld>
            <a:endParaRPr lang="en-AU" altLang="en-US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639445" y="1125855"/>
            <a:ext cx="9839960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虚拟地址及物理地址的位数</a:t>
            </a:r>
            <a:r>
              <a:rPr lang="zh-CN" altLang="en-US" sz="1750">
                <a:ea typeface="SimSun" charset="0"/>
              </a:rPr>
              <a:t>及页号</a:t>
            </a:r>
            <a:r>
              <a:rPr lang="zh-CN" altLang="en-US" sz="1750">
                <a:ea typeface="SimSun" charset="0"/>
              </a:rPr>
              <a:t>位数？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访问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时，物理地址的</a:t>
            </a:r>
            <a:r>
              <a:rPr lang="zh-CN" altLang="en-US" sz="1750">
                <a:ea typeface="SimSun" charset="0"/>
              </a:rPr>
              <a:t>组成？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0x001C60</a:t>
            </a:r>
            <a:r>
              <a:rPr lang="zh-CN" altLang="en-US" sz="1750">
                <a:ea typeface="SimSun" charset="0"/>
              </a:rPr>
              <a:t>是否</a:t>
            </a:r>
            <a:r>
              <a:rPr lang="zh-CN" altLang="en-US" sz="1750">
                <a:ea typeface="SimSun" charset="0"/>
              </a:rPr>
              <a:t>在主存和</a:t>
            </a:r>
            <a:r>
              <a:rPr lang="en-US" altLang="zh-CN" sz="1750">
                <a:ea typeface="SimSun" charset="0"/>
              </a:rPr>
              <a:t>Cache</a:t>
            </a:r>
            <a:r>
              <a:rPr lang="zh-CN" altLang="en-US" sz="1750">
                <a:ea typeface="SimSun" charset="0"/>
              </a:rPr>
              <a:t>？</a:t>
            </a:r>
            <a:endParaRPr lang="zh-CN" altLang="en-US" sz="1750">
              <a:ea typeface="SimSun" charset="0"/>
            </a:endParaRPr>
          </a:p>
          <a:p>
            <a:pPr lvl="0"/>
            <a:endParaRPr lang="zh-CN" altLang="en-US" sz="1750">
              <a:ea typeface="SimSun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103745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04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874885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块号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105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8238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30668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8213" y="139700"/>
            <a:ext cx="8259762" cy="768350"/>
          </a:xfrm>
        </p:spPr>
        <p:txBody>
          <a:bodyPr/>
          <a:p>
            <a:r>
              <a:rPr lang="en-US" altLang="zh-CN"/>
              <a:t>Exercise 2:</a:t>
            </a:r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782320" y="1125855"/>
            <a:ext cx="9697085" cy="5111750"/>
          </a:xfrm>
        </p:spPr>
        <p:txBody>
          <a:bodyPr/>
          <a:p>
            <a:r>
              <a:rPr lang="zh-CN" altLang="en-US" sz="2000"/>
              <a:t>某计算机存储器按字节寻址，虚拟地址空间大小为</a:t>
            </a:r>
            <a:r>
              <a:rPr lang="en-US" altLang="zh-CN" sz="2000"/>
              <a:t>16MB</a:t>
            </a:r>
            <a:r>
              <a:rPr lang="zh-CN" altLang="en-US" sz="2000">
                <a:ea typeface="SimSun" charset="0"/>
              </a:rPr>
              <a:t>，物理地址空间大小为</a:t>
            </a:r>
            <a:r>
              <a:rPr lang="en-US" altLang="zh-CN" sz="2000">
                <a:ea typeface="SimSun" charset="0"/>
              </a:rPr>
              <a:t>1MB</a:t>
            </a:r>
            <a:r>
              <a:rPr lang="zh-CN" altLang="en-US" sz="2000">
                <a:ea typeface="SimSun" charset="0"/>
              </a:rPr>
              <a:t>，页面大小为</a:t>
            </a:r>
            <a:r>
              <a:rPr lang="en-US" altLang="zh-CN" sz="2000">
                <a:ea typeface="SimSun" charset="0"/>
              </a:rPr>
              <a:t>4KB</a:t>
            </a:r>
            <a:r>
              <a:rPr lang="zh-CN" altLang="en-US" sz="2000">
                <a:ea typeface="SimSun" charset="0"/>
              </a:rPr>
              <a:t>；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采用直接相联映射共</a:t>
            </a:r>
            <a:r>
              <a:rPr lang="en-US" altLang="zh-CN" sz="2000">
                <a:ea typeface="SimSun" charset="0"/>
              </a:rPr>
              <a:t>8</a:t>
            </a:r>
            <a:r>
              <a:rPr lang="zh-CN" altLang="en-US" sz="2000">
                <a:ea typeface="SimSun" charset="0"/>
              </a:rPr>
              <a:t>行，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块大小为</a:t>
            </a:r>
            <a:r>
              <a:rPr lang="en-US" altLang="zh-CN" sz="2000">
                <a:ea typeface="SimSun" charset="0"/>
              </a:rPr>
              <a:t>32B</a:t>
            </a:r>
            <a:r>
              <a:rPr lang="zh-CN" altLang="en-US" sz="2000">
                <a:ea typeface="SimSun" charset="0"/>
              </a:rPr>
              <a:t>。系统运行的某一个时刻，页表和</a:t>
            </a:r>
            <a:r>
              <a:rPr lang="en-US" altLang="zh-CN" sz="2000">
                <a:ea typeface="SimSun" charset="0"/>
              </a:rPr>
              <a:t>Cache</a:t>
            </a:r>
            <a:r>
              <a:rPr lang="zh-CN" altLang="en-US" sz="2000">
                <a:ea typeface="SimSun" charset="0"/>
              </a:rPr>
              <a:t>的部分内容分别如图</a:t>
            </a:r>
            <a:r>
              <a:rPr lang="en-US" altLang="zh-CN" sz="2000">
                <a:ea typeface="SimSun" charset="0"/>
              </a:rPr>
              <a:t>(a)</a:t>
            </a:r>
            <a:r>
              <a:rPr lang="zh-CN" altLang="en-US" sz="2000">
                <a:ea typeface="SimSun" charset="0"/>
              </a:rPr>
              <a:t>和</a:t>
            </a:r>
            <a:r>
              <a:rPr lang="en-US" altLang="zh-CN" sz="2000">
                <a:ea typeface="SimSun" charset="0"/>
              </a:rPr>
              <a:t>(b)</a:t>
            </a:r>
            <a:r>
              <a:rPr lang="zh-CN" altLang="en-US" sz="2000">
                <a:ea typeface="SimSun" charset="0"/>
              </a:rPr>
              <a:t>所示（</a:t>
            </a:r>
            <a:r>
              <a:rPr lang="en-US" altLang="zh-CN" sz="2000">
                <a:ea typeface="SimSun" charset="0"/>
              </a:rPr>
              <a:t>16</a:t>
            </a:r>
            <a:r>
              <a:rPr lang="zh-CN" altLang="en-US" sz="2000">
                <a:ea typeface="SimSun" charset="0"/>
              </a:rPr>
              <a:t>进制）</a:t>
            </a:r>
            <a:endParaRPr lang="zh-CN" altLang="en-US" sz="200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如果配置一个</a:t>
            </a:r>
            <a:r>
              <a:rPr lang="en-US" altLang="zh-CN" sz="1750">
                <a:ea typeface="SimSun" charset="0"/>
              </a:rPr>
              <a:t>4-way</a:t>
            </a:r>
            <a:r>
              <a:rPr lang="zh-CN" altLang="en-US" sz="1750">
                <a:ea typeface="SimSun" charset="0"/>
              </a:rPr>
              <a:t>的</a:t>
            </a:r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，一共</a:t>
            </a:r>
            <a:r>
              <a:rPr lang="en-US" altLang="zh-CN" sz="1750">
                <a:ea typeface="SimSun" charset="0"/>
              </a:rPr>
              <a:t>8</a:t>
            </a:r>
            <a:r>
              <a:rPr lang="zh-CN" altLang="en-US" sz="1750">
                <a:ea typeface="SimSun" charset="0"/>
              </a:rPr>
              <a:t>个表项</a:t>
            </a:r>
            <a:endParaRPr lang="zh-CN" altLang="en-US" sz="1750">
              <a:ea typeface="SimSun" charset="0"/>
            </a:endParaRPr>
          </a:p>
          <a:p>
            <a:pPr lvl="1"/>
            <a:r>
              <a:rPr lang="en-US" altLang="zh-CN" sz="1750">
                <a:ea typeface="SimSun" charset="0"/>
              </a:rPr>
              <a:t>TLB</a:t>
            </a:r>
            <a:r>
              <a:rPr lang="zh-CN" altLang="en-US" sz="1750">
                <a:ea typeface="SimSun" charset="0"/>
              </a:rPr>
              <a:t>内容如下所示</a:t>
            </a:r>
            <a:endParaRPr lang="zh-CN" altLang="en-US" sz="1750">
              <a:ea typeface="SimSun" charset="0"/>
            </a:endParaRPr>
          </a:p>
          <a:p>
            <a:pPr lvl="1"/>
            <a:r>
              <a:rPr lang="zh-CN" altLang="en-US" sz="1750">
                <a:ea typeface="SimSun" charset="0"/>
              </a:rPr>
              <a:t>虚拟地址</a:t>
            </a:r>
            <a:r>
              <a:rPr lang="en-US" altLang="zh-CN" sz="1750">
                <a:ea typeface="SimSun" charset="0"/>
              </a:rPr>
              <a:t>0x024BAC</a:t>
            </a:r>
            <a:r>
              <a:rPr lang="zh-CN" altLang="en-US" sz="1750">
                <a:ea typeface="SimSun" charset="0"/>
              </a:rPr>
              <a:t>对应</a:t>
            </a:r>
            <a:r>
              <a:rPr lang="zh-CN" altLang="en-US" sz="1750">
                <a:ea typeface="SimSun" charset="0"/>
              </a:rPr>
              <a:t>页面是否在</a:t>
            </a:r>
            <a:r>
              <a:rPr lang="zh-CN" altLang="en-US" sz="1750">
                <a:ea typeface="SimSun" charset="0"/>
              </a:rPr>
              <a:t>主存？</a:t>
            </a:r>
            <a:endParaRPr lang="zh-CN" altLang="en-US" sz="1750">
              <a:ea typeface="SimSun" charset="0"/>
            </a:endParaRPr>
          </a:p>
          <a:p>
            <a:pPr lvl="0"/>
            <a:r>
              <a:rPr lang="zh-CN" altLang="en-US" sz="2000">
                <a:ea typeface="SimSun" charset="0"/>
              </a:rPr>
              <a:t>分析</a:t>
            </a:r>
            <a:endParaRPr lang="zh-CN" altLang="en-US" sz="2000">
              <a:ea typeface="SimSun" charset="0"/>
            </a:endParaRPr>
          </a:p>
          <a:p>
            <a:pPr lvl="1"/>
            <a:endParaRPr lang="en-US" altLang="zh-CN" sz="1600">
              <a:solidFill>
                <a:srgbClr val="00B050"/>
              </a:solidFill>
              <a:ea typeface="SimSun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290435" y="2133600"/>
          <a:ext cx="2470785" cy="3316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240"/>
                <a:gridCol w="1185545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虚拟页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物理页</a:t>
                      </a:r>
                      <a:endParaRPr lang="zh-CN" altLang="en-US" sz="1600"/>
                    </a:p>
                  </a:txBody>
                  <a:tcPr/>
                </a:tc>
              </a:tr>
              <a:tr h="3416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06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04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15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</a:t>
                      </a:r>
                      <a:r>
                        <a:rPr lang="en-US" altLang="zh-CN" sz="1600"/>
                        <a:t>B</a:t>
                      </a:r>
                      <a:endParaRPr lang="en-US" altLang="zh-CN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422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32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9848215" y="2127250"/>
          <a:ext cx="1476375" cy="328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661035"/>
              </a:tblGrid>
              <a:tr h="6076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块号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>
                          <a:ea typeface="SimSun" charset="0"/>
                        </a:rPr>
                        <a:t>、</a:t>
                      </a:r>
                      <a:r>
                        <a:rPr lang="zh-CN" altLang="en-US" sz="1600"/>
                        <a:t>有效</a:t>
                      </a:r>
                      <a:r>
                        <a:rPr lang="zh-CN" altLang="en-US" sz="1600"/>
                        <a:t>位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标记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020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ea typeface="SimSun" charset="0"/>
                        </a:rPr>
                        <a:t>——</a:t>
                      </a:r>
                      <a:endParaRPr lang="zh-CN" altLang="en-US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01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3/1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105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4/1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ea typeface="SimSun" charset="0"/>
                        </a:rPr>
                        <a:t>064</a:t>
                      </a:r>
                      <a:endParaRPr lang="en-US" altLang="zh-CN" sz="1600">
                        <a:ea typeface="SimSun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5/1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14</a:t>
                      </a:r>
                      <a:r>
                        <a:rPr lang="en-US" altLang="zh-CN" sz="1600"/>
                        <a:t>D</a:t>
                      </a:r>
                      <a:endParaRPr lang="en-US" altLang="zh-CN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6/0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——</a:t>
                      </a:r>
                      <a:endParaRPr lang="zh-CN" altLang="en-US" sz="1600"/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7/1</a:t>
                      </a:r>
                      <a:endParaRPr lang="en-US" altLang="zh-CN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27</a:t>
                      </a:r>
                      <a:r>
                        <a:rPr lang="en-US" altLang="zh-CN" sz="1600"/>
                        <a:t>A</a:t>
                      </a:r>
                      <a:endParaRPr lang="en-US" altLang="zh-C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5723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(a)</a:t>
            </a:r>
            <a:endParaRPr lang="en-US" altLang="zh-CN" sz="2000">
              <a:ea typeface="SimSun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0015" y="5516880"/>
            <a:ext cx="6731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ea typeface="SimSun" charset="0"/>
                <a:sym typeface="+mn-ea"/>
              </a:rPr>
              <a:t>(</a:t>
            </a:r>
            <a:r>
              <a:rPr lang="en-US" altLang="zh-CN" sz="2000">
                <a:ea typeface="SimSun" charset="0"/>
                <a:sym typeface="+mn-ea"/>
              </a:rPr>
              <a:t>b)</a:t>
            </a:r>
            <a:endParaRPr lang="en-US" altLang="zh-CN" sz="2000">
              <a:ea typeface="SimSun" charset="0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1301115" y="5530215"/>
          <a:ext cx="8900160" cy="107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  <a:gridCol w="741680"/>
              </a:tblGrid>
              <a:tr h="3467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有效位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标记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页号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r>
                        <a:rPr lang="en-US" altLang="zh-CN" sz="1400"/>
                        <a:t>F</a:t>
                      </a:r>
                      <a:endParaRPr lang="en-US" altLang="zh-CN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013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2</a:t>
                      </a:r>
                      <a:r>
                        <a:rPr lang="en-US" altLang="zh-CN" sz="1400"/>
                        <a:t>D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008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7</a:t>
                      </a:r>
                      <a:r>
                        <a:rPr lang="en-US" altLang="zh-CN" sz="1400"/>
                        <a:t>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——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Outline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虚拟内存的</a:t>
            </a:r>
            <a:r>
              <a:rPr lang="zh-CN" altLang="en-US"/>
              <a:t>概念</a:t>
            </a:r>
            <a:endParaRPr lang="zh-CN" altLang="en-US"/>
          </a:p>
          <a:p>
            <a:r>
              <a:rPr lang="en-US" altLang="zh-CN">
                <a:solidFill>
                  <a:schemeClr val="tx1"/>
                </a:solidFill>
              </a:rPr>
              <a:t>Dram</a:t>
            </a:r>
            <a:r>
              <a:rPr lang="zh-CN" altLang="en-US">
                <a:solidFill>
                  <a:schemeClr val="tx1"/>
                </a:solidFill>
              </a:rPr>
              <a:t>作为虚拟内存的缓存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TLB</a:t>
            </a:r>
            <a:r>
              <a:rPr lang="zh-CN" altLang="en-US">
                <a:solidFill>
                  <a:schemeClr val="tx1"/>
                </a:solidFill>
              </a:rPr>
              <a:t>加速页表的访问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虚拟内存用于内存保护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256367" y="6381750"/>
            <a:ext cx="9696451" cy="358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</a:defRPr>
            </a:lvl9pPr>
          </a:lstStyle>
          <a:p>
            <a:r>
              <a:rPr lang="en-AU" altLang="en-US"/>
              <a:t>Chapter 5 — Large and Fast: Exploiting Memory Hierarchy — </a:t>
            </a:r>
            <a:fld id="{D7DFEE26-9139-DB44-8121-C5A1C42841AF}" type="slidenum">
              <a:rPr lang="en-AU" altLang="en-US"/>
            </a:fld>
            <a:endParaRPr lang="en-AU" altLang="en-US"/>
          </a:p>
        </p:txBody>
      </p:sp>
      <p:sp>
        <p:nvSpPr>
          <p:cNvPr id="849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内存的保护</a:t>
            </a:r>
            <a:endParaRPr lang="zh-CN" altLang="en-US"/>
          </a:p>
        </p:txBody>
      </p:sp>
      <p:sp>
        <p:nvSpPr>
          <p:cNvPr id="8499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不同的进程有共同的虚拟地址空间</a:t>
            </a:r>
            <a:endParaRPr lang="en-US" altLang="en-US"/>
          </a:p>
          <a:p>
            <a:pPr lvl="1"/>
            <a:r>
              <a:rPr lang="zh-CN" altLang="en-US"/>
              <a:t>需要</a:t>
            </a:r>
            <a:r>
              <a:rPr lang="en-US" altLang="zh-CN"/>
              <a:t>OS</a:t>
            </a:r>
            <a:r>
              <a:rPr lang="zh-CN" altLang="en-US"/>
              <a:t>帮忙保护，以避免错误访问</a:t>
            </a:r>
            <a:endParaRPr lang="en-US" altLang="en-US"/>
          </a:p>
          <a:p>
            <a:r>
              <a:rPr lang="en-US" altLang="en-US"/>
              <a:t>OS</a:t>
            </a:r>
            <a:r>
              <a:rPr lang="zh-CN" altLang="en-US"/>
              <a:t>保护的硬件支持</a:t>
            </a:r>
            <a:endParaRPr lang="zh-CN" altLang="en-US"/>
          </a:p>
          <a:p>
            <a:pPr lvl="1"/>
            <a:r>
              <a:rPr lang="zh-CN" altLang="en-US"/>
              <a:t>只有</a:t>
            </a:r>
            <a:r>
              <a:rPr lang="en-US" altLang="zh-CN"/>
              <a:t>OS</a:t>
            </a:r>
            <a:r>
              <a:rPr lang="zh-CN" altLang="en-US"/>
              <a:t>可以修改页表</a:t>
            </a:r>
            <a:endParaRPr lang="en-US" altLang="en-US"/>
          </a:p>
          <a:p>
            <a:pPr lvl="2"/>
            <a:r>
              <a:rPr lang="zh-CN" altLang="en-US"/>
              <a:t>特权模式</a:t>
            </a:r>
            <a:r>
              <a:rPr lang="en-US" altLang="en-US"/>
              <a:t> (aka </a:t>
            </a:r>
            <a:r>
              <a:rPr lang="zh-CN" altLang="en-US"/>
              <a:t>内核模式</a:t>
            </a:r>
            <a:r>
              <a:rPr lang="en-US" altLang="en-US"/>
              <a:t>)</a:t>
            </a:r>
            <a:endParaRPr lang="en-US" altLang="en-US"/>
          </a:p>
          <a:p>
            <a:pPr lvl="2"/>
            <a:r>
              <a:rPr lang="zh-CN" altLang="en-US"/>
              <a:t>特权指令</a:t>
            </a:r>
            <a:endParaRPr lang="en-US" altLang="en-US"/>
          </a:p>
          <a:p>
            <a:pPr lvl="2"/>
            <a:r>
              <a:rPr lang="zh-CN" altLang="en-US"/>
              <a:t>只有特权模式下，才允许访问页表和相关状态信息</a:t>
            </a:r>
            <a:endParaRPr lang="en-US" altLang="en-US"/>
          </a:p>
          <a:p>
            <a:pPr lvl="2"/>
            <a:r>
              <a:rPr lang="zh-CN" altLang="en-US"/>
              <a:t>一种特殊的异常：系统调用</a:t>
            </a:r>
            <a:endParaRPr lang="en-US" altLang="en-US"/>
          </a:p>
          <a:p>
            <a:pPr marL="914400" lvl="2" indent="0" eaLnBrk="1" hangingPunct="1">
              <a:buNone/>
            </a:pPr>
            <a:endParaRPr lang="en-US" altLang="en-US"/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Shape 10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虚存是内存保护的工具</a:t>
            </a:r>
            <a:endParaRPr lang="zh-CN" altLang="en-US"/>
          </a:p>
        </p:txBody>
      </p:sp>
      <p:sp>
        <p:nvSpPr>
          <p:cNvPr id="1003" name="Shape 100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给页表项增加权限位</a:t>
            </a:r>
            <a:endParaRPr lang="zh-CN" altLang="en-US"/>
          </a:p>
          <a:p>
            <a:pPr lvl="1"/>
            <a:r>
              <a:rPr lang="zh-CN" altLang="en-US" sz="2000">
                <a:solidFill>
                  <a:srgbClr val="00B050"/>
                </a:solidFill>
              </a:rPr>
              <a:t>回忆一下缓冲区异常攻击的防护方法</a:t>
            </a:r>
            <a:endParaRPr lang="zh-CN" altLang="en-US">
              <a:solidFill>
                <a:srgbClr val="00B050"/>
              </a:solidFill>
            </a:endParaRPr>
          </a:p>
          <a:p>
            <a:r>
              <a:rPr lang="zh-CN" altLang="en-US"/>
              <a:t>每次访问时，</a:t>
            </a:r>
            <a:r>
              <a:rPr lang="en-GB"/>
              <a:t>MMU</a:t>
            </a:r>
            <a:r>
              <a:rPr lang="zh-CN" altLang="en-US"/>
              <a:t>都要检查这些位</a:t>
            </a:r>
            <a:endParaRPr lang="zh-CN" altLang="en-US"/>
          </a:p>
        </p:txBody>
      </p:sp>
      <p:sp>
        <p:nvSpPr>
          <p:cNvPr id="1004" name="Shape 1004"/>
          <p:cNvSpPr txBox="1"/>
          <p:nvPr/>
        </p:nvSpPr>
        <p:spPr>
          <a:xfrm>
            <a:off x="1676401" y="2870188"/>
            <a:ext cx="1072087" cy="33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GB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</a:t>
            </a:r>
            <a:r>
              <a:rPr lang="en-GB" sz="1800" b="1" i="1" dirty="0" err="1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i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05" name="Shape 1005"/>
          <p:cNvSpPr txBox="1"/>
          <p:nvPr/>
        </p:nvSpPr>
        <p:spPr>
          <a:xfrm>
            <a:off x="5821363" y="2871789"/>
            <a:ext cx="866262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06" name="Shape 1006"/>
          <p:cNvSpPr txBox="1"/>
          <p:nvPr/>
        </p:nvSpPr>
        <p:spPr>
          <a:xfrm>
            <a:off x="3500441" y="2871789"/>
            <a:ext cx="649664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7" name="Shape 1007"/>
          <p:cNvSpPr txBox="1"/>
          <p:nvPr/>
        </p:nvSpPr>
        <p:spPr>
          <a:xfrm>
            <a:off x="4140200" y="2871789"/>
            <a:ext cx="738727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8" name="Shape 1008"/>
          <p:cNvSpPr/>
          <p:nvPr/>
        </p:nvSpPr>
        <p:spPr>
          <a:xfrm>
            <a:off x="5527675" y="3176588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6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9" name="Shape 1009"/>
          <p:cNvSpPr/>
          <p:nvPr/>
        </p:nvSpPr>
        <p:spPr>
          <a:xfrm>
            <a:off x="3475037" y="31765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0" name="Shape 1010"/>
          <p:cNvSpPr/>
          <p:nvPr/>
        </p:nvSpPr>
        <p:spPr>
          <a:xfrm>
            <a:off x="4160837" y="3176588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1" name="Shape 1011"/>
          <p:cNvSpPr/>
          <p:nvPr/>
        </p:nvSpPr>
        <p:spPr>
          <a:xfrm>
            <a:off x="5527675" y="3481388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4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2" name="Shape 1012"/>
          <p:cNvSpPr/>
          <p:nvPr/>
        </p:nvSpPr>
        <p:spPr>
          <a:xfrm>
            <a:off x="3475037" y="34813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3" name="Shape 1013"/>
          <p:cNvSpPr/>
          <p:nvPr/>
        </p:nvSpPr>
        <p:spPr>
          <a:xfrm>
            <a:off x="4160837" y="34813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4" name="Shape 1014"/>
          <p:cNvSpPr/>
          <p:nvPr/>
        </p:nvSpPr>
        <p:spPr>
          <a:xfrm>
            <a:off x="5527675" y="3786188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5" name="Shape 1015"/>
          <p:cNvSpPr/>
          <p:nvPr/>
        </p:nvSpPr>
        <p:spPr>
          <a:xfrm>
            <a:off x="3475037" y="37861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6" name="Shape 1016"/>
          <p:cNvSpPr txBox="1"/>
          <p:nvPr/>
        </p:nvSpPr>
        <p:spPr>
          <a:xfrm>
            <a:off x="2057401" y="3171826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0: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7" name="Shape 1017"/>
          <p:cNvSpPr txBox="1"/>
          <p:nvPr/>
        </p:nvSpPr>
        <p:spPr>
          <a:xfrm>
            <a:off x="2057401" y="3476626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8" name="Shape 1018"/>
          <p:cNvSpPr txBox="1"/>
          <p:nvPr/>
        </p:nvSpPr>
        <p:spPr>
          <a:xfrm>
            <a:off x="2058988" y="3781426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9" name="Shape 1019"/>
          <p:cNvSpPr/>
          <p:nvPr/>
        </p:nvSpPr>
        <p:spPr>
          <a:xfrm>
            <a:off x="5129213" y="4167188"/>
            <a:ext cx="246062" cy="456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algn="ctr">
              <a:lnSpc>
                <a:spcPct val="49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49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49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0" name="Shape 1020"/>
          <p:cNvSpPr txBox="1"/>
          <p:nvPr/>
        </p:nvSpPr>
        <p:spPr>
          <a:xfrm>
            <a:off x="1676401" y="5099453"/>
            <a:ext cx="1075293" cy="33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进程</a:t>
            </a:r>
            <a:r>
              <a:rPr lang="en-GB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 j</a:t>
            </a: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：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21" name="Shape 1021"/>
          <p:cNvSpPr/>
          <p:nvPr/>
        </p:nvSpPr>
        <p:spPr>
          <a:xfrm>
            <a:off x="4160837" y="37861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2" name="Shape 1022"/>
          <p:cNvSpPr txBox="1"/>
          <p:nvPr/>
        </p:nvSpPr>
        <p:spPr>
          <a:xfrm>
            <a:off x="2880257" y="2871789"/>
            <a:ext cx="52392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3" name="Shape 1023"/>
          <p:cNvSpPr/>
          <p:nvPr/>
        </p:nvSpPr>
        <p:spPr>
          <a:xfrm>
            <a:off x="2786062" y="3176588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4" name="Shape 1024"/>
          <p:cNvSpPr/>
          <p:nvPr/>
        </p:nvSpPr>
        <p:spPr>
          <a:xfrm>
            <a:off x="2786062" y="3481388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5" name="Shape 1025"/>
          <p:cNvSpPr/>
          <p:nvPr/>
        </p:nvSpPr>
        <p:spPr>
          <a:xfrm>
            <a:off x="2786062" y="3786188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6" name="Shape 1026"/>
          <p:cNvSpPr txBox="1"/>
          <p:nvPr/>
        </p:nvSpPr>
        <p:spPr>
          <a:xfrm>
            <a:off x="5824538" y="5080001"/>
            <a:ext cx="866262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zh-CN" altLang="en-US" sz="1600" b="1" dirty="0" smtClean="0">
                <a:solidFill>
                  <a:schemeClr val="dk1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地址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27" name="Shape 1027"/>
          <p:cNvSpPr txBox="1"/>
          <p:nvPr/>
        </p:nvSpPr>
        <p:spPr>
          <a:xfrm>
            <a:off x="3505879" y="5080001"/>
            <a:ext cx="649664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8" name="Shape 1028"/>
          <p:cNvSpPr txBox="1"/>
          <p:nvPr/>
        </p:nvSpPr>
        <p:spPr>
          <a:xfrm>
            <a:off x="4145638" y="5080001"/>
            <a:ext cx="738727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9" name="Shape 1029"/>
          <p:cNvSpPr/>
          <p:nvPr/>
        </p:nvSpPr>
        <p:spPr>
          <a:xfrm>
            <a:off x="5530850" y="5384800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9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0" name="Shape 1030"/>
          <p:cNvSpPr/>
          <p:nvPr/>
        </p:nvSpPr>
        <p:spPr>
          <a:xfrm>
            <a:off x="3483650" y="53848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1" name="Shape 1031"/>
          <p:cNvSpPr/>
          <p:nvPr/>
        </p:nvSpPr>
        <p:spPr>
          <a:xfrm>
            <a:off x="4169450" y="5384800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2" name="Shape 1032"/>
          <p:cNvSpPr/>
          <p:nvPr/>
        </p:nvSpPr>
        <p:spPr>
          <a:xfrm>
            <a:off x="5530850" y="5689600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6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3" name="Shape 1033"/>
          <p:cNvSpPr/>
          <p:nvPr/>
        </p:nvSpPr>
        <p:spPr>
          <a:xfrm>
            <a:off x="3483650" y="56896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4" name="Shape 1034"/>
          <p:cNvSpPr/>
          <p:nvPr/>
        </p:nvSpPr>
        <p:spPr>
          <a:xfrm>
            <a:off x="4169450" y="56896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5" name="Shape 1035"/>
          <p:cNvSpPr/>
          <p:nvPr/>
        </p:nvSpPr>
        <p:spPr>
          <a:xfrm>
            <a:off x="5530850" y="5994400"/>
            <a:ext cx="1524000" cy="304800"/>
          </a:xfrm>
          <a:prstGeom prst="rect">
            <a:avLst/>
          </a:prstGeom>
          <a:solidFill>
            <a:srgbClr val="ACACEA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11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6" name="Shape 1036"/>
          <p:cNvSpPr/>
          <p:nvPr/>
        </p:nvSpPr>
        <p:spPr>
          <a:xfrm>
            <a:off x="3483650" y="59944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7" name="Shape 1037"/>
          <p:cNvSpPr/>
          <p:nvPr/>
        </p:nvSpPr>
        <p:spPr>
          <a:xfrm>
            <a:off x="4169450" y="59944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8" name="Shape 1038"/>
          <p:cNvSpPr txBox="1"/>
          <p:nvPr/>
        </p:nvSpPr>
        <p:spPr>
          <a:xfrm>
            <a:off x="2885695" y="5080001"/>
            <a:ext cx="52392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9" name="Shape 1039"/>
          <p:cNvSpPr/>
          <p:nvPr/>
        </p:nvSpPr>
        <p:spPr>
          <a:xfrm>
            <a:off x="2794675" y="5384800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0" name="Shape 1040"/>
          <p:cNvSpPr/>
          <p:nvPr/>
        </p:nvSpPr>
        <p:spPr>
          <a:xfrm>
            <a:off x="2794675" y="56896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1" name="Shape 1041"/>
          <p:cNvSpPr/>
          <p:nvPr/>
        </p:nvSpPr>
        <p:spPr>
          <a:xfrm>
            <a:off x="2794675" y="5994400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2" name="Shape 1042"/>
          <p:cNvSpPr txBox="1"/>
          <p:nvPr/>
        </p:nvSpPr>
        <p:spPr>
          <a:xfrm>
            <a:off x="2183489" y="5386389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0: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3" name="Shape 1043"/>
          <p:cNvSpPr txBox="1"/>
          <p:nvPr/>
        </p:nvSpPr>
        <p:spPr>
          <a:xfrm>
            <a:off x="2183489" y="5691189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1: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4" name="Shape 1044"/>
          <p:cNvSpPr txBox="1"/>
          <p:nvPr/>
        </p:nvSpPr>
        <p:spPr>
          <a:xfrm>
            <a:off x="2185076" y="5995989"/>
            <a:ext cx="620105" cy="30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VP 2: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5" name="Shape 1045"/>
          <p:cNvSpPr/>
          <p:nvPr/>
        </p:nvSpPr>
        <p:spPr>
          <a:xfrm>
            <a:off x="8382000" y="2741761"/>
            <a:ext cx="1676400" cy="37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>
              <a:lnSpc>
                <a:spcPct val="98000"/>
              </a:lnSpc>
            </a:pPr>
            <a:r>
              <a:rPr lang="zh-CN" altLang="en-US" sz="1800" b="1" i="1" dirty="0" smtClean="0">
                <a:solidFill>
                  <a:srgbClr val="7F7F7F"/>
                </a:solidFill>
                <a:latin typeface="仿宋" panose="02010609060101010101" pitchFamily="49" charset="-122"/>
                <a:ea typeface="仿宋" panose="02010609060101010101" pitchFamily="49" charset="-122"/>
                <a:cs typeface="Calibri" panose="020F0502020204030204"/>
                <a:sym typeface="Calibri" panose="020F0502020204030204"/>
              </a:rPr>
              <a:t>物理地址空间</a:t>
            </a:r>
            <a:endParaRPr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46" name="Shape 1046"/>
          <p:cNvSpPr/>
          <p:nvPr/>
        </p:nvSpPr>
        <p:spPr>
          <a:xfrm>
            <a:off x="8685212" y="3180863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7" name="Shape 1047"/>
          <p:cNvSpPr/>
          <p:nvPr/>
        </p:nvSpPr>
        <p:spPr>
          <a:xfrm>
            <a:off x="8685212" y="3436450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8" name="Shape 1048"/>
          <p:cNvSpPr/>
          <p:nvPr/>
        </p:nvSpPr>
        <p:spPr>
          <a:xfrm>
            <a:off x="8685212" y="3694946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2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9" name="Shape 1049"/>
          <p:cNvSpPr/>
          <p:nvPr/>
        </p:nvSpPr>
        <p:spPr>
          <a:xfrm>
            <a:off x="8685212" y="3956538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0" name="Shape 1050"/>
          <p:cNvSpPr/>
          <p:nvPr/>
        </p:nvSpPr>
        <p:spPr>
          <a:xfrm>
            <a:off x="8685212" y="4212125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4</a:t>
            </a:r>
            <a:endParaRPr lang="en-GB" sz="16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1" name="Shape 1051"/>
          <p:cNvSpPr/>
          <p:nvPr/>
        </p:nvSpPr>
        <p:spPr>
          <a:xfrm>
            <a:off x="8685212" y="4466369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2" name="Shape 1052"/>
          <p:cNvSpPr/>
          <p:nvPr/>
        </p:nvSpPr>
        <p:spPr>
          <a:xfrm>
            <a:off x="8685212" y="4726208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6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3" name="Shape 1053"/>
          <p:cNvSpPr/>
          <p:nvPr/>
        </p:nvSpPr>
        <p:spPr>
          <a:xfrm>
            <a:off x="8685212" y="4976813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4" name="Shape 1054"/>
          <p:cNvSpPr/>
          <p:nvPr/>
        </p:nvSpPr>
        <p:spPr>
          <a:xfrm>
            <a:off x="8685212" y="5232892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8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5" name="Shape 1055"/>
          <p:cNvSpPr/>
          <p:nvPr/>
        </p:nvSpPr>
        <p:spPr>
          <a:xfrm>
            <a:off x="8685212" y="5486401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9</a:t>
            </a:r>
            <a:endParaRPr lang="en-GB" sz="1600" b="1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6" name="Shape 1056"/>
          <p:cNvSpPr/>
          <p:nvPr/>
        </p:nvSpPr>
        <p:spPr>
          <a:xfrm>
            <a:off x="8686800" y="5736735"/>
            <a:ext cx="914400" cy="2555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7" name="Shape 1057"/>
          <p:cNvSpPr/>
          <p:nvPr/>
        </p:nvSpPr>
        <p:spPr>
          <a:xfrm>
            <a:off x="8686800" y="5992814"/>
            <a:ext cx="914400" cy="255587"/>
          </a:xfrm>
          <a:prstGeom prst="rect">
            <a:avLst/>
          </a:prstGeom>
          <a:solidFill>
            <a:srgbClr val="ACACEA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 11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58" name="Shape 1058"/>
          <p:cNvCxnSpPr>
            <a:stCxn id="1008" idx="3"/>
            <a:endCxn id="1052" idx="1"/>
          </p:cNvCxnSpPr>
          <p:nvPr/>
        </p:nvCxnSpPr>
        <p:spPr>
          <a:xfrm>
            <a:off x="7051675" y="3328988"/>
            <a:ext cx="1633500" cy="1524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59" name="Shape 1059"/>
          <p:cNvCxnSpPr>
            <a:stCxn id="1011" idx="3"/>
            <a:endCxn id="1050" idx="1"/>
          </p:cNvCxnSpPr>
          <p:nvPr/>
        </p:nvCxnSpPr>
        <p:spPr>
          <a:xfrm>
            <a:off x="7051675" y="3633788"/>
            <a:ext cx="1633500" cy="7062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0" name="Shape 1060"/>
          <p:cNvCxnSpPr>
            <a:stCxn id="1014" idx="3"/>
            <a:endCxn id="1048" idx="1"/>
          </p:cNvCxnSpPr>
          <p:nvPr/>
        </p:nvCxnSpPr>
        <p:spPr>
          <a:xfrm rot="10800000" flipH="1">
            <a:off x="7051675" y="3822788"/>
            <a:ext cx="1633500" cy="1158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1" name="Shape 1061"/>
          <p:cNvCxnSpPr>
            <a:stCxn id="1029" idx="3"/>
            <a:endCxn id="1055" idx="1"/>
          </p:cNvCxnSpPr>
          <p:nvPr/>
        </p:nvCxnSpPr>
        <p:spPr>
          <a:xfrm>
            <a:off x="7054850" y="5537200"/>
            <a:ext cx="1630500" cy="771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2" name="Shape 1062"/>
          <p:cNvCxnSpPr>
            <a:stCxn id="1032" idx="3"/>
            <a:endCxn id="1052" idx="1"/>
          </p:cNvCxnSpPr>
          <p:nvPr/>
        </p:nvCxnSpPr>
        <p:spPr>
          <a:xfrm rot="10800000" flipH="1">
            <a:off x="7054850" y="4854100"/>
            <a:ext cx="1630500" cy="9879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063" name="Shape 1063"/>
          <p:cNvCxnSpPr>
            <a:stCxn id="1035" idx="3"/>
            <a:endCxn id="1057" idx="1"/>
          </p:cNvCxnSpPr>
          <p:nvPr/>
        </p:nvCxnSpPr>
        <p:spPr>
          <a:xfrm rot="10800000" flipH="1">
            <a:off x="7054850" y="6120700"/>
            <a:ext cx="1632000" cy="2610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064" name="Shape 1064"/>
          <p:cNvSpPr txBox="1"/>
          <p:nvPr/>
        </p:nvSpPr>
        <p:spPr>
          <a:xfrm>
            <a:off x="4891101" y="2870200"/>
            <a:ext cx="604275" cy="31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5" name="Shape 1065"/>
          <p:cNvSpPr/>
          <p:nvPr/>
        </p:nvSpPr>
        <p:spPr>
          <a:xfrm>
            <a:off x="4844511" y="347980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6" name="Shape 1066"/>
          <p:cNvSpPr txBox="1"/>
          <p:nvPr/>
        </p:nvSpPr>
        <p:spPr>
          <a:xfrm>
            <a:off x="4894869" y="5076120"/>
            <a:ext cx="604275" cy="31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350" tIns="44275" rIns="90350" bIns="44275" anchor="t" anchorCtr="0">
            <a:noAutofit/>
          </a:bodyPr>
          <a:lstStyle/>
          <a:p>
            <a:pPr algn="ctr">
              <a:lnSpc>
                <a:spcPct val="8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7" name="Shape 1067"/>
          <p:cNvSpPr/>
          <p:nvPr/>
        </p:nvSpPr>
        <p:spPr>
          <a:xfrm>
            <a:off x="4848279" y="568572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8" name="Shape 1068"/>
          <p:cNvSpPr/>
          <p:nvPr/>
        </p:nvSpPr>
        <p:spPr>
          <a:xfrm>
            <a:off x="4848279" y="599052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9" name="Shape 1069"/>
          <p:cNvSpPr/>
          <p:nvPr/>
        </p:nvSpPr>
        <p:spPr>
          <a:xfrm>
            <a:off x="4840607" y="3173057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0" name="Shape 1070"/>
          <p:cNvSpPr/>
          <p:nvPr/>
        </p:nvSpPr>
        <p:spPr>
          <a:xfrm>
            <a:off x="4850117" y="5380920"/>
            <a:ext cx="685800" cy="304800"/>
          </a:xfrm>
          <a:prstGeom prst="rect">
            <a:avLst/>
          </a:prstGeom>
          <a:solidFill>
            <a:srgbClr val="D5F1CF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Yes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1" name="Shape 1071"/>
          <p:cNvSpPr/>
          <p:nvPr/>
        </p:nvSpPr>
        <p:spPr>
          <a:xfrm>
            <a:off x="4840607" y="3786188"/>
            <a:ext cx="685800" cy="304800"/>
          </a:xfrm>
          <a:prstGeom prst="rect">
            <a:avLst/>
          </a:prstGeom>
          <a:solidFill>
            <a:srgbClr val="F1C7C7"/>
          </a:solidFill>
          <a:ln w="126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350" tIns="44275" rIns="90350" bIns="44275" anchor="ctr" anchorCtr="0">
            <a:noAutofit/>
          </a:bodyPr>
          <a:lstStyle/>
          <a:p>
            <a:pPr algn="ctr">
              <a:lnSpc>
                <a:spcPct val="98000"/>
              </a:lnSpc>
            </a:pPr>
            <a:r>
              <a:rPr lang="en-GB" sz="1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</a:t>
            </a:r>
            <a:endParaRPr lang="en-GB" sz="16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Shape 1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1549" name="Shape 154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程序员视角的虚存</a:t>
            </a:r>
            <a:endParaRPr lang="zh-CN" altLang="en-US"/>
          </a:p>
          <a:p>
            <a:pPr lvl="1"/>
            <a:r>
              <a:rPr lang="zh-CN" altLang="en-US"/>
              <a:t>每个进程都有自己的私有线性地址空间</a:t>
            </a:r>
            <a:endParaRPr lang="zh-CN" altLang="en-US"/>
          </a:p>
          <a:p>
            <a:pPr lvl="1"/>
            <a:r>
              <a:rPr lang="zh-CN" altLang="en-US"/>
              <a:t>不会被其他进程破坏</a:t>
            </a:r>
            <a:endParaRPr lang="zh-CN" altLang="en-US"/>
          </a:p>
          <a:p/>
          <a:p>
            <a:r>
              <a:rPr lang="zh-CN" altLang="en-US"/>
              <a:t>系统视角的虚存</a:t>
            </a:r>
            <a:endParaRPr lang="zh-CN" altLang="en-US"/>
          </a:p>
          <a:p>
            <a:pPr lvl="1"/>
            <a:r>
              <a:rPr lang="zh-CN" altLang="en-US"/>
              <a:t>通过缓存虚存页</a:t>
            </a:r>
            <a:r>
              <a:rPr lang="en-US" altLang="zh-CN"/>
              <a:t>，</a:t>
            </a:r>
            <a:r>
              <a:rPr lang="zh-CN" altLang="en-US"/>
              <a:t>来高效使用内存</a:t>
            </a:r>
            <a:endParaRPr lang="zh-CN" altLang="en-US"/>
          </a:p>
          <a:p>
            <a:pPr lvl="2"/>
            <a:r>
              <a:rPr lang="zh-CN" altLang="en-US"/>
              <a:t>高效仅仅是因为局部性</a:t>
            </a:r>
            <a:endParaRPr lang="zh-CN" altLang="en-US"/>
          </a:p>
          <a:p>
            <a:pPr lvl="1"/>
            <a:r>
              <a:rPr lang="zh-CN" altLang="en-US"/>
              <a:t>简化内存管理和编程</a:t>
            </a:r>
            <a:endParaRPr lang="zh-CN" altLang="en-US"/>
          </a:p>
          <a:p>
            <a:pPr lvl="1"/>
            <a:r>
              <a:rPr lang="zh-CN" altLang="en-US"/>
              <a:t>通过提供一个便利的插入点检查权限</a:t>
            </a:r>
            <a:r>
              <a:rPr lang="en-US" altLang="zh-CN"/>
              <a:t>，</a:t>
            </a:r>
            <a:r>
              <a:rPr lang="zh-CN" altLang="en-US"/>
              <a:t>来简化保护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25*32"/>
  <p:tag name="TABLE_ENDDRAG_RECT" val="178*91*525*32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TABLE_ENDDRAG_ORIGIN_RECT" val="672*204"/>
  <p:tag name="TABLE_ENDDRAG_RECT" val="144*210*672*204"/>
</p:tagLst>
</file>

<file path=ppt/tags/tag10.xml><?xml version="1.0" encoding="utf-8"?>
<p:tagLst xmlns:p="http://schemas.openxmlformats.org/presentationml/2006/main">
  <p:tag name="TABLE_ENDDRAG_ORIGIN_RECT" val="116*258"/>
  <p:tag name="TABLE_ENDDRAG_RECT" val="280*207*116*258"/>
</p:tagLst>
</file>

<file path=ppt/tags/tag11.xml><?xml version="1.0" encoding="utf-8"?>
<p:tagLst xmlns:p="http://schemas.openxmlformats.org/presentationml/2006/main">
  <p:tag name="TABLE_ENDDRAG_ORIGIN_RECT" val="198*261"/>
  <p:tag name="TABLE_ENDDRAG_RECT" val="76*207*198*261"/>
</p:tagLst>
</file>

<file path=ppt/tags/tag12.xml><?xml version="1.0" encoding="utf-8"?>
<p:tagLst xmlns:p="http://schemas.openxmlformats.org/presentationml/2006/main">
  <p:tag name="TABLE_ENDDRAG_ORIGIN_RECT" val="700*87"/>
  <p:tag name="TABLE_ENDDRAG_RECT" val="8*429*700*87"/>
</p:tagLst>
</file>

<file path=ppt/tags/tag13.xml><?xml version="1.0" encoding="utf-8"?>
<p:tagLst xmlns:p="http://schemas.openxmlformats.org/presentationml/2006/main">
  <p:tag name="TABLE_ENDDRAG_ORIGIN_RECT" val="198*261"/>
  <p:tag name="TABLE_ENDDRAG_RECT" val="76*207*198*261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12267</Words>
  <Application>WPS Presentation</Application>
  <PresentationFormat>宽屏</PresentationFormat>
  <Paragraphs>2688</Paragraphs>
  <Slides>72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105" baseType="lpstr">
      <vt:lpstr>Arial</vt:lpstr>
      <vt:lpstr>SimSun</vt:lpstr>
      <vt:lpstr>Wingdings</vt:lpstr>
      <vt:lpstr>Arial</vt:lpstr>
      <vt:lpstr>Calibri</vt:lpstr>
      <vt:lpstr>Arial Narrow</vt:lpstr>
      <vt:lpstr>Noto Sans Symbols</vt:lpstr>
      <vt:lpstr>Thonburi</vt:lpstr>
      <vt:lpstr>Times New Roman</vt:lpstr>
      <vt:lpstr>Courier New</vt:lpstr>
      <vt:lpstr>仿宋</vt:lpstr>
      <vt:lpstr>方正仿宋_GBK</vt:lpstr>
      <vt:lpstr>Calibri Bold</vt:lpstr>
      <vt:lpstr>Consolas</vt:lpstr>
      <vt:lpstr>苹方-简</vt:lpstr>
      <vt:lpstr>FangSong</vt:lpstr>
      <vt:lpstr>Microsoft YaHei</vt:lpstr>
      <vt:lpstr>汉仪旗黑</vt:lpstr>
      <vt:lpstr>Arial Unicode MS</vt:lpstr>
      <vt:lpstr>Arial Bold</vt:lpstr>
      <vt:lpstr>SimSun</vt:lpstr>
      <vt:lpstr>汉仪书宋二KW</vt:lpstr>
      <vt:lpstr>Times New Roman</vt:lpstr>
      <vt:lpstr>Arial Bold Italic</vt:lpstr>
      <vt:lpstr>SimSun</vt:lpstr>
      <vt:lpstr>Arial Narrow</vt:lpstr>
      <vt:lpstr>Courier New</vt:lpstr>
      <vt:lpstr>FangSong</vt:lpstr>
      <vt:lpstr>Wingdings</vt:lpstr>
      <vt:lpstr>仿宋</vt:lpstr>
      <vt:lpstr>SimSun</vt:lpstr>
      <vt:lpstr>Calibri</vt:lpstr>
      <vt:lpstr>template2007</vt:lpstr>
      <vt:lpstr>虚拟存储器：概念  15-213/15-503/14-513: Introduction to Computer Systems  11th Lecture, Sept 30, 2025</vt:lpstr>
      <vt:lpstr>Outline</vt:lpstr>
      <vt:lpstr>存储器层次结构示例</vt:lpstr>
      <vt:lpstr>Intel Core i7 Cache 层次结构</vt:lpstr>
      <vt:lpstr>物理寻址系统</vt:lpstr>
      <vt:lpstr>回顾：进程</vt:lpstr>
      <vt:lpstr>这是怎么实现的？！		</vt:lpstr>
      <vt:lpstr>这张图需要更多的解释</vt:lpstr>
      <vt:lpstr>中间层 or 抽象层</vt:lpstr>
      <vt:lpstr>中间层抽象——虚拟内存</vt:lpstr>
      <vt:lpstr>虚拟寻址系统</vt:lpstr>
      <vt:lpstr>VM 是内存管理的工具</vt:lpstr>
      <vt:lpstr>VM 是运行时内存管理的工具</vt:lpstr>
      <vt:lpstr>简化链接与加载工作</vt:lpstr>
      <vt:lpstr>地址空间</vt:lpstr>
      <vt:lpstr>为什么使用虚拟存储（VM）？</vt:lpstr>
      <vt:lpstr>虚存地址转换</vt:lpstr>
      <vt:lpstr>映射：V -&gt; P</vt:lpstr>
      <vt:lpstr>启用数据结构：页表</vt:lpstr>
      <vt:lpstr>启用数据结构：页表</vt:lpstr>
      <vt:lpstr>PowerPoint 演示文稿</vt:lpstr>
      <vt:lpstr>页命中</vt:lpstr>
      <vt:lpstr>使用页表的地址转换</vt:lpstr>
      <vt:lpstr>地址转换：页命中</vt:lpstr>
      <vt:lpstr>缺页故障</vt:lpstr>
      <vt:lpstr>地址转换：缺页故障</vt:lpstr>
      <vt:lpstr>处理缺页故障</vt:lpstr>
      <vt:lpstr>处理缺页故障</vt:lpstr>
      <vt:lpstr>处理缺页故障</vt:lpstr>
      <vt:lpstr>处理缺页故障</vt:lpstr>
      <vt:lpstr>分配页</vt:lpstr>
      <vt:lpstr>一个问题</vt:lpstr>
      <vt:lpstr>线性 (简单) 页表</vt:lpstr>
      <vt:lpstr>线性页表的大小</vt:lpstr>
      <vt:lpstr>线性页表的大小</vt:lpstr>
      <vt:lpstr>多级页表</vt:lpstr>
      <vt:lpstr>多级页表</vt:lpstr>
      <vt:lpstr>二级页表层次结构</vt:lpstr>
      <vt:lpstr>K级页表的地址转换</vt:lpstr>
      <vt:lpstr>RISC-V 使用四级页表</vt:lpstr>
      <vt:lpstr>Outline</vt:lpstr>
      <vt:lpstr>虚存也要缓存</vt:lpstr>
      <vt:lpstr>虚存是缓存的工具</vt:lpstr>
      <vt:lpstr>DRAM 缓存结构</vt:lpstr>
      <vt:lpstr>内存上的替换算法和写操作</vt:lpstr>
      <vt:lpstr>把Cache和虚存集成在一起</vt:lpstr>
      <vt:lpstr>把Cache和虚存集成在一起</vt:lpstr>
      <vt:lpstr>把Cache和虚存集成在一起</vt:lpstr>
      <vt:lpstr>把Cache和虚存集成在一起</vt:lpstr>
      <vt:lpstr>把Cache和虚存集成在一起</vt:lpstr>
      <vt:lpstr>把Cache和虚存集成在一起</vt:lpstr>
      <vt:lpstr>把Cache和虚存集成在一起</vt:lpstr>
      <vt:lpstr>其余组合？</vt:lpstr>
      <vt:lpstr>再次被局部性拯救了！</vt:lpstr>
      <vt:lpstr>Outline</vt:lpstr>
      <vt:lpstr>利用TLB加速页表的访问</vt:lpstr>
      <vt:lpstr>用TLB加速地址转换</vt:lpstr>
      <vt:lpstr>地址转换符号说明</vt:lpstr>
      <vt:lpstr>访问TLB</vt:lpstr>
      <vt:lpstr>利用TLB实现快速的页地址翻译</vt:lpstr>
      <vt:lpstr>TLB 命中</vt:lpstr>
      <vt:lpstr>TLB 缺失</vt:lpstr>
      <vt:lpstr>TLB失效</vt:lpstr>
      <vt:lpstr>页失效的处理</vt:lpstr>
      <vt:lpstr>TLB 和 Cache之间的互动</vt:lpstr>
      <vt:lpstr>TLB和k级页表</vt:lpstr>
      <vt:lpstr>Exercise 2:</vt:lpstr>
      <vt:lpstr>Exercise 2:</vt:lpstr>
      <vt:lpstr>Outline</vt:lpstr>
      <vt:lpstr>内存的保护</vt:lpstr>
      <vt:lpstr>虚存是内存保护的工具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Memory: Concepts  15-213: Introduction to Computer Systems  17th Lecture, July 5, 2018</dc:title>
  <dc:creator>Administrator</dc:creator>
  <cp:lastModifiedBy>00030832</cp:lastModifiedBy>
  <cp:revision>149</cp:revision>
  <dcterms:created xsi:type="dcterms:W3CDTF">2026-05-20T03:15:55Z</dcterms:created>
  <dcterms:modified xsi:type="dcterms:W3CDTF">2026-05-20T03:15:55Z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3F1AAB0460CAAE3642270D6A295F6125_43</vt:lpwstr>
  </property>
</Properties>
</file>