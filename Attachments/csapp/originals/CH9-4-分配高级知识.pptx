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2" r:id="rId3"/>
    <p:sldMasterId id="2147483676" r:id="rId4"/>
    <p:sldMasterId id="2147483690" r:id="rId5"/>
  </p:sldMasterIdLst>
  <p:notesMasterIdLst>
    <p:notesMasterId r:id="rId7"/>
  </p:notesMasterIdLst>
  <p:handoutMasterIdLst>
    <p:handoutMasterId r:id="rId45"/>
  </p:handoutMasterIdLst>
  <p:sldIdLst>
    <p:sldId id="1473" r:id="rId6"/>
    <p:sldId id="1529" r:id="rId8"/>
    <p:sldId id="1530" r:id="rId9"/>
    <p:sldId id="1531" r:id="rId10"/>
    <p:sldId id="1474" r:id="rId11"/>
    <p:sldId id="1532" r:id="rId12"/>
    <p:sldId id="1428" r:id="rId13"/>
    <p:sldId id="1468" r:id="rId14"/>
    <p:sldId id="1429" r:id="rId15"/>
    <p:sldId id="1502" r:id="rId16"/>
    <p:sldId id="1431" r:id="rId17"/>
    <p:sldId id="1433" r:id="rId18"/>
    <p:sldId id="1432" r:id="rId19"/>
    <p:sldId id="1434" r:id="rId20"/>
    <p:sldId id="1503" r:id="rId21"/>
    <p:sldId id="1435" r:id="rId22"/>
    <p:sldId id="1533" r:id="rId23"/>
    <p:sldId id="1437" r:id="rId24"/>
    <p:sldId id="1438" r:id="rId25"/>
    <p:sldId id="1439" r:id="rId26"/>
    <p:sldId id="1440" r:id="rId27"/>
    <p:sldId id="1534" r:id="rId28"/>
    <p:sldId id="1475" r:id="rId29"/>
    <p:sldId id="1476" r:id="rId30"/>
    <p:sldId id="1477" r:id="rId31"/>
    <p:sldId id="1478" r:id="rId32"/>
    <p:sldId id="1480" r:id="rId33"/>
    <p:sldId id="1479" r:id="rId34"/>
    <p:sldId id="1481" r:id="rId35"/>
    <p:sldId id="1491" r:id="rId36"/>
    <p:sldId id="1493" r:id="rId37"/>
    <p:sldId id="1528" r:id="rId38"/>
    <p:sldId id="1482" r:id="rId39"/>
    <p:sldId id="1483" r:id="rId40"/>
    <p:sldId id="1484" r:id="rId41"/>
    <p:sldId id="1485" r:id="rId42"/>
    <p:sldId id="1486" r:id="rId43"/>
    <p:sldId id="1487" r:id="rId44"/>
  </p:sldIdLst>
  <p:sldSz cx="12192000" cy="6858000"/>
  <p:notesSz cx="7302500" cy="9586595"/>
  <p:custDataLst>
    <p:tags r:id="rId4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00AC00"/>
    <a:srgbClr val="00FF00"/>
    <a:srgbClr val="990000"/>
    <a:srgbClr val="F6F5BD"/>
    <a:srgbClr val="F1C7C7"/>
    <a:srgbClr val="EBAFAF"/>
    <a:srgbClr val="ACE3A1"/>
    <a:srgbClr val="D5F1CF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78129" autoAdjust="0"/>
  </p:normalViewPr>
  <p:slideViewPr>
    <p:cSldViewPr snapToObjects="1" showGuides="1">
      <p:cViewPr varScale="1">
        <p:scale>
          <a:sx n="95" d="100"/>
          <a:sy n="95" d="100"/>
        </p:scale>
        <p:origin x="1434" y="90"/>
      </p:cViewPr>
      <p:guideLst>
        <p:guide orient="horz" pos="2134"/>
        <p:guide pos="3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  <a:endParaRPr lang="en-US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defTabSz="965200">
              <a:defRPr sz="1200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  <a:endParaRPr lang="en-US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858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78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81287" y="726135"/>
            <a:ext cx="4953350" cy="35805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710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24461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81287" y="726135"/>
            <a:ext cx="4953350" cy="35805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710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24461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813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91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12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32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179610" y="724518"/>
            <a:ext cx="4955028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63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73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837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1179610" y="724518"/>
            <a:ext cx="4955028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93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373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270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7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49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49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7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8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78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98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08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2" y="228601"/>
            <a:ext cx="2914649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1"/>
            <a:ext cx="8544984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6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1"/>
            <a:ext cx="5162549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1" y="1362075"/>
            <a:ext cx="5162551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8" y="-26987"/>
            <a:ext cx="1746249" cy="2778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1774458" y="6611780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MS PGothic" pitchFamily="-96" charset="-128"/>
                <a:cs typeface="MS PGothic" pitchFamily="-96" charset="-128"/>
              </a:rPr>
            </a:fld>
            <a:endParaRPr lang="en-US" sz="2400" dirty="0">
              <a:latin typeface="+mj-lt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21375" y="6629401"/>
            <a:ext cx="4645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8" y="-26987"/>
            <a:ext cx="1746249" cy="2778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1774458" y="6611780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706020202030204" pitchFamily="34" charset="0"/>
                <a:ea typeface="MS PGothic" pitchFamily="-96" charset="-128"/>
                <a:cs typeface="MS PGothic" pitchFamily="-96" charset="-128"/>
              </a:rPr>
            </a:fld>
            <a:endParaRPr lang="en-US" sz="24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8" y="-26987"/>
            <a:ext cx="1746249" cy="2778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 b="0">
              <a:latin typeface="Times New Roman" panose="02020603050405020304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530418" y="-26987"/>
            <a:ext cx="1746249" cy="2778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Carnegie Mellon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09800" y="1708150"/>
            <a:ext cx="7772400" cy="1720850"/>
          </a:xfrm>
        </p:spPr>
        <p:txBody>
          <a:bodyPr/>
          <a:lstStyle/>
          <a:p>
            <a:pPr marL="0" indent="0"/>
            <a:r>
              <a:rPr lang="zh-CN" altLang="en-US" dirty="0" smtClean="0"/>
              <a:t>动态内存分配：高级概念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15-213/15-513/14-513: Introduction to Computer Systems</a:t>
            </a:r>
            <a:br>
              <a:rPr lang="en-US" sz="2000" b="0" dirty="0"/>
            </a:br>
            <a:r>
              <a:rPr lang="en-US" sz="2000" b="0" dirty="0"/>
              <a:t>14</a:t>
            </a:r>
            <a:r>
              <a:rPr lang="en-US" sz="2000" b="0" baseline="30000" dirty="0"/>
              <a:t>th</a:t>
            </a:r>
            <a:r>
              <a:rPr lang="en-US" sz="2000" b="0" dirty="0"/>
              <a:t> Lecture, Oct 9, 2025</a:t>
            </a:r>
            <a:endParaRPr lang="en-US" sz="2000" b="0" dirty="0"/>
          </a:p>
        </p:txBody>
      </p:sp>
      <p:sp>
        <p:nvSpPr>
          <p:cNvPr id="4" name="TextBox 3"/>
          <p:cNvSpPr txBox="1"/>
          <p:nvPr/>
        </p:nvSpPr>
        <p:spPr>
          <a:xfrm>
            <a:off x="3810000" y="3206237"/>
            <a:ext cx="4615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复习：动态内存分配</a:t>
            </a:r>
            <a:r>
              <a:rPr lang="en-GB" dirty="0"/>
              <a:t>	</a:t>
            </a:r>
            <a:endParaRPr lang="en-GB" dirty="0"/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1804875" y="2940910"/>
            <a:ext cx="4093996" cy="3815473"/>
          </a:xfrm>
        </p:spPr>
        <p:txBody>
          <a:bodyPr/>
          <a:lstStyle/>
          <a:p>
            <a:r>
              <a:rPr lang="zh-CN" altLang="en-US" dirty="0" smtClean="0"/>
              <a:t>程序员使用</a:t>
            </a:r>
            <a:r>
              <a:rPr lang="zh-CN" altLang="en-US" i="1" dirty="0" smtClean="0">
                <a:solidFill>
                  <a:srgbClr val="990000"/>
                </a:solidFill>
              </a:rPr>
              <a:t>动态内存分配器</a:t>
            </a:r>
            <a:r>
              <a:rPr lang="en-US" i="1" dirty="0" smtClean="0">
                <a:solidFill>
                  <a:srgbClr val="990000"/>
                </a:solidFill>
              </a:rPr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（例如</a:t>
            </a:r>
            <a:r>
              <a:rPr lang="en-US" altLang="zh-CN" dirty="0" err="1" smtClean="0"/>
              <a:t>malloc</a:t>
            </a:r>
            <a:r>
              <a:rPr lang="zh-CN" altLang="en-US" dirty="0" smtClean="0"/>
              <a:t>）获取运行时虚拟存储器（</a:t>
            </a:r>
            <a:r>
              <a:rPr lang="en-US" altLang="zh-CN" dirty="0" smtClean="0"/>
              <a:t>VM</a:t>
            </a:r>
            <a:r>
              <a:rPr lang="zh-CN" altLang="en-US" dirty="0" smtClean="0"/>
              <a:t>）</a:t>
            </a:r>
            <a:endParaRPr lang="en-US" dirty="0"/>
          </a:p>
          <a:p>
            <a:pPr lvl="1"/>
            <a:r>
              <a:rPr lang="zh-CN" altLang="en-US" dirty="0" smtClean="0"/>
              <a:t>对仅在运行时才知道其大小的数据结构</a:t>
            </a:r>
            <a:endParaRPr lang="en-US" dirty="0"/>
          </a:p>
          <a:p>
            <a:r>
              <a:rPr lang="zh-CN" altLang="en-US" dirty="0" smtClean="0"/>
              <a:t>动态内存分配器</a:t>
            </a:r>
            <a:r>
              <a:rPr lang="zh-CN" altLang="en-US" dirty="0"/>
              <a:t>管理被称为</a:t>
            </a:r>
            <a:r>
              <a:rPr lang="zh-CN" altLang="en-US" i="1" dirty="0" smtClean="0">
                <a:solidFill>
                  <a:srgbClr val="990000"/>
                </a:solidFill>
              </a:rPr>
              <a:t>堆 </a:t>
            </a:r>
            <a:r>
              <a:rPr lang="zh-CN" altLang="en-US" dirty="0" smtClean="0"/>
              <a:t>的进程</a:t>
            </a:r>
            <a:r>
              <a:rPr lang="en-US" altLang="zh-CN" dirty="0" smtClean="0"/>
              <a:t>VM</a:t>
            </a:r>
            <a:r>
              <a:rPr lang="zh-CN" altLang="en-US" dirty="0" smtClean="0"/>
              <a:t>区域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225418" y="1362074"/>
            <a:ext cx="3505200" cy="1371600"/>
            <a:chOff x="4189412" y="1362075"/>
            <a:chExt cx="3505200" cy="1371600"/>
          </a:xfrm>
        </p:grpSpPr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4189412" y="13620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latin typeface="+mn-lt"/>
                </a:rPr>
                <a:t>应用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4189412" y="1819275"/>
              <a:ext cx="3505200" cy="4572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latin typeface="+mn-lt"/>
                </a:rPr>
                <a:t>动态内存分配器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4189412" y="22764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2000" dirty="0">
                  <a:latin typeface="+mn-lt"/>
                </a:rPr>
                <a:t>堆</a:t>
              </a:r>
              <a:endParaRPr lang="en-US" sz="2000" dirty="0">
                <a:latin typeface="+mn-lt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867400" y="914400"/>
            <a:ext cx="5882282" cy="5648109"/>
            <a:chOff x="3985528" y="1286091"/>
            <a:chExt cx="5882282" cy="5648109"/>
          </a:xfrm>
        </p:grpSpPr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4998661" y="1328954"/>
              <a:ext cx="2789237" cy="487362"/>
            </a:xfrm>
            <a:prstGeom prst="rect">
              <a:avLst/>
            </a:prstGeom>
            <a:solidFill>
              <a:srgbClr val="F1C7C7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核心虚拟存储器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4998661" y="3030754"/>
              <a:ext cx="2789237" cy="669925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共享库的内存映射区域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4998661" y="3695916"/>
              <a:ext cx="2789237" cy="723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2" name="Rectangle 18"/>
            <p:cNvSpPr>
              <a:spLocks noChangeArrowheads="1"/>
            </p:cNvSpPr>
            <p:nvPr/>
          </p:nvSpPr>
          <p:spPr bwMode="auto">
            <a:xfrm>
              <a:off x="4998661" y="2121116"/>
              <a:ext cx="2789237" cy="9064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3" name="Line 19"/>
            <p:cNvSpPr>
              <a:spLocks noChangeShapeType="1"/>
            </p:cNvSpPr>
            <p:nvPr/>
          </p:nvSpPr>
          <p:spPr bwMode="auto">
            <a:xfrm flipV="1">
              <a:off x="6388782" y="4024529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4" name="Rectangle 20"/>
            <p:cNvSpPr>
              <a:spLocks noChangeArrowheads="1"/>
            </p:cNvSpPr>
            <p:nvPr/>
          </p:nvSpPr>
          <p:spPr bwMode="auto">
            <a:xfrm>
              <a:off x="4998661" y="1786154"/>
              <a:ext cx="2789237" cy="563562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用户栈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（运行时创建）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5" name="Line 21"/>
            <p:cNvSpPr>
              <a:spLocks noChangeShapeType="1"/>
            </p:cNvSpPr>
            <p:nvPr/>
          </p:nvSpPr>
          <p:spPr bwMode="auto">
            <a:xfrm flipV="1">
              <a:off x="6388782" y="2805329"/>
              <a:ext cx="1588" cy="2317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6" name="Line 22"/>
            <p:cNvSpPr>
              <a:spLocks noChangeShapeType="1"/>
            </p:cNvSpPr>
            <p:nvPr/>
          </p:nvSpPr>
          <p:spPr bwMode="auto">
            <a:xfrm>
              <a:off x="6388782" y="2349716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57" name="Rectangle 23"/>
            <p:cNvSpPr>
              <a:spLocks noChangeArrowheads="1"/>
            </p:cNvSpPr>
            <p:nvPr/>
          </p:nvSpPr>
          <p:spPr bwMode="auto">
            <a:xfrm>
              <a:off x="4998661" y="6379849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未使用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8" name="Text Box 24"/>
            <p:cNvSpPr txBox="1">
              <a:spLocks noChangeArrowheads="1"/>
            </p:cNvSpPr>
            <p:nvPr/>
          </p:nvSpPr>
          <p:spPr bwMode="auto">
            <a:xfrm>
              <a:off x="4733026" y="6598401"/>
              <a:ext cx="285954" cy="335799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+mn-ea"/>
                  <a:cs typeface="msgothic" charset="0"/>
                </a:rPr>
                <a:t>0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9" name="Text Box 25"/>
            <p:cNvSpPr txBox="1">
              <a:spLocks noChangeArrowheads="1"/>
            </p:cNvSpPr>
            <p:nvPr/>
          </p:nvSpPr>
          <p:spPr bwMode="auto">
            <a:xfrm>
              <a:off x="8146053" y="2175091"/>
              <a:ext cx="1632476" cy="32598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+mn-ea"/>
                  <a:cs typeface="msgothic" charset="0"/>
                </a:rPr>
                <a:t>%</a:t>
              </a:r>
              <a:r>
                <a:rPr lang="en-GB" sz="1600" dirty="0" err="1" smtClean="0">
                  <a:latin typeface="+mn-ea"/>
                  <a:cs typeface="msgothic" charset="0"/>
                </a:rPr>
                <a:t>rsp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（栈指针）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0" name="Line 26"/>
            <p:cNvSpPr>
              <a:spLocks noChangeShapeType="1"/>
            </p:cNvSpPr>
            <p:nvPr/>
          </p:nvSpPr>
          <p:spPr bwMode="auto">
            <a:xfrm flipH="1">
              <a:off x="7839666" y="2346541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61" name="Text Box 27"/>
            <p:cNvSpPr txBox="1">
              <a:spLocks noChangeArrowheads="1"/>
            </p:cNvSpPr>
            <p:nvPr/>
          </p:nvSpPr>
          <p:spPr bwMode="auto">
            <a:xfrm>
              <a:off x="8008032" y="1286091"/>
              <a:ext cx="1215695" cy="577082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用户代码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可见的内存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2" name="Line 28"/>
            <p:cNvSpPr>
              <a:spLocks noChangeShapeType="1"/>
            </p:cNvSpPr>
            <p:nvPr/>
          </p:nvSpPr>
          <p:spPr bwMode="auto">
            <a:xfrm flipV="1">
              <a:off x="7855632" y="1324459"/>
              <a:ext cx="1588" cy="4603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63" name="Text Box 29"/>
            <p:cNvSpPr txBox="1">
              <a:spLocks noChangeArrowheads="1"/>
            </p:cNvSpPr>
            <p:nvPr/>
          </p:nvSpPr>
          <p:spPr bwMode="auto">
            <a:xfrm>
              <a:off x="8022275" y="4242017"/>
              <a:ext cx="899903" cy="29700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 smtClean="0">
                  <a:latin typeface="+mn-ea"/>
                  <a:cs typeface="Calibri" pitchFamily="34" charset="0"/>
                </a:rPr>
                <a:t>“</a:t>
              </a:r>
              <a:r>
                <a:rPr lang="zh-CN" altLang="en-US" sz="1400" dirty="0" smtClean="0">
                  <a:latin typeface="+mn-ea"/>
                  <a:cs typeface="Calibri" pitchFamily="34" charset="0"/>
                </a:rPr>
                <a:t>断点</a:t>
              </a:r>
              <a:r>
                <a:rPr lang="en-GB" sz="1400" dirty="0" smtClean="0">
                  <a:latin typeface="+mn-ea"/>
                  <a:cs typeface="Calibri" pitchFamily="34" charset="0"/>
                </a:rPr>
                <a:t>”</a:t>
              </a:r>
              <a:endParaRPr lang="en-GB" sz="1400" dirty="0">
                <a:latin typeface="+mn-ea"/>
                <a:cs typeface="Calibri" pitchFamily="34" charset="0"/>
              </a:endParaRPr>
            </a:p>
          </p:txBody>
        </p:sp>
        <p:sp>
          <p:nvSpPr>
            <p:cNvPr id="64" name="Line 30"/>
            <p:cNvSpPr>
              <a:spLocks noChangeShapeType="1"/>
            </p:cNvSpPr>
            <p:nvPr/>
          </p:nvSpPr>
          <p:spPr bwMode="auto">
            <a:xfrm flipH="1">
              <a:off x="7815944" y="4407116"/>
              <a:ext cx="25960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+mn-ea"/>
              </a:endParaRPr>
            </a:p>
          </p:txBody>
        </p:sp>
        <p:sp>
          <p:nvSpPr>
            <p:cNvPr id="65" name="Text Box 32"/>
            <p:cNvSpPr txBox="1">
              <a:spLocks noChangeArrowheads="1"/>
            </p:cNvSpPr>
            <p:nvPr/>
          </p:nvSpPr>
          <p:spPr bwMode="auto">
            <a:xfrm>
              <a:off x="3985528" y="6256343"/>
              <a:ext cx="899903" cy="29700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dirty="0">
                  <a:latin typeface="+mn-ea"/>
                  <a:cs typeface="msgothic" charset="0"/>
                </a:rPr>
                <a:t>0x400000</a:t>
              </a:r>
              <a:endParaRPr lang="en-GB" sz="1400" dirty="0">
                <a:latin typeface="+mn-ea"/>
                <a:cs typeface="msgothic" charset="0"/>
              </a:endParaRPr>
            </a:p>
          </p:txBody>
        </p:sp>
        <p:sp>
          <p:nvSpPr>
            <p:cNvPr id="66" name="Rectangle 34"/>
            <p:cNvSpPr>
              <a:spLocks noChangeArrowheads="1"/>
            </p:cNvSpPr>
            <p:nvPr/>
          </p:nvSpPr>
          <p:spPr bwMode="auto">
            <a:xfrm>
              <a:off x="4998661" y="5084449"/>
              <a:ext cx="2789238" cy="669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读</a:t>
              </a:r>
              <a:r>
                <a:rPr lang="en-US" altLang="zh-CN" sz="1600" dirty="0" smtClean="0">
                  <a:latin typeface="+mn-ea"/>
                  <a:cs typeface="msgothic" charset="0"/>
                </a:rPr>
                <a:t>/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写段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</a:t>
              </a:r>
              <a:r>
                <a:rPr lang="en-GB" altLang="zh-CN" sz="1600" dirty="0">
                  <a:latin typeface="+mn-ea"/>
                  <a:cs typeface="msgothic" charset="0"/>
                </a:rPr>
                <a:t>.data</a:t>
              </a:r>
              <a:r>
                <a:rPr lang="zh-CN" altLang="en-US" sz="1600" dirty="0">
                  <a:latin typeface="+mn-ea"/>
                  <a:cs typeface="msgothic" charset="0"/>
                </a:rPr>
                <a:t>，</a:t>
              </a:r>
              <a:r>
                <a:rPr lang="en-GB" altLang="zh-CN" sz="1600" dirty="0">
                  <a:latin typeface="+mn-ea"/>
                  <a:cs typeface="msgothic" charset="0"/>
                </a:rPr>
                <a:t> .</a:t>
              </a:r>
              <a:r>
                <a:rPr lang="en-GB" altLang="zh-CN" sz="1600" dirty="0" err="1" smtClean="0">
                  <a:latin typeface="+mn-ea"/>
                  <a:cs typeface="msgothic" charset="0"/>
                </a:rPr>
                <a:t>bss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7" name="Rectangle 35"/>
            <p:cNvSpPr>
              <a:spLocks noChangeArrowheads="1"/>
            </p:cNvSpPr>
            <p:nvPr/>
          </p:nvSpPr>
          <p:spPr bwMode="auto">
            <a:xfrm>
              <a:off x="4998661" y="5709924"/>
              <a:ext cx="2789238" cy="669925"/>
            </a:xfrm>
            <a:prstGeom prst="rect">
              <a:avLst/>
            </a:prstGeom>
            <a:solidFill>
              <a:srgbClr val="F6F5BD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只读段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</a:t>
              </a:r>
              <a:r>
                <a:rPr lang="en-GB" sz="1600" dirty="0" smtClean="0">
                  <a:latin typeface="+mn-ea"/>
                  <a:cs typeface="msgothic" charset="0"/>
                </a:rPr>
                <a:t>.</a:t>
              </a:r>
              <a:r>
                <a:rPr lang="en-GB" sz="1600" dirty="0" err="1" smtClean="0">
                  <a:latin typeface="+mn-ea"/>
                  <a:cs typeface="msgothic" charset="0"/>
                </a:rPr>
                <a:t>init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，</a:t>
              </a:r>
              <a:r>
                <a:rPr lang="en-GB" sz="1600" dirty="0" smtClean="0">
                  <a:latin typeface="+mn-ea"/>
                  <a:cs typeface="msgothic" charset="0"/>
                </a:rPr>
                <a:t>.text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，</a:t>
              </a:r>
              <a:r>
                <a:rPr lang="en-GB" sz="1600" dirty="0" smtClean="0">
                  <a:latin typeface="+mn-ea"/>
                  <a:cs typeface="msgothic" charset="0"/>
                </a:rPr>
                <a:t>.</a:t>
              </a:r>
              <a:r>
                <a:rPr lang="en-GB" sz="1600" dirty="0" err="1" smtClean="0">
                  <a:latin typeface="+mn-ea"/>
                  <a:cs typeface="msgothic" charset="0"/>
                </a:rPr>
                <a:t>rodata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68" name="AutoShape 36"/>
            <p:cNvSpPr/>
            <p:nvPr/>
          </p:nvSpPr>
          <p:spPr bwMode="auto">
            <a:xfrm>
              <a:off x="7836582" y="5092916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69" name="Text Box 37"/>
            <p:cNvSpPr txBox="1">
              <a:spLocks noChangeArrowheads="1"/>
            </p:cNvSpPr>
            <p:nvPr/>
          </p:nvSpPr>
          <p:spPr bwMode="auto">
            <a:xfrm>
              <a:off x="8031753" y="5542024"/>
              <a:ext cx="1836057" cy="335799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从可执行文件加载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4998662" y="4417699"/>
              <a:ext cx="2789237" cy="669925"/>
            </a:xfrm>
            <a:prstGeom prst="rect">
              <a:avLst/>
            </a:prstGeom>
            <a:solidFill>
              <a:srgbClr val="D5F1CF"/>
            </a:solidFill>
            <a:ln w="38100">
              <a:solidFill>
                <a:srgbClr val="FF0000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运行时堆</a:t>
              </a:r>
              <a:endParaRPr lang="en-US" altLang="zh-CN" sz="1600" dirty="0" smtClean="0">
                <a:latin typeface="+mn-ea"/>
                <a:cs typeface="msgothic" charset="0"/>
              </a:endParaRP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+mn-ea"/>
                  <a:cs typeface="msgothic" charset="0"/>
                </a:rPr>
                <a:t>（由</a:t>
              </a:r>
              <a:r>
                <a:rPr lang="en-US" altLang="zh-CN" sz="1600" dirty="0" err="1" smtClean="0">
                  <a:latin typeface="+mn-ea"/>
                  <a:cs typeface="msgothic" charset="0"/>
                </a:rPr>
                <a:t>malloc</a:t>
              </a:r>
              <a:r>
                <a:rPr lang="zh-CN" altLang="en-US" sz="1600" dirty="0" smtClean="0">
                  <a:latin typeface="+mn-ea"/>
                  <a:cs typeface="msgothic" charset="0"/>
                </a:rPr>
                <a:t>创建）</a:t>
              </a:r>
              <a:endParaRPr lang="en-GB" sz="1600" dirty="0">
                <a:latin typeface="+mn-ea"/>
                <a:cs typeface="msgothic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1920876" y="1197678"/>
            <a:ext cx="7146925" cy="18503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复习：持续跟踪空闲块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254210"/>
            <a:ext cx="8289925" cy="5375190"/>
          </a:xfrm>
        </p:spPr>
        <p:txBody>
          <a:bodyPr/>
          <a:lstStyle/>
          <a:p>
            <a:r>
              <a:rPr lang="zh-CN" altLang="en-US" dirty="0" smtClean="0"/>
              <a:t>方法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：用</a:t>
            </a:r>
            <a:r>
              <a:rPr lang="zh-CN" altLang="en-US" dirty="0"/>
              <a:t>长度链接所有内存块的</a:t>
            </a:r>
            <a:r>
              <a:rPr lang="zh-CN" altLang="en-US" i="1" dirty="0" smtClean="0">
                <a:solidFill>
                  <a:srgbClr val="C00000"/>
                </a:solidFill>
              </a:rPr>
              <a:t>隐式列表</a:t>
            </a:r>
            <a:r>
              <a:rPr lang="en-US" i="1" dirty="0" smtClean="0">
                <a:solidFill>
                  <a:srgbClr val="C00000"/>
                </a:solidFill>
              </a:rPr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 smtClean="0"/>
              <a:t>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：用指针在空闲块中建立</a:t>
            </a:r>
            <a:r>
              <a:rPr lang="zh-CN" altLang="en-US" i="1" dirty="0" smtClean="0">
                <a:solidFill>
                  <a:srgbClr val="C00000"/>
                </a:solidFill>
              </a:rPr>
              <a:t>显式列表</a:t>
            </a:r>
            <a:r>
              <a:rPr lang="en-GB" dirty="0" smtClean="0">
                <a:solidFill>
                  <a:srgbClr val="C00000"/>
                </a:solidFill>
              </a:rPr>
              <a:t> </a:t>
            </a:r>
            <a:endParaRPr lang="en-GB" dirty="0"/>
          </a:p>
          <a:p>
            <a:endParaRPr lang="en-GB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3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方法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</a:t>
            </a:r>
            <a:r>
              <a:rPr lang="zh-CN" altLang="en-US" i="1" dirty="0" smtClean="0">
                <a:solidFill>
                  <a:srgbClr val="C00000"/>
                </a:solidFill>
              </a:rPr>
              <a:t>分离式空闲列表</a:t>
            </a:r>
            <a:endParaRPr lang="en-GB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按</a:t>
            </a:r>
            <a:r>
              <a:rPr lang="zh-CN" altLang="en-US" dirty="0" smtClean="0"/>
              <a:t>照不同的大小建立不同的空闲列表</a:t>
            </a:r>
            <a:endParaRPr lang="en-US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US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方法</a:t>
            </a:r>
            <a:r>
              <a:rPr lang="en-US" altLang="zh-CN" dirty="0" smtClean="0"/>
              <a:t>4</a:t>
            </a:r>
            <a:r>
              <a:rPr lang="zh-CN" altLang="en-US" dirty="0" smtClean="0"/>
              <a:t>：</a:t>
            </a:r>
            <a:r>
              <a:rPr lang="zh-CN" altLang="en-US" i="1" dirty="0" smtClean="0">
                <a:solidFill>
                  <a:srgbClr val="C00000"/>
                </a:solidFill>
              </a:rPr>
              <a:t>按大小排序的内存块</a:t>
            </a:r>
            <a:endParaRPr lang="en-GB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可以使用平衡树（如：红</a:t>
            </a:r>
            <a:r>
              <a:rPr lang="en-US" altLang="zh-CN" dirty="0" smtClean="0"/>
              <a:t>-</a:t>
            </a:r>
            <a:r>
              <a:rPr lang="zh-CN" altLang="en-US" dirty="0" smtClean="0"/>
              <a:t>黑树），在每个空闲块内都有指针，并用长度作为键</a:t>
            </a:r>
            <a:endParaRPr lang="en-GB" dirty="0"/>
          </a:p>
        </p:txBody>
      </p:sp>
      <p:sp>
        <p:nvSpPr>
          <p:cNvPr id="21" name="Freeform 39"/>
          <p:cNvSpPr/>
          <p:nvPr/>
        </p:nvSpPr>
        <p:spPr bwMode="auto">
          <a:xfrm>
            <a:off x="3276601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40"/>
          <p:cNvSpPr/>
          <p:nvPr/>
        </p:nvSpPr>
        <p:spPr bwMode="auto">
          <a:xfrm>
            <a:off x="4505432" y="1959678"/>
            <a:ext cx="1819168" cy="231374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41"/>
          <p:cNvSpPr/>
          <p:nvPr/>
        </p:nvSpPr>
        <p:spPr bwMode="auto">
          <a:xfrm>
            <a:off x="6362701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9128847" y="1764096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需</a:t>
            </a:r>
            <a:r>
              <a:rPr lang="zh-CN" altLang="en-US" sz="1800" b="0" dirty="0">
                <a:latin typeface="Calibri" pitchFamily="34" charset="0"/>
              </a:rPr>
              <a:t>要把每个内存</a:t>
            </a:r>
            <a:r>
              <a:rPr lang="zh-CN" altLang="en-US" sz="1800" b="0" dirty="0" smtClean="0">
                <a:latin typeface="Calibri" pitchFamily="34" charset="0"/>
              </a:rPr>
              <a:t>块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 smtClean="0">
                <a:latin typeface="Calibri" pitchFamily="34" charset="0"/>
              </a:rPr>
              <a:t>标记为已分配</a:t>
            </a:r>
            <a:r>
              <a:rPr lang="en-US" altLang="zh-CN" sz="1800" b="0" dirty="0" smtClean="0">
                <a:latin typeface="Calibri" pitchFamily="34" charset="0"/>
              </a:rPr>
              <a:t>/</a:t>
            </a:r>
            <a:r>
              <a:rPr lang="zh-CN" altLang="en-US" sz="1800" b="0" dirty="0" smtClean="0">
                <a:latin typeface="Calibri" pitchFamily="34" charset="0"/>
              </a:rPr>
              <a:t>空闲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64202" y="37916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指针需要空间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6" name="Text Box 410"/>
          <p:cNvSpPr txBox="1">
            <a:spLocks noChangeAspect="1" noChangeArrowheads="1"/>
          </p:cNvSpPr>
          <p:nvPr/>
        </p:nvSpPr>
        <p:spPr bwMode="auto">
          <a:xfrm>
            <a:off x="2497101" y="1922409"/>
            <a:ext cx="723276" cy="30777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未使用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2812544" y="2209801"/>
            <a:ext cx="5188456" cy="311019"/>
            <a:chOff x="1288544" y="2209800"/>
            <a:chExt cx="5188456" cy="311019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48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1288544" y="2216019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846111" y="3962399"/>
            <a:ext cx="5181600" cy="304800"/>
            <a:chOff x="1295400" y="2209800"/>
            <a:chExt cx="5181600" cy="304800"/>
          </a:xfrm>
        </p:grpSpPr>
        <p:sp>
          <p:nvSpPr>
            <p:cNvPr id="50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1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48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5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1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6" name="Rectangle 7"/>
            <p:cNvSpPr>
              <a:spLocks noChangeArrowheads="1"/>
            </p:cNvSpPr>
            <p:nvPr/>
          </p:nvSpPr>
          <p:spPr bwMode="auto">
            <a:xfrm>
              <a:off x="1295400" y="2209800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41" name="Freeform 38"/>
          <p:cNvSpPr/>
          <p:nvPr/>
        </p:nvSpPr>
        <p:spPr bwMode="auto">
          <a:xfrm>
            <a:off x="3600381" y="3550334"/>
            <a:ext cx="2733568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Freeform 38"/>
          <p:cNvSpPr/>
          <p:nvPr/>
        </p:nvSpPr>
        <p:spPr bwMode="auto">
          <a:xfrm>
            <a:off x="6627805" y="3621689"/>
            <a:ext cx="1677996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Arrow: Right 18"/>
          <p:cNvSpPr/>
          <p:nvPr/>
        </p:nvSpPr>
        <p:spPr bwMode="auto">
          <a:xfrm>
            <a:off x="1698509" y="2135431"/>
            <a:ext cx="519688" cy="453538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7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1964724" y="458704"/>
            <a:ext cx="6756400" cy="5730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复习：隐式列表总结</a:t>
            </a:r>
            <a:endParaRPr lang="en-GB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64267" y="1160464"/>
            <a:ext cx="8779933" cy="5392737"/>
          </a:xfrm>
        </p:spPr>
        <p:txBody>
          <a:bodyPr/>
          <a:lstStyle/>
          <a:p>
            <a:pPr>
              <a:lnSpc>
                <a:spcPct val="83000"/>
              </a:lnSpc>
              <a:spcBef>
                <a:spcPts val="12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实现：非常简单</a:t>
            </a:r>
            <a:endParaRPr lang="en-GB" dirty="0"/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分配成本：</a:t>
            </a:r>
            <a:r>
              <a:rPr lang="en-GB" dirty="0" smtClean="0"/>
              <a:t> </a:t>
            </a:r>
            <a:endParaRPr lang="en-GB" dirty="0"/>
          </a:p>
          <a:p>
            <a:pPr lvl="1">
              <a:lnSpc>
                <a:spcPct val="83000"/>
              </a:lnSpc>
              <a:spcBef>
                <a:spcPts val="6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最坏的情况是线性时间</a:t>
            </a:r>
            <a:endParaRPr lang="en-GB" dirty="0"/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释放成本：</a:t>
            </a:r>
            <a:endParaRPr lang="en-GB" dirty="0"/>
          </a:p>
          <a:p>
            <a:pPr lvl="1">
              <a:lnSpc>
                <a:spcPct val="83000"/>
              </a:lnSpc>
              <a:spcBef>
                <a:spcPts val="6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最</a:t>
            </a:r>
            <a:r>
              <a:rPr lang="zh-CN" altLang="en-US" dirty="0"/>
              <a:t>坏的情况</a:t>
            </a:r>
            <a:r>
              <a:rPr lang="zh-CN" altLang="en-US" dirty="0" smtClean="0"/>
              <a:t>是常数时间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600"/>
              </a:spcBef>
              <a:buSzTx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即使算上合并</a:t>
            </a:r>
            <a:endParaRPr lang="en-GB" dirty="0"/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存储器开销</a:t>
            </a:r>
            <a:endParaRPr lang="en-GB" dirty="0"/>
          </a:p>
          <a:p>
            <a:pPr lvl="1">
              <a:lnSpc>
                <a:spcPct val="83000"/>
              </a:lnSpc>
              <a:spcBef>
                <a:spcPts val="6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取决于放置策略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6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首次适配，下次适配或最佳适配</a:t>
            </a:r>
            <a:endParaRPr lang="en-GB" dirty="0"/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由于分配时间是线性的，所以在实际中不使用 </a:t>
            </a:r>
            <a:r>
              <a:rPr lang="en-GB" dirty="0" err="1" smtClean="0">
                <a:latin typeface="Courier New" panose="02070609020205020404" pitchFamily="49" charset="0"/>
              </a:rPr>
              <a:t>malloc</a:t>
            </a:r>
            <a:r>
              <a:rPr lang="en-GB" dirty="0" smtClean="0">
                <a:latin typeface="Courier New" panose="02070609020205020404" pitchFamily="49" charset="0"/>
              </a:rPr>
              <a:t>/free</a:t>
            </a:r>
            <a:endParaRPr lang="en-GB" dirty="0"/>
          </a:p>
          <a:p>
            <a:pPr lvl="1">
              <a:lnSpc>
                <a:spcPct val="88000"/>
              </a:lnSpc>
              <a:spcBef>
                <a:spcPts val="600"/>
              </a:spcBef>
              <a:buSzTx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用于一些特殊用途的应用</a:t>
            </a:r>
            <a:endParaRPr lang="en-GB" dirty="0"/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不过，分割和边界标签合并的概念通用于</a:t>
            </a:r>
            <a:r>
              <a:rPr lang="zh-CN" altLang="en-US" i="1" dirty="0">
                <a:solidFill>
                  <a:srgbClr val="C00000"/>
                </a:solidFill>
              </a:rPr>
              <a:t>所</a:t>
            </a:r>
            <a:r>
              <a:rPr lang="zh-CN" altLang="en-US" i="1" dirty="0" smtClean="0">
                <a:solidFill>
                  <a:srgbClr val="C00000"/>
                </a:solidFill>
              </a:rPr>
              <a:t>有 </a:t>
            </a:r>
            <a:r>
              <a:rPr lang="zh-CN" altLang="en-US" dirty="0" smtClean="0"/>
              <a:t>分配器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显式空闲列表</a:t>
            </a:r>
            <a:r>
              <a:rPr lang="en-US" dirty="0"/>
              <a:t>	</a:t>
            </a:r>
            <a:endParaRPr lang="en-US" dirty="0"/>
          </a:p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分离式空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闲列表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内存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相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关的风险与陷阱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1920876" y="1197678"/>
            <a:ext cx="7146925" cy="18503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持续跟踪空闲块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1254210"/>
            <a:ext cx="8289925" cy="5375190"/>
          </a:xfrm>
        </p:spPr>
        <p:txBody>
          <a:bodyPr/>
          <a:lstStyle/>
          <a:p>
            <a:r>
              <a:rPr lang="zh-CN" altLang="en-US" dirty="0" smtClean="0"/>
              <a:t>方法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：用</a:t>
            </a:r>
            <a:r>
              <a:rPr lang="zh-CN" altLang="en-US" dirty="0"/>
              <a:t>长度链接所有内存块的</a:t>
            </a:r>
            <a:r>
              <a:rPr lang="zh-CN" altLang="en-US" i="1" dirty="0" smtClean="0">
                <a:solidFill>
                  <a:srgbClr val="C00000"/>
                </a:solidFill>
              </a:rPr>
              <a:t>隐式列表</a:t>
            </a:r>
            <a:r>
              <a:rPr lang="en-US" i="1" dirty="0" smtClean="0">
                <a:solidFill>
                  <a:srgbClr val="C00000"/>
                </a:solidFill>
              </a:rPr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 smtClean="0"/>
              <a:t>方法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：用指针在空闲块中建立</a:t>
            </a:r>
            <a:r>
              <a:rPr lang="zh-CN" altLang="en-US" i="1" dirty="0" smtClean="0">
                <a:solidFill>
                  <a:srgbClr val="C00000"/>
                </a:solidFill>
              </a:rPr>
              <a:t>显式列表</a:t>
            </a:r>
            <a:r>
              <a:rPr lang="en-GB" dirty="0" smtClean="0">
                <a:solidFill>
                  <a:srgbClr val="C00000"/>
                </a:solidFill>
              </a:rPr>
              <a:t> </a:t>
            </a:r>
            <a:endParaRPr lang="en-GB" dirty="0"/>
          </a:p>
          <a:p>
            <a:endParaRPr lang="en-GB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3000"/>
              </a:lnSpc>
              <a:buNone/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方法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</a:t>
            </a:r>
            <a:r>
              <a:rPr lang="zh-CN" altLang="en-US" i="1" dirty="0" smtClean="0">
                <a:solidFill>
                  <a:srgbClr val="C00000"/>
                </a:solidFill>
              </a:rPr>
              <a:t>分离式空闲列表</a:t>
            </a:r>
            <a:endParaRPr lang="en-GB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按</a:t>
            </a:r>
            <a:r>
              <a:rPr lang="zh-CN" altLang="en-US" dirty="0" smtClean="0"/>
              <a:t>照不同的大小建立不同的空闲列表</a:t>
            </a:r>
            <a:endParaRPr lang="en-US" dirty="0"/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US" dirty="0"/>
          </a:p>
          <a:p>
            <a:pPr>
              <a:lnSpc>
                <a:spcPct val="83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方法</a:t>
            </a:r>
            <a:r>
              <a:rPr lang="en-US" altLang="zh-CN" dirty="0" smtClean="0"/>
              <a:t>4</a:t>
            </a:r>
            <a:r>
              <a:rPr lang="zh-CN" altLang="en-US" dirty="0" smtClean="0"/>
              <a:t>：</a:t>
            </a:r>
            <a:r>
              <a:rPr lang="zh-CN" altLang="en-US" i="1" dirty="0" smtClean="0">
                <a:solidFill>
                  <a:srgbClr val="C00000"/>
                </a:solidFill>
              </a:rPr>
              <a:t>按大小排序的内存块</a:t>
            </a:r>
            <a:endParaRPr lang="en-GB" i="1" dirty="0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可以使用平衡树（如：红</a:t>
            </a:r>
            <a:r>
              <a:rPr lang="en-US" altLang="zh-CN" dirty="0" smtClean="0"/>
              <a:t>-</a:t>
            </a:r>
            <a:r>
              <a:rPr lang="zh-CN" altLang="en-US" dirty="0" smtClean="0"/>
              <a:t>黑树），在每个空闲块内都有指针，并用长度作为键</a:t>
            </a:r>
            <a:endParaRPr lang="en-GB" dirty="0"/>
          </a:p>
        </p:txBody>
      </p:sp>
      <p:sp>
        <p:nvSpPr>
          <p:cNvPr id="21" name="Freeform 39"/>
          <p:cNvSpPr/>
          <p:nvPr/>
        </p:nvSpPr>
        <p:spPr bwMode="auto">
          <a:xfrm>
            <a:off x="3276601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40"/>
          <p:cNvSpPr/>
          <p:nvPr/>
        </p:nvSpPr>
        <p:spPr bwMode="auto">
          <a:xfrm>
            <a:off x="4505432" y="1959678"/>
            <a:ext cx="1819168" cy="231374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41"/>
          <p:cNvSpPr/>
          <p:nvPr/>
        </p:nvSpPr>
        <p:spPr bwMode="auto">
          <a:xfrm>
            <a:off x="6362701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9128847" y="1764096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需</a:t>
            </a:r>
            <a:r>
              <a:rPr lang="zh-CN" altLang="en-US" sz="1800" b="0" dirty="0">
                <a:latin typeface="Calibri" pitchFamily="34" charset="0"/>
              </a:rPr>
              <a:t>要把每个内存</a:t>
            </a:r>
            <a:r>
              <a:rPr lang="zh-CN" altLang="en-US" sz="1800" b="0" dirty="0" smtClean="0">
                <a:latin typeface="Calibri" pitchFamily="34" charset="0"/>
              </a:rPr>
              <a:t>块</a:t>
            </a:r>
            <a:endParaRPr lang="en-US" altLang="zh-CN" sz="1800" b="0" dirty="0" smtClean="0">
              <a:latin typeface="Calibri" pitchFamily="34" charset="0"/>
            </a:endParaRPr>
          </a:p>
          <a:p>
            <a:pPr algn="ctr"/>
            <a:r>
              <a:rPr lang="zh-CN" altLang="en-US" sz="1800" b="0" dirty="0" smtClean="0">
                <a:latin typeface="Calibri" pitchFamily="34" charset="0"/>
              </a:rPr>
              <a:t>标记为已分配</a:t>
            </a:r>
            <a:r>
              <a:rPr lang="en-US" altLang="zh-CN" sz="1800" b="0" dirty="0" smtClean="0">
                <a:latin typeface="Calibri" pitchFamily="34" charset="0"/>
              </a:rPr>
              <a:t>/</a:t>
            </a:r>
            <a:r>
              <a:rPr lang="zh-CN" altLang="en-US" sz="1800" b="0" dirty="0" smtClean="0">
                <a:latin typeface="Calibri" pitchFamily="34" charset="0"/>
              </a:rPr>
              <a:t>空闲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64202" y="37916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 b="0" dirty="0" smtClean="0">
                <a:latin typeface="Calibri" pitchFamily="34" charset="0"/>
              </a:rPr>
              <a:t>指针需要空间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46" name="Text Box 410"/>
          <p:cNvSpPr txBox="1">
            <a:spLocks noChangeAspect="1" noChangeArrowheads="1"/>
          </p:cNvSpPr>
          <p:nvPr/>
        </p:nvSpPr>
        <p:spPr bwMode="auto">
          <a:xfrm>
            <a:off x="2497101" y="1922409"/>
            <a:ext cx="723276" cy="30777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 b="0" dirty="0" smtClean="0">
                <a:latin typeface="Calibri" pitchFamily="34" charset="0"/>
                <a:cs typeface="Calibri" pitchFamily="34" charset="0"/>
              </a:rPr>
              <a:t>未使用</a:t>
            </a:r>
            <a:endParaRPr lang="en-US" sz="1400" b="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2812544" y="2209801"/>
            <a:ext cx="5188456" cy="311019"/>
            <a:chOff x="1288544" y="2209800"/>
            <a:chExt cx="5188456" cy="311019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48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1288544" y="2216019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846111" y="3962399"/>
            <a:ext cx="5181600" cy="304800"/>
            <a:chOff x="1295400" y="2209800"/>
            <a:chExt cx="5181600" cy="304800"/>
          </a:xfrm>
        </p:grpSpPr>
        <p:sp>
          <p:nvSpPr>
            <p:cNvPr id="50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1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48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5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b="0" dirty="0">
                  <a:latin typeface="Calibri" pitchFamily="34" charset="0"/>
                  <a:cs typeface="Calibri" pitchFamily="34" charset="0"/>
                </a:rPr>
                <a:t>32</a:t>
              </a:r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1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b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0" dirty="0">
                  <a:latin typeface="Calibri" pitchFamily="34" charset="0"/>
                  <a:cs typeface="Calibri" pitchFamily="34" charset="0"/>
                </a:rPr>
                <a:t>16</a:t>
              </a: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6" name="Rectangle 7"/>
            <p:cNvSpPr>
              <a:spLocks noChangeArrowheads="1"/>
            </p:cNvSpPr>
            <p:nvPr/>
          </p:nvSpPr>
          <p:spPr bwMode="auto">
            <a:xfrm>
              <a:off x="1295400" y="2209800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en-US" sz="1600" b="0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41" name="Freeform 38"/>
          <p:cNvSpPr/>
          <p:nvPr/>
        </p:nvSpPr>
        <p:spPr bwMode="auto">
          <a:xfrm>
            <a:off x="3600381" y="3550334"/>
            <a:ext cx="2733568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Freeform 38"/>
          <p:cNvSpPr/>
          <p:nvPr/>
        </p:nvSpPr>
        <p:spPr bwMode="auto">
          <a:xfrm>
            <a:off x="6627805" y="3621689"/>
            <a:ext cx="1677996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Arrow: Right 18"/>
          <p:cNvSpPr/>
          <p:nvPr/>
        </p:nvSpPr>
        <p:spPr bwMode="auto">
          <a:xfrm>
            <a:off x="1698509" y="2135431"/>
            <a:ext cx="519688" cy="453538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7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816688" y="481602"/>
            <a:ext cx="6070600" cy="573087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显式空闲列表</a:t>
            </a:r>
            <a:endParaRPr lang="en-GB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867780" y="4372762"/>
            <a:ext cx="8307387" cy="1843087"/>
          </a:xfrm>
        </p:spPr>
        <p:txBody>
          <a:bodyPr/>
          <a:lstStyle/>
          <a:p>
            <a:pPr>
              <a:lnSpc>
                <a:spcPct val="8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维护</a:t>
            </a:r>
            <a:r>
              <a:rPr lang="zh-CN" altLang="en-US" i="1" dirty="0" smtClean="0">
                <a:solidFill>
                  <a:srgbClr val="C00000"/>
                </a:solidFill>
              </a:rPr>
              <a:t>空闲</a:t>
            </a:r>
            <a:r>
              <a:rPr lang="en-GB" dirty="0" smtClean="0"/>
              <a:t> blocks</a:t>
            </a:r>
            <a:r>
              <a:rPr lang="zh-CN" altLang="en-US" dirty="0" smtClean="0"/>
              <a:t>内存块列表，而不是</a:t>
            </a:r>
            <a:r>
              <a:rPr lang="zh-CN" altLang="en-US" i="1" dirty="0" smtClean="0">
                <a:solidFill>
                  <a:srgbClr val="C00000"/>
                </a:solidFill>
              </a:rPr>
              <a:t>所有</a:t>
            </a:r>
            <a:r>
              <a:rPr lang="en-GB" dirty="0" smtClean="0"/>
              <a:t> </a:t>
            </a:r>
            <a:r>
              <a:rPr lang="zh-CN" altLang="en-US" dirty="0" smtClean="0"/>
              <a:t>内存块列表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幸运的是只需要跟踪空闲块，所以可以使用有效负载区域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“下一个”空闲块可能在任何地方</a:t>
            </a:r>
            <a:endParaRPr lang="en-GB" dirty="0"/>
          </a:p>
          <a:p>
            <a:pPr lvl="2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所以需要保存前向</a:t>
            </a:r>
            <a:r>
              <a:rPr lang="en-US" altLang="zh-CN" dirty="0" smtClean="0"/>
              <a:t>/</a:t>
            </a:r>
            <a:r>
              <a:rPr lang="zh-CN" altLang="en-US" dirty="0" smtClean="0"/>
              <a:t>后向指针，而不仅仅保存内存块大小</a:t>
            </a:r>
            <a:endParaRPr lang="en-GB" dirty="0"/>
          </a:p>
          <a:p>
            <a:pPr lvl="1">
              <a:lnSpc>
                <a:spcPct val="90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为了合并还需要边界标签</a:t>
            </a:r>
            <a:endParaRPr lang="en-GB" dirty="0"/>
          </a:p>
          <a:p>
            <a:pPr lvl="2">
              <a:lnSpc>
                <a:spcPct val="90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按照内存顺序查找相邻内存块</a:t>
            </a:r>
            <a:endParaRPr lang="en-GB" dirty="0"/>
          </a:p>
        </p:txBody>
      </p:sp>
      <p:sp>
        <p:nvSpPr>
          <p:cNvPr id="48" name="Rectangle 3"/>
          <p:cNvSpPr>
            <a:spLocks noChangeArrowheads="1"/>
          </p:cNvSpPr>
          <p:nvPr/>
        </p:nvSpPr>
        <p:spPr bwMode="auto">
          <a:xfrm>
            <a:off x="3124201" y="1752600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内存块大小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3124200" y="2133600"/>
            <a:ext cx="1676400" cy="1524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有</a:t>
            </a:r>
            <a:r>
              <a:rPr lang="zh-CN" altLang="en-US" sz="1600" dirty="0" smtClean="0">
                <a:latin typeface="Calibri" pitchFamily="34" charset="0"/>
              </a:rPr>
              <a:t>效负载和填充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51" name="Rectangle 8"/>
          <p:cNvSpPr>
            <a:spLocks noChangeArrowheads="1"/>
          </p:cNvSpPr>
          <p:nvPr/>
        </p:nvSpPr>
        <p:spPr bwMode="auto">
          <a:xfrm>
            <a:off x="4495800" y="1752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3124201" y="3657600"/>
            <a:ext cx="1371599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内存块大</a:t>
            </a:r>
            <a:r>
              <a:rPr lang="zh-CN" altLang="en-US" sz="1600" dirty="0" smtClean="0">
                <a:latin typeface="Calibri" pitchFamily="34" charset="0"/>
              </a:rPr>
              <a:t>小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53" name="Rectangle 10"/>
          <p:cNvSpPr>
            <a:spLocks noChangeArrowheads="1"/>
          </p:cNvSpPr>
          <p:nvPr/>
        </p:nvSpPr>
        <p:spPr bwMode="auto">
          <a:xfrm>
            <a:off x="4495800" y="3657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auto">
          <a:xfrm>
            <a:off x="6629401" y="1752600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内存块大</a:t>
            </a:r>
            <a:r>
              <a:rPr lang="zh-CN" altLang="en-US" sz="1600" dirty="0" smtClean="0">
                <a:latin typeface="Calibri" pitchFamily="34" charset="0"/>
              </a:rPr>
              <a:t>小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6629400" y="2895600"/>
            <a:ext cx="1676400" cy="76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dirty="0">
              <a:latin typeface="Calibri" pitchFamily="34" charset="0"/>
            </a:endParaRPr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8001000" y="1752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62" name="Rectangle 9"/>
          <p:cNvSpPr>
            <a:spLocks noChangeArrowheads="1"/>
          </p:cNvSpPr>
          <p:nvPr/>
        </p:nvSpPr>
        <p:spPr bwMode="auto">
          <a:xfrm>
            <a:off x="6629401" y="3657600"/>
            <a:ext cx="1371599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内存</a:t>
            </a:r>
            <a:r>
              <a:rPr lang="zh-CN" altLang="en-US" sz="1600" dirty="0" smtClean="0">
                <a:latin typeface="Calibri" pitchFamily="34" charset="0"/>
              </a:rPr>
              <a:t>块</a:t>
            </a:r>
            <a:r>
              <a:rPr lang="zh-CN" altLang="en-US" sz="1600" dirty="0">
                <a:latin typeface="Calibri" pitchFamily="34" charset="0"/>
              </a:rPr>
              <a:t>大小</a:t>
            </a:r>
            <a:endParaRPr lang="en-GB" altLang="zh-CN" sz="1600" dirty="0">
              <a:latin typeface="Calibri" pitchFamily="34" charset="0"/>
            </a:endParaRPr>
          </a:p>
        </p:txBody>
      </p:sp>
      <p:sp>
        <p:nvSpPr>
          <p:cNvPr id="63" name="Rectangle 10"/>
          <p:cNvSpPr>
            <a:spLocks noChangeArrowheads="1"/>
          </p:cNvSpPr>
          <p:nvPr/>
        </p:nvSpPr>
        <p:spPr bwMode="auto">
          <a:xfrm>
            <a:off x="8001000" y="3657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64" name="Rectangle 3"/>
          <p:cNvSpPr>
            <a:spLocks noChangeArrowheads="1"/>
          </p:cNvSpPr>
          <p:nvPr/>
        </p:nvSpPr>
        <p:spPr bwMode="auto">
          <a:xfrm>
            <a:off x="6629400" y="2133600"/>
            <a:ext cx="16764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下一个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65" name="Rectangle 3"/>
          <p:cNvSpPr>
            <a:spLocks noChangeArrowheads="1"/>
          </p:cNvSpPr>
          <p:nvPr/>
        </p:nvSpPr>
        <p:spPr bwMode="auto">
          <a:xfrm>
            <a:off x="6629400" y="2514600"/>
            <a:ext cx="16764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前一个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95601" y="1307068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已分配（如前）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162801" y="1295400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空闲</a:t>
            </a:r>
            <a:endParaRPr lang="en-US" sz="1800" dirty="0">
              <a:latin typeface="Calibri" pitchFamily="34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2667000" y="3505200"/>
            <a:ext cx="455612" cy="3048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triangle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910310" y="3183337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 smtClean="0">
                <a:latin typeface="Calibri" pitchFamily="34" charset="0"/>
              </a:rPr>
              <a:t>可选</a:t>
            </a:r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Line 1"/>
          <p:cNvSpPr>
            <a:spLocks noChangeShapeType="1"/>
          </p:cNvSpPr>
          <p:nvPr/>
        </p:nvSpPr>
        <p:spPr bwMode="auto">
          <a:xfrm>
            <a:off x="4800600" y="2057399"/>
            <a:ext cx="4572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6096000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7620000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816688" y="481602"/>
            <a:ext cx="6070600" cy="573087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显式空闲列表</a:t>
            </a:r>
            <a:endParaRPr lang="en-GB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832682" y="1269236"/>
            <a:ext cx="8307387" cy="2436812"/>
          </a:xfrm>
        </p:spPr>
        <p:txBody>
          <a:bodyPr/>
          <a:lstStyle/>
          <a:p>
            <a:pPr>
              <a:lnSpc>
                <a:spcPct val="8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逻辑上：</a:t>
            </a:r>
            <a:endParaRPr lang="en-GB" dirty="0"/>
          </a:p>
          <a:p>
            <a:pPr>
              <a:lnSpc>
                <a:spcPct val="8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物理上：模块可以按任意顺序排列</a:t>
            </a:r>
            <a:endParaRPr lang="en-GB" dirty="0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39624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A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52578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B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6477000" y="1981200"/>
            <a:ext cx="11430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C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 flipH="1">
            <a:off x="6094414" y="2209801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 flipH="1">
            <a:off x="4799014" y="2209801"/>
            <a:ext cx="4603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H="1">
            <a:off x="3656014" y="2209801"/>
            <a:ext cx="3079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710390" y="3986212"/>
            <a:ext cx="7720389" cy="1728788"/>
            <a:chOff x="1186389" y="3986212"/>
            <a:chExt cx="7720389" cy="1728788"/>
          </a:xfrm>
        </p:grpSpPr>
        <p:sp>
          <p:nvSpPr>
            <p:cNvPr id="6156" name="Rectangle 12"/>
            <p:cNvSpPr>
              <a:spLocks noChangeArrowheads="1"/>
            </p:cNvSpPr>
            <p:nvPr/>
          </p:nvSpPr>
          <p:spPr bwMode="auto">
            <a:xfrm>
              <a:off x="11863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57" name="Rectangle 13"/>
            <p:cNvSpPr>
              <a:spLocks noChangeArrowheads="1"/>
            </p:cNvSpPr>
            <p:nvPr/>
          </p:nvSpPr>
          <p:spPr bwMode="auto">
            <a:xfrm>
              <a:off x="14911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4"/>
            <p:cNvSpPr>
              <a:spLocks noChangeArrowheads="1"/>
            </p:cNvSpPr>
            <p:nvPr/>
          </p:nvSpPr>
          <p:spPr bwMode="auto">
            <a:xfrm>
              <a:off x="17959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9" name="Rectangle 15"/>
            <p:cNvSpPr>
              <a:spLocks noChangeArrowheads="1"/>
            </p:cNvSpPr>
            <p:nvPr/>
          </p:nvSpPr>
          <p:spPr bwMode="auto">
            <a:xfrm>
              <a:off x="2100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60" name="Rectangle 16"/>
            <p:cNvSpPr>
              <a:spLocks noChangeArrowheads="1"/>
            </p:cNvSpPr>
            <p:nvPr/>
          </p:nvSpPr>
          <p:spPr bwMode="auto">
            <a:xfrm>
              <a:off x="24055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61" name="Rectangle 17"/>
            <p:cNvSpPr>
              <a:spLocks noChangeArrowheads="1"/>
            </p:cNvSpPr>
            <p:nvPr/>
          </p:nvSpPr>
          <p:spPr bwMode="auto">
            <a:xfrm>
              <a:off x="27103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Rectangle 18"/>
            <p:cNvSpPr>
              <a:spLocks noChangeArrowheads="1"/>
            </p:cNvSpPr>
            <p:nvPr/>
          </p:nvSpPr>
          <p:spPr bwMode="auto">
            <a:xfrm>
              <a:off x="30151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3" name="Rectangle 19"/>
            <p:cNvSpPr>
              <a:spLocks noChangeArrowheads="1"/>
            </p:cNvSpPr>
            <p:nvPr/>
          </p:nvSpPr>
          <p:spPr bwMode="auto">
            <a:xfrm>
              <a:off x="33199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64" name="Rectangle 20"/>
            <p:cNvSpPr>
              <a:spLocks noChangeArrowheads="1"/>
            </p:cNvSpPr>
            <p:nvPr/>
          </p:nvSpPr>
          <p:spPr bwMode="auto">
            <a:xfrm>
              <a:off x="39295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5" name="Rectangle 21"/>
            <p:cNvSpPr>
              <a:spLocks noChangeArrowheads="1"/>
            </p:cNvSpPr>
            <p:nvPr/>
          </p:nvSpPr>
          <p:spPr bwMode="auto">
            <a:xfrm>
              <a:off x="42343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Rectangle 22"/>
            <p:cNvSpPr>
              <a:spLocks noChangeArrowheads="1"/>
            </p:cNvSpPr>
            <p:nvPr/>
          </p:nvSpPr>
          <p:spPr bwMode="auto">
            <a:xfrm>
              <a:off x="45391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7" name="Rectangle 23"/>
            <p:cNvSpPr>
              <a:spLocks noChangeArrowheads="1"/>
            </p:cNvSpPr>
            <p:nvPr/>
          </p:nvSpPr>
          <p:spPr bwMode="auto">
            <a:xfrm>
              <a:off x="48439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8" name="Rectangle 24"/>
            <p:cNvSpPr>
              <a:spLocks noChangeArrowheads="1"/>
            </p:cNvSpPr>
            <p:nvPr/>
          </p:nvSpPr>
          <p:spPr bwMode="auto">
            <a:xfrm>
              <a:off x="5148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48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69" name="Rectangle 25"/>
            <p:cNvSpPr>
              <a:spLocks noChangeArrowheads="1"/>
            </p:cNvSpPr>
            <p:nvPr/>
          </p:nvSpPr>
          <p:spPr bwMode="auto">
            <a:xfrm>
              <a:off x="57583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0" name="Rectangle 26"/>
            <p:cNvSpPr>
              <a:spLocks noChangeArrowheads="1"/>
            </p:cNvSpPr>
            <p:nvPr/>
          </p:nvSpPr>
          <p:spPr bwMode="auto">
            <a:xfrm>
              <a:off x="3624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48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71" name="Rectangle 27"/>
            <p:cNvSpPr>
              <a:spLocks noChangeArrowheads="1"/>
            </p:cNvSpPr>
            <p:nvPr/>
          </p:nvSpPr>
          <p:spPr bwMode="auto">
            <a:xfrm>
              <a:off x="6672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72" name="Rectangle 28"/>
            <p:cNvSpPr>
              <a:spLocks noChangeArrowheads="1"/>
            </p:cNvSpPr>
            <p:nvPr/>
          </p:nvSpPr>
          <p:spPr bwMode="auto">
            <a:xfrm>
              <a:off x="54535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73" name="Rectangle 29"/>
            <p:cNvSpPr>
              <a:spLocks noChangeArrowheads="1"/>
            </p:cNvSpPr>
            <p:nvPr/>
          </p:nvSpPr>
          <p:spPr bwMode="auto">
            <a:xfrm>
              <a:off x="60631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4" name="Rectangle 30"/>
            <p:cNvSpPr>
              <a:spLocks noChangeArrowheads="1"/>
            </p:cNvSpPr>
            <p:nvPr/>
          </p:nvSpPr>
          <p:spPr bwMode="auto">
            <a:xfrm>
              <a:off x="63679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75" name="Rectangle 31"/>
            <p:cNvSpPr>
              <a:spLocks noChangeArrowheads="1"/>
            </p:cNvSpPr>
            <p:nvPr/>
          </p:nvSpPr>
          <p:spPr bwMode="auto">
            <a:xfrm>
              <a:off x="69775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6" name="Rectangle 32"/>
            <p:cNvSpPr>
              <a:spLocks noChangeArrowheads="1"/>
            </p:cNvSpPr>
            <p:nvPr/>
          </p:nvSpPr>
          <p:spPr bwMode="auto">
            <a:xfrm>
              <a:off x="72823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7" name="Rectangle 33"/>
            <p:cNvSpPr>
              <a:spLocks noChangeArrowheads="1"/>
            </p:cNvSpPr>
            <p:nvPr/>
          </p:nvSpPr>
          <p:spPr bwMode="auto">
            <a:xfrm>
              <a:off x="75871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32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78" name="Freeform 34"/>
            <p:cNvSpPr/>
            <p:nvPr/>
          </p:nvSpPr>
          <p:spPr bwMode="auto">
            <a:xfrm>
              <a:off x="1643589" y="4484687"/>
              <a:ext cx="5181600" cy="558800"/>
            </a:xfrm>
            <a:custGeom>
              <a:avLst/>
              <a:gdLst/>
              <a:ahLst/>
              <a:cxnLst>
                <a:cxn ang="0">
                  <a:pos x="0" y="352"/>
                </a:cxn>
                <a:cxn ang="0">
                  <a:pos x="1968" y="16"/>
                </a:cxn>
                <a:cxn ang="0">
                  <a:pos x="3264" y="256"/>
                </a:cxn>
              </a:cxnLst>
              <a:rect l="0" t="0" r="r" b="b"/>
              <a:pathLst>
                <a:path w="3264" h="352">
                  <a:moveTo>
                    <a:pt x="0" y="352"/>
                  </a:moveTo>
                  <a:cubicBezTo>
                    <a:pt x="712" y="191"/>
                    <a:pt x="1424" y="31"/>
                    <a:pt x="1968" y="16"/>
                  </a:cubicBezTo>
                  <a:cubicBezTo>
                    <a:pt x="2511" y="0"/>
                    <a:pt x="2887" y="128"/>
                    <a:pt x="3264" y="256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9" name="Freeform 35"/>
            <p:cNvSpPr/>
            <p:nvPr/>
          </p:nvSpPr>
          <p:spPr bwMode="auto">
            <a:xfrm>
              <a:off x="3777189" y="4408487"/>
              <a:ext cx="3352800" cy="635000"/>
            </a:xfrm>
            <a:custGeom>
              <a:avLst/>
              <a:gdLst/>
              <a:ahLst/>
              <a:cxnLst>
                <a:cxn ang="0">
                  <a:pos x="2112" y="400"/>
                </a:cxn>
                <a:cxn ang="0">
                  <a:pos x="1680" y="16"/>
                </a:cxn>
                <a:cxn ang="0">
                  <a:pos x="0" y="304"/>
                </a:cxn>
              </a:cxnLst>
              <a:rect l="0" t="0" r="r" b="b"/>
              <a:pathLst>
                <a:path w="2112" h="400">
                  <a:moveTo>
                    <a:pt x="2112" y="400"/>
                  </a:moveTo>
                  <a:cubicBezTo>
                    <a:pt x="2072" y="216"/>
                    <a:pt x="2032" y="32"/>
                    <a:pt x="1680" y="16"/>
                  </a:cubicBezTo>
                  <a:cubicBezTo>
                    <a:pt x="1328" y="0"/>
                    <a:pt x="280" y="256"/>
                    <a:pt x="0" y="304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Freeform 36"/>
            <p:cNvSpPr/>
            <p:nvPr/>
          </p:nvSpPr>
          <p:spPr bwMode="auto">
            <a:xfrm>
              <a:off x="1338789" y="5043487"/>
              <a:ext cx="6096000" cy="671513"/>
            </a:xfrm>
            <a:custGeom>
              <a:avLst/>
              <a:gdLst/>
              <a:ahLst/>
              <a:cxnLst>
                <a:cxn ang="0">
                  <a:pos x="3840" y="0"/>
                </a:cxn>
                <a:cxn ang="0">
                  <a:pos x="3072" y="336"/>
                </a:cxn>
                <a:cxn ang="0">
                  <a:pos x="672" y="384"/>
                </a:cxn>
                <a:cxn ang="0">
                  <a:pos x="0" y="96"/>
                </a:cxn>
              </a:cxnLst>
              <a:rect l="0" t="0" r="r" b="b"/>
              <a:pathLst>
                <a:path w="3840" h="423">
                  <a:moveTo>
                    <a:pt x="3840" y="0"/>
                  </a:moveTo>
                  <a:cubicBezTo>
                    <a:pt x="3719" y="136"/>
                    <a:pt x="3599" y="272"/>
                    <a:pt x="3072" y="336"/>
                  </a:cubicBezTo>
                  <a:cubicBezTo>
                    <a:pt x="2544" y="399"/>
                    <a:pt x="1183" y="423"/>
                    <a:pt x="672" y="384"/>
                  </a:cubicBezTo>
                  <a:cubicBezTo>
                    <a:pt x="160" y="344"/>
                    <a:pt x="80" y="220"/>
                    <a:pt x="0" y="96"/>
                  </a:cubicBezTo>
                </a:path>
              </a:pathLst>
            </a:custGeom>
            <a:noFill/>
            <a:ln w="2556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Freeform 37"/>
            <p:cNvSpPr/>
            <p:nvPr/>
          </p:nvSpPr>
          <p:spPr bwMode="auto">
            <a:xfrm>
              <a:off x="4386789" y="5043487"/>
              <a:ext cx="2438400" cy="4810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16" y="288"/>
                </a:cxn>
                <a:cxn ang="0">
                  <a:pos x="1536" y="96"/>
                </a:cxn>
              </a:cxnLst>
              <a:rect l="0" t="0" r="r" b="b"/>
              <a:pathLst>
                <a:path w="1536" h="303">
                  <a:moveTo>
                    <a:pt x="0" y="0"/>
                  </a:moveTo>
                  <a:cubicBezTo>
                    <a:pt x="280" y="136"/>
                    <a:pt x="560" y="272"/>
                    <a:pt x="816" y="288"/>
                  </a:cubicBezTo>
                  <a:cubicBezTo>
                    <a:pt x="1071" y="303"/>
                    <a:pt x="1303" y="199"/>
                    <a:pt x="1536" y="96"/>
                  </a:cubicBezTo>
                </a:path>
              </a:pathLst>
            </a:custGeom>
            <a:noFill/>
            <a:ln w="2556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2" name="Text Box 38"/>
            <p:cNvSpPr txBox="1">
              <a:spLocks noChangeArrowheads="1"/>
            </p:cNvSpPr>
            <p:nvPr/>
          </p:nvSpPr>
          <p:spPr bwMode="auto">
            <a:xfrm>
              <a:off x="6826777" y="4205287"/>
              <a:ext cx="1787967" cy="34073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66FF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solidFill>
                    <a:srgbClr val="00B050"/>
                  </a:solidFill>
                  <a:latin typeface="Calibri" pitchFamily="34" charset="0"/>
                  <a:ea typeface="msgothic" charset="0"/>
                  <a:cs typeface="msgothic" charset="0"/>
                </a:rPr>
                <a:t>向前（</a:t>
              </a:r>
              <a:r>
                <a:rPr lang="en-US" altLang="zh-CN" sz="1600" dirty="0" smtClean="0">
                  <a:solidFill>
                    <a:srgbClr val="00B050"/>
                  </a:solidFill>
                  <a:latin typeface="Calibri" pitchFamily="34" charset="0"/>
                  <a:ea typeface="msgothic" charset="0"/>
                  <a:cs typeface="msgothic" charset="0"/>
                </a:rPr>
                <a:t>next</a:t>
              </a:r>
              <a:r>
                <a:rPr lang="zh-CN" altLang="en-US" sz="1600" dirty="0" smtClean="0">
                  <a:solidFill>
                    <a:srgbClr val="00B050"/>
                  </a:solidFill>
                  <a:latin typeface="Calibri" pitchFamily="34" charset="0"/>
                  <a:ea typeface="msgothic" charset="0"/>
                  <a:cs typeface="msgothic" charset="0"/>
                </a:rPr>
                <a:t>）链接</a:t>
              </a:r>
              <a:endParaRPr lang="en-GB" sz="1600" dirty="0">
                <a:solidFill>
                  <a:srgbClr val="00B050"/>
                </a:solidFill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83" name="Text Box 39"/>
            <p:cNvSpPr txBox="1">
              <a:spLocks noChangeArrowheads="1"/>
            </p:cNvSpPr>
            <p:nvPr/>
          </p:nvSpPr>
          <p:spPr bwMode="auto">
            <a:xfrm>
              <a:off x="7112527" y="5341937"/>
              <a:ext cx="1794251" cy="34073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FF00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solidFill>
                    <a:srgbClr val="C00000"/>
                  </a:solidFill>
                  <a:latin typeface="Calibri" pitchFamily="34" charset="0"/>
                  <a:ea typeface="msgothic" charset="0"/>
                  <a:cs typeface="msgothic" charset="0"/>
                </a:rPr>
                <a:t>向后（</a:t>
              </a:r>
              <a:r>
                <a:rPr lang="en-US" altLang="zh-CN" sz="1600" dirty="0" err="1" smtClean="0">
                  <a:solidFill>
                    <a:srgbClr val="C00000"/>
                  </a:solidFill>
                  <a:latin typeface="Calibri" pitchFamily="34" charset="0"/>
                  <a:ea typeface="msgothic" charset="0"/>
                  <a:cs typeface="msgothic" charset="0"/>
                </a:rPr>
                <a:t>prev</a:t>
              </a:r>
              <a:r>
                <a:rPr lang="zh-CN" altLang="en-US" sz="1600" dirty="0" smtClean="0">
                  <a:solidFill>
                    <a:srgbClr val="C00000"/>
                  </a:solidFill>
                  <a:latin typeface="Calibri" pitchFamily="34" charset="0"/>
                  <a:ea typeface="msgothic" charset="0"/>
                  <a:cs typeface="msgothic" charset="0"/>
                </a:rPr>
                <a:t>）链接</a:t>
              </a:r>
              <a:endParaRPr lang="en-GB" sz="1600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85" name="Freeform 41"/>
            <p:cNvSpPr/>
            <p:nvPr/>
          </p:nvSpPr>
          <p:spPr bwMode="auto">
            <a:xfrm>
              <a:off x="4081989" y="3986212"/>
              <a:ext cx="3495675" cy="1057275"/>
            </a:xfrm>
            <a:custGeom>
              <a:avLst/>
              <a:gdLst/>
              <a:ahLst/>
              <a:cxnLst>
                <a:cxn ang="0">
                  <a:pos x="0" y="666"/>
                </a:cxn>
                <a:cxn ang="0">
                  <a:pos x="422" y="178"/>
                </a:cxn>
                <a:cxn ang="0">
                  <a:pos x="2202" y="0"/>
                </a:cxn>
              </a:cxnLst>
              <a:rect l="0" t="0" r="r" b="b"/>
              <a:pathLst>
                <a:path w="2202" h="666">
                  <a:moveTo>
                    <a:pt x="0" y="666"/>
                  </a:moveTo>
                  <a:cubicBezTo>
                    <a:pt x="70" y="585"/>
                    <a:pt x="55" y="289"/>
                    <a:pt x="422" y="178"/>
                  </a:cubicBezTo>
                  <a:cubicBezTo>
                    <a:pt x="789" y="67"/>
                    <a:pt x="1831" y="37"/>
                    <a:pt x="2202" y="0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6" name="Freeform 42"/>
            <p:cNvSpPr/>
            <p:nvPr/>
          </p:nvSpPr>
          <p:spPr bwMode="auto">
            <a:xfrm>
              <a:off x="1186389" y="5043487"/>
              <a:ext cx="762000" cy="457200"/>
            </a:xfrm>
            <a:custGeom>
              <a:avLst/>
              <a:gdLst/>
              <a:ahLst/>
              <a:cxnLst>
                <a:cxn ang="0">
                  <a:pos x="480" y="0"/>
                </a:cxn>
                <a:cxn ang="0">
                  <a:pos x="336" y="240"/>
                </a:cxn>
                <a:cxn ang="0">
                  <a:pos x="0" y="288"/>
                </a:cxn>
              </a:cxnLst>
              <a:rect l="0" t="0" r="r" b="b"/>
              <a:pathLst>
                <a:path w="480" h="288">
                  <a:moveTo>
                    <a:pt x="480" y="0"/>
                  </a:moveTo>
                  <a:cubicBezTo>
                    <a:pt x="448" y="96"/>
                    <a:pt x="416" y="192"/>
                    <a:pt x="336" y="240"/>
                  </a:cubicBezTo>
                  <a:cubicBezTo>
                    <a:pt x="256" y="288"/>
                    <a:pt x="128" y="288"/>
                    <a:pt x="0" y="288"/>
                  </a:cubicBezTo>
                </a:path>
              </a:pathLst>
            </a:custGeom>
            <a:noFill/>
            <a:ln w="2556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7" name="Text Box 43"/>
            <p:cNvSpPr txBox="1">
              <a:spLocks noChangeArrowheads="1"/>
            </p:cNvSpPr>
            <p:nvPr/>
          </p:nvSpPr>
          <p:spPr bwMode="auto">
            <a:xfrm>
              <a:off x="1624539" y="4581525"/>
              <a:ext cx="306792" cy="34073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A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88" name="Text Box 44"/>
            <p:cNvSpPr txBox="1">
              <a:spLocks noChangeArrowheads="1"/>
            </p:cNvSpPr>
            <p:nvPr/>
          </p:nvSpPr>
          <p:spPr bwMode="auto">
            <a:xfrm>
              <a:off x="7207777" y="4586287"/>
              <a:ext cx="297174" cy="34073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B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6189" name="Text Box 45"/>
            <p:cNvSpPr txBox="1">
              <a:spLocks noChangeArrowheads="1"/>
            </p:cNvSpPr>
            <p:nvPr/>
          </p:nvSpPr>
          <p:spPr bwMode="auto">
            <a:xfrm>
              <a:off x="4386789" y="5197475"/>
              <a:ext cx="290762" cy="34073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  <a:ea typeface="msgothic" charset="0"/>
                  <a:cs typeface="msgothic" charset="0"/>
                </a:rPr>
                <a:t>C</a:t>
              </a:r>
              <a:endParaRPr lang="en-GB" sz="16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0" name="Rectangle 72"/>
          <p:cNvSpPr>
            <a:spLocks noChangeArrowheads="1"/>
          </p:cNvSpPr>
          <p:nvPr/>
        </p:nvSpPr>
        <p:spPr bwMode="auto">
          <a:xfrm>
            <a:off x="2011480" y="1377951"/>
            <a:ext cx="7607300" cy="2003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469313"/>
            <a:ext cx="8001000" cy="573087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从显式空闲列表分配</a:t>
            </a:r>
            <a:endParaRPr lang="en-GB" dirty="0"/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4091105" y="2227263"/>
            <a:ext cx="36576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4091104" y="1541465"/>
            <a:ext cx="762001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4091105" y="2913063"/>
            <a:ext cx="7620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Oval 32"/>
          <p:cNvSpPr>
            <a:spLocks noChangeArrowheads="1"/>
          </p:cNvSpPr>
          <p:nvPr/>
        </p:nvSpPr>
        <p:spPr bwMode="auto">
          <a:xfrm>
            <a:off x="4167305" y="2303463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4243505" y="2379663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2" name="Oval 34"/>
          <p:cNvSpPr>
            <a:spLocks noChangeArrowheads="1"/>
          </p:cNvSpPr>
          <p:nvPr/>
        </p:nvSpPr>
        <p:spPr bwMode="auto">
          <a:xfrm>
            <a:off x="4167305" y="1617663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>
            <a:off x="4243505" y="1693863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4" name="Oval 36"/>
          <p:cNvSpPr>
            <a:spLocks noChangeArrowheads="1"/>
          </p:cNvSpPr>
          <p:nvPr/>
        </p:nvSpPr>
        <p:spPr bwMode="auto">
          <a:xfrm flipV="1">
            <a:off x="4472105" y="298767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Line 37"/>
          <p:cNvSpPr>
            <a:spLocks noChangeShapeType="1"/>
          </p:cNvSpPr>
          <p:nvPr/>
        </p:nvSpPr>
        <p:spPr bwMode="auto">
          <a:xfrm flipV="1">
            <a:off x="4548305" y="2528889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7206" name="Oval 38"/>
          <p:cNvSpPr>
            <a:spLocks noChangeArrowheads="1"/>
          </p:cNvSpPr>
          <p:nvPr/>
        </p:nvSpPr>
        <p:spPr bwMode="auto">
          <a:xfrm flipV="1">
            <a:off x="4472105" y="230187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Line 39"/>
          <p:cNvSpPr>
            <a:spLocks noChangeShapeType="1"/>
          </p:cNvSpPr>
          <p:nvPr/>
        </p:nvSpPr>
        <p:spPr bwMode="auto">
          <a:xfrm flipV="1">
            <a:off x="4548305" y="1843089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7227" name="Oval 59"/>
          <p:cNvSpPr>
            <a:spLocks noChangeArrowheads="1"/>
          </p:cNvSpPr>
          <p:nvPr/>
        </p:nvSpPr>
        <p:spPr bwMode="auto">
          <a:xfrm>
            <a:off x="4167305" y="2989263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Oval 62"/>
          <p:cNvSpPr>
            <a:spLocks noChangeArrowheads="1"/>
          </p:cNvSpPr>
          <p:nvPr/>
        </p:nvSpPr>
        <p:spPr bwMode="auto">
          <a:xfrm flipV="1">
            <a:off x="4472105" y="161607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2034514" y="1371601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分配前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4853104" y="1465265"/>
            <a:ext cx="304800" cy="457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99" name="Rectangle 31"/>
          <p:cNvSpPr>
            <a:spLocks noChangeArrowheads="1"/>
          </p:cNvSpPr>
          <p:nvPr/>
        </p:nvSpPr>
        <p:spPr bwMode="auto">
          <a:xfrm>
            <a:off x="4853105" y="2836864"/>
            <a:ext cx="304800" cy="457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938495" y="3649664"/>
            <a:ext cx="7680285" cy="2828925"/>
            <a:chOff x="414495" y="3649663"/>
            <a:chExt cx="7680285" cy="2828925"/>
          </a:xfrm>
        </p:grpSpPr>
        <p:sp>
          <p:nvSpPr>
            <p:cNvPr id="7241" name="Rectangle 73"/>
            <p:cNvSpPr>
              <a:spLocks noChangeArrowheads="1"/>
            </p:cNvSpPr>
            <p:nvPr/>
          </p:nvSpPr>
          <p:spPr bwMode="auto">
            <a:xfrm>
              <a:off x="487480" y="3649663"/>
              <a:ext cx="7607300" cy="28289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1" name="Rectangle 3"/>
            <p:cNvSpPr>
              <a:spLocks noChangeArrowheads="1"/>
            </p:cNvSpPr>
            <p:nvPr/>
          </p:nvSpPr>
          <p:spPr bwMode="auto">
            <a:xfrm>
              <a:off x="2567105" y="5181600"/>
              <a:ext cx="762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2567104" y="3810000"/>
              <a:ext cx="761999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Oval 42"/>
            <p:cNvSpPr>
              <a:spLocks noChangeArrowheads="1"/>
            </p:cNvSpPr>
            <p:nvPr/>
          </p:nvSpPr>
          <p:spPr bwMode="auto">
            <a:xfrm>
              <a:off x="1576505" y="6096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Line 43"/>
            <p:cNvSpPr>
              <a:spLocks noChangeShapeType="1"/>
            </p:cNvSpPr>
            <p:nvPr/>
          </p:nvSpPr>
          <p:spPr bwMode="auto">
            <a:xfrm flipV="1">
              <a:off x="1652705" y="4799013"/>
              <a:ext cx="914400" cy="1374775"/>
            </a:xfrm>
            <a:prstGeom prst="line">
              <a:avLst/>
            </a:prstGeom>
            <a:noFill/>
            <a:ln w="57240">
              <a:solidFill>
                <a:schemeClr val="tx1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4" name="Rectangle 46"/>
            <p:cNvSpPr>
              <a:spLocks noChangeArrowheads="1"/>
            </p:cNvSpPr>
            <p:nvPr/>
          </p:nvSpPr>
          <p:spPr bwMode="auto">
            <a:xfrm>
              <a:off x="4395905" y="4495800"/>
              <a:ext cx="1828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8" name="Rectangle 50"/>
            <p:cNvSpPr>
              <a:spLocks noChangeArrowheads="1"/>
            </p:cNvSpPr>
            <p:nvPr/>
          </p:nvSpPr>
          <p:spPr bwMode="auto">
            <a:xfrm>
              <a:off x="2567105" y="4495800"/>
              <a:ext cx="1828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Oval 54"/>
            <p:cNvSpPr>
              <a:spLocks noChangeArrowheads="1"/>
            </p:cNvSpPr>
            <p:nvPr/>
          </p:nvSpPr>
          <p:spPr bwMode="auto">
            <a:xfrm>
              <a:off x="4472105" y="45720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Oval 55"/>
            <p:cNvSpPr>
              <a:spLocks noChangeArrowheads="1"/>
            </p:cNvSpPr>
            <p:nvPr/>
          </p:nvSpPr>
          <p:spPr bwMode="auto">
            <a:xfrm>
              <a:off x="2643305" y="38862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4" name="Oval 56"/>
            <p:cNvSpPr>
              <a:spLocks noChangeArrowheads="1"/>
            </p:cNvSpPr>
            <p:nvPr/>
          </p:nvSpPr>
          <p:spPr bwMode="auto">
            <a:xfrm flipV="1">
              <a:off x="2948105" y="52578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Oval 60"/>
            <p:cNvSpPr>
              <a:spLocks noChangeArrowheads="1"/>
            </p:cNvSpPr>
            <p:nvPr/>
          </p:nvSpPr>
          <p:spPr bwMode="auto">
            <a:xfrm>
              <a:off x="2643305" y="52578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9" name="Oval 61"/>
            <p:cNvSpPr>
              <a:spLocks noChangeArrowheads="1"/>
            </p:cNvSpPr>
            <p:nvPr/>
          </p:nvSpPr>
          <p:spPr bwMode="auto">
            <a:xfrm flipV="1">
              <a:off x="2948105" y="38862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2" name="Text Box 64"/>
            <p:cNvSpPr txBox="1">
              <a:spLocks noChangeArrowheads="1"/>
            </p:cNvSpPr>
            <p:nvPr/>
          </p:nvSpPr>
          <p:spPr bwMode="auto">
            <a:xfrm>
              <a:off x="414495" y="3657600"/>
              <a:ext cx="1015663" cy="426913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分配后</a:t>
              </a:r>
              <a:endParaRPr lang="en-GB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7233" name="Oval 65"/>
            <p:cNvSpPr>
              <a:spLocks noChangeArrowheads="1"/>
            </p:cNvSpPr>
            <p:nvPr/>
          </p:nvSpPr>
          <p:spPr bwMode="auto">
            <a:xfrm flipV="1">
              <a:off x="4776905" y="45720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4" name="Freeform 66"/>
            <p:cNvSpPr/>
            <p:nvPr/>
          </p:nvSpPr>
          <p:spPr bwMode="auto">
            <a:xfrm>
              <a:off x="2719505" y="3962400"/>
              <a:ext cx="1828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3" y="197"/>
                </a:cxn>
                <a:cxn ang="0">
                  <a:pos x="965" y="207"/>
                </a:cxn>
                <a:cxn ang="0">
                  <a:pos x="1152" y="336"/>
                </a:cxn>
              </a:cxnLst>
              <a:rect l="0" t="0" r="r" b="b"/>
              <a:pathLst>
                <a:path w="1152" h="336">
                  <a:moveTo>
                    <a:pt x="0" y="0"/>
                  </a:moveTo>
                  <a:cubicBezTo>
                    <a:pt x="50" y="33"/>
                    <a:pt x="142" y="163"/>
                    <a:pt x="303" y="197"/>
                  </a:cubicBezTo>
                  <a:cubicBezTo>
                    <a:pt x="464" y="231"/>
                    <a:pt x="824" y="184"/>
                    <a:pt x="965" y="207"/>
                  </a:cubicBezTo>
                  <a:cubicBezTo>
                    <a:pt x="1106" y="230"/>
                    <a:pt x="1113" y="309"/>
                    <a:pt x="1152" y="336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Freeform 67"/>
            <p:cNvSpPr/>
            <p:nvPr/>
          </p:nvSpPr>
          <p:spPr bwMode="auto">
            <a:xfrm flipH="1">
              <a:off x="2719505" y="4648200"/>
              <a:ext cx="1828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3" y="197"/>
                </a:cxn>
                <a:cxn ang="0">
                  <a:pos x="965" y="207"/>
                </a:cxn>
                <a:cxn ang="0">
                  <a:pos x="1152" y="336"/>
                </a:cxn>
              </a:cxnLst>
              <a:rect l="0" t="0" r="r" b="b"/>
              <a:pathLst>
                <a:path w="1152" h="336">
                  <a:moveTo>
                    <a:pt x="0" y="0"/>
                  </a:moveTo>
                  <a:cubicBezTo>
                    <a:pt x="50" y="33"/>
                    <a:pt x="142" y="163"/>
                    <a:pt x="303" y="197"/>
                  </a:cubicBezTo>
                  <a:cubicBezTo>
                    <a:pt x="464" y="231"/>
                    <a:pt x="824" y="184"/>
                    <a:pt x="965" y="207"/>
                  </a:cubicBezTo>
                  <a:cubicBezTo>
                    <a:pt x="1106" y="230"/>
                    <a:pt x="1113" y="309"/>
                    <a:pt x="1152" y="336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Text Box 70"/>
            <p:cNvSpPr txBox="1">
              <a:spLocks noChangeArrowheads="1"/>
            </p:cNvSpPr>
            <p:nvPr/>
          </p:nvSpPr>
          <p:spPr bwMode="auto">
            <a:xfrm>
              <a:off x="1762243" y="5972175"/>
              <a:ext cx="2120132" cy="426913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>
                  <a:latin typeface="Courier New" panose="02070609020205020404" pitchFamily="49" charset="0"/>
                  <a:ea typeface="msgothic" charset="0"/>
                  <a:cs typeface="msgothic" charset="0"/>
                </a:rPr>
                <a:t>= malloc(…)</a:t>
              </a:r>
              <a:endParaRPr lang="en-GB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</p:txBody>
        </p:sp>
        <p:sp>
          <p:nvSpPr>
            <p:cNvPr id="7239" name="Text Box 71"/>
            <p:cNvSpPr txBox="1">
              <a:spLocks noChangeArrowheads="1"/>
            </p:cNvSpPr>
            <p:nvPr/>
          </p:nvSpPr>
          <p:spPr bwMode="auto">
            <a:xfrm>
              <a:off x="6792977" y="3657600"/>
              <a:ext cx="1208023" cy="426913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(</a:t>
              </a:r>
              <a:r>
                <a:rPr lang="zh-CN" altLang="en-US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带分割</a:t>
              </a:r>
              <a:r>
                <a:rPr lang="en-GB" i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)</a:t>
              </a:r>
              <a:endParaRPr lang="en-GB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7179" name="Rectangle 11"/>
            <p:cNvSpPr>
              <a:spLocks noChangeArrowheads="1"/>
            </p:cNvSpPr>
            <p:nvPr/>
          </p:nvSpPr>
          <p:spPr bwMode="auto">
            <a:xfrm>
              <a:off x="3329105" y="3733800"/>
              <a:ext cx="304800" cy="45720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Freeform 69"/>
            <p:cNvSpPr/>
            <p:nvPr/>
          </p:nvSpPr>
          <p:spPr bwMode="auto">
            <a:xfrm>
              <a:off x="3176704" y="4038600"/>
              <a:ext cx="1684339" cy="596900"/>
            </a:xfrm>
            <a:custGeom>
              <a:avLst/>
              <a:gdLst/>
              <a:ahLst/>
              <a:cxnLst>
                <a:cxn ang="0">
                  <a:pos x="965" y="424"/>
                </a:cxn>
                <a:cxn ang="0">
                  <a:pos x="758" y="126"/>
                </a:cxn>
                <a:cxn ang="0">
                  <a:pos x="263" y="76"/>
                </a:cxn>
                <a:cxn ang="0">
                  <a:pos x="0" y="0"/>
                </a:cxn>
              </a:cxnLst>
              <a:rect l="0" t="0" r="r" b="b"/>
              <a:pathLst>
                <a:path w="965" h="424">
                  <a:moveTo>
                    <a:pt x="965" y="424"/>
                  </a:moveTo>
                  <a:cubicBezTo>
                    <a:pt x="930" y="374"/>
                    <a:pt x="875" y="184"/>
                    <a:pt x="758" y="126"/>
                  </a:cubicBezTo>
                  <a:cubicBezTo>
                    <a:pt x="641" y="68"/>
                    <a:pt x="389" y="97"/>
                    <a:pt x="263" y="76"/>
                  </a:cubicBezTo>
                  <a:cubicBezTo>
                    <a:pt x="137" y="55"/>
                    <a:pt x="55" y="16"/>
                    <a:pt x="0" y="0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3329105" y="5105400"/>
              <a:ext cx="304800" cy="45720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Freeform 68"/>
            <p:cNvSpPr/>
            <p:nvPr/>
          </p:nvSpPr>
          <p:spPr bwMode="auto">
            <a:xfrm>
              <a:off x="3024305" y="4800600"/>
              <a:ext cx="1828800" cy="533400"/>
            </a:xfrm>
            <a:custGeom>
              <a:avLst/>
              <a:gdLst/>
              <a:ahLst/>
              <a:cxnLst>
                <a:cxn ang="0">
                  <a:pos x="0" y="336"/>
                </a:cxn>
                <a:cxn ang="0">
                  <a:pos x="318" y="184"/>
                </a:cxn>
                <a:cxn ang="0">
                  <a:pos x="955" y="154"/>
                </a:cxn>
                <a:cxn ang="0">
                  <a:pos x="1152" y="0"/>
                </a:cxn>
              </a:cxnLst>
              <a:rect l="0" t="0" r="r" b="b"/>
              <a:pathLst>
                <a:path w="1152" h="336">
                  <a:moveTo>
                    <a:pt x="0" y="336"/>
                  </a:moveTo>
                  <a:cubicBezTo>
                    <a:pt x="53" y="311"/>
                    <a:pt x="159" y="214"/>
                    <a:pt x="318" y="184"/>
                  </a:cubicBezTo>
                  <a:cubicBezTo>
                    <a:pt x="477" y="154"/>
                    <a:pt x="816" y="185"/>
                    <a:pt x="955" y="154"/>
                  </a:cubicBezTo>
                  <a:cubicBezTo>
                    <a:pt x="1094" y="123"/>
                    <a:pt x="1111" y="32"/>
                    <a:pt x="1152" y="0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8351268" y="104875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概念示意图</a:t>
            </a:r>
            <a:endParaRPr lang="en-US" sz="1800" b="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493714"/>
            <a:ext cx="7454900" cy="573087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用显式空闲列表释放</a:t>
            </a:r>
            <a:endParaRPr lang="en-GB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53025" y="1220788"/>
            <a:ext cx="8307387" cy="540861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i="1" dirty="0" smtClean="0">
                <a:solidFill>
                  <a:srgbClr val="C00000"/>
                </a:solidFill>
              </a:rPr>
              <a:t>插入策略：</a:t>
            </a:r>
            <a:r>
              <a:rPr lang="zh-CN" altLang="en-US" dirty="0" smtClean="0"/>
              <a:t>新释放的内存块会放在空闲列表的什么位置？</a:t>
            </a:r>
            <a:endParaRPr lang="en-GB" dirty="0"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dirty="0" smtClean="0"/>
              <a:t>无序的</a:t>
            </a:r>
            <a:endParaRPr lang="en-GB" b="1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/>
              <a:t>LIFO (last-in-first-out) </a:t>
            </a:r>
            <a:r>
              <a:rPr lang="zh-CN" altLang="en-US" dirty="0"/>
              <a:t>策略</a:t>
            </a:r>
            <a:endParaRPr lang="en-GB" dirty="0"/>
          </a:p>
          <a:p>
            <a:pPr lvl="2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将被释放内存块插入空闲列表的开始位置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/>
              <a:t>FIFO (first-in-first-out) </a:t>
            </a:r>
            <a:r>
              <a:rPr lang="zh-CN" altLang="en-US" dirty="0"/>
              <a:t>策略</a:t>
            </a:r>
            <a:endParaRPr lang="en-GB" dirty="0"/>
          </a:p>
          <a:p>
            <a:pPr lvl="2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将</a:t>
            </a:r>
            <a:r>
              <a:rPr lang="zh-CN" altLang="en-US" dirty="0"/>
              <a:t>被释放内存块插入空闲列表</a:t>
            </a:r>
            <a:r>
              <a:rPr lang="zh-CN" altLang="en-US" dirty="0" smtClean="0"/>
              <a:t>的结束位</a:t>
            </a:r>
            <a:r>
              <a:rPr lang="zh-CN" altLang="en-US" dirty="0"/>
              <a:t>置</a:t>
            </a:r>
            <a:endParaRPr lang="en-GB" altLang="zh-CN" dirty="0"/>
          </a:p>
          <a:p>
            <a:pPr lvl="2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 lvl="1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i="1" dirty="0" smtClean="0">
                <a:solidFill>
                  <a:srgbClr val="C00000"/>
                </a:solidFill>
              </a:rPr>
              <a:t>优点：</a:t>
            </a:r>
            <a:r>
              <a:rPr lang="zh-CN" altLang="en-US" dirty="0" smtClean="0"/>
              <a:t>简单且时间恒定</a:t>
            </a:r>
            <a:endParaRPr lang="en-GB" dirty="0"/>
          </a:p>
          <a:p>
            <a:pPr lvl="1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i="1" dirty="0" smtClean="0">
                <a:solidFill>
                  <a:srgbClr val="C00000"/>
                </a:solidFill>
              </a:rPr>
              <a:t>缺点：</a:t>
            </a:r>
            <a:r>
              <a:rPr lang="en-GB" dirty="0" smtClean="0"/>
              <a:t> </a:t>
            </a:r>
            <a:r>
              <a:rPr lang="zh-CN" altLang="en-US" dirty="0" smtClean="0"/>
              <a:t>研究表明，</a:t>
            </a:r>
            <a:r>
              <a:rPr lang="zh-CN" altLang="en-US" dirty="0" smtClean="0">
                <a:solidFill>
                  <a:srgbClr val="00B050"/>
                </a:solidFill>
              </a:rPr>
              <a:t>碎片比按地址顺序更多</a:t>
            </a:r>
            <a:endParaRPr lang="en-GB" dirty="0"/>
          </a:p>
          <a:p>
            <a:pPr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b="1" dirty="0" smtClean="0"/>
              <a:t>按地址排序</a:t>
            </a:r>
            <a:endParaRPr lang="en-GB" b="1" dirty="0" smtClean="0"/>
          </a:p>
          <a:p>
            <a:pPr lvl="1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以保持地址顺序的方式在空闲列表中插入被释放的内存块：</a:t>
            </a:r>
            <a:br>
              <a:rPr lang="en-GB" dirty="0" smtClean="0"/>
            </a:br>
            <a:r>
              <a:rPr lang="en-GB" dirty="0" smtClean="0"/>
              <a:t>	         </a:t>
            </a:r>
            <a:r>
              <a:rPr lang="en-GB" i="1" dirty="0" err="1" smtClean="0"/>
              <a:t>addr</a:t>
            </a:r>
            <a:r>
              <a:rPr lang="en-GB" i="1" dirty="0" smtClean="0"/>
              <a:t>(</a:t>
            </a:r>
            <a:r>
              <a:rPr lang="en-GB" i="1" dirty="0" err="1" smtClean="0"/>
              <a:t>prev</a:t>
            </a:r>
            <a:r>
              <a:rPr lang="en-GB" i="1" dirty="0" smtClean="0"/>
              <a:t>) &lt; </a:t>
            </a:r>
            <a:r>
              <a:rPr lang="en-GB" i="1" dirty="0" err="1" smtClean="0"/>
              <a:t>addr</a:t>
            </a:r>
            <a:r>
              <a:rPr lang="en-GB" i="1" dirty="0" smtClean="0"/>
              <a:t>(</a:t>
            </a:r>
            <a:r>
              <a:rPr lang="en-GB" i="1" dirty="0" err="1" smtClean="0"/>
              <a:t>curr</a:t>
            </a:r>
            <a:r>
              <a:rPr lang="en-GB" i="1" dirty="0" smtClean="0"/>
              <a:t>) &lt; </a:t>
            </a:r>
            <a:r>
              <a:rPr lang="en-GB" i="1" dirty="0" err="1" smtClean="0"/>
              <a:t>addr</a:t>
            </a:r>
            <a:r>
              <a:rPr lang="en-GB" i="1" dirty="0" smtClean="0"/>
              <a:t>(next)</a:t>
            </a:r>
            <a:endParaRPr lang="en-GB" i="1" dirty="0" smtClean="0"/>
          </a:p>
          <a:p>
            <a:pPr lvl="1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 smtClean="0"/>
              <a:t> </a:t>
            </a:r>
            <a:r>
              <a:rPr lang="zh-CN" altLang="en-US" b="1" i="1" dirty="0" smtClean="0">
                <a:solidFill>
                  <a:srgbClr val="C00000"/>
                </a:solidFill>
              </a:rPr>
              <a:t>缺点：</a:t>
            </a:r>
            <a:r>
              <a:rPr lang="en-GB" dirty="0" smtClean="0"/>
              <a:t> </a:t>
            </a:r>
            <a:r>
              <a:rPr lang="zh-CN" altLang="en-US" dirty="0" smtClean="0"/>
              <a:t>需要搜索</a:t>
            </a:r>
            <a:endParaRPr lang="en-GB" dirty="0"/>
          </a:p>
          <a:p>
            <a:pPr lvl="1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dirty="0"/>
              <a:t> </a:t>
            </a:r>
            <a:r>
              <a:rPr lang="en-GB" b="1" i="1" dirty="0" smtClean="0">
                <a:solidFill>
                  <a:srgbClr val="C00000"/>
                </a:solidFill>
              </a:rPr>
              <a:t>Pro</a:t>
            </a:r>
            <a:r>
              <a:rPr lang="zh-CN" altLang="en-US" b="1" i="1" dirty="0" smtClean="0">
                <a:solidFill>
                  <a:srgbClr val="C00000"/>
                </a:solidFill>
              </a:rPr>
              <a:t>优点：</a:t>
            </a:r>
            <a:r>
              <a:rPr lang="en-GB" dirty="0" smtClean="0"/>
              <a:t> </a:t>
            </a:r>
            <a:r>
              <a:rPr lang="zh-CN" altLang="en-US" dirty="0" smtClean="0"/>
              <a:t>研究表明，碎片化低于</a:t>
            </a:r>
            <a:r>
              <a:rPr lang="en-GB" dirty="0" smtClean="0"/>
              <a:t>LIFO/FIFO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6" name="Rectangle 60"/>
          <p:cNvSpPr>
            <a:spLocks noChangeArrowheads="1"/>
          </p:cNvSpPr>
          <p:nvPr/>
        </p:nvSpPr>
        <p:spPr bwMode="auto">
          <a:xfrm>
            <a:off x="1906588" y="4652964"/>
            <a:ext cx="8151812" cy="17478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75" name="Rectangle 59"/>
          <p:cNvSpPr>
            <a:spLocks noChangeArrowheads="1"/>
          </p:cNvSpPr>
          <p:nvPr/>
        </p:nvSpPr>
        <p:spPr bwMode="auto">
          <a:xfrm>
            <a:off x="1906588" y="1681164"/>
            <a:ext cx="8151812" cy="2035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5521325" y="2844801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" name="Freeform 2"/>
          <p:cNvSpPr/>
          <p:nvPr/>
        </p:nvSpPr>
        <p:spPr bwMode="auto">
          <a:xfrm>
            <a:off x="2998789" y="2684463"/>
            <a:ext cx="5862637" cy="388938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798638" y="457200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用</a:t>
            </a:r>
            <a:r>
              <a:rPr lang="en-US" altLang="zh-CN" dirty="0" smtClean="0"/>
              <a:t>LIFO</a:t>
            </a:r>
            <a:r>
              <a:rPr lang="zh-CN" altLang="en-US" dirty="0" smtClean="0"/>
              <a:t>策略释放（场景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en-GB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14514" y="4022725"/>
            <a:ext cx="8307387" cy="554038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把被释放内存块插入列表</a:t>
            </a:r>
            <a:r>
              <a:rPr lang="zh-CN" altLang="en-US" dirty="0" smtClean="0"/>
              <a:t>开始位置</a:t>
            </a:r>
            <a:endParaRPr lang="en-GB" dirty="0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5213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58261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61309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64357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73501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76549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43021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46069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49117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52165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67405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70453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2701925" y="2921001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8"/>
          <p:cNvGrpSpPr/>
          <p:nvPr/>
        </p:nvGrpSpPr>
        <p:grpSpPr bwMode="auto">
          <a:xfrm>
            <a:off x="8874126" y="2844801"/>
            <a:ext cx="1065213" cy="455612"/>
            <a:chOff x="4560" y="1399"/>
            <a:chExt cx="671" cy="287"/>
          </a:xfrm>
        </p:grpSpPr>
        <p:sp>
          <p:nvSpPr>
            <p:cNvPr id="9235" name="Rectangle 19"/>
            <p:cNvSpPr>
              <a:spLocks noChangeArrowheads="1"/>
            </p:cNvSpPr>
            <p:nvPr/>
          </p:nvSpPr>
          <p:spPr bwMode="auto">
            <a:xfrm>
              <a:off x="4560" y="1447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Rectangle 20"/>
            <p:cNvSpPr>
              <a:spLocks noChangeArrowheads="1"/>
            </p:cNvSpPr>
            <p:nvPr/>
          </p:nvSpPr>
          <p:spPr bwMode="auto">
            <a:xfrm>
              <a:off x="4752" y="1447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Rectangle 21"/>
            <p:cNvSpPr>
              <a:spLocks noChangeArrowheads="1"/>
            </p:cNvSpPr>
            <p:nvPr/>
          </p:nvSpPr>
          <p:spPr bwMode="auto">
            <a:xfrm>
              <a:off x="4944" y="1447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Rectangle 22"/>
            <p:cNvSpPr>
              <a:spLocks noChangeArrowheads="1"/>
            </p:cNvSpPr>
            <p:nvPr/>
          </p:nvSpPr>
          <p:spPr bwMode="auto">
            <a:xfrm>
              <a:off x="5040" y="1399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8950325" y="2997201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Line 24"/>
          <p:cNvSpPr>
            <a:spLocks noChangeShapeType="1"/>
          </p:cNvSpPr>
          <p:nvPr/>
        </p:nvSpPr>
        <p:spPr bwMode="auto">
          <a:xfrm>
            <a:off x="9026525" y="3073401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9255125" y="2997201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5149851" y="2006602"/>
            <a:ext cx="1382751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ourier New" panose="02070609020205020404" pitchFamily="49" charset="0"/>
                <a:ea typeface="msgothic" charset="0"/>
                <a:cs typeface="msgothic" charset="0"/>
              </a:rPr>
              <a:t>free( )</a:t>
            </a:r>
            <a:endParaRPr lang="en-GB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6130925" y="215900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 flipH="1">
            <a:off x="5672139" y="2235201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55213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Rectangle 30"/>
          <p:cNvSpPr>
            <a:spLocks noChangeArrowheads="1"/>
          </p:cNvSpPr>
          <p:nvPr/>
        </p:nvSpPr>
        <p:spPr bwMode="auto">
          <a:xfrm>
            <a:off x="58261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7" name="Rectangle 31"/>
          <p:cNvSpPr>
            <a:spLocks noChangeArrowheads="1"/>
          </p:cNvSpPr>
          <p:nvPr/>
        </p:nvSpPr>
        <p:spPr bwMode="auto">
          <a:xfrm>
            <a:off x="61309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Rectangle 32"/>
          <p:cNvSpPr>
            <a:spLocks noChangeArrowheads="1"/>
          </p:cNvSpPr>
          <p:nvPr/>
        </p:nvSpPr>
        <p:spPr bwMode="auto">
          <a:xfrm>
            <a:off x="64357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73501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Rectangle 34"/>
          <p:cNvSpPr>
            <a:spLocks noChangeArrowheads="1"/>
          </p:cNvSpPr>
          <p:nvPr/>
        </p:nvSpPr>
        <p:spPr bwMode="auto">
          <a:xfrm>
            <a:off x="76549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43021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2" name="Rectangle 36"/>
          <p:cNvSpPr>
            <a:spLocks noChangeArrowheads="1"/>
          </p:cNvSpPr>
          <p:nvPr/>
        </p:nvSpPr>
        <p:spPr bwMode="auto">
          <a:xfrm>
            <a:off x="46069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3" name="Rectangle 37"/>
          <p:cNvSpPr>
            <a:spLocks noChangeArrowheads="1"/>
          </p:cNvSpPr>
          <p:nvPr/>
        </p:nvSpPr>
        <p:spPr bwMode="auto">
          <a:xfrm>
            <a:off x="49117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4" name="Rectangle 38"/>
          <p:cNvSpPr>
            <a:spLocks noChangeArrowheads="1"/>
          </p:cNvSpPr>
          <p:nvPr/>
        </p:nvSpPr>
        <p:spPr bwMode="auto">
          <a:xfrm>
            <a:off x="52165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5" name="Oval 39"/>
          <p:cNvSpPr>
            <a:spLocks noChangeArrowheads="1"/>
          </p:cNvSpPr>
          <p:nvPr/>
        </p:nvSpPr>
        <p:spPr bwMode="auto">
          <a:xfrm>
            <a:off x="5597525" y="5608638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6" name="Rectangle 40"/>
          <p:cNvSpPr>
            <a:spLocks noChangeArrowheads="1"/>
          </p:cNvSpPr>
          <p:nvPr/>
        </p:nvSpPr>
        <p:spPr bwMode="auto">
          <a:xfrm>
            <a:off x="70453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7" name="Rectangle 41"/>
          <p:cNvSpPr>
            <a:spLocks noChangeArrowheads="1"/>
          </p:cNvSpPr>
          <p:nvPr/>
        </p:nvSpPr>
        <p:spPr bwMode="auto">
          <a:xfrm>
            <a:off x="2726639" y="5532438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42"/>
          <p:cNvGrpSpPr/>
          <p:nvPr/>
        </p:nvGrpSpPr>
        <p:grpSpPr bwMode="auto">
          <a:xfrm>
            <a:off x="8874126" y="5456238"/>
            <a:ext cx="1065213" cy="455612"/>
            <a:chOff x="4560" y="3395"/>
            <a:chExt cx="671" cy="287"/>
          </a:xfrm>
        </p:grpSpPr>
        <p:sp>
          <p:nvSpPr>
            <p:cNvPr id="9259" name="Rectangle 43"/>
            <p:cNvSpPr>
              <a:spLocks noChangeArrowheads="1"/>
            </p:cNvSpPr>
            <p:nvPr/>
          </p:nvSpPr>
          <p:spPr bwMode="auto">
            <a:xfrm>
              <a:off x="4560" y="34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Rectangle 44"/>
            <p:cNvSpPr>
              <a:spLocks noChangeArrowheads="1"/>
            </p:cNvSpPr>
            <p:nvPr/>
          </p:nvSpPr>
          <p:spPr bwMode="auto">
            <a:xfrm>
              <a:off x="4752" y="34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1" name="Rectangle 45"/>
            <p:cNvSpPr>
              <a:spLocks noChangeArrowheads="1"/>
            </p:cNvSpPr>
            <p:nvPr/>
          </p:nvSpPr>
          <p:spPr bwMode="auto">
            <a:xfrm>
              <a:off x="4944" y="34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2" name="Rectangle 46"/>
            <p:cNvSpPr>
              <a:spLocks noChangeArrowheads="1"/>
            </p:cNvSpPr>
            <p:nvPr/>
          </p:nvSpPr>
          <p:spPr bwMode="auto">
            <a:xfrm>
              <a:off x="5040" y="3395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63" name="Oval 47"/>
          <p:cNvSpPr>
            <a:spLocks noChangeArrowheads="1"/>
          </p:cNvSpPr>
          <p:nvPr/>
        </p:nvSpPr>
        <p:spPr bwMode="auto">
          <a:xfrm>
            <a:off x="8950325" y="5608638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4" name="Line 48"/>
          <p:cNvSpPr>
            <a:spLocks noChangeShapeType="1"/>
          </p:cNvSpPr>
          <p:nvPr/>
        </p:nvSpPr>
        <p:spPr bwMode="auto">
          <a:xfrm>
            <a:off x="9026525" y="5684838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65" name="Oval 49"/>
          <p:cNvSpPr>
            <a:spLocks noChangeArrowheads="1"/>
          </p:cNvSpPr>
          <p:nvPr/>
        </p:nvSpPr>
        <p:spPr bwMode="auto">
          <a:xfrm>
            <a:off x="9255125" y="5608638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6" name="Rectangle 50"/>
          <p:cNvSpPr>
            <a:spLocks noChangeArrowheads="1"/>
          </p:cNvSpPr>
          <p:nvPr/>
        </p:nvSpPr>
        <p:spPr bwMode="auto">
          <a:xfrm>
            <a:off x="67405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7" name="Freeform 51"/>
          <p:cNvSpPr/>
          <p:nvPr/>
        </p:nvSpPr>
        <p:spPr bwMode="auto">
          <a:xfrm>
            <a:off x="5673725" y="5380038"/>
            <a:ext cx="3200400" cy="304800"/>
          </a:xfrm>
          <a:custGeom>
            <a:avLst/>
            <a:gdLst/>
            <a:ahLst/>
            <a:cxnLst>
              <a:cxn ang="0">
                <a:pos x="0" y="218"/>
              </a:cxn>
              <a:cxn ang="0">
                <a:pos x="472" y="31"/>
              </a:cxn>
              <a:cxn ang="0">
                <a:pos x="2109" y="31"/>
              </a:cxn>
              <a:cxn ang="0">
                <a:pos x="2784" y="218"/>
              </a:cxn>
            </a:cxnLst>
            <a:rect l="0" t="0" r="r" b="b"/>
            <a:pathLst>
              <a:path w="2784" h="218">
                <a:moveTo>
                  <a:pt x="0" y="218"/>
                </a:moveTo>
                <a:cubicBezTo>
                  <a:pt x="79" y="187"/>
                  <a:pt x="121" y="62"/>
                  <a:pt x="472" y="31"/>
                </a:cubicBezTo>
                <a:cubicBezTo>
                  <a:pt x="823" y="0"/>
                  <a:pt x="1724" y="0"/>
                  <a:pt x="2109" y="31"/>
                </a:cubicBezTo>
                <a:cubicBezTo>
                  <a:pt x="2494" y="62"/>
                  <a:pt x="2644" y="179"/>
                  <a:pt x="2784" y="218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8" name="Freeform 52"/>
          <p:cNvSpPr/>
          <p:nvPr/>
        </p:nvSpPr>
        <p:spPr bwMode="auto">
          <a:xfrm>
            <a:off x="6583364" y="5692776"/>
            <a:ext cx="2752725" cy="371475"/>
          </a:xfrm>
          <a:custGeom>
            <a:avLst/>
            <a:gdLst/>
            <a:ahLst/>
            <a:cxnLst>
              <a:cxn ang="0">
                <a:pos x="1734" y="0"/>
              </a:cxn>
              <a:cxn ang="0">
                <a:pos x="1481" y="192"/>
              </a:cxn>
              <a:cxn ang="0">
                <a:pos x="304" y="217"/>
              </a:cxn>
              <a:cxn ang="0">
                <a:pos x="0" y="91"/>
              </a:cxn>
            </a:cxnLst>
            <a:rect l="0" t="0" r="r" b="b"/>
            <a:pathLst>
              <a:path w="1734" h="234">
                <a:moveTo>
                  <a:pt x="1734" y="0"/>
                </a:moveTo>
                <a:cubicBezTo>
                  <a:pt x="1692" y="32"/>
                  <a:pt x="1719" y="156"/>
                  <a:pt x="1481" y="192"/>
                </a:cubicBezTo>
                <a:cubicBezTo>
                  <a:pt x="1243" y="228"/>
                  <a:pt x="551" y="234"/>
                  <a:pt x="304" y="217"/>
                </a:cubicBezTo>
                <a:cubicBezTo>
                  <a:pt x="57" y="200"/>
                  <a:pt x="63" y="117"/>
                  <a:pt x="0" y="91"/>
                </a:cubicBezTo>
              </a:path>
            </a:pathLst>
          </a:custGeom>
          <a:noFill/>
          <a:ln w="57240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9" name="Text Box 53"/>
          <p:cNvSpPr txBox="1">
            <a:spLocks noChangeArrowheads="1"/>
          </p:cNvSpPr>
          <p:nvPr/>
        </p:nvSpPr>
        <p:spPr bwMode="auto">
          <a:xfrm>
            <a:off x="1924050" y="2868614"/>
            <a:ext cx="697692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  <a:endParaRPr lang="en-GB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1939925" y="5481639"/>
            <a:ext cx="697692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  <a:endParaRPr lang="en-GB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9271" name="Text Box 55"/>
          <p:cNvSpPr txBox="1">
            <a:spLocks noChangeArrowheads="1"/>
          </p:cNvSpPr>
          <p:nvPr/>
        </p:nvSpPr>
        <p:spPr bwMode="auto">
          <a:xfrm>
            <a:off x="1920768" y="1690689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分配前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9272" name="Text Box 56"/>
          <p:cNvSpPr txBox="1">
            <a:spLocks noChangeArrowheads="1"/>
          </p:cNvSpPr>
          <p:nvPr/>
        </p:nvSpPr>
        <p:spPr bwMode="auto">
          <a:xfrm>
            <a:off x="1808947" y="4652964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分配后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9273" name="Oval 57"/>
          <p:cNvSpPr>
            <a:spLocks noChangeArrowheads="1"/>
          </p:cNvSpPr>
          <p:nvPr/>
        </p:nvSpPr>
        <p:spPr bwMode="auto">
          <a:xfrm>
            <a:off x="5902325" y="5608638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74" name="Freeform 58"/>
          <p:cNvSpPr/>
          <p:nvPr/>
        </p:nvSpPr>
        <p:spPr bwMode="auto">
          <a:xfrm>
            <a:off x="3006726" y="5243514"/>
            <a:ext cx="2671763" cy="441325"/>
          </a:xfrm>
          <a:custGeom>
            <a:avLst/>
            <a:gdLst/>
            <a:ahLst/>
            <a:cxnLst>
              <a:cxn ang="0">
                <a:pos x="0" y="278"/>
              </a:cxn>
              <a:cxn ang="0">
                <a:pos x="480" y="41"/>
              </a:cxn>
              <a:cxn ang="0">
                <a:pos x="1445" y="30"/>
              </a:cxn>
              <a:cxn ang="0">
                <a:pos x="1683" y="182"/>
              </a:cxn>
            </a:cxnLst>
            <a:rect l="0" t="0" r="r" b="b"/>
            <a:pathLst>
              <a:path w="1683" h="278">
                <a:moveTo>
                  <a:pt x="0" y="278"/>
                </a:moveTo>
                <a:cubicBezTo>
                  <a:pt x="80" y="238"/>
                  <a:pt x="239" y="82"/>
                  <a:pt x="480" y="41"/>
                </a:cubicBezTo>
                <a:cubicBezTo>
                  <a:pt x="721" y="0"/>
                  <a:pt x="1245" y="7"/>
                  <a:pt x="1445" y="30"/>
                </a:cubicBezTo>
                <a:cubicBezTo>
                  <a:pt x="1645" y="53"/>
                  <a:pt x="1634" y="150"/>
                  <a:pt x="1683" y="182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8719572" y="13331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概念示意图</a:t>
            </a:r>
            <a:endParaRPr lang="en-US" sz="1800" b="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444590" y="1162790"/>
            <a:ext cx="3425059" cy="305622"/>
            <a:chOff x="2820166" y="1307690"/>
            <a:chExt cx="3425059" cy="305622"/>
          </a:xfrm>
        </p:grpSpPr>
        <p:sp>
          <p:nvSpPr>
            <p:cNvPr id="63" name="Rectangle 2"/>
            <p:cNvSpPr>
              <a:spLocks noChangeArrowheads="1"/>
            </p:cNvSpPr>
            <p:nvPr/>
          </p:nvSpPr>
          <p:spPr bwMode="auto">
            <a:xfrm>
              <a:off x="3961606" y="1308101"/>
              <a:ext cx="11430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Rectangle 3"/>
            <p:cNvSpPr>
              <a:spLocks noChangeArrowheads="1"/>
            </p:cNvSpPr>
            <p:nvPr/>
          </p:nvSpPr>
          <p:spPr bwMode="auto">
            <a:xfrm>
              <a:off x="2820166" y="1308512"/>
              <a:ext cx="11430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 smtClean="0">
                  <a:latin typeface="Calibri" pitchFamily="34" charset="0"/>
                </a:rPr>
                <a:t>已分配</a:t>
              </a:r>
              <a:endParaRPr lang="en-GB" sz="1600" dirty="0">
                <a:latin typeface="Calibri" pitchFamily="34" charset="0"/>
              </a:endParaRPr>
            </a:p>
          </p:txBody>
        </p:sp>
        <p:sp>
          <p:nvSpPr>
            <p:cNvPr id="65" name="Rectangle 4"/>
            <p:cNvSpPr>
              <a:spLocks noChangeArrowheads="1"/>
            </p:cNvSpPr>
            <p:nvPr/>
          </p:nvSpPr>
          <p:spPr bwMode="auto">
            <a:xfrm>
              <a:off x="5102225" y="1307690"/>
              <a:ext cx="11430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dirty="0">
                  <a:latin typeface="Calibri" pitchFamily="34" charset="0"/>
                </a:rPr>
                <a:t>已分配</a:t>
              </a:r>
              <a:endParaRPr lang="en-GB" sz="1600" dirty="0">
                <a:latin typeface="Calibri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6" grpId="0" animBg="1"/>
      <p:bldP spid="9245" grpId="0" animBg="1"/>
      <p:bldP spid="9246" grpId="0" animBg="1"/>
      <p:bldP spid="9247" grpId="0" animBg="1"/>
      <p:bldP spid="9248" grpId="0" animBg="1"/>
      <p:bldP spid="9249" grpId="0" animBg="1"/>
      <p:bldP spid="9250" grpId="0" animBg="1"/>
      <p:bldP spid="9251" grpId="0" animBg="1"/>
      <p:bldP spid="9252" grpId="0" animBg="1"/>
      <p:bldP spid="9253" grpId="0" animBg="1"/>
      <p:bldP spid="9254" grpId="0" animBg="1"/>
      <p:bldP spid="9255" grpId="0" animBg="1"/>
      <p:bldP spid="9256" grpId="0" animBg="1"/>
      <p:bldP spid="9257" grpId="0" animBg="1"/>
      <p:bldP spid="9263" grpId="0" animBg="1"/>
      <p:bldP spid="9264" grpId="0" animBg="1"/>
      <p:bldP spid="9265" grpId="0" animBg="1"/>
      <p:bldP spid="9266" grpId="0" animBg="1"/>
      <p:bldP spid="9267" grpId="0" animBg="1"/>
      <p:bldP spid="9268" grpId="0" animBg="1"/>
      <p:bldP spid="9270" grpId="0"/>
      <p:bldP spid="9272" grpId="0"/>
      <p:bldP spid="9273" grpId="0" animBg="1"/>
      <p:bldP spid="927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9" name="Rectangle 95"/>
          <p:cNvSpPr>
            <a:spLocks noChangeArrowheads="1"/>
          </p:cNvSpPr>
          <p:nvPr/>
        </p:nvSpPr>
        <p:spPr bwMode="auto">
          <a:xfrm>
            <a:off x="1921476" y="1450975"/>
            <a:ext cx="8151812" cy="2130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5536213" y="2397124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Freeform 8"/>
          <p:cNvSpPr/>
          <p:nvPr/>
        </p:nvSpPr>
        <p:spPr bwMode="auto">
          <a:xfrm>
            <a:off x="3013677" y="2236788"/>
            <a:ext cx="5862637" cy="388937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812325" y="3879850"/>
            <a:ext cx="8307387" cy="784225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分割相邻的后一个内存块，合并两个内存块，并把新内存块插入到列表结束位置</a:t>
            </a:r>
            <a:endParaRPr lang="en-GB" dirty="0"/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55362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58410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61458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64506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73650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76698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43170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46218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Rectangle 19"/>
          <p:cNvSpPr>
            <a:spLocks noChangeArrowheads="1"/>
          </p:cNvSpPr>
          <p:nvPr/>
        </p:nvSpPr>
        <p:spPr bwMode="auto">
          <a:xfrm>
            <a:off x="49266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4" name="Rectangle 20"/>
          <p:cNvSpPr>
            <a:spLocks noChangeArrowheads="1"/>
          </p:cNvSpPr>
          <p:nvPr/>
        </p:nvSpPr>
        <p:spPr bwMode="auto">
          <a:xfrm>
            <a:off x="52314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5" name="Rectangle 21"/>
          <p:cNvSpPr>
            <a:spLocks noChangeArrowheads="1"/>
          </p:cNvSpPr>
          <p:nvPr/>
        </p:nvSpPr>
        <p:spPr bwMode="auto">
          <a:xfrm>
            <a:off x="67554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70602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3"/>
          <p:cNvGrpSpPr/>
          <p:nvPr/>
        </p:nvGrpSpPr>
        <p:grpSpPr bwMode="auto">
          <a:xfrm>
            <a:off x="6755414" y="1711325"/>
            <a:ext cx="1065213" cy="455613"/>
            <a:chOff x="3216" y="876"/>
            <a:chExt cx="671" cy="287"/>
          </a:xfrm>
        </p:grpSpPr>
        <p:sp>
          <p:nvSpPr>
            <p:cNvPr id="11288" name="Rectangle 24"/>
            <p:cNvSpPr>
              <a:spLocks noChangeArrowheads="1"/>
            </p:cNvSpPr>
            <p:nvPr/>
          </p:nvSpPr>
          <p:spPr bwMode="auto">
            <a:xfrm>
              <a:off x="3216" y="924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3408" y="924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Rectangle 26"/>
            <p:cNvSpPr>
              <a:spLocks noChangeArrowheads="1"/>
            </p:cNvSpPr>
            <p:nvPr/>
          </p:nvSpPr>
          <p:spPr bwMode="auto">
            <a:xfrm>
              <a:off x="3600" y="924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Rectangle 27"/>
            <p:cNvSpPr>
              <a:spLocks noChangeArrowheads="1"/>
            </p:cNvSpPr>
            <p:nvPr/>
          </p:nvSpPr>
          <p:spPr bwMode="auto">
            <a:xfrm>
              <a:off x="3696" y="876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8"/>
          <p:cNvGrpSpPr/>
          <p:nvPr/>
        </p:nvGrpSpPr>
        <p:grpSpPr bwMode="auto">
          <a:xfrm>
            <a:off x="6755414" y="3082925"/>
            <a:ext cx="1065213" cy="455613"/>
            <a:chOff x="3216" y="1740"/>
            <a:chExt cx="671" cy="287"/>
          </a:xfrm>
        </p:grpSpPr>
        <p:sp>
          <p:nvSpPr>
            <p:cNvPr id="11293" name="Rectangle 29"/>
            <p:cNvSpPr>
              <a:spLocks noChangeArrowheads="1"/>
            </p:cNvSpPr>
            <p:nvPr/>
          </p:nvSpPr>
          <p:spPr bwMode="auto">
            <a:xfrm>
              <a:off x="3216" y="1788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Rectangle 30"/>
            <p:cNvSpPr>
              <a:spLocks noChangeArrowheads="1"/>
            </p:cNvSpPr>
            <p:nvPr/>
          </p:nvSpPr>
          <p:spPr bwMode="auto">
            <a:xfrm>
              <a:off x="3408" y="1788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Rectangle 31"/>
            <p:cNvSpPr>
              <a:spLocks noChangeArrowheads="1"/>
            </p:cNvSpPr>
            <p:nvPr/>
          </p:nvSpPr>
          <p:spPr bwMode="auto">
            <a:xfrm>
              <a:off x="3600" y="1788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Rectangle 32"/>
            <p:cNvSpPr>
              <a:spLocks noChangeArrowheads="1"/>
            </p:cNvSpPr>
            <p:nvPr/>
          </p:nvSpPr>
          <p:spPr bwMode="auto">
            <a:xfrm>
              <a:off x="3696" y="1740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97" name="Oval 33"/>
          <p:cNvSpPr>
            <a:spLocks noChangeArrowheads="1"/>
          </p:cNvSpPr>
          <p:nvPr/>
        </p:nvSpPr>
        <p:spPr bwMode="auto">
          <a:xfrm>
            <a:off x="6831613" y="25495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>
            <a:off x="6907813" y="2625724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99" name="Oval 35"/>
          <p:cNvSpPr>
            <a:spLocks noChangeArrowheads="1"/>
          </p:cNvSpPr>
          <p:nvPr/>
        </p:nvSpPr>
        <p:spPr bwMode="auto">
          <a:xfrm>
            <a:off x="6831613" y="18637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6907813" y="1939924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01" name="Oval 37"/>
          <p:cNvSpPr>
            <a:spLocks noChangeArrowheads="1"/>
          </p:cNvSpPr>
          <p:nvPr/>
        </p:nvSpPr>
        <p:spPr bwMode="auto">
          <a:xfrm flipV="1">
            <a:off x="7136413" y="3235324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02" name="Line 38"/>
          <p:cNvSpPr>
            <a:spLocks noChangeShapeType="1"/>
          </p:cNvSpPr>
          <p:nvPr/>
        </p:nvSpPr>
        <p:spPr bwMode="auto">
          <a:xfrm flipV="1">
            <a:off x="7212613" y="277653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03" name="Oval 39"/>
          <p:cNvSpPr>
            <a:spLocks noChangeArrowheads="1"/>
          </p:cNvSpPr>
          <p:nvPr/>
        </p:nvSpPr>
        <p:spPr bwMode="auto">
          <a:xfrm flipV="1">
            <a:off x="7136413" y="2549524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04" name="Line 40"/>
          <p:cNvSpPr>
            <a:spLocks noChangeShapeType="1"/>
          </p:cNvSpPr>
          <p:nvPr/>
        </p:nvSpPr>
        <p:spPr bwMode="auto">
          <a:xfrm flipV="1">
            <a:off x="7212613" y="209073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05" name="Rectangle 41"/>
          <p:cNvSpPr>
            <a:spLocks noChangeArrowheads="1"/>
          </p:cNvSpPr>
          <p:nvPr/>
        </p:nvSpPr>
        <p:spPr bwMode="auto">
          <a:xfrm>
            <a:off x="2716813" y="2473324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2"/>
          <p:cNvGrpSpPr/>
          <p:nvPr/>
        </p:nvGrpSpPr>
        <p:grpSpPr bwMode="auto">
          <a:xfrm>
            <a:off x="8889014" y="2397125"/>
            <a:ext cx="1065213" cy="455613"/>
            <a:chOff x="4560" y="1308"/>
            <a:chExt cx="671" cy="287"/>
          </a:xfrm>
        </p:grpSpPr>
        <p:sp>
          <p:nvSpPr>
            <p:cNvPr id="11307" name="Rectangle 43"/>
            <p:cNvSpPr>
              <a:spLocks noChangeArrowheads="1"/>
            </p:cNvSpPr>
            <p:nvPr/>
          </p:nvSpPr>
          <p:spPr bwMode="auto">
            <a:xfrm>
              <a:off x="4560" y="1356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Rectangle 44"/>
            <p:cNvSpPr>
              <a:spLocks noChangeArrowheads="1"/>
            </p:cNvSpPr>
            <p:nvPr/>
          </p:nvSpPr>
          <p:spPr bwMode="auto">
            <a:xfrm>
              <a:off x="4752" y="1356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Rectangle 45"/>
            <p:cNvSpPr>
              <a:spLocks noChangeArrowheads="1"/>
            </p:cNvSpPr>
            <p:nvPr/>
          </p:nvSpPr>
          <p:spPr bwMode="auto">
            <a:xfrm>
              <a:off x="4944" y="1356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Rectangle 46"/>
            <p:cNvSpPr>
              <a:spLocks noChangeArrowheads="1"/>
            </p:cNvSpPr>
            <p:nvPr/>
          </p:nvSpPr>
          <p:spPr bwMode="auto">
            <a:xfrm>
              <a:off x="5040" y="1308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311" name="Oval 47"/>
          <p:cNvSpPr>
            <a:spLocks noChangeArrowheads="1"/>
          </p:cNvSpPr>
          <p:nvPr/>
        </p:nvSpPr>
        <p:spPr bwMode="auto">
          <a:xfrm>
            <a:off x="8965213" y="25495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12" name="Line 48"/>
          <p:cNvSpPr>
            <a:spLocks noChangeShapeType="1"/>
          </p:cNvSpPr>
          <p:nvPr/>
        </p:nvSpPr>
        <p:spPr bwMode="auto">
          <a:xfrm>
            <a:off x="9041413" y="2625724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13" name="Oval 49"/>
          <p:cNvSpPr>
            <a:spLocks noChangeArrowheads="1"/>
          </p:cNvSpPr>
          <p:nvPr/>
        </p:nvSpPr>
        <p:spPr bwMode="auto">
          <a:xfrm>
            <a:off x="9270013" y="2549524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14" name="Text Box 50"/>
          <p:cNvSpPr txBox="1">
            <a:spLocks noChangeArrowheads="1"/>
          </p:cNvSpPr>
          <p:nvPr/>
        </p:nvSpPr>
        <p:spPr bwMode="auto">
          <a:xfrm>
            <a:off x="5164739" y="1558925"/>
            <a:ext cx="1382751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Courier New" panose="02070609020205020404" pitchFamily="49" charset="0"/>
                <a:ea typeface="msgothic" charset="0"/>
                <a:cs typeface="msgothic" charset="0"/>
              </a:rPr>
              <a:t>free( )</a:t>
            </a:r>
            <a:endParaRPr lang="en-GB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1315" name="Oval 51"/>
          <p:cNvSpPr>
            <a:spLocks noChangeArrowheads="1"/>
          </p:cNvSpPr>
          <p:nvPr/>
        </p:nvSpPr>
        <p:spPr bwMode="auto">
          <a:xfrm>
            <a:off x="6145813" y="171132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16" name="Line 52"/>
          <p:cNvSpPr>
            <a:spLocks noChangeShapeType="1"/>
          </p:cNvSpPr>
          <p:nvPr/>
        </p:nvSpPr>
        <p:spPr bwMode="auto">
          <a:xfrm flipH="1">
            <a:off x="5687027" y="1787524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50" name="Oval 86"/>
          <p:cNvSpPr>
            <a:spLocks noChangeArrowheads="1"/>
          </p:cNvSpPr>
          <p:nvPr/>
        </p:nvSpPr>
        <p:spPr bwMode="auto">
          <a:xfrm>
            <a:off x="6831613" y="32353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53" name="Oval 89"/>
          <p:cNvSpPr>
            <a:spLocks noChangeArrowheads="1"/>
          </p:cNvSpPr>
          <p:nvPr/>
        </p:nvSpPr>
        <p:spPr bwMode="auto">
          <a:xfrm flipV="1">
            <a:off x="7136413" y="1863724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54" name="Text Box 90"/>
          <p:cNvSpPr txBox="1">
            <a:spLocks noChangeArrowheads="1"/>
          </p:cNvSpPr>
          <p:nvPr/>
        </p:nvSpPr>
        <p:spPr bwMode="auto">
          <a:xfrm>
            <a:off x="1938938" y="2420938"/>
            <a:ext cx="697692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  <a:endParaRPr lang="en-GB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921476" y="4762500"/>
            <a:ext cx="8151812" cy="1943101"/>
            <a:chOff x="397476" y="4762499"/>
            <a:chExt cx="8151812" cy="1943101"/>
          </a:xfrm>
        </p:grpSpPr>
        <p:sp>
          <p:nvSpPr>
            <p:cNvPr id="11360" name="Rectangle 96"/>
            <p:cNvSpPr>
              <a:spLocks noChangeArrowheads="1"/>
            </p:cNvSpPr>
            <p:nvPr/>
          </p:nvSpPr>
          <p:spPr bwMode="auto">
            <a:xfrm>
              <a:off x="397476" y="4762499"/>
              <a:ext cx="8151812" cy="194310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2"/>
            <p:cNvGrpSpPr/>
            <p:nvPr/>
          </p:nvGrpSpPr>
          <p:grpSpPr bwMode="auto">
            <a:xfrm>
              <a:off x="5231413" y="6243119"/>
              <a:ext cx="1065213" cy="431848"/>
              <a:chOff x="3216" y="3782"/>
              <a:chExt cx="671" cy="287"/>
            </a:xfrm>
          </p:grpSpPr>
          <p:sp>
            <p:nvSpPr>
              <p:cNvPr id="11267" name="Rectangle 3"/>
              <p:cNvSpPr>
                <a:spLocks noChangeArrowheads="1"/>
              </p:cNvSpPr>
              <p:nvPr/>
            </p:nvSpPr>
            <p:spPr bwMode="auto">
              <a:xfrm>
                <a:off x="3216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8" name="Rectangle 4"/>
              <p:cNvSpPr>
                <a:spLocks noChangeArrowheads="1"/>
              </p:cNvSpPr>
              <p:nvPr/>
            </p:nvSpPr>
            <p:spPr bwMode="auto">
              <a:xfrm>
                <a:off x="3408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9" name="Rectangle 5"/>
              <p:cNvSpPr>
                <a:spLocks noChangeArrowheads="1"/>
              </p:cNvSpPr>
              <p:nvPr/>
            </p:nvSpPr>
            <p:spPr bwMode="auto">
              <a:xfrm>
                <a:off x="3600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0" name="Rectangle 6"/>
              <p:cNvSpPr>
                <a:spLocks noChangeArrowheads="1"/>
              </p:cNvSpPr>
              <p:nvPr/>
            </p:nvSpPr>
            <p:spPr bwMode="auto">
              <a:xfrm>
                <a:off x="3696" y="3782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271" name="Line 7"/>
            <p:cNvSpPr>
              <a:spLocks noChangeShapeType="1"/>
            </p:cNvSpPr>
            <p:nvPr/>
          </p:nvSpPr>
          <p:spPr bwMode="auto">
            <a:xfrm flipV="1">
              <a:off x="5688613" y="5302685"/>
              <a:ext cx="1588" cy="115861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Rectangle 53"/>
            <p:cNvSpPr>
              <a:spLocks noChangeArrowheads="1"/>
            </p:cNvSpPr>
            <p:nvPr/>
          </p:nvSpPr>
          <p:spPr bwMode="auto">
            <a:xfrm>
              <a:off x="40122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Rectangle 54"/>
            <p:cNvSpPr>
              <a:spLocks noChangeArrowheads="1"/>
            </p:cNvSpPr>
            <p:nvPr/>
          </p:nvSpPr>
          <p:spPr bwMode="auto">
            <a:xfrm>
              <a:off x="43170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9" name="Rectangle 55"/>
            <p:cNvSpPr>
              <a:spLocks noChangeArrowheads="1"/>
            </p:cNvSpPr>
            <p:nvPr/>
          </p:nvSpPr>
          <p:spPr bwMode="auto">
            <a:xfrm>
              <a:off x="46218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0" name="Rectangle 56"/>
            <p:cNvSpPr>
              <a:spLocks noChangeArrowheads="1"/>
            </p:cNvSpPr>
            <p:nvPr/>
          </p:nvSpPr>
          <p:spPr bwMode="auto">
            <a:xfrm>
              <a:off x="49266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1" name="Rectangle 57"/>
            <p:cNvSpPr>
              <a:spLocks noChangeArrowheads="1"/>
            </p:cNvSpPr>
            <p:nvPr/>
          </p:nvSpPr>
          <p:spPr bwMode="auto">
            <a:xfrm>
              <a:off x="58410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Rectangle 58"/>
            <p:cNvSpPr>
              <a:spLocks noChangeArrowheads="1"/>
            </p:cNvSpPr>
            <p:nvPr/>
          </p:nvSpPr>
          <p:spPr bwMode="auto">
            <a:xfrm>
              <a:off x="61458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Rectangle 59"/>
            <p:cNvSpPr>
              <a:spLocks noChangeArrowheads="1"/>
            </p:cNvSpPr>
            <p:nvPr/>
          </p:nvSpPr>
          <p:spPr bwMode="auto">
            <a:xfrm>
              <a:off x="27930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Rectangle 60"/>
            <p:cNvSpPr>
              <a:spLocks noChangeArrowheads="1"/>
            </p:cNvSpPr>
            <p:nvPr/>
          </p:nvSpPr>
          <p:spPr bwMode="auto">
            <a:xfrm>
              <a:off x="30978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Rectangle 61"/>
            <p:cNvSpPr>
              <a:spLocks noChangeArrowheads="1"/>
            </p:cNvSpPr>
            <p:nvPr/>
          </p:nvSpPr>
          <p:spPr bwMode="auto">
            <a:xfrm>
              <a:off x="34026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" name="Rectangle 62"/>
            <p:cNvSpPr>
              <a:spLocks noChangeArrowheads="1"/>
            </p:cNvSpPr>
            <p:nvPr/>
          </p:nvSpPr>
          <p:spPr bwMode="auto">
            <a:xfrm>
              <a:off x="37074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Oval 63"/>
            <p:cNvSpPr>
              <a:spLocks noChangeArrowheads="1"/>
            </p:cNvSpPr>
            <p:nvPr/>
          </p:nvSpPr>
          <p:spPr bwMode="auto">
            <a:xfrm>
              <a:off x="4088413" y="5737542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Rectangle 64"/>
            <p:cNvSpPr>
              <a:spLocks noChangeArrowheads="1"/>
            </p:cNvSpPr>
            <p:nvPr/>
          </p:nvSpPr>
          <p:spPr bwMode="auto">
            <a:xfrm>
              <a:off x="55362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65"/>
            <p:cNvGrpSpPr/>
            <p:nvPr/>
          </p:nvGrpSpPr>
          <p:grpSpPr bwMode="auto">
            <a:xfrm>
              <a:off x="5231413" y="4943062"/>
              <a:ext cx="1065213" cy="431848"/>
              <a:chOff x="3216" y="2918"/>
              <a:chExt cx="671" cy="287"/>
            </a:xfrm>
          </p:grpSpPr>
          <p:sp>
            <p:nvSpPr>
              <p:cNvPr id="11330" name="Rectangle 66"/>
              <p:cNvSpPr>
                <a:spLocks noChangeArrowheads="1"/>
              </p:cNvSpPr>
              <p:nvPr/>
            </p:nvSpPr>
            <p:spPr bwMode="auto">
              <a:xfrm>
                <a:off x="3216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1" name="Rectangle 67"/>
              <p:cNvSpPr>
                <a:spLocks noChangeArrowheads="1"/>
              </p:cNvSpPr>
              <p:nvPr/>
            </p:nvSpPr>
            <p:spPr bwMode="auto">
              <a:xfrm>
                <a:off x="3408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2" name="Rectangle 68"/>
              <p:cNvSpPr>
                <a:spLocks noChangeArrowheads="1"/>
              </p:cNvSpPr>
              <p:nvPr/>
            </p:nvSpPr>
            <p:spPr bwMode="auto">
              <a:xfrm>
                <a:off x="3600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3" name="Rectangle 69"/>
              <p:cNvSpPr>
                <a:spLocks noChangeArrowheads="1"/>
              </p:cNvSpPr>
              <p:nvPr/>
            </p:nvSpPr>
            <p:spPr bwMode="auto">
              <a:xfrm>
                <a:off x="3696" y="2918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334" name="Oval 70"/>
            <p:cNvSpPr>
              <a:spLocks noChangeArrowheads="1"/>
            </p:cNvSpPr>
            <p:nvPr/>
          </p:nvSpPr>
          <p:spPr bwMode="auto">
            <a:xfrm>
              <a:off x="5307613" y="5087513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Line 71"/>
            <p:cNvSpPr>
              <a:spLocks noChangeShapeType="1"/>
            </p:cNvSpPr>
            <p:nvPr/>
          </p:nvSpPr>
          <p:spPr bwMode="auto">
            <a:xfrm>
              <a:off x="5383813" y="5159739"/>
              <a:ext cx="1588" cy="1155606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Oval 72"/>
            <p:cNvSpPr>
              <a:spLocks noChangeArrowheads="1"/>
            </p:cNvSpPr>
            <p:nvPr/>
          </p:nvSpPr>
          <p:spPr bwMode="auto">
            <a:xfrm flipV="1">
              <a:off x="5612413" y="6386066"/>
              <a:ext cx="152400" cy="14445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7" name="Rectangle 73"/>
            <p:cNvSpPr>
              <a:spLocks noChangeArrowheads="1"/>
            </p:cNvSpPr>
            <p:nvPr/>
          </p:nvSpPr>
          <p:spPr bwMode="auto">
            <a:xfrm>
              <a:off x="1192813" y="5665316"/>
              <a:ext cx="304800" cy="288901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74"/>
            <p:cNvGrpSpPr/>
            <p:nvPr/>
          </p:nvGrpSpPr>
          <p:grpSpPr bwMode="auto">
            <a:xfrm>
              <a:off x="7365013" y="5593091"/>
              <a:ext cx="1065213" cy="431848"/>
              <a:chOff x="4560" y="3350"/>
              <a:chExt cx="671" cy="287"/>
            </a:xfrm>
          </p:grpSpPr>
          <p:sp>
            <p:nvSpPr>
              <p:cNvPr id="11339" name="Rectangle 75"/>
              <p:cNvSpPr>
                <a:spLocks noChangeArrowheads="1"/>
              </p:cNvSpPr>
              <p:nvPr/>
            </p:nvSpPr>
            <p:spPr bwMode="auto">
              <a:xfrm>
                <a:off x="4560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0" name="Rectangle 76"/>
              <p:cNvSpPr>
                <a:spLocks noChangeArrowheads="1"/>
              </p:cNvSpPr>
              <p:nvPr/>
            </p:nvSpPr>
            <p:spPr bwMode="auto">
              <a:xfrm>
                <a:off x="4752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1" name="Rectangle 77"/>
              <p:cNvSpPr>
                <a:spLocks noChangeArrowheads="1"/>
              </p:cNvSpPr>
              <p:nvPr/>
            </p:nvSpPr>
            <p:spPr bwMode="auto">
              <a:xfrm>
                <a:off x="4944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2" name="Rectangle 78"/>
              <p:cNvSpPr>
                <a:spLocks noChangeArrowheads="1"/>
              </p:cNvSpPr>
              <p:nvPr/>
            </p:nvSpPr>
            <p:spPr bwMode="auto">
              <a:xfrm>
                <a:off x="5040" y="3350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343" name="Oval 79"/>
            <p:cNvSpPr>
              <a:spLocks noChangeArrowheads="1"/>
            </p:cNvSpPr>
            <p:nvPr/>
          </p:nvSpPr>
          <p:spPr bwMode="auto">
            <a:xfrm>
              <a:off x="7441213" y="5737542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4" name="Line 80"/>
            <p:cNvSpPr>
              <a:spLocks noChangeShapeType="1"/>
            </p:cNvSpPr>
            <p:nvPr/>
          </p:nvSpPr>
          <p:spPr bwMode="auto">
            <a:xfrm>
              <a:off x="7517413" y="5809767"/>
              <a:ext cx="1588" cy="505578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Oval 81"/>
            <p:cNvSpPr>
              <a:spLocks noChangeArrowheads="1"/>
            </p:cNvSpPr>
            <p:nvPr/>
          </p:nvSpPr>
          <p:spPr bwMode="auto">
            <a:xfrm>
              <a:off x="7746013" y="5737542"/>
              <a:ext cx="152400" cy="14445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6" name="Rectangle 82"/>
            <p:cNvSpPr>
              <a:spLocks noChangeArrowheads="1"/>
            </p:cNvSpPr>
            <p:nvPr/>
          </p:nvSpPr>
          <p:spPr bwMode="auto">
            <a:xfrm>
              <a:off x="52314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7" name="Oval 83"/>
            <p:cNvSpPr>
              <a:spLocks noChangeArrowheads="1"/>
            </p:cNvSpPr>
            <p:nvPr/>
          </p:nvSpPr>
          <p:spPr bwMode="auto">
            <a:xfrm>
              <a:off x="4393213" y="5737542"/>
              <a:ext cx="152400" cy="144451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8" name="Freeform 84"/>
            <p:cNvSpPr/>
            <p:nvPr/>
          </p:nvSpPr>
          <p:spPr bwMode="auto">
            <a:xfrm>
              <a:off x="4151913" y="5474220"/>
              <a:ext cx="3213100" cy="335547"/>
            </a:xfrm>
            <a:custGeom>
              <a:avLst/>
              <a:gdLst/>
              <a:ahLst/>
              <a:cxnLst>
                <a:cxn ang="0">
                  <a:pos x="0" y="223"/>
                </a:cxn>
                <a:cxn ang="0">
                  <a:pos x="288" y="31"/>
                </a:cxn>
                <a:cxn ang="0">
                  <a:pos x="1349" y="36"/>
                </a:cxn>
                <a:cxn ang="0">
                  <a:pos x="2024" y="223"/>
                </a:cxn>
              </a:cxnLst>
              <a:rect l="0" t="0" r="r" b="b"/>
              <a:pathLst>
                <a:path w="2024" h="223">
                  <a:moveTo>
                    <a:pt x="0" y="223"/>
                  </a:moveTo>
                  <a:cubicBezTo>
                    <a:pt x="48" y="191"/>
                    <a:pt x="63" y="62"/>
                    <a:pt x="288" y="31"/>
                  </a:cubicBezTo>
                  <a:cubicBezTo>
                    <a:pt x="513" y="0"/>
                    <a:pt x="1060" y="4"/>
                    <a:pt x="1349" y="36"/>
                  </a:cubicBezTo>
                  <a:cubicBezTo>
                    <a:pt x="1638" y="68"/>
                    <a:pt x="1884" y="184"/>
                    <a:pt x="2024" y="223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9" name="Freeform 85"/>
            <p:cNvSpPr/>
            <p:nvPr/>
          </p:nvSpPr>
          <p:spPr bwMode="auto">
            <a:xfrm>
              <a:off x="6450613" y="5787197"/>
              <a:ext cx="1371600" cy="346080"/>
            </a:xfrm>
            <a:custGeom>
              <a:avLst/>
              <a:gdLst/>
              <a:ahLst/>
              <a:cxnLst>
                <a:cxn ang="0">
                  <a:pos x="864" y="15"/>
                </a:cxn>
                <a:cxn ang="0">
                  <a:pos x="745" y="227"/>
                </a:cxn>
                <a:cxn ang="0">
                  <a:pos x="210" y="35"/>
                </a:cxn>
                <a:cxn ang="0">
                  <a:pos x="0" y="15"/>
                </a:cxn>
              </a:cxnLst>
              <a:rect l="0" t="0" r="r" b="b"/>
              <a:pathLst>
                <a:path w="864" h="230">
                  <a:moveTo>
                    <a:pt x="864" y="15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1" name="Oval 87"/>
            <p:cNvSpPr>
              <a:spLocks noChangeArrowheads="1"/>
            </p:cNvSpPr>
            <p:nvPr/>
          </p:nvSpPr>
          <p:spPr bwMode="auto">
            <a:xfrm>
              <a:off x="5307613" y="6387570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2" name="Oval 88"/>
            <p:cNvSpPr>
              <a:spLocks noChangeArrowheads="1"/>
            </p:cNvSpPr>
            <p:nvPr/>
          </p:nvSpPr>
          <p:spPr bwMode="auto">
            <a:xfrm flipV="1">
              <a:off x="5612413" y="5086009"/>
              <a:ext cx="152400" cy="14445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5" name="Text Box 91"/>
            <p:cNvSpPr txBox="1">
              <a:spLocks noChangeArrowheads="1"/>
            </p:cNvSpPr>
            <p:nvPr/>
          </p:nvSpPr>
          <p:spPr bwMode="auto">
            <a:xfrm>
              <a:off x="430813" y="5617166"/>
              <a:ext cx="697692" cy="426913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dirty="0">
                  <a:latin typeface="Calibri" pitchFamily="34" charset="0"/>
                  <a:ea typeface="msgothic" charset="0"/>
                  <a:cs typeface="msgothic" charset="0"/>
                </a:rPr>
                <a:t>Root</a:t>
              </a:r>
              <a:endParaRPr lang="en-GB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11358" name="Freeform 94"/>
            <p:cNvSpPr/>
            <p:nvPr/>
          </p:nvSpPr>
          <p:spPr bwMode="auto">
            <a:xfrm>
              <a:off x="1481738" y="5388452"/>
              <a:ext cx="2662238" cy="413792"/>
            </a:xfrm>
            <a:custGeom>
              <a:avLst/>
              <a:gdLst/>
              <a:ahLst/>
              <a:cxnLst>
                <a:cxn ang="0">
                  <a:pos x="0" y="275"/>
                </a:cxn>
                <a:cxn ang="0">
                  <a:pos x="515" y="43"/>
                </a:cxn>
                <a:cxn ang="0">
                  <a:pos x="1389" y="22"/>
                </a:cxn>
                <a:cxn ang="0">
                  <a:pos x="1677" y="174"/>
                </a:cxn>
              </a:cxnLst>
              <a:rect l="0" t="0" r="r" b="b"/>
              <a:pathLst>
                <a:path w="1677" h="275">
                  <a:moveTo>
                    <a:pt x="0" y="275"/>
                  </a:moveTo>
                  <a:cubicBezTo>
                    <a:pt x="86" y="236"/>
                    <a:pt x="284" y="85"/>
                    <a:pt x="515" y="43"/>
                  </a:cubicBezTo>
                  <a:cubicBezTo>
                    <a:pt x="746" y="1"/>
                    <a:pt x="1195" y="0"/>
                    <a:pt x="1389" y="22"/>
                  </a:cubicBezTo>
                  <a:cubicBezTo>
                    <a:pt x="1583" y="44"/>
                    <a:pt x="1617" y="142"/>
                    <a:pt x="1677" y="174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0" name="Rectangle 5"/>
          <p:cNvSpPr>
            <a:spLocks noChangeArrowheads="1"/>
          </p:cNvSpPr>
          <p:nvPr/>
        </p:nvSpPr>
        <p:spPr bwMode="auto">
          <a:xfrm>
            <a:off x="5574313" y="1026712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Rectangle 6"/>
          <p:cNvSpPr>
            <a:spLocks noChangeArrowheads="1"/>
          </p:cNvSpPr>
          <p:nvPr/>
        </p:nvSpPr>
        <p:spPr bwMode="auto">
          <a:xfrm>
            <a:off x="4431313" y="1030762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已分配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2" name="Rectangle 7"/>
          <p:cNvSpPr>
            <a:spLocks noChangeArrowheads="1"/>
          </p:cNvSpPr>
          <p:nvPr/>
        </p:nvSpPr>
        <p:spPr bwMode="auto">
          <a:xfrm>
            <a:off x="6717313" y="1030762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空闲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104900" y="283845"/>
            <a:ext cx="9679305" cy="782955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用</a:t>
            </a:r>
            <a:r>
              <a:rPr lang="en-US" altLang="zh-CN" dirty="0" smtClean="0"/>
              <a:t>LIFO</a:t>
            </a:r>
            <a:r>
              <a:rPr lang="zh-CN" altLang="en-US" dirty="0" smtClean="0"/>
              <a:t>策略释放（场景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释放时</a:t>
            </a:r>
            <a:r>
              <a:rPr lang="zh-CN" altLang="en-US" dirty="0" smtClean="0"/>
              <a:t>后合并</a:t>
            </a:r>
            <a:endParaRPr lang="zh-CN" altLang="en-US" dirty="0" smtClean="0"/>
          </a:p>
        </p:txBody>
      </p:sp>
      <p:sp>
        <p:nvSpPr>
          <p:cNvPr id="104" name="Text Box 55"/>
          <p:cNvSpPr txBox="1">
            <a:spLocks noChangeArrowheads="1"/>
          </p:cNvSpPr>
          <p:nvPr/>
        </p:nvSpPr>
        <p:spPr bwMode="auto">
          <a:xfrm>
            <a:off x="1920768" y="1424374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分配前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5" name="Text Box 56"/>
          <p:cNvSpPr txBox="1">
            <a:spLocks noChangeArrowheads="1"/>
          </p:cNvSpPr>
          <p:nvPr/>
        </p:nvSpPr>
        <p:spPr bwMode="auto">
          <a:xfrm>
            <a:off x="1956137" y="4800600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分配后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6" name="TextBox 61"/>
          <p:cNvSpPr txBox="1"/>
          <p:nvPr/>
        </p:nvSpPr>
        <p:spPr>
          <a:xfrm>
            <a:off x="8719572" y="10668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概念示意图</a:t>
            </a:r>
            <a:endParaRPr lang="en-US" sz="1800" b="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5" name="Rectangle 95"/>
          <p:cNvSpPr>
            <a:spLocks noChangeArrowheads="1"/>
          </p:cNvSpPr>
          <p:nvPr/>
        </p:nvSpPr>
        <p:spPr bwMode="auto">
          <a:xfrm>
            <a:off x="1921476" y="1522413"/>
            <a:ext cx="8151812" cy="2130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5536213" y="2433637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Freeform 14"/>
          <p:cNvSpPr/>
          <p:nvPr/>
        </p:nvSpPr>
        <p:spPr bwMode="auto">
          <a:xfrm>
            <a:off x="3013677" y="2273299"/>
            <a:ext cx="5862637" cy="388938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1791301" y="3774504"/>
            <a:ext cx="8307387" cy="784225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分割相邻</a:t>
            </a:r>
            <a:r>
              <a:rPr lang="zh-CN" altLang="en-US" dirty="0" smtClean="0"/>
              <a:t>的前一个内</a:t>
            </a:r>
            <a:r>
              <a:rPr lang="zh-CN" altLang="en-US" dirty="0"/>
              <a:t>存块，合并两个内存块，并把新内存块插入到列表结束位</a:t>
            </a:r>
            <a:r>
              <a:rPr lang="zh-CN" altLang="en-US" dirty="0" smtClean="0"/>
              <a:t>置</a:t>
            </a:r>
            <a:endParaRPr lang="en-GB" dirty="0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55362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58410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61458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64506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73650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76698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43170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46218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49266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52314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7"/>
          <p:cNvGrpSpPr/>
          <p:nvPr/>
        </p:nvGrpSpPr>
        <p:grpSpPr bwMode="auto">
          <a:xfrm>
            <a:off x="4317014" y="1747837"/>
            <a:ext cx="1065213" cy="455612"/>
            <a:chOff x="1680" y="831"/>
            <a:chExt cx="671" cy="287"/>
          </a:xfrm>
        </p:grpSpPr>
        <p:sp>
          <p:nvSpPr>
            <p:cNvPr id="10268" name="Rectangle 28"/>
            <p:cNvSpPr>
              <a:spLocks noChangeArrowheads="1"/>
            </p:cNvSpPr>
            <p:nvPr/>
          </p:nvSpPr>
          <p:spPr bwMode="auto">
            <a:xfrm>
              <a:off x="1680" y="879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9" name="Rectangle 29"/>
            <p:cNvSpPr>
              <a:spLocks noChangeArrowheads="1"/>
            </p:cNvSpPr>
            <p:nvPr/>
          </p:nvSpPr>
          <p:spPr bwMode="auto">
            <a:xfrm>
              <a:off x="1872" y="879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0" name="Rectangle 30"/>
            <p:cNvSpPr>
              <a:spLocks noChangeArrowheads="1"/>
            </p:cNvSpPr>
            <p:nvPr/>
          </p:nvSpPr>
          <p:spPr bwMode="auto">
            <a:xfrm>
              <a:off x="2064" y="879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Rectangle 31"/>
            <p:cNvSpPr>
              <a:spLocks noChangeArrowheads="1"/>
            </p:cNvSpPr>
            <p:nvPr/>
          </p:nvSpPr>
          <p:spPr bwMode="auto">
            <a:xfrm>
              <a:off x="2160" y="831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32"/>
          <p:cNvGrpSpPr/>
          <p:nvPr/>
        </p:nvGrpSpPr>
        <p:grpSpPr bwMode="auto">
          <a:xfrm>
            <a:off x="4317014" y="3119437"/>
            <a:ext cx="1065213" cy="455612"/>
            <a:chOff x="1680" y="1695"/>
            <a:chExt cx="671" cy="287"/>
          </a:xfrm>
        </p:grpSpPr>
        <p:sp>
          <p:nvSpPr>
            <p:cNvPr id="10273" name="Rectangle 33"/>
            <p:cNvSpPr>
              <a:spLocks noChangeArrowheads="1"/>
            </p:cNvSpPr>
            <p:nvPr/>
          </p:nvSpPr>
          <p:spPr bwMode="auto">
            <a:xfrm>
              <a:off x="1680" y="17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Rectangle 34"/>
            <p:cNvSpPr>
              <a:spLocks noChangeArrowheads="1"/>
            </p:cNvSpPr>
            <p:nvPr/>
          </p:nvSpPr>
          <p:spPr bwMode="auto">
            <a:xfrm>
              <a:off x="1872" y="17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5" name="Rectangle 35"/>
            <p:cNvSpPr>
              <a:spLocks noChangeArrowheads="1"/>
            </p:cNvSpPr>
            <p:nvPr/>
          </p:nvSpPr>
          <p:spPr bwMode="auto">
            <a:xfrm>
              <a:off x="2064" y="17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6" name="Rectangle 36"/>
            <p:cNvSpPr>
              <a:spLocks noChangeArrowheads="1"/>
            </p:cNvSpPr>
            <p:nvPr/>
          </p:nvSpPr>
          <p:spPr bwMode="auto">
            <a:xfrm>
              <a:off x="2160" y="1695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7" name="Oval 37"/>
          <p:cNvSpPr>
            <a:spLocks noChangeArrowheads="1"/>
          </p:cNvSpPr>
          <p:nvPr/>
        </p:nvSpPr>
        <p:spPr bwMode="auto">
          <a:xfrm>
            <a:off x="4393213" y="25860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4469413" y="2662237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9" name="Oval 39"/>
          <p:cNvSpPr>
            <a:spLocks noChangeArrowheads="1"/>
          </p:cNvSpPr>
          <p:nvPr/>
        </p:nvSpPr>
        <p:spPr bwMode="auto">
          <a:xfrm>
            <a:off x="4393213" y="19002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>
            <a:off x="4469413" y="1976437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1" name="Oval 41"/>
          <p:cNvSpPr>
            <a:spLocks noChangeArrowheads="1"/>
          </p:cNvSpPr>
          <p:nvPr/>
        </p:nvSpPr>
        <p:spPr bwMode="auto">
          <a:xfrm flipV="1">
            <a:off x="4698013" y="3270249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Line 42"/>
          <p:cNvSpPr>
            <a:spLocks noChangeShapeType="1"/>
          </p:cNvSpPr>
          <p:nvPr/>
        </p:nvSpPr>
        <p:spPr bwMode="auto">
          <a:xfrm flipV="1">
            <a:off x="4774213" y="2811463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3" name="Oval 43"/>
          <p:cNvSpPr>
            <a:spLocks noChangeArrowheads="1"/>
          </p:cNvSpPr>
          <p:nvPr/>
        </p:nvSpPr>
        <p:spPr bwMode="auto">
          <a:xfrm flipV="1">
            <a:off x="4698013" y="2584449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4" name="Line 44"/>
          <p:cNvSpPr>
            <a:spLocks noChangeShapeType="1"/>
          </p:cNvSpPr>
          <p:nvPr/>
        </p:nvSpPr>
        <p:spPr bwMode="auto">
          <a:xfrm flipV="1">
            <a:off x="4774213" y="2125663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5" name="Rectangle 45"/>
          <p:cNvSpPr>
            <a:spLocks noChangeArrowheads="1"/>
          </p:cNvSpPr>
          <p:nvPr/>
        </p:nvSpPr>
        <p:spPr bwMode="auto">
          <a:xfrm>
            <a:off x="67554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6" name="Rectangle 46"/>
          <p:cNvSpPr>
            <a:spLocks noChangeArrowheads="1"/>
          </p:cNvSpPr>
          <p:nvPr/>
        </p:nvSpPr>
        <p:spPr bwMode="auto">
          <a:xfrm>
            <a:off x="70602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7" name="Rectangle 47"/>
          <p:cNvSpPr>
            <a:spLocks noChangeArrowheads="1"/>
          </p:cNvSpPr>
          <p:nvPr/>
        </p:nvSpPr>
        <p:spPr bwMode="auto">
          <a:xfrm>
            <a:off x="2716813" y="2509837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8"/>
          <p:cNvGrpSpPr/>
          <p:nvPr/>
        </p:nvGrpSpPr>
        <p:grpSpPr bwMode="auto">
          <a:xfrm>
            <a:off x="8889014" y="2433637"/>
            <a:ext cx="1065213" cy="455612"/>
            <a:chOff x="4560" y="1263"/>
            <a:chExt cx="671" cy="287"/>
          </a:xfrm>
        </p:grpSpPr>
        <p:sp>
          <p:nvSpPr>
            <p:cNvPr id="10289" name="Rectangle 49"/>
            <p:cNvSpPr>
              <a:spLocks noChangeArrowheads="1"/>
            </p:cNvSpPr>
            <p:nvPr/>
          </p:nvSpPr>
          <p:spPr bwMode="auto">
            <a:xfrm>
              <a:off x="4560" y="131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0" name="Rectangle 50"/>
            <p:cNvSpPr>
              <a:spLocks noChangeArrowheads="1"/>
            </p:cNvSpPr>
            <p:nvPr/>
          </p:nvSpPr>
          <p:spPr bwMode="auto">
            <a:xfrm>
              <a:off x="4752" y="131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1" name="Rectangle 51"/>
            <p:cNvSpPr>
              <a:spLocks noChangeArrowheads="1"/>
            </p:cNvSpPr>
            <p:nvPr/>
          </p:nvSpPr>
          <p:spPr bwMode="auto">
            <a:xfrm>
              <a:off x="4944" y="131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2" name="Rectangle 52"/>
            <p:cNvSpPr>
              <a:spLocks noChangeArrowheads="1"/>
            </p:cNvSpPr>
            <p:nvPr/>
          </p:nvSpPr>
          <p:spPr bwMode="auto">
            <a:xfrm>
              <a:off x="5040" y="1263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3" name="Oval 53"/>
          <p:cNvSpPr>
            <a:spLocks noChangeArrowheads="1"/>
          </p:cNvSpPr>
          <p:nvPr/>
        </p:nvSpPr>
        <p:spPr bwMode="auto">
          <a:xfrm>
            <a:off x="8965213" y="25860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4" name="Line 54"/>
          <p:cNvSpPr>
            <a:spLocks noChangeShapeType="1"/>
          </p:cNvSpPr>
          <p:nvPr/>
        </p:nvSpPr>
        <p:spPr bwMode="auto">
          <a:xfrm>
            <a:off x="9041413" y="2662237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5" name="Oval 55"/>
          <p:cNvSpPr>
            <a:spLocks noChangeArrowheads="1"/>
          </p:cNvSpPr>
          <p:nvPr/>
        </p:nvSpPr>
        <p:spPr bwMode="auto">
          <a:xfrm>
            <a:off x="9270013" y="2586037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6" name="Text Box 56"/>
          <p:cNvSpPr txBox="1">
            <a:spLocks noChangeArrowheads="1"/>
          </p:cNvSpPr>
          <p:nvPr/>
        </p:nvSpPr>
        <p:spPr bwMode="auto">
          <a:xfrm>
            <a:off x="5164739" y="1595438"/>
            <a:ext cx="1382751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Courier New" panose="02070609020205020404" pitchFamily="49" charset="0"/>
                <a:ea typeface="msgothic" charset="0"/>
                <a:cs typeface="msgothic" charset="0"/>
              </a:rPr>
              <a:t>free( )</a:t>
            </a:r>
            <a:endParaRPr lang="en-GB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0297" name="Oval 57"/>
          <p:cNvSpPr>
            <a:spLocks noChangeArrowheads="1"/>
          </p:cNvSpPr>
          <p:nvPr/>
        </p:nvSpPr>
        <p:spPr bwMode="auto">
          <a:xfrm>
            <a:off x="6145813" y="1747837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8" name="Line 58"/>
          <p:cNvSpPr>
            <a:spLocks noChangeShapeType="1"/>
          </p:cNvSpPr>
          <p:nvPr/>
        </p:nvSpPr>
        <p:spPr bwMode="auto">
          <a:xfrm flipH="1">
            <a:off x="5687027" y="1824037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7" name="Oval 87"/>
          <p:cNvSpPr>
            <a:spLocks noChangeArrowheads="1"/>
          </p:cNvSpPr>
          <p:nvPr/>
        </p:nvSpPr>
        <p:spPr bwMode="auto">
          <a:xfrm>
            <a:off x="4393213" y="32718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30" name="Oval 90"/>
          <p:cNvSpPr>
            <a:spLocks noChangeArrowheads="1"/>
          </p:cNvSpPr>
          <p:nvPr/>
        </p:nvSpPr>
        <p:spPr bwMode="auto">
          <a:xfrm flipV="1">
            <a:off x="4698013" y="1898649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31" name="Text Box 91"/>
          <p:cNvSpPr txBox="1">
            <a:spLocks noChangeArrowheads="1"/>
          </p:cNvSpPr>
          <p:nvPr/>
        </p:nvSpPr>
        <p:spPr bwMode="auto">
          <a:xfrm>
            <a:off x="1938938" y="2457450"/>
            <a:ext cx="697692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  <a:endParaRPr lang="en-GB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902424" y="4712245"/>
            <a:ext cx="8151812" cy="1933105"/>
            <a:chOff x="397476" y="4848695"/>
            <a:chExt cx="8151812" cy="1933105"/>
          </a:xfrm>
        </p:grpSpPr>
        <p:sp>
          <p:nvSpPr>
            <p:cNvPr id="10336" name="Rectangle 96"/>
            <p:cNvSpPr>
              <a:spLocks noChangeArrowheads="1"/>
            </p:cNvSpPr>
            <p:nvPr/>
          </p:nvSpPr>
          <p:spPr bwMode="auto">
            <a:xfrm>
              <a:off x="397476" y="4848695"/>
              <a:ext cx="8151812" cy="19331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2"/>
            <p:cNvGrpSpPr/>
            <p:nvPr/>
          </p:nvGrpSpPr>
          <p:grpSpPr bwMode="auto">
            <a:xfrm>
              <a:off x="2793013" y="6324599"/>
              <a:ext cx="1065213" cy="455613"/>
              <a:chOff x="1680" y="3714"/>
              <a:chExt cx="671" cy="287"/>
            </a:xfrm>
          </p:grpSpPr>
          <p:sp>
            <p:nvSpPr>
              <p:cNvPr id="10243" name="Rectangle 3"/>
              <p:cNvSpPr>
                <a:spLocks noChangeArrowheads="1"/>
              </p:cNvSpPr>
              <p:nvPr/>
            </p:nvSpPr>
            <p:spPr bwMode="auto">
              <a:xfrm>
                <a:off x="1680" y="3762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4" name="Rectangle 4"/>
              <p:cNvSpPr>
                <a:spLocks noChangeArrowheads="1"/>
              </p:cNvSpPr>
              <p:nvPr/>
            </p:nvSpPr>
            <p:spPr bwMode="auto">
              <a:xfrm>
                <a:off x="1872" y="3762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5" name="Rectangle 5"/>
              <p:cNvSpPr>
                <a:spLocks noChangeArrowheads="1"/>
              </p:cNvSpPr>
              <p:nvPr/>
            </p:nvSpPr>
            <p:spPr bwMode="auto">
              <a:xfrm>
                <a:off x="2064" y="3762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6" name="Rectangle 6"/>
              <p:cNvSpPr>
                <a:spLocks noChangeArrowheads="1"/>
              </p:cNvSpPr>
              <p:nvPr/>
            </p:nvSpPr>
            <p:spPr bwMode="auto">
              <a:xfrm>
                <a:off x="2160" y="3714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47" name="Line 7"/>
            <p:cNvSpPr>
              <a:spLocks noChangeShapeType="1"/>
            </p:cNvSpPr>
            <p:nvPr/>
          </p:nvSpPr>
          <p:spPr bwMode="auto">
            <a:xfrm flipV="1">
              <a:off x="3250213" y="53324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/>
            <p:nvPr/>
          </p:nvGrpSpPr>
          <p:grpSpPr bwMode="auto">
            <a:xfrm>
              <a:off x="2793013" y="4952999"/>
              <a:ext cx="1065213" cy="455613"/>
              <a:chOff x="1680" y="2850"/>
              <a:chExt cx="671" cy="287"/>
            </a:xfrm>
          </p:grpSpPr>
          <p:sp>
            <p:nvSpPr>
              <p:cNvPr id="10249" name="Rectangle 9"/>
              <p:cNvSpPr>
                <a:spLocks noChangeArrowheads="1"/>
              </p:cNvSpPr>
              <p:nvPr/>
            </p:nvSpPr>
            <p:spPr bwMode="auto">
              <a:xfrm>
                <a:off x="1680" y="28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0" name="Rectangle 10"/>
              <p:cNvSpPr>
                <a:spLocks noChangeArrowheads="1"/>
              </p:cNvSpPr>
              <p:nvPr/>
            </p:nvSpPr>
            <p:spPr bwMode="auto">
              <a:xfrm>
                <a:off x="1872" y="28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1" name="Rectangle 11"/>
              <p:cNvSpPr>
                <a:spLocks noChangeArrowheads="1"/>
              </p:cNvSpPr>
              <p:nvPr/>
            </p:nvSpPr>
            <p:spPr bwMode="auto">
              <a:xfrm>
                <a:off x="2064" y="28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2" name="Rectangle 12"/>
              <p:cNvSpPr>
                <a:spLocks noChangeArrowheads="1"/>
              </p:cNvSpPr>
              <p:nvPr/>
            </p:nvSpPr>
            <p:spPr bwMode="auto">
              <a:xfrm>
                <a:off x="2160" y="2850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53" name="Line 13"/>
            <p:cNvSpPr>
              <a:spLocks noChangeShapeType="1"/>
            </p:cNvSpPr>
            <p:nvPr/>
          </p:nvSpPr>
          <p:spPr bwMode="auto">
            <a:xfrm>
              <a:off x="2945413" y="5181599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Rectangle 59"/>
            <p:cNvSpPr>
              <a:spLocks noChangeArrowheads="1"/>
            </p:cNvSpPr>
            <p:nvPr/>
          </p:nvSpPr>
          <p:spPr bwMode="auto">
            <a:xfrm>
              <a:off x="40122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0" name="Rectangle 60"/>
            <p:cNvSpPr>
              <a:spLocks noChangeArrowheads="1"/>
            </p:cNvSpPr>
            <p:nvPr/>
          </p:nvSpPr>
          <p:spPr bwMode="auto">
            <a:xfrm>
              <a:off x="43170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1" name="Rectangle 61"/>
            <p:cNvSpPr>
              <a:spLocks noChangeArrowheads="1"/>
            </p:cNvSpPr>
            <p:nvPr/>
          </p:nvSpPr>
          <p:spPr bwMode="auto">
            <a:xfrm>
              <a:off x="46218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2" name="Rectangle 62"/>
            <p:cNvSpPr>
              <a:spLocks noChangeArrowheads="1"/>
            </p:cNvSpPr>
            <p:nvPr/>
          </p:nvSpPr>
          <p:spPr bwMode="auto">
            <a:xfrm>
              <a:off x="49266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3" name="Rectangle 63"/>
            <p:cNvSpPr>
              <a:spLocks noChangeArrowheads="1"/>
            </p:cNvSpPr>
            <p:nvPr/>
          </p:nvSpPr>
          <p:spPr bwMode="auto">
            <a:xfrm>
              <a:off x="58410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4" name="Rectangle 64"/>
            <p:cNvSpPr>
              <a:spLocks noChangeArrowheads="1"/>
            </p:cNvSpPr>
            <p:nvPr/>
          </p:nvSpPr>
          <p:spPr bwMode="auto">
            <a:xfrm>
              <a:off x="61458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5" name="Rectangle 65"/>
            <p:cNvSpPr>
              <a:spLocks noChangeArrowheads="1"/>
            </p:cNvSpPr>
            <p:nvPr/>
          </p:nvSpPr>
          <p:spPr bwMode="auto">
            <a:xfrm>
              <a:off x="27930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6" name="Rectangle 66"/>
            <p:cNvSpPr>
              <a:spLocks noChangeArrowheads="1"/>
            </p:cNvSpPr>
            <p:nvPr/>
          </p:nvSpPr>
          <p:spPr bwMode="auto">
            <a:xfrm>
              <a:off x="30978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7" name="Rectangle 67"/>
            <p:cNvSpPr>
              <a:spLocks noChangeArrowheads="1"/>
            </p:cNvSpPr>
            <p:nvPr/>
          </p:nvSpPr>
          <p:spPr bwMode="auto">
            <a:xfrm>
              <a:off x="34026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8" name="Rectangle 68"/>
            <p:cNvSpPr>
              <a:spLocks noChangeArrowheads="1"/>
            </p:cNvSpPr>
            <p:nvPr/>
          </p:nvSpPr>
          <p:spPr bwMode="auto">
            <a:xfrm>
              <a:off x="37074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9" name="Oval 69"/>
            <p:cNvSpPr>
              <a:spLocks noChangeArrowheads="1"/>
            </p:cNvSpPr>
            <p:nvPr/>
          </p:nvSpPr>
          <p:spPr bwMode="auto">
            <a:xfrm>
              <a:off x="2869213" y="57911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0" name="Oval 70"/>
            <p:cNvSpPr>
              <a:spLocks noChangeArrowheads="1"/>
            </p:cNvSpPr>
            <p:nvPr/>
          </p:nvSpPr>
          <p:spPr bwMode="auto">
            <a:xfrm>
              <a:off x="2869213" y="51053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1" name="Oval 71"/>
            <p:cNvSpPr>
              <a:spLocks noChangeArrowheads="1"/>
            </p:cNvSpPr>
            <p:nvPr/>
          </p:nvSpPr>
          <p:spPr bwMode="auto">
            <a:xfrm flipV="1">
              <a:off x="3174013" y="6475412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2" name="Rectangle 72"/>
            <p:cNvSpPr>
              <a:spLocks noChangeArrowheads="1"/>
            </p:cNvSpPr>
            <p:nvPr/>
          </p:nvSpPr>
          <p:spPr bwMode="auto">
            <a:xfrm>
              <a:off x="55362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3" name="Rectangle 73"/>
            <p:cNvSpPr>
              <a:spLocks noChangeArrowheads="1"/>
            </p:cNvSpPr>
            <p:nvPr/>
          </p:nvSpPr>
          <p:spPr bwMode="auto">
            <a:xfrm>
              <a:off x="1192813" y="5714999"/>
              <a:ext cx="304800" cy="304800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74"/>
            <p:cNvGrpSpPr/>
            <p:nvPr/>
          </p:nvGrpSpPr>
          <p:grpSpPr bwMode="auto">
            <a:xfrm>
              <a:off x="7365013" y="5638799"/>
              <a:ext cx="1065213" cy="455613"/>
              <a:chOff x="4560" y="3282"/>
              <a:chExt cx="671" cy="287"/>
            </a:xfrm>
          </p:grpSpPr>
          <p:sp>
            <p:nvSpPr>
              <p:cNvPr id="10315" name="Rectangle 75"/>
              <p:cNvSpPr>
                <a:spLocks noChangeArrowheads="1"/>
              </p:cNvSpPr>
              <p:nvPr/>
            </p:nvSpPr>
            <p:spPr bwMode="auto">
              <a:xfrm>
                <a:off x="4560" y="33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6" name="Rectangle 76"/>
              <p:cNvSpPr>
                <a:spLocks noChangeArrowheads="1"/>
              </p:cNvSpPr>
              <p:nvPr/>
            </p:nvSpPr>
            <p:spPr bwMode="auto">
              <a:xfrm>
                <a:off x="4752" y="33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7" name="Rectangle 77"/>
              <p:cNvSpPr>
                <a:spLocks noChangeArrowheads="1"/>
              </p:cNvSpPr>
              <p:nvPr/>
            </p:nvSpPr>
            <p:spPr bwMode="auto">
              <a:xfrm>
                <a:off x="4944" y="33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8" name="Rectangle 78"/>
              <p:cNvSpPr>
                <a:spLocks noChangeArrowheads="1"/>
              </p:cNvSpPr>
              <p:nvPr/>
            </p:nvSpPr>
            <p:spPr bwMode="auto">
              <a:xfrm>
                <a:off x="5040" y="3282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319" name="Oval 79"/>
            <p:cNvSpPr>
              <a:spLocks noChangeArrowheads="1"/>
            </p:cNvSpPr>
            <p:nvPr/>
          </p:nvSpPr>
          <p:spPr bwMode="auto">
            <a:xfrm>
              <a:off x="7441213" y="57911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0" name="Line 80"/>
            <p:cNvSpPr>
              <a:spLocks noChangeShapeType="1"/>
            </p:cNvSpPr>
            <p:nvPr/>
          </p:nvSpPr>
          <p:spPr bwMode="auto">
            <a:xfrm>
              <a:off x="7517413" y="5867399"/>
              <a:ext cx="1588" cy="5334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321" name="Oval 81"/>
            <p:cNvSpPr>
              <a:spLocks noChangeArrowheads="1"/>
            </p:cNvSpPr>
            <p:nvPr/>
          </p:nvSpPr>
          <p:spPr bwMode="auto">
            <a:xfrm>
              <a:off x="7746013" y="5791199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2" name="Line 82"/>
            <p:cNvSpPr>
              <a:spLocks noChangeShapeType="1"/>
            </p:cNvSpPr>
            <p:nvPr/>
          </p:nvSpPr>
          <p:spPr bwMode="auto">
            <a:xfrm>
              <a:off x="1421413" y="5867399"/>
              <a:ext cx="1371600" cy="1588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323" name="Rectangle 83"/>
            <p:cNvSpPr>
              <a:spLocks noChangeArrowheads="1"/>
            </p:cNvSpPr>
            <p:nvPr/>
          </p:nvSpPr>
          <p:spPr bwMode="auto">
            <a:xfrm>
              <a:off x="52314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4" name="Oval 84"/>
            <p:cNvSpPr>
              <a:spLocks noChangeArrowheads="1"/>
            </p:cNvSpPr>
            <p:nvPr/>
          </p:nvSpPr>
          <p:spPr bwMode="auto">
            <a:xfrm>
              <a:off x="3174013" y="5791199"/>
              <a:ext cx="152400" cy="152400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5" name="Freeform 85"/>
            <p:cNvSpPr/>
            <p:nvPr/>
          </p:nvSpPr>
          <p:spPr bwMode="auto">
            <a:xfrm>
              <a:off x="2945413" y="5521324"/>
              <a:ext cx="4419600" cy="346075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472" y="31"/>
                </a:cxn>
                <a:cxn ang="0">
                  <a:pos x="2109" y="31"/>
                </a:cxn>
                <a:cxn ang="0">
                  <a:pos x="2784" y="218"/>
                </a:cxn>
              </a:cxnLst>
              <a:rect l="0" t="0" r="r" b="b"/>
              <a:pathLst>
                <a:path w="2784" h="218">
                  <a:moveTo>
                    <a:pt x="0" y="218"/>
                  </a:moveTo>
                  <a:cubicBezTo>
                    <a:pt x="79" y="187"/>
                    <a:pt x="121" y="62"/>
                    <a:pt x="472" y="31"/>
                  </a:cubicBezTo>
                  <a:cubicBezTo>
                    <a:pt x="823" y="0"/>
                    <a:pt x="1724" y="0"/>
                    <a:pt x="2109" y="31"/>
                  </a:cubicBezTo>
                  <a:cubicBezTo>
                    <a:pt x="2494" y="62"/>
                    <a:pt x="2644" y="179"/>
                    <a:pt x="2784" y="218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6" name="Freeform 86"/>
            <p:cNvSpPr/>
            <p:nvPr/>
          </p:nvSpPr>
          <p:spPr bwMode="auto">
            <a:xfrm>
              <a:off x="5091713" y="5867399"/>
              <a:ext cx="2730500" cy="395288"/>
            </a:xfrm>
            <a:custGeom>
              <a:avLst/>
              <a:gdLst/>
              <a:ahLst/>
              <a:cxnLst>
                <a:cxn ang="0">
                  <a:pos x="1720" y="0"/>
                </a:cxn>
                <a:cxn ang="0">
                  <a:pos x="1389" y="212"/>
                </a:cxn>
                <a:cxn ang="0">
                  <a:pos x="262" y="222"/>
                </a:cxn>
                <a:cxn ang="0">
                  <a:pos x="0" y="101"/>
                </a:cxn>
              </a:cxnLst>
              <a:rect l="0" t="0" r="r" b="b"/>
              <a:pathLst>
                <a:path w="1720" h="249">
                  <a:moveTo>
                    <a:pt x="1720" y="0"/>
                  </a:moveTo>
                  <a:cubicBezTo>
                    <a:pt x="1665" y="35"/>
                    <a:pt x="1632" y="175"/>
                    <a:pt x="1389" y="212"/>
                  </a:cubicBezTo>
                  <a:cubicBezTo>
                    <a:pt x="1146" y="249"/>
                    <a:pt x="493" y="240"/>
                    <a:pt x="262" y="222"/>
                  </a:cubicBezTo>
                  <a:cubicBezTo>
                    <a:pt x="31" y="204"/>
                    <a:pt x="55" y="126"/>
                    <a:pt x="0" y="101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8" name="Oval 88"/>
            <p:cNvSpPr>
              <a:spLocks noChangeArrowheads="1"/>
            </p:cNvSpPr>
            <p:nvPr/>
          </p:nvSpPr>
          <p:spPr bwMode="auto">
            <a:xfrm>
              <a:off x="2869213" y="64769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9" name="Oval 89"/>
            <p:cNvSpPr>
              <a:spLocks noChangeArrowheads="1"/>
            </p:cNvSpPr>
            <p:nvPr/>
          </p:nvSpPr>
          <p:spPr bwMode="auto">
            <a:xfrm flipV="1">
              <a:off x="3174013" y="5103812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32" name="Text Box 92"/>
            <p:cNvSpPr txBox="1">
              <a:spLocks noChangeArrowheads="1"/>
            </p:cNvSpPr>
            <p:nvPr/>
          </p:nvSpPr>
          <p:spPr bwMode="auto">
            <a:xfrm>
              <a:off x="430813" y="5664199"/>
              <a:ext cx="697692" cy="426913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dirty="0">
                  <a:latin typeface="Calibri" pitchFamily="34" charset="0"/>
                  <a:ea typeface="msgothic" charset="0"/>
                  <a:cs typeface="msgothic" charset="0"/>
                </a:rPr>
                <a:t>Root</a:t>
              </a:r>
              <a:endParaRPr lang="en-GB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</p:grpSp>
      <p:sp>
        <p:nvSpPr>
          <p:cNvPr id="99" name="Rectangle 5"/>
          <p:cNvSpPr>
            <a:spLocks noChangeArrowheads="1"/>
          </p:cNvSpPr>
          <p:nvPr/>
        </p:nvSpPr>
        <p:spPr bwMode="auto">
          <a:xfrm>
            <a:off x="5574313" y="1026712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6705600" y="1027347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>
                <a:latin typeface="Calibri" pitchFamily="34" charset="0"/>
              </a:rPr>
              <a:t>已分配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1" name="Rectangle 7"/>
          <p:cNvSpPr>
            <a:spLocks noChangeArrowheads="1"/>
          </p:cNvSpPr>
          <p:nvPr/>
        </p:nvSpPr>
        <p:spPr bwMode="auto">
          <a:xfrm>
            <a:off x="4495800" y="1025525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空闲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03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817880" y="228600"/>
            <a:ext cx="9697720" cy="782955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用</a:t>
            </a:r>
            <a:r>
              <a:rPr lang="en-US" altLang="zh-CN" dirty="0" smtClean="0"/>
              <a:t>LIFO</a:t>
            </a:r>
            <a:r>
              <a:rPr lang="zh-CN" altLang="en-US" dirty="0" smtClean="0"/>
              <a:t>策略释放（场景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>
                <a:sym typeface="+mn-ea"/>
              </a:rPr>
              <a:t>——</a:t>
            </a:r>
            <a:r>
              <a:rPr lang="zh-CN" altLang="en-US" dirty="0" smtClean="0">
                <a:sym typeface="+mn-ea"/>
              </a:rPr>
              <a:t>释放时</a:t>
            </a:r>
            <a:r>
              <a:rPr lang="zh-CN" altLang="en-US" dirty="0" smtClean="0">
                <a:sym typeface="+mn-ea"/>
              </a:rPr>
              <a:t>前合并</a:t>
            </a:r>
            <a:endParaRPr lang="en-GB" dirty="0"/>
          </a:p>
        </p:txBody>
      </p:sp>
      <p:sp>
        <p:nvSpPr>
          <p:cNvPr id="104" name="Text Box 55"/>
          <p:cNvSpPr txBox="1">
            <a:spLocks noChangeArrowheads="1"/>
          </p:cNvSpPr>
          <p:nvPr/>
        </p:nvSpPr>
        <p:spPr bwMode="auto">
          <a:xfrm>
            <a:off x="1920768" y="1524000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分配前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5" name="Text Box 56"/>
          <p:cNvSpPr txBox="1">
            <a:spLocks noChangeArrowheads="1"/>
          </p:cNvSpPr>
          <p:nvPr/>
        </p:nvSpPr>
        <p:spPr bwMode="auto">
          <a:xfrm>
            <a:off x="1956137" y="4724400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分配后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06" name="TextBox 61"/>
          <p:cNvSpPr txBox="1"/>
          <p:nvPr/>
        </p:nvSpPr>
        <p:spPr>
          <a:xfrm>
            <a:off x="8719572" y="12192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概念示意图</a:t>
            </a:r>
            <a:endParaRPr lang="en-US" sz="1800" b="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9" name="Rectangle 131"/>
          <p:cNvSpPr>
            <a:spLocks noChangeArrowheads="1"/>
          </p:cNvSpPr>
          <p:nvPr/>
        </p:nvSpPr>
        <p:spPr bwMode="auto">
          <a:xfrm>
            <a:off x="1929329" y="1527176"/>
            <a:ext cx="8151812" cy="2130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5544066" y="2473325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Freeform 20"/>
          <p:cNvSpPr/>
          <p:nvPr/>
        </p:nvSpPr>
        <p:spPr bwMode="auto">
          <a:xfrm>
            <a:off x="3021530" y="2312987"/>
            <a:ext cx="5862637" cy="388938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1828801" y="3777617"/>
            <a:ext cx="8472487" cy="1131888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分割相邻的前一</a:t>
            </a:r>
            <a:r>
              <a:rPr lang="zh-CN" altLang="en-US" dirty="0" smtClean="0"/>
              <a:t>个和后一个内</a:t>
            </a:r>
            <a:r>
              <a:rPr lang="zh-CN" altLang="en-US" dirty="0"/>
              <a:t>存块，合</a:t>
            </a:r>
            <a:r>
              <a:rPr lang="zh-CN" altLang="en-US" dirty="0" smtClean="0"/>
              <a:t>并三个</a:t>
            </a:r>
            <a:r>
              <a:rPr lang="zh-CN" altLang="en-US" dirty="0"/>
              <a:t>内存块，并把新内存块插入到列表结束位</a:t>
            </a:r>
            <a:r>
              <a:rPr lang="zh-CN" altLang="en-US" dirty="0" smtClean="0"/>
              <a:t>置</a:t>
            </a:r>
            <a:endParaRPr lang="en-GB" dirty="0"/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55440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58488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61536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>
            <a:off x="64584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73728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76776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7" name="Rectangle 29"/>
          <p:cNvSpPr>
            <a:spLocks noChangeArrowheads="1"/>
          </p:cNvSpPr>
          <p:nvPr/>
        </p:nvSpPr>
        <p:spPr bwMode="auto">
          <a:xfrm>
            <a:off x="43248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8" name="Rectangle 30"/>
          <p:cNvSpPr>
            <a:spLocks noChangeArrowheads="1"/>
          </p:cNvSpPr>
          <p:nvPr/>
        </p:nvSpPr>
        <p:spPr bwMode="auto">
          <a:xfrm>
            <a:off x="46296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49344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20" name="Rectangle 32"/>
          <p:cNvSpPr>
            <a:spLocks noChangeArrowheads="1"/>
          </p:cNvSpPr>
          <p:nvPr/>
        </p:nvSpPr>
        <p:spPr bwMode="auto">
          <a:xfrm>
            <a:off x="52392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3"/>
          <p:cNvGrpSpPr/>
          <p:nvPr/>
        </p:nvGrpSpPr>
        <p:grpSpPr bwMode="auto">
          <a:xfrm>
            <a:off x="4324867" y="1787525"/>
            <a:ext cx="1065213" cy="455612"/>
            <a:chOff x="1680" y="853"/>
            <a:chExt cx="671" cy="287"/>
          </a:xfrm>
        </p:grpSpPr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1680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1872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4" name="Rectangle 36"/>
            <p:cNvSpPr>
              <a:spLocks noChangeArrowheads="1"/>
            </p:cNvSpPr>
            <p:nvPr/>
          </p:nvSpPr>
          <p:spPr bwMode="auto">
            <a:xfrm>
              <a:off x="2064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5" name="Rectangle 37"/>
            <p:cNvSpPr>
              <a:spLocks noChangeArrowheads="1"/>
            </p:cNvSpPr>
            <p:nvPr/>
          </p:nvSpPr>
          <p:spPr bwMode="auto">
            <a:xfrm>
              <a:off x="2160" y="853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38"/>
          <p:cNvGrpSpPr/>
          <p:nvPr/>
        </p:nvGrpSpPr>
        <p:grpSpPr bwMode="auto">
          <a:xfrm>
            <a:off x="4324867" y="3159125"/>
            <a:ext cx="1065213" cy="455612"/>
            <a:chOff x="1680" y="1717"/>
            <a:chExt cx="671" cy="287"/>
          </a:xfrm>
        </p:grpSpPr>
        <p:sp>
          <p:nvSpPr>
            <p:cNvPr id="12327" name="Rectangle 39"/>
            <p:cNvSpPr>
              <a:spLocks noChangeArrowheads="1"/>
            </p:cNvSpPr>
            <p:nvPr/>
          </p:nvSpPr>
          <p:spPr bwMode="auto">
            <a:xfrm>
              <a:off x="1680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8" name="Rectangle 40"/>
            <p:cNvSpPr>
              <a:spLocks noChangeArrowheads="1"/>
            </p:cNvSpPr>
            <p:nvPr/>
          </p:nvSpPr>
          <p:spPr bwMode="auto">
            <a:xfrm>
              <a:off x="1872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9" name="Rectangle 41"/>
            <p:cNvSpPr>
              <a:spLocks noChangeArrowheads="1"/>
            </p:cNvSpPr>
            <p:nvPr/>
          </p:nvSpPr>
          <p:spPr bwMode="auto">
            <a:xfrm>
              <a:off x="2064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0" name="Rectangle 42"/>
            <p:cNvSpPr>
              <a:spLocks noChangeArrowheads="1"/>
            </p:cNvSpPr>
            <p:nvPr/>
          </p:nvSpPr>
          <p:spPr bwMode="auto">
            <a:xfrm>
              <a:off x="2160" y="1717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31" name="Oval 43"/>
          <p:cNvSpPr>
            <a:spLocks noChangeArrowheads="1"/>
          </p:cNvSpPr>
          <p:nvPr/>
        </p:nvSpPr>
        <p:spPr bwMode="auto">
          <a:xfrm>
            <a:off x="4401066" y="26257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2" name="Line 44"/>
          <p:cNvSpPr>
            <a:spLocks noChangeShapeType="1"/>
          </p:cNvSpPr>
          <p:nvPr/>
        </p:nvSpPr>
        <p:spPr bwMode="auto">
          <a:xfrm>
            <a:off x="4477266" y="27019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3" name="Oval 45"/>
          <p:cNvSpPr>
            <a:spLocks noChangeArrowheads="1"/>
          </p:cNvSpPr>
          <p:nvPr/>
        </p:nvSpPr>
        <p:spPr bwMode="auto">
          <a:xfrm>
            <a:off x="4401066" y="19399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4" name="Line 46"/>
          <p:cNvSpPr>
            <a:spLocks noChangeShapeType="1"/>
          </p:cNvSpPr>
          <p:nvPr/>
        </p:nvSpPr>
        <p:spPr bwMode="auto">
          <a:xfrm>
            <a:off x="4477266" y="20161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5" name="Oval 47"/>
          <p:cNvSpPr>
            <a:spLocks noChangeArrowheads="1"/>
          </p:cNvSpPr>
          <p:nvPr/>
        </p:nvSpPr>
        <p:spPr bwMode="auto">
          <a:xfrm flipV="1">
            <a:off x="4705866" y="33115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6" name="Line 48"/>
          <p:cNvSpPr>
            <a:spLocks noChangeShapeType="1"/>
          </p:cNvSpPr>
          <p:nvPr/>
        </p:nvSpPr>
        <p:spPr bwMode="auto">
          <a:xfrm flipV="1">
            <a:off x="4782066" y="285273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7" name="Oval 49"/>
          <p:cNvSpPr>
            <a:spLocks noChangeArrowheads="1"/>
          </p:cNvSpPr>
          <p:nvPr/>
        </p:nvSpPr>
        <p:spPr bwMode="auto">
          <a:xfrm flipV="1">
            <a:off x="4705866" y="26257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8" name="Line 50"/>
          <p:cNvSpPr>
            <a:spLocks noChangeShapeType="1"/>
          </p:cNvSpPr>
          <p:nvPr/>
        </p:nvSpPr>
        <p:spPr bwMode="auto">
          <a:xfrm flipV="1">
            <a:off x="4782066" y="216693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9" name="Rectangle 51"/>
          <p:cNvSpPr>
            <a:spLocks noChangeArrowheads="1"/>
          </p:cNvSpPr>
          <p:nvPr/>
        </p:nvSpPr>
        <p:spPr bwMode="auto">
          <a:xfrm>
            <a:off x="67632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40" name="Rectangle 52"/>
          <p:cNvSpPr>
            <a:spLocks noChangeArrowheads="1"/>
          </p:cNvSpPr>
          <p:nvPr/>
        </p:nvSpPr>
        <p:spPr bwMode="auto">
          <a:xfrm>
            <a:off x="70680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53"/>
          <p:cNvGrpSpPr/>
          <p:nvPr/>
        </p:nvGrpSpPr>
        <p:grpSpPr bwMode="auto">
          <a:xfrm>
            <a:off x="6763267" y="1787525"/>
            <a:ext cx="1065213" cy="455612"/>
            <a:chOff x="3216" y="853"/>
            <a:chExt cx="671" cy="287"/>
          </a:xfrm>
        </p:grpSpPr>
        <p:sp>
          <p:nvSpPr>
            <p:cNvPr id="12342" name="Rectangle 54"/>
            <p:cNvSpPr>
              <a:spLocks noChangeArrowheads="1"/>
            </p:cNvSpPr>
            <p:nvPr/>
          </p:nvSpPr>
          <p:spPr bwMode="auto">
            <a:xfrm>
              <a:off x="3216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3" name="Rectangle 55"/>
            <p:cNvSpPr>
              <a:spLocks noChangeArrowheads="1"/>
            </p:cNvSpPr>
            <p:nvPr/>
          </p:nvSpPr>
          <p:spPr bwMode="auto">
            <a:xfrm>
              <a:off x="3408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4" name="Rectangle 56"/>
            <p:cNvSpPr>
              <a:spLocks noChangeArrowheads="1"/>
            </p:cNvSpPr>
            <p:nvPr/>
          </p:nvSpPr>
          <p:spPr bwMode="auto">
            <a:xfrm>
              <a:off x="3600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5" name="Rectangle 57"/>
            <p:cNvSpPr>
              <a:spLocks noChangeArrowheads="1"/>
            </p:cNvSpPr>
            <p:nvPr/>
          </p:nvSpPr>
          <p:spPr bwMode="auto">
            <a:xfrm>
              <a:off x="3696" y="853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58"/>
          <p:cNvGrpSpPr/>
          <p:nvPr/>
        </p:nvGrpSpPr>
        <p:grpSpPr bwMode="auto">
          <a:xfrm>
            <a:off x="6763267" y="3159125"/>
            <a:ext cx="1065213" cy="455612"/>
            <a:chOff x="3216" y="1717"/>
            <a:chExt cx="671" cy="287"/>
          </a:xfrm>
        </p:grpSpPr>
        <p:sp>
          <p:nvSpPr>
            <p:cNvPr id="12347" name="Rectangle 59"/>
            <p:cNvSpPr>
              <a:spLocks noChangeArrowheads="1"/>
            </p:cNvSpPr>
            <p:nvPr/>
          </p:nvSpPr>
          <p:spPr bwMode="auto">
            <a:xfrm>
              <a:off x="3216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8" name="Rectangle 60"/>
            <p:cNvSpPr>
              <a:spLocks noChangeArrowheads="1"/>
            </p:cNvSpPr>
            <p:nvPr/>
          </p:nvSpPr>
          <p:spPr bwMode="auto">
            <a:xfrm>
              <a:off x="3408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9" name="Rectangle 61"/>
            <p:cNvSpPr>
              <a:spLocks noChangeArrowheads="1"/>
            </p:cNvSpPr>
            <p:nvPr/>
          </p:nvSpPr>
          <p:spPr bwMode="auto">
            <a:xfrm>
              <a:off x="3600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50" name="Rectangle 62"/>
            <p:cNvSpPr>
              <a:spLocks noChangeArrowheads="1"/>
            </p:cNvSpPr>
            <p:nvPr/>
          </p:nvSpPr>
          <p:spPr bwMode="auto">
            <a:xfrm>
              <a:off x="3696" y="1717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51" name="Oval 63"/>
          <p:cNvSpPr>
            <a:spLocks noChangeArrowheads="1"/>
          </p:cNvSpPr>
          <p:nvPr/>
        </p:nvSpPr>
        <p:spPr bwMode="auto">
          <a:xfrm>
            <a:off x="6839466" y="26257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2" name="Line 64"/>
          <p:cNvSpPr>
            <a:spLocks noChangeShapeType="1"/>
          </p:cNvSpPr>
          <p:nvPr/>
        </p:nvSpPr>
        <p:spPr bwMode="auto">
          <a:xfrm>
            <a:off x="6915666" y="27019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3" name="Oval 65"/>
          <p:cNvSpPr>
            <a:spLocks noChangeArrowheads="1"/>
          </p:cNvSpPr>
          <p:nvPr/>
        </p:nvSpPr>
        <p:spPr bwMode="auto">
          <a:xfrm>
            <a:off x="6839466" y="19399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4" name="Line 66"/>
          <p:cNvSpPr>
            <a:spLocks noChangeShapeType="1"/>
          </p:cNvSpPr>
          <p:nvPr/>
        </p:nvSpPr>
        <p:spPr bwMode="auto">
          <a:xfrm>
            <a:off x="6915666" y="20161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5" name="Oval 67"/>
          <p:cNvSpPr>
            <a:spLocks noChangeArrowheads="1"/>
          </p:cNvSpPr>
          <p:nvPr/>
        </p:nvSpPr>
        <p:spPr bwMode="auto">
          <a:xfrm flipV="1">
            <a:off x="7144266" y="33115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6" name="Line 68"/>
          <p:cNvSpPr>
            <a:spLocks noChangeShapeType="1"/>
          </p:cNvSpPr>
          <p:nvPr/>
        </p:nvSpPr>
        <p:spPr bwMode="auto">
          <a:xfrm flipV="1">
            <a:off x="7220466" y="285273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7" name="Oval 69"/>
          <p:cNvSpPr>
            <a:spLocks noChangeArrowheads="1"/>
          </p:cNvSpPr>
          <p:nvPr/>
        </p:nvSpPr>
        <p:spPr bwMode="auto">
          <a:xfrm flipV="1">
            <a:off x="7144266" y="26257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8" name="Line 70"/>
          <p:cNvSpPr>
            <a:spLocks noChangeShapeType="1"/>
          </p:cNvSpPr>
          <p:nvPr/>
        </p:nvSpPr>
        <p:spPr bwMode="auto">
          <a:xfrm flipV="1">
            <a:off x="7220466" y="216693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9" name="Rectangle 71"/>
          <p:cNvSpPr>
            <a:spLocks noChangeArrowheads="1"/>
          </p:cNvSpPr>
          <p:nvPr/>
        </p:nvSpPr>
        <p:spPr bwMode="auto">
          <a:xfrm>
            <a:off x="2724666" y="2549525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72"/>
          <p:cNvGrpSpPr/>
          <p:nvPr/>
        </p:nvGrpSpPr>
        <p:grpSpPr bwMode="auto">
          <a:xfrm>
            <a:off x="8896867" y="2473325"/>
            <a:ext cx="1065213" cy="455612"/>
            <a:chOff x="4560" y="1285"/>
            <a:chExt cx="671" cy="287"/>
          </a:xfrm>
        </p:grpSpPr>
        <p:sp>
          <p:nvSpPr>
            <p:cNvPr id="12361" name="Rectangle 73"/>
            <p:cNvSpPr>
              <a:spLocks noChangeArrowheads="1"/>
            </p:cNvSpPr>
            <p:nvPr/>
          </p:nvSpPr>
          <p:spPr bwMode="auto">
            <a:xfrm>
              <a:off x="4560" y="133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62" name="Rectangle 74"/>
            <p:cNvSpPr>
              <a:spLocks noChangeArrowheads="1"/>
            </p:cNvSpPr>
            <p:nvPr/>
          </p:nvSpPr>
          <p:spPr bwMode="auto">
            <a:xfrm>
              <a:off x="4752" y="133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63" name="Rectangle 75"/>
            <p:cNvSpPr>
              <a:spLocks noChangeArrowheads="1"/>
            </p:cNvSpPr>
            <p:nvPr/>
          </p:nvSpPr>
          <p:spPr bwMode="auto">
            <a:xfrm>
              <a:off x="4944" y="133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64" name="Rectangle 76"/>
            <p:cNvSpPr>
              <a:spLocks noChangeArrowheads="1"/>
            </p:cNvSpPr>
            <p:nvPr/>
          </p:nvSpPr>
          <p:spPr bwMode="auto">
            <a:xfrm>
              <a:off x="5040" y="1285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65" name="Oval 77"/>
          <p:cNvSpPr>
            <a:spLocks noChangeArrowheads="1"/>
          </p:cNvSpPr>
          <p:nvPr/>
        </p:nvSpPr>
        <p:spPr bwMode="auto">
          <a:xfrm>
            <a:off x="8973066" y="26257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66" name="Line 78"/>
          <p:cNvSpPr>
            <a:spLocks noChangeShapeType="1"/>
          </p:cNvSpPr>
          <p:nvPr/>
        </p:nvSpPr>
        <p:spPr bwMode="auto">
          <a:xfrm>
            <a:off x="9049266" y="27019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67" name="Oval 79"/>
          <p:cNvSpPr>
            <a:spLocks noChangeArrowheads="1"/>
          </p:cNvSpPr>
          <p:nvPr/>
        </p:nvSpPr>
        <p:spPr bwMode="auto">
          <a:xfrm>
            <a:off x="9277866" y="2625725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68" name="Text Box 80"/>
          <p:cNvSpPr txBox="1">
            <a:spLocks noChangeArrowheads="1"/>
          </p:cNvSpPr>
          <p:nvPr/>
        </p:nvSpPr>
        <p:spPr bwMode="auto">
          <a:xfrm>
            <a:off x="5172592" y="1635126"/>
            <a:ext cx="1382751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>
                <a:latin typeface="Courier New" panose="02070609020205020404" pitchFamily="49" charset="0"/>
                <a:ea typeface="msgothic" charset="0"/>
                <a:cs typeface="msgothic" charset="0"/>
              </a:rPr>
              <a:t>free( )</a:t>
            </a:r>
            <a:endParaRPr lang="en-GB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2369" name="Oval 81"/>
          <p:cNvSpPr>
            <a:spLocks noChangeArrowheads="1"/>
          </p:cNvSpPr>
          <p:nvPr/>
        </p:nvSpPr>
        <p:spPr bwMode="auto">
          <a:xfrm>
            <a:off x="6153666" y="17875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70" name="Line 82"/>
          <p:cNvSpPr>
            <a:spLocks noChangeShapeType="1"/>
          </p:cNvSpPr>
          <p:nvPr/>
        </p:nvSpPr>
        <p:spPr bwMode="auto">
          <a:xfrm flipH="1">
            <a:off x="5694880" y="1863725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07" name="Oval 119"/>
          <p:cNvSpPr>
            <a:spLocks noChangeArrowheads="1"/>
          </p:cNvSpPr>
          <p:nvPr/>
        </p:nvSpPr>
        <p:spPr bwMode="auto">
          <a:xfrm>
            <a:off x="6839466" y="33115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08" name="Oval 120"/>
          <p:cNvSpPr>
            <a:spLocks noChangeArrowheads="1"/>
          </p:cNvSpPr>
          <p:nvPr/>
        </p:nvSpPr>
        <p:spPr bwMode="auto">
          <a:xfrm>
            <a:off x="4401066" y="33115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12" name="Oval 124"/>
          <p:cNvSpPr>
            <a:spLocks noChangeArrowheads="1"/>
          </p:cNvSpPr>
          <p:nvPr/>
        </p:nvSpPr>
        <p:spPr bwMode="auto">
          <a:xfrm flipV="1">
            <a:off x="7144266" y="19399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14" name="Oval 126"/>
          <p:cNvSpPr>
            <a:spLocks noChangeArrowheads="1"/>
          </p:cNvSpPr>
          <p:nvPr/>
        </p:nvSpPr>
        <p:spPr bwMode="auto">
          <a:xfrm flipV="1">
            <a:off x="4705866" y="19399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15" name="Text Box 127"/>
          <p:cNvSpPr txBox="1">
            <a:spLocks noChangeArrowheads="1"/>
          </p:cNvSpPr>
          <p:nvPr/>
        </p:nvSpPr>
        <p:spPr bwMode="auto">
          <a:xfrm>
            <a:off x="1946791" y="2497138"/>
            <a:ext cx="697692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  <a:endParaRPr lang="en-GB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929329" y="4648200"/>
            <a:ext cx="8151812" cy="1981200"/>
            <a:chOff x="405329" y="4498975"/>
            <a:chExt cx="8151812" cy="2130425"/>
          </a:xfrm>
        </p:grpSpPr>
        <p:sp>
          <p:nvSpPr>
            <p:cNvPr id="12420" name="Rectangle 132"/>
            <p:cNvSpPr>
              <a:spLocks noChangeArrowheads="1"/>
            </p:cNvSpPr>
            <p:nvPr/>
          </p:nvSpPr>
          <p:spPr bwMode="auto">
            <a:xfrm>
              <a:off x="405329" y="4498975"/>
              <a:ext cx="8151812" cy="21304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2"/>
            <p:cNvGrpSpPr/>
            <p:nvPr/>
          </p:nvGrpSpPr>
          <p:grpSpPr bwMode="auto">
            <a:xfrm>
              <a:off x="2800866" y="6096000"/>
              <a:ext cx="1065213" cy="455612"/>
              <a:chOff x="1680" y="3827"/>
              <a:chExt cx="671" cy="287"/>
            </a:xfrm>
          </p:grpSpPr>
          <p:sp>
            <p:nvSpPr>
              <p:cNvPr id="12291" name="Rectangle 3"/>
              <p:cNvSpPr>
                <a:spLocks noChangeArrowheads="1"/>
              </p:cNvSpPr>
              <p:nvPr/>
            </p:nvSpPr>
            <p:spPr bwMode="auto">
              <a:xfrm>
                <a:off x="1680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2" name="Rectangle 4"/>
              <p:cNvSpPr>
                <a:spLocks noChangeArrowheads="1"/>
              </p:cNvSpPr>
              <p:nvPr/>
            </p:nvSpPr>
            <p:spPr bwMode="auto">
              <a:xfrm>
                <a:off x="1872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3" name="Rectangle 5"/>
              <p:cNvSpPr>
                <a:spLocks noChangeArrowheads="1"/>
              </p:cNvSpPr>
              <p:nvPr/>
            </p:nvSpPr>
            <p:spPr bwMode="auto">
              <a:xfrm>
                <a:off x="2064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4" name="Rectangle 6"/>
              <p:cNvSpPr>
                <a:spLocks noChangeArrowheads="1"/>
              </p:cNvSpPr>
              <p:nvPr/>
            </p:nvSpPr>
            <p:spPr bwMode="auto">
              <a:xfrm>
                <a:off x="2160" y="3827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 flipV="1">
              <a:off x="3258066" y="51038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/>
            <p:nvPr/>
          </p:nvGrpSpPr>
          <p:grpSpPr bwMode="auto">
            <a:xfrm>
              <a:off x="2800866" y="4724400"/>
              <a:ext cx="1065213" cy="455612"/>
              <a:chOff x="1680" y="2963"/>
              <a:chExt cx="671" cy="287"/>
            </a:xfrm>
          </p:grpSpPr>
          <p:sp>
            <p:nvSpPr>
              <p:cNvPr id="12297" name="Rectangle 9"/>
              <p:cNvSpPr>
                <a:spLocks noChangeArrowheads="1"/>
              </p:cNvSpPr>
              <p:nvPr/>
            </p:nvSpPr>
            <p:spPr bwMode="auto">
              <a:xfrm>
                <a:off x="1680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8" name="Rectangle 10"/>
              <p:cNvSpPr>
                <a:spLocks noChangeArrowheads="1"/>
              </p:cNvSpPr>
              <p:nvPr/>
            </p:nvSpPr>
            <p:spPr bwMode="auto">
              <a:xfrm>
                <a:off x="1872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9" name="Rectangle 11"/>
              <p:cNvSpPr>
                <a:spLocks noChangeArrowheads="1"/>
              </p:cNvSpPr>
              <p:nvPr/>
            </p:nvSpPr>
            <p:spPr bwMode="auto">
              <a:xfrm>
                <a:off x="2064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0" name="Rectangle 12"/>
              <p:cNvSpPr>
                <a:spLocks noChangeArrowheads="1"/>
              </p:cNvSpPr>
              <p:nvPr/>
            </p:nvSpPr>
            <p:spPr bwMode="auto">
              <a:xfrm>
                <a:off x="2160" y="2963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>
              <a:off x="2953266" y="4953000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14"/>
            <p:cNvGrpSpPr/>
            <p:nvPr/>
          </p:nvGrpSpPr>
          <p:grpSpPr bwMode="auto">
            <a:xfrm>
              <a:off x="5239266" y="6096000"/>
              <a:ext cx="1065213" cy="455612"/>
              <a:chOff x="3216" y="3827"/>
              <a:chExt cx="671" cy="287"/>
            </a:xfrm>
          </p:grpSpPr>
          <p:sp>
            <p:nvSpPr>
              <p:cNvPr id="12303" name="Rectangle 15"/>
              <p:cNvSpPr>
                <a:spLocks noChangeArrowheads="1"/>
              </p:cNvSpPr>
              <p:nvPr/>
            </p:nvSpPr>
            <p:spPr bwMode="auto">
              <a:xfrm>
                <a:off x="3216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4" name="Rectangle 16"/>
              <p:cNvSpPr>
                <a:spLocks noChangeArrowheads="1"/>
              </p:cNvSpPr>
              <p:nvPr/>
            </p:nvSpPr>
            <p:spPr bwMode="auto">
              <a:xfrm>
                <a:off x="3408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5" name="Rectangle 17"/>
              <p:cNvSpPr>
                <a:spLocks noChangeArrowheads="1"/>
              </p:cNvSpPr>
              <p:nvPr/>
            </p:nvSpPr>
            <p:spPr bwMode="auto">
              <a:xfrm>
                <a:off x="3600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6" name="Rectangle 18"/>
              <p:cNvSpPr>
                <a:spLocks noChangeArrowheads="1"/>
              </p:cNvSpPr>
              <p:nvPr/>
            </p:nvSpPr>
            <p:spPr bwMode="auto">
              <a:xfrm>
                <a:off x="3696" y="3827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 flipV="1">
              <a:off x="5696466" y="51038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Rectangle 83"/>
            <p:cNvSpPr>
              <a:spLocks noChangeArrowheads="1"/>
            </p:cNvSpPr>
            <p:nvPr/>
          </p:nvSpPr>
          <p:spPr bwMode="auto">
            <a:xfrm>
              <a:off x="40200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2" name="Rectangle 84"/>
            <p:cNvSpPr>
              <a:spLocks noChangeArrowheads="1"/>
            </p:cNvSpPr>
            <p:nvPr/>
          </p:nvSpPr>
          <p:spPr bwMode="auto">
            <a:xfrm>
              <a:off x="4324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3" name="Rectangle 85"/>
            <p:cNvSpPr>
              <a:spLocks noChangeArrowheads="1"/>
            </p:cNvSpPr>
            <p:nvPr/>
          </p:nvSpPr>
          <p:spPr bwMode="auto">
            <a:xfrm>
              <a:off x="4629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4" name="Rectangle 86"/>
            <p:cNvSpPr>
              <a:spLocks noChangeArrowheads="1"/>
            </p:cNvSpPr>
            <p:nvPr/>
          </p:nvSpPr>
          <p:spPr bwMode="auto">
            <a:xfrm>
              <a:off x="49344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5" name="Rectangle 87"/>
            <p:cNvSpPr>
              <a:spLocks noChangeArrowheads="1"/>
            </p:cNvSpPr>
            <p:nvPr/>
          </p:nvSpPr>
          <p:spPr bwMode="auto">
            <a:xfrm>
              <a:off x="5848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6" name="Rectangle 88"/>
            <p:cNvSpPr>
              <a:spLocks noChangeArrowheads="1"/>
            </p:cNvSpPr>
            <p:nvPr/>
          </p:nvSpPr>
          <p:spPr bwMode="auto">
            <a:xfrm>
              <a:off x="6153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7" name="Rectangle 89"/>
            <p:cNvSpPr>
              <a:spLocks noChangeArrowheads="1"/>
            </p:cNvSpPr>
            <p:nvPr/>
          </p:nvSpPr>
          <p:spPr bwMode="auto">
            <a:xfrm>
              <a:off x="2800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8" name="Rectangle 90"/>
            <p:cNvSpPr>
              <a:spLocks noChangeArrowheads="1"/>
            </p:cNvSpPr>
            <p:nvPr/>
          </p:nvSpPr>
          <p:spPr bwMode="auto">
            <a:xfrm>
              <a:off x="3105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9" name="Rectangle 91"/>
            <p:cNvSpPr>
              <a:spLocks noChangeArrowheads="1"/>
            </p:cNvSpPr>
            <p:nvPr/>
          </p:nvSpPr>
          <p:spPr bwMode="auto">
            <a:xfrm>
              <a:off x="34104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0" name="Rectangle 92"/>
            <p:cNvSpPr>
              <a:spLocks noChangeArrowheads="1"/>
            </p:cNvSpPr>
            <p:nvPr/>
          </p:nvSpPr>
          <p:spPr bwMode="auto">
            <a:xfrm>
              <a:off x="37152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1" name="Oval 93"/>
            <p:cNvSpPr>
              <a:spLocks noChangeArrowheads="1"/>
            </p:cNvSpPr>
            <p:nvPr/>
          </p:nvSpPr>
          <p:spPr bwMode="auto">
            <a:xfrm>
              <a:off x="2877066" y="55626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2" name="Oval 94"/>
            <p:cNvSpPr>
              <a:spLocks noChangeArrowheads="1"/>
            </p:cNvSpPr>
            <p:nvPr/>
          </p:nvSpPr>
          <p:spPr bwMode="auto">
            <a:xfrm>
              <a:off x="2877066" y="48768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3" name="Oval 95"/>
            <p:cNvSpPr>
              <a:spLocks noChangeArrowheads="1"/>
            </p:cNvSpPr>
            <p:nvPr/>
          </p:nvSpPr>
          <p:spPr bwMode="auto">
            <a:xfrm flipV="1">
              <a:off x="3181866" y="62484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4" name="Rectangle 96"/>
            <p:cNvSpPr>
              <a:spLocks noChangeArrowheads="1"/>
            </p:cNvSpPr>
            <p:nvPr/>
          </p:nvSpPr>
          <p:spPr bwMode="auto">
            <a:xfrm>
              <a:off x="55440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97"/>
            <p:cNvGrpSpPr/>
            <p:nvPr/>
          </p:nvGrpSpPr>
          <p:grpSpPr bwMode="auto">
            <a:xfrm>
              <a:off x="5239266" y="4724400"/>
              <a:ext cx="1065213" cy="455612"/>
              <a:chOff x="3216" y="2963"/>
              <a:chExt cx="671" cy="287"/>
            </a:xfrm>
          </p:grpSpPr>
          <p:sp>
            <p:nvSpPr>
              <p:cNvPr id="12386" name="Rectangle 98"/>
              <p:cNvSpPr>
                <a:spLocks noChangeArrowheads="1"/>
              </p:cNvSpPr>
              <p:nvPr/>
            </p:nvSpPr>
            <p:spPr bwMode="auto">
              <a:xfrm>
                <a:off x="3216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87" name="Rectangle 99"/>
              <p:cNvSpPr>
                <a:spLocks noChangeArrowheads="1"/>
              </p:cNvSpPr>
              <p:nvPr/>
            </p:nvSpPr>
            <p:spPr bwMode="auto">
              <a:xfrm>
                <a:off x="3408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88" name="Rectangle 100"/>
              <p:cNvSpPr>
                <a:spLocks noChangeArrowheads="1"/>
              </p:cNvSpPr>
              <p:nvPr/>
            </p:nvSpPr>
            <p:spPr bwMode="auto">
              <a:xfrm>
                <a:off x="3600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89" name="Rectangle 101"/>
              <p:cNvSpPr>
                <a:spLocks noChangeArrowheads="1"/>
              </p:cNvSpPr>
              <p:nvPr/>
            </p:nvSpPr>
            <p:spPr bwMode="auto">
              <a:xfrm>
                <a:off x="3696" y="2963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0" name="Oval 102"/>
            <p:cNvSpPr>
              <a:spLocks noChangeArrowheads="1"/>
            </p:cNvSpPr>
            <p:nvPr/>
          </p:nvSpPr>
          <p:spPr bwMode="auto">
            <a:xfrm>
              <a:off x="5315466" y="48768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1" name="Line 103"/>
            <p:cNvSpPr>
              <a:spLocks noChangeShapeType="1"/>
            </p:cNvSpPr>
            <p:nvPr/>
          </p:nvSpPr>
          <p:spPr bwMode="auto">
            <a:xfrm>
              <a:off x="5391666" y="4953000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92" name="Oval 104"/>
            <p:cNvSpPr>
              <a:spLocks noChangeArrowheads="1"/>
            </p:cNvSpPr>
            <p:nvPr/>
          </p:nvSpPr>
          <p:spPr bwMode="auto">
            <a:xfrm flipV="1">
              <a:off x="5620266" y="62484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3" name="Rectangle 105"/>
            <p:cNvSpPr>
              <a:spLocks noChangeArrowheads="1"/>
            </p:cNvSpPr>
            <p:nvPr/>
          </p:nvSpPr>
          <p:spPr bwMode="auto">
            <a:xfrm>
              <a:off x="1200666" y="5486400"/>
              <a:ext cx="304800" cy="304800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106"/>
            <p:cNvGrpSpPr/>
            <p:nvPr/>
          </p:nvGrpSpPr>
          <p:grpSpPr bwMode="auto">
            <a:xfrm>
              <a:off x="7372866" y="5410200"/>
              <a:ext cx="1065213" cy="455612"/>
              <a:chOff x="4560" y="3395"/>
              <a:chExt cx="671" cy="287"/>
            </a:xfrm>
          </p:grpSpPr>
          <p:sp>
            <p:nvSpPr>
              <p:cNvPr id="12395" name="Rectangle 107"/>
              <p:cNvSpPr>
                <a:spLocks noChangeArrowheads="1"/>
              </p:cNvSpPr>
              <p:nvPr/>
            </p:nvSpPr>
            <p:spPr bwMode="auto">
              <a:xfrm>
                <a:off x="4560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6" name="Rectangle 108"/>
              <p:cNvSpPr>
                <a:spLocks noChangeArrowheads="1"/>
              </p:cNvSpPr>
              <p:nvPr/>
            </p:nvSpPr>
            <p:spPr bwMode="auto">
              <a:xfrm>
                <a:off x="4752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7" name="Rectangle 109"/>
              <p:cNvSpPr>
                <a:spLocks noChangeArrowheads="1"/>
              </p:cNvSpPr>
              <p:nvPr/>
            </p:nvSpPr>
            <p:spPr bwMode="auto">
              <a:xfrm>
                <a:off x="4944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8" name="Rectangle 110"/>
              <p:cNvSpPr>
                <a:spLocks noChangeArrowheads="1"/>
              </p:cNvSpPr>
              <p:nvPr/>
            </p:nvSpPr>
            <p:spPr bwMode="auto">
              <a:xfrm>
                <a:off x="5040" y="3395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9" name="Oval 111"/>
            <p:cNvSpPr>
              <a:spLocks noChangeArrowheads="1"/>
            </p:cNvSpPr>
            <p:nvPr/>
          </p:nvSpPr>
          <p:spPr bwMode="auto">
            <a:xfrm>
              <a:off x="7449066" y="55626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0" name="Line 112"/>
            <p:cNvSpPr>
              <a:spLocks noChangeShapeType="1"/>
            </p:cNvSpPr>
            <p:nvPr/>
          </p:nvSpPr>
          <p:spPr bwMode="auto">
            <a:xfrm>
              <a:off x="7525266" y="5638800"/>
              <a:ext cx="1588" cy="5334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Oval 113"/>
            <p:cNvSpPr>
              <a:spLocks noChangeArrowheads="1"/>
            </p:cNvSpPr>
            <p:nvPr/>
          </p:nvSpPr>
          <p:spPr bwMode="auto">
            <a:xfrm>
              <a:off x="7753866" y="55626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2" name="Line 114"/>
            <p:cNvSpPr>
              <a:spLocks noChangeShapeType="1"/>
            </p:cNvSpPr>
            <p:nvPr/>
          </p:nvSpPr>
          <p:spPr bwMode="auto">
            <a:xfrm>
              <a:off x="1429266" y="5638800"/>
              <a:ext cx="1371600" cy="1587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Rectangle 115"/>
            <p:cNvSpPr>
              <a:spLocks noChangeArrowheads="1"/>
            </p:cNvSpPr>
            <p:nvPr/>
          </p:nvSpPr>
          <p:spPr bwMode="auto">
            <a:xfrm>
              <a:off x="52392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4" name="Oval 116"/>
            <p:cNvSpPr>
              <a:spLocks noChangeArrowheads="1"/>
            </p:cNvSpPr>
            <p:nvPr/>
          </p:nvSpPr>
          <p:spPr bwMode="auto">
            <a:xfrm>
              <a:off x="3181866" y="5562600"/>
              <a:ext cx="152400" cy="152400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5" name="Freeform 117"/>
            <p:cNvSpPr/>
            <p:nvPr/>
          </p:nvSpPr>
          <p:spPr bwMode="auto">
            <a:xfrm>
              <a:off x="2953266" y="5292725"/>
              <a:ext cx="4419600" cy="346075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472" y="31"/>
                </a:cxn>
                <a:cxn ang="0">
                  <a:pos x="2109" y="31"/>
                </a:cxn>
                <a:cxn ang="0">
                  <a:pos x="2784" y="218"/>
                </a:cxn>
              </a:cxnLst>
              <a:rect l="0" t="0" r="r" b="b"/>
              <a:pathLst>
                <a:path w="2784" h="218">
                  <a:moveTo>
                    <a:pt x="0" y="218"/>
                  </a:moveTo>
                  <a:cubicBezTo>
                    <a:pt x="79" y="187"/>
                    <a:pt x="121" y="62"/>
                    <a:pt x="472" y="31"/>
                  </a:cubicBezTo>
                  <a:cubicBezTo>
                    <a:pt x="823" y="0"/>
                    <a:pt x="1724" y="0"/>
                    <a:pt x="2109" y="31"/>
                  </a:cubicBezTo>
                  <a:cubicBezTo>
                    <a:pt x="2494" y="62"/>
                    <a:pt x="2644" y="179"/>
                    <a:pt x="2784" y="218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6" name="Freeform 118"/>
            <p:cNvSpPr/>
            <p:nvPr/>
          </p:nvSpPr>
          <p:spPr bwMode="auto">
            <a:xfrm>
              <a:off x="6458466" y="5614987"/>
              <a:ext cx="1371600" cy="365125"/>
            </a:xfrm>
            <a:custGeom>
              <a:avLst/>
              <a:gdLst/>
              <a:ahLst/>
              <a:cxnLst>
                <a:cxn ang="0">
                  <a:pos x="864" y="15"/>
                </a:cxn>
                <a:cxn ang="0">
                  <a:pos x="745" y="227"/>
                </a:cxn>
                <a:cxn ang="0">
                  <a:pos x="210" y="35"/>
                </a:cxn>
                <a:cxn ang="0">
                  <a:pos x="0" y="15"/>
                </a:cxn>
              </a:cxnLst>
              <a:rect l="0" t="0" r="r" b="b"/>
              <a:pathLst>
                <a:path w="864" h="230">
                  <a:moveTo>
                    <a:pt x="864" y="15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9" name="Oval 121"/>
            <p:cNvSpPr>
              <a:spLocks noChangeArrowheads="1"/>
            </p:cNvSpPr>
            <p:nvPr/>
          </p:nvSpPr>
          <p:spPr bwMode="auto">
            <a:xfrm>
              <a:off x="2877066" y="62484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0" name="Oval 122"/>
            <p:cNvSpPr>
              <a:spLocks noChangeArrowheads="1"/>
            </p:cNvSpPr>
            <p:nvPr/>
          </p:nvSpPr>
          <p:spPr bwMode="auto">
            <a:xfrm>
              <a:off x="5315466" y="62484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1" name="Oval 123"/>
            <p:cNvSpPr>
              <a:spLocks noChangeArrowheads="1"/>
            </p:cNvSpPr>
            <p:nvPr/>
          </p:nvSpPr>
          <p:spPr bwMode="auto">
            <a:xfrm flipV="1">
              <a:off x="5620266" y="48768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3" name="Oval 125"/>
            <p:cNvSpPr>
              <a:spLocks noChangeArrowheads="1"/>
            </p:cNvSpPr>
            <p:nvPr/>
          </p:nvSpPr>
          <p:spPr bwMode="auto">
            <a:xfrm flipV="1">
              <a:off x="3181866" y="48768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6" name="Text Box 128"/>
            <p:cNvSpPr txBox="1">
              <a:spLocks noChangeArrowheads="1"/>
            </p:cNvSpPr>
            <p:nvPr/>
          </p:nvSpPr>
          <p:spPr bwMode="auto">
            <a:xfrm>
              <a:off x="438666" y="5435600"/>
              <a:ext cx="697692" cy="459068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dirty="0">
                  <a:latin typeface="Calibri" pitchFamily="34" charset="0"/>
                  <a:ea typeface="msgothic" charset="0"/>
                  <a:cs typeface="msgothic" charset="0"/>
                </a:rPr>
                <a:t>Root</a:t>
              </a:r>
              <a:endParaRPr lang="en-GB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</p:grpSp>
      <p:sp>
        <p:nvSpPr>
          <p:cNvPr id="136" name="Rectangle 5"/>
          <p:cNvSpPr>
            <a:spLocks noChangeArrowheads="1"/>
          </p:cNvSpPr>
          <p:nvPr/>
        </p:nvSpPr>
        <p:spPr bwMode="auto">
          <a:xfrm>
            <a:off x="5574313" y="1026712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" name="Rectangle 7"/>
          <p:cNvSpPr>
            <a:spLocks noChangeArrowheads="1"/>
          </p:cNvSpPr>
          <p:nvPr/>
        </p:nvSpPr>
        <p:spPr bwMode="auto">
          <a:xfrm>
            <a:off x="4495800" y="1025525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空闲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39" name="Rectangle 7"/>
          <p:cNvSpPr>
            <a:spLocks noChangeArrowheads="1"/>
          </p:cNvSpPr>
          <p:nvPr/>
        </p:nvSpPr>
        <p:spPr bwMode="auto">
          <a:xfrm>
            <a:off x="6717313" y="1025525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1600" dirty="0" smtClean="0">
                <a:latin typeface="Calibri" pitchFamily="34" charset="0"/>
              </a:rPr>
              <a:t>空闲</a:t>
            </a:r>
            <a:endParaRPr lang="en-GB" sz="1600" dirty="0">
              <a:latin typeface="Calibri" pitchFamily="34" charset="0"/>
            </a:endParaRPr>
          </a:p>
        </p:txBody>
      </p:sp>
      <p:sp>
        <p:nvSpPr>
          <p:cNvPr id="14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230630" y="228600"/>
            <a:ext cx="9284970" cy="782955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用</a:t>
            </a:r>
            <a:r>
              <a:rPr lang="en-US" altLang="zh-CN" dirty="0" smtClean="0"/>
              <a:t>LIFO</a:t>
            </a:r>
            <a:r>
              <a:rPr lang="zh-CN" altLang="en-US" dirty="0" smtClean="0"/>
              <a:t>策略释放（场景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前后</a:t>
            </a:r>
            <a:r>
              <a:rPr lang="zh-CN" altLang="en-US" dirty="0" smtClean="0"/>
              <a:t>合并</a:t>
            </a:r>
            <a:endParaRPr lang="zh-CN" altLang="en-US" dirty="0" smtClean="0"/>
          </a:p>
        </p:txBody>
      </p:sp>
      <p:sp>
        <p:nvSpPr>
          <p:cNvPr id="141" name="Text Box 55"/>
          <p:cNvSpPr txBox="1">
            <a:spLocks noChangeArrowheads="1"/>
          </p:cNvSpPr>
          <p:nvPr/>
        </p:nvSpPr>
        <p:spPr bwMode="auto">
          <a:xfrm>
            <a:off x="1920768" y="1530861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分配前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42" name="Text Box 56"/>
          <p:cNvSpPr txBox="1">
            <a:spLocks noChangeArrowheads="1"/>
          </p:cNvSpPr>
          <p:nvPr/>
        </p:nvSpPr>
        <p:spPr bwMode="auto">
          <a:xfrm>
            <a:off x="1956137" y="4907087"/>
            <a:ext cx="1015663" cy="426913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分配后</a:t>
            </a:r>
            <a:endParaRPr lang="en-GB" i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43" name="TextBox 61"/>
          <p:cNvSpPr txBox="1"/>
          <p:nvPr/>
        </p:nvSpPr>
        <p:spPr>
          <a:xfrm>
            <a:off x="8719572" y="11732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概念示意图</a:t>
            </a:r>
            <a:endParaRPr lang="en-US" sz="1800" b="0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一个建议：实现技巧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0876" y="3581401"/>
            <a:ext cx="8677940" cy="2752724"/>
          </a:xfrm>
        </p:spPr>
        <p:txBody>
          <a:bodyPr/>
          <a:lstStyle/>
          <a:p>
            <a:r>
              <a:rPr lang="zh-CN" altLang="en-US" dirty="0" smtClean="0"/>
              <a:t>使用循环双向链表</a:t>
            </a:r>
            <a:endParaRPr lang="en-US" dirty="0"/>
          </a:p>
          <a:p>
            <a:r>
              <a:rPr lang="zh-CN" altLang="en-US" dirty="0" smtClean="0"/>
              <a:t>用单一数据结构支持多种方法</a:t>
            </a:r>
            <a:endParaRPr lang="en-US" dirty="0"/>
          </a:p>
          <a:p>
            <a:r>
              <a:rPr lang="zh-CN" altLang="en-US" dirty="0" smtClean="0"/>
              <a:t>首次适配</a:t>
            </a:r>
            <a:r>
              <a:rPr lang="en-US" dirty="0" smtClean="0"/>
              <a:t> </a:t>
            </a:r>
            <a:r>
              <a:rPr lang="en-US" dirty="0"/>
              <a:t>vs. </a:t>
            </a:r>
            <a:r>
              <a:rPr lang="zh-CN" altLang="en-US" dirty="0" smtClean="0"/>
              <a:t>下一次适配</a:t>
            </a:r>
            <a:endParaRPr lang="en-US" dirty="0"/>
          </a:p>
          <a:p>
            <a:pPr lvl="1"/>
            <a:r>
              <a:rPr lang="zh-CN" altLang="en-US" dirty="0" smtClean="0"/>
              <a:t>要么保持空闲指针固定，要么随着搜索列表移动</a:t>
            </a:r>
            <a:endParaRPr lang="en-US" dirty="0"/>
          </a:p>
          <a:p>
            <a:r>
              <a:rPr lang="en-US" dirty="0"/>
              <a:t>LIFO vs. FIFO</a:t>
            </a:r>
            <a:endParaRPr lang="en-US" dirty="0"/>
          </a:p>
          <a:p>
            <a:pPr lvl="1"/>
            <a:r>
              <a:rPr lang="zh-CN" altLang="en-US" dirty="0" smtClean="0"/>
              <a:t>作为下一个内存块插入（</a:t>
            </a:r>
            <a:r>
              <a:rPr lang="en-US" altLang="zh-CN" dirty="0" smtClean="0"/>
              <a:t>LIFO</a:t>
            </a:r>
            <a:r>
              <a:rPr lang="zh-CN" altLang="en-US" dirty="0" smtClean="0"/>
              <a:t>），或者作为前一个内存块插入（</a:t>
            </a:r>
            <a:r>
              <a:rPr lang="en-US" altLang="zh-CN" dirty="0" smtClean="0"/>
              <a:t>FIFO</a:t>
            </a:r>
            <a:r>
              <a:rPr lang="zh-CN" altLang="en-US" dirty="0" smtClean="0"/>
              <a:t>）</a:t>
            </a:r>
            <a:endParaRPr lang="en-US" dirty="0"/>
          </a:p>
        </p:txBody>
      </p:sp>
      <p:sp>
        <p:nvSpPr>
          <p:cNvPr id="4" name="Line 1"/>
          <p:cNvSpPr>
            <a:spLocks noChangeShapeType="1"/>
          </p:cNvSpPr>
          <p:nvPr/>
        </p:nvSpPr>
        <p:spPr bwMode="auto">
          <a:xfrm>
            <a:off x="4800600" y="2057399"/>
            <a:ext cx="4572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6096000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6094414" y="2209801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4799014" y="2209801"/>
            <a:ext cx="4603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2"/>
          <p:cNvSpPr>
            <a:spLocks noChangeShapeType="1"/>
          </p:cNvSpPr>
          <p:nvPr/>
        </p:nvSpPr>
        <p:spPr bwMode="auto">
          <a:xfrm>
            <a:off x="7316788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H="1">
            <a:off x="7315202" y="2209801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 flipH="1">
            <a:off x="8535990" y="2209801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Rounded Rectangle 23"/>
          <p:cNvSpPr/>
          <p:nvPr/>
        </p:nvSpPr>
        <p:spPr bwMode="auto">
          <a:xfrm>
            <a:off x="3429000" y="1600200"/>
            <a:ext cx="5638800" cy="457200"/>
          </a:xfrm>
          <a:prstGeom prst="roundRect">
            <a:avLst/>
          </a:prstGeom>
          <a:noFill/>
          <a:ln w="25400" cap="flat" cmpd="sng" algn="ctr">
            <a:solidFill>
              <a:srgbClr val="00AC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5" name="Rounded Rectangle 24"/>
          <p:cNvSpPr/>
          <p:nvPr/>
        </p:nvSpPr>
        <p:spPr bwMode="auto">
          <a:xfrm>
            <a:off x="3429000" y="2209800"/>
            <a:ext cx="5638800" cy="457200"/>
          </a:xfrm>
          <a:prstGeom prst="roundRect">
            <a:avLst/>
          </a:prstGeom>
          <a:noFill/>
          <a:ln w="25400" cap="flat" cmpd="sng" algn="ctr">
            <a:solidFill>
              <a:srgbClr val="AC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9624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A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2578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B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478588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C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699376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D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 flipV="1">
            <a:off x="5565774" y="2286002"/>
            <a:ext cx="0" cy="533399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 flipV="1">
            <a:off x="2743200" y="2819400"/>
            <a:ext cx="2822574" cy="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 type="none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728953" y="2527012"/>
            <a:ext cx="1011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600" dirty="0" smtClean="0">
                <a:latin typeface="Calibri" pitchFamily="34" charset="0"/>
              </a:rPr>
              <a:t>空闲指针</a:t>
            </a:r>
            <a:endParaRPr lang="en-US" sz="1600" dirty="0">
              <a:latin typeface="Calibr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600201" y="1219200"/>
            <a:ext cx="3545555" cy="1143000"/>
            <a:chOff x="76200" y="1219200"/>
            <a:chExt cx="3545555" cy="1143000"/>
          </a:xfrm>
        </p:grpSpPr>
        <p:sp>
          <p:nvSpPr>
            <p:cNvPr id="30" name="Oval 29"/>
            <p:cNvSpPr/>
            <p:nvPr/>
          </p:nvSpPr>
          <p:spPr bwMode="auto">
            <a:xfrm>
              <a:off x="3469355" y="1905000"/>
              <a:ext cx="152400" cy="457200"/>
            </a:xfrm>
            <a:prstGeom prst="ellipse">
              <a:avLst/>
            </a:prstGeom>
            <a:noFill/>
            <a:ln w="2857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solidFill>
                  <a:schemeClr val="bg2">
                    <a:lumMod val="75000"/>
                  </a:schemeClr>
                </a:solidFill>
                <a:latin typeface="+mn-lt"/>
              </a:endParaRPr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1676400" y="1523999"/>
              <a:ext cx="1792955" cy="457201"/>
            </a:xfrm>
            <a:prstGeom prst="line">
              <a:avLst/>
            </a:prstGeom>
            <a:noFill/>
            <a:ln w="25560">
              <a:solidFill>
                <a:schemeClr val="bg2">
                  <a:lumMod val="75000"/>
                </a:schemeClr>
              </a:solidFill>
              <a:miter lim="800000"/>
              <a:headEnd type="none"/>
              <a:tailEnd type="none" w="med" len="med"/>
            </a:ln>
            <a:effectLst/>
          </p:spPr>
          <p:txBody>
            <a:bodyPr/>
            <a:lstStyle/>
            <a:p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200" y="1219200"/>
              <a:ext cx="16002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bg2">
                      <a:lumMod val="75000"/>
                    </a:schemeClr>
                  </a:solidFill>
                  <a:latin typeface="Calibri" pitchFamily="34" charset="0"/>
                </a:rPr>
                <a:t>FIFO </a:t>
              </a:r>
              <a:r>
                <a:rPr lang="zh-CN" altLang="en-US" sz="1800" dirty="0" smtClean="0">
                  <a:solidFill>
                    <a:schemeClr val="bg2">
                      <a:lumMod val="75000"/>
                    </a:schemeClr>
                  </a:solidFill>
                  <a:latin typeface="Calibri" pitchFamily="34" charset="0"/>
                </a:rPr>
                <a:t>插入点</a:t>
              </a:r>
              <a:endParaRPr lang="en-US" sz="1800" dirty="0">
                <a:solidFill>
                  <a:schemeClr val="bg2">
                    <a:lumMod val="75000"/>
                  </a:schemeClr>
                </a:solidFill>
                <a:latin typeface="Calibri" pitchFamily="34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172201" y="972236"/>
            <a:ext cx="3200399" cy="1389965"/>
            <a:chOff x="4648200" y="972235"/>
            <a:chExt cx="3200399" cy="1389965"/>
          </a:xfrm>
        </p:grpSpPr>
        <p:sp>
          <p:nvSpPr>
            <p:cNvPr id="6" name="Oval 5"/>
            <p:cNvSpPr/>
            <p:nvPr/>
          </p:nvSpPr>
          <p:spPr bwMode="auto">
            <a:xfrm>
              <a:off x="4648200" y="1905000"/>
              <a:ext cx="152400" cy="457200"/>
            </a:xfrm>
            <a:prstGeom prst="ellipse">
              <a:avLst/>
            </a:prstGeom>
            <a:noFill/>
            <a:ln w="2857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4800599" y="1295401"/>
              <a:ext cx="1447800" cy="685799"/>
            </a:xfrm>
            <a:prstGeom prst="line">
              <a:avLst/>
            </a:prstGeom>
            <a:noFill/>
            <a:ln w="25560">
              <a:solidFill>
                <a:schemeClr val="bg2">
                  <a:lumMod val="75000"/>
                </a:schemeClr>
              </a:solidFill>
              <a:miter lim="800000"/>
              <a:headEnd type="none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48399" y="972235"/>
              <a:ext cx="16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606060"/>
                  </a:solidFill>
                  <a:latin typeface="Calibri" pitchFamily="34" charset="0"/>
                </a:rPr>
                <a:t>LIFO </a:t>
              </a:r>
              <a:r>
                <a:rPr lang="zh-CN" altLang="en-US" sz="1800" dirty="0" smtClean="0">
                  <a:solidFill>
                    <a:srgbClr val="606060"/>
                  </a:solidFill>
                  <a:latin typeface="Calibri" pitchFamily="34" charset="0"/>
                </a:rPr>
                <a:t>插入点</a:t>
              </a:r>
              <a:endParaRPr lang="en-US" sz="1800" dirty="0">
                <a:solidFill>
                  <a:srgbClr val="606060"/>
                </a:solidFill>
                <a:latin typeface="Calibri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178427" y="2286000"/>
            <a:ext cx="4144787" cy="825788"/>
            <a:chOff x="3654426" y="2286000"/>
            <a:chExt cx="4144787" cy="825788"/>
          </a:xfrm>
        </p:grpSpPr>
        <p:grpSp>
          <p:nvGrpSpPr>
            <p:cNvPr id="16" name="Group 15"/>
            <p:cNvGrpSpPr/>
            <p:nvPr/>
          </p:nvGrpSpPr>
          <p:grpSpPr>
            <a:xfrm>
              <a:off x="3654426" y="2286000"/>
              <a:ext cx="2822574" cy="533399"/>
              <a:chOff x="3654426" y="2286000"/>
              <a:chExt cx="2822574" cy="533399"/>
            </a:xfrm>
          </p:grpSpPr>
          <p:sp>
            <p:nvSpPr>
              <p:cNvPr id="21" name="Line 10"/>
              <p:cNvSpPr>
                <a:spLocks noChangeShapeType="1"/>
              </p:cNvSpPr>
              <p:nvPr/>
            </p:nvSpPr>
            <p:spPr bwMode="auto">
              <a:xfrm flipH="1" flipV="1">
                <a:off x="6477000" y="2286000"/>
                <a:ext cx="0" cy="533399"/>
              </a:xfrm>
              <a:prstGeom prst="line">
                <a:avLst/>
              </a:prstGeom>
              <a:noFill/>
              <a:ln w="25560">
                <a:solidFill>
                  <a:schemeClr val="bg2">
                    <a:lumMod val="75000"/>
                  </a:schemeClr>
                </a:solidFill>
                <a:prstDash val="sysDash"/>
                <a:miter lim="800000"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10"/>
              <p:cNvSpPr>
                <a:spLocks noChangeShapeType="1"/>
              </p:cNvSpPr>
              <p:nvPr/>
            </p:nvSpPr>
            <p:spPr bwMode="auto">
              <a:xfrm flipV="1">
                <a:off x="3654426" y="2819399"/>
                <a:ext cx="2822574" cy="0"/>
              </a:xfrm>
              <a:prstGeom prst="line">
                <a:avLst/>
              </a:prstGeom>
              <a:noFill/>
              <a:ln w="25560">
                <a:solidFill>
                  <a:schemeClr val="bg2">
                    <a:lumMod val="75000"/>
                  </a:schemeClr>
                </a:solidFill>
                <a:prstDash val="sysDash"/>
                <a:miter lim="800000"/>
                <a:headEnd type="none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6452369" y="2742456"/>
              <a:ext cx="1346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dirty="0" smtClean="0">
                  <a:solidFill>
                    <a:srgbClr val="606060"/>
                  </a:solidFill>
                  <a:latin typeface="Calibri" pitchFamily="34" charset="0"/>
                </a:rPr>
                <a:t>下一个适配</a:t>
              </a:r>
              <a:endParaRPr lang="en-US" sz="1800" dirty="0">
                <a:solidFill>
                  <a:srgbClr val="606060"/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41500" y="493714"/>
            <a:ext cx="6540500" cy="573087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显式列表总结</a:t>
            </a:r>
            <a:endParaRPr lang="en-GB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59081" y="1220789"/>
            <a:ext cx="8307387" cy="5475287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与隐式列表相比：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分配的时间复杂度与</a:t>
            </a:r>
            <a:r>
              <a:rPr lang="zh-CN" altLang="en-US" b="1" i="1" dirty="0" smtClean="0">
                <a:solidFill>
                  <a:srgbClr val="C00000"/>
                </a:solidFill>
              </a:rPr>
              <a:t>空闲</a:t>
            </a:r>
            <a:r>
              <a:rPr lang="en-GB" dirty="0" smtClean="0"/>
              <a:t> </a:t>
            </a:r>
            <a:r>
              <a:rPr lang="zh-CN" altLang="en-US" dirty="0" smtClean="0"/>
              <a:t>内存块而非</a:t>
            </a:r>
            <a:r>
              <a:rPr lang="zh-CN" altLang="en-US" b="1" i="1" dirty="0">
                <a:solidFill>
                  <a:srgbClr val="C00000"/>
                </a:solidFill>
              </a:rPr>
              <a:t>所有</a:t>
            </a:r>
            <a:r>
              <a:rPr lang="en-GB" altLang="zh-CN" dirty="0"/>
              <a:t> </a:t>
            </a:r>
            <a:r>
              <a:rPr lang="zh-CN" altLang="en-US" dirty="0"/>
              <a:t>内存</a:t>
            </a:r>
            <a:r>
              <a:rPr lang="zh-CN" altLang="en-US" dirty="0" smtClean="0"/>
              <a:t>块数量成线性关</a:t>
            </a:r>
            <a:r>
              <a:rPr lang="en-GB" dirty="0" smtClean="0"/>
              <a:t> 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分配与释放略复杂</a:t>
            </a:r>
            <a:endParaRPr lang="en-GB" dirty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需要把内存块插入或移出列表</a:t>
            </a:r>
            <a:endParaRPr lang="en-GB" dirty="0"/>
          </a:p>
          <a:p>
            <a:pPr lvl="1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链接需要额外的空间（每个内存块都需要两个附加字）</a:t>
            </a:r>
            <a:endParaRPr lang="en-GB" dirty="0"/>
          </a:p>
          <a:p>
            <a:pPr lvl="2"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这会增加内部碎片吗？</a:t>
            </a: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显式空闲列表</a:t>
            </a:r>
            <a:r>
              <a:rPr lang="en-US" dirty="0"/>
              <a:t>	</a:t>
            </a:r>
            <a:endParaRPr lang="en-US" dirty="0"/>
          </a:p>
          <a:p>
            <a:r>
              <a:rPr lang="zh-CN" altLang="en-US" dirty="0" smtClean="0"/>
              <a:t>分离式空</a:t>
            </a:r>
            <a:r>
              <a:rPr lang="zh-CN" altLang="en-US" dirty="0" smtClean="0"/>
              <a:t>闲列表</a:t>
            </a:r>
            <a:endParaRPr lang="en-US" dirty="0"/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内存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相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关的风险与陷阱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493714"/>
            <a:ext cx="8229600" cy="573087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列表分割（</a:t>
            </a:r>
            <a:r>
              <a:rPr lang="en-GB" dirty="0" err="1" smtClean="0"/>
              <a:t>Seglist</a:t>
            </a:r>
            <a:r>
              <a:rPr lang="zh-CN" altLang="en-US" dirty="0" smtClean="0"/>
              <a:t>）分配器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221105"/>
                <a:ext cx="9378315" cy="5255895"/>
              </a:xfrm>
            </p:spPr>
            <p:txBody>
              <a:bodyPr/>
              <a:lstStyle/>
              <a:p>
                <a:pPr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 smtClean="0"/>
                  <a:t>有若干空闲列表，每个都有一个内存块</a:t>
                </a:r>
                <a:r>
                  <a:rPr lang="zh-CN" altLang="en-US" i="1" dirty="0">
                    <a:solidFill>
                      <a:srgbClr val="C00000"/>
                    </a:solidFill>
                  </a:rPr>
                  <a:t>大小类</a:t>
                </a:r>
                <a:r>
                  <a:rPr lang="zh-CN" altLang="en-US" dirty="0" smtClean="0"/>
                  <a:t>（</a:t>
                </a:r>
                <a:r>
                  <a:rPr lang="en-GB" altLang="zh-CN" i="1" dirty="0">
                    <a:solidFill>
                      <a:srgbClr val="C00000"/>
                    </a:solidFill>
                  </a:rPr>
                  <a:t>size class</a:t>
                </a:r>
                <a:r>
                  <a:rPr lang="en-GB" altLang="zh-CN" dirty="0">
                    <a:solidFill>
                      <a:srgbClr val="C00000"/>
                    </a:solidFill>
                  </a:rPr>
                  <a:t> </a:t>
                </a:r>
                <a:r>
                  <a:rPr lang="zh-CN" altLang="en-US" dirty="0" smtClean="0"/>
                  <a:t>）</a:t>
                </a: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endParaRPr lang="en-GB" dirty="0"/>
              </a:p>
              <a:p>
                <a:pPr marL="0" indent="0">
                  <a:lnSpc>
                    <a:spcPct val="95000"/>
                  </a:lnSpc>
                  <a:buNone/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/>
                  <a:t>设计决</a:t>
                </a:r>
                <a:r>
                  <a:rPr lang="zh-CN" altLang="en-US" dirty="0" smtClean="0"/>
                  <a:t>策决定哪个内存块属于哪个大小类</a:t>
                </a:r>
                <a:endParaRPr lang="en-GB" dirty="0"/>
              </a:p>
              <a:p>
                <a:pPr lvl="1"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 smtClean="0"/>
                  <a:t>可能对利用率和吞吐量都有很大的影响</a:t>
                </a:r>
                <a:endParaRPr lang="en-GB" dirty="0"/>
              </a:p>
              <a:p>
                <a:pPr lvl="1"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 smtClean="0"/>
                  <a:t>通常的选择包括：</a:t>
                </a:r>
                <a:endParaRPr lang="en-GB" dirty="0"/>
              </a:p>
              <a:p>
                <a:pPr lvl="1"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 smtClean="0"/>
                  <a:t>每个小尺寸一个类（</a:t>
                </a:r>
                <a:r>
                  <a:rPr lang="en-GB" dirty="0" smtClean="0"/>
                  <a:t>16</a:t>
                </a:r>
                <a:r>
                  <a:rPr lang="en-GB" dirty="0"/>
                  <a:t>, 32, 48, 64, </a:t>
                </a:r>
                <a:r>
                  <a:rPr lang="en-GB" dirty="0" smtClean="0"/>
                  <a:t>…</a:t>
                </a:r>
                <a:r>
                  <a:rPr lang="zh-CN" altLang="en-US" dirty="0" smtClean="0"/>
                  <a:t>）</a:t>
                </a:r>
                <a:endParaRPr lang="en-GB" dirty="0"/>
              </a:p>
              <a:p>
                <a:pPr lvl="1"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 smtClean="0"/>
                  <a:t>某些时候使用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的幂：</a:t>
                </a:r>
                <a:r>
                  <a:rPr lang="en-GB" dirty="0" smtClean="0"/>
                  <a:t> </a:t>
                </a:r>
                <a:r>
                  <a:rPr lang="en-GB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dirty="0"/>
                  <a:t>]</a:t>
                </a: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i="1" dirty="0" smtClean="0"/>
                  <a:t>最大</a:t>
                </a:r>
                <a:r>
                  <a:rPr lang="en-GB" dirty="0" smtClean="0"/>
                  <a:t> </a:t>
                </a:r>
                <a:r>
                  <a:rPr lang="zh-CN" altLang="en-US" dirty="0" smtClean="0"/>
                  <a:t>内存块列表必须没有上限</a:t>
                </a:r>
                <a:endParaRPr lang="en-GB" dirty="0"/>
              </a:p>
              <a:p>
                <a:pPr lvl="1">
                  <a:lnSpc>
                    <a:spcPct val="95000"/>
                  </a:lnSpc>
                  <a:tabLst>
                    <a:tab pos="318770" algn="l"/>
                    <a:tab pos="845820" algn="l"/>
                    <a:tab pos="1760220" algn="l"/>
                    <a:tab pos="2674620" algn="l"/>
                    <a:tab pos="3589020" algn="l"/>
                    <a:tab pos="4503420" algn="l"/>
                    <a:tab pos="5417820" algn="l"/>
                    <a:tab pos="6332220" algn="l"/>
                    <a:tab pos="7246620" algn="l"/>
                    <a:tab pos="8161020" algn="l"/>
                    <a:tab pos="9075420" algn="l"/>
                    <a:tab pos="9989820" algn="l"/>
                  </a:tabLst>
                </a:pPr>
                <a:r>
                  <a:rPr lang="zh-CN" altLang="en-US" dirty="0" smtClean="0"/>
                  <a:t>（上限为</a:t>
                </a:r>
                <a:r>
                  <a:rPr lang="en-GB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zh-CN" altLang="en-US" dirty="0" smtClean="0"/>
                  <a:t>）</a:t>
                </a:r>
                <a:endParaRPr lang="en-GB" dirty="0"/>
              </a:p>
            </p:txBody>
          </p:sp>
        </mc:Choice>
        <mc:Fallback>
          <p:sp>
            <p:nvSpPr>
              <p:cNvPr id="15362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221105"/>
                <a:ext cx="9378315" cy="525589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9718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2766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8862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41910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48006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51054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57150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60198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Rectangle 23"/>
          <p:cNvSpPr>
            <a:spLocks noChangeArrowheads="1"/>
          </p:cNvSpPr>
          <p:nvPr/>
        </p:nvSpPr>
        <p:spPr bwMode="auto">
          <a:xfrm>
            <a:off x="29718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Rectangle 24"/>
          <p:cNvSpPr>
            <a:spLocks noChangeArrowheads="1"/>
          </p:cNvSpPr>
          <p:nvPr/>
        </p:nvSpPr>
        <p:spPr bwMode="auto">
          <a:xfrm>
            <a:off x="32766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Rectangle 25"/>
          <p:cNvSpPr>
            <a:spLocks noChangeArrowheads="1"/>
          </p:cNvSpPr>
          <p:nvPr/>
        </p:nvSpPr>
        <p:spPr bwMode="auto">
          <a:xfrm>
            <a:off x="35814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Rectangle 26"/>
          <p:cNvSpPr>
            <a:spLocks noChangeArrowheads="1"/>
          </p:cNvSpPr>
          <p:nvPr/>
        </p:nvSpPr>
        <p:spPr bwMode="auto">
          <a:xfrm>
            <a:off x="38862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Rectangle 27"/>
          <p:cNvSpPr>
            <a:spLocks noChangeArrowheads="1"/>
          </p:cNvSpPr>
          <p:nvPr/>
        </p:nvSpPr>
        <p:spPr bwMode="auto">
          <a:xfrm>
            <a:off x="44958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Rectangle 28"/>
          <p:cNvSpPr>
            <a:spLocks noChangeArrowheads="1"/>
          </p:cNvSpPr>
          <p:nvPr/>
        </p:nvSpPr>
        <p:spPr bwMode="auto">
          <a:xfrm>
            <a:off x="48006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51054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Rectangle 30"/>
          <p:cNvSpPr>
            <a:spLocks noChangeArrowheads="1"/>
          </p:cNvSpPr>
          <p:nvPr/>
        </p:nvSpPr>
        <p:spPr bwMode="auto">
          <a:xfrm>
            <a:off x="54102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5" name="Rectangle 35"/>
          <p:cNvSpPr>
            <a:spLocks noChangeArrowheads="1"/>
          </p:cNvSpPr>
          <p:nvPr/>
        </p:nvSpPr>
        <p:spPr bwMode="auto">
          <a:xfrm>
            <a:off x="29718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Rectangle 36"/>
          <p:cNvSpPr>
            <a:spLocks noChangeArrowheads="1"/>
          </p:cNvSpPr>
          <p:nvPr/>
        </p:nvSpPr>
        <p:spPr bwMode="auto">
          <a:xfrm>
            <a:off x="32766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Rectangle 37"/>
          <p:cNvSpPr>
            <a:spLocks noChangeArrowheads="1"/>
          </p:cNvSpPr>
          <p:nvPr/>
        </p:nvSpPr>
        <p:spPr bwMode="auto">
          <a:xfrm>
            <a:off x="35814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8" name="Rectangle 38"/>
          <p:cNvSpPr>
            <a:spLocks noChangeArrowheads="1"/>
          </p:cNvSpPr>
          <p:nvPr/>
        </p:nvSpPr>
        <p:spPr bwMode="auto">
          <a:xfrm>
            <a:off x="38862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Rectangle 39"/>
          <p:cNvSpPr>
            <a:spLocks noChangeArrowheads="1"/>
          </p:cNvSpPr>
          <p:nvPr/>
        </p:nvSpPr>
        <p:spPr bwMode="auto">
          <a:xfrm>
            <a:off x="41910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Rectangle 40"/>
          <p:cNvSpPr>
            <a:spLocks noChangeArrowheads="1"/>
          </p:cNvSpPr>
          <p:nvPr/>
        </p:nvSpPr>
        <p:spPr bwMode="auto">
          <a:xfrm>
            <a:off x="44958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1" name="Rectangle 41"/>
          <p:cNvSpPr>
            <a:spLocks noChangeArrowheads="1"/>
          </p:cNvSpPr>
          <p:nvPr/>
        </p:nvSpPr>
        <p:spPr bwMode="auto">
          <a:xfrm>
            <a:off x="48006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Rectangle 42"/>
          <p:cNvSpPr>
            <a:spLocks noChangeArrowheads="1"/>
          </p:cNvSpPr>
          <p:nvPr/>
        </p:nvSpPr>
        <p:spPr bwMode="auto">
          <a:xfrm>
            <a:off x="5105400" y="3063008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8" name="Text Box 68"/>
          <p:cNvSpPr txBox="1">
            <a:spLocks noChangeArrowheads="1"/>
          </p:cNvSpPr>
          <p:nvPr/>
        </p:nvSpPr>
        <p:spPr bwMode="auto">
          <a:xfrm>
            <a:off x="2286000" y="1949451"/>
            <a:ext cx="390148" cy="34073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16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5430" name="Text Box 70"/>
          <p:cNvSpPr txBox="1">
            <a:spLocks noChangeArrowheads="1"/>
          </p:cNvSpPr>
          <p:nvPr/>
        </p:nvSpPr>
        <p:spPr bwMode="auto">
          <a:xfrm>
            <a:off x="2286000" y="2496633"/>
            <a:ext cx="661056" cy="34073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32-48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5431" name="Text Box 71"/>
          <p:cNvSpPr txBox="1">
            <a:spLocks noChangeArrowheads="1"/>
          </p:cNvSpPr>
          <p:nvPr/>
        </p:nvSpPr>
        <p:spPr bwMode="auto">
          <a:xfrm>
            <a:off x="2286000" y="3048001"/>
            <a:ext cx="717674" cy="34073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64–</a:t>
            </a:r>
            <a:r>
              <a:rPr lang="en-GB" sz="1600" dirty="0" err="1">
                <a:latin typeface="Calibri" pitchFamily="34" charset="0"/>
                <a:ea typeface="msgothic" charset="0"/>
                <a:cs typeface="msgothic" charset="0"/>
              </a:rPr>
              <a:t>inf</a:t>
            </a:r>
            <a:endParaRPr lang="en-GB" sz="1600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5433" name="Line 73"/>
          <p:cNvSpPr>
            <a:spLocks noChangeShapeType="1"/>
          </p:cNvSpPr>
          <p:nvPr/>
        </p:nvSpPr>
        <p:spPr bwMode="auto">
          <a:xfrm>
            <a:off x="3581400" y="211354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8" name="Rectangle 88"/>
          <p:cNvSpPr>
            <a:spLocks noChangeArrowheads="1"/>
          </p:cNvSpPr>
          <p:nvPr/>
        </p:nvSpPr>
        <p:spPr bwMode="auto">
          <a:xfrm>
            <a:off x="1981200" y="5410200"/>
            <a:ext cx="8534400" cy="1295400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lIns="90360" tIns="44280" rIns="90360" bIns="44280"/>
          <a:lstStyle/>
          <a:p>
            <a:pPr marL="742950" lvl="1" indent="-246380" eaLnBrk="1" hangingPunct="1">
              <a:spcBef>
                <a:spcPts val="625"/>
              </a:spcBef>
              <a:buClr>
                <a:srgbClr val="660033"/>
              </a:buClr>
              <a:buSzPct val="75000"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</a:pPr>
            <a:endParaRPr lang="en-GB" sz="2000" dirty="0">
              <a:solidFill>
                <a:srgbClr val="000066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90" name="Line 73"/>
          <p:cNvSpPr>
            <a:spLocks noChangeShapeType="1"/>
          </p:cNvSpPr>
          <p:nvPr/>
        </p:nvSpPr>
        <p:spPr bwMode="auto">
          <a:xfrm>
            <a:off x="4495800" y="2103871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1" name="Line 73"/>
          <p:cNvSpPr>
            <a:spLocks noChangeShapeType="1"/>
          </p:cNvSpPr>
          <p:nvPr/>
        </p:nvSpPr>
        <p:spPr bwMode="auto">
          <a:xfrm>
            <a:off x="5410200" y="2094202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" name="Line 73"/>
          <p:cNvSpPr>
            <a:spLocks noChangeShapeType="1"/>
          </p:cNvSpPr>
          <p:nvPr/>
        </p:nvSpPr>
        <p:spPr bwMode="auto">
          <a:xfrm>
            <a:off x="6324600" y="2084533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3" name="Line 73"/>
          <p:cNvSpPr>
            <a:spLocks noChangeShapeType="1"/>
          </p:cNvSpPr>
          <p:nvPr/>
        </p:nvSpPr>
        <p:spPr bwMode="auto">
          <a:xfrm>
            <a:off x="4191000" y="2639437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4" name="Line 73"/>
          <p:cNvSpPr>
            <a:spLocks noChangeShapeType="1"/>
          </p:cNvSpPr>
          <p:nvPr/>
        </p:nvSpPr>
        <p:spPr bwMode="auto">
          <a:xfrm>
            <a:off x="6324600" y="265156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5" name="Rectangle 30"/>
          <p:cNvSpPr>
            <a:spLocks noChangeArrowheads="1"/>
          </p:cNvSpPr>
          <p:nvPr/>
        </p:nvSpPr>
        <p:spPr bwMode="auto">
          <a:xfrm>
            <a:off x="57150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Rectangle 30"/>
          <p:cNvSpPr>
            <a:spLocks noChangeArrowheads="1"/>
          </p:cNvSpPr>
          <p:nvPr/>
        </p:nvSpPr>
        <p:spPr bwMode="auto">
          <a:xfrm>
            <a:off x="6019800" y="249454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Rectangle 23"/>
          <p:cNvSpPr>
            <a:spLocks noChangeArrowheads="1"/>
          </p:cNvSpPr>
          <p:nvPr/>
        </p:nvSpPr>
        <p:spPr bwMode="auto">
          <a:xfrm>
            <a:off x="6629400" y="2493782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8" name="Rectangle 24"/>
          <p:cNvSpPr>
            <a:spLocks noChangeArrowheads="1"/>
          </p:cNvSpPr>
          <p:nvPr/>
        </p:nvSpPr>
        <p:spPr bwMode="auto">
          <a:xfrm>
            <a:off x="6934200" y="2493782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Rectangle 25"/>
          <p:cNvSpPr>
            <a:spLocks noChangeArrowheads="1"/>
          </p:cNvSpPr>
          <p:nvPr/>
        </p:nvSpPr>
        <p:spPr bwMode="auto">
          <a:xfrm>
            <a:off x="7239000" y="2493782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Rectangle 26"/>
          <p:cNvSpPr>
            <a:spLocks noChangeArrowheads="1"/>
          </p:cNvSpPr>
          <p:nvPr/>
        </p:nvSpPr>
        <p:spPr bwMode="auto">
          <a:xfrm>
            <a:off x="7543800" y="2493782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Line 73"/>
          <p:cNvSpPr>
            <a:spLocks noChangeShapeType="1"/>
          </p:cNvSpPr>
          <p:nvPr/>
        </p:nvSpPr>
        <p:spPr bwMode="auto">
          <a:xfrm>
            <a:off x="7848600" y="2637129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" name="Line 73"/>
          <p:cNvSpPr>
            <a:spLocks noChangeShapeType="1"/>
          </p:cNvSpPr>
          <p:nvPr/>
        </p:nvSpPr>
        <p:spPr bwMode="auto">
          <a:xfrm>
            <a:off x="5410200" y="3215408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381000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/>
              <a:t>Seglist</a:t>
            </a:r>
            <a:r>
              <a:rPr lang="zh-CN" altLang="en-US" dirty="0" smtClean="0"/>
              <a:t>分配器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6" name="Rectangle 2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/>
                  <a:t>给定一个空闲列表数组，每个列表对应一个大小类</a:t>
                </a:r>
                <a:endParaRPr lang="en-GB"/>
              </a:p>
              <a:p>
                <a:endParaRPr lang="en-GB"/>
              </a:p>
              <a:p>
                <a:r>
                  <a:rPr lang="zh-CN" altLang="en-US"/>
                  <a:t>分配一个大小为</a:t>
                </a:r>
                <a:r>
                  <a:rPr lang="en-US" altLang="zh-CN"/>
                  <a:t>n</a:t>
                </a:r>
                <a:r>
                  <a:rPr lang="zh-CN" altLang="en-US"/>
                  <a:t>的内存块：</a:t>
                </a:r>
                <a:endParaRPr lang="en-GB"/>
              </a:p>
              <a:p>
                <a:pPr lvl="1"/>
                <a:r>
                  <a:rPr lang="zh-CN" altLang="en-US"/>
                  <a:t>搜索适合大小为 </a:t>
                </a:r>
                <a14:m>
                  <m:oMath xmlns:m="http://schemas.openxmlformats.org/officeDocument/2006/math">
                    <m:r>
                      <a:rPr lang="en-GB" altLang="zh-CN">
                        <a:latin typeface="DejaVu Math TeX Gyre" panose="02000503000000000000" charset="0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>
                        <a:latin typeface="DejaVu Math TeX Gyre" panose="02000503000000000000" charset="0"/>
                        <a:ea typeface="SimSun" charset="0"/>
                        <a:cs typeface="DejaVu Math TeX Gyre" panose="02000503000000000000" charset="0"/>
                      </a:rPr>
                      <m:t>≥</m:t>
                    </m:r>
                    <m:r>
                      <a:rPr lang="en-GB" altLang="zh-CN">
                        <a:latin typeface="DejaVu Math TeX Gyre" panose="02000503000000000000" charset="0"/>
                        <a:cs typeface="DejaVu Math TeX Gyre" panose="02000503000000000000" charset="0"/>
                      </a:rPr>
                      <m:t>𝑛</m:t>
                    </m:r>
                  </m:oMath>
                </a14:m>
                <a:r>
                  <a:rPr lang="zh-CN" altLang="en-US"/>
                  <a:t> 的空闲列表（即，首次适配）</a:t>
                </a:r>
                <a:endParaRPr lang="en-GB"/>
              </a:p>
              <a:p>
                <a:pPr lvl="1"/>
                <a:r>
                  <a:rPr lang="zh-CN" altLang="en-US"/>
                  <a:t>如果找到合适的内存块：</a:t>
                </a:r>
                <a:endParaRPr lang="en-GB"/>
              </a:p>
              <a:p>
                <a:pPr lvl="2"/>
                <a:r>
                  <a:rPr lang="zh-CN" altLang="en-US"/>
                  <a:t>分割内存块并把碎片放入适当的列表</a:t>
                </a:r>
                <a:r>
                  <a:rPr lang="en-GB"/>
                  <a:t> </a:t>
                </a:r>
                <a:endParaRPr lang="en-GB"/>
              </a:p>
              <a:p>
                <a:pPr lvl="2"/>
                <a:r>
                  <a:rPr lang="zh-CN" altLang="en-US"/>
                  <a:t>如果没有找到，则尝试下一个更大类的空闲列表</a:t>
                </a:r>
                <a:endParaRPr lang="en-GB"/>
              </a:p>
              <a:p>
                <a:pPr lvl="1"/>
                <a:r>
                  <a:rPr lang="zh-CN" altLang="en-US"/>
                  <a:t>重复上述步骤，直到找到合适的内存块</a:t>
                </a:r>
                <a:endParaRPr lang="en-GB"/>
              </a:p>
              <a:p>
                <a:pPr lvl="1"/>
                <a:endParaRPr lang="en-GB"/>
              </a:p>
              <a:p>
                <a:r>
                  <a:rPr lang="zh-CN" altLang="en-US"/>
                  <a:t>如果没有找到合适的内存块：</a:t>
                </a:r>
                <a:endParaRPr lang="en-GB"/>
              </a:p>
              <a:p>
                <a:pPr lvl="1"/>
                <a:r>
                  <a:rPr lang="zh-CN" altLang="en-US"/>
                  <a:t>用 </a:t>
                </a:r>
                <a:r>
                  <a:rPr lang="en-GB" altLang="zh-CN"/>
                  <a:t>sbrk()</a:t>
                </a:r>
                <a:r>
                  <a:rPr lang="zh-CN" altLang="en-US"/>
                  <a:t>向</a:t>
                </a:r>
                <a:r>
                  <a:rPr lang="en-US" altLang="zh-CN"/>
                  <a:t>OS</a:t>
                </a:r>
                <a:r>
                  <a:rPr lang="zh-CN" altLang="en-US"/>
                  <a:t>请求额外的堆内存</a:t>
                </a:r>
                <a:endParaRPr lang="en-GB"/>
              </a:p>
              <a:p>
                <a:pPr lvl="1"/>
                <a:r>
                  <a:rPr lang="zh-CN" altLang="en-US"/>
                  <a:t>从新内存中分配 </a:t>
                </a:r>
                <a:r>
                  <a:rPr lang="en-GB" altLang="zh-CN"/>
                  <a:t>n </a:t>
                </a:r>
                <a:r>
                  <a:rPr lang="zh-CN" altLang="en-US"/>
                  <a:t>字节的内存块</a:t>
                </a:r>
                <a:endParaRPr lang="en-GB"/>
              </a:p>
              <a:p>
                <a:pPr lvl="1"/>
                <a:r>
                  <a:rPr lang="zh-CN" altLang="en-US"/>
                  <a:t>把剩余部分作为单个空闲块放入适合的大小类中</a:t>
                </a:r>
                <a:endParaRPr lang="zh-CN" altLang="en-US"/>
              </a:p>
            </p:txBody>
          </p:sp>
        </mc:Choice>
        <mc:Fallback>
          <p:sp>
            <p:nvSpPr>
              <p:cNvPr id="16386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l="-2" r="2" b="-95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381000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 smtClean="0"/>
              <a:t>Seglist</a:t>
            </a:r>
            <a:r>
              <a:rPr lang="zh-CN" altLang="en-US" dirty="0" smtClean="0"/>
              <a:t>分配器（续）</a:t>
            </a:r>
            <a:endParaRPr lang="en-GB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释放内存块：</a:t>
            </a:r>
            <a:endParaRPr lang="en-GB"/>
          </a:p>
          <a:p>
            <a:pPr lvl="1"/>
            <a:r>
              <a:rPr lang="zh-CN" altLang="en-US"/>
              <a:t>合并且放入适当的列表中</a:t>
            </a:r>
            <a:r>
              <a:rPr lang="en-GB"/>
              <a:t> </a:t>
            </a:r>
            <a:endParaRPr lang="en-GB"/>
          </a:p>
          <a:p>
            <a:pPr lvl="1"/>
            <a:endParaRPr lang="en-GB"/>
          </a:p>
          <a:p>
            <a:r>
              <a:rPr lang="en-GB"/>
              <a:t>seglist</a:t>
            </a:r>
            <a:r>
              <a:rPr lang="zh-CN" altLang="en-US"/>
              <a:t>分配器</a:t>
            </a:r>
            <a:r>
              <a:rPr lang="en-GB"/>
              <a:t> vs. non-seglist </a:t>
            </a:r>
            <a:r>
              <a:rPr lang="zh-CN" altLang="en-US"/>
              <a:t>分配器的优点（都使用首次适配）</a:t>
            </a:r>
            <a:endParaRPr lang="en-GB"/>
          </a:p>
          <a:p>
            <a:pPr lvl="1"/>
            <a:r>
              <a:rPr lang="zh-CN" altLang="en-US"/>
              <a:t>更高的吞吐量</a:t>
            </a:r>
            <a:endParaRPr lang="en-GB"/>
          </a:p>
          <a:p>
            <a:pPr lvl="2"/>
            <a:r>
              <a:rPr lang="en-US" altLang="zh-CN"/>
              <a:t>2</a:t>
            </a:r>
            <a:r>
              <a:rPr lang="zh-CN" altLang="en-US"/>
              <a:t>的幂大小类的</a:t>
            </a:r>
            <a:r>
              <a:rPr lang="en-US" altLang="zh-CN"/>
              <a:t>log</a:t>
            </a:r>
            <a:r>
              <a:rPr lang="zh-CN" altLang="en-US"/>
              <a:t>时间复杂度</a:t>
            </a:r>
            <a:r>
              <a:rPr lang="en-GB"/>
              <a:t> vs. </a:t>
            </a:r>
            <a:r>
              <a:rPr lang="zh-CN" altLang="en-US"/>
              <a:t>线性时间复杂度</a:t>
            </a:r>
            <a:endParaRPr lang="en-GB"/>
          </a:p>
          <a:p>
            <a:pPr lvl="1"/>
            <a:r>
              <a:rPr lang="zh-CN" altLang="en-US"/>
              <a:t>更好的内存利用率</a:t>
            </a:r>
            <a:endParaRPr lang="en-GB"/>
          </a:p>
          <a:p>
            <a:pPr lvl="2"/>
            <a:r>
              <a:rPr lang="zh-CN" altLang="en-US"/>
              <a:t>分离式空闲列表的首次适配搜索相当于对整个堆的最佳适配搜索</a:t>
            </a:r>
            <a:endParaRPr lang="en-GB"/>
          </a:p>
          <a:p>
            <a:pPr lvl="2"/>
            <a:r>
              <a:rPr lang="zh-CN" altLang="en-US"/>
              <a:t>极端情况：为每个内存块分配自己的大小类，相当于最佳适配</a:t>
            </a:r>
            <a:endParaRPr lang="en-GB"/>
          </a:p>
          <a:p>
            <a:pPr lvl="1"/>
            <a:endParaRPr lang="en-GB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54200" y="304801"/>
            <a:ext cx="7899400" cy="1096963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关于分配器的更多信息</a:t>
            </a:r>
            <a:endParaRPr lang="en-GB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D. Knuth, The Art of Computer Programming, vol 1, 3rd edition, Addison Wesley, 1997</a:t>
            </a:r>
            <a:endParaRPr lang="en-GB"/>
          </a:p>
          <a:p>
            <a:pPr lvl="1"/>
            <a:r>
              <a:rPr lang="zh-CN" altLang="en-US"/>
              <a:t>动态存储分配的经典参考书</a:t>
            </a:r>
            <a:endParaRPr lang="en-GB"/>
          </a:p>
          <a:p>
            <a:pPr lvl="1"/>
            <a:endParaRPr lang="en-GB"/>
          </a:p>
          <a:p>
            <a:r>
              <a:rPr lang="en-GB"/>
              <a:t>Wilson et al, “Dynamic Storage Allocation: A Survey and Critical Review”, Proc. 1995 Int’l Workshop on Memory Management, Kinross, Scotland, Sept, 1995.</a:t>
            </a:r>
            <a:endParaRPr lang="en-GB"/>
          </a:p>
          <a:p>
            <a:pPr lvl="1"/>
            <a:r>
              <a:rPr lang="zh-CN" altLang="en-US"/>
              <a:t>较全面的综述</a:t>
            </a:r>
            <a:endParaRPr lang="en-GB"/>
          </a:p>
          <a:p>
            <a:pPr lvl="1"/>
            <a:r>
              <a:rPr lang="zh-CN" altLang="en-US"/>
              <a:t>可以从 </a:t>
            </a:r>
            <a:r>
              <a:rPr lang="en-GB"/>
              <a:t>CS:APP </a:t>
            </a:r>
            <a:r>
              <a:rPr lang="zh-CN" altLang="en-US"/>
              <a:t>学生网站获取（</a:t>
            </a:r>
            <a:r>
              <a:rPr lang="en-GB"/>
              <a:t>csapp.cs.cmu.edu</a:t>
            </a:r>
            <a:r>
              <a:rPr lang="zh-CN" altLang="en-US"/>
              <a:t>）</a:t>
            </a:r>
            <a:endParaRPr lang="en-GB"/>
          </a:p>
          <a:p>
            <a:pPr lvl="1"/>
            <a:endParaRPr lang="en-GB"/>
          </a:p>
          <a:p>
            <a:r>
              <a:rPr lang="en-GB"/>
              <a:t>Railing, et al, “</a:t>
            </a:r>
            <a:r>
              <a:rPr lang="en-US"/>
              <a:t>Implementing Malloc: Students and Systems Programming</a:t>
            </a:r>
            <a:r>
              <a:rPr lang="en-GB"/>
              <a:t>”, SIGCSE’18, Feb 2018.</a:t>
            </a:r>
            <a:endParaRPr lang="en-GB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显式空闲列表</a:t>
            </a:r>
            <a:r>
              <a:rPr lang="en-US" dirty="0"/>
              <a:t>	</a:t>
            </a:r>
            <a:endParaRPr lang="en-US" dirty="0"/>
          </a:p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分离式空闲列表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dirty="0"/>
              <a:t>内存</a:t>
            </a:r>
            <a:r>
              <a:rPr lang="zh-CN" altLang="en-US" dirty="0" smtClean="0"/>
              <a:t>相</a:t>
            </a:r>
            <a:r>
              <a:rPr lang="zh-CN" altLang="en-US" dirty="0"/>
              <a:t>关的风险与陷阱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80286" y="493714"/>
            <a:ext cx="8001000" cy="573087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/>
              <a:t>内存</a:t>
            </a:r>
            <a:r>
              <a:rPr lang="zh-CN" altLang="en-US" dirty="0" smtClean="0"/>
              <a:t>相关的风险与陷阱</a:t>
            </a:r>
            <a:endParaRPr lang="en-GB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间接引用错误指针</a:t>
            </a:r>
            <a:endParaRPr lang="en-GB"/>
          </a:p>
          <a:p>
            <a:r>
              <a:rPr lang="zh-CN" altLang="en-US"/>
              <a:t>读取未初始化的内存</a:t>
            </a:r>
            <a:endParaRPr lang="en-GB"/>
          </a:p>
          <a:p>
            <a:r>
              <a:rPr lang="zh-CN" altLang="en-US"/>
              <a:t>写覆盖内存</a:t>
            </a:r>
            <a:endParaRPr lang="en-GB"/>
          </a:p>
          <a:p>
            <a:r>
              <a:rPr lang="zh-CN" altLang="en-US"/>
              <a:t>引用不存在的变量</a:t>
            </a:r>
            <a:endParaRPr lang="en-GB"/>
          </a:p>
          <a:p>
            <a:r>
              <a:rPr lang="zh-CN" altLang="en-US"/>
              <a:t>多次释放内存块</a:t>
            </a:r>
            <a:endParaRPr lang="en-GB"/>
          </a:p>
          <a:p>
            <a:r>
              <a:rPr lang="zh-CN" altLang="en-US"/>
              <a:t>引用已释放内存块</a:t>
            </a:r>
            <a:endParaRPr lang="en-GB"/>
          </a:p>
          <a:p>
            <a:r>
              <a:rPr lang="zh-CN" altLang="en-US"/>
              <a:t>未能释放内存块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7986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/>
              <a:t>间接</a:t>
            </a:r>
            <a:r>
              <a:rPr lang="zh-CN" altLang="en-US" dirty="0" smtClean="0"/>
              <a:t>引用错误指针</a:t>
            </a:r>
            <a:endParaRPr lang="en-GB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14514" y="1220788"/>
            <a:ext cx="8307387" cy="522446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经典的 </a:t>
            </a:r>
            <a:r>
              <a:rPr lang="en-GB" dirty="0" err="1" smtClean="0">
                <a:latin typeface="Courier New" panose="02070609020205020404" pitchFamily="49" charset="0"/>
              </a:rPr>
              <a:t>scanf</a:t>
            </a:r>
            <a:r>
              <a:rPr lang="en-GB" dirty="0" smtClean="0"/>
              <a:t> </a:t>
            </a:r>
            <a:r>
              <a:rPr lang="zh-CN" altLang="en-US" dirty="0" smtClean="0"/>
              <a:t>漏</a:t>
            </a:r>
            <a:r>
              <a:rPr lang="zh-CN" altLang="en-US" dirty="0"/>
              <a:t>洞</a:t>
            </a:r>
            <a:endParaRPr lang="en-GB" dirty="0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286000" y="1948004"/>
            <a:ext cx="2640764" cy="163339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0" dirty="0" err="1">
                <a:latin typeface="Consolas" panose="020B06090202040302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 </a:t>
            </a:r>
            <a:r>
              <a:rPr lang="en-GB" sz="2000" b="0" dirty="0" err="1">
                <a:latin typeface="Consolas" panose="020B06090202040302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;</a:t>
            </a:r>
            <a:endParaRPr lang="en-GB" sz="20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...</a:t>
            </a:r>
            <a:endParaRPr lang="en-GB" sz="20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0" dirty="0" err="1">
                <a:latin typeface="Consolas" panose="020B0609020204030204" pitchFamily="49" charset="0"/>
                <a:ea typeface="msgothic" charset="0"/>
                <a:cs typeface="msgothic" charset="0"/>
              </a:rPr>
              <a:t>scanf</a:t>
            </a:r>
            <a:r>
              <a:rPr lang="en-GB" sz="20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(</a:t>
            </a:r>
            <a:r>
              <a:rPr lang="ru-RU" sz="2000" b="0" dirty="0">
                <a:latin typeface="Consolas" panose="020B0609020204030204" pitchFamily="49" charset="0"/>
              </a:rPr>
              <a:t>"</a:t>
            </a:r>
            <a:r>
              <a:rPr lang="en-GB" sz="20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%d</a:t>
            </a:r>
            <a:r>
              <a:rPr lang="ru-RU" sz="2000" b="0" dirty="0">
                <a:latin typeface="Consolas" panose="020B0609020204030204" pitchFamily="49" charset="0"/>
              </a:rPr>
              <a:t>"</a:t>
            </a:r>
            <a:r>
              <a:rPr lang="en-GB" sz="20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, </a:t>
            </a:r>
            <a:r>
              <a:rPr lang="en-GB" sz="2000" b="0" dirty="0" err="1">
                <a:solidFill>
                  <a:srgbClr val="C00000"/>
                </a:solidFill>
                <a:latin typeface="Consolas" panose="020B06090202040302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);</a:t>
            </a:r>
            <a:endParaRPr lang="en-GB" sz="20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867400" y="1954911"/>
            <a:ext cx="4455364" cy="956288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case 'd': {</a:t>
            </a:r>
            <a:endParaRPr lang="en-US" sz="14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    int *</a:t>
            </a:r>
            <a:r>
              <a:rPr lang="en-GB" sz="1400" b="0" dirty="0" err="1">
                <a:solidFill>
                  <a:srgbClr val="C00000"/>
                </a:solidFill>
                <a:latin typeface="Consolas" panose="020B0609020204030204" pitchFamily="49" charset="0"/>
                <a:ea typeface="msgothic" charset="0"/>
                <a:cs typeface="msgothic" charset="0"/>
              </a:rPr>
              <a:t>valp</a:t>
            </a: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 = </a:t>
            </a:r>
            <a:r>
              <a:rPr lang="en-GB" sz="1400" b="0" dirty="0" err="1">
                <a:latin typeface="Consolas" panose="020B0609020204030204" pitchFamily="49" charset="0"/>
                <a:ea typeface="msgothic" charset="0"/>
                <a:cs typeface="msgothic" charset="0"/>
              </a:rPr>
              <a:t>va_arg</a:t>
            </a: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(ap, </a:t>
            </a:r>
            <a:r>
              <a:rPr lang="en-GB" sz="1400" dirty="0">
                <a:latin typeface="Consolas" panose="020B0609020204030204" pitchFamily="49" charset="0"/>
                <a:ea typeface="msgothic" charset="0"/>
                <a:cs typeface="msgothic" charset="0"/>
              </a:rPr>
              <a:t>int *</a:t>
            </a: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);</a:t>
            </a:r>
            <a:endParaRPr lang="en-GB" sz="14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    </a:t>
            </a:r>
            <a:r>
              <a:rPr lang="en-GB" sz="1400" b="0" dirty="0">
                <a:solidFill>
                  <a:srgbClr val="C00000"/>
                </a:solidFill>
                <a:latin typeface="Consolas" panose="020B0609020204030204" pitchFamily="49" charset="0"/>
                <a:ea typeface="msgothic" charset="0"/>
                <a:cs typeface="msgothic" charset="0"/>
              </a:rPr>
              <a:t>*</a:t>
            </a:r>
            <a:r>
              <a:rPr lang="en-GB" sz="1400" b="0" dirty="0" err="1">
                <a:solidFill>
                  <a:srgbClr val="C00000"/>
                </a:solidFill>
                <a:latin typeface="Consolas" panose="020B0609020204030204" pitchFamily="49" charset="0"/>
                <a:ea typeface="msgothic" charset="0"/>
                <a:cs typeface="msgothic" charset="0"/>
              </a:rPr>
              <a:t>valp</a:t>
            </a: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 = (int)</a:t>
            </a:r>
            <a:r>
              <a:rPr lang="en-GB" sz="1400" b="0" dirty="0" err="1">
                <a:latin typeface="Consolas" panose="020B0609020204030204" pitchFamily="49" charset="0"/>
                <a:ea typeface="msgothic" charset="0"/>
                <a:cs typeface="msgothic" charset="0"/>
              </a:rPr>
              <a:t>strtol</a:t>
            </a: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(</a:t>
            </a:r>
            <a:r>
              <a:rPr lang="en-GB" sz="1400" b="0" dirty="0" err="1">
                <a:latin typeface="Consolas" panose="020B0609020204030204" pitchFamily="49" charset="0"/>
                <a:ea typeface="msgothic" charset="0"/>
                <a:cs typeface="msgothic" charset="0"/>
              </a:rPr>
              <a:t>valbuf</a:t>
            </a: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, &amp;</a:t>
            </a:r>
            <a:r>
              <a:rPr lang="en-GB" sz="1400" b="0" dirty="0" err="1">
                <a:latin typeface="Consolas" panose="020B0609020204030204" pitchFamily="49" charset="0"/>
                <a:ea typeface="msgothic" charset="0"/>
                <a:cs typeface="msgothic" charset="0"/>
              </a:rPr>
              <a:t>endp</a:t>
            </a: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, 10);</a:t>
            </a:r>
            <a:endParaRPr lang="en-GB" sz="14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0" dirty="0">
                <a:latin typeface="Consolas" panose="020B0609020204030204" pitchFamily="49" charset="0"/>
                <a:ea typeface="msgothic" charset="0"/>
                <a:cs typeface="msgothic" charset="0"/>
              </a:rPr>
              <a:t>}</a:t>
            </a:r>
            <a:endParaRPr lang="en-GB" sz="1400" b="0" dirty="0">
              <a:latin typeface="Consolas" panose="020B0609020204030204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Speech Bubble: Oval 1"/>
          <p:cNvSpPr/>
          <p:nvPr/>
        </p:nvSpPr>
        <p:spPr bwMode="auto">
          <a:xfrm>
            <a:off x="6806032" y="3574492"/>
            <a:ext cx="2718968" cy="845109"/>
          </a:xfrm>
          <a:prstGeom prst="wedgeEllipseCallout">
            <a:avLst>
              <a:gd name="adj1" fmla="val -56871"/>
              <a:gd name="adj2" fmla="val -151394"/>
            </a:avLst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r>
              <a:rPr lang="zh-CN" altLang="en-US" sz="1600" dirty="0">
                <a:latin typeface="+mn-lt"/>
              </a:rPr>
              <a:t>如</a:t>
            </a:r>
            <a:r>
              <a:rPr lang="zh-CN" altLang="en-US" sz="1600" dirty="0" smtClean="0">
                <a:latin typeface="+mn-lt"/>
              </a:rPr>
              <a:t>果</a:t>
            </a:r>
            <a:r>
              <a:rPr lang="zh-CN" altLang="en-US" sz="1600" dirty="0" smtClean="0">
                <a:latin typeface="+mn-lt"/>
              </a:rPr>
              <a:t>不幸运的话，</a:t>
            </a:r>
            <a:endParaRPr lang="en-US" altLang="zh-CN" sz="1600" dirty="0" smtClean="0">
              <a:latin typeface="+mn-lt"/>
            </a:endParaRPr>
          </a:p>
          <a:p>
            <a:pPr algn="ctr"/>
            <a:r>
              <a:rPr lang="zh-CN" altLang="en-US" sz="1600" dirty="0" smtClean="0">
                <a:latin typeface="+mn-lt"/>
              </a:rPr>
              <a:t>在这里宕机</a:t>
            </a:r>
            <a:r>
              <a:rPr lang="en-US" sz="1600" dirty="0" smtClean="0">
                <a:latin typeface="+mn-lt"/>
              </a:rPr>
              <a:t> …</a:t>
            </a:r>
            <a:endParaRPr lang="en-US" sz="1600" dirty="0">
              <a:latin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381000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读取未初始化的内存</a:t>
            </a:r>
            <a:endParaRPr lang="en-GB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假设堆数据已初始化为零</a:t>
            </a: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zh-CN" altLang="en-US"/>
              <a:t>使用</a:t>
            </a:r>
            <a:r>
              <a:rPr lang="en-GB"/>
              <a:t> calloc </a:t>
            </a:r>
            <a:r>
              <a:rPr lang="zh-CN" altLang="en-US"/>
              <a:t>可以避免这种情况发生</a:t>
            </a:r>
            <a:endParaRPr lang="zh-CN" altLang="en-US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333728" y="1930144"/>
            <a:ext cx="5413959" cy="3480056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/* return y = </a:t>
            </a:r>
            <a:r>
              <a:rPr lang="en-GB" sz="2000" dirty="0" err="1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Ax</a:t>
            </a: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*/</a:t>
            </a:r>
            <a:endParaRPr lang="en-GB" sz="2000" dirty="0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matvec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**A,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*x) { 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*y = 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solidFill>
                <a:srgbClr val="C0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, j;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for 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=0;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&lt;N;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++)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   for (j=0; j&lt;N; j++)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      y[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] 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+=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A[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][j]*x[j];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return y;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写覆盖内存</a:t>
            </a:r>
            <a:endParaRPr lang="en-GB" dirty="0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分配（可能）大小错误的对象</a:t>
            </a: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zh-CN" altLang="en-US"/>
              <a:t>你能发现这个错误吗？</a:t>
            </a:r>
            <a:endParaRPr lang="zh-CN" altLang="en-US"/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336704" y="2133600"/>
            <a:ext cx="5106183" cy="22489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**p;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p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for (i=0; i&lt;N; i++)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p[i]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未检查最大字符串长度</a:t>
            </a: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zh-CN" altLang="en-US"/>
              <a:t>经典缓冲溢出攻击的基础</a:t>
            </a:r>
            <a:endParaRPr lang="zh-CN" altLang="en-US"/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345724" y="1871804"/>
            <a:ext cx="7106730" cy="163339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char s[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8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];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gets(s);  </a:t>
            </a: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/* reads “123456789” from </a:t>
            </a:r>
            <a:r>
              <a:rPr lang="en-GB" sz="2000" dirty="0" err="1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stdin</a:t>
            </a: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*/ </a:t>
            </a:r>
            <a:endParaRPr lang="en-GB" sz="2000" dirty="0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写覆盖内存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大小差一错误</a:t>
            </a:r>
            <a:endParaRPr lang="zh-CN" altLang="en-US"/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362201" y="1981200"/>
            <a:ext cx="5106183" cy="22489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>
                <a:latin typeface="Courier New" panose="02070609020205020404" pitchFamily="49" charset="0"/>
                <a:ea typeface="msgothic" charset="0"/>
                <a:cs typeface="msgothic" charset="0"/>
              </a:rPr>
              <a:t>char **p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p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for 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=0;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&lt;=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N;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++)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p[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]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362201" y="4572001"/>
            <a:ext cx="3567851" cy="163339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char *p;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p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strlen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(s));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strcpy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p,s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写覆盖内存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错误理解指针运算</a:t>
            </a:r>
            <a:endParaRPr lang="zh-CN" altLang="en-US"/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2347918" y="2018250"/>
            <a:ext cx="4798406" cy="22489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*search(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*p,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while (p &amp;&amp; *p !=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   p += 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)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return p;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写覆盖内存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引用指针而不是指针指向的对象</a:t>
            </a: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zh-CN" altLang="en-US"/>
              <a:t>为什么会递减？</a:t>
            </a:r>
            <a:endParaRPr lang="en-GB"/>
          </a:p>
          <a:p>
            <a:pPr lvl="1"/>
            <a:r>
              <a:rPr lang="zh-CN" altLang="en-US"/>
              <a:t>（参看下一页）</a:t>
            </a:r>
            <a:endParaRPr lang="zh-CN" altLang="en-US"/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2133601" y="1905001"/>
            <a:ext cx="7189470" cy="255460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BinheapDelete(int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binheap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,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*size)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*packet;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packet = binheap[0];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binheap[0]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binheap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[*size - 1];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*size--;</a:t>
            </a:r>
            <a:r>
              <a:rPr lang="en-US" alt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		// </a:t>
            </a:r>
            <a:r>
              <a:rPr lang="zh-CN" altLang="en-US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后缀运算</a:t>
            </a:r>
            <a:r>
              <a:rPr lang="en-US" altLang="en-US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-- </a:t>
            </a:r>
            <a:r>
              <a:rPr lang="zh-CN" altLang="en-US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优先级高于</a:t>
            </a:r>
            <a:r>
              <a:rPr lang="en-US" altLang="en-US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 *</a:t>
            </a:r>
            <a:endParaRPr lang="en-US" altLang="en-US" sz="2000" dirty="0">
              <a:solidFill>
                <a:srgbClr val="C0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Heapify(binheap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, *size, 0);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return(packet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 algn="l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写覆盖内存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2057400" y="1295400"/>
            <a:ext cx="6705600" cy="411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55799" y="341312"/>
            <a:ext cx="5080000" cy="573088"/>
          </a:xfrm>
        </p:spPr>
        <p:txBody>
          <a:bodyPr/>
          <a:lstStyle/>
          <a:p>
            <a:r>
              <a:rPr lang="en-US" dirty="0"/>
              <a:t>C </a:t>
            </a:r>
            <a:r>
              <a:rPr lang="zh-CN" altLang="en-US" dirty="0" smtClean="0"/>
              <a:t>运算符</a:t>
            </a:r>
            <a:endParaRPr lang="en-US" dirty="0"/>
          </a:p>
        </p:txBody>
      </p:sp>
      <p:sp>
        <p:nvSpPr>
          <p:cNvPr id="354307" name="Text Box 3"/>
          <p:cNvSpPr txBox="1">
            <a:spLocks noChangeArrowheads="1"/>
          </p:cNvSpPr>
          <p:nvPr/>
        </p:nvSpPr>
        <p:spPr bwMode="auto">
          <a:xfrm>
            <a:off x="1990620" y="962086"/>
            <a:ext cx="6924781" cy="452431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800" i="1" dirty="0">
                <a:solidFill>
                  <a:srgbClr val="C00000"/>
                </a:solidFill>
                <a:latin typeface="Calibri" pitchFamily="34" charset="0"/>
              </a:rPr>
              <a:t>运算符</a:t>
            </a: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					</a:t>
            </a:r>
            <a:r>
              <a:rPr lang="zh-CN" altLang="en-US" sz="1800" i="1" dirty="0" smtClean="0">
                <a:solidFill>
                  <a:srgbClr val="C00000"/>
                </a:solidFill>
                <a:latin typeface="Calibri" pitchFamily="34" charset="0"/>
              </a:rPr>
              <a:t>结合律</a:t>
            </a:r>
            <a:endParaRPr lang="en-US" sz="1800" i="1" dirty="0">
              <a:solidFill>
                <a:srgbClr val="C00000"/>
              </a:solidFill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ourier New" panose="02070609020205020404" pitchFamily="49" charset="0"/>
              </a:rPr>
              <a:t>()  []  -&gt;</a:t>
            </a:r>
            <a:r>
              <a:rPr lang="en-US" sz="1800" dirty="0">
                <a:latin typeface="Courier New" panose="02070609020205020404" pitchFamily="49" charset="0"/>
              </a:rPr>
              <a:t>  . ++ --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!  ~  ++ --  +  -  </a:t>
            </a:r>
            <a:r>
              <a:rPr lang="en-US" sz="1800" dirty="0">
                <a:solidFill>
                  <a:srgbClr val="C00000"/>
                </a:solidFill>
                <a:latin typeface="Courier New" panose="02070609020205020404" pitchFamily="49" charset="0"/>
              </a:rPr>
              <a:t>*  &amp;</a:t>
            </a:r>
            <a:r>
              <a:rPr lang="en-US" sz="1800" dirty="0">
                <a:latin typeface="Courier New" panose="02070609020205020404" pitchFamily="49" charset="0"/>
              </a:rPr>
              <a:t> (type) </a:t>
            </a:r>
            <a:r>
              <a:rPr lang="en-US" sz="1800" dirty="0" err="1">
                <a:latin typeface="Courier New" panose="02070609020205020404" pitchFamily="49" charset="0"/>
              </a:rPr>
              <a:t>sizeof</a:t>
            </a:r>
            <a:r>
              <a:rPr lang="en-US" sz="1800" dirty="0">
                <a:latin typeface="Courier New" panose="02070609020205020404" pitchFamily="49" charset="0"/>
              </a:rPr>
              <a:t>	</a:t>
            </a:r>
            <a:r>
              <a:rPr lang="en-US" sz="1800" b="0" dirty="0">
                <a:solidFill>
                  <a:srgbClr val="0070C0"/>
                </a:solidFill>
                <a:latin typeface="Calibri" pitchFamily="34" charset="0"/>
              </a:rPr>
              <a:t>right to left</a:t>
            </a:r>
            <a:endParaRPr lang="en-US" sz="1800" b="0" dirty="0">
              <a:solidFill>
                <a:srgbClr val="0070C0"/>
              </a:solidFill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*  /  %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+  -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&lt;&lt;  &gt;&gt;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&lt;  &lt;=  &gt;  &gt;=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==  !=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&amp;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^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|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&amp;&amp;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||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?:						</a:t>
            </a:r>
            <a:r>
              <a:rPr lang="en-US" sz="1800" b="0" dirty="0">
                <a:solidFill>
                  <a:srgbClr val="0070C0"/>
                </a:solidFill>
                <a:latin typeface="Calibri" pitchFamily="34" charset="0"/>
              </a:rPr>
              <a:t>right to left</a:t>
            </a:r>
            <a:endParaRPr lang="en-US" sz="1800" b="0" dirty="0">
              <a:solidFill>
                <a:srgbClr val="0070C0"/>
              </a:solidFill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= += -= *= /= %= &amp;= ^= != &lt;&lt;= &gt;&gt;=		</a:t>
            </a:r>
            <a:r>
              <a:rPr lang="en-US" sz="1800" b="0" dirty="0">
                <a:solidFill>
                  <a:srgbClr val="0070C0"/>
                </a:solidFill>
                <a:latin typeface="Calibri" pitchFamily="34" charset="0"/>
              </a:rPr>
              <a:t>right to left</a:t>
            </a:r>
            <a:endParaRPr lang="en-US" sz="1800" b="0" dirty="0">
              <a:solidFill>
                <a:srgbClr val="0070C0"/>
              </a:solidFill>
              <a:latin typeface="Calibri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,						</a:t>
            </a:r>
            <a:r>
              <a:rPr lang="en-US" sz="1800" b="0" dirty="0">
                <a:latin typeface="Calibri" pitchFamily="34" charset="0"/>
              </a:rPr>
              <a:t>left to right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3543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5638800"/>
            <a:ext cx="7162800" cy="1143000"/>
          </a:xfrm>
          <a:noFill/>
        </p:spPr>
        <p:txBody>
          <a:bodyPr/>
          <a:lstStyle/>
          <a:p>
            <a:pPr marL="63500" indent="-238125"/>
            <a:r>
              <a:rPr lang="en-US" sz="2000" dirty="0"/>
              <a:t> </a:t>
            </a:r>
            <a:r>
              <a:rPr lang="en-US" sz="2000" dirty="0">
                <a:latin typeface="Courier New" panose="02070609020205020404" pitchFamily="49" charset="0"/>
              </a:rPr>
              <a:t>-&gt;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609020205020404"/>
                <a:cs typeface="Courier New" panose="02070609020205020404"/>
              </a:rPr>
              <a:t>()</a:t>
            </a:r>
            <a:r>
              <a:rPr lang="en-US" sz="2000" dirty="0"/>
              <a:t>, </a:t>
            </a:r>
            <a:r>
              <a:rPr lang="zh-CN" altLang="en-US" sz="2000" dirty="0" smtClean="0"/>
              <a:t>和</a:t>
            </a:r>
            <a:r>
              <a:rPr lang="en-US" sz="2000" dirty="0" smtClean="0"/>
              <a:t> </a:t>
            </a:r>
            <a:r>
              <a:rPr lang="en-US" sz="2000" dirty="0">
                <a:latin typeface="Courier New" panose="02070609020205020404"/>
                <a:cs typeface="Courier New" panose="02070609020205020404"/>
              </a:rPr>
              <a:t>[]</a:t>
            </a:r>
            <a:r>
              <a:rPr lang="en-US" sz="2000" dirty="0"/>
              <a:t> </a:t>
            </a:r>
            <a:r>
              <a:rPr lang="zh-CN" altLang="en-US" sz="2000" dirty="0" smtClean="0"/>
              <a:t>的优先级很高，</a:t>
            </a:r>
            <a:r>
              <a:rPr lang="en-US" sz="2000" dirty="0" smtClean="0"/>
              <a:t> </a:t>
            </a:r>
            <a:r>
              <a:rPr lang="en-US" sz="2000" dirty="0">
                <a:latin typeface="Courier New" panose="02070609020205020404"/>
                <a:cs typeface="Courier New" panose="02070609020205020404"/>
              </a:rPr>
              <a:t>*</a:t>
            </a:r>
            <a:r>
              <a:rPr lang="en-US" sz="2000" dirty="0"/>
              <a:t> </a:t>
            </a:r>
            <a:r>
              <a:rPr lang="zh-CN" altLang="en-US" sz="2000" dirty="0" smtClean="0"/>
              <a:t>和</a:t>
            </a:r>
            <a:r>
              <a:rPr lang="en-US" sz="2000" dirty="0" smtClean="0"/>
              <a:t> </a:t>
            </a:r>
            <a:r>
              <a:rPr lang="en-US" sz="2000" dirty="0">
                <a:latin typeface="Courier New" panose="02070609020205020404"/>
                <a:cs typeface="Courier New" panose="02070609020205020404"/>
              </a:rPr>
              <a:t>&amp;</a:t>
            </a:r>
            <a:r>
              <a:rPr lang="en-US" sz="2000" dirty="0"/>
              <a:t> </a:t>
            </a:r>
            <a:r>
              <a:rPr lang="zh-CN" altLang="en-US" sz="2000" dirty="0" smtClean="0"/>
              <a:t>紧随其后</a:t>
            </a:r>
            <a:endParaRPr lang="en-US" sz="2000" dirty="0"/>
          </a:p>
          <a:p>
            <a:pPr marL="63500" indent="-238125"/>
            <a:r>
              <a:rPr lang="zh-CN" altLang="en-US" sz="2000" dirty="0" smtClean="0"/>
              <a:t>一元运算符</a:t>
            </a:r>
            <a:r>
              <a:rPr lang="en-US" sz="2000" dirty="0" smtClean="0"/>
              <a:t> </a:t>
            </a:r>
            <a:r>
              <a:rPr lang="en-US" sz="2000" dirty="0">
                <a:latin typeface="Courier New" panose="02070609020205020404"/>
                <a:cs typeface="Courier New" panose="02070609020205020404"/>
              </a:rPr>
              <a:t>+</a:t>
            </a:r>
            <a:r>
              <a:rPr lang="en-US" sz="2000" dirty="0">
                <a:latin typeface="+mn-lt"/>
                <a:cs typeface="Courier New" panose="02070609020205020404"/>
              </a:rPr>
              <a:t>,</a:t>
            </a:r>
            <a:r>
              <a:rPr lang="en-US" sz="2000" dirty="0">
                <a:latin typeface="Courier New" panose="02070609020205020404"/>
                <a:cs typeface="Courier New" panose="02070609020205020404"/>
              </a:rPr>
              <a:t> -</a:t>
            </a:r>
            <a:r>
              <a:rPr lang="en-US" sz="2000" dirty="0"/>
              <a:t>, </a:t>
            </a:r>
            <a:r>
              <a:rPr lang="zh-CN" altLang="en-US" sz="2000" dirty="0" smtClean="0"/>
              <a:t>和</a:t>
            </a:r>
            <a:r>
              <a:rPr lang="en-US" sz="2000" dirty="0" smtClean="0"/>
              <a:t> </a:t>
            </a:r>
            <a:r>
              <a:rPr lang="en-US" sz="2000" dirty="0">
                <a:latin typeface="Courier New" panose="02070609020205020404"/>
                <a:cs typeface="Courier New" panose="02070609020205020404"/>
              </a:rPr>
              <a:t>*</a:t>
            </a:r>
            <a:r>
              <a:rPr lang="en-US" sz="2000" dirty="0"/>
              <a:t> </a:t>
            </a:r>
            <a:r>
              <a:rPr lang="zh-CN" altLang="en-US" sz="2000" dirty="0" smtClean="0"/>
              <a:t>的优先级高于其二元的形式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0" y="6473551"/>
            <a:ext cx="3090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Source: K&amp;R page 53, updated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981200" y="808196"/>
            <a:ext cx="3742486" cy="1784092"/>
            <a:chOff x="457200" y="808196"/>
            <a:chExt cx="3742486" cy="1784092"/>
          </a:xfrm>
        </p:grpSpPr>
        <p:sp>
          <p:nvSpPr>
            <p:cNvPr id="2" name="Oval 1"/>
            <p:cNvSpPr/>
            <p:nvPr/>
          </p:nvSpPr>
          <p:spPr bwMode="auto">
            <a:xfrm>
              <a:off x="2362200" y="1219200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1295400" y="1524000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209800" y="1546083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457200" y="2057400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cxnSp>
          <p:nvCxnSpPr>
            <p:cNvPr id="4" name="Straight Arrow Connector 3"/>
            <p:cNvCxnSpPr/>
            <p:nvPr/>
          </p:nvCxnSpPr>
          <p:spPr bwMode="auto">
            <a:xfrm flipH="1">
              <a:off x="3124200" y="962085"/>
              <a:ext cx="381000" cy="333315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3429000" y="1927083"/>
              <a:ext cx="6463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Unary</a:t>
              </a:r>
              <a:endParaRPr lang="en-US" sz="1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 bwMode="auto">
            <a:xfrm flipH="1" flipV="1">
              <a:off x="2905521" y="1897797"/>
              <a:ext cx="599679" cy="159603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3502059" y="808196"/>
              <a:ext cx="697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Postfix</a:t>
              </a:r>
              <a:endParaRPr lang="en-US" sz="1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6634" y="2284511"/>
              <a:ext cx="6719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Binary</a:t>
              </a:r>
              <a:endParaRPr lang="en-US" sz="1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 flipH="1" flipV="1">
              <a:off x="1363155" y="2255225"/>
              <a:ext cx="599679" cy="159603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2585839" y="2159284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Prefix</a:t>
              </a:r>
              <a:endParaRPr lang="en-US" sz="1400" dirty="0">
                <a:solidFill>
                  <a:srgbClr val="0000FF"/>
                </a:solidFill>
                <a:latin typeface="Calibri" pitchFamily="34" charset="0"/>
              </a:endParaRPr>
            </a:p>
          </p:txBody>
        </p:sp>
        <p:cxnSp>
          <p:nvCxnSpPr>
            <p:cNvPr id="20" name="Straight Arrow Connector 19"/>
            <p:cNvCxnSpPr>
              <a:endCxn id="8" idx="5"/>
            </p:cNvCxnSpPr>
            <p:nvPr/>
          </p:nvCxnSpPr>
          <p:spPr bwMode="auto">
            <a:xfrm flipH="1" flipV="1">
              <a:off x="2075889" y="1849204"/>
              <a:ext cx="586151" cy="440398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</p:grpSp>
      <p:sp>
        <p:nvSpPr>
          <p:cNvPr id="21" name="Oval 20"/>
          <p:cNvSpPr/>
          <p:nvPr/>
        </p:nvSpPr>
        <p:spPr bwMode="auto">
          <a:xfrm>
            <a:off x="4933785" y="1579235"/>
            <a:ext cx="418621" cy="334054"/>
          </a:xfrm>
          <a:prstGeom prst="ellipse">
            <a:avLst/>
          </a:prstGeom>
          <a:noFill/>
          <a:ln w="28575" cap="flat" cmpd="sng" algn="ctr">
            <a:solidFill>
              <a:srgbClr val="3366FF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30741" y="1942600"/>
            <a:ext cx="748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libri" pitchFamily="34" charset="0"/>
              </a:rPr>
              <a:t>Unary</a:t>
            </a:r>
            <a:endParaRPr lang="en-US" sz="1400" dirty="0">
              <a:solidFill>
                <a:srgbClr val="0000FF"/>
              </a:solidFill>
              <a:latin typeface="Calibri" pitchFamily="3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 bwMode="auto">
          <a:xfrm flipH="1" flipV="1">
            <a:off x="5352405" y="1828803"/>
            <a:ext cx="728688" cy="214809"/>
          </a:xfrm>
          <a:prstGeom prst="straightConnector1">
            <a:avLst/>
          </a:prstGeom>
          <a:noFill/>
          <a:ln w="28575" cmpd="sng">
            <a:solidFill>
              <a:srgbClr val="3366FF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30" name="Oval 29"/>
          <p:cNvSpPr/>
          <p:nvPr/>
        </p:nvSpPr>
        <p:spPr bwMode="auto">
          <a:xfrm>
            <a:off x="1949670" y="3170351"/>
            <a:ext cx="418621" cy="334054"/>
          </a:xfrm>
          <a:prstGeom prst="ellipse">
            <a:avLst/>
          </a:prstGeom>
          <a:noFill/>
          <a:ln w="28575" cap="flat" cmpd="sng" algn="ctr">
            <a:solidFill>
              <a:srgbClr val="3366FF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46626" y="3533716"/>
            <a:ext cx="748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libri" pitchFamily="34" charset="0"/>
              </a:rPr>
              <a:t>Binary</a:t>
            </a:r>
            <a:endParaRPr lang="en-US" sz="1400" dirty="0">
              <a:solidFill>
                <a:srgbClr val="0000FF"/>
              </a:solidFill>
              <a:latin typeface="Calibri" pitchFamily="34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 flipH="1" flipV="1">
            <a:off x="2368290" y="3419919"/>
            <a:ext cx="728688" cy="214809"/>
          </a:xfrm>
          <a:prstGeom prst="straightConnector1">
            <a:avLst/>
          </a:prstGeom>
          <a:noFill/>
          <a:ln w="28575" cmpd="sng">
            <a:solidFill>
              <a:srgbClr val="3366FF"/>
            </a:solidFill>
            <a:miter lim="800000"/>
            <a:headEnd type="none" w="med" len="med"/>
            <a:tailEnd type="arrow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30" grpId="0" animBg="1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03414" y="1252538"/>
            <a:ext cx="8307387" cy="522446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/>
              <a:t>引用指针而不是指针指向的对</a:t>
            </a:r>
            <a:r>
              <a:rPr lang="zh-CN" altLang="en-US" dirty="0" smtClean="0"/>
              <a:t>象</a:t>
            </a:r>
            <a:endParaRPr lang="en-GB" dirty="0" smtClean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等价于</a:t>
            </a:r>
            <a:endParaRPr lang="en-GB" dirty="0"/>
          </a:p>
          <a:p>
            <a:pPr lvl="1"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b="1" kern="12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size--;</a:t>
            </a:r>
            <a:endParaRPr lang="en-GB" dirty="0"/>
          </a:p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重新写为</a:t>
            </a:r>
            <a:endParaRPr lang="en-GB" dirty="0"/>
          </a:p>
          <a:p>
            <a:pPr lvl="1"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en-GB" b="1" kern="12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(*size)--;</a:t>
            </a:r>
            <a:endParaRPr lang="en-GB" dirty="0"/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2362201" y="1752601"/>
            <a:ext cx="7260619" cy="255672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BinheapDelete(int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binheap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,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*size)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*packet;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packet = binheap[0];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binheap[0]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binheap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[*size - 1];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*size--;</a:t>
            </a:r>
            <a:endParaRPr lang="en-GB" sz="2000" dirty="0">
              <a:solidFill>
                <a:srgbClr val="C0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Heapify(binheap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, *size, 0);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return(packet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096000" y="3810000"/>
            <a:ext cx="4305300" cy="2815004"/>
            <a:chOff x="4572000" y="3810000"/>
            <a:chExt cx="4305300" cy="281500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572000" y="3810000"/>
              <a:ext cx="4305300" cy="2815004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 bwMode="auto">
            <a:xfrm>
              <a:off x="6096000" y="4180409"/>
              <a:ext cx="304800" cy="228600"/>
            </a:xfrm>
            <a:prstGeom prst="ellipse">
              <a:avLst/>
            </a:prstGeom>
            <a:noFill/>
            <a:ln w="349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" name="Oval 2"/>
            <p:cNvSpPr/>
            <p:nvPr/>
          </p:nvSpPr>
          <p:spPr bwMode="auto">
            <a:xfrm>
              <a:off x="6019800" y="3993936"/>
              <a:ext cx="304800" cy="228600"/>
            </a:xfrm>
            <a:prstGeom prst="ellipse">
              <a:avLst/>
            </a:prstGeom>
            <a:noFill/>
            <a:ln w="349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</p:grpSp>
      <p:sp>
        <p:nvSpPr>
          <p:cNvPr id="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写覆盖内存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510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引用不存在的变量</a:t>
            </a:r>
            <a:endParaRPr lang="en-GB" dirty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71376" y="1252538"/>
            <a:ext cx="8307387" cy="522446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忘</a:t>
            </a:r>
            <a:r>
              <a:rPr lang="zh-CN" altLang="en-US" dirty="0"/>
              <a:t>记了局部变</a:t>
            </a:r>
            <a:r>
              <a:rPr lang="zh-CN" altLang="en-US" dirty="0" smtClean="0"/>
              <a:t>量在函</a:t>
            </a:r>
            <a:r>
              <a:rPr lang="zh-CN" altLang="en-US" dirty="0" smtClean="0"/>
              <a:t>数返回后就不存在了</a:t>
            </a:r>
            <a:endParaRPr lang="en-GB" dirty="0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438400" y="2310715"/>
            <a:ext cx="2490082" cy="163339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*foo ()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return 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&amp;</a:t>
            </a:r>
            <a:r>
              <a:rPr lang="en-GB" sz="2000" dirty="0" err="1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  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多次释放内存块</a:t>
            </a:r>
            <a:endParaRPr lang="en-GB" dirty="0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86938" y="1252538"/>
            <a:ext cx="8307387" cy="522446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令人不快！</a:t>
            </a:r>
            <a:endParaRPr lang="en-GB" dirty="0"/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329248" y="1981200"/>
            <a:ext cx="4343400" cy="22288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x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     </a:t>
            </a: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&lt;manipulate x&gt;</a:t>
            </a:r>
            <a:endParaRPr lang="en-GB" sz="2000" dirty="0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free(x);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y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     </a:t>
            </a: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&lt;manipulate y&gt;</a:t>
            </a:r>
            <a:endParaRPr lang="en-GB" sz="2000" dirty="0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free(x);</a:t>
            </a:r>
            <a:endParaRPr lang="en-GB" sz="2000" dirty="0">
              <a:solidFill>
                <a:srgbClr val="C0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11652" y="1252538"/>
            <a:ext cx="8307387" cy="522446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GB" dirty="0" smtClean="0"/>
              <a:t>问题在哪</a:t>
            </a:r>
            <a:r>
              <a:rPr lang="en-US" altLang="zh-CN" dirty="0" smtClean="0"/>
              <a:t>？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362200" y="1905000"/>
            <a:ext cx="4343400" cy="22288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x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</a:t>
            </a: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&lt;manipulate x&gt;</a:t>
            </a:r>
            <a:endParaRPr lang="en-GB" sz="2000" dirty="0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free(x);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...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y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for 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=0;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&lt;M;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++)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y[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] = 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x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[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]++;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>
                <a:sym typeface="+mn-ea"/>
              </a:rPr>
              <a:t>引用已释放内存块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287338"/>
            <a:ext cx="8716962" cy="1008062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未能释放内存块（内存泄漏）</a:t>
            </a:r>
            <a:endParaRPr lang="en-GB" dirty="0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74839" y="1252538"/>
            <a:ext cx="8307387" cy="522446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缓慢的长期杀手！</a:t>
            </a:r>
            <a:endParaRPr lang="en-GB" dirty="0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310714" y="2009775"/>
            <a:ext cx="5486400" cy="16192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foo()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*x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...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return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86938" y="1220788"/>
            <a:ext cx="8307387" cy="5224462"/>
          </a:xfrm>
        </p:spPr>
        <p:txBody>
          <a:bodyPr/>
          <a:lstStyle/>
          <a:p>
            <a:pPr>
              <a:lnSpc>
                <a:spcPct val="95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r>
              <a:rPr lang="zh-CN" altLang="en-US" dirty="0" smtClean="0"/>
              <a:t>仅释放数据结构的一部分</a:t>
            </a:r>
            <a:endParaRPr lang="en-GB" dirty="0"/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981200" y="1885950"/>
            <a:ext cx="8077200" cy="43624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list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list *next;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foo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() {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list *head = 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list));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head-&gt;</a:t>
            </a:r>
            <a:r>
              <a:rPr lang="en-GB" sz="2000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= 0;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head-&gt;next = NULL;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99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&lt;create and manipulate the rest of the list&gt;</a:t>
            </a:r>
            <a:endParaRPr lang="en-GB" sz="2000" dirty="0">
              <a:solidFill>
                <a:srgbClr val="990000"/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 ...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C00000"/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free(head)</a:t>
            </a: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   return;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anose="02070609020205020404" pitchFamily="49" charset="0"/>
                <a:ea typeface="msgothic" charset="0"/>
                <a:cs typeface="msgothic" charset="0"/>
              </a:rPr>
              <a:t>}</a:t>
            </a:r>
            <a:endParaRPr lang="en-GB" sz="2000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74838" y="287338"/>
            <a:ext cx="8716962" cy="1008062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未能释放内存块（内存泄漏）</a:t>
            </a:r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436562"/>
            <a:ext cx="8716962" cy="782638"/>
          </a:xfrm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dirty="0" smtClean="0"/>
              <a:t>内存漏洞的处理方法</a:t>
            </a:r>
            <a:endParaRPr lang="en-GB" dirty="0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3612" y="1219200"/>
            <a:ext cx="10528300" cy="4972050"/>
          </a:xfrm>
        </p:spPr>
        <p:txBody>
          <a:bodyPr/>
          <a:lstStyle/>
          <a:p>
            <a:r>
              <a:rPr lang="zh-CN" altLang="en-US"/>
              <a:t>原因</a:t>
            </a:r>
            <a:r>
              <a:rPr lang="en-US" altLang="zh-CN"/>
              <a:t>：</a:t>
            </a:r>
            <a:r>
              <a:rPr lang="zh-CN" altLang="en-US"/>
              <a:t>程序员的</a:t>
            </a:r>
            <a:r>
              <a:rPr lang="en-US" altLang="zh-CN"/>
              <a:t>free</a:t>
            </a:r>
            <a:r>
              <a:rPr lang="zh-CN" altLang="en-US"/>
              <a:t>使用</a:t>
            </a:r>
            <a:r>
              <a:rPr lang="zh-CN" altLang="en-US"/>
              <a:t>不当</a:t>
            </a:r>
            <a:endParaRPr lang="zh-CN" altLang="en-US"/>
          </a:p>
          <a:p>
            <a:r>
              <a:rPr lang="zh-CN" altLang="en-US"/>
              <a:t>调试器：</a:t>
            </a:r>
            <a:r>
              <a:rPr lang="en-GB"/>
              <a:t>gdb</a:t>
            </a:r>
            <a:endParaRPr lang="en-GB"/>
          </a:p>
          <a:p>
            <a:pPr lvl="1"/>
            <a:r>
              <a:rPr lang="zh-CN" altLang="en-US"/>
              <a:t>善于发现错误指针的间接引用</a:t>
            </a:r>
            <a:r>
              <a:rPr lang="en-US" altLang="zh-CN"/>
              <a:t>，</a:t>
            </a:r>
            <a:r>
              <a:rPr lang="zh-CN" altLang="en-US"/>
              <a:t>难以检测到其他内存漏洞</a:t>
            </a:r>
            <a:endParaRPr lang="en-GB"/>
          </a:p>
          <a:p>
            <a:r>
              <a:rPr lang="zh-CN" altLang="en-US"/>
              <a:t>二进制翻译器：</a:t>
            </a:r>
            <a:r>
              <a:rPr lang="en-GB"/>
              <a:t>valgrind </a:t>
            </a:r>
            <a:endParaRPr lang="en-GB"/>
          </a:p>
          <a:p>
            <a:pPr lvl="1"/>
            <a:r>
              <a:rPr lang="zh-CN" altLang="en-US"/>
              <a:t>强大的调试和分析技术</a:t>
            </a:r>
            <a:endParaRPr lang="en-GB"/>
          </a:p>
          <a:p>
            <a:pPr lvl="1"/>
            <a:r>
              <a:rPr lang="zh-CN" altLang="en-US"/>
              <a:t>重写可执行对象文件的文本段</a:t>
            </a:r>
            <a:endParaRPr lang="en-GB"/>
          </a:p>
          <a:p>
            <a:pPr lvl="1"/>
            <a:r>
              <a:rPr lang="zh-CN" altLang="en-US"/>
              <a:t>在运行时检查每个单独的引用</a:t>
            </a:r>
            <a:endParaRPr lang="en-GB"/>
          </a:p>
          <a:p>
            <a:pPr lvl="2"/>
            <a:r>
              <a:rPr lang="zh-CN" altLang="en-US"/>
              <a:t>错误指针，写覆盖，对已分配内存块之外的引用</a:t>
            </a:r>
            <a:endParaRPr lang="en-GB"/>
          </a:p>
          <a:p>
            <a:r>
              <a:rPr lang="en-GB"/>
              <a:t>glibc malloc </a:t>
            </a:r>
            <a:r>
              <a:rPr lang="zh-CN" altLang="en-US"/>
              <a:t>包含检查代码</a:t>
            </a:r>
            <a:endParaRPr lang="en-GB"/>
          </a:p>
          <a:p>
            <a:pPr lvl="1"/>
            <a:r>
              <a:rPr lang="en-GB"/>
              <a:t>setenv MALLOC_CHECK_ 3 </a:t>
            </a:r>
            <a:endParaRPr lang="en-GB"/>
          </a:p>
          <a:p>
            <a:pPr lvl="0"/>
            <a:r>
              <a:rPr lang="zh-CN" altLang="en-GB">
                <a:solidFill>
                  <a:srgbClr val="FF0000"/>
                </a:solidFill>
              </a:rPr>
              <a:t>内存资源的自动回收</a:t>
            </a:r>
            <a:r>
              <a:rPr lang="en-US" altLang="zh-CN">
                <a:solidFill>
                  <a:srgbClr val="FF0000"/>
                </a:solidFill>
              </a:rPr>
              <a:t>——</a:t>
            </a:r>
            <a:r>
              <a:rPr lang="zh-CN" altLang="en-US">
                <a:solidFill>
                  <a:srgbClr val="FF0000"/>
                </a:solidFill>
              </a:rPr>
              <a:t>垃圾回收</a:t>
            </a:r>
            <a:endParaRPr lang="zh-CN" altLang="en-GB">
              <a:solidFill>
                <a:srgbClr val="FF0000"/>
              </a:solidFill>
            </a:endParaRPr>
          </a:p>
          <a:p>
            <a:pPr lvl="1"/>
            <a:r>
              <a:rPr lang="zh-CN" altLang="en-GB"/>
              <a:t>无须程序员调用“</a:t>
            </a:r>
            <a:r>
              <a:rPr lang="en-US" altLang="zh-CN"/>
              <a:t>free(*)</a:t>
            </a:r>
            <a:r>
              <a:rPr lang="zh-CN" altLang="en-US"/>
              <a:t>”</a:t>
            </a:r>
            <a:r>
              <a:rPr lang="en-US" altLang="zh-CN"/>
              <a:t>，</a:t>
            </a:r>
            <a:r>
              <a:rPr lang="zh-CN" altLang="en-US"/>
              <a:t>运行时系统自动回收不再使用的内存资源</a:t>
            </a:r>
            <a:endParaRPr lang="zh-CN" altLang="en-US"/>
          </a:p>
          <a:p>
            <a:pPr lvl="1"/>
            <a:r>
              <a:rPr lang="zh-CN" altLang="en-GB"/>
              <a:t>可以避免</a:t>
            </a:r>
            <a:r>
              <a:rPr lang="zh-CN" altLang="en-GB" b="1">
                <a:latin typeface="Arial Bold" panose="020B0704020202020204" charset="0"/>
              </a:rPr>
              <a:t>多次释放</a:t>
            </a:r>
            <a:r>
              <a:rPr lang="en-US" altLang="zh-CN" b="1">
                <a:latin typeface="Arial Bold" panose="020B0704020202020204" charset="0"/>
              </a:rPr>
              <a:t>、</a:t>
            </a:r>
            <a:r>
              <a:rPr lang="zh-CN" altLang="en-US" b="1">
                <a:latin typeface="Arial Bold" panose="020B0704020202020204" charset="0"/>
              </a:rPr>
              <a:t>释放后引用</a:t>
            </a:r>
            <a:r>
              <a:rPr lang="en-US" altLang="zh-CN" b="1">
                <a:latin typeface="Arial Bold" panose="020B0704020202020204" charset="0"/>
              </a:rPr>
              <a:t>、</a:t>
            </a:r>
            <a:r>
              <a:rPr lang="zh-CN" altLang="en-US" b="1">
                <a:latin typeface="Arial Bold" panose="020B0704020202020204" charset="0"/>
              </a:rPr>
              <a:t>内存泄漏</a:t>
            </a:r>
            <a:r>
              <a:rPr lang="zh-CN" altLang="en-US"/>
              <a:t>等问题</a:t>
            </a:r>
            <a:endParaRPr lang="en-GB"/>
          </a:p>
          <a:p>
            <a:pPr lvl="2">
              <a:lnSpc>
                <a:spcPct val="107000"/>
              </a:lnSpc>
              <a:tabLst>
                <a:tab pos="318770" algn="l"/>
                <a:tab pos="845820" algn="l"/>
                <a:tab pos="1760220" algn="l"/>
                <a:tab pos="2674620" algn="l"/>
                <a:tab pos="3589020" algn="l"/>
                <a:tab pos="4503420" algn="l"/>
                <a:tab pos="5417820" algn="l"/>
                <a:tab pos="6332220" algn="l"/>
                <a:tab pos="7246620" algn="l"/>
                <a:tab pos="8161020" algn="l"/>
                <a:tab pos="9075420" algn="l"/>
                <a:tab pos="9989820" algn="l"/>
              </a:tabLst>
            </a:pPr>
            <a:endParaRPr lang="en-GB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 sz="1600" dirty="0" smtClean="0">
            <a:latin typeface="+mn-lt"/>
          </a:defRPr>
        </a:defPPr>
      </a:lstStyle>
    </a:spDef>
    <a:lnDef>
      <a:spPr bwMode="auto">
        <a:noFill/>
        <a:ln w="12700">
          <a:solidFill>
            <a:srgbClr val="000000"/>
          </a:solidFill>
          <a:miter lim="800000"/>
          <a:headEnd type="none" w="med" len="med"/>
          <a:tailEnd type="triangl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 sz="1600" dirty="0" smtClean="0">
            <a:latin typeface="+mn-lt"/>
          </a:defRPr>
        </a:defPPr>
      </a:lstStyle>
    </a:spDef>
    <a:lnDef>
      <a:spPr bwMode="auto">
        <a:noFill/>
        <a:ln w="12700">
          <a:solidFill>
            <a:srgbClr val="000000"/>
          </a:solidFill>
          <a:miter lim="800000"/>
          <a:headEnd type="none" w="med" len="med"/>
          <a:tailEnd type="triangl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 sz="1600" dirty="0" smtClean="0">
            <a:latin typeface="+mn-lt"/>
          </a:defRPr>
        </a:defPPr>
      </a:lstStyle>
    </a:spDef>
    <a:lnDef>
      <a:spPr bwMode="auto">
        <a:noFill/>
        <a:ln w="12700">
          <a:solidFill>
            <a:srgbClr val="000000"/>
          </a:solidFill>
          <a:miter lim="800000"/>
          <a:headEnd type="none" w="med" len="med"/>
          <a:tailEnd type="triangl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 sz="1600" dirty="0" smtClean="0">
            <a:latin typeface="+mn-lt"/>
          </a:defRPr>
        </a:defPPr>
      </a:lstStyle>
    </a:spDef>
    <a:lnDef>
      <a:spPr bwMode="auto">
        <a:noFill/>
        <a:ln w="12700">
          <a:solidFill>
            <a:srgbClr val="000000"/>
          </a:solidFill>
          <a:miter lim="800000"/>
          <a:headEnd type="none" w="med" len="med"/>
          <a:tailEnd type="triangl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5732</Words>
  <Application>WPS Presentation</Application>
  <PresentationFormat>宽屏</PresentationFormat>
  <Paragraphs>731</Paragraphs>
  <Slides>38</Slides>
  <Notes>37</Notes>
  <HiddenSlides>2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38</vt:i4>
      </vt:variant>
    </vt:vector>
  </HeadingPairs>
  <TitlesOfParts>
    <vt:vector size="72" baseType="lpstr">
      <vt:lpstr>Arial</vt:lpstr>
      <vt:lpstr>SimSun</vt:lpstr>
      <vt:lpstr>Wingdings</vt:lpstr>
      <vt:lpstr>Arial Narrow</vt:lpstr>
      <vt:lpstr>Calibri</vt:lpstr>
      <vt:lpstr>Helvetica Neue</vt:lpstr>
      <vt:lpstr>Times New Roman</vt:lpstr>
      <vt:lpstr>MS PGothic</vt:lpstr>
      <vt:lpstr>Wingdings 2</vt:lpstr>
      <vt:lpstr>msgothic</vt:lpstr>
      <vt:lpstr>苹方-简</vt:lpstr>
      <vt:lpstr>Courier New</vt:lpstr>
      <vt:lpstr>SimSun</vt:lpstr>
      <vt:lpstr>汉仪书宋二KW</vt:lpstr>
      <vt:lpstr>Microsoft YaHei</vt:lpstr>
      <vt:lpstr>汉仪旗黑</vt:lpstr>
      <vt:lpstr>Arial Unicode MS</vt:lpstr>
      <vt:lpstr>Cambria Math</vt:lpstr>
      <vt:lpstr>Kingsoft Math</vt:lpstr>
      <vt:lpstr>Consolas</vt:lpstr>
      <vt:lpstr>Courier New</vt:lpstr>
      <vt:lpstr>Arial Bold</vt:lpstr>
      <vt:lpstr>冬青黑体简体中文</vt:lpstr>
      <vt:lpstr>SimSun</vt:lpstr>
      <vt:lpstr>DejaVu Math TeX Gyre</vt:lpstr>
      <vt:lpstr>quote-cjk-patch</vt:lpstr>
      <vt:lpstr>Menlo</vt:lpstr>
      <vt:lpstr>Thonburi</vt:lpstr>
      <vt:lpstr>Menlo</vt:lpstr>
      <vt:lpstr>quote-cjk-patch</vt:lpstr>
      <vt:lpstr>template2007</vt:lpstr>
      <vt:lpstr>3_template2007</vt:lpstr>
      <vt:lpstr>1_template2007</vt:lpstr>
      <vt:lpstr>2_template2007</vt:lpstr>
      <vt:lpstr>动态内存分配：高级概念  15-213/15-513/14-513: Introduction to Computer Systems 14th Lecture, Oct 9, 2025</vt:lpstr>
      <vt:lpstr>复习：动态内存分配	</vt:lpstr>
      <vt:lpstr>复习：持续跟踪空闲块</vt:lpstr>
      <vt:lpstr>复习：隐式列表总结</vt:lpstr>
      <vt:lpstr>Today</vt:lpstr>
      <vt:lpstr>持续跟踪空闲块</vt:lpstr>
      <vt:lpstr>显式空闲列表</vt:lpstr>
      <vt:lpstr>显式空闲列表</vt:lpstr>
      <vt:lpstr>从显式空闲列表分配</vt:lpstr>
      <vt:lpstr>用显式空闲列表释放</vt:lpstr>
      <vt:lpstr>用LIFO策略释放（场景1）</vt:lpstr>
      <vt:lpstr>用LIFO策略释放（场景2）</vt:lpstr>
      <vt:lpstr>用LIFO策略释放（场景3）</vt:lpstr>
      <vt:lpstr>用LIFO策略释放（场景4）</vt:lpstr>
      <vt:lpstr>一个建议：实现技巧</vt:lpstr>
      <vt:lpstr>显式列表总结</vt:lpstr>
      <vt:lpstr>Today</vt:lpstr>
      <vt:lpstr>列表分割（Seglist）分配器</vt:lpstr>
      <vt:lpstr>Seglist分配器</vt:lpstr>
      <vt:lpstr>Seglist分配器（续）</vt:lpstr>
      <vt:lpstr>关于分配器的更多信息</vt:lpstr>
      <vt:lpstr>Today</vt:lpstr>
      <vt:lpstr>内存相关的风险与陷阱</vt:lpstr>
      <vt:lpstr>间接引用错误指针</vt:lpstr>
      <vt:lpstr>读取未初始化的内存</vt:lpstr>
      <vt:lpstr>写覆盖内存</vt:lpstr>
      <vt:lpstr>写覆盖内存</vt:lpstr>
      <vt:lpstr>写覆盖内存</vt:lpstr>
      <vt:lpstr>写覆盖内存</vt:lpstr>
      <vt:lpstr>写覆盖内存</vt:lpstr>
      <vt:lpstr>C 运算符</vt:lpstr>
      <vt:lpstr>写覆盖内存</vt:lpstr>
      <vt:lpstr>引用不存在的变量</vt:lpstr>
      <vt:lpstr>多次释放内存块</vt:lpstr>
      <vt:lpstr>引用已释放内存块</vt:lpstr>
      <vt:lpstr>未能释放内存块（内存泄漏）</vt:lpstr>
      <vt:lpstr>未能释放内存块（内存泄漏）</vt:lpstr>
      <vt:lpstr>内存漏洞的处理方法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00030832</cp:lastModifiedBy>
  <cp:revision>788</cp:revision>
  <cp:lastPrinted>2026-05-27T12:48:20Z</cp:lastPrinted>
  <dcterms:created xsi:type="dcterms:W3CDTF">2026-05-27T12:48:20Z</dcterms:created>
  <dcterms:modified xsi:type="dcterms:W3CDTF">2026-05-27T12:48:20Z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629D5C64C42C958178929F69685C9D46_42</vt:lpwstr>
  </property>
</Properties>
</file>