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6" r:id="rId2"/>
    <p:sldId id="258" r:id="rId3"/>
    <p:sldId id="290" r:id="rId4"/>
    <p:sldId id="260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91" r:id="rId15"/>
    <p:sldId id="282" r:id="rId16"/>
    <p:sldId id="284" r:id="rId17"/>
    <p:sldId id="285" r:id="rId18"/>
    <p:sldId id="287" r:id="rId19"/>
    <p:sldId id="286" r:id="rId20"/>
    <p:sldId id="288" r:id="rId21"/>
    <p:sldId id="283" r:id="rId22"/>
    <p:sldId id="289" r:id="rId23"/>
    <p:sldId id="292" r:id="rId24"/>
    <p:sldId id="293" r:id="rId25"/>
    <p:sldId id="271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30C2F341-6F60-432C-B4E0-6FA15ECBC84E}">
          <p14:sldIdLst>
            <p14:sldId id="256"/>
          </p14:sldIdLst>
        </p14:section>
        <p14:section name="正文" id="{79E22CAA-EDDB-4540-8E79-CF9371970BDC}">
          <p14:sldIdLst>
            <p14:sldId id="258"/>
            <p14:sldId id="290"/>
            <p14:sldId id="260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91"/>
            <p14:sldId id="282"/>
            <p14:sldId id="284"/>
            <p14:sldId id="285"/>
            <p14:sldId id="287"/>
            <p14:sldId id="286"/>
            <p14:sldId id="288"/>
            <p14:sldId id="283"/>
            <p14:sldId id="289"/>
            <p14:sldId id="292"/>
            <p14:sldId id="293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F4025C-7272-4DD3-99C1-B89CF9989B83}" v="74" dt="2026-03-07T04:12:23.9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8" autoAdjust="0"/>
    <p:restoredTop sz="94689" autoAdjust="0"/>
  </p:normalViewPr>
  <p:slideViewPr>
    <p:cSldViewPr snapToGrid="0">
      <p:cViewPr varScale="1">
        <p:scale>
          <a:sx n="126" d="100"/>
          <a:sy n="126" d="100"/>
        </p:scale>
        <p:origin x="713" y="75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76" y="45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87EF020-2553-7611-065D-BD5102A171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F9E1C64-8EFE-61F8-86EA-E9AAAB0D0C0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A2942B-5E7F-4888-9439-2AF2B21DAEF6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5C97788-E05D-E07A-DD42-53C36848963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646D6A1-857E-D477-E5FA-4D73BC0A8D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649173-42E3-41C2-923E-CA934E253A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47638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24641A-20D9-4FCB-A884-309D66A7AC09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67E99D-ABB6-4F08-9144-895AFF8932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9791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err="1"/>
              <a:t>gcc</a:t>
            </a:r>
            <a:r>
              <a:rPr lang="en-US" altLang="zh-CN" dirty="0"/>
              <a:t> </a:t>
            </a:r>
            <a:r>
              <a:rPr lang="en-US" altLang="zh-CN" dirty="0" err="1"/>
              <a:t>hello.c</a:t>
            </a:r>
            <a:r>
              <a:rPr lang="en-US" altLang="zh-CN" dirty="0"/>
              <a:t> -o hello</a:t>
            </a:r>
            <a:endParaRPr lang="zh-CN" altLang="en-US" dirty="0"/>
          </a:p>
          <a:p>
            <a:r>
              <a:rPr lang="en-US" altLang="zh-CN" dirty="0" err="1"/>
              <a:t>gcc</a:t>
            </a:r>
            <a:r>
              <a:rPr lang="en-US" altLang="zh-CN" dirty="0"/>
              <a:t> -g </a:t>
            </a:r>
            <a:r>
              <a:rPr lang="en-US" altLang="zh-CN" dirty="0" err="1"/>
              <a:t>hello.c</a:t>
            </a:r>
            <a:r>
              <a:rPr lang="en-US" altLang="zh-CN" dirty="0"/>
              <a:t> -o hello</a:t>
            </a:r>
          </a:p>
          <a:p>
            <a:r>
              <a:rPr lang="en-US" altLang="zh-C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gcc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-O0</a:t>
            </a:r>
            <a:r>
              <a:rPr lang="en-US" altLang="zh-CN" dirty="0"/>
              <a:t> vs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-O3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err="1"/>
              <a:t>gcc</a:t>
            </a:r>
            <a:r>
              <a:rPr lang="en-US" altLang="zh-CN" dirty="0"/>
              <a:t> -S </a:t>
            </a:r>
            <a:r>
              <a:rPr lang="en-US" altLang="zh-CN" dirty="0" err="1"/>
              <a:t>hello.c</a:t>
            </a:r>
            <a:r>
              <a:rPr lang="en-US" altLang="zh-CN" dirty="0"/>
              <a:t> -o </a:t>
            </a:r>
            <a:r>
              <a:rPr lang="en-US" altLang="zh-CN" dirty="0" err="1"/>
              <a:t>hello.s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err="1"/>
              <a:t>gcc</a:t>
            </a:r>
            <a:r>
              <a:rPr lang="en-US" altLang="zh-CN" dirty="0"/>
              <a:t> -c </a:t>
            </a:r>
            <a:r>
              <a:rPr lang="en-US" altLang="zh-CN" dirty="0" err="1"/>
              <a:t>hello.c</a:t>
            </a:r>
            <a:r>
              <a:rPr lang="en-US" altLang="zh-CN" dirty="0"/>
              <a:t> -o </a:t>
            </a:r>
            <a:r>
              <a:rPr lang="en-US" altLang="zh-CN" dirty="0" err="1"/>
              <a:t>hello.o</a:t>
            </a:r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gcc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67E99D-ABB6-4F08-9144-895AFF893204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6560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3DC23-4AB6-FEBB-F13F-BF9A84BDC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D5D952A-0613-4831-2821-673F04C5FC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B0F2F92-7BB5-3932-2712-E36FB9178C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err="1"/>
              <a:t>gcc</a:t>
            </a:r>
            <a:r>
              <a:rPr lang="en-US" altLang="zh-CN" dirty="0"/>
              <a:t> </a:t>
            </a:r>
            <a:r>
              <a:rPr lang="en-US" altLang="zh-CN" dirty="0" err="1"/>
              <a:t>hello.c</a:t>
            </a:r>
            <a:r>
              <a:rPr lang="en-US" altLang="zh-CN" dirty="0"/>
              <a:t> -o hello</a:t>
            </a:r>
            <a:endParaRPr lang="zh-CN" altLang="en-US" dirty="0"/>
          </a:p>
          <a:p>
            <a:r>
              <a:rPr lang="en-US" altLang="zh-CN" dirty="0" err="1"/>
              <a:t>gcc</a:t>
            </a:r>
            <a:r>
              <a:rPr lang="en-US" altLang="zh-CN" dirty="0"/>
              <a:t> -g </a:t>
            </a:r>
            <a:r>
              <a:rPr lang="en-US" altLang="zh-CN" dirty="0" err="1"/>
              <a:t>hello.c</a:t>
            </a:r>
            <a:r>
              <a:rPr lang="en-US" altLang="zh-CN" dirty="0"/>
              <a:t> -o hello</a:t>
            </a:r>
          </a:p>
          <a:p>
            <a:r>
              <a:rPr lang="en-US" altLang="zh-C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gcc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-O0</a:t>
            </a:r>
            <a:r>
              <a:rPr lang="en-US" altLang="zh-CN" dirty="0"/>
              <a:t> vs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-O3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err="1"/>
              <a:t>gcc</a:t>
            </a:r>
            <a:r>
              <a:rPr lang="en-US" altLang="zh-CN" dirty="0"/>
              <a:t> -S </a:t>
            </a:r>
            <a:r>
              <a:rPr lang="en-US" altLang="zh-CN" dirty="0" err="1"/>
              <a:t>hello.c</a:t>
            </a:r>
            <a:r>
              <a:rPr lang="en-US" altLang="zh-CN" dirty="0"/>
              <a:t> -o </a:t>
            </a:r>
            <a:r>
              <a:rPr lang="en-US" altLang="zh-CN" dirty="0" err="1"/>
              <a:t>hello.s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err="1"/>
              <a:t>gcc</a:t>
            </a:r>
            <a:r>
              <a:rPr lang="en-US" altLang="zh-CN" dirty="0"/>
              <a:t> -c </a:t>
            </a:r>
            <a:r>
              <a:rPr lang="en-US" altLang="zh-CN" dirty="0" err="1"/>
              <a:t>hello.c</a:t>
            </a:r>
            <a:r>
              <a:rPr lang="en-US" altLang="zh-CN" dirty="0"/>
              <a:t> -o </a:t>
            </a:r>
            <a:r>
              <a:rPr lang="en-US" altLang="zh-CN" dirty="0" err="1"/>
              <a:t>hello.o</a:t>
            </a:r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gcc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-E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569A8AB-9EF3-0E8E-9991-D5212B14E9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67E99D-ABB6-4F08-9144-895AFF893204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51153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A0172A-F9A6-2F9C-C086-4D5A9A4A5D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59FDD9E-13B7-FD58-03C4-0F691DBFDB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05275"/>
            <a:ext cx="9144000" cy="1655762"/>
          </a:xfrm>
        </p:spPr>
        <p:txBody>
          <a:bodyPr/>
          <a:lstStyle>
            <a:lvl1pPr marL="0" indent="0" algn="l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451607-3E37-8E51-F026-6FE827E4B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2D788-9ADD-4415-BA5C-900AC4D9D416}" type="datetime1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F3A238-76C3-9023-5CF5-A44C4DF0A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武汉大学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ED782B-AC48-302D-040C-074D32142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9D51C-D1D6-49ED-AEB1-B846C6EB5F8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DD8C09A-CCFF-C855-BF43-B8C07D3C0576}"/>
              </a:ext>
            </a:extLst>
          </p:cNvPr>
          <p:cNvSpPr/>
          <p:nvPr userDrawn="1"/>
        </p:nvSpPr>
        <p:spPr>
          <a:xfrm>
            <a:off x="986367" y="1011767"/>
            <a:ext cx="381000" cy="25902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流程图: 过程 12">
            <a:extLst>
              <a:ext uri="{FF2B5EF4-FFF2-40B4-BE49-F238E27FC236}">
                <a16:creationId xmlns:a16="http://schemas.microsoft.com/office/drawing/2014/main" id="{2B31D109-C179-697D-6B0C-6AA2B0651793}"/>
              </a:ext>
            </a:extLst>
          </p:cNvPr>
          <p:cNvSpPr/>
          <p:nvPr userDrawn="1"/>
        </p:nvSpPr>
        <p:spPr>
          <a:xfrm>
            <a:off x="1524000" y="3739040"/>
            <a:ext cx="9144000" cy="45719"/>
          </a:xfrm>
          <a:prstGeom prst="flowChartProcess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3942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4126C6-D7C8-1452-8640-66385CAAA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934905"/>
            <a:ext cx="10515600" cy="823649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10F6BB-AA89-7056-CA06-48EF19456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50000"/>
              </a:lnSpc>
              <a:defRPr/>
            </a:lvl1pPr>
            <a:lvl2pPr>
              <a:lnSpc>
                <a:spcPct val="150000"/>
              </a:lnSpc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D5A9E0-0FCE-BD83-63FF-2F4B3641C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2F16A-2760-476C-B48C-63AB8C5EB03B}" type="datetime1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2F12FD-8025-10B5-054A-CBA38CED3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武汉大学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3B6710-7014-19E6-A9A7-1AA2965FD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9D51C-D1D6-49ED-AEB1-B846C6EB5F8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33DD1CA-E752-2671-29E8-01A6ACA9AA17}"/>
              </a:ext>
            </a:extLst>
          </p:cNvPr>
          <p:cNvSpPr/>
          <p:nvPr userDrawn="1"/>
        </p:nvSpPr>
        <p:spPr>
          <a:xfrm>
            <a:off x="406401" y="242093"/>
            <a:ext cx="342900" cy="15716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0149B7CB-6B70-F3F2-875E-451B930CE143}"/>
              </a:ext>
            </a:extLst>
          </p:cNvPr>
          <p:cNvCxnSpPr>
            <a:cxnSpLocks/>
          </p:cNvCxnSpPr>
          <p:nvPr userDrawn="1"/>
        </p:nvCxnSpPr>
        <p:spPr>
          <a:xfrm>
            <a:off x="762000" y="807243"/>
            <a:ext cx="10667999" cy="17727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39591C53-8D32-92F8-E18D-DB15EA9722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317368"/>
            <a:ext cx="10515600" cy="440531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单击此处编辑母版段落标题样式</a:t>
            </a:r>
          </a:p>
        </p:txBody>
      </p:sp>
    </p:spTree>
    <p:extLst>
      <p:ext uri="{BB962C8B-B14F-4D97-AF65-F5344CB8AC3E}">
        <p14:creationId xmlns:p14="http://schemas.microsoft.com/office/powerpoint/2010/main" val="3556852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FB611D-78A3-6356-73BC-5B4754279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5682" y="1709738"/>
            <a:ext cx="9901767" cy="2852737"/>
          </a:xfrm>
        </p:spPr>
        <p:txBody>
          <a:bodyPr anchor="b"/>
          <a:lstStyle>
            <a:lvl1pPr>
              <a:defRPr sz="6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FB40AE2-84BE-6441-8FC8-EB4EFEF79D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EDCBE1-7DA8-63FD-A4D4-844D473F5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D23FF-A6A9-4343-9785-3B8E65C6A2EC}" type="datetime1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8323A2-509A-E1E3-FF52-B0AEDE917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武汉大学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0444AB-8A97-F0F1-243C-C0C22C5E1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9D51C-D1D6-49ED-AEB1-B846C6EB5F8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流程图: 过程 6">
            <a:extLst>
              <a:ext uri="{FF2B5EF4-FFF2-40B4-BE49-F238E27FC236}">
                <a16:creationId xmlns:a16="http://schemas.microsoft.com/office/drawing/2014/main" id="{453067A0-2290-B7A4-D3D7-439B2752250B}"/>
              </a:ext>
            </a:extLst>
          </p:cNvPr>
          <p:cNvSpPr/>
          <p:nvPr userDrawn="1"/>
        </p:nvSpPr>
        <p:spPr>
          <a:xfrm>
            <a:off x="838200" y="4553110"/>
            <a:ext cx="10528300" cy="45719"/>
          </a:xfrm>
          <a:prstGeom prst="flowChartProcess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内容占位符 11">
            <a:extLst>
              <a:ext uri="{FF2B5EF4-FFF2-40B4-BE49-F238E27FC236}">
                <a16:creationId xmlns:a16="http://schemas.microsoft.com/office/drawing/2014/main" id="{619655FF-8153-D38B-0F18-7E3EA3C10E1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5500" y="1709739"/>
            <a:ext cx="588961" cy="2843372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6000" b="1" kern="12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altLang="zh-CN" dirty="0"/>
              <a:t>#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38496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A79EA8-81D6-F6A5-E42C-941903FCEF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2pPr>
              <a:lnSpc>
                <a:spcPct val="150000"/>
              </a:lnSpc>
              <a:defRPr/>
            </a:lvl2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31458F0-9089-28A7-E904-21898F1584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2pPr>
              <a:lnSpc>
                <a:spcPct val="150000"/>
              </a:lnSpc>
              <a:defRPr/>
            </a:lvl2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5D0241B-8A74-CD7C-99A2-242B0336A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E14EA-2657-4EDF-9546-670F41AB21D3}" type="datetime1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493611-B1EB-1DDD-2381-148A954BC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武汉大学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96CDFD3-1440-522D-BC64-83737BE0F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9D51C-D1D6-49ED-AEB1-B846C6EB5F8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3C8FAA22-7BA8-8291-26AF-681564196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934905"/>
            <a:ext cx="10515600" cy="823649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49F5C60-D9BE-1F29-0286-5AAFCB33FD25}"/>
              </a:ext>
            </a:extLst>
          </p:cNvPr>
          <p:cNvSpPr/>
          <p:nvPr userDrawn="1"/>
        </p:nvSpPr>
        <p:spPr>
          <a:xfrm>
            <a:off x="406401" y="242093"/>
            <a:ext cx="342900" cy="15716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0CA2D7B2-7154-D14D-6A6C-987672B6DB70}"/>
              </a:ext>
            </a:extLst>
          </p:cNvPr>
          <p:cNvCxnSpPr>
            <a:cxnSpLocks/>
          </p:cNvCxnSpPr>
          <p:nvPr userDrawn="1"/>
        </p:nvCxnSpPr>
        <p:spPr>
          <a:xfrm>
            <a:off x="762000" y="807243"/>
            <a:ext cx="10667999" cy="17727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57F743C0-540C-C49F-01E5-623DDBE775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317368"/>
            <a:ext cx="10515600" cy="440531"/>
          </a:xfrm>
        </p:spPr>
        <p:txBody>
          <a:bodyPr anchor="b">
            <a:normAutofit/>
          </a:bodyPr>
          <a:lstStyle>
            <a:lvl1pPr marL="0" indent="0">
              <a:buNone/>
              <a:defRPr lang="zh-CN" altLang="en-US" sz="18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CN" altLang="en-US" dirty="0"/>
              <a:t>单击此处编辑母版段落标题样式</a:t>
            </a:r>
          </a:p>
        </p:txBody>
      </p:sp>
    </p:spTree>
    <p:extLst>
      <p:ext uri="{BB962C8B-B14F-4D97-AF65-F5344CB8AC3E}">
        <p14:creationId xmlns:p14="http://schemas.microsoft.com/office/powerpoint/2010/main" val="3499558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28CC990-071A-5D61-3D58-1D22236C0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518B02-CB84-1396-72D0-DD07D2DC54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2pPr>
              <a:lnSpc>
                <a:spcPct val="150000"/>
              </a:lnSpc>
              <a:defRPr/>
            </a:lvl2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303169B-0721-F42E-276D-9047F5D53C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29DFB07-E61C-6FF9-E277-59D5CD5823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2pPr>
              <a:lnSpc>
                <a:spcPct val="150000"/>
              </a:lnSpc>
              <a:defRPr/>
            </a:lvl2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7EB14B9-4FAA-722A-5BCA-319ACEFCA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C691A-068E-4893-B467-B220399EFC6A}" type="datetime1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1D6D9FC-CC89-7002-D61C-920BD708F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武汉大学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0DC947F-29DF-4228-50DC-417A61F79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9D51C-D1D6-49ED-AEB1-B846C6EB5F8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F482B3-79E5-569B-A0B8-03EAAD2BB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934905"/>
            <a:ext cx="10515600" cy="823649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EF49C89-A94C-B37A-9402-DC1DA9095818}"/>
              </a:ext>
            </a:extLst>
          </p:cNvPr>
          <p:cNvSpPr/>
          <p:nvPr userDrawn="1"/>
        </p:nvSpPr>
        <p:spPr>
          <a:xfrm>
            <a:off x="406401" y="242093"/>
            <a:ext cx="342900" cy="15716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AE080FAD-FAC8-1234-F018-AFADC6BF43FC}"/>
              </a:ext>
            </a:extLst>
          </p:cNvPr>
          <p:cNvCxnSpPr>
            <a:cxnSpLocks/>
          </p:cNvCxnSpPr>
          <p:nvPr userDrawn="1"/>
        </p:nvCxnSpPr>
        <p:spPr>
          <a:xfrm>
            <a:off x="762000" y="807243"/>
            <a:ext cx="10667999" cy="17727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文本占位符 10">
            <a:extLst>
              <a:ext uri="{FF2B5EF4-FFF2-40B4-BE49-F238E27FC236}">
                <a16:creationId xmlns:a16="http://schemas.microsoft.com/office/drawing/2014/main" id="{E006C3FE-D1DA-65E9-5C0C-5092FCDCCB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317368"/>
            <a:ext cx="10515600" cy="440531"/>
          </a:xfrm>
        </p:spPr>
        <p:txBody>
          <a:bodyPr anchor="b">
            <a:normAutofit/>
          </a:bodyPr>
          <a:lstStyle>
            <a:lvl1pPr marL="0" indent="0">
              <a:buNone/>
              <a:defRPr lang="zh-CN" altLang="en-US" sz="18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CN" altLang="en-US" dirty="0"/>
              <a:t>单击此处编辑母版段落标题样式</a:t>
            </a:r>
          </a:p>
        </p:txBody>
      </p:sp>
    </p:spTree>
    <p:extLst>
      <p:ext uri="{BB962C8B-B14F-4D97-AF65-F5344CB8AC3E}">
        <p14:creationId xmlns:p14="http://schemas.microsoft.com/office/powerpoint/2010/main" val="1300839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054A60B-4F22-F00A-9BD0-A9FBB62E0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F9DD4-E1E5-4CCE-A283-9458A8CCD5B3}" type="datetime1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7539966-D821-684A-3B7A-C8DB53027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武汉大学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1DA607F-02F2-CE3D-5E5E-769CF9AD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9D51C-D1D6-49ED-AEB1-B846C6EB5F8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CA5D7ADB-2268-6C42-5C5F-C60CF8BD9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934905"/>
            <a:ext cx="10515600" cy="823649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C09A7DF-F1C1-E8FA-DDB5-C05D98C4495B}"/>
              </a:ext>
            </a:extLst>
          </p:cNvPr>
          <p:cNvSpPr/>
          <p:nvPr userDrawn="1"/>
        </p:nvSpPr>
        <p:spPr>
          <a:xfrm>
            <a:off x="406401" y="242093"/>
            <a:ext cx="342900" cy="15716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4E920863-B55E-2CBE-B8C3-AED9EB2396FB}"/>
              </a:ext>
            </a:extLst>
          </p:cNvPr>
          <p:cNvCxnSpPr>
            <a:cxnSpLocks/>
          </p:cNvCxnSpPr>
          <p:nvPr userDrawn="1"/>
        </p:nvCxnSpPr>
        <p:spPr>
          <a:xfrm>
            <a:off x="762000" y="807243"/>
            <a:ext cx="10667999" cy="17727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本占位符 10">
            <a:extLst>
              <a:ext uri="{FF2B5EF4-FFF2-40B4-BE49-F238E27FC236}">
                <a16:creationId xmlns:a16="http://schemas.microsoft.com/office/drawing/2014/main" id="{CD79C528-AAAA-D046-AB3D-55F0A57FF3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317368"/>
            <a:ext cx="10515600" cy="440531"/>
          </a:xfrm>
        </p:spPr>
        <p:txBody>
          <a:bodyPr anchor="b">
            <a:normAutofit/>
          </a:bodyPr>
          <a:lstStyle>
            <a:lvl1pPr marL="0" indent="0">
              <a:buNone/>
              <a:defRPr lang="zh-CN" altLang="en-US" sz="18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CN" altLang="en-US" dirty="0"/>
              <a:t>单击此处编辑母版段落标题样式</a:t>
            </a:r>
          </a:p>
        </p:txBody>
      </p:sp>
    </p:spTree>
    <p:extLst>
      <p:ext uri="{BB962C8B-B14F-4D97-AF65-F5344CB8AC3E}">
        <p14:creationId xmlns:p14="http://schemas.microsoft.com/office/powerpoint/2010/main" val="42902375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CD7EC2D-82AF-616D-D14D-3FD502072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7F378-3FCA-43AE-826F-C6656DDBF4D4}" type="datetime1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8185F94-FACE-9E4F-3839-254C88767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武汉大学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59B224-F2EB-A6A9-7D41-6F6B5D61E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9D51C-D1D6-49ED-AEB1-B846C6EB5F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6459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C12BDA96-1C9D-1C98-A55F-0D6930170F3E}"/>
              </a:ext>
            </a:extLst>
          </p:cNvPr>
          <p:cNvSpPr/>
          <p:nvPr userDrawn="1"/>
        </p:nvSpPr>
        <p:spPr>
          <a:xfrm>
            <a:off x="0" y="6356350"/>
            <a:ext cx="12192001" cy="3651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5534798-9F33-5BFB-942E-FBB7840196B6}"/>
              </a:ext>
            </a:extLst>
          </p:cNvPr>
          <p:cNvSpPr/>
          <p:nvPr userDrawn="1"/>
        </p:nvSpPr>
        <p:spPr>
          <a:xfrm>
            <a:off x="2559050" y="6356350"/>
            <a:ext cx="7073900" cy="36512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7EDDB3D-56FF-F308-CE66-D73B8B16F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E6E7AC6-9E88-90CB-FE80-B4D7EFB482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090B15-1E53-2E37-E4BC-F875564570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bg1"/>
                </a:solidFill>
              </a:defRPr>
            </a:lvl1pPr>
          </a:lstStyle>
          <a:p>
            <a:fld id="{E70C5B46-FF24-4ED6-B50A-5AEA7966E74A}" type="datetime1">
              <a:rPr lang="zh-CN" altLang="en-US" smtClean="0"/>
              <a:t>2026/3/7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12D357-92DB-C561-EDBF-A26536D9A9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武汉大学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BB8FC3-5A50-55ED-42BE-5DC345FEBC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E49D51C-D1D6-49ED-AEB1-B846C6EB5F8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96CCFE1-BDFF-DE60-F447-BF51C2C9B7F3}"/>
              </a:ext>
            </a:extLst>
          </p:cNvPr>
          <p:cNvSpPr/>
          <p:nvPr userDrawn="1"/>
        </p:nvSpPr>
        <p:spPr>
          <a:xfrm>
            <a:off x="0" y="0"/>
            <a:ext cx="12192000" cy="1473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4EC9E15-8A20-FEB4-EE10-D29A3F58D1C3}"/>
              </a:ext>
            </a:extLst>
          </p:cNvPr>
          <p:cNvSpPr/>
          <p:nvPr userDrawn="1"/>
        </p:nvSpPr>
        <p:spPr>
          <a:xfrm>
            <a:off x="0" y="-1"/>
            <a:ext cx="1401233" cy="14737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C683A8F-A7E2-C0C3-97D4-2D2BC8DBE367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65432" y="520004"/>
            <a:ext cx="1073257" cy="763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328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unoob.com/w3cnote/bash-shortcut.html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BC5235-8815-48DE-EE1D-6473C2C7C4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📚</a:t>
            </a:r>
            <a:br>
              <a:rPr lang="en-US" altLang="zh-CN" dirty="0"/>
            </a:br>
            <a:r>
              <a:rPr lang="en-US" altLang="zh-CN" dirty="0"/>
              <a:t>Linux 101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F0E0558-A241-3325-62BE-7909B04729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t"/>
          <a:lstStyle/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DLaM Display" panose="020F0502020204030204" pitchFamily="2" charset="0"/>
              </a:rPr>
              <a:t>2026.03.07 Quank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Microsoft Sans Serif" panose="020B0604020202020204" pitchFamily="34" charset="0"/>
            </a:endParaRP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FB1A3E-3CF2-5822-C05B-7B4FCD348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8FA19-38AA-47EE-83D3-AA6A7B4252EF}" type="datetime1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6457FC-32A5-AEBC-5C82-6077D4D61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武汉大学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A6A002-F378-379E-DB7A-889A146D2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9D51C-D1D6-49ED-AEB1-B846C6EB5F8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0270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902B9B-0196-608E-BD31-6CF330E71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前置知识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859827-41BC-26D4-876E-1B1645D57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DD42B7-C631-D380-A334-64D5CAFFD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8BB6E-9D45-40C0-B7B2-8AD27972A43B}" type="datetime1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780306-233F-D6A3-38B4-03E98FB9E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武汉大学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407026-4C39-1773-3E72-1E643D087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9D51C-D1D6-49ED-AEB1-B846C6EB5F84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3C68E02F-F2D7-5393-FDD5-35F35C85725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4327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ACF37-243C-42E4-A64A-5FCBFE361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43D8D2-90A9-9948-688E-658A29ACF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你需要阅读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3816ED-EFCB-937B-A147-6138692BE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00793-569E-48C8-B250-3779ECD29574}" type="datetime1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EFC673-A029-4802-F5AD-BEE59AEA4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武汉大学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F338CA-A2DA-1D25-009A-D981F4D79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9D51C-D1D6-49ED-AEB1-B846C6EB5F84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40971EE6-858F-335D-8970-9191052031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>
                <a:latin typeface="+mj-lt"/>
              </a:rPr>
              <a:t>1. </a:t>
            </a:r>
            <a:r>
              <a:rPr lang="zh-CN" altLang="en-US" dirty="0">
                <a:latin typeface="+mj-lt"/>
              </a:rPr>
              <a:t>前置知识</a:t>
            </a:r>
            <a:endParaRPr lang="zh-CN" alt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475F1FC0-5FBB-1747-9FA3-AF55C4FEB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提问的智慧 </a:t>
            </a:r>
            <a:r>
              <a:rPr lang="en-US" altLang="zh-CN" b="1" dirty="0"/>
              <a:t>How To Ask Questions The Smart Way</a:t>
            </a:r>
            <a:endParaRPr lang="zh-CN" altLang="en-US" b="1" dirty="0"/>
          </a:p>
          <a:p>
            <a:r>
              <a:rPr lang="en-US" altLang="zh-CN" dirty="0" err="1"/>
              <a:t>Runoob</a:t>
            </a:r>
            <a:r>
              <a:rPr lang="en-US" altLang="zh-CN" dirty="0"/>
              <a:t> </a:t>
            </a:r>
            <a:r>
              <a:rPr lang="zh-CN" altLang="en-US" dirty="0"/>
              <a:t>菜鸟教程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56694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66927-C53F-E7B2-F0CA-440BD3AAD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AE2212-9CC3-7282-73CF-350A006D9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如何安装</a:t>
            </a:r>
            <a:r>
              <a:rPr lang="en-US" altLang="zh-CN" dirty="0"/>
              <a:t>Linux – </a:t>
            </a:r>
            <a:r>
              <a:rPr lang="zh-CN" altLang="en-US" dirty="0"/>
              <a:t>常见问题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151DEE-9DE2-8820-4771-88D3B756C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00793-569E-48C8-B250-3779ECD29574}" type="datetime1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E5FE92-CEDA-F2FE-0C6F-0D9A46879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武汉大学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D231F3-BDF7-0825-50A0-4F0986C27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9D51C-D1D6-49ED-AEB1-B846C6EB5F84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77B86ACF-5D8B-042F-6C5A-A0D7407B11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>
                <a:latin typeface="+mj-lt"/>
              </a:rPr>
              <a:t>1. </a:t>
            </a:r>
            <a:r>
              <a:rPr lang="zh-CN" altLang="en-US" dirty="0">
                <a:latin typeface="+mj-lt"/>
              </a:rPr>
              <a:t>前置知识</a:t>
            </a:r>
            <a:endParaRPr lang="zh-CN" alt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D57556A9-6491-2812-CFA9-8D2561AF1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WSL</a:t>
            </a:r>
            <a:r>
              <a:rPr lang="zh-CN" altLang="en-US" dirty="0"/>
              <a:t>下载慢</a:t>
            </a:r>
            <a:endParaRPr lang="en-US" altLang="zh-CN" dirty="0"/>
          </a:p>
          <a:p>
            <a:pPr lvl="1"/>
            <a:r>
              <a:rPr lang="zh-CN" altLang="en-US" dirty="0"/>
              <a:t>前往</a:t>
            </a:r>
            <a:r>
              <a:rPr lang="en-US" altLang="zh-CN" dirty="0"/>
              <a:t>GitHub</a:t>
            </a:r>
            <a:r>
              <a:rPr lang="zh-CN" altLang="en-US" dirty="0"/>
              <a:t>下载离线版安装包</a:t>
            </a:r>
            <a:endParaRPr lang="en-US" altLang="zh-CN" dirty="0"/>
          </a:p>
          <a:p>
            <a:pPr lvl="1"/>
            <a:r>
              <a:rPr lang="zh-CN" altLang="en-US" dirty="0"/>
              <a:t>使用可以顺畅访问微软网络的上网手段</a:t>
            </a:r>
            <a:endParaRPr lang="en-US" altLang="zh-CN" dirty="0"/>
          </a:p>
          <a:p>
            <a:r>
              <a:rPr lang="zh-CN" altLang="en-US" dirty="0"/>
              <a:t>安装软件慢</a:t>
            </a:r>
            <a:endParaRPr lang="en-US" altLang="zh-CN" dirty="0"/>
          </a:p>
          <a:p>
            <a:pPr lvl="1"/>
            <a:r>
              <a:rPr lang="zh-CN" altLang="en-US" dirty="0"/>
              <a:t>配置镜像（见下文）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03977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0C256-E89F-BF4F-D782-75201F637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8EC11B-D33D-0419-6397-43536149F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文件系统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1D1809-9200-DB31-0489-69B02EA7D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00793-569E-48C8-B250-3779ECD29574}" type="datetime1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DA8B75-CC30-BE62-DCD1-7A554E9BE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武汉大学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0951B2-08D6-83BD-6E05-3FA5F8FB5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9D51C-D1D6-49ED-AEB1-B846C6EB5F84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E95D1990-B6E0-7BCD-7A96-C6B7456B99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>
                <a:latin typeface="+mj-lt"/>
              </a:rPr>
              <a:t>1. </a:t>
            </a:r>
            <a:r>
              <a:rPr lang="zh-CN" altLang="en-US" dirty="0">
                <a:latin typeface="+mj-lt"/>
              </a:rPr>
              <a:t>前置知识</a:t>
            </a:r>
            <a:endParaRPr lang="zh-CN" alt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4EF5BD99-25F3-C345-CB2D-78D0C45F4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什么是文件系统</a:t>
            </a:r>
            <a:endParaRPr lang="en-US" altLang="zh-CN" dirty="0"/>
          </a:p>
          <a:p>
            <a:pPr lvl="1"/>
            <a:r>
              <a:rPr lang="zh-CN" altLang="en-US" dirty="0"/>
              <a:t>文件系统在硬盘上承载了你的文件</a:t>
            </a:r>
            <a:endParaRPr lang="en-US" altLang="zh-CN" dirty="0"/>
          </a:p>
          <a:p>
            <a:pPr lvl="1"/>
            <a:r>
              <a:rPr lang="zh-CN" altLang="en-US" dirty="0"/>
              <a:t>在</a:t>
            </a:r>
            <a:r>
              <a:rPr lang="en-US" altLang="zh-CN" dirty="0"/>
              <a:t>Linux</a:t>
            </a:r>
            <a:r>
              <a:rPr lang="zh-CN" altLang="en-US" dirty="0"/>
              <a:t>下，没有盘符的概念</a:t>
            </a:r>
            <a:endParaRPr lang="en-US" altLang="zh-CN" dirty="0"/>
          </a:p>
          <a:p>
            <a:pPr lvl="1"/>
            <a:r>
              <a:rPr lang="zh-CN" altLang="en-US" dirty="0"/>
              <a:t>所有硬盘要么未挂载，要么挂载在根目录及其子目录下</a:t>
            </a:r>
            <a:endParaRPr lang="en-US" altLang="zh-CN" dirty="0"/>
          </a:p>
          <a:p>
            <a:pPr lvl="1"/>
            <a:r>
              <a:rPr lang="en-US" altLang="zh-CN" dirty="0"/>
              <a:t>Linux</a:t>
            </a:r>
            <a:r>
              <a:rPr lang="zh-CN" altLang="en-US" dirty="0"/>
              <a:t>不使用</a:t>
            </a:r>
            <a:r>
              <a:rPr lang="en-US" altLang="zh-CN" dirty="0"/>
              <a:t>Windows</a:t>
            </a:r>
            <a:r>
              <a:rPr lang="zh-CN" altLang="en-US" dirty="0"/>
              <a:t>使用的</a:t>
            </a:r>
            <a:r>
              <a:rPr lang="en-US" altLang="zh-CN" dirty="0"/>
              <a:t>NTFS</a:t>
            </a:r>
            <a:r>
              <a:rPr lang="zh-CN" altLang="en-US" dirty="0"/>
              <a:t>、</a:t>
            </a:r>
            <a:r>
              <a:rPr lang="en-US" altLang="zh-CN" dirty="0" err="1"/>
              <a:t>exFAT</a:t>
            </a:r>
            <a:endParaRPr lang="en-US" altLang="zh-CN" dirty="0"/>
          </a:p>
          <a:p>
            <a:pPr lvl="1"/>
            <a:r>
              <a:rPr lang="en-US" altLang="zh-CN" dirty="0"/>
              <a:t>Linux</a:t>
            </a:r>
            <a:r>
              <a:rPr lang="zh-CN" altLang="en-US" dirty="0"/>
              <a:t>不使用</a:t>
            </a:r>
            <a:r>
              <a:rPr lang="en-US" altLang="zh-CN" dirty="0"/>
              <a:t>Mac OS</a:t>
            </a:r>
            <a:r>
              <a:rPr lang="zh-CN" altLang="en-US" dirty="0"/>
              <a:t>使用的</a:t>
            </a:r>
            <a:r>
              <a:rPr lang="en-US" altLang="zh-CN" dirty="0"/>
              <a:t>APFS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A296A5B-C190-3622-DA08-33B7BFAD0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2402" y="3215509"/>
            <a:ext cx="6584258" cy="658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108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BE92F-F694-B416-6F89-F86D42C24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F91431-830C-A591-3C9B-6AD6DB73E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认识文件系统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F4C068-7A80-516C-E063-A1A38A9B3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00793-569E-48C8-B250-3779ECD29574}" type="datetime1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D3F7B7-9555-5310-07C8-F2CB296D9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武汉大学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181DC5-4736-A7F4-9F96-5016A83EC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9D51C-D1D6-49ED-AEB1-B846C6EB5F84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EE393736-3032-ED9A-8877-FD257B40D2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>
                <a:latin typeface="+mj-lt"/>
              </a:rPr>
              <a:t>1. </a:t>
            </a:r>
            <a:r>
              <a:rPr lang="zh-CN" altLang="en-US" dirty="0">
                <a:latin typeface="+mj-lt"/>
              </a:rPr>
              <a:t>前置知识</a:t>
            </a:r>
            <a:endParaRPr lang="zh-CN" alt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765FF1DB-BA38-AA76-35FE-E380E7494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通常，我们会在当前用户的家目录下工作（</a:t>
            </a:r>
            <a:r>
              <a:rPr lang="en-US" altLang="zh-CN" sz="2000" dirty="0"/>
              <a:t>/home/…</a:t>
            </a:r>
            <a:r>
              <a:rPr lang="zh-CN" altLang="en-US" sz="2000" dirty="0"/>
              <a:t>）简写为</a:t>
            </a:r>
            <a:r>
              <a:rPr lang="en-US" altLang="zh-CN" sz="2000" dirty="0"/>
              <a:t>~</a:t>
            </a:r>
          </a:p>
          <a:p>
            <a:r>
              <a:rPr lang="zh-CN" altLang="en-US" sz="2000" dirty="0"/>
              <a:t>所有的目录都在根目录下</a:t>
            </a:r>
            <a:endParaRPr lang="en-US" altLang="zh-CN" sz="2000" dirty="0"/>
          </a:p>
          <a:p>
            <a:r>
              <a:rPr lang="zh-CN" altLang="en-US" sz="2000" dirty="0"/>
              <a:t>当前目录：</a:t>
            </a:r>
            <a:r>
              <a:rPr lang="en-US" altLang="zh-CN" sz="2000" dirty="0"/>
              <a:t>.  </a:t>
            </a:r>
            <a:r>
              <a:rPr lang="zh-CN" altLang="en-US" sz="2000" dirty="0"/>
              <a:t>上级目录：</a:t>
            </a:r>
            <a:r>
              <a:rPr lang="en-US" altLang="zh-CN" sz="2000" dirty="0"/>
              <a:t>..</a:t>
            </a:r>
          </a:p>
          <a:p>
            <a:r>
              <a:rPr lang="zh-CN" altLang="en-US" sz="2000" dirty="0"/>
              <a:t>使用</a:t>
            </a:r>
            <a:r>
              <a:rPr lang="en-US" altLang="zh-CN" sz="2000" dirty="0"/>
              <a:t>/</a:t>
            </a:r>
            <a:r>
              <a:rPr lang="zh-CN" altLang="en-US" sz="2000" dirty="0"/>
              <a:t>符号和目录名的组合标识文件在文件系统中的位置</a:t>
            </a:r>
            <a:endParaRPr lang="en-US" altLang="zh-CN" sz="2000" dirty="0"/>
          </a:p>
          <a:p>
            <a:pPr marL="0" indent="0" algn="ctr">
              <a:buNone/>
            </a:pPr>
            <a:r>
              <a:rPr lang="en-US" altLang="zh-CN" sz="2000" dirty="0"/>
              <a:t>C:\Users\Quank </a:t>
            </a:r>
            <a:r>
              <a:rPr lang="zh-CN" altLang="en-US" sz="2000" dirty="0"/>
              <a:t>≈</a:t>
            </a:r>
            <a:r>
              <a:rPr lang="en-US" altLang="zh-CN" sz="2000" dirty="0"/>
              <a:t> /home/</a:t>
            </a:r>
            <a:r>
              <a:rPr lang="en-US" altLang="zh-CN" sz="2000" dirty="0" err="1"/>
              <a:t>quank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注意</a:t>
            </a:r>
            <a:r>
              <a:rPr lang="en-US" altLang="zh-CN" sz="2000" dirty="0"/>
              <a:t>Windows</a:t>
            </a:r>
            <a:r>
              <a:rPr lang="zh-CN" altLang="en-US" sz="2000" dirty="0"/>
              <a:t>下使用</a:t>
            </a:r>
            <a:r>
              <a:rPr lang="en-US" altLang="zh-CN" sz="2000" dirty="0"/>
              <a:t>\</a:t>
            </a:r>
            <a:r>
              <a:rPr lang="zh-CN" altLang="en-US" sz="2000" dirty="0"/>
              <a:t>而非</a:t>
            </a:r>
            <a:r>
              <a:rPr lang="en-US" altLang="zh-CN" sz="2000" dirty="0"/>
              <a:t>/</a:t>
            </a:r>
          </a:p>
          <a:p>
            <a:r>
              <a:rPr lang="zh-CN" altLang="en-US" sz="2000" dirty="0"/>
              <a:t>基本命令（</a:t>
            </a:r>
            <a:r>
              <a:rPr lang="en-US" altLang="zh-CN" sz="2000" dirty="0" err="1"/>
              <a:t>pwd</a:t>
            </a:r>
            <a:r>
              <a:rPr lang="en-US" altLang="zh-CN" sz="2000" dirty="0"/>
              <a:t> ls cd </a:t>
            </a:r>
            <a:r>
              <a:rPr lang="en-US" altLang="zh-CN" sz="2000" dirty="0" err="1"/>
              <a:t>mkdir</a:t>
            </a:r>
            <a:r>
              <a:rPr lang="en-US" altLang="zh-CN" sz="2000" dirty="0"/>
              <a:t> cp rm mv</a:t>
            </a:r>
            <a:r>
              <a:rPr lang="zh-CN" altLang="en-US" sz="2000" dirty="0"/>
              <a:t>）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2135964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172F86-D8DD-4EE2-86B8-38759C921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</a:t>
            </a:r>
            <a:r>
              <a:rPr lang="zh-CN" altLang="en-US" dirty="0"/>
              <a:t>下的文件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06D9A4-1876-4EF0-6C13-957529E79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1291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CN" sz="1600" dirty="0"/>
              <a:t>LF (\n):</a:t>
            </a:r>
            <a:r>
              <a:rPr lang="en-US" altLang="zh-CN" sz="1600" i="1" dirty="0"/>
              <a:t>Linux</a:t>
            </a:r>
            <a:r>
              <a:rPr lang="en-US" altLang="zh-CN" sz="1600" dirty="0"/>
              <a:t>/macOS </a:t>
            </a:r>
            <a:r>
              <a:rPr lang="zh-CN" altLang="en-US" sz="1600" dirty="0"/>
              <a:t>默认</a:t>
            </a:r>
            <a:r>
              <a:rPr lang="zh-CN" altLang="en-US" sz="1600" i="1" dirty="0"/>
              <a:t>换行符</a:t>
            </a:r>
            <a:r>
              <a:rPr lang="en-US" altLang="zh-CN" sz="1600" dirty="0"/>
              <a:t>,</a:t>
            </a:r>
            <a:r>
              <a:rPr lang="zh-CN" altLang="en-US" sz="1600" dirty="0"/>
              <a:t>表示光标移动到下一行开头 </a:t>
            </a:r>
            <a:br>
              <a:rPr lang="en-US" altLang="zh-CN" sz="1600" dirty="0"/>
            </a:br>
            <a:r>
              <a:rPr lang="en-US" altLang="zh-CN" sz="1600" dirty="0"/>
              <a:t>CRLF (\r\n):Windows </a:t>
            </a:r>
            <a:r>
              <a:rPr lang="zh-CN" altLang="en-US" sz="1600" dirty="0"/>
              <a:t>默认换行符</a:t>
            </a:r>
            <a:r>
              <a:rPr lang="en-US" altLang="zh-CN" sz="1600" dirty="0"/>
              <a:t>,</a:t>
            </a:r>
            <a:r>
              <a:rPr lang="zh-CN" altLang="en-US" sz="1600" dirty="0"/>
              <a:t>由回车符</a:t>
            </a:r>
            <a:r>
              <a:rPr lang="en-US" altLang="zh-CN" sz="1600" dirty="0"/>
              <a:t>(\r)</a:t>
            </a:r>
            <a:r>
              <a:rPr lang="zh-CN" altLang="en-US" sz="1600" dirty="0"/>
              <a:t>和换行符</a:t>
            </a:r>
            <a:r>
              <a:rPr lang="en-US" altLang="zh-CN" sz="1600" dirty="0"/>
              <a:t>(\n)</a:t>
            </a:r>
            <a:r>
              <a:rPr lang="zh-CN" altLang="en-US" sz="1600" dirty="0"/>
              <a:t>组成</a:t>
            </a:r>
            <a:endParaRPr lang="en-US" altLang="zh-CN" sz="1600" dirty="0"/>
          </a:p>
          <a:p>
            <a:r>
              <a:rPr lang="zh-CN" altLang="en-US" sz="1600" dirty="0"/>
              <a:t>文件分为文本文件与二进制文件</a:t>
            </a:r>
            <a:endParaRPr lang="en-US" altLang="zh-CN" sz="1600" dirty="0"/>
          </a:p>
          <a:p>
            <a:r>
              <a:rPr lang="zh-CN" altLang="en-US" sz="1600" dirty="0"/>
              <a:t>文本文件可能存在不同的编码格式（</a:t>
            </a:r>
            <a:r>
              <a:rPr lang="en-US" altLang="zh-CN" sz="1600" dirty="0"/>
              <a:t>UTF-8</a:t>
            </a:r>
            <a:r>
              <a:rPr lang="zh-CN" altLang="en-US" sz="1600" dirty="0"/>
              <a:t>、</a:t>
            </a:r>
            <a:r>
              <a:rPr lang="en-US" altLang="zh-CN" sz="1600" dirty="0"/>
              <a:t>GB2312</a:t>
            </a:r>
            <a:r>
              <a:rPr lang="zh-CN" altLang="en-US" sz="1600" dirty="0"/>
              <a:t>等等）通常使用</a:t>
            </a:r>
            <a:r>
              <a:rPr lang="en-US" altLang="zh-CN" sz="1600" dirty="0"/>
              <a:t>UTF-8</a:t>
            </a:r>
          </a:p>
          <a:p>
            <a:r>
              <a:rPr lang="zh-CN" altLang="en-US" sz="1600" dirty="0"/>
              <a:t>二进制文件存在各种各样的格式（如可执行文件、压缩文件等等）</a:t>
            </a:r>
            <a:endParaRPr lang="en-US" altLang="zh-CN" sz="1600" dirty="0"/>
          </a:p>
          <a:p>
            <a:r>
              <a:rPr lang="zh-CN" altLang="en-US" sz="1600" dirty="0"/>
              <a:t>在</a:t>
            </a:r>
            <a:r>
              <a:rPr lang="en-US" altLang="zh-CN" sz="1600" dirty="0"/>
              <a:t>Linux</a:t>
            </a:r>
            <a:r>
              <a:rPr lang="zh-CN" altLang="en-US" sz="1600" dirty="0"/>
              <a:t>下可使用</a:t>
            </a:r>
            <a:r>
              <a:rPr lang="en-US" altLang="zh-CN" sz="1600" dirty="0"/>
              <a:t>file</a:t>
            </a:r>
            <a:r>
              <a:rPr lang="zh-CN" altLang="en-US" sz="1600" dirty="0"/>
              <a:t>命令判断文件类型（根据元数据、内容判断）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979111-9D6F-1B89-BF9F-338839F22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2F16A-2760-476C-B48C-63AB8C5EB03B}" type="datetime1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ADCBE7-66F9-047B-2EB6-110D0A3A2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武汉大学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79C475-3119-8ED6-81C7-09FD3C093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9D51C-D1D6-49ED-AEB1-B846C6EB5F84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E69C141E-A2B6-5098-D969-5E84CE978F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前置知识</a:t>
            </a:r>
          </a:p>
        </p:txBody>
      </p:sp>
    </p:spTree>
    <p:extLst>
      <p:ext uri="{BB962C8B-B14F-4D97-AF65-F5344CB8AC3E}">
        <p14:creationId xmlns:p14="http://schemas.microsoft.com/office/powerpoint/2010/main" val="1007755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34704A-0B62-4A2D-A4B2-24520D0A7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常见问题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A6F77B-1323-DA4F-A773-33EFEB322C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./……</a:t>
            </a:r>
            <a:r>
              <a:rPr lang="zh-CN" altLang="en-US" dirty="0"/>
              <a:t> 与</a:t>
            </a:r>
            <a:r>
              <a:rPr lang="en-US" altLang="zh-CN" dirty="0"/>
              <a:t>/……</a:t>
            </a:r>
          </a:p>
          <a:p>
            <a:r>
              <a:rPr lang="zh-CN" altLang="en-US" dirty="0"/>
              <a:t>如何执行当前目录下的程序？</a:t>
            </a:r>
            <a:endParaRPr lang="en-US" altLang="zh-CN" dirty="0"/>
          </a:p>
          <a:p>
            <a:r>
              <a:rPr lang="zh-CN" altLang="en-US" dirty="0"/>
              <a:t>文件权限问题</a:t>
            </a:r>
            <a:endParaRPr lang="en-US" altLang="zh-CN" dirty="0"/>
          </a:p>
          <a:p>
            <a:r>
              <a:rPr lang="zh-CN" altLang="en-US" dirty="0"/>
              <a:t>回收站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E540C6-0463-4487-1A00-D3D6FEF8C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2F16A-2760-476C-B48C-63AB8C5EB03B}" type="datetime1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7A3066-C3A3-D046-F17F-B6F94CF91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武汉大学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A79521-97EB-D22F-9CC1-4A62C8C31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9D51C-D1D6-49ED-AEB1-B846C6EB5F84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0EF5742D-BF8F-A821-1E04-FC1A192034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前置知识</a:t>
            </a:r>
          </a:p>
        </p:txBody>
      </p:sp>
    </p:spTree>
    <p:extLst>
      <p:ext uri="{BB962C8B-B14F-4D97-AF65-F5344CB8AC3E}">
        <p14:creationId xmlns:p14="http://schemas.microsoft.com/office/powerpoint/2010/main" val="1846107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676D1-5F7B-C85F-9BBB-32F37D7C2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B21776-6CBE-1984-179A-A1F655709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进入</a:t>
            </a:r>
            <a:r>
              <a:rPr lang="en-US" altLang="zh-CN" dirty="0"/>
              <a:t>Linux</a:t>
            </a:r>
            <a:r>
              <a:rPr lang="zh-CN" altLang="en-US" dirty="0"/>
              <a:t>的世界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5A2AC64-ED65-3FD0-14BE-EAB308BAB1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1583F4-72A0-EF92-7BF4-663B5DE29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8BB6E-9D45-40C0-B7B2-8AD27972A43B}" type="datetime1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FE59F0-7EEB-6CC8-4D67-C6E268EE9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武汉大学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57606E-F319-BF36-706B-071D410E8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9D51C-D1D6-49ED-AEB1-B846C6EB5F84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B34E95D4-DCE9-13E9-A623-244F3BCB604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55990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7F56E-3EB9-6A22-9F43-8C8664836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557BB6-7271-103C-19D6-73E07F3DD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Don’t Panic!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EDBB72-44CA-4771-3F5D-BB948C02C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1291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sz="1600" dirty="0"/>
              <a:t>再见了图形界面</a:t>
            </a:r>
            <a:endParaRPr lang="en-US" altLang="zh-CN" sz="1600" dirty="0"/>
          </a:p>
          <a:p>
            <a:pPr lvl="1"/>
            <a:r>
              <a:rPr lang="en-US" altLang="zh-CN" sz="1200" dirty="0"/>
              <a:t>Linux</a:t>
            </a:r>
            <a:r>
              <a:rPr lang="zh-CN" altLang="en-US" sz="1200" dirty="0"/>
              <a:t>默认不提供图形界面（尽管有许多图形界面方案随发行版或可自行安装）</a:t>
            </a:r>
            <a:endParaRPr lang="en-US" altLang="zh-CN" sz="1200" dirty="0"/>
          </a:p>
          <a:p>
            <a:r>
              <a:rPr lang="zh-CN" altLang="en-US" sz="1600" dirty="0"/>
              <a:t>没有文件资源管理器</a:t>
            </a:r>
            <a:endParaRPr lang="en-US" altLang="zh-CN" sz="1600" dirty="0"/>
          </a:p>
          <a:p>
            <a:pPr lvl="1"/>
            <a:r>
              <a:rPr lang="zh-CN" altLang="en-US" sz="1200" dirty="0"/>
              <a:t>学会使用目录标识符</a:t>
            </a:r>
            <a:endParaRPr lang="en-US" altLang="zh-CN" sz="1200" dirty="0"/>
          </a:p>
          <a:p>
            <a:pPr lvl="1"/>
            <a:r>
              <a:rPr lang="zh-CN" altLang="en-US" sz="1200" dirty="0"/>
              <a:t>使用终端命令与文件系统交互</a:t>
            </a:r>
            <a:endParaRPr lang="en-US" altLang="zh-CN" sz="1200" dirty="0"/>
          </a:p>
          <a:p>
            <a:r>
              <a:rPr lang="zh-CN" altLang="en-US" sz="1600" dirty="0"/>
              <a:t>寻找教程</a:t>
            </a:r>
            <a:endParaRPr lang="en-US" altLang="zh-CN" sz="1600" dirty="0"/>
          </a:p>
          <a:p>
            <a:pPr lvl="1"/>
            <a:r>
              <a:rPr lang="zh-CN" altLang="en-US" sz="1200" dirty="0"/>
              <a:t>系统内自带</a:t>
            </a:r>
            <a:r>
              <a:rPr lang="en-US" altLang="zh-CN" sz="1200" dirty="0"/>
              <a:t>man</a:t>
            </a:r>
          </a:p>
          <a:p>
            <a:pPr lvl="1"/>
            <a:r>
              <a:rPr lang="zh-CN" altLang="en-US" sz="1200" dirty="0"/>
              <a:t>命令行程序一般可以附加</a:t>
            </a:r>
            <a:r>
              <a:rPr lang="en-US" altLang="zh-CN" sz="1200" dirty="0"/>
              <a:t>-h –help</a:t>
            </a:r>
            <a:r>
              <a:rPr lang="zh-CN" altLang="en-US" sz="1200" dirty="0"/>
              <a:t>等参数获取帮助</a:t>
            </a:r>
            <a:endParaRPr lang="en-US" altLang="zh-CN" sz="1200" dirty="0"/>
          </a:p>
          <a:p>
            <a:r>
              <a:rPr lang="zh-CN" altLang="en-US" sz="1600" dirty="0"/>
              <a:t>用户机制</a:t>
            </a:r>
            <a:endParaRPr lang="en-US" altLang="zh-CN" sz="1600" dirty="0"/>
          </a:p>
          <a:p>
            <a:pPr lvl="1"/>
            <a:r>
              <a:rPr lang="zh-CN" altLang="en-US" sz="1200" dirty="0"/>
              <a:t>文件与目录存在针对不同用户</a:t>
            </a:r>
            <a:r>
              <a:rPr lang="en-US" altLang="zh-CN" sz="1200" dirty="0"/>
              <a:t>/</a:t>
            </a:r>
            <a:r>
              <a:rPr lang="zh-CN" altLang="en-US" sz="1200" dirty="0"/>
              <a:t>用户组的可读</a:t>
            </a:r>
            <a:r>
              <a:rPr lang="en-US" altLang="zh-CN" sz="1200" dirty="0"/>
              <a:t>/</a:t>
            </a:r>
            <a:r>
              <a:rPr lang="zh-CN" altLang="en-US" sz="1200" dirty="0"/>
              <a:t>可写</a:t>
            </a:r>
            <a:r>
              <a:rPr lang="en-US" altLang="zh-CN" sz="1200" dirty="0"/>
              <a:t>/</a:t>
            </a:r>
            <a:r>
              <a:rPr lang="zh-CN" altLang="en-US" sz="1200" dirty="0"/>
              <a:t>可执行三重权限</a:t>
            </a:r>
            <a:endParaRPr lang="en-US" altLang="zh-CN" sz="1200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27DB00-DB01-13D4-6FD0-5F6C8AB00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2F16A-2760-476C-B48C-63AB8C5EB03B}" type="datetime1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4A4BE1-BDB0-AA45-A92B-BE4FC3F77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武汉大学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2A670A-F086-BC44-1EB0-96950DD2D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9D51C-D1D6-49ED-AEB1-B846C6EB5F84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E8279032-13A0-7C14-96BF-8235FE9D53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进入</a:t>
            </a:r>
            <a:r>
              <a:rPr lang="en-US" altLang="zh-CN" dirty="0"/>
              <a:t>Linux</a:t>
            </a:r>
            <a:r>
              <a:rPr lang="zh-CN" altLang="en-US" dirty="0"/>
              <a:t>的世界</a:t>
            </a:r>
          </a:p>
        </p:txBody>
      </p:sp>
      <p:pic>
        <p:nvPicPr>
          <p:cNvPr id="1026" name="Picture 2" descr="Don't Panic with towel - Dont Panic - Sticker | TeePublic">
            <a:extLst>
              <a:ext uri="{FF2B5EF4-FFF2-40B4-BE49-F238E27FC236}">
                <a16:creationId xmlns:a16="http://schemas.microsoft.com/office/drawing/2014/main" id="{8EEB562B-DE02-F62D-6B64-DA4BABE21A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6713" y="3172232"/>
            <a:ext cx="2932120" cy="2932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4242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FECB09-9D40-16B1-2A96-477FA02B9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Root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A07436-18F9-B184-AAF7-2833BD01C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root</a:t>
            </a:r>
            <a:r>
              <a:rPr lang="zh-CN" altLang="en-US" dirty="0"/>
              <a:t>为</a:t>
            </a:r>
            <a:r>
              <a:rPr lang="en-US" altLang="zh-CN" dirty="0"/>
              <a:t>Linux</a:t>
            </a:r>
            <a:r>
              <a:rPr lang="zh-CN" altLang="en-US" dirty="0"/>
              <a:t>下具有最高权限的用户</a:t>
            </a:r>
            <a:endParaRPr lang="en-US" altLang="zh-CN" dirty="0"/>
          </a:p>
          <a:p>
            <a:pPr lvl="1"/>
            <a:r>
              <a:rPr lang="zh-CN" altLang="en-US" dirty="0"/>
              <a:t>它拥有对根目录下所有文件的全部权限</a:t>
            </a:r>
            <a:endParaRPr lang="en-US" altLang="zh-CN" dirty="0"/>
          </a:p>
          <a:p>
            <a:r>
              <a:rPr lang="zh-CN" altLang="en-US" dirty="0"/>
              <a:t>你需要使用</a:t>
            </a:r>
            <a:r>
              <a:rPr lang="en-US" altLang="zh-CN" dirty="0"/>
              <a:t>root</a:t>
            </a:r>
            <a:r>
              <a:rPr lang="zh-CN" altLang="en-US" dirty="0"/>
              <a:t>权限才能修改系统</a:t>
            </a:r>
            <a:r>
              <a:rPr lang="en-US" altLang="zh-CN" dirty="0"/>
              <a:t>/</a:t>
            </a:r>
            <a:r>
              <a:rPr lang="zh-CN" altLang="en-US" dirty="0"/>
              <a:t>安装程序</a:t>
            </a:r>
            <a:endParaRPr lang="en-US" altLang="zh-CN" dirty="0"/>
          </a:p>
          <a:p>
            <a:r>
              <a:rPr lang="zh-CN" altLang="en-US" dirty="0"/>
              <a:t>被授权的用户使用</a:t>
            </a:r>
            <a:r>
              <a:rPr lang="en-US" altLang="zh-CN" dirty="0" err="1"/>
              <a:t>sudo</a:t>
            </a:r>
            <a:r>
              <a:rPr lang="zh-CN" altLang="en-US" dirty="0"/>
              <a:t>使用</a:t>
            </a:r>
            <a:r>
              <a:rPr lang="en-US" altLang="zh-CN" dirty="0"/>
              <a:t>root</a:t>
            </a:r>
            <a:r>
              <a:rPr lang="zh-CN" altLang="en-US" dirty="0"/>
              <a:t>权限</a:t>
            </a:r>
            <a:endParaRPr lang="en-US" altLang="zh-CN" dirty="0"/>
          </a:p>
          <a:p>
            <a:r>
              <a:rPr lang="zh-CN" altLang="en-US" dirty="0"/>
              <a:t>使用</a:t>
            </a:r>
            <a:r>
              <a:rPr lang="en-US" altLang="zh-CN" dirty="0" err="1"/>
              <a:t>su</a:t>
            </a:r>
            <a:r>
              <a:rPr lang="zh-CN" altLang="en-US" dirty="0"/>
              <a:t>命令切换用户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DB4929-7740-2B43-E3D4-5E5E87083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2F16A-2760-476C-B48C-63AB8C5EB03B}" type="datetime1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3DDCB6-D2F4-2DCE-C946-22F3AF2EB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武汉大学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33EC5C-270E-8D43-3799-A9FAEF65B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9D51C-D1D6-49ED-AEB1-B846C6EB5F84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E1C2A38C-1577-9C1F-622D-45AADE4E06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进入</a:t>
            </a:r>
            <a:r>
              <a:rPr lang="en-US" altLang="zh-CN" dirty="0"/>
              <a:t>Linux</a:t>
            </a:r>
            <a:r>
              <a:rPr lang="zh-CN" altLang="en-US" dirty="0"/>
              <a:t>的世界</a:t>
            </a:r>
          </a:p>
        </p:txBody>
      </p:sp>
    </p:spTree>
    <p:extLst>
      <p:ext uri="{BB962C8B-B14F-4D97-AF65-F5344CB8AC3E}">
        <p14:creationId xmlns:p14="http://schemas.microsoft.com/office/powerpoint/2010/main" val="3738915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96DC26-E83E-FFC2-2302-78145CF7E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重定向</a:t>
            </a:r>
            <a:r>
              <a:rPr lang="en-US" altLang="zh-CN" dirty="0"/>
              <a:t>/</a:t>
            </a:r>
            <a:r>
              <a:rPr lang="zh-CN" altLang="en-US" dirty="0"/>
              <a:t>管道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9178E7-B75F-8E3F-B36B-3275124F8A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&gt; </a:t>
            </a:r>
            <a:r>
              <a:rPr lang="zh-CN" altLang="en-US" sz="2000" dirty="0"/>
              <a:t>和 </a:t>
            </a:r>
            <a:r>
              <a:rPr lang="en-US" altLang="zh-CN" sz="2000" dirty="0"/>
              <a:t>&gt;&gt;</a:t>
            </a:r>
            <a:r>
              <a:rPr lang="zh-CN" altLang="en-US" sz="2000" dirty="0"/>
              <a:t>：把输出写进文件（覆盖 </a:t>
            </a:r>
            <a:r>
              <a:rPr lang="en-US" altLang="zh-CN" sz="2000" dirty="0"/>
              <a:t>/ </a:t>
            </a:r>
            <a:r>
              <a:rPr lang="zh-CN" altLang="en-US" sz="2000" dirty="0"/>
              <a:t>追加）。</a:t>
            </a:r>
          </a:p>
          <a:p>
            <a:r>
              <a:rPr lang="en-US" altLang="zh-CN" sz="2000" dirty="0"/>
              <a:t>&lt;</a:t>
            </a:r>
            <a:r>
              <a:rPr lang="zh-CN" altLang="en-US" sz="2000" dirty="0"/>
              <a:t>：把文件内容作为输入给程序。</a:t>
            </a:r>
          </a:p>
          <a:p>
            <a:r>
              <a:rPr lang="en-US" altLang="zh-CN" sz="2000" dirty="0"/>
              <a:t>| (</a:t>
            </a:r>
            <a:r>
              <a:rPr lang="zh-CN" altLang="en-US" sz="2000" dirty="0"/>
              <a:t>管道</a:t>
            </a:r>
            <a:r>
              <a:rPr lang="en-US" altLang="zh-CN" sz="2000" dirty="0"/>
              <a:t>)</a:t>
            </a:r>
            <a:r>
              <a:rPr lang="zh-CN" altLang="en-US" sz="2000" dirty="0"/>
              <a:t>：把上一个命令的输出，当成下一个命令的输入。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5E7632-CA54-6A46-53E4-775664231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2F16A-2760-476C-B48C-63AB8C5EB03B}" type="datetime1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7E2B66-2DE0-C3F6-2A9A-2BBA135D8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武汉大学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5FAF5B-87A5-C5FE-65DD-CBA90940F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9D51C-D1D6-49ED-AEB1-B846C6EB5F84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E028B5C8-DBD7-712A-54A3-31A8065923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进入</a:t>
            </a:r>
            <a:r>
              <a:rPr lang="en-US" altLang="zh-CN" dirty="0"/>
              <a:t>Linux</a:t>
            </a:r>
            <a:r>
              <a:rPr lang="zh-CN" altLang="en-US" dirty="0"/>
              <a:t>的世界</a:t>
            </a:r>
          </a:p>
        </p:txBody>
      </p:sp>
    </p:spTree>
    <p:extLst>
      <p:ext uri="{BB962C8B-B14F-4D97-AF65-F5344CB8AC3E}">
        <p14:creationId xmlns:p14="http://schemas.microsoft.com/office/powerpoint/2010/main" val="41976001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07F775-4060-389C-36FB-0B9E38AFF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重新认识终端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F73920-307C-6C1D-2BE2-4D81B836E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Linux</a:t>
            </a:r>
            <a:r>
              <a:rPr lang="zh-CN" altLang="en-US" dirty="0"/>
              <a:t>下一般默认使用</a:t>
            </a:r>
            <a:r>
              <a:rPr lang="en-US" altLang="zh-CN" dirty="0"/>
              <a:t>bash</a:t>
            </a:r>
            <a:r>
              <a:rPr lang="zh-CN" altLang="en-US" dirty="0"/>
              <a:t>作为终端，处理用户命令</a:t>
            </a:r>
            <a:endParaRPr lang="en-US" altLang="zh-CN" dirty="0"/>
          </a:p>
          <a:p>
            <a:r>
              <a:rPr lang="zh-CN" altLang="en-US" dirty="0"/>
              <a:t>终端不只是让你可以执行程序，它同时实现了管道、重定向、进程管理、变量管理等功能</a:t>
            </a:r>
            <a:endParaRPr lang="en-US" altLang="zh-CN" dirty="0"/>
          </a:p>
          <a:p>
            <a:pPr lvl="1"/>
            <a:r>
              <a:rPr lang="zh-CN" altLang="en-US" dirty="0"/>
              <a:t>使用快捷键完成中止</a:t>
            </a:r>
            <a:r>
              <a:rPr lang="en-US" altLang="zh-CN" dirty="0"/>
              <a:t>/</a:t>
            </a:r>
            <a:r>
              <a:rPr lang="zh-CN" altLang="en-US" dirty="0"/>
              <a:t>挂起程序等操作</a:t>
            </a:r>
            <a:r>
              <a:rPr lang="en-US" altLang="zh-CN" dirty="0">
                <a:hlinkClick r:id="rId2"/>
              </a:rPr>
              <a:t>https://www.runoob.com/w3cnote/bash-shortcut.html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13829E-A7C5-82CC-889E-A51D11BC2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2F16A-2760-476C-B48C-63AB8C5EB03B}" type="datetime1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D84DFA-D63D-634B-22F1-F7EE3DCC4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武汉大学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8D3BD2-311A-69EC-7A08-73F8A29A2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9D51C-D1D6-49ED-AEB1-B846C6EB5F84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65103D36-28FD-E096-B389-7818FF710E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进入</a:t>
            </a:r>
            <a:r>
              <a:rPr lang="en-US" altLang="zh-CN" dirty="0"/>
              <a:t>Linux</a:t>
            </a:r>
            <a:r>
              <a:rPr lang="zh-CN" altLang="en-US" dirty="0"/>
              <a:t>的世界</a:t>
            </a:r>
          </a:p>
        </p:txBody>
      </p:sp>
    </p:spTree>
    <p:extLst>
      <p:ext uri="{BB962C8B-B14F-4D97-AF65-F5344CB8AC3E}">
        <p14:creationId xmlns:p14="http://schemas.microsoft.com/office/powerpoint/2010/main" val="15236358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EE7F7-C4BF-CEC0-481A-5F5A5C48B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66FE98-CFE2-5190-9F1C-709FF8B59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工具链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D583A2-B708-A276-A051-991E9CFD52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13755C-AAAC-2CAB-4D4A-459E73134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8BB6E-9D45-40C0-B7B2-8AD27972A43B}" type="datetime1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A641BB-96BD-B3FE-CA14-BB0387D12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武汉大学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3E04AB-B25A-D205-71CA-6048D1FFC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9D51C-D1D6-49ED-AEB1-B846C6EB5F84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E6D2A237-42F4-37E1-F71F-940A858FAC1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970035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BF7828-D789-7C25-4E62-66AC639A6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编译器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009EFC-5F64-9404-EA9C-3DA099188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gcc</a:t>
            </a:r>
            <a:r>
              <a:rPr lang="zh-CN" altLang="en-US" dirty="0"/>
              <a:t>将</a:t>
            </a:r>
            <a:r>
              <a:rPr lang="en-US" altLang="zh-CN" dirty="0"/>
              <a:t>C</a:t>
            </a:r>
            <a:r>
              <a:rPr lang="zh-CN" altLang="en-US" dirty="0"/>
              <a:t>语言源代码编译为可执行文件</a:t>
            </a:r>
            <a:endParaRPr lang="en-US" altLang="zh-CN" dirty="0"/>
          </a:p>
          <a:p>
            <a:pPr lvl="1"/>
            <a:r>
              <a:rPr lang="zh-CN" altLang="en-US" dirty="0"/>
              <a:t>预处理 </a:t>
            </a:r>
            <a:r>
              <a:rPr lang="en-US" altLang="zh-CN" dirty="0"/>
              <a:t>-&gt; </a:t>
            </a:r>
            <a:r>
              <a:rPr lang="zh-CN" altLang="en-US" dirty="0"/>
              <a:t>编译 </a:t>
            </a:r>
            <a:r>
              <a:rPr lang="en-US" altLang="zh-CN" dirty="0"/>
              <a:t>-&gt; </a:t>
            </a:r>
            <a:r>
              <a:rPr lang="zh-CN" altLang="en-US" dirty="0"/>
              <a:t>汇编 </a:t>
            </a:r>
            <a:r>
              <a:rPr lang="en-US" altLang="zh-CN" dirty="0"/>
              <a:t>-&gt; </a:t>
            </a:r>
            <a:r>
              <a:rPr lang="zh-CN" altLang="en-US" dirty="0"/>
              <a:t>链接</a:t>
            </a:r>
            <a:endParaRPr lang="en-US" altLang="zh-CN" dirty="0"/>
          </a:p>
          <a:p>
            <a:pPr lvl="1"/>
            <a:r>
              <a:rPr lang="zh-CN" altLang="en-US" dirty="0"/>
              <a:t>可以使用不同的参数指定</a:t>
            </a:r>
            <a:r>
              <a:rPr lang="en-US" altLang="zh-CN" dirty="0" err="1"/>
              <a:t>gcc</a:t>
            </a:r>
            <a:r>
              <a:rPr lang="zh-CN" altLang="en-US" dirty="0"/>
              <a:t>的行为，获取中间形态的文件</a:t>
            </a:r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8F27FB-A2E2-79C1-0DFA-BEC3A66E0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2F16A-2760-476C-B48C-63AB8C5EB03B}" type="datetime1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20A067-613B-C5E5-860A-750300E09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武汉大学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9B12BF-D12F-48B7-4679-5033A2DA2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9D51C-D1D6-49ED-AEB1-B846C6EB5F84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43E9F760-55AD-499E-00CD-704EBAE481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3.</a:t>
            </a:r>
            <a:r>
              <a:rPr lang="zh-CN" altLang="en-US" dirty="0"/>
              <a:t>工具链</a:t>
            </a:r>
          </a:p>
        </p:txBody>
      </p:sp>
    </p:spTree>
    <p:extLst>
      <p:ext uri="{BB962C8B-B14F-4D97-AF65-F5344CB8AC3E}">
        <p14:creationId xmlns:p14="http://schemas.microsoft.com/office/powerpoint/2010/main" val="26183224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BBE4A-CA46-1470-4114-890C97FA0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50AFF3-7C0E-D3CE-BC3B-FCEC96AE1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构建系统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E2621D-59AA-691A-063B-99D07E4DC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课程中一般使用</a:t>
            </a:r>
            <a:r>
              <a:rPr lang="en-US" altLang="zh-CN" dirty="0" err="1"/>
              <a:t>makefile</a:t>
            </a:r>
            <a:endParaRPr lang="en-US" altLang="zh-CN" dirty="0"/>
          </a:p>
          <a:p>
            <a:r>
              <a:rPr lang="en-US" altLang="zh-CN" dirty="0" err="1"/>
              <a:t>makefile</a:t>
            </a:r>
            <a:r>
              <a:rPr lang="zh-CN" altLang="en-US" dirty="0"/>
              <a:t>的本质是定义一系列文件编译的方式以及它们的依赖关系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D0E7AA-7569-616B-69A3-CD8370E1A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2F16A-2760-476C-B48C-63AB8C5EB03B}" type="datetime1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98EA70-25B4-5C6B-2899-BB8B693AD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武汉大学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B75042-4AD9-B820-ADDA-C1C12C534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9D51C-D1D6-49ED-AEB1-B846C6EB5F84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F2EB5689-7C39-7225-EA5D-43042BB2DF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3.</a:t>
            </a:r>
            <a:r>
              <a:rPr lang="zh-CN" altLang="en-US" dirty="0"/>
              <a:t>工具链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9D2164C-D252-E519-06F3-0057C05FF8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5639" y="3180244"/>
            <a:ext cx="3693471" cy="291437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898B03B-CBE2-DFF2-8681-E75694EB6E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2880" y="4067271"/>
            <a:ext cx="3986964" cy="2027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4708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76FDC9-55AA-B31B-D8E1-952BB8D0A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GDB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A1BA9D-6119-B55E-779C-927F45777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GDB</a:t>
            </a:r>
            <a:r>
              <a:rPr lang="zh-CN" altLang="en-US" dirty="0"/>
              <a:t>是广泛使用的调试器，你需要掌握</a:t>
            </a:r>
            <a:endParaRPr lang="en-US" altLang="zh-CN" dirty="0"/>
          </a:p>
          <a:p>
            <a:pPr lvl="1"/>
            <a:r>
              <a:rPr lang="zh-CN" altLang="en-US" dirty="0"/>
              <a:t>反汇编：查看程序逻辑（</a:t>
            </a:r>
            <a:r>
              <a:rPr lang="en-US" altLang="zh-CN" dirty="0" err="1"/>
              <a:t>disas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控制程序：执行与断点（</a:t>
            </a:r>
            <a:r>
              <a:rPr lang="en-US" altLang="zh-CN" dirty="0"/>
              <a:t>break &lt;symbol&gt;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查看寄存器与内存（</a:t>
            </a:r>
            <a:r>
              <a:rPr lang="en-US" altLang="zh-CN" dirty="0"/>
              <a:t>print</a:t>
            </a:r>
            <a:r>
              <a:rPr lang="zh-CN" altLang="en-US" dirty="0"/>
              <a:t>、</a:t>
            </a:r>
            <a:r>
              <a:rPr lang="en-US" altLang="zh-CN" dirty="0"/>
              <a:t>x</a:t>
            </a:r>
            <a:r>
              <a:rPr lang="zh-CN" altLang="en-US" dirty="0"/>
              <a:t>、</a:t>
            </a:r>
            <a:r>
              <a:rPr lang="en-US" altLang="zh-CN" dirty="0"/>
              <a:t>display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控制</a:t>
            </a:r>
            <a:r>
              <a:rPr lang="en-US" altLang="zh-CN" dirty="0"/>
              <a:t>GDB</a:t>
            </a:r>
            <a:r>
              <a:rPr lang="zh-CN" altLang="en-US" dirty="0"/>
              <a:t>（界面、初始化、快捷键）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A4EB03-D99C-AD2B-2D3F-4DEBC474C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2F16A-2760-476C-B48C-63AB8C5EB03B}" type="datetime1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BA753A-BECA-FA0D-7976-E759F7D96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武汉大学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EB8E91-13B5-9CEC-EAEA-86FFBA2DE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9D51C-D1D6-49ED-AEB1-B846C6EB5F84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4EE9FF28-B805-04B5-9BED-2A2CB07870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3.</a:t>
            </a:r>
            <a:r>
              <a:rPr lang="zh-CN" altLang="en-US" dirty="0"/>
              <a:t>工具链</a:t>
            </a:r>
          </a:p>
        </p:txBody>
      </p:sp>
    </p:spTree>
    <p:extLst>
      <p:ext uri="{BB962C8B-B14F-4D97-AF65-F5344CB8AC3E}">
        <p14:creationId xmlns:p14="http://schemas.microsoft.com/office/powerpoint/2010/main" val="25563656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D7EB6-9BD2-CFC4-402D-CDDE10B8B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FE340B-FD6E-561E-3465-9543FB3BF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GDB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AC7C29-FD87-78C9-FA6A-422990420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创建一个</a:t>
            </a:r>
            <a:r>
              <a:rPr lang="en-US" altLang="zh-CN" dirty="0"/>
              <a:t>gdb_init.txt</a:t>
            </a:r>
            <a:r>
              <a:rPr lang="zh-CN" altLang="en-US" dirty="0"/>
              <a:t>，每次使用</a:t>
            </a:r>
            <a:r>
              <a:rPr lang="en-US" altLang="zh-CN" dirty="0" err="1"/>
              <a:t>gdb</a:t>
            </a:r>
            <a:r>
              <a:rPr lang="en-US" altLang="zh-CN" dirty="0"/>
              <a:t> -x gdb_init.txt</a:t>
            </a:r>
          </a:p>
          <a:p>
            <a:r>
              <a:rPr lang="en-US" altLang="zh-CN" dirty="0"/>
              <a:t>layout </a:t>
            </a:r>
            <a:r>
              <a:rPr lang="en-US" altLang="zh-CN" dirty="0" err="1"/>
              <a:t>asm</a:t>
            </a:r>
            <a:r>
              <a:rPr lang="zh-CN" altLang="en-US" dirty="0"/>
              <a:t>、</a:t>
            </a:r>
            <a:r>
              <a:rPr lang="en-US" altLang="zh-CN" dirty="0"/>
              <a:t>layout reg</a:t>
            </a:r>
            <a:r>
              <a:rPr lang="zh-CN" altLang="en-US" dirty="0"/>
              <a:t>同时查看汇编、寄存器与命令行，</a:t>
            </a:r>
            <a:r>
              <a:rPr lang="en-US" altLang="zh-CN" dirty="0" err="1"/>
              <a:t>Ctrl+L</a:t>
            </a:r>
            <a:r>
              <a:rPr lang="zh-CN" altLang="en-US" dirty="0"/>
              <a:t>刷新，</a:t>
            </a:r>
            <a:r>
              <a:rPr lang="en-US" altLang="zh-CN" dirty="0"/>
              <a:t>focus </a:t>
            </a:r>
            <a:r>
              <a:rPr lang="en-US" altLang="zh-CN" dirty="0" err="1"/>
              <a:t>asm</a:t>
            </a:r>
            <a:r>
              <a:rPr lang="en-US" altLang="zh-CN" dirty="0"/>
              <a:t>/</a:t>
            </a:r>
            <a:r>
              <a:rPr lang="en-US" altLang="zh-CN" dirty="0" err="1"/>
              <a:t>cmd</a:t>
            </a:r>
            <a:r>
              <a:rPr lang="en-US" altLang="zh-CN" dirty="0"/>
              <a:t> </a:t>
            </a:r>
            <a:r>
              <a:rPr lang="zh-CN" altLang="en-US" dirty="0"/>
              <a:t>切换焦点</a:t>
            </a:r>
            <a:endParaRPr lang="en-US" altLang="zh-CN" dirty="0"/>
          </a:p>
          <a:p>
            <a:r>
              <a:rPr lang="en-US" altLang="zh-CN" dirty="0"/>
              <a:t>x</a:t>
            </a:r>
            <a:r>
              <a:rPr lang="zh-CN" altLang="en-US" dirty="0"/>
              <a:t>命令的参数（</a:t>
            </a:r>
            <a:r>
              <a:rPr lang="en-US" altLang="zh-CN" dirty="0"/>
              <a:t>/&lt;num&gt;&lt;format&gt;&lt;</a:t>
            </a:r>
            <a:r>
              <a:rPr lang="en-US" altLang="zh-CN" dirty="0" err="1"/>
              <a:t>wordsize</a:t>
            </a:r>
            <a:r>
              <a:rPr lang="en-US" altLang="zh-CN" dirty="0"/>
              <a:t>&gt;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寻找一份</a:t>
            </a:r>
            <a:r>
              <a:rPr lang="en-US" altLang="zh-CN" dirty="0" err="1"/>
              <a:t>cheatsheet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06DBB-048E-BF50-EE6B-6DDAF6F26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2F16A-2760-476C-B48C-63AB8C5EB03B}" type="datetime1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2CC9D2-737C-6364-7939-2C59298F3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武汉大学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4FC4E8-02CE-49F5-FA9D-D6E93AB47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9D51C-D1D6-49ED-AEB1-B846C6EB5F84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60CB36A0-39AA-8F00-4B09-D735E47FBD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3.</a:t>
            </a:r>
            <a:r>
              <a:rPr lang="zh-CN" altLang="en-US" dirty="0"/>
              <a:t>工具链</a:t>
            </a:r>
          </a:p>
        </p:txBody>
      </p:sp>
    </p:spTree>
    <p:extLst>
      <p:ext uri="{BB962C8B-B14F-4D97-AF65-F5344CB8AC3E}">
        <p14:creationId xmlns:p14="http://schemas.microsoft.com/office/powerpoint/2010/main" val="39218045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C46112-21C0-2298-782D-9B23019CD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编辑器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E6DCB5-1D4C-9121-150D-E3DE2DC942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初学者可以使用</a:t>
            </a:r>
            <a:r>
              <a:rPr lang="en-US" altLang="zh-CN" dirty="0"/>
              <a:t>nano</a:t>
            </a:r>
          </a:p>
          <a:p>
            <a:r>
              <a:rPr lang="zh-CN" altLang="en-US" dirty="0"/>
              <a:t>学习</a:t>
            </a:r>
            <a:r>
              <a:rPr lang="en-US" altLang="zh-CN" dirty="0"/>
              <a:t>Vim</a:t>
            </a:r>
            <a:r>
              <a:rPr lang="zh-CN" altLang="en-US" dirty="0"/>
              <a:t>有难度，但也很有好处</a:t>
            </a:r>
            <a:endParaRPr lang="en-US" altLang="zh-CN" dirty="0"/>
          </a:p>
          <a:p>
            <a:pPr lvl="1"/>
            <a:r>
              <a:rPr lang="zh-CN" altLang="en-US" sz="1100" dirty="0"/>
              <a:t>按 </a:t>
            </a:r>
            <a:r>
              <a:rPr lang="en-US" altLang="zh-CN" sz="1100" dirty="0" err="1"/>
              <a:t>i</a:t>
            </a:r>
            <a:r>
              <a:rPr lang="en-US" altLang="zh-CN" sz="1100" dirty="0"/>
              <a:t> </a:t>
            </a:r>
            <a:r>
              <a:rPr lang="zh-CN" altLang="en-US" sz="1100" dirty="0"/>
              <a:t>进入插入模式写代码。</a:t>
            </a:r>
          </a:p>
          <a:p>
            <a:pPr lvl="1"/>
            <a:r>
              <a:rPr lang="zh-CN" altLang="en-US" sz="1100" dirty="0"/>
              <a:t>按 </a:t>
            </a:r>
            <a:r>
              <a:rPr lang="en-US" altLang="zh-CN" sz="1100" dirty="0"/>
              <a:t>Esc </a:t>
            </a:r>
            <a:r>
              <a:rPr lang="zh-CN" altLang="en-US" sz="1100" dirty="0"/>
              <a:t>回到普通模式。</a:t>
            </a:r>
          </a:p>
          <a:p>
            <a:pPr lvl="1"/>
            <a:r>
              <a:rPr lang="en-US" altLang="zh-CN" sz="1100" dirty="0"/>
              <a:t>:</a:t>
            </a:r>
            <a:r>
              <a:rPr lang="en-US" altLang="zh-CN" sz="1100" dirty="0" err="1"/>
              <a:t>wq</a:t>
            </a:r>
            <a:r>
              <a:rPr lang="en-US" altLang="zh-CN" sz="1100" dirty="0"/>
              <a:t> (</a:t>
            </a:r>
            <a:r>
              <a:rPr lang="zh-CN" altLang="en-US" sz="1100" dirty="0"/>
              <a:t>保存并退出</a:t>
            </a:r>
            <a:r>
              <a:rPr lang="en-US" altLang="zh-CN" sz="1100" dirty="0"/>
              <a:t>)</a:t>
            </a:r>
          </a:p>
          <a:p>
            <a:pPr lvl="1"/>
            <a:r>
              <a:rPr lang="en-US" altLang="zh-CN" sz="1100" dirty="0"/>
              <a:t>:q! (</a:t>
            </a:r>
            <a:r>
              <a:rPr lang="zh-CN" altLang="en-US" sz="1100" dirty="0"/>
              <a:t>强制退出</a:t>
            </a:r>
            <a:r>
              <a:rPr lang="en-US" altLang="zh-CN" sz="1100" dirty="0"/>
              <a:t>)</a:t>
            </a:r>
          </a:p>
          <a:p>
            <a:r>
              <a:rPr lang="zh-CN" altLang="en-US" dirty="0"/>
              <a:t>使用</a:t>
            </a:r>
            <a:r>
              <a:rPr lang="en-US" altLang="zh-CN" dirty="0" err="1"/>
              <a:t>gedit</a:t>
            </a:r>
            <a:r>
              <a:rPr lang="zh-CN" altLang="en-US" dirty="0"/>
              <a:t>、</a:t>
            </a:r>
            <a:r>
              <a:rPr lang="en-US" altLang="zh-CN" dirty="0"/>
              <a:t>Emacs</a:t>
            </a:r>
            <a:r>
              <a:rPr lang="zh-CN" altLang="en-US" dirty="0"/>
              <a:t>也可以解决问题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31303F-B8E1-D480-981D-1217752F0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2F16A-2760-476C-B48C-63AB8C5EB03B}" type="datetime1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621E76-1A1B-1D10-FB50-04E180916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武汉大学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DCC19F-B92C-2A94-D4BB-3D3C27C83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9D51C-D1D6-49ED-AEB1-B846C6EB5F84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6E19EBFE-9D79-B28D-397A-5D2E54F54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3.</a:t>
            </a:r>
            <a:r>
              <a:rPr lang="zh-CN" altLang="zh-CN" dirty="0"/>
              <a:t>工具链</a:t>
            </a:r>
          </a:p>
        </p:txBody>
      </p:sp>
      <p:pic>
        <p:nvPicPr>
          <p:cNvPr id="3074" name="Picture 2" descr="exiting vim : r/linuxmasterrace">
            <a:extLst>
              <a:ext uri="{FF2B5EF4-FFF2-40B4-BE49-F238E27FC236}">
                <a16:creationId xmlns:a16="http://schemas.microsoft.com/office/drawing/2014/main" id="{62C38EE7-07CD-E9AD-28DE-2336C31A65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1523" y="1192028"/>
            <a:ext cx="2717556" cy="2865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google search with request &quot;how to quit vim&quot;">
            <a:extLst>
              <a:ext uri="{FF2B5EF4-FFF2-40B4-BE49-F238E27FC236}">
                <a16:creationId xmlns:a16="http://schemas.microsoft.com/office/drawing/2014/main" id="{035CBC76-F03B-5E58-90A6-D9F248A3F9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1523" y="4345847"/>
            <a:ext cx="3750525" cy="1368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21120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188B79-74FB-4F8B-4CE4-CA803A533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52E018-A72A-9AB1-3A5C-1A222B6228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通常现代</a:t>
            </a:r>
            <a:r>
              <a:rPr lang="en-US" altLang="zh-CN" dirty="0"/>
              <a:t>Linux</a:t>
            </a:r>
            <a:r>
              <a:rPr lang="zh-CN" altLang="en-US" dirty="0"/>
              <a:t>环境都自带</a:t>
            </a:r>
            <a:r>
              <a:rPr lang="en-US" altLang="zh-CN" dirty="0"/>
              <a:t>Python</a:t>
            </a:r>
          </a:p>
          <a:p>
            <a:r>
              <a:rPr lang="en-US" altLang="zh-CN" dirty="0"/>
              <a:t>hex() int() bin()</a:t>
            </a:r>
            <a:r>
              <a:rPr lang="zh-CN" altLang="en-US" dirty="0"/>
              <a:t>等可帮助你转换进制</a:t>
            </a:r>
            <a:endParaRPr lang="en-US" altLang="zh-CN" dirty="0"/>
          </a:p>
          <a:p>
            <a:r>
              <a:rPr lang="zh-CN" altLang="en-US" dirty="0"/>
              <a:t>使用</a:t>
            </a:r>
            <a:r>
              <a:rPr lang="en-US" altLang="zh-CN" dirty="0"/>
              <a:t>0x 0b 0</a:t>
            </a:r>
            <a:r>
              <a:rPr lang="zh-CN" altLang="en-US" dirty="0"/>
              <a:t>等标识符标识十六进制、二进制、八进制数</a:t>
            </a:r>
            <a:endParaRPr lang="en-US" altLang="zh-CN" dirty="0"/>
          </a:p>
          <a:p>
            <a:r>
              <a:rPr lang="zh-CN" altLang="en-US" sz="2400" dirty="0"/>
              <a:t>使用</a:t>
            </a:r>
            <a:r>
              <a:rPr lang="en-US" altLang="zh-CN" sz="2400" dirty="0" err="1"/>
              <a:t>numpy</a:t>
            </a:r>
            <a:r>
              <a:rPr lang="en-US" altLang="zh-CN" sz="2400" dirty="0"/>
              <a:t> torch</a:t>
            </a:r>
            <a:r>
              <a:rPr lang="zh-CN" altLang="en-US" sz="2400" dirty="0"/>
              <a:t>还可以帮你算不同规格的浮点数</a:t>
            </a:r>
            <a:r>
              <a:rPr lang="zh-CN" altLang="en-US" sz="2400" strike="sngStrike" dirty="0"/>
              <a:t>（这是可以说的吗）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B728CD-AFB1-83CC-E1CF-D14F79DF7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2F16A-2760-476C-B48C-63AB8C5EB03B}" type="datetime1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C35A57-4C4B-ED13-2713-357430F0E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武汉大学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2039FB-6488-BD66-E397-F32CFD389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9D51C-D1D6-49ED-AEB1-B846C6EB5F84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F2FAD88-9260-C0B4-A8DF-98CED3A54B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3.</a:t>
            </a:r>
            <a:r>
              <a:rPr lang="zh-CN" altLang="zh-CN" dirty="0"/>
              <a:t>工具链</a:t>
            </a:r>
          </a:p>
        </p:txBody>
      </p:sp>
    </p:spTree>
    <p:extLst>
      <p:ext uri="{BB962C8B-B14F-4D97-AF65-F5344CB8AC3E}">
        <p14:creationId xmlns:p14="http://schemas.microsoft.com/office/powerpoint/2010/main" val="28311126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D7F93-A4B8-2BB6-86A8-94FAE2D53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97B10D-CD5C-AC95-F755-9C4766D1D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补充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902C0C-E5BE-596E-3BF0-172F99D733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9D9953-1359-14F4-9E33-2BC0F7C19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8BB6E-9D45-40C0-B7B2-8AD27972A43B}" type="datetime1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A200A0-90E4-521D-20C2-003213EE8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武汉大学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A2C6CD-2F92-28BA-B848-B65E74B86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9D51C-D1D6-49ED-AEB1-B846C6EB5F84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DBC1D1C1-0D92-DEAD-CC87-E34CB582BFD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21590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FFD86A-01EA-2342-160D-481FF4B75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如何搜索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379AD0-7B11-FAF4-2737-F6604C2CA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搜索语法（精确匹配</a:t>
            </a:r>
            <a:r>
              <a:rPr lang="en-US" altLang="zh-CN" dirty="0"/>
              <a:t>””</a:t>
            </a:r>
            <a:r>
              <a:rPr lang="zh-CN" altLang="en-US" dirty="0"/>
              <a:t>、排除关键词</a:t>
            </a:r>
            <a:r>
              <a:rPr lang="en-US" altLang="zh-CN" dirty="0"/>
              <a:t>-</a:t>
            </a:r>
            <a:r>
              <a:rPr lang="zh-CN" altLang="en-US" dirty="0"/>
              <a:t>、限定站点</a:t>
            </a:r>
            <a:r>
              <a:rPr lang="en-US" altLang="zh-CN" dirty="0"/>
              <a:t>site:</a:t>
            </a:r>
            <a:r>
              <a:rPr lang="zh-CN" altLang="en-US" dirty="0"/>
              <a:t>、限定格式</a:t>
            </a:r>
            <a:r>
              <a:rPr lang="en-US" altLang="zh-CN" dirty="0"/>
              <a:t>filetype:</a:t>
            </a:r>
            <a:r>
              <a:rPr lang="zh-CN" altLang="en-US" dirty="0"/>
              <a:t>、</a:t>
            </a:r>
            <a:r>
              <a:rPr lang="en-US" altLang="zh-CN" dirty="0"/>
              <a:t>…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勇于阅读英语，灵活使用翻译软件</a:t>
            </a:r>
            <a:endParaRPr lang="en-US" altLang="zh-CN" dirty="0"/>
          </a:p>
          <a:p>
            <a:r>
              <a:rPr lang="zh-CN" altLang="en-US" dirty="0"/>
              <a:t>优先选择优质内容来源灵活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7C8A8E-B984-B13A-B5FA-9D623E6FC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2F16A-2760-476C-B48C-63AB8C5EB03B}" type="datetime1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F0B475-AAB9-B361-4616-748EF4648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武汉大学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ACB568-35DB-C13C-62DD-6A4CC346E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9D51C-D1D6-49ED-AEB1-B846C6EB5F84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211A953E-FC8B-4986-3448-74FED8235F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4.</a:t>
            </a:r>
            <a:r>
              <a:rPr lang="zh-CN" altLang="en-US" dirty="0"/>
              <a:t>补充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21218659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1A0C5-1493-9E04-EFFE-EE9A91164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8CABAE-23E3-4B2A-CB26-9CE1B2101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如何使用</a:t>
            </a:r>
            <a:r>
              <a:rPr lang="en-US" altLang="zh-CN" dirty="0"/>
              <a:t>AI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12DFD6-D4B9-C5B2-C312-8E6CAA6464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理解</a:t>
            </a:r>
            <a:r>
              <a:rPr lang="en-US" altLang="zh-CN" dirty="0"/>
              <a:t>AI</a:t>
            </a:r>
            <a:r>
              <a:rPr lang="zh-CN" altLang="en-US" dirty="0"/>
              <a:t>什么时候会犯错</a:t>
            </a:r>
            <a:endParaRPr lang="en-US" altLang="zh-CN" dirty="0"/>
          </a:p>
          <a:p>
            <a:r>
              <a:rPr lang="zh-CN" altLang="en-US" dirty="0"/>
              <a:t>给</a:t>
            </a:r>
            <a:r>
              <a:rPr lang="en-US" altLang="zh-CN" dirty="0"/>
              <a:t>AI</a:t>
            </a:r>
            <a:r>
              <a:rPr lang="zh-CN" altLang="en-US" dirty="0"/>
              <a:t>充足的信息</a:t>
            </a:r>
            <a:endParaRPr lang="en-US" altLang="zh-CN" dirty="0"/>
          </a:p>
          <a:p>
            <a:r>
              <a:rPr lang="zh-CN" altLang="en-US" dirty="0"/>
              <a:t>要求</a:t>
            </a:r>
            <a:r>
              <a:rPr lang="en-US" altLang="zh-CN" dirty="0"/>
              <a:t>AI</a:t>
            </a:r>
            <a:r>
              <a:rPr lang="zh-CN" altLang="en-US" dirty="0"/>
              <a:t>给出分析过程，自主交叉验证</a:t>
            </a:r>
            <a:endParaRPr lang="en-US" altLang="zh-CN" dirty="0"/>
          </a:p>
          <a:p>
            <a:r>
              <a:rPr lang="zh-CN" altLang="en-US" dirty="0"/>
              <a:t>避免直接使用生成的代码</a:t>
            </a:r>
            <a:endParaRPr lang="en-US" altLang="zh-CN" dirty="0"/>
          </a:p>
          <a:p>
            <a:r>
              <a:rPr lang="zh-CN" altLang="en-US" dirty="0"/>
              <a:t>要求</a:t>
            </a:r>
            <a:r>
              <a:rPr lang="en-US" altLang="zh-CN" dirty="0"/>
              <a:t>AI</a:t>
            </a:r>
            <a:r>
              <a:rPr lang="zh-CN" altLang="en-US" dirty="0"/>
              <a:t>给出建议和教程而非完整解决方案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03716C-2614-D941-FED9-E9058A338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2F16A-2760-476C-B48C-63AB8C5EB03B}" type="datetime1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4FF552-0D1D-EB29-B457-02905B863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武汉大学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34017A-6F4A-425F-7040-BB3A361C4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9D51C-D1D6-49ED-AEB1-B846C6EB5F84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6CE14AB-404B-13F4-E027-0CB58A3B5D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4.</a:t>
            </a:r>
            <a:r>
              <a:rPr lang="zh-CN" altLang="en-US" dirty="0"/>
              <a:t>补充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35316072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9AAB5-4926-A454-CBFA-EE0186697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219469-EA48-4458-A6C0-1EEDAD774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/>
              <a:t>AI Agent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5BB9C5-8BEE-A6A7-A0C4-F4268ABA4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zh-CN" altLang="en-US" dirty="0"/>
              <a:t>使用高质量的</a:t>
            </a:r>
            <a:r>
              <a:rPr lang="en-US" altLang="zh-CN" dirty="0"/>
              <a:t>Agent</a:t>
            </a:r>
            <a:r>
              <a:rPr lang="zh-CN" altLang="en-US" dirty="0"/>
              <a:t>工具（如</a:t>
            </a:r>
            <a:r>
              <a:rPr lang="en-US" altLang="zh-CN" dirty="0"/>
              <a:t>Claude Code</a:t>
            </a:r>
            <a:r>
              <a:rPr lang="zh-CN" altLang="en-US" dirty="0"/>
              <a:t>、</a:t>
            </a:r>
            <a:r>
              <a:rPr lang="en-US" altLang="zh-CN" dirty="0"/>
              <a:t>Open Code</a:t>
            </a:r>
            <a:r>
              <a:rPr lang="zh-CN" altLang="en-US" dirty="0"/>
              <a:t>、</a:t>
            </a:r>
            <a:r>
              <a:rPr lang="en-US" altLang="zh-CN" dirty="0"/>
              <a:t>Codex</a:t>
            </a:r>
            <a:r>
              <a:rPr lang="zh-CN" altLang="en-US" dirty="0"/>
              <a:t>等）</a:t>
            </a:r>
            <a:endParaRPr lang="en-US" altLang="zh-CN" dirty="0"/>
          </a:p>
          <a:p>
            <a:r>
              <a:rPr lang="zh-CN" altLang="en-US" dirty="0"/>
              <a:t>选择合理的</a:t>
            </a:r>
            <a:r>
              <a:rPr lang="en-US" altLang="zh-CN" dirty="0"/>
              <a:t>API</a:t>
            </a:r>
            <a:r>
              <a:rPr lang="zh-CN" altLang="en-US" dirty="0"/>
              <a:t>来源</a:t>
            </a:r>
            <a:endParaRPr lang="en-US" altLang="zh-CN" dirty="0"/>
          </a:p>
          <a:p>
            <a:r>
              <a:rPr lang="zh-CN" altLang="en-US" dirty="0"/>
              <a:t>给</a:t>
            </a:r>
            <a:r>
              <a:rPr lang="en-US" altLang="zh-CN" dirty="0"/>
              <a:t>AI</a:t>
            </a:r>
            <a:r>
              <a:rPr lang="zh-CN" altLang="en-US" dirty="0"/>
              <a:t>准确的指示</a:t>
            </a:r>
            <a:endParaRPr lang="en-US" altLang="zh-CN" dirty="0"/>
          </a:p>
          <a:p>
            <a:r>
              <a:rPr lang="zh-CN" altLang="en-US" dirty="0"/>
              <a:t>注意</a:t>
            </a:r>
            <a:r>
              <a:rPr lang="en-US" altLang="zh-CN" dirty="0"/>
              <a:t>AI</a:t>
            </a:r>
            <a:r>
              <a:rPr lang="zh-CN" altLang="en-US" dirty="0"/>
              <a:t>不擅长处理交互式</a:t>
            </a:r>
            <a:r>
              <a:rPr lang="en-US" altLang="zh-CN" dirty="0"/>
              <a:t>TUI</a:t>
            </a:r>
          </a:p>
          <a:p>
            <a:r>
              <a:rPr lang="zh-CN" altLang="en-US" dirty="0"/>
              <a:t>认真阅读学习</a:t>
            </a:r>
            <a:r>
              <a:rPr lang="en-US" altLang="zh-CN" dirty="0"/>
              <a:t>AI</a:t>
            </a:r>
            <a:r>
              <a:rPr lang="zh-CN" altLang="en-US" dirty="0"/>
              <a:t>解决问题的流程</a:t>
            </a:r>
            <a:endParaRPr lang="en-US" altLang="zh-CN" dirty="0"/>
          </a:p>
          <a:p>
            <a:r>
              <a:rPr lang="zh-CN" altLang="en-US" dirty="0"/>
              <a:t>避免直接使用</a:t>
            </a:r>
            <a:r>
              <a:rPr lang="en-US" altLang="zh-CN" dirty="0"/>
              <a:t>AI</a:t>
            </a:r>
            <a:r>
              <a:rPr lang="zh-CN" altLang="en-US" dirty="0"/>
              <a:t>生成的结果！</a:t>
            </a:r>
            <a:endParaRPr lang="en-US" altLang="zh-CN" dirty="0"/>
          </a:p>
          <a:p>
            <a:r>
              <a:rPr lang="zh-CN" altLang="en-US" dirty="0"/>
              <a:t>为</a:t>
            </a:r>
            <a:r>
              <a:rPr lang="en-US" altLang="zh-CN" dirty="0"/>
              <a:t>Agent</a:t>
            </a:r>
            <a:r>
              <a:rPr lang="zh-CN" altLang="en-US" dirty="0"/>
              <a:t>圈定能力边界</a:t>
            </a:r>
            <a:endParaRPr lang="en-US" altLang="zh-CN" dirty="0"/>
          </a:p>
          <a:p>
            <a:r>
              <a:rPr lang="zh-CN" altLang="en-US" dirty="0"/>
              <a:t>审查</a:t>
            </a:r>
            <a:r>
              <a:rPr lang="en-US" altLang="zh-CN" dirty="0"/>
              <a:t>AI</a:t>
            </a:r>
            <a:r>
              <a:rPr lang="zh-CN" altLang="en-US" dirty="0"/>
              <a:t>的操作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567639-6655-10AE-E621-1CFD2B00E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2F16A-2760-476C-B48C-63AB8C5EB03B}" type="datetime1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572176-BE2B-4DFE-C773-799A89318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武汉大学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1D5B2D-CDD5-4CCD-FBBC-4DBAF3A00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9D51C-D1D6-49ED-AEB1-B846C6EB5F84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2359CD4F-1D63-C2C2-D3ED-5DE5490EA8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4.</a:t>
            </a:r>
            <a:r>
              <a:rPr lang="zh-CN" altLang="en-US" dirty="0"/>
              <a:t>补充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33895556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图: 过程 5">
            <a:extLst>
              <a:ext uri="{FF2B5EF4-FFF2-40B4-BE49-F238E27FC236}">
                <a16:creationId xmlns:a16="http://schemas.microsoft.com/office/drawing/2014/main" id="{46AAD576-610B-EEFC-5B04-7B23D6C6C764}"/>
              </a:ext>
            </a:extLst>
          </p:cNvPr>
          <p:cNvSpPr/>
          <p:nvPr/>
        </p:nvSpPr>
        <p:spPr>
          <a:xfrm>
            <a:off x="0" y="289932"/>
            <a:ext cx="12192000" cy="5927988"/>
          </a:xfrm>
          <a:prstGeom prst="flowChartProcess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E9FBAE-15A4-EFEB-BF31-995053F7F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7F378-3FCA-43AE-826F-C6656DDBF4D4}" type="datetime1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3CDFBC5-708C-A1CB-737D-308F2AC48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武汉大学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AF244E-6038-8AC5-6D8E-00B5E4450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9D51C-D1D6-49ED-AEB1-B846C6EB5F84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CF97D41-5A57-0244-18E0-CD5F0C758FF5}"/>
              </a:ext>
            </a:extLst>
          </p:cNvPr>
          <p:cNvSpPr txBox="1"/>
          <p:nvPr/>
        </p:nvSpPr>
        <p:spPr>
          <a:xfrm>
            <a:off x="2721641" y="2690340"/>
            <a:ext cx="6748718" cy="110799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6600" dirty="0">
                <a:solidFill>
                  <a:schemeClr val="bg1"/>
                </a:solidFill>
              </a:rPr>
              <a:t>Thank you!</a:t>
            </a:r>
            <a:endParaRPr lang="zh-CN" altLang="en-US" sz="6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0611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C Fonts">
      <a:majorFont>
        <a:latin typeface="STIX Two Text"/>
        <a:ea typeface="Noto Sans SC Medium"/>
        <a:cs typeface=""/>
      </a:majorFont>
      <a:minorFont>
        <a:latin typeface="STIX Two Text SemiBold"/>
        <a:ea typeface="Noto Sans S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y PPT Template.pptx" id="{EF4D95E0-AD3E-4D69-BABC-ED6C04D7671A}" vid="{339D6A85-E16B-4E17-B933-FB5054BB7CC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OSI PPT Template</Template>
  <TotalTime>149</TotalTime>
  <Words>1253</Words>
  <Application>Microsoft Office PowerPoint</Application>
  <PresentationFormat>宽屏</PresentationFormat>
  <Paragraphs>229</Paragraphs>
  <Slides>25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1" baseType="lpstr">
      <vt:lpstr>Noto Sans SC Medium</vt:lpstr>
      <vt:lpstr>等线</vt:lpstr>
      <vt:lpstr>Arial</vt:lpstr>
      <vt:lpstr>STIX Two Text</vt:lpstr>
      <vt:lpstr>STIX Two Text SemiBold</vt:lpstr>
      <vt:lpstr>Office 主题​​</vt:lpstr>
      <vt:lpstr>📚 Linux 101</vt:lpstr>
      <vt:lpstr>前置知识</vt:lpstr>
      <vt:lpstr>你需要阅读</vt:lpstr>
      <vt:lpstr>如何安装Linux – 常见问题</vt:lpstr>
      <vt:lpstr>文件系统</vt:lpstr>
      <vt:lpstr>认识文件系统</vt:lpstr>
      <vt:lpstr>Linux下的文件</vt:lpstr>
      <vt:lpstr>常见问题</vt:lpstr>
      <vt:lpstr>进入Linux的世界</vt:lpstr>
      <vt:lpstr>Don’t Panic!</vt:lpstr>
      <vt:lpstr>Root</vt:lpstr>
      <vt:lpstr>重定向/管道</vt:lpstr>
      <vt:lpstr>重新认识终端</vt:lpstr>
      <vt:lpstr>工具链</vt:lpstr>
      <vt:lpstr>编译器</vt:lpstr>
      <vt:lpstr>构建系统</vt:lpstr>
      <vt:lpstr>GDB</vt:lpstr>
      <vt:lpstr>GDB</vt:lpstr>
      <vt:lpstr>编辑器</vt:lpstr>
      <vt:lpstr>Python</vt:lpstr>
      <vt:lpstr>补充</vt:lpstr>
      <vt:lpstr>如何搜索</vt:lpstr>
      <vt:lpstr>如何使用AI</vt:lpstr>
      <vt:lpstr>使用AI Agent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‌ Quank</dc:creator>
  <cp:lastModifiedBy>Quank</cp:lastModifiedBy>
  <cp:revision>2</cp:revision>
  <dcterms:created xsi:type="dcterms:W3CDTF">2026-03-07T01:46:04Z</dcterms:created>
  <dcterms:modified xsi:type="dcterms:W3CDTF">2026-03-07T04:15:16Z</dcterms:modified>
</cp:coreProperties>
</file>