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</p:sldMasterIdLst>
  <p:notesMasterIdLst>
    <p:notesMasterId r:id="rId4"/>
  </p:notesMasterIdLst>
  <p:handoutMasterIdLst>
    <p:handoutMasterId r:id="rId62"/>
  </p:handoutMasterIdLst>
  <p:sldIdLst>
    <p:sldId id="1426" r:id="rId3"/>
    <p:sldId id="1423" r:id="rId5"/>
    <p:sldId id="1503" r:id="rId6"/>
    <p:sldId id="1504" r:id="rId7"/>
    <p:sldId id="1389" r:id="rId8"/>
    <p:sldId id="1427" r:id="rId9"/>
    <p:sldId id="1391" r:id="rId10"/>
    <p:sldId id="1392" r:id="rId11"/>
    <p:sldId id="1393" r:id="rId12"/>
    <p:sldId id="1394" r:id="rId13"/>
    <p:sldId id="1395" r:id="rId14"/>
    <p:sldId id="1396" r:id="rId15"/>
    <p:sldId id="1397" r:id="rId16"/>
    <p:sldId id="1501" r:id="rId17"/>
    <p:sldId id="1502" r:id="rId18"/>
    <p:sldId id="1476" r:id="rId19"/>
    <p:sldId id="1418" r:id="rId20"/>
    <p:sldId id="1398" r:id="rId21"/>
    <p:sldId id="1495" r:id="rId22"/>
    <p:sldId id="1419" r:id="rId23"/>
    <p:sldId id="1496" r:id="rId24"/>
    <p:sldId id="1428" r:id="rId25"/>
    <p:sldId id="1499" r:id="rId26"/>
    <p:sldId id="1421" r:id="rId27"/>
    <p:sldId id="1430" r:id="rId28"/>
    <p:sldId id="1403" r:id="rId29"/>
    <p:sldId id="1429" r:id="rId30"/>
    <p:sldId id="1500" r:id="rId31"/>
    <p:sldId id="1485" r:id="rId32"/>
    <p:sldId id="1486" r:id="rId33"/>
    <p:sldId id="1404" r:id="rId34"/>
    <p:sldId id="1479" r:id="rId35"/>
    <p:sldId id="1497" r:id="rId36"/>
    <p:sldId id="1424" r:id="rId37"/>
    <p:sldId id="1487" r:id="rId38"/>
    <p:sldId id="1407" r:id="rId39"/>
    <p:sldId id="1408" r:id="rId40"/>
    <p:sldId id="1482" r:id="rId41"/>
    <p:sldId id="1409" r:id="rId42"/>
    <p:sldId id="1489" r:id="rId43"/>
    <p:sldId id="1498" r:id="rId44"/>
    <p:sldId id="1491" r:id="rId45"/>
    <p:sldId id="1410" r:id="rId46"/>
    <p:sldId id="1411" r:id="rId47"/>
    <p:sldId id="1412" r:id="rId48"/>
    <p:sldId id="1413" r:id="rId49"/>
    <p:sldId id="1414" r:id="rId50"/>
    <p:sldId id="1494" r:id="rId51"/>
    <p:sldId id="1492" r:id="rId52"/>
    <p:sldId id="1493" r:id="rId53"/>
    <p:sldId id="1425" r:id="rId54"/>
    <p:sldId id="1436" r:id="rId55"/>
    <p:sldId id="1431" r:id="rId56"/>
    <p:sldId id="1432" r:id="rId57"/>
    <p:sldId id="1434" r:id="rId58"/>
    <p:sldId id="1435" r:id="rId59"/>
    <p:sldId id="1415" r:id="rId60"/>
    <p:sldId id="1416" r:id="rId61"/>
  </p:sldIdLst>
  <p:sldSz cx="12192000" cy="6858000"/>
  <p:notesSz cx="7302500" cy="9586595"/>
  <p:custDataLst>
    <p:tags r:id="rId66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00"/>
    <a:srgbClr val="1B9E77"/>
    <a:srgbClr val="7570B3"/>
    <a:srgbClr val="C00000"/>
    <a:srgbClr val="E6E6E6"/>
    <a:srgbClr val="F7F5CD"/>
    <a:srgbClr val="DEDFF5"/>
    <a:srgbClr val="DBF2DA"/>
    <a:srgbClr val="F6F5BD"/>
    <a:srgbClr val="D5F1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5" autoAdjust="0"/>
    <p:restoredTop sz="94286" autoAdjust="0"/>
  </p:normalViewPr>
  <p:slideViewPr>
    <p:cSldViewPr snapToObjects="1" showGuides="1">
      <p:cViewPr varScale="1">
        <p:scale>
          <a:sx n="115" d="100"/>
          <a:sy n="115" d="100"/>
        </p:scale>
        <p:origin x="432" y="102"/>
      </p:cViewPr>
      <p:guideLst>
        <p:guide orient="horz" pos="2160"/>
        <p:guide pos="6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568"/>
    </p:cViewPr>
  </p:sorterViewPr>
  <p:notesViewPr>
    <p:cSldViewPr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6" Type="http://schemas.openxmlformats.org/officeDocument/2006/relationships/tags" Target="tags/tag1.xml"/><Relationship Id="rId65" Type="http://schemas.openxmlformats.org/officeDocument/2006/relationships/tableStyles" Target="tableStyles.xml"/><Relationship Id="rId64" Type="http://schemas.openxmlformats.org/officeDocument/2006/relationships/viewProps" Target="viewProps.xml"/><Relationship Id="rId63" Type="http://schemas.openxmlformats.org/officeDocument/2006/relationships/presProps" Target="presProps.xml"/><Relationship Id="rId62" Type="http://schemas.openxmlformats.org/officeDocument/2006/relationships/handoutMaster" Target="handoutMasters/handoutMaster1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3"/>
          <c:order val="3"/>
          <c:tx>
            <c:strRef>
              <c:f>Sheet1!$D$1</c:f>
              <c:strCache>
                <c:ptCount val="1"/>
                <c:pt idx="0">
                  <c:v>Allocated</c:v>
                </c:pt>
              </c:strCache>
            </c:strRef>
          </c:tx>
          <c:spPr>
            <a:ln w="28575" cap="rnd">
              <a:solidFill>
                <a:srgbClr val="1B9E77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B9E77"/>
              </a:solidFill>
              <a:ln w="9525">
                <a:noFill/>
              </a:ln>
              <a:effectLst/>
            </c:spPr>
          </c:marker>
          <c:dLbls>
            <c:delete val="1"/>
          </c:dLbls>
          <c:val>
            <c:numRef>
              <c:f>Sheet1!$D$2:$D$21</c:f>
              <c:numCache>
                <c:formatCode>General</c:formatCode>
                <c:ptCount val="20"/>
                <c:pt idx="0">
                  <c:v>0.110000444266738</c:v>
                </c:pt>
                <c:pt idx="1">
                  <c:v>0.666266826602692</c:v>
                </c:pt>
                <c:pt idx="2">
                  <c:v>0.666488959971567</c:v>
                </c:pt>
                <c:pt idx="3">
                  <c:v>0.852903283131192</c:v>
                </c:pt>
                <c:pt idx="4">
                  <c:v>0.666488959971567</c:v>
                </c:pt>
                <c:pt idx="5">
                  <c:v>0.675818561464303</c:v>
                </c:pt>
                <c:pt idx="6">
                  <c:v>0.711848593895775</c:v>
                </c:pt>
                <c:pt idx="7">
                  <c:v>0.601848149629037</c:v>
                </c:pt>
                <c:pt idx="8">
                  <c:v>0.624194766537829</c:v>
                </c:pt>
                <c:pt idx="9">
                  <c:v>0.623972633168955</c:v>
                </c:pt>
                <c:pt idx="10">
                  <c:v>1</c:v>
                </c:pt>
                <c:pt idx="11">
                  <c:v>0.443733617664046</c:v>
                </c:pt>
                <c:pt idx="12">
                  <c:v>0.445244124572393</c:v>
                </c:pt>
                <c:pt idx="13">
                  <c:v>0.0692167577413479</c:v>
                </c:pt>
                <c:pt idx="14">
                  <c:v>0.0468701408325559</c:v>
                </c:pt>
                <c:pt idx="15">
                  <c:v>0.0470922742014305</c:v>
                </c:pt>
                <c:pt idx="16">
                  <c:v>0.0377626727086943</c:v>
                </c:pt>
                <c:pt idx="17">
                  <c:v>0.0362521658003465</c:v>
                </c:pt>
                <c:pt idx="18">
                  <c:v>0.000222133368874672</c:v>
                </c:pt>
                <c:pt idx="19">
                  <c:v>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Sheet1!$E$1</c:f>
              <c:strCache>
                <c:ptCount val="1"/>
                <c:pt idx="0">
                  <c:v>Peak</c:v>
                </c:pt>
              </c:strCache>
            </c:strRef>
          </c:tx>
          <c:spPr>
            <a:ln w="28575" cap="rnd">
              <a:solidFill>
                <a:srgbClr val="7570B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7570B3"/>
              </a:solidFill>
              <a:ln w="9525">
                <a:noFill/>
              </a:ln>
              <a:effectLst/>
            </c:spPr>
          </c:marker>
          <c:dLbls>
            <c:delete val="1"/>
          </c:dLbls>
          <c:val>
            <c:numRef>
              <c:f>Sheet1!$E$2:$E$21</c:f>
              <c:numCache>
                <c:formatCode>General</c:formatCode>
                <c:ptCount val="20"/>
                <c:pt idx="0">
                  <c:v>0.110000444266738</c:v>
                </c:pt>
                <c:pt idx="1">
                  <c:v>0.666266826602692</c:v>
                </c:pt>
                <c:pt idx="2">
                  <c:v>0.666488959971567</c:v>
                </c:pt>
                <c:pt idx="3">
                  <c:v>0.852903283131192</c:v>
                </c:pt>
                <c:pt idx="4">
                  <c:v>0.852903283131192</c:v>
                </c:pt>
                <c:pt idx="5">
                  <c:v>0.852903283131192</c:v>
                </c:pt>
                <c:pt idx="6">
                  <c:v>0.852903283131192</c:v>
                </c:pt>
                <c:pt idx="7">
                  <c:v>0.852903283131192</c:v>
                </c:pt>
                <c:pt idx="8">
                  <c:v>0.852903283131192</c:v>
                </c:pt>
                <c:pt idx="9">
                  <c:v>0.852903283131192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24784128"/>
        <c:axId val="624779968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Sheet1!$A$1</c15:sqref>
                        </c15:formulaRef>
                      </c:ext>
                    </c:extLst>
                    <c:strCache>
                      <c:ptCount val="1"/>
                      <c:pt idx="0">
                        <c:v>Step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1"/>
                    </a:solidFill>
                    <a:ln w="9525">
                      <a:solidFill>
                        <a:schemeClr val="accent1"/>
                      </a:solidFill>
                    </a:ln>
                    <a:effectLst/>
                  </c:spPr>
                </c:marker>
                <c:dLbls>
                  <c:delete val="1"/>
                </c:dLbls>
                <c:val>
                  <c:numRef>
                    <c:extLst>
                      <c:ext uri="{02D57815-91ED-43cb-92C2-25804820EDAC}">
                        <c15:formulaRef>
                          <c15:sqref>Sheet1!$A$2:$A$21</c15:sqref>
                        </c15:formulaRef>
                      </c:ext>
                    </c:extLst>
                    <c:numCache>
                      <c:formatCode>General</c:formatCode>
                      <c:ptCount val="20"/>
                      <c:pt idx="0">
                        <c:v>1</c:v>
                      </c:pt>
                      <c:pt idx="1">
                        <c:v>2</c:v>
                      </c:pt>
                      <c:pt idx="2">
                        <c:v>3</c:v>
                      </c:pt>
                      <c:pt idx="3">
                        <c:v>4</c:v>
                      </c:pt>
                      <c:pt idx="4">
                        <c:v>5</c:v>
                      </c:pt>
                      <c:pt idx="5">
                        <c:v>6</c:v>
                      </c:pt>
                      <c:pt idx="6">
                        <c:v>7</c:v>
                      </c:pt>
                      <c:pt idx="7">
                        <c:v>8</c:v>
                      </c:pt>
                      <c:pt idx="8">
                        <c:v>9</c:v>
                      </c:pt>
                      <c:pt idx="9">
                        <c:v>10</c:v>
                      </c:pt>
                      <c:pt idx="10">
                        <c:v>11</c:v>
                      </c:pt>
                      <c:pt idx="11">
                        <c:v>12</c:v>
                      </c:pt>
                      <c:pt idx="12">
                        <c:v>13</c:v>
                      </c:pt>
                      <c:pt idx="13">
                        <c:v>14</c:v>
                      </c:pt>
                      <c:pt idx="14">
                        <c:v>15</c:v>
                      </c:pt>
                      <c:pt idx="15">
                        <c:v>16</c:v>
                      </c:pt>
                      <c:pt idx="16">
                        <c:v>17</c:v>
                      </c:pt>
                      <c:pt idx="17">
                        <c:v>18</c:v>
                      </c:pt>
                      <c:pt idx="18">
                        <c:v>19</c:v>
                      </c:pt>
                      <c:pt idx="19">
                        <c:v>20</c:v>
                      </c:pt>
                    </c:numCache>
                  </c:numRef>
                </c:val>
                <c:smooth val="0"/>
              </c15:ser>
            </c15:filteredLineSeries>
            <c15:filteredLine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Allocated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</a:ln>
                    <a:effectLst/>
                  </c:spPr>
                </c:marker>
                <c:dLbls>
                  <c:delete val="1"/>
                </c:dLbls>
                <c:val>
                  <c:numRef>
                    <c:extLst>
                      <c:ext uri="{02D57815-91ED-43cb-92C2-25804820EDAC}">
                        <c15:formulaRef>
                          <c15:sqref>Sheet1!$B$2:$B$21</c15:sqref>
                        </c15:formulaRef>
                      </c:ext>
                    </c:extLst>
                    <c:numCache>
                      <c:formatCode>General</c:formatCode>
                      <c:ptCount val="20"/>
                      <c:pt idx="0">
                        <c:v>9904</c:v>
                      </c:pt>
                      <c:pt idx="1">
                        <c:v>59988</c:v>
                      </c:pt>
                      <c:pt idx="2">
                        <c:v>60008</c:v>
                      </c:pt>
                      <c:pt idx="3">
                        <c:v>76792</c:v>
                      </c:pt>
                      <c:pt idx="4">
                        <c:v>60008</c:v>
                      </c:pt>
                      <c:pt idx="5">
                        <c:v>60848</c:v>
                      </c:pt>
                      <c:pt idx="6">
                        <c:v>64092</c:v>
                      </c:pt>
                      <c:pt idx="7">
                        <c:v>54188</c:v>
                      </c:pt>
                      <c:pt idx="8">
                        <c:v>56200</c:v>
                      </c:pt>
                      <c:pt idx="9">
                        <c:v>56180</c:v>
                      </c:pt>
                      <c:pt idx="10">
                        <c:v>90036</c:v>
                      </c:pt>
                      <c:pt idx="11">
                        <c:v>39952</c:v>
                      </c:pt>
                      <c:pt idx="12">
                        <c:v>40088</c:v>
                      </c:pt>
                      <c:pt idx="13">
                        <c:v>6232</c:v>
                      </c:pt>
                      <c:pt idx="14">
                        <c:v>4220</c:v>
                      </c:pt>
                      <c:pt idx="15">
                        <c:v>4240</c:v>
                      </c:pt>
                      <c:pt idx="16">
                        <c:v>3400</c:v>
                      </c:pt>
                      <c:pt idx="17">
                        <c:v>3264</c:v>
                      </c:pt>
                      <c:pt idx="18">
                        <c:v>20</c:v>
                      </c:pt>
                      <c:pt idx="19">
                        <c:v>0</c:v>
                      </c:pt>
                    </c:numCache>
                  </c:numRef>
                </c:val>
                <c:smooth val="0"/>
              </c15:ser>
            </c15:filteredLineSeries>
            <c15:filteredLine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  <c:pt idx="0">
                        <c:v>Peak</c:v>
                      </c:pt>
                    </c:strCache>
                  </c:strRef>
                </c:tx>
                <c:spPr>
                  <a:ln w="2857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3"/>
                    </a:solidFill>
                    <a:ln w="9525">
                      <a:solidFill>
                        <a:schemeClr val="accent3"/>
                      </a:solidFill>
                    </a:ln>
                    <a:effectLst/>
                  </c:spPr>
                </c:marker>
                <c:dLbls>
                  <c:delete val="1"/>
                </c:dLbls>
                <c:val>
                  <c:numRef>
                    <c:extLst>
                      <c:ext uri="{02D57815-91ED-43cb-92C2-25804820EDAC}">
                        <c15:formulaRef>
                          <c15:sqref>Sheet1!$C$2:$C$21</c15:sqref>
                        </c15:formulaRef>
                      </c:ext>
                    </c:extLst>
                    <c:numCache>
                      <c:formatCode>General</c:formatCode>
                      <c:ptCount val="20"/>
                      <c:pt idx="0">
                        <c:v>9904</c:v>
                      </c:pt>
                      <c:pt idx="1">
                        <c:v>59988</c:v>
                      </c:pt>
                      <c:pt idx="2">
                        <c:v>60008</c:v>
                      </c:pt>
                      <c:pt idx="3">
                        <c:v>76792</c:v>
                      </c:pt>
                      <c:pt idx="4">
                        <c:v>76792</c:v>
                      </c:pt>
                      <c:pt idx="5">
                        <c:v>76792</c:v>
                      </c:pt>
                      <c:pt idx="6">
                        <c:v>76792</c:v>
                      </c:pt>
                      <c:pt idx="7">
                        <c:v>76792</c:v>
                      </c:pt>
                      <c:pt idx="8">
                        <c:v>76792</c:v>
                      </c:pt>
                      <c:pt idx="9">
                        <c:v>76792</c:v>
                      </c:pt>
                      <c:pt idx="10">
                        <c:v>90036</c:v>
                      </c:pt>
                      <c:pt idx="11">
                        <c:v>90036</c:v>
                      </c:pt>
                      <c:pt idx="12">
                        <c:v>90036</c:v>
                      </c:pt>
                      <c:pt idx="13">
                        <c:v>90036</c:v>
                      </c:pt>
                      <c:pt idx="14">
                        <c:v>90036</c:v>
                      </c:pt>
                      <c:pt idx="15">
                        <c:v>90036</c:v>
                      </c:pt>
                      <c:pt idx="16">
                        <c:v>90036</c:v>
                      </c:pt>
                      <c:pt idx="17">
                        <c:v>90036</c:v>
                      </c:pt>
                      <c:pt idx="18">
                        <c:v>90036</c:v>
                      </c:pt>
                      <c:pt idx="19">
                        <c:v>90036</c:v>
                      </c:pt>
                    </c:numCache>
                  </c:numRef>
                </c:val>
                <c:smooth val="0"/>
              </c15:ser>
            </c15:filteredLineSeries>
          </c:ext>
        </c:extLst>
      </c:lineChart>
      <c:catAx>
        <c:axId val="62478412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en-US"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Step</a:t>
                </a:r>
                <a:endParaRPr lang="en-US" i="1" baseline="0" dirty="0">
                  <a:latin typeface="Cambria Math" panose="02040503050406030204" pitchFamily="18" charset="0"/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24779968"/>
        <c:crosses val="autoZero"/>
        <c:auto val="1"/>
        <c:lblAlgn val="ctr"/>
        <c:lblOffset val="100"/>
        <c:noMultiLvlLbl val="0"/>
      </c:catAx>
      <c:valAx>
        <c:axId val="624779968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en-US"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Normalized</a:t>
                </a:r>
                <a:r>
                  <a:rPr lang="en-US" baseline="0" dirty="0"/>
                  <a:t> Aggregate Memory</a:t>
                </a:r>
                <a:endParaRPr lang="en-US" dirty="0"/>
              </a:p>
            </c:rich>
          </c:tx>
          <c:layout>
            <c:manualLayout>
              <c:xMode val="edge"/>
              <c:yMode val="edge"/>
              <c:x val="0.0108309422109535"/>
              <c:y val="0.13475436369365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24784128"/>
        <c:crosses val="autoZero"/>
        <c:crossBetween val="between"/>
        <c:majorUnit val="0.2"/>
        <c:minorUnit val="0.1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49bbc2f5-ebed-4b8d-bf7d-9a800f45b177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30550" cy="482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422" tIns="48211" rIns="96422" bIns="48211" numCol="1" anchor="t" anchorCtr="0" compatLnSpc="1"/>
          <a:lstStyle>
            <a:lvl1pPr defTabSz="96520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/>
              <a:t>DAC 2001 Tutorial</a:t>
            </a:r>
            <a:endParaRPr lang="en-US"/>
          </a:p>
        </p:txBody>
      </p:sp>
      <p:sp>
        <p:nvSpPr>
          <p:cNvPr id="2529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71950" y="0"/>
            <a:ext cx="3130550" cy="482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422" tIns="48211" rIns="96422" bIns="48211" numCol="1" anchor="t" anchorCtr="0" compatLnSpc="1"/>
          <a:lstStyle>
            <a:lvl1pPr algn="r" defTabSz="96520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29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422" tIns="48211" rIns="96422" bIns="48211" numCol="1" anchor="b" anchorCtr="0" compatLnSpc="1"/>
          <a:lstStyle>
            <a:lvl1pPr defTabSz="965200">
              <a:defRPr sz="1200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/>
              <a:t>©R.A. Rutenbar, 2001</a:t>
            </a:r>
            <a:endParaRPr lang="en-US"/>
          </a:p>
        </p:txBody>
      </p:sp>
      <p:sp>
        <p:nvSpPr>
          <p:cNvPr id="2529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7195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422" tIns="48211" rIns="96422" bIns="48211" numCol="1" anchor="b" anchorCtr="0" compatLnSpc="1"/>
          <a:lstStyle>
            <a:lvl1pPr algn="r" defTabSz="96520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3587096-7852-44F5-9A71-D621B1FF24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200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14800" y="0"/>
            <a:ext cx="3200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6400" y="685800"/>
            <a:ext cx="6502400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408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0600" y="4572000"/>
            <a:ext cx="5334000" cy="426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408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1480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0F64717-A5A5-4C4E-9291-2F18B7410B0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803353-72E2-470C-8E67-87750F01FAF1}" type="slidenum">
              <a:rPr lang="en-US"/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37890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ext Box 1"/>
          <p:cNvSpPr txBox="1">
            <a:spLocks noChangeArrowheads="1"/>
          </p:cNvSpPr>
          <p:nvPr/>
        </p:nvSpPr>
        <p:spPr bwMode="auto">
          <a:xfrm>
            <a:off x="1261456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3891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3993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4096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4198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43010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4403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4505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4608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120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222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222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222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222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222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427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427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529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632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632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734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427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8370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939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6041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614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624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939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6041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614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624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63490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6451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708013"/>
            <a:ext cx="103632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886200"/>
            <a:ext cx="10236656" cy="1752600"/>
          </a:xfrm>
        </p:spPr>
        <p:txBody>
          <a:bodyPr/>
          <a:lstStyle>
            <a:lvl1pPr marL="0" indent="0" algn="l">
              <a:buNone/>
              <a:defRPr sz="2000" b="0"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025" y="435678"/>
            <a:ext cx="10122791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latin typeface="Calibri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0901" y="1362075"/>
            <a:ext cx="5162551" cy="497205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6651" y="1362075"/>
            <a:ext cx="5162549" cy="497205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017" y="445070"/>
            <a:ext cx="10121900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>
                <a:latin typeface="Calibri" pitchFamily="34" charset="0"/>
              </a:defRPr>
            </a:lvl1pPr>
            <a:lvl2pPr>
              <a:defRPr sz="2800">
                <a:latin typeface="Calibri" pitchFamily="34" charset="0"/>
              </a:defRPr>
            </a:lvl2pPr>
            <a:lvl3pPr>
              <a:defRPr sz="2400">
                <a:latin typeface="Calibri" pitchFamily="34" charset="0"/>
              </a:defRPr>
            </a:lvl3pPr>
            <a:lvl4pPr>
              <a:defRPr sz="2000">
                <a:latin typeface="Calibri" pitchFamily="34" charset="0"/>
              </a:defRPr>
            </a:lvl4pPr>
            <a:lvl5pPr>
              <a:defRPr sz="2000">
                <a:latin typeface="Calibri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>
                <a:latin typeface="Calibri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352" y="228601"/>
            <a:ext cx="2914649" cy="6105525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9167" y="228601"/>
            <a:ext cx="8544984" cy="6105525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168" y="228600"/>
            <a:ext cx="11662833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0901" y="1362075"/>
            <a:ext cx="5162551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216651" y="1362076"/>
            <a:ext cx="5162549" cy="24098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216651" y="3924301"/>
            <a:ext cx="5162549" cy="24098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168" y="228600"/>
            <a:ext cx="11662833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50901" y="1362075"/>
            <a:ext cx="5162551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6651" y="1362075"/>
            <a:ext cx="5162549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8787" y="371182"/>
            <a:ext cx="10121900" cy="762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9167" y="1362075"/>
            <a:ext cx="10528300" cy="4972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12192000" cy="228600"/>
          </a:xfrm>
          <a:prstGeom prst="rect">
            <a:avLst/>
          </a:prstGeom>
          <a:solidFill>
            <a:srgbClr val="990000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2400" b="0">
              <a:latin typeface="Times New Roman" panose="02020603050405020304" pitchFamily="18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0530418" y="-26987"/>
            <a:ext cx="1746249" cy="277813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1200">
                <a:solidFill>
                  <a:schemeClr val="bg1"/>
                </a:solidFill>
                <a:latin typeface="Times New Roman" panose="02020603050405020304" pitchFamily="18" charset="0"/>
              </a:rPr>
              <a:t>Carnegie Mellon</a:t>
            </a:r>
            <a:endParaRPr lang="en-US" sz="12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1774458" y="6611780"/>
            <a:ext cx="31290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706020202030204" pitchFamily="34" charset="0"/>
                <a:ea typeface="MS PGothic" pitchFamily="-96" charset="-128"/>
                <a:cs typeface="MS PGothic" pitchFamily="-96" charset="-128"/>
              </a:rPr>
            </a:fld>
            <a:endParaRPr lang="en-US" sz="1000"/>
          </a:p>
        </p:txBody>
      </p:sp>
      <p:sp>
        <p:nvSpPr>
          <p:cNvPr id="8" name="TextBox 7"/>
          <p:cNvSpPr txBox="1"/>
          <p:nvPr userDrawn="1"/>
        </p:nvSpPr>
        <p:spPr>
          <a:xfrm>
            <a:off x="-21375" y="6629401"/>
            <a:ext cx="46458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>
                <a:latin typeface="Calibri" pitchFamily="34" charset="0"/>
              </a:rPr>
              <a:t>Bryant</a:t>
            </a:r>
            <a:r>
              <a:rPr lang="en-US" sz="1000" b="0" i="0" baseline="0">
                <a:latin typeface="Calibri" pitchFamily="34" charset="0"/>
              </a:rPr>
              <a:t> and </a:t>
            </a:r>
            <a:r>
              <a:rPr lang="en-US" sz="1000" b="0" i="0" baseline="0" err="1">
                <a:latin typeface="Calibri" pitchFamily="34" charset="0"/>
              </a:rPr>
              <a:t>O’Hallaron</a:t>
            </a:r>
            <a:r>
              <a:rPr lang="en-US" sz="1000" b="0" i="0" baseline="0">
                <a:latin typeface="Calibri" pitchFamily="34" charset="0"/>
              </a:rPr>
              <a:t>, Computer Systems: A Programmer’s Perspective, Third Edition</a:t>
            </a:r>
            <a:endParaRPr lang="en-US" sz="1000" b="0" i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iming>
    <p:tnLst>
      <p:par>
        <p:cTn id="1" dur="indefinite" restart="never" nodeType="tmRoot"/>
      </p:par>
    </p:tnLst>
  </p:timing>
  <p:txStyles>
    <p:titleStyle>
      <a:lvl1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+mj-ea"/>
          <a:cs typeface="+mj-cs"/>
        </a:defRPr>
      </a:lvl1pPr>
      <a:lvl2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2pPr>
      <a:lvl3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3pPr>
      <a:lvl4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4pPr>
      <a:lvl5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5pPr>
      <a:lvl6pPr marL="5765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6pPr>
      <a:lvl7pPr marL="10337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7pPr>
      <a:lvl8pPr marL="14909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8pPr>
      <a:lvl9pPr marL="19481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anose="05020102010507070707" pitchFamily="18" charset="2"/>
        <a:buChar char="¢"/>
        <a:defRPr sz="2400" b="1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Calibri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Calibri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7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7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7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7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chart" Target="../charts/char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e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2182738" y="1600200"/>
            <a:ext cx="7772400" cy="4191000"/>
          </a:xfrm>
        </p:spPr>
        <p:txBody>
          <a:bodyPr anchor="t" anchorCtr="0"/>
          <a:lstStyle/>
          <a:p>
            <a:pPr marL="0" indent="0"/>
            <a:r>
              <a:rPr lang="zh-CN" altLang="en-US" dirty="0" smtClean="0"/>
              <a:t>动态内存分配：基础概念</a:t>
            </a:r>
            <a:br>
              <a:rPr lang="en-US" dirty="0" smtClean="0"/>
            </a:br>
            <a:br>
              <a:rPr lang="en-US" dirty="0" smtClean="0"/>
            </a:br>
            <a:r>
              <a:rPr lang="en-US" sz="2000" b="0" dirty="0"/>
              <a:t>15-213/15-513/14-513: Introduction to Computer Systems</a:t>
            </a:r>
            <a:br>
              <a:rPr lang="en-US" sz="2000" b="0" dirty="0"/>
            </a:br>
            <a:r>
              <a:rPr lang="en-US" sz="2000" b="0" dirty="0"/>
              <a:t>13</a:t>
            </a:r>
            <a:r>
              <a:rPr lang="en-US" sz="2000" b="0" baseline="30000" dirty="0"/>
              <a:t>th</a:t>
            </a:r>
            <a:r>
              <a:rPr lang="en-US" sz="2000" b="0" dirty="0"/>
              <a:t> Lecture, Oct 7, 2025</a:t>
            </a:r>
            <a:br>
              <a:rPr lang="en-US" sz="2000" b="0" dirty="0"/>
            </a:br>
            <a:br>
              <a:rPr lang="en-US" sz="2000" b="0" dirty="0"/>
            </a:br>
            <a:endParaRPr lang="en-US" sz="2000" b="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</a:t>
            </a:r>
            <a:r>
              <a:rPr lang="zh-CN" altLang="en-US" dirty="0" smtClean="0"/>
              <a:t>础概念</a:t>
            </a:r>
            <a:endParaRPr lang="en-US" dirty="0"/>
          </a:p>
          <a:p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</a:rPr>
              <a:t>隐式空闲列表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93713"/>
            <a:ext cx="6845300" cy="573087"/>
          </a:xfrm>
        </p:spPr>
        <p:txBody>
          <a:bodyPr/>
          <a:lstStyle/>
          <a:p>
            <a:pPr eaLnBrk="1" hangingPunct="1"/>
            <a:r>
              <a:rPr lang="en-US"/>
              <a:t>Memory Allocation Example</a:t>
            </a:r>
            <a:endParaRPr lang="en-US"/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2133600" y="1498600"/>
            <a:ext cx="5791200" cy="479742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</a:ln>
        </p:spPr>
        <p:txBody>
          <a:bodyPr wrap="square" lIns="90487" tIns="44450" rIns="90487" bIns="44450">
            <a:spAutoFit/>
          </a:bodyPr>
          <a:lstStyle/>
          <a:p>
            <a:pPr eaLnBrk="0" hangingPunct="0"/>
            <a:r>
              <a:rPr lang="fi-FI" sz="1800" dirty="0" err="1">
                <a:latin typeface="Courier New" panose="02070609020205020404" pitchFamily="49" charset="0"/>
              </a:rPr>
              <a:t>char</a:t>
            </a:r>
            <a:r>
              <a:rPr lang="fi-FI" sz="1800" dirty="0">
                <a:latin typeface="Courier New" panose="02070609020205020404" pitchFamily="49" charset="0"/>
              </a:rPr>
              <a:t> big_array[1L&lt;&lt;24];  /* 16 MB */</a:t>
            </a:r>
            <a:endParaRPr lang="fi-FI" sz="1800" dirty="0">
              <a:latin typeface="Courier New" panose="02070609020205020404" pitchFamily="49" charset="0"/>
            </a:endParaRPr>
          </a:p>
          <a:p>
            <a:pPr eaLnBrk="0" hangingPunct="0"/>
            <a:r>
              <a:rPr lang="fi-FI" sz="1800" dirty="0" err="1">
                <a:latin typeface="Courier New" panose="02070609020205020404" pitchFamily="49" charset="0"/>
              </a:rPr>
              <a:t>char</a:t>
            </a:r>
            <a:r>
              <a:rPr lang="fi-FI" sz="1800" dirty="0">
                <a:latin typeface="Courier New" panose="02070609020205020404" pitchFamily="49" charset="0"/>
              </a:rPr>
              <a:t> huge_array[1L&lt;&lt;31]; /*  2 GB */</a:t>
            </a:r>
            <a:endParaRPr lang="fi-FI" sz="1800" dirty="0">
              <a:latin typeface="Courier New" panose="02070609020205020404" pitchFamily="49" charset="0"/>
            </a:endParaRPr>
          </a:p>
          <a:p>
            <a:pPr eaLnBrk="0" hangingPunct="0"/>
            <a:endParaRPr lang="fi-FI" sz="1800" dirty="0">
              <a:latin typeface="Courier New" panose="02070609020205020404" pitchFamily="49" charset="0"/>
            </a:endParaRPr>
          </a:p>
          <a:p>
            <a:pPr eaLnBrk="0" hangingPunct="0"/>
            <a:r>
              <a:rPr lang="fi-FI" sz="1800" dirty="0" err="1">
                <a:latin typeface="Courier New" panose="02070609020205020404" pitchFamily="49" charset="0"/>
              </a:rPr>
              <a:t>int</a:t>
            </a:r>
            <a:r>
              <a:rPr lang="fi-FI" sz="1800" dirty="0">
                <a:latin typeface="Courier New" panose="02070609020205020404" pitchFamily="49" charset="0"/>
              </a:rPr>
              <a:t> </a:t>
            </a:r>
            <a:r>
              <a:rPr lang="fi-FI" sz="1800" dirty="0" err="1">
                <a:latin typeface="Courier New" panose="02070609020205020404" pitchFamily="49" charset="0"/>
              </a:rPr>
              <a:t>global</a:t>
            </a:r>
            <a:r>
              <a:rPr lang="fi-FI" sz="1800" dirty="0">
                <a:latin typeface="Courier New" panose="02070609020205020404" pitchFamily="49" charset="0"/>
              </a:rPr>
              <a:t> = 0;</a:t>
            </a:r>
            <a:endParaRPr lang="fi-FI" sz="1800" dirty="0">
              <a:latin typeface="Courier New" panose="02070609020205020404" pitchFamily="49" charset="0"/>
            </a:endParaRPr>
          </a:p>
          <a:p>
            <a:pPr eaLnBrk="0" hangingPunct="0"/>
            <a:endParaRPr lang="fi-FI" sz="1800" dirty="0">
              <a:latin typeface="Courier New" panose="02070609020205020404" pitchFamily="49" charset="0"/>
            </a:endParaRPr>
          </a:p>
          <a:p>
            <a:pPr eaLnBrk="0" hangingPunct="0"/>
            <a:r>
              <a:rPr lang="fi-FI" sz="1800" dirty="0" err="1">
                <a:latin typeface="Courier New" panose="02070609020205020404" pitchFamily="49" charset="0"/>
              </a:rPr>
              <a:t>int</a:t>
            </a:r>
            <a:r>
              <a:rPr lang="fi-FI" sz="1800" dirty="0">
                <a:latin typeface="Courier New" panose="02070609020205020404" pitchFamily="49" charset="0"/>
              </a:rPr>
              <a:t> </a:t>
            </a:r>
            <a:r>
              <a:rPr lang="fi-FI" sz="1800" dirty="0" err="1">
                <a:latin typeface="Courier New" panose="02070609020205020404" pitchFamily="49" charset="0"/>
              </a:rPr>
              <a:t>useless</a:t>
            </a:r>
            <a:r>
              <a:rPr lang="fi-FI" sz="1800" dirty="0">
                <a:latin typeface="Courier New" panose="02070609020205020404" pitchFamily="49" charset="0"/>
              </a:rPr>
              <a:t>() { </a:t>
            </a:r>
            <a:r>
              <a:rPr lang="fi-FI" sz="1800" dirty="0" err="1">
                <a:latin typeface="Courier New" panose="02070609020205020404" pitchFamily="49" charset="0"/>
              </a:rPr>
              <a:t>return</a:t>
            </a:r>
            <a:r>
              <a:rPr lang="fi-FI" sz="1800" dirty="0">
                <a:latin typeface="Courier New" panose="02070609020205020404" pitchFamily="49" charset="0"/>
              </a:rPr>
              <a:t> 0; }</a:t>
            </a:r>
            <a:endParaRPr lang="fi-FI" sz="1800" dirty="0">
              <a:latin typeface="Courier New" panose="02070609020205020404" pitchFamily="49" charset="0"/>
            </a:endParaRPr>
          </a:p>
          <a:p>
            <a:pPr eaLnBrk="0" hangingPunct="0"/>
            <a:endParaRPr lang="fi-FI" sz="1800" dirty="0">
              <a:latin typeface="Courier New" panose="02070609020205020404" pitchFamily="49" charset="0"/>
            </a:endParaRPr>
          </a:p>
          <a:p>
            <a:pPr eaLnBrk="0" hangingPunct="0"/>
            <a:r>
              <a:rPr lang="fi-FI" sz="1800" dirty="0" err="1">
                <a:latin typeface="Courier New" panose="02070609020205020404" pitchFamily="49" charset="0"/>
              </a:rPr>
              <a:t>int</a:t>
            </a:r>
            <a:r>
              <a:rPr lang="fi-FI" sz="1800" dirty="0">
                <a:latin typeface="Courier New" panose="02070609020205020404" pitchFamily="49" charset="0"/>
              </a:rPr>
              <a:t> main ()</a:t>
            </a:r>
            <a:endParaRPr lang="fi-FI" sz="1800" dirty="0">
              <a:latin typeface="Courier New" panose="02070609020205020404" pitchFamily="49" charset="0"/>
            </a:endParaRPr>
          </a:p>
          <a:p>
            <a:pPr eaLnBrk="0" hangingPunct="0"/>
            <a:r>
              <a:rPr lang="fi-FI" sz="1800" dirty="0">
                <a:latin typeface="Courier New" panose="02070609020205020404" pitchFamily="49" charset="0"/>
              </a:rPr>
              <a:t>{</a:t>
            </a:r>
            <a:endParaRPr lang="fi-FI" sz="1800" dirty="0">
              <a:latin typeface="Courier New" panose="02070609020205020404" pitchFamily="49" charset="0"/>
            </a:endParaRPr>
          </a:p>
          <a:p>
            <a:pPr eaLnBrk="0" hangingPunct="0"/>
            <a:r>
              <a:rPr lang="fi-FI" sz="1800" dirty="0">
                <a:latin typeface="Courier New" panose="02070609020205020404" pitchFamily="49" charset="0"/>
              </a:rPr>
              <a:t>    </a:t>
            </a:r>
            <a:r>
              <a:rPr lang="fi-FI" sz="1800" dirty="0" err="1">
                <a:latin typeface="Courier New" panose="02070609020205020404" pitchFamily="49" charset="0"/>
              </a:rPr>
              <a:t>void</a:t>
            </a:r>
            <a:r>
              <a:rPr lang="fi-FI" sz="1800" dirty="0">
                <a:latin typeface="Courier New" panose="02070609020205020404" pitchFamily="49" charset="0"/>
              </a:rPr>
              <a:t> *p1, *p2, *p3, *p4;</a:t>
            </a:r>
            <a:endParaRPr lang="fi-FI" sz="1800" dirty="0">
              <a:latin typeface="Courier New" panose="02070609020205020404" pitchFamily="49" charset="0"/>
            </a:endParaRPr>
          </a:p>
          <a:p>
            <a:pPr eaLnBrk="0" hangingPunct="0"/>
            <a:r>
              <a:rPr lang="fi-FI" sz="1800" dirty="0">
                <a:latin typeface="Courier New" panose="02070609020205020404" pitchFamily="49" charset="0"/>
              </a:rPr>
              <a:t>    </a:t>
            </a:r>
            <a:r>
              <a:rPr lang="fi-FI" sz="1800" dirty="0" err="1">
                <a:latin typeface="Courier New" panose="02070609020205020404" pitchFamily="49" charset="0"/>
              </a:rPr>
              <a:t>int</a:t>
            </a:r>
            <a:r>
              <a:rPr lang="fi-FI" sz="1800" dirty="0">
                <a:latin typeface="Courier New" panose="02070609020205020404" pitchFamily="49" charset="0"/>
              </a:rPr>
              <a:t> </a:t>
            </a:r>
            <a:r>
              <a:rPr lang="fi-FI" sz="1800" dirty="0" err="1">
                <a:latin typeface="Courier New" panose="02070609020205020404" pitchFamily="49" charset="0"/>
              </a:rPr>
              <a:t>local</a:t>
            </a:r>
            <a:r>
              <a:rPr lang="fi-FI" sz="1800" dirty="0">
                <a:latin typeface="Courier New" panose="02070609020205020404" pitchFamily="49" charset="0"/>
              </a:rPr>
              <a:t> = 0;</a:t>
            </a:r>
            <a:endParaRPr lang="fi-FI" sz="1800" dirty="0">
              <a:latin typeface="Courier New" panose="02070609020205020404" pitchFamily="49" charset="0"/>
            </a:endParaRPr>
          </a:p>
          <a:p>
            <a:pPr eaLnBrk="0" hangingPunct="0"/>
            <a:r>
              <a:rPr lang="fi-FI" sz="1800" dirty="0">
                <a:latin typeface="Courier New" panose="02070609020205020404" pitchFamily="49" charset="0"/>
              </a:rPr>
              <a:t>    p1 = malloc(1L &lt;&lt; 28); /* 256 MB */</a:t>
            </a:r>
            <a:endParaRPr lang="fi-FI" sz="1800" dirty="0">
              <a:latin typeface="Courier New" panose="02070609020205020404" pitchFamily="49" charset="0"/>
            </a:endParaRPr>
          </a:p>
          <a:p>
            <a:pPr eaLnBrk="0" hangingPunct="0"/>
            <a:r>
              <a:rPr lang="fi-FI" sz="1800" dirty="0">
                <a:latin typeface="Courier New" panose="02070609020205020404" pitchFamily="49" charset="0"/>
              </a:rPr>
              <a:t>    p2 = malloc(1L &lt;&lt; 8);  /* 256  B */</a:t>
            </a:r>
            <a:endParaRPr lang="fi-FI" sz="1800" dirty="0">
              <a:latin typeface="Courier New" panose="02070609020205020404" pitchFamily="49" charset="0"/>
            </a:endParaRPr>
          </a:p>
          <a:p>
            <a:pPr eaLnBrk="0" hangingPunct="0"/>
            <a:r>
              <a:rPr lang="fi-FI" sz="1800" dirty="0">
                <a:latin typeface="Courier New" panose="02070609020205020404" pitchFamily="49" charset="0"/>
              </a:rPr>
              <a:t>    p3 = malloc(1L &lt;&lt; 32); /*   4 GB */</a:t>
            </a:r>
            <a:endParaRPr lang="fi-FI" sz="1800" dirty="0">
              <a:latin typeface="Courier New" panose="02070609020205020404" pitchFamily="49" charset="0"/>
            </a:endParaRPr>
          </a:p>
          <a:p>
            <a:pPr eaLnBrk="0" hangingPunct="0"/>
            <a:r>
              <a:rPr lang="fi-FI" sz="1800" dirty="0">
                <a:latin typeface="Courier New" panose="02070609020205020404" pitchFamily="49" charset="0"/>
              </a:rPr>
              <a:t>    p4 = malloc(1L &lt;&lt; 8);  /* 256  B */</a:t>
            </a:r>
            <a:endParaRPr lang="fi-FI" sz="1800" dirty="0">
              <a:latin typeface="Courier New" panose="02070609020205020404" pitchFamily="49" charset="0"/>
            </a:endParaRPr>
          </a:p>
          <a:p>
            <a:pPr eaLnBrk="0" hangingPunct="0"/>
            <a:r>
              <a:rPr lang="en-US" sz="1800" dirty="0">
                <a:latin typeface="Courier New" panose="02070609020205020404" pitchFamily="49" charset="0"/>
              </a:rPr>
              <a:t> /* Some print statements ... */</a:t>
            </a:r>
            <a:endParaRPr lang="en-US" sz="1800" dirty="0">
              <a:latin typeface="Courier New" panose="02070609020205020404" pitchFamily="49" charset="0"/>
            </a:endParaRPr>
          </a:p>
          <a:p>
            <a:pPr eaLnBrk="0" hangingPunct="0"/>
            <a:r>
              <a:rPr lang="en-US" sz="1800" dirty="0">
                <a:latin typeface="Courier New" panose="02070609020205020404" pitchFamily="49" charset="0"/>
              </a:rPr>
              <a:t>}</a:t>
            </a:r>
            <a:endParaRPr lang="en-US" sz="1800" dirty="0">
              <a:latin typeface="Courier New" panose="02070609020205020404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94688" y="304800"/>
            <a:ext cx="220599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cs typeface="+mn-cs"/>
              </a:rPr>
              <a:t>not drawn to scale</a:t>
            </a:r>
            <a:endParaRPr lang="en-US" sz="1800" i="1" dirty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014538" y="6319837"/>
            <a:ext cx="415734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cs typeface="+mn-cs"/>
              </a:rPr>
              <a:t>Where does everything go?</a:t>
            </a:r>
            <a:endParaRPr lang="en-US" i="1" dirty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cs typeface="+mn-cs"/>
            </a:endParaRPr>
          </a:p>
        </p:txBody>
      </p:sp>
      <p:sp>
        <p:nvSpPr>
          <p:cNvPr id="17" name="Rectangle 20"/>
          <p:cNvSpPr>
            <a:spLocks noChangeArrowheads="1"/>
          </p:cNvSpPr>
          <p:nvPr/>
        </p:nvSpPr>
        <p:spPr bwMode="auto">
          <a:xfrm>
            <a:off x="8382000" y="1041955"/>
            <a:ext cx="1447800" cy="5584825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 dirty="0">
              <a:latin typeface="Calibri" pitchFamily="34" charset="0"/>
              <a:cs typeface="+mn-cs"/>
            </a:endParaRPr>
          </a:p>
        </p:txBody>
      </p:sp>
      <p:sp>
        <p:nvSpPr>
          <p:cNvPr id="18" name="Rectangle 21"/>
          <p:cNvSpPr>
            <a:spLocks noChangeArrowheads="1"/>
          </p:cNvSpPr>
          <p:nvPr/>
        </p:nvSpPr>
        <p:spPr bwMode="auto">
          <a:xfrm>
            <a:off x="8382000" y="1171575"/>
            <a:ext cx="1447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r>
              <a:rPr lang="en-US" sz="1800" dirty="0">
                <a:latin typeface="Calibri" pitchFamily="34" charset="0"/>
                <a:cs typeface="+mn-cs"/>
              </a:rPr>
              <a:t>Stack</a:t>
            </a:r>
            <a:endParaRPr lang="en-US" sz="1800" dirty="0">
              <a:latin typeface="Calibri" pitchFamily="34" charset="0"/>
              <a:cs typeface="+mn-cs"/>
            </a:endParaRPr>
          </a:p>
        </p:txBody>
      </p:sp>
      <p:sp>
        <p:nvSpPr>
          <p:cNvPr id="19" name="Rectangle 23"/>
          <p:cNvSpPr>
            <a:spLocks noChangeArrowheads="1"/>
          </p:cNvSpPr>
          <p:nvPr/>
        </p:nvSpPr>
        <p:spPr bwMode="auto">
          <a:xfrm>
            <a:off x="8382000" y="6017180"/>
            <a:ext cx="1447800" cy="304800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0" hangingPunct="0"/>
            <a:r>
              <a:rPr lang="en-US" sz="1800">
                <a:latin typeface="Calibri" pitchFamily="34" charset="0"/>
              </a:rPr>
              <a:t>Text</a:t>
            </a:r>
            <a:endParaRPr lang="en-US" sz="1800">
              <a:latin typeface="Calibri" pitchFamily="34" charset="0"/>
            </a:endParaRPr>
          </a:p>
        </p:txBody>
      </p:sp>
      <p:sp>
        <p:nvSpPr>
          <p:cNvPr id="20" name="Rectangle 24"/>
          <p:cNvSpPr>
            <a:spLocks noChangeArrowheads="1"/>
          </p:cNvSpPr>
          <p:nvPr/>
        </p:nvSpPr>
        <p:spPr bwMode="auto">
          <a:xfrm>
            <a:off x="8382000" y="5712380"/>
            <a:ext cx="1447800" cy="304800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0" hangingPunct="0"/>
            <a:r>
              <a:rPr lang="en-US" sz="1800">
                <a:latin typeface="Calibri" pitchFamily="34" charset="0"/>
              </a:rPr>
              <a:t>Data</a:t>
            </a:r>
            <a:endParaRPr lang="en-US" sz="1800">
              <a:latin typeface="Calibri" pitchFamily="34" charset="0"/>
            </a:endParaRPr>
          </a:p>
        </p:txBody>
      </p:sp>
      <p:sp>
        <p:nvSpPr>
          <p:cNvPr id="21" name="Rectangle 25"/>
          <p:cNvSpPr>
            <a:spLocks noChangeArrowheads="1"/>
          </p:cNvSpPr>
          <p:nvPr/>
        </p:nvSpPr>
        <p:spPr bwMode="auto">
          <a:xfrm>
            <a:off x="8382000" y="5105400"/>
            <a:ext cx="1447800" cy="606980"/>
          </a:xfrm>
          <a:prstGeom prst="rect">
            <a:avLst/>
          </a:prstGeom>
          <a:solidFill>
            <a:srgbClr val="D5F1CF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0" hangingPunct="0"/>
            <a:r>
              <a:rPr lang="en-US" sz="1800" dirty="0">
                <a:latin typeface="Calibri" pitchFamily="34" charset="0"/>
              </a:rPr>
              <a:t>Heap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22" name="Line 34"/>
          <p:cNvSpPr>
            <a:spLocks noChangeShapeType="1"/>
          </p:cNvSpPr>
          <p:nvPr/>
        </p:nvSpPr>
        <p:spPr bwMode="auto">
          <a:xfrm>
            <a:off x="9105900" y="1550988"/>
            <a:ext cx="218440" cy="460375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tailEnd type="triangle" w="med" len="med"/>
          </a:ln>
        </p:spPr>
        <p:txBody>
          <a:bodyPr wrap="none" lIns="45720" rIns="45720" anchor="ctr">
            <a:spAutoFit/>
          </a:bodyPr>
          <a:lstStyle/>
          <a:p>
            <a:endParaRPr lang="en-US"/>
          </a:p>
        </p:txBody>
      </p:sp>
      <p:sp>
        <p:nvSpPr>
          <p:cNvPr id="23" name="Line 35"/>
          <p:cNvSpPr>
            <a:spLocks noChangeShapeType="1"/>
          </p:cNvSpPr>
          <p:nvPr/>
        </p:nvSpPr>
        <p:spPr bwMode="auto">
          <a:xfrm flipV="1">
            <a:off x="9105900" y="4760913"/>
            <a:ext cx="218440" cy="460375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tailEnd type="triangle" w="med" len="med"/>
          </a:ln>
        </p:spPr>
        <p:txBody>
          <a:bodyPr wrap="none" lIns="45720" rIns="45720" anchor="ctr">
            <a:spAutoFit/>
          </a:bodyPr>
          <a:lstStyle/>
          <a:p>
            <a:endParaRPr lang="en-US"/>
          </a:p>
        </p:txBody>
      </p:sp>
      <p:cxnSp>
        <p:nvCxnSpPr>
          <p:cNvPr id="24" name="Straight Connector 23"/>
          <p:cNvCxnSpPr/>
          <p:nvPr/>
        </p:nvCxnSpPr>
        <p:spPr bwMode="auto">
          <a:xfrm>
            <a:off x="8382000" y="2312988"/>
            <a:ext cx="1447800" cy="1587"/>
          </a:xfrm>
          <a:prstGeom prst="line">
            <a:avLst/>
          </a:prstGeom>
          <a:noFill/>
          <a:ln w="254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5" name="Rectangle 25"/>
          <p:cNvSpPr>
            <a:spLocks noChangeArrowheads="1"/>
          </p:cNvSpPr>
          <p:nvPr/>
        </p:nvSpPr>
        <p:spPr bwMode="auto">
          <a:xfrm>
            <a:off x="8382000" y="3733800"/>
            <a:ext cx="1447800" cy="609600"/>
          </a:xfrm>
          <a:prstGeom prst="rect">
            <a:avLst/>
          </a:prstGeom>
          <a:solidFill>
            <a:srgbClr val="D5F1CF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 eaLnBrk="0" hangingPunct="0"/>
            <a:r>
              <a:rPr lang="en-US" sz="1800" dirty="0">
                <a:latin typeface="Calibri" pitchFamily="34" charset="0"/>
              </a:rPr>
              <a:t>Shared</a:t>
            </a:r>
            <a:endParaRPr lang="en-US" sz="1800" dirty="0">
              <a:latin typeface="Calibri" pitchFamily="34" charset="0"/>
            </a:endParaRPr>
          </a:p>
          <a:p>
            <a:pPr algn="ctr" eaLnBrk="0" hangingPunct="0"/>
            <a:r>
              <a:rPr lang="en-US" sz="1800" dirty="0">
                <a:latin typeface="Calibri" pitchFamily="34" charset="0"/>
              </a:rPr>
              <a:t>Libraries</a:t>
            </a:r>
            <a:endParaRPr lang="en-US" sz="1800" dirty="0">
              <a:latin typeface="Calibri" pitchFamily="34" charset="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5"/>
          <p:cNvSpPr>
            <a:spLocks noChangeArrowheads="1"/>
          </p:cNvSpPr>
          <p:nvPr/>
        </p:nvSpPr>
        <p:spPr bwMode="auto">
          <a:xfrm>
            <a:off x="4191000" y="4038600"/>
            <a:ext cx="2667000" cy="533400"/>
          </a:xfrm>
          <a:prstGeom prst="rect">
            <a:avLst/>
          </a:prstGeom>
          <a:solidFill>
            <a:srgbClr val="F6F5BD"/>
          </a:solidFill>
          <a:ln w="25400">
            <a:noFill/>
            <a:miter lim="800000"/>
          </a:ln>
        </p:spPr>
        <p:txBody>
          <a:bodyPr wrap="none" anchor="ctr"/>
          <a:lstStyle/>
          <a:p>
            <a:pPr eaLnBrk="0" hangingPunct="0"/>
            <a:endParaRPr lang="en-US" sz="1800">
              <a:latin typeface="Calibri" pitchFamily="34" charset="0"/>
            </a:endParaRPr>
          </a:p>
        </p:txBody>
      </p:sp>
      <p:sp>
        <p:nvSpPr>
          <p:cNvPr id="13315" name="Rectangle 25"/>
          <p:cNvSpPr>
            <a:spLocks noChangeArrowheads="1"/>
          </p:cNvSpPr>
          <p:nvPr/>
        </p:nvSpPr>
        <p:spPr bwMode="auto">
          <a:xfrm>
            <a:off x="4191000" y="3499005"/>
            <a:ext cx="2667000" cy="539595"/>
          </a:xfrm>
          <a:prstGeom prst="rect">
            <a:avLst/>
          </a:prstGeom>
          <a:solidFill>
            <a:srgbClr val="F1C7C7"/>
          </a:solidFill>
          <a:ln w="25400">
            <a:noFill/>
            <a:miter lim="800000"/>
          </a:ln>
        </p:spPr>
        <p:txBody>
          <a:bodyPr wrap="none" anchor="ctr"/>
          <a:lstStyle/>
          <a:p>
            <a:pPr eaLnBrk="0" hangingPunct="0"/>
            <a:endParaRPr lang="en-US" sz="1800">
              <a:latin typeface="Calibri" pitchFamily="34" charset="0"/>
            </a:endParaRPr>
          </a:p>
        </p:txBody>
      </p:sp>
      <p:sp>
        <p:nvSpPr>
          <p:cNvPr id="32" name="Rectangle 25"/>
          <p:cNvSpPr>
            <a:spLocks noChangeArrowheads="1"/>
          </p:cNvSpPr>
          <p:nvPr/>
        </p:nvSpPr>
        <p:spPr bwMode="auto">
          <a:xfrm>
            <a:off x="4191000" y="2073275"/>
            <a:ext cx="266700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noFill/>
            <a:miter lim="800000"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 sz="1800" dirty="0">
              <a:latin typeface="Calibri" pitchFamily="34" charset="0"/>
              <a:cs typeface="+mn-cs"/>
            </a:endParaRPr>
          </a:p>
        </p:txBody>
      </p:sp>
      <p:sp>
        <p:nvSpPr>
          <p:cNvPr id="13317" name="Rectangle 25"/>
          <p:cNvSpPr>
            <a:spLocks noChangeArrowheads="1"/>
          </p:cNvSpPr>
          <p:nvPr/>
        </p:nvSpPr>
        <p:spPr bwMode="auto">
          <a:xfrm>
            <a:off x="4191000" y="2438400"/>
            <a:ext cx="2667000" cy="1066800"/>
          </a:xfrm>
          <a:prstGeom prst="rect">
            <a:avLst/>
          </a:prstGeom>
          <a:solidFill>
            <a:srgbClr val="D5F1CF"/>
          </a:solidFill>
          <a:ln w="25400">
            <a:noFill/>
            <a:miter lim="800000"/>
          </a:ln>
        </p:spPr>
        <p:txBody>
          <a:bodyPr wrap="none" anchor="ctr"/>
          <a:lstStyle/>
          <a:p>
            <a:pPr eaLnBrk="0" hangingPunct="0"/>
            <a:endParaRPr lang="en-US" sz="1800">
              <a:latin typeface="Calibri" pitchFamily="34" charset="0"/>
            </a:endParaRPr>
          </a:p>
        </p:txBody>
      </p:sp>
      <p:sp>
        <p:nvSpPr>
          <p:cNvPr id="13318" name="Rectangle 2"/>
          <p:cNvSpPr>
            <a:spLocks noGrp="1" noChangeArrowheads="1"/>
          </p:cNvSpPr>
          <p:nvPr>
            <p:ph type="title"/>
          </p:nvPr>
        </p:nvSpPr>
        <p:spPr>
          <a:xfrm>
            <a:off x="1651000" y="533400"/>
            <a:ext cx="6578600" cy="573088"/>
          </a:xfrm>
        </p:spPr>
        <p:txBody>
          <a:bodyPr/>
          <a:lstStyle/>
          <a:p>
            <a:pPr eaLnBrk="1" hangingPunct="1"/>
            <a:r>
              <a:rPr lang="en-US" sz="3200" dirty="0"/>
              <a:t>x86-64 Example Addresses</a:t>
            </a:r>
            <a:endParaRPr lang="en-US" sz="3200" dirty="0"/>
          </a:p>
        </p:txBody>
      </p:sp>
      <p:sp>
        <p:nvSpPr>
          <p:cNvPr id="13319" name="Rectangle 3"/>
          <p:cNvSpPr>
            <a:spLocks noChangeArrowheads="1"/>
          </p:cNvSpPr>
          <p:nvPr/>
        </p:nvSpPr>
        <p:spPr bwMode="auto">
          <a:xfrm>
            <a:off x="1676400" y="2066925"/>
            <a:ext cx="5638800" cy="258191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2511425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local	0x00007ffe4d3be87c </a:t>
            </a:r>
            <a:endParaRPr lang="en-US" sz="1800" dirty="0">
              <a:latin typeface="Courier New" panose="02070609020205020404" pitchFamily="49" charset="0"/>
            </a:endParaRPr>
          </a:p>
          <a:p>
            <a:pPr eaLnBrk="0" hangingPunct="0">
              <a:tabLst>
                <a:tab pos="2511425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p1 	0x00007f7262a1e010 </a:t>
            </a:r>
            <a:endParaRPr lang="en-US" sz="1800" dirty="0">
              <a:latin typeface="Courier New" panose="02070609020205020404" pitchFamily="49" charset="0"/>
            </a:endParaRPr>
          </a:p>
          <a:p>
            <a:pPr eaLnBrk="0" hangingPunct="0">
              <a:tabLst>
                <a:tab pos="2511425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p3 	0x00007f7162a1d010 </a:t>
            </a:r>
            <a:endParaRPr lang="en-US" sz="1800" dirty="0">
              <a:latin typeface="Courier New" panose="02070609020205020404" pitchFamily="49" charset="0"/>
            </a:endParaRPr>
          </a:p>
          <a:p>
            <a:pPr eaLnBrk="0" hangingPunct="0">
              <a:tabLst>
                <a:tab pos="2511425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p4	0x000000008359d120 </a:t>
            </a:r>
            <a:endParaRPr lang="en-US" sz="1800" dirty="0">
              <a:latin typeface="Courier New" panose="02070609020205020404" pitchFamily="49" charset="0"/>
            </a:endParaRPr>
          </a:p>
          <a:p>
            <a:pPr eaLnBrk="0" hangingPunct="0">
              <a:tabLst>
                <a:tab pos="2511425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p2	0x000000008359d010 </a:t>
            </a:r>
            <a:endParaRPr lang="en-US" sz="1800" dirty="0">
              <a:latin typeface="Courier New" panose="02070609020205020404" pitchFamily="49" charset="0"/>
            </a:endParaRPr>
          </a:p>
          <a:p>
            <a:pPr eaLnBrk="0" hangingPunct="0">
              <a:tabLst>
                <a:tab pos="2511425" algn="l"/>
              </a:tabLst>
            </a:pPr>
            <a:r>
              <a:rPr lang="en-US" sz="1800" dirty="0" err="1">
                <a:latin typeface="Courier New" panose="02070609020205020404" pitchFamily="49" charset="0"/>
              </a:rPr>
              <a:t>big_array</a:t>
            </a:r>
            <a:r>
              <a:rPr lang="en-US" sz="1800" dirty="0">
                <a:latin typeface="Courier New" panose="02070609020205020404" pitchFamily="49" charset="0"/>
              </a:rPr>
              <a:t> 	0x0000000080601060 </a:t>
            </a:r>
            <a:endParaRPr lang="en-US" sz="1800" dirty="0">
              <a:latin typeface="Courier New" panose="02070609020205020404" pitchFamily="49" charset="0"/>
            </a:endParaRPr>
          </a:p>
          <a:p>
            <a:pPr eaLnBrk="0" hangingPunct="0">
              <a:tabLst>
                <a:tab pos="2511425" algn="l"/>
              </a:tabLst>
            </a:pPr>
            <a:r>
              <a:rPr lang="en-US" sz="1800" dirty="0" err="1">
                <a:latin typeface="Courier New" panose="02070609020205020404" pitchFamily="49" charset="0"/>
              </a:rPr>
              <a:t>huge_array</a:t>
            </a:r>
            <a:r>
              <a:rPr lang="en-US" sz="1800" dirty="0">
                <a:latin typeface="Courier New" panose="02070609020205020404" pitchFamily="49" charset="0"/>
              </a:rPr>
              <a:t> 	0x0000000000601060 </a:t>
            </a:r>
            <a:endParaRPr lang="en-US" sz="1800" dirty="0">
              <a:latin typeface="Courier New" panose="02070609020205020404" pitchFamily="49" charset="0"/>
            </a:endParaRPr>
          </a:p>
          <a:p>
            <a:pPr eaLnBrk="0" hangingPunct="0">
              <a:tabLst>
                <a:tab pos="2511425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main()	0x000000000040060c</a:t>
            </a:r>
            <a:endParaRPr lang="en-US" sz="1800" dirty="0">
              <a:latin typeface="Courier New" panose="02070609020205020404" pitchFamily="49" charset="0"/>
            </a:endParaRPr>
          </a:p>
          <a:p>
            <a:pPr eaLnBrk="0" hangingPunct="0">
              <a:tabLst>
                <a:tab pos="2511425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useless() 	0x0000000000400590</a:t>
            </a:r>
            <a:endParaRPr lang="en-US" sz="1800" dirty="0">
              <a:latin typeface="Courier New" panose="02070609020205020404" pitchFamily="49" charset="0"/>
            </a:endParaRPr>
          </a:p>
        </p:txBody>
      </p:sp>
      <p:sp>
        <p:nvSpPr>
          <p:cNvPr id="438308" name="Text Box 36"/>
          <p:cNvSpPr txBox="1">
            <a:spLocks noChangeArrowheads="1"/>
          </p:cNvSpPr>
          <p:nvPr/>
        </p:nvSpPr>
        <p:spPr bwMode="auto">
          <a:xfrm>
            <a:off x="1981200" y="1214438"/>
            <a:ext cx="2831465" cy="460375"/>
          </a:xfrm>
          <a:prstGeom prst="rect">
            <a:avLst/>
          </a:prstGeom>
          <a:noFill/>
          <a:ln w="19050">
            <a:noFill/>
            <a:miter lim="800000"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pPr eaLnBrk="0" hangingPunct="0">
              <a:defRPr/>
            </a:pP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cs typeface="+mn-cs"/>
              </a:rPr>
              <a:t>address range ~2</a:t>
            </a:r>
            <a:r>
              <a:rPr lang="en-US" i="1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cs typeface="+mn-cs"/>
              </a:rPr>
              <a:t>47</a:t>
            </a:r>
            <a:endParaRPr lang="en-US" i="1" baseline="30000" dirty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cs typeface="+mn-cs"/>
            </a:endParaRPr>
          </a:p>
        </p:txBody>
      </p:sp>
      <p:sp>
        <p:nvSpPr>
          <p:cNvPr id="13321" name="Text Box 12"/>
          <p:cNvSpPr txBox="1">
            <a:spLocks noChangeArrowheads="1"/>
          </p:cNvSpPr>
          <p:nvPr/>
        </p:nvSpPr>
        <p:spPr bwMode="auto">
          <a:xfrm>
            <a:off x="7391400" y="715963"/>
            <a:ext cx="1005840" cy="36830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>
                <a:latin typeface="Courier New" panose="02070609020205020404" pitchFamily="49" charset="0"/>
              </a:rPr>
              <a:t>00007F</a:t>
            </a:r>
            <a:endParaRPr lang="en-US" sz="1800">
              <a:latin typeface="Courier New" panose="02070609020205020404" pitchFamily="49" charset="0"/>
            </a:endParaRPr>
          </a:p>
        </p:txBody>
      </p:sp>
      <p:sp>
        <p:nvSpPr>
          <p:cNvPr id="13322" name="Text Box 19"/>
          <p:cNvSpPr txBox="1">
            <a:spLocks noChangeArrowheads="1"/>
          </p:cNvSpPr>
          <p:nvPr/>
        </p:nvSpPr>
        <p:spPr bwMode="auto">
          <a:xfrm>
            <a:off x="7391400" y="6262688"/>
            <a:ext cx="1005840" cy="36830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>
                <a:latin typeface="Courier New" panose="02070609020205020404" pitchFamily="49" charset="0"/>
              </a:rPr>
              <a:t>000000</a:t>
            </a:r>
            <a:endParaRPr lang="en-US" sz="1800">
              <a:latin typeface="Courier New" panose="02070609020205020404" pitchFamily="49" charset="0"/>
            </a:endParaRPr>
          </a:p>
        </p:txBody>
      </p:sp>
      <p:sp>
        <p:nvSpPr>
          <p:cNvPr id="19" name="Rectangle 20"/>
          <p:cNvSpPr>
            <a:spLocks noChangeArrowheads="1"/>
          </p:cNvSpPr>
          <p:nvPr/>
        </p:nvSpPr>
        <p:spPr bwMode="auto">
          <a:xfrm>
            <a:off x="8382000" y="892175"/>
            <a:ext cx="1447800" cy="5584825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 dirty="0">
              <a:latin typeface="Calibri" pitchFamily="34" charset="0"/>
              <a:cs typeface="+mn-cs"/>
            </a:endParaRPr>
          </a:p>
        </p:txBody>
      </p:sp>
      <p:sp>
        <p:nvSpPr>
          <p:cNvPr id="13325" name="Rectangle 23"/>
          <p:cNvSpPr>
            <a:spLocks noChangeArrowheads="1"/>
          </p:cNvSpPr>
          <p:nvPr/>
        </p:nvSpPr>
        <p:spPr bwMode="auto">
          <a:xfrm>
            <a:off x="8382000" y="5867400"/>
            <a:ext cx="1447800" cy="304800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0" hangingPunct="0"/>
            <a:r>
              <a:rPr lang="en-US" sz="1800">
                <a:latin typeface="Calibri" pitchFamily="34" charset="0"/>
              </a:rPr>
              <a:t>Text</a:t>
            </a:r>
            <a:endParaRPr lang="en-US" sz="1800">
              <a:latin typeface="Calibri" pitchFamily="34" charset="0"/>
            </a:endParaRPr>
          </a:p>
        </p:txBody>
      </p:sp>
      <p:sp>
        <p:nvSpPr>
          <p:cNvPr id="13326" name="Rectangle 24"/>
          <p:cNvSpPr>
            <a:spLocks noChangeArrowheads="1"/>
          </p:cNvSpPr>
          <p:nvPr/>
        </p:nvSpPr>
        <p:spPr bwMode="auto">
          <a:xfrm>
            <a:off x="8382000" y="5562600"/>
            <a:ext cx="1447800" cy="304800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0" hangingPunct="0"/>
            <a:r>
              <a:rPr lang="en-US" sz="1800">
                <a:latin typeface="Calibri" pitchFamily="34" charset="0"/>
              </a:rPr>
              <a:t>Data</a:t>
            </a:r>
            <a:endParaRPr lang="en-US" sz="1800">
              <a:latin typeface="Calibri" pitchFamily="34" charset="0"/>
            </a:endParaRPr>
          </a:p>
        </p:txBody>
      </p:sp>
      <p:sp>
        <p:nvSpPr>
          <p:cNvPr id="13327" name="Rectangle 25"/>
          <p:cNvSpPr>
            <a:spLocks noChangeArrowheads="1"/>
          </p:cNvSpPr>
          <p:nvPr/>
        </p:nvSpPr>
        <p:spPr bwMode="auto">
          <a:xfrm>
            <a:off x="8382000" y="4267200"/>
            <a:ext cx="1447800" cy="1295400"/>
          </a:xfrm>
          <a:prstGeom prst="rect">
            <a:avLst/>
          </a:prstGeom>
          <a:solidFill>
            <a:srgbClr val="D5F1CF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0" hangingPunct="0"/>
            <a:r>
              <a:rPr lang="en-US" sz="1800" dirty="0">
                <a:latin typeface="Calibri" pitchFamily="34" charset="0"/>
              </a:rPr>
              <a:t>Heap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13328" name="Line 34"/>
          <p:cNvSpPr>
            <a:spLocks noChangeShapeType="1"/>
          </p:cNvSpPr>
          <p:nvPr/>
        </p:nvSpPr>
        <p:spPr bwMode="auto">
          <a:xfrm>
            <a:off x="9105900" y="1036638"/>
            <a:ext cx="218440" cy="460375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tailEnd type="triangle" w="med" len="med"/>
          </a:ln>
        </p:spPr>
        <p:txBody>
          <a:bodyPr wrap="none" lIns="45720" rIns="45720" anchor="ctr">
            <a:spAutoFit/>
          </a:bodyPr>
          <a:lstStyle/>
          <a:p>
            <a:endParaRPr lang="en-US"/>
          </a:p>
        </p:txBody>
      </p:sp>
      <p:sp>
        <p:nvSpPr>
          <p:cNvPr id="13329" name="Line 35"/>
          <p:cNvSpPr>
            <a:spLocks noChangeShapeType="1"/>
          </p:cNvSpPr>
          <p:nvPr/>
        </p:nvSpPr>
        <p:spPr bwMode="auto">
          <a:xfrm flipV="1">
            <a:off x="9105900" y="3922713"/>
            <a:ext cx="218440" cy="460375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tailEnd type="triangle" w="med" len="med"/>
          </a:ln>
        </p:spPr>
        <p:txBody>
          <a:bodyPr wrap="none" lIns="45720" rIns="45720" anchor="ctr">
            <a:spAutoFit/>
          </a:bodyPr>
          <a:lstStyle/>
          <a:p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8294688" y="304800"/>
            <a:ext cx="220599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cs typeface="+mn-cs"/>
              </a:rPr>
              <a:t>not drawn to scale</a:t>
            </a:r>
            <a:endParaRPr lang="en-US" sz="1800" i="1" dirty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cs typeface="+mn-cs"/>
            </a:endParaRPr>
          </a:p>
        </p:txBody>
      </p:sp>
      <p:sp>
        <p:nvSpPr>
          <p:cNvPr id="21" name="Rectangle 25"/>
          <p:cNvSpPr>
            <a:spLocks noChangeArrowheads="1"/>
          </p:cNvSpPr>
          <p:nvPr/>
        </p:nvSpPr>
        <p:spPr bwMode="auto">
          <a:xfrm>
            <a:off x="8382000" y="1600200"/>
            <a:ext cx="1447800" cy="609600"/>
          </a:xfrm>
          <a:prstGeom prst="rect">
            <a:avLst/>
          </a:prstGeom>
          <a:solidFill>
            <a:srgbClr val="D5F1CF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0" hangingPunct="0"/>
            <a:r>
              <a:rPr lang="en-US" sz="1800" dirty="0">
                <a:latin typeface="Calibri" pitchFamily="34" charset="0"/>
              </a:rPr>
              <a:t>Heap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22" name="Line 35"/>
          <p:cNvSpPr>
            <a:spLocks noChangeShapeType="1"/>
          </p:cNvSpPr>
          <p:nvPr/>
        </p:nvSpPr>
        <p:spPr bwMode="auto">
          <a:xfrm>
            <a:off x="9105900" y="2093913"/>
            <a:ext cx="218440" cy="460375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tailEnd type="triangle" w="med" len="med"/>
          </a:ln>
        </p:spPr>
        <p:txBody>
          <a:bodyPr wrap="none" lIns="45720" rIns="45720" anchor="ctr">
            <a:spAutoFit/>
          </a:bodyPr>
          <a:lstStyle/>
          <a:p>
            <a:endParaRPr lang="en-US"/>
          </a:p>
        </p:txBody>
      </p:sp>
      <p:sp>
        <p:nvSpPr>
          <p:cNvPr id="20" name="Rectangle 21"/>
          <p:cNvSpPr>
            <a:spLocks noChangeArrowheads="1"/>
          </p:cNvSpPr>
          <p:nvPr/>
        </p:nvSpPr>
        <p:spPr bwMode="auto">
          <a:xfrm>
            <a:off x="8382000" y="885825"/>
            <a:ext cx="1447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r>
              <a:rPr lang="en-US" sz="1800" dirty="0">
                <a:latin typeface="Calibri" pitchFamily="34" charset="0"/>
                <a:cs typeface="+mn-cs"/>
              </a:rPr>
              <a:t>Stack</a:t>
            </a:r>
            <a:endParaRPr lang="en-US" sz="1800" dirty="0">
              <a:latin typeface="Calibri" pitchFamily="34" charset="0"/>
              <a:cs typeface="+mn-cs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6858000" y="1752600"/>
            <a:ext cx="1544638" cy="3303759"/>
            <a:chOff x="4841481" y="1752600"/>
            <a:chExt cx="2037157" cy="3303759"/>
          </a:xfrm>
        </p:grpSpPr>
        <p:cxnSp>
          <p:nvCxnSpPr>
            <p:cNvPr id="3" name="Straight Arrow Connector 2"/>
            <p:cNvCxnSpPr/>
            <p:nvPr/>
          </p:nvCxnSpPr>
          <p:spPr bwMode="auto">
            <a:xfrm flipV="1">
              <a:off x="4876800" y="1752600"/>
              <a:ext cx="2001838" cy="762000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5" name="Straight Arrow Connector 24"/>
            <p:cNvCxnSpPr/>
            <p:nvPr/>
          </p:nvCxnSpPr>
          <p:spPr bwMode="auto">
            <a:xfrm flipV="1">
              <a:off x="4876800" y="2073275"/>
              <a:ext cx="2001838" cy="746125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6" name="Straight Arrow Connector 25"/>
            <p:cNvCxnSpPr/>
            <p:nvPr/>
          </p:nvCxnSpPr>
          <p:spPr bwMode="auto">
            <a:xfrm>
              <a:off x="4870380" y="3066106"/>
              <a:ext cx="2008258" cy="1658294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9" name="Straight Arrow Connector 28"/>
            <p:cNvCxnSpPr/>
            <p:nvPr/>
          </p:nvCxnSpPr>
          <p:spPr bwMode="auto">
            <a:xfrm>
              <a:off x="4841481" y="3398065"/>
              <a:ext cx="2008258" cy="1658294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2" name="TextBox 1"/>
          <p:cNvSpPr txBox="1"/>
          <p:nvPr/>
        </p:nvSpPr>
        <p:spPr>
          <a:xfrm>
            <a:off x="1768199" y="5257800"/>
            <a:ext cx="3124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 err="1">
                <a:solidFill>
                  <a:srgbClr val="00B050"/>
                </a:solidFill>
                <a:latin typeface="Calibri" pitchFamily="34" charset="0"/>
              </a:rPr>
              <a:t>ulimit</a:t>
            </a:r>
            <a:r>
              <a:rPr lang="en-US" altLang="zh-CN" sz="1800" dirty="0">
                <a:solidFill>
                  <a:srgbClr val="00B050"/>
                </a:solidFill>
                <a:latin typeface="Calibri" pitchFamily="34" charset="0"/>
              </a:rPr>
              <a:t> -a</a:t>
            </a:r>
            <a:endParaRPr lang="zh-CN" altLang="en-US" sz="1800" dirty="0">
              <a:solidFill>
                <a:srgbClr val="00B050"/>
              </a:solidFill>
              <a:latin typeface="Calibri" pitchFamily="34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动态内存分配</a:t>
            </a:r>
            <a:r>
              <a:rPr lang="en-GB" dirty="0"/>
              <a:t>	</a:t>
            </a:r>
            <a:endParaRPr lang="en-GB" dirty="0"/>
          </a:p>
        </p:txBody>
      </p:sp>
      <p:sp>
        <p:nvSpPr>
          <p:cNvPr id="28" name="Content Placeholder 27"/>
          <p:cNvSpPr>
            <a:spLocks noGrp="1"/>
          </p:cNvSpPr>
          <p:nvPr>
            <p:ph idx="1"/>
          </p:nvPr>
        </p:nvSpPr>
        <p:spPr>
          <a:xfrm>
            <a:off x="476250" y="2940685"/>
            <a:ext cx="5422265" cy="3815715"/>
          </a:xfrm>
        </p:spPr>
        <p:txBody>
          <a:bodyPr/>
          <a:lstStyle/>
          <a:p>
            <a:r>
              <a:rPr lang="zh-CN" altLang="en-US" dirty="0" smtClean="0"/>
              <a:t>程序员使用</a:t>
            </a:r>
            <a:r>
              <a:rPr lang="zh-CN" altLang="en-US" i="1" dirty="0" smtClean="0">
                <a:solidFill>
                  <a:srgbClr val="990000"/>
                </a:solidFill>
              </a:rPr>
              <a:t>动态内存分配器</a:t>
            </a:r>
            <a:r>
              <a:rPr lang="en-US" i="1" dirty="0" smtClean="0">
                <a:solidFill>
                  <a:srgbClr val="990000"/>
                </a:solidFill>
              </a:rPr>
              <a:t> </a:t>
            </a:r>
            <a:r>
              <a:rPr lang="en-US" dirty="0" smtClean="0"/>
              <a:t>(</a:t>
            </a:r>
            <a:r>
              <a:rPr lang="zh-CN" altLang="en-US" dirty="0" smtClean="0"/>
              <a:t>（例如</a:t>
            </a:r>
            <a:r>
              <a:rPr lang="en-US" altLang="zh-CN" dirty="0" err="1" smtClean="0"/>
              <a:t>malloc</a:t>
            </a:r>
            <a:r>
              <a:rPr lang="zh-CN" altLang="en-US" dirty="0" smtClean="0"/>
              <a:t>）获取运行时虚拟内存（</a:t>
            </a:r>
            <a:r>
              <a:rPr lang="en-US" altLang="zh-CN" dirty="0" smtClean="0"/>
              <a:t>VM</a:t>
            </a:r>
            <a:r>
              <a:rPr lang="zh-CN" altLang="en-US" dirty="0" smtClean="0"/>
              <a:t>）</a:t>
            </a:r>
            <a:endParaRPr lang="en-US" dirty="0"/>
          </a:p>
          <a:p>
            <a:pPr lvl="1"/>
            <a:r>
              <a:rPr lang="zh-CN" altLang="en-US" dirty="0" smtClean="0"/>
              <a:t>对仅在运行时才知道其大小的数据结构</a:t>
            </a:r>
            <a:endParaRPr lang="en-US" dirty="0"/>
          </a:p>
          <a:p>
            <a:r>
              <a:rPr lang="zh-CN" altLang="en-US" dirty="0" smtClean="0"/>
              <a:t>动态内存分配器</a:t>
            </a:r>
            <a:r>
              <a:rPr lang="zh-CN" altLang="en-US" dirty="0"/>
              <a:t>管理被称为</a:t>
            </a:r>
            <a:r>
              <a:rPr lang="zh-CN" altLang="en-US" i="1" dirty="0" smtClean="0">
                <a:solidFill>
                  <a:srgbClr val="990000"/>
                </a:solidFill>
              </a:rPr>
              <a:t>堆 </a:t>
            </a:r>
            <a:r>
              <a:rPr lang="zh-CN" altLang="en-US" dirty="0" smtClean="0"/>
              <a:t>的进程</a:t>
            </a:r>
            <a:r>
              <a:rPr lang="en-US" altLang="zh-CN" dirty="0" smtClean="0"/>
              <a:t>VM</a:t>
            </a:r>
            <a:r>
              <a:rPr lang="zh-CN" altLang="en-US" dirty="0" smtClean="0"/>
              <a:t>区域</a:t>
            </a:r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2225418" y="1362074"/>
            <a:ext cx="3505200" cy="1371600"/>
            <a:chOff x="4189412" y="1362075"/>
            <a:chExt cx="3505200" cy="1371600"/>
          </a:xfrm>
        </p:grpSpPr>
        <p:sp>
          <p:nvSpPr>
            <p:cNvPr id="29" name="Rectangle 4"/>
            <p:cNvSpPr>
              <a:spLocks noChangeArrowheads="1"/>
            </p:cNvSpPr>
            <p:nvPr/>
          </p:nvSpPr>
          <p:spPr bwMode="auto">
            <a:xfrm>
              <a:off x="4189412" y="1362075"/>
              <a:ext cx="3505200" cy="4572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2000" dirty="0">
                  <a:latin typeface="+mn-lt"/>
                </a:rPr>
                <a:t>应用</a:t>
              </a:r>
              <a:endParaRPr lang="en-US" sz="2000" dirty="0">
                <a:latin typeface="+mn-lt"/>
              </a:endParaRPr>
            </a:p>
          </p:txBody>
        </p:sp>
        <p:sp>
          <p:nvSpPr>
            <p:cNvPr id="30" name="Rectangle 5"/>
            <p:cNvSpPr>
              <a:spLocks noChangeArrowheads="1"/>
            </p:cNvSpPr>
            <p:nvPr/>
          </p:nvSpPr>
          <p:spPr bwMode="auto">
            <a:xfrm>
              <a:off x="4189412" y="1819275"/>
              <a:ext cx="3505200" cy="457200"/>
            </a:xfrm>
            <a:prstGeom prst="rect">
              <a:avLst/>
            </a:prstGeom>
            <a:solidFill>
              <a:srgbClr val="F6F5BD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2000" dirty="0">
                  <a:latin typeface="+mn-lt"/>
                </a:rPr>
                <a:t>动态内存分配器</a:t>
              </a:r>
              <a:endParaRPr lang="en-US" sz="2000" dirty="0">
                <a:latin typeface="+mn-lt"/>
              </a:endParaRPr>
            </a:p>
          </p:txBody>
        </p:sp>
        <p:sp>
          <p:nvSpPr>
            <p:cNvPr id="31" name="Rectangle 6"/>
            <p:cNvSpPr>
              <a:spLocks noChangeArrowheads="1"/>
            </p:cNvSpPr>
            <p:nvPr/>
          </p:nvSpPr>
          <p:spPr bwMode="auto">
            <a:xfrm>
              <a:off x="4189412" y="2276475"/>
              <a:ext cx="3505200" cy="4572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2000" dirty="0">
                  <a:latin typeface="+mn-lt"/>
                </a:rPr>
                <a:t>堆</a:t>
              </a:r>
              <a:endParaRPr lang="en-US" sz="2000" dirty="0">
                <a:latin typeface="+mn-lt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5867400" y="914400"/>
            <a:ext cx="5882282" cy="5648109"/>
            <a:chOff x="3985528" y="1286091"/>
            <a:chExt cx="5882282" cy="5648109"/>
          </a:xfrm>
        </p:grpSpPr>
        <p:sp>
          <p:nvSpPr>
            <p:cNvPr id="48" name="Rectangle 14"/>
            <p:cNvSpPr>
              <a:spLocks noChangeArrowheads="1"/>
            </p:cNvSpPr>
            <p:nvPr/>
          </p:nvSpPr>
          <p:spPr bwMode="auto">
            <a:xfrm>
              <a:off x="4998661" y="1328954"/>
              <a:ext cx="2789237" cy="487362"/>
            </a:xfrm>
            <a:prstGeom prst="rect">
              <a:avLst/>
            </a:prstGeom>
            <a:solidFill>
              <a:srgbClr val="F1C7C7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sz="1600" dirty="0" smtClean="0">
                  <a:latin typeface="+mn-ea"/>
                  <a:cs typeface="msgothic" charset="0"/>
                </a:rPr>
                <a:t>核心虚拟内存</a:t>
              </a:r>
              <a:endParaRPr lang="en-GB" sz="1600" dirty="0">
                <a:latin typeface="+mn-ea"/>
                <a:cs typeface="msgothic" charset="0"/>
              </a:endParaRPr>
            </a:p>
          </p:txBody>
        </p:sp>
        <p:sp>
          <p:nvSpPr>
            <p:cNvPr id="49" name="Rectangle 15"/>
            <p:cNvSpPr>
              <a:spLocks noChangeArrowheads="1"/>
            </p:cNvSpPr>
            <p:nvPr/>
          </p:nvSpPr>
          <p:spPr bwMode="auto">
            <a:xfrm>
              <a:off x="4998661" y="3030754"/>
              <a:ext cx="2789237" cy="669925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sz="1600" dirty="0" smtClean="0">
                  <a:latin typeface="+mn-ea"/>
                  <a:cs typeface="msgothic" charset="0"/>
                </a:rPr>
                <a:t>共享库的内存映射区域</a:t>
              </a:r>
              <a:endParaRPr lang="en-GB" sz="1600" dirty="0">
                <a:latin typeface="+mn-ea"/>
                <a:cs typeface="msgothic" charset="0"/>
              </a:endParaRPr>
            </a:p>
          </p:txBody>
        </p:sp>
        <p:sp>
          <p:nvSpPr>
            <p:cNvPr id="50" name="Rectangle 16"/>
            <p:cNvSpPr>
              <a:spLocks noChangeArrowheads="1"/>
            </p:cNvSpPr>
            <p:nvPr/>
          </p:nvSpPr>
          <p:spPr bwMode="auto">
            <a:xfrm>
              <a:off x="4998661" y="3695916"/>
              <a:ext cx="2789237" cy="7239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>
                <a:latin typeface="+mn-ea"/>
              </a:endParaRPr>
            </a:p>
          </p:txBody>
        </p:sp>
        <p:sp>
          <p:nvSpPr>
            <p:cNvPr id="52" name="Rectangle 18"/>
            <p:cNvSpPr>
              <a:spLocks noChangeArrowheads="1"/>
            </p:cNvSpPr>
            <p:nvPr/>
          </p:nvSpPr>
          <p:spPr bwMode="auto">
            <a:xfrm>
              <a:off x="4998661" y="2121116"/>
              <a:ext cx="2789237" cy="90646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>
                <a:latin typeface="+mn-ea"/>
              </a:endParaRPr>
            </a:p>
          </p:txBody>
        </p:sp>
        <p:sp>
          <p:nvSpPr>
            <p:cNvPr id="53" name="Line 19"/>
            <p:cNvSpPr>
              <a:spLocks noChangeShapeType="1"/>
            </p:cNvSpPr>
            <p:nvPr/>
          </p:nvSpPr>
          <p:spPr bwMode="auto">
            <a:xfrm flipV="1">
              <a:off x="6388782" y="4024529"/>
              <a:ext cx="1588" cy="384175"/>
            </a:xfrm>
            <a:prstGeom prst="line">
              <a:avLst/>
            </a:prstGeom>
            <a:noFill/>
            <a:ln w="3240">
              <a:solidFill>
                <a:schemeClr val="tx1"/>
              </a:solidFill>
              <a:miter lim="800000"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+mn-ea"/>
              </a:endParaRPr>
            </a:p>
          </p:txBody>
        </p:sp>
        <p:sp>
          <p:nvSpPr>
            <p:cNvPr id="54" name="Rectangle 20"/>
            <p:cNvSpPr>
              <a:spLocks noChangeArrowheads="1"/>
            </p:cNvSpPr>
            <p:nvPr/>
          </p:nvSpPr>
          <p:spPr bwMode="auto">
            <a:xfrm>
              <a:off x="4998661" y="1786154"/>
              <a:ext cx="2789237" cy="563562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sz="1600" dirty="0" smtClean="0">
                  <a:latin typeface="+mn-ea"/>
                  <a:cs typeface="msgothic" charset="0"/>
                </a:rPr>
                <a:t>用户栈</a:t>
              </a:r>
              <a:endParaRPr lang="en-US" altLang="zh-CN" sz="1600" dirty="0" smtClean="0">
                <a:latin typeface="+mn-ea"/>
                <a:cs typeface="msgothic" charset="0"/>
              </a:endParaRPr>
            </a:p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sz="1600" dirty="0" smtClean="0">
                  <a:latin typeface="+mn-ea"/>
                  <a:cs typeface="msgothic" charset="0"/>
                </a:rPr>
                <a:t>（运行时创建）</a:t>
              </a:r>
              <a:endParaRPr lang="en-GB" sz="1600" dirty="0">
                <a:latin typeface="+mn-ea"/>
                <a:cs typeface="msgothic" charset="0"/>
              </a:endParaRPr>
            </a:p>
          </p:txBody>
        </p:sp>
        <p:sp>
          <p:nvSpPr>
            <p:cNvPr id="55" name="Line 21"/>
            <p:cNvSpPr>
              <a:spLocks noChangeShapeType="1"/>
            </p:cNvSpPr>
            <p:nvPr/>
          </p:nvSpPr>
          <p:spPr bwMode="auto">
            <a:xfrm flipV="1">
              <a:off x="6388782" y="2805329"/>
              <a:ext cx="1588" cy="231775"/>
            </a:xfrm>
            <a:prstGeom prst="line">
              <a:avLst/>
            </a:prstGeom>
            <a:noFill/>
            <a:ln w="3240">
              <a:solidFill>
                <a:schemeClr val="tx1"/>
              </a:solidFill>
              <a:miter lim="800000"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+mn-ea"/>
              </a:endParaRPr>
            </a:p>
          </p:txBody>
        </p:sp>
        <p:sp>
          <p:nvSpPr>
            <p:cNvPr id="56" name="Line 22"/>
            <p:cNvSpPr>
              <a:spLocks noChangeShapeType="1"/>
            </p:cNvSpPr>
            <p:nvPr/>
          </p:nvSpPr>
          <p:spPr bwMode="auto">
            <a:xfrm>
              <a:off x="6388782" y="2349716"/>
              <a:ext cx="1588" cy="228600"/>
            </a:xfrm>
            <a:prstGeom prst="line">
              <a:avLst/>
            </a:prstGeom>
            <a:noFill/>
            <a:ln w="3240">
              <a:solidFill>
                <a:schemeClr val="tx1"/>
              </a:solidFill>
              <a:miter lim="800000"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+mn-ea"/>
              </a:endParaRPr>
            </a:p>
          </p:txBody>
        </p:sp>
        <p:sp>
          <p:nvSpPr>
            <p:cNvPr id="57" name="Rectangle 23"/>
            <p:cNvSpPr>
              <a:spLocks noChangeArrowheads="1"/>
            </p:cNvSpPr>
            <p:nvPr/>
          </p:nvSpPr>
          <p:spPr bwMode="auto">
            <a:xfrm>
              <a:off x="4998661" y="6379849"/>
              <a:ext cx="2789238" cy="39687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sz="1600" dirty="0" smtClean="0">
                  <a:latin typeface="+mn-ea"/>
                  <a:cs typeface="msgothic" charset="0"/>
                </a:rPr>
                <a:t>未使用</a:t>
              </a:r>
              <a:endParaRPr lang="en-GB" sz="1600" dirty="0">
                <a:latin typeface="+mn-ea"/>
                <a:cs typeface="msgothic" charset="0"/>
              </a:endParaRPr>
            </a:p>
          </p:txBody>
        </p:sp>
        <p:sp>
          <p:nvSpPr>
            <p:cNvPr id="58" name="Text Box 24"/>
            <p:cNvSpPr txBox="1">
              <a:spLocks noChangeArrowheads="1"/>
            </p:cNvSpPr>
            <p:nvPr/>
          </p:nvSpPr>
          <p:spPr bwMode="auto">
            <a:xfrm>
              <a:off x="4733026" y="6598401"/>
              <a:ext cx="285954" cy="335799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+mn-ea"/>
                  <a:cs typeface="msgothic" charset="0"/>
                </a:rPr>
                <a:t>0</a:t>
              </a:r>
              <a:endParaRPr lang="en-GB" sz="1600" dirty="0">
                <a:latin typeface="+mn-ea"/>
                <a:cs typeface="msgothic" charset="0"/>
              </a:endParaRPr>
            </a:p>
          </p:txBody>
        </p:sp>
        <p:sp>
          <p:nvSpPr>
            <p:cNvPr id="59" name="Text Box 25"/>
            <p:cNvSpPr txBox="1">
              <a:spLocks noChangeArrowheads="1"/>
            </p:cNvSpPr>
            <p:nvPr/>
          </p:nvSpPr>
          <p:spPr bwMode="auto">
            <a:xfrm>
              <a:off x="8146053" y="2175091"/>
              <a:ext cx="1632476" cy="325988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+mn-ea"/>
                  <a:cs typeface="msgothic" charset="0"/>
                </a:rPr>
                <a:t>%</a:t>
              </a:r>
              <a:r>
                <a:rPr lang="en-GB" sz="1600" dirty="0" err="1" smtClean="0">
                  <a:latin typeface="+mn-ea"/>
                  <a:cs typeface="msgothic" charset="0"/>
                </a:rPr>
                <a:t>rsp</a:t>
              </a:r>
              <a:r>
                <a:rPr lang="zh-CN" altLang="en-US" sz="1600" dirty="0" smtClean="0">
                  <a:latin typeface="+mn-ea"/>
                  <a:cs typeface="msgothic" charset="0"/>
                </a:rPr>
                <a:t>（栈指针）</a:t>
              </a:r>
              <a:endParaRPr lang="en-GB" sz="1600" dirty="0">
                <a:latin typeface="+mn-ea"/>
                <a:cs typeface="msgothic" charset="0"/>
              </a:endParaRPr>
            </a:p>
          </p:txBody>
        </p:sp>
        <p:sp>
          <p:nvSpPr>
            <p:cNvPr id="60" name="Line 26"/>
            <p:cNvSpPr>
              <a:spLocks noChangeShapeType="1"/>
            </p:cNvSpPr>
            <p:nvPr/>
          </p:nvSpPr>
          <p:spPr bwMode="auto">
            <a:xfrm flipH="1">
              <a:off x="7839666" y="2346541"/>
              <a:ext cx="384175" cy="1588"/>
            </a:xfrm>
            <a:prstGeom prst="line">
              <a:avLst/>
            </a:prstGeom>
            <a:noFill/>
            <a:ln w="3240">
              <a:solidFill>
                <a:srgbClr val="000066"/>
              </a:solidFill>
              <a:miter lim="800000"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+mn-ea"/>
              </a:endParaRPr>
            </a:p>
          </p:txBody>
        </p:sp>
        <p:sp>
          <p:nvSpPr>
            <p:cNvPr id="61" name="Text Box 27"/>
            <p:cNvSpPr txBox="1">
              <a:spLocks noChangeArrowheads="1"/>
            </p:cNvSpPr>
            <p:nvPr/>
          </p:nvSpPr>
          <p:spPr bwMode="auto">
            <a:xfrm>
              <a:off x="8008032" y="1286091"/>
              <a:ext cx="1215695" cy="577082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sz="1600" dirty="0" smtClean="0">
                  <a:latin typeface="+mn-ea"/>
                  <a:cs typeface="msgothic" charset="0"/>
                </a:rPr>
                <a:t>用户代码</a:t>
              </a:r>
              <a:endParaRPr lang="en-US" altLang="zh-CN" sz="1600" dirty="0" smtClean="0">
                <a:latin typeface="+mn-ea"/>
                <a:cs typeface="msgothic" charset="0"/>
              </a:endParaRP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sz="1600" dirty="0" smtClean="0">
                  <a:latin typeface="+mn-ea"/>
                  <a:cs typeface="msgothic" charset="0"/>
                </a:rPr>
                <a:t>可见的内存</a:t>
              </a:r>
              <a:endParaRPr lang="en-GB" sz="1600" dirty="0">
                <a:latin typeface="+mn-ea"/>
                <a:cs typeface="msgothic" charset="0"/>
              </a:endParaRPr>
            </a:p>
          </p:txBody>
        </p:sp>
        <p:sp>
          <p:nvSpPr>
            <p:cNvPr id="62" name="Line 28"/>
            <p:cNvSpPr>
              <a:spLocks noChangeShapeType="1"/>
            </p:cNvSpPr>
            <p:nvPr/>
          </p:nvSpPr>
          <p:spPr bwMode="auto">
            <a:xfrm flipV="1">
              <a:off x="7855632" y="1324459"/>
              <a:ext cx="1588" cy="460375"/>
            </a:xfrm>
            <a:prstGeom prst="line">
              <a:avLst/>
            </a:prstGeom>
            <a:noFill/>
            <a:ln w="3240">
              <a:solidFill>
                <a:schemeClr val="tx1"/>
              </a:solidFill>
              <a:miter lim="800000"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+mn-ea"/>
              </a:endParaRPr>
            </a:p>
          </p:txBody>
        </p:sp>
        <p:sp>
          <p:nvSpPr>
            <p:cNvPr id="63" name="Text Box 29"/>
            <p:cNvSpPr txBox="1">
              <a:spLocks noChangeArrowheads="1"/>
            </p:cNvSpPr>
            <p:nvPr/>
          </p:nvSpPr>
          <p:spPr bwMode="auto">
            <a:xfrm>
              <a:off x="8022275" y="4242017"/>
              <a:ext cx="899903" cy="297005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 smtClean="0">
                  <a:latin typeface="+mn-ea"/>
                  <a:cs typeface="Calibri" pitchFamily="34" charset="0"/>
                </a:rPr>
                <a:t>“</a:t>
              </a:r>
              <a:r>
                <a:rPr lang="zh-CN" altLang="en-US" sz="1400" dirty="0" smtClean="0">
                  <a:latin typeface="+mn-ea"/>
                  <a:cs typeface="Calibri" pitchFamily="34" charset="0"/>
                </a:rPr>
                <a:t>断点</a:t>
              </a:r>
              <a:r>
                <a:rPr lang="en-GB" sz="1400" dirty="0" smtClean="0">
                  <a:latin typeface="+mn-ea"/>
                  <a:cs typeface="Calibri" pitchFamily="34" charset="0"/>
                </a:rPr>
                <a:t>”</a:t>
              </a:r>
              <a:endParaRPr lang="en-GB" sz="1400" dirty="0">
                <a:latin typeface="+mn-ea"/>
                <a:cs typeface="Calibri" pitchFamily="34" charset="0"/>
              </a:endParaRPr>
            </a:p>
          </p:txBody>
        </p:sp>
        <p:sp>
          <p:nvSpPr>
            <p:cNvPr id="64" name="Line 30"/>
            <p:cNvSpPr>
              <a:spLocks noChangeShapeType="1"/>
            </p:cNvSpPr>
            <p:nvPr/>
          </p:nvSpPr>
          <p:spPr bwMode="auto">
            <a:xfrm flipH="1">
              <a:off x="7815944" y="4407116"/>
              <a:ext cx="259605" cy="1588"/>
            </a:xfrm>
            <a:prstGeom prst="line">
              <a:avLst/>
            </a:prstGeom>
            <a:noFill/>
            <a:ln w="3240">
              <a:solidFill>
                <a:srgbClr val="000066"/>
              </a:solidFill>
              <a:miter lim="800000"/>
              <a:tailEnd type="triangle" w="med" len="med"/>
            </a:ln>
            <a:effectLst/>
          </p:spPr>
          <p:txBody>
            <a:bodyPr/>
            <a:lstStyle/>
            <a:p>
              <a:endParaRPr lang="en-US" dirty="0">
                <a:latin typeface="+mn-ea"/>
              </a:endParaRPr>
            </a:p>
          </p:txBody>
        </p:sp>
        <p:sp>
          <p:nvSpPr>
            <p:cNvPr id="65" name="Text Box 32"/>
            <p:cNvSpPr txBox="1">
              <a:spLocks noChangeArrowheads="1"/>
            </p:cNvSpPr>
            <p:nvPr/>
          </p:nvSpPr>
          <p:spPr bwMode="auto">
            <a:xfrm>
              <a:off x="3985528" y="6256343"/>
              <a:ext cx="899903" cy="297005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+mn-ea"/>
                  <a:cs typeface="msgothic" charset="0"/>
                </a:rPr>
                <a:t>0x400000</a:t>
              </a:r>
              <a:endParaRPr lang="en-GB" sz="1400" dirty="0">
                <a:latin typeface="+mn-ea"/>
                <a:cs typeface="msgothic" charset="0"/>
              </a:endParaRPr>
            </a:p>
          </p:txBody>
        </p:sp>
        <p:sp>
          <p:nvSpPr>
            <p:cNvPr id="66" name="Rectangle 34"/>
            <p:cNvSpPr>
              <a:spLocks noChangeArrowheads="1"/>
            </p:cNvSpPr>
            <p:nvPr/>
          </p:nvSpPr>
          <p:spPr bwMode="auto">
            <a:xfrm>
              <a:off x="4998661" y="5084449"/>
              <a:ext cx="2789238" cy="66992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sz="1600" dirty="0" smtClean="0">
                  <a:latin typeface="+mn-ea"/>
                  <a:cs typeface="msgothic" charset="0"/>
                </a:rPr>
                <a:t>读</a:t>
              </a:r>
              <a:r>
                <a:rPr lang="en-US" altLang="zh-CN" sz="1600" dirty="0" smtClean="0">
                  <a:latin typeface="+mn-ea"/>
                  <a:cs typeface="msgothic" charset="0"/>
                </a:rPr>
                <a:t>/</a:t>
              </a:r>
              <a:r>
                <a:rPr lang="zh-CN" altLang="en-US" sz="1600" dirty="0" smtClean="0">
                  <a:latin typeface="+mn-ea"/>
                  <a:cs typeface="msgothic" charset="0"/>
                </a:rPr>
                <a:t>写段</a:t>
              </a:r>
              <a:endParaRPr lang="en-US" altLang="zh-CN" sz="1600" dirty="0" smtClean="0">
                <a:latin typeface="+mn-ea"/>
                <a:cs typeface="msgothic" charset="0"/>
              </a:endParaRPr>
            </a:p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sz="1600" dirty="0" smtClean="0">
                  <a:latin typeface="+mn-ea"/>
                  <a:cs typeface="msgothic" charset="0"/>
                </a:rPr>
                <a:t>（</a:t>
              </a:r>
              <a:r>
                <a:rPr lang="en-GB" altLang="zh-CN" sz="1600" dirty="0">
                  <a:latin typeface="+mn-ea"/>
                  <a:cs typeface="msgothic" charset="0"/>
                </a:rPr>
                <a:t>.data</a:t>
              </a:r>
              <a:r>
                <a:rPr lang="zh-CN" altLang="en-US" sz="1600" dirty="0">
                  <a:latin typeface="+mn-ea"/>
                  <a:cs typeface="msgothic" charset="0"/>
                </a:rPr>
                <a:t>，</a:t>
              </a:r>
              <a:r>
                <a:rPr lang="en-GB" altLang="zh-CN" sz="1600" dirty="0">
                  <a:latin typeface="+mn-ea"/>
                  <a:cs typeface="msgothic" charset="0"/>
                </a:rPr>
                <a:t> .</a:t>
              </a:r>
              <a:r>
                <a:rPr lang="en-GB" altLang="zh-CN" sz="1600" dirty="0" err="1" smtClean="0">
                  <a:latin typeface="+mn-ea"/>
                  <a:cs typeface="msgothic" charset="0"/>
                </a:rPr>
                <a:t>bss</a:t>
              </a:r>
              <a:r>
                <a:rPr lang="zh-CN" altLang="en-US" sz="1600" dirty="0" smtClean="0">
                  <a:latin typeface="+mn-ea"/>
                  <a:cs typeface="msgothic" charset="0"/>
                </a:rPr>
                <a:t>）</a:t>
              </a:r>
              <a:endParaRPr lang="en-GB" sz="1600" dirty="0">
                <a:latin typeface="+mn-ea"/>
                <a:cs typeface="msgothic" charset="0"/>
              </a:endParaRPr>
            </a:p>
          </p:txBody>
        </p:sp>
        <p:sp>
          <p:nvSpPr>
            <p:cNvPr id="67" name="Rectangle 35"/>
            <p:cNvSpPr>
              <a:spLocks noChangeArrowheads="1"/>
            </p:cNvSpPr>
            <p:nvPr/>
          </p:nvSpPr>
          <p:spPr bwMode="auto">
            <a:xfrm>
              <a:off x="4998661" y="5709924"/>
              <a:ext cx="2789238" cy="669925"/>
            </a:xfrm>
            <a:prstGeom prst="rect">
              <a:avLst/>
            </a:prstGeom>
            <a:solidFill>
              <a:srgbClr val="F6F5BD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sz="1600" dirty="0" smtClean="0">
                  <a:latin typeface="+mn-ea"/>
                  <a:cs typeface="msgothic" charset="0"/>
                </a:rPr>
                <a:t>只读段</a:t>
              </a:r>
              <a:endParaRPr lang="en-US" altLang="zh-CN" sz="1600" dirty="0" smtClean="0">
                <a:latin typeface="+mn-ea"/>
                <a:cs typeface="msgothic" charset="0"/>
              </a:endParaRPr>
            </a:p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sz="1600" dirty="0" smtClean="0">
                  <a:latin typeface="+mn-ea"/>
                  <a:cs typeface="msgothic" charset="0"/>
                </a:rPr>
                <a:t>（</a:t>
              </a:r>
              <a:r>
                <a:rPr lang="en-GB" sz="1600" dirty="0" smtClean="0">
                  <a:latin typeface="+mn-ea"/>
                  <a:cs typeface="msgothic" charset="0"/>
                </a:rPr>
                <a:t>.</a:t>
              </a:r>
              <a:r>
                <a:rPr lang="en-GB" sz="1600" dirty="0" err="1" smtClean="0">
                  <a:latin typeface="+mn-ea"/>
                  <a:cs typeface="msgothic" charset="0"/>
                </a:rPr>
                <a:t>init</a:t>
              </a:r>
              <a:r>
                <a:rPr lang="zh-CN" altLang="en-US" sz="1600" dirty="0" smtClean="0">
                  <a:latin typeface="+mn-ea"/>
                  <a:cs typeface="msgothic" charset="0"/>
                </a:rPr>
                <a:t>，</a:t>
              </a:r>
              <a:r>
                <a:rPr lang="en-GB" sz="1600" dirty="0" smtClean="0">
                  <a:latin typeface="+mn-ea"/>
                  <a:cs typeface="msgothic" charset="0"/>
                </a:rPr>
                <a:t>.text</a:t>
              </a:r>
              <a:r>
                <a:rPr lang="zh-CN" altLang="en-US" sz="1600" dirty="0" smtClean="0">
                  <a:latin typeface="+mn-ea"/>
                  <a:cs typeface="msgothic" charset="0"/>
                </a:rPr>
                <a:t>，</a:t>
              </a:r>
              <a:r>
                <a:rPr lang="en-GB" sz="1600" dirty="0" smtClean="0">
                  <a:latin typeface="+mn-ea"/>
                  <a:cs typeface="msgothic" charset="0"/>
                </a:rPr>
                <a:t>.</a:t>
              </a:r>
              <a:r>
                <a:rPr lang="en-GB" sz="1600" dirty="0" err="1" smtClean="0">
                  <a:latin typeface="+mn-ea"/>
                  <a:cs typeface="msgothic" charset="0"/>
                </a:rPr>
                <a:t>rodata</a:t>
              </a:r>
              <a:r>
                <a:rPr lang="zh-CN" altLang="en-US" sz="1600" dirty="0" smtClean="0">
                  <a:latin typeface="+mn-ea"/>
                  <a:cs typeface="msgothic" charset="0"/>
                </a:rPr>
                <a:t>）</a:t>
              </a:r>
              <a:endParaRPr lang="en-GB" sz="1600" dirty="0">
                <a:latin typeface="+mn-ea"/>
                <a:cs typeface="msgothic" charset="0"/>
              </a:endParaRPr>
            </a:p>
          </p:txBody>
        </p:sp>
        <p:sp>
          <p:nvSpPr>
            <p:cNvPr id="68" name="AutoShape 36"/>
            <p:cNvSpPr/>
            <p:nvPr/>
          </p:nvSpPr>
          <p:spPr bwMode="auto">
            <a:xfrm>
              <a:off x="7836582" y="5092916"/>
              <a:ext cx="76200" cy="1295400"/>
            </a:xfrm>
            <a:prstGeom prst="rightBrace">
              <a:avLst>
                <a:gd name="adj1" fmla="val 141667"/>
                <a:gd name="adj2" fmla="val 50000"/>
              </a:avLst>
            </a:prstGeom>
            <a:noFill/>
            <a:ln w="1260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>
                <a:latin typeface="+mn-ea"/>
              </a:endParaRPr>
            </a:p>
          </p:txBody>
        </p:sp>
        <p:sp>
          <p:nvSpPr>
            <p:cNvPr id="69" name="Text Box 37"/>
            <p:cNvSpPr txBox="1">
              <a:spLocks noChangeArrowheads="1"/>
            </p:cNvSpPr>
            <p:nvPr/>
          </p:nvSpPr>
          <p:spPr bwMode="auto">
            <a:xfrm>
              <a:off x="8031753" y="5542024"/>
              <a:ext cx="1836057" cy="335799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sz="1600" dirty="0" smtClean="0">
                  <a:latin typeface="+mn-ea"/>
                  <a:cs typeface="msgothic" charset="0"/>
                </a:rPr>
                <a:t>从可执行文件加载</a:t>
              </a:r>
              <a:endParaRPr lang="en-GB" sz="1600" dirty="0">
                <a:latin typeface="+mn-ea"/>
                <a:cs typeface="msgothic" charset="0"/>
              </a:endParaRPr>
            </a:p>
          </p:txBody>
        </p:sp>
        <p:sp>
          <p:nvSpPr>
            <p:cNvPr id="51" name="Rectangle 17"/>
            <p:cNvSpPr>
              <a:spLocks noChangeArrowheads="1"/>
            </p:cNvSpPr>
            <p:nvPr/>
          </p:nvSpPr>
          <p:spPr bwMode="auto">
            <a:xfrm>
              <a:off x="4998662" y="4417699"/>
              <a:ext cx="2789237" cy="669925"/>
            </a:xfrm>
            <a:prstGeom prst="rect">
              <a:avLst/>
            </a:prstGeom>
            <a:solidFill>
              <a:srgbClr val="D5F1CF"/>
            </a:solidFill>
            <a:ln w="38100">
              <a:solidFill>
                <a:srgbClr val="FF0000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sz="1600" dirty="0" smtClean="0">
                  <a:latin typeface="+mn-ea"/>
                  <a:cs typeface="msgothic" charset="0"/>
                </a:rPr>
                <a:t>运行时堆</a:t>
              </a:r>
              <a:endParaRPr lang="en-US" altLang="zh-CN" sz="1600" dirty="0" smtClean="0">
                <a:latin typeface="+mn-ea"/>
                <a:cs typeface="msgothic" charset="0"/>
              </a:endParaRPr>
            </a:p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sz="1600" dirty="0" smtClean="0">
                  <a:latin typeface="+mn-ea"/>
                  <a:cs typeface="msgothic" charset="0"/>
                </a:rPr>
                <a:t>（由</a:t>
              </a:r>
              <a:r>
                <a:rPr lang="en-US" altLang="zh-CN" sz="1600" dirty="0" err="1" smtClean="0">
                  <a:latin typeface="+mn-ea"/>
                  <a:cs typeface="msgothic" charset="0"/>
                </a:rPr>
                <a:t>malloc</a:t>
              </a:r>
              <a:r>
                <a:rPr lang="zh-CN" altLang="en-US" sz="1600" dirty="0" smtClean="0">
                  <a:latin typeface="+mn-ea"/>
                  <a:cs typeface="msgothic" charset="0"/>
                </a:rPr>
                <a:t>创建）</a:t>
              </a:r>
              <a:endParaRPr lang="en-GB" sz="1600" dirty="0">
                <a:latin typeface="+mn-ea"/>
                <a:cs typeface="msgothic" charset="0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动态内存分配</a:t>
            </a:r>
            <a:endParaRPr lang="zh-CN" alt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分配器维护堆，堆是大小可变块 的集合，这些块要么是</a:t>
            </a:r>
            <a:r>
              <a:rPr lang="zh-CN" altLang="en-US">
                <a:solidFill>
                  <a:srgbClr val="00B050"/>
                </a:solidFill>
              </a:rPr>
              <a:t>已分配</a:t>
            </a:r>
            <a:r>
              <a:rPr lang="zh-CN" altLang="en-US"/>
              <a:t> 的，要么是</a:t>
            </a:r>
            <a:r>
              <a:rPr lang="zh-CN" altLang="en-US">
                <a:solidFill>
                  <a:srgbClr val="00B050"/>
                </a:solidFill>
              </a:rPr>
              <a:t>空闲</a:t>
            </a:r>
            <a:r>
              <a:rPr lang="zh-CN" altLang="en-US"/>
              <a:t> 的</a:t>
            </a:r>
            <a:endParaRPr lang="en-US"/>
          </a:p>
          <a:p>
            <a:r>
              <a:rPr lang="zh-CN" altLang="en-US"/>
              <a:t>分配器的类型</a:t>
            </a:r>
            <a:endParaRPr lang="en-US"/>
          </a:p>
          <a:p>
            <a:pPr lvl="1"/>
            <a:r>
              <a:rPr lang="zh-CN" altLang="en-US">
                <a:solidFill>
                  <a:srgbClr val="00B050"/>
                </a:solidFill>
                <a:latin typeface="Arial Bold" panose="020B0704020202020204" charset="0"/>
              </a:rPr>
              <a:t>显式分配器</a:t>
            </a:r>
            <a:r>
              <a:rPr lang="zh-CN" altLang="en-US"/>
              <a:t>：应用程序分配和释放空间</a:t>
            </a:r>
            <a:r>
              <a:rPr lang="en-US"/>
              <a:t> </a:t>
            </a:r>
            <a:endParaRPr lang="en-US"/>
          </a:p>
          <a:p>
            <a:pPr lvl="2"/>
            <a:r>
              <a:rPr lang="zh-CN" altLang="en-US"/>
              <a:t>如：</a:t>
            </a:r>
            <a:r>
              <a:rPr lang="en-US" altLang="zh-CN"/>
              <a:t>C</a:t>
            </a:r>
            <a:r>
              <a:rPr lang="zh-CN" altLang="en-US"/>
              <a:t>语言中的 </a:t>
            </a:r>
            <a:r>
              <a:rPr lang="en-US" altLang="zh-CN"/>
              <a:t>malloc </a:t>
            </a:r>
            <a:r>
              <a:rPr lang="zh-CN" altLang="en-US"/>
              <a:t>和 </a:t>
            </a:r>
            <a:r>
              <a:rPr lang="en-US" altLang="zh-CN"/>
              <a:t>free</a:t>
            </a:r>
            <a:endParaRPr lang="en-US"/>
          </a:p>
          <a:p>
            <a:pPr lvl="1"/>
            <a:r>
              <a:rPr lang="zh-CN" altLang="en-US">
                <a:solidFill>
                  <a:srgbClr val="00B050"/>
                </a:solidFill>
              </a:rPr>
              <a:t>隐式分配器</a:t>
            </a:r>
            <a:r>
              <a:rPr lang="zh-CN" altLang="en-US"/>
              <a:t>：应用程序分配但不释放空间</a:t>
            </a:r>
            <a:endParaRPr lang="en-US"/>
          </a:p>
          <a:p>
            <a:pPr lvl="2"/>
            <a:r>
              <a:rPr lang="zh-CN" altLang="en-US"/>
              <a:t>如：</a:t>
            </a:r>
            <a:r>
              <a:rPr lang="en-US" altLang="zh-CN"/>
              <a:t>Java</a:t>
            </a:r>
            <a:r>
              <a:rPr lang="zh-CN" altLang="en-US"/>
              <a:t>中的 </a:t>
            </a:r>
            <a:r>
              <a:rPr lang="en-US" altLang="zh-CN"/>
              <a:t>new </a:t>
            </a:r>
            <a:r>
              <a:rPr lang="zh-CN" altLang="en-US"/>
              <a:t>和垃圾回收</a:t>
            </a:r>
            <a:endParaRPr lang="en-US"/>
          </a:p>
          <a:p>
            <a:endParaRPr lang="en-US"/>
          </a:p>
          <a:p>
            <a:r>
              <a:rPr lang="zh-CN" altLang="en-US"/>
              <a:t>现</a:t>
            </a:r>
            <a:r>
              <a:rPr lang="zh-CN" altLang="en-US"/>
              <a:t>在讨论简单的显式内存分配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 malloc </a:t>
            </a:r>
            <a:r>
              <a:rPr lang="zh-CN" altLang="en-US"/>
              <a:t>程序包</a:t>
            </a:r>
            <a:endParaRPr lang="zh-CN" altLang="en-US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#include &lt;stdlib.h&gt;</a:t>
            </a:r>
            <a:endParaRPr lang="en-GB"/>
          </a:p>
          <a:p>
            <a:r>
              <a:rPr lang="en-GB"/>
              <a:t>void *malloc(size_t size)</a:t>
            </a:r>
            <a:endParaRPr lang="en-GB"/>
          </a:p>
          <a:p>
            <a:pPr lvl="1"/>
            <a:r>
              <a:rPr lang="zh-CN" altLang="en-US"/>
              <a:t>成功：</a:t>
            </a:r>
            <a:endParaRPr lang="en-GB"/>
          </a:p>
          <a:p>
            <a:pPr lvl="2"/>
            <a:r>
              <a:rPr lang="zh-CN" altLang="en-US"/>
              <a:t>返回一个指向内存块的指针，这个内存块的大小至少有</a:t>
            </a:r>
            <a:r>
              <a:rPr lang="en-GB"/>
              <a:t>size </a:t>
            </a:r>
            <a:r>
              <a:rPr lang="zh-CN" altLang="en-US"/>
              <a:t>个字节</a:t>
            </a:r>
            <a:br>
              <a:rPr lang="en-GB"/>
            </a:br>
            <a:r>
              <a:rPr lang="zh-CN" altLang="en-US"/>
              <a:t>边界对齐 </a:t>
            </a:r>
            <a:r>
              <a:rPr lang="en-GB"/>
              <a:t>16 </a:t>
            </a:r>
            <a:r>
              <a:rPr lang="zh-CN" altLang="en-US"/>
              <a:t>个字节（在</a:t>
            </a:r>
            <a:r>
              <a:rPr lang="en-GB" altLang="zh-CN"/>
              <a:t>x86-64</a:t>
            </a:r>
            <a:r>
              <a:rPr lang="zh-CN" altLang="en-US"/>
              <a:t>上）</a:t>
            </a:r>
            <a:endParaRPr lang="en-GB"/>
          </a:p>
          <a:p>
            <a:pPr lvl="2"/>
            <a:r>
              <a:rPr lang="zh-CN" altLang="en-US"/>
              <a:t>如果</a:t>
            </a:r>
            <a:r>
              <a:rPr lang="en-GB"/>
              <a:t> size == 0</a:t>
            </a:r>
            <a:r>
              <a:rPr lang="zh-CN" altLang="en-US"/>
              <a:t>，返回</a:t>
            </a:r>
            <a:r>
              <a:rPr lang="en-GB"/>
              <a:t> NULL</a:t>
            </a:r>
            <a:endParaRPr lang="en-GB"/>
          </a:p>
          <a:p>
            <a:pPr lvl="1"/>
            <a:r>
              <a:rPr lang="zh-CN" altLang="en-US"/>
              <a:t>不成功：返回</a:t>
            </a:r>
            <a:r>
              <a:rPr lang="en-GB"/>
              <a:t> NULL (0) </a:t>
            </a:r>
            <a:r>
              <a:rPr lang="zh-CN" altLang="en-US"/>
              <a:t>并设置</a:t>
            </a:r>
            <a:r>
              <a:rPr lang="en-GB"/>
              <a:t> errno</a:t>
            </a:r>
            <a:endParaRPr lang="en-GB"/>
          </a:p>
          <a:p>
            <a:r>
              <a:rPr lang="en-GB"/>
              <a:t>void free(void *p)</a:t>
            </a:r>
            <a:endParaRPr lang="en-GB"/>
          </a:p>
          <a:p>
            <a:pPr lvl="1"/>
            <a:r>
              <a:rPr lang="zh-CN" altLang="en-US"/>
              <a:t>把 </a:t>
            </a:r>
            <a:r>
              <a:rPr lang="en-GB" altLang="zh-CN"/>
              <a:t>p </a:t>
            </a:r>
            <a:r>
              <a:rPr lang="zh-CN" altLang="en-US"/>
              <a:t>指向的块返回到可用内存池</a:t>
            </a:r>
            <a:endParaRPr lang="en-GB"/>
          </a:p>
          <a:p>
            <a:pPr lvl="1"/>
            <a:r>
              <a:rPr lang="en-GB"/>
              <a:t>p </a:t>
            </a:r>
            <a:r>
              <a:rPr lang="zh-CN" altLang="en-US"/>
              <a:t>必须来自之前调用的</a:t>
            </a:r>
            <a:r>
              <a:rPr lang="en-GB"/>
              <a:t> malloc, calloc, </a:t>
            </a:r>
            <a:r>
              <a:rPr lang="zh-CN" altLang="en-US"/>
              <a:t>或</a:t>
            </a:r>
            <a:r>
              <a:rPr lang="en-GB"/>
              <a:t> realloc</a:t>
            </a:r>
            <a:endParaRPr lang="en-GB"/>
          </a:p>
          <a:p>
            <a:r>
              <a:rPr lang="zh-CN" altLang="en-US"/>
              <a:t>其他函数</a:t>
            </a:r>
            <a:endParaRPr lang="en-GB"/>
          </a:p>
          <a:p>
            <a:pPr lvl="1"/>
            <a:r>
              <a:rPr lang="en-GB"/>
              <a:t>Calloc</a:t>
            </a:r>
            <a:r>
              <a:rPr lang="zh-CN" altLang="en-US"/>
              <a:t>：把已分配块初始化为零的 </a:t>
            </a:r>
            <a:r>
              <a:rPr lang="en-GB"/>
              <a:t>malloc </a:t>
            </a:r>
            <a:endParaRPr lang="en-GB"/>
          </a:p>
          <a:p>
            <a:pPr lvl="1"/>
            <a:r>
              <a:rPr lang="en-GB"/>
              <a:t>Realloc</a:t>
            </a:r>
            <a:r>
              <a:rPr lang="zh-CN" altLang="en-US"/>
              <a:t>：修改之前已分配块的大小</a:t>
            </a:r>
            <a:endParaRPr lang="en-GB"/>
          </a:p>
          <a:p>
            <a:pPr lvl="1"/>
            <a:r>
              <a:rPr lang="en-GB"/>
              <a:t>Sbrk</a:t>
            </a:r>
            <a:r>
              <a:rPr lang="zh-CN" altLang="en-US"/>
              <a:t>：分配器内部用于扩展或收缩堆</a:t>
            </a:r>
            <a:endParaRPr lang="en-GB"/>
          </a:p>
          <a:p>
            <a:pPr lvl="1"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endParaRPr lang="en-GB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1"/>
          <p:cNvSpPr>
            <a:spLocks noGrp="1" noChangeArrowheads="1"/>
          </p:cNvSpPr>
          <p:nvPr>
            <p:ph type="title"/>
          </p:nvPr>
        </p:nvSpPr>
        <p:spPr>
          <a:xfrm>
            <a:off x="1931772" y="398978"/>
            <a:ext cx="5943600" cy="573088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err="1">
                <a:latin typeface="Courier New" panose="02070609020205020404"/>
                <a:cs typeface="Courier New" panose="02070609020205020404"/>
              </a:rPr>
              <a:t>malloc</a:t>
            </a:r>
            <a:r>
              <a:rPr lang="en-GB" dirty="0"/>
              <a:t> </a:t>
            </a:r>
            <a:r>
              <a:rPr lang="zh-CN" altLang="en-US" dirty="0" smtClean="0"/>
              <a:t>示例</a:t>
            </a:r>
            <a:endParaRPr lang="en-GB" dirty="0"/>
          </a:p>
        </p:txBody>
      </p:sp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2057400" y="1143001"/>
            <a:ext cx="8077200" cy="5265161"/>
          </a:xfrm>
          <a:prstGeom prst="rect">
            <a:avLst/>
          </a:prstGeom>
          <a:solidFill>
            <a:srgbClr val="F6F5BD"/>
          </a:solidFill>
          <a:ln w="12600">
            <a:solidFill>
              <a:srgbClr val="000066"/>
            </a:solidFill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r>
              <a:rPr lang="en-US" sz="1600" dirty="0">
                <a:solidFill>
                  <a:srgbClr val="926492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#include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sz="1600" dirty="0">
                <a:solidFill>
                  <a:srgbClr val="9D206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&lt;</a:t>
            </a:r>
            <a:r>
              <a:rPr lang="en-US" sz="1600" dirty="0" err="1">
                <a:solidFill>
                  <a:srgbClr val="9D206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stdio.h</a:t>
            </a:r>
            <a:r>
              <a:rPr lang="en-US" sz="1600" dirty="0">
                <a:solidFill>
                  <a:srgbClr val="9D206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926492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#include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sz="1600" dirty="0">
                <a:solidFill>
                  <a:srgbClr val="9D206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&lt;</a:t>
            </a:r>
            <a:r>
              <a:rPr lang="en-US" sz="1600" dirty="0" err="1">
                <a:solidFill>
                  <a:srgbClr val="9D206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stdlib.h</a:t>
            </a:r>
            <a:r>
              <a:rPr lang="en-US" sz="1600" dirty="0">
                <a:solidFill>
                  <a:srgbClr val="9D206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2D961E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sz="1600" dirty="0">
                <a:solidFill>
                  <a:srgbClr val="4A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foo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(</a:t>
            </a:r>
            <a:r>
              <a:rPr lang="en-US" sz="1600" dirty="0">
                <a:solidFill>
                  <a:srgbClr val="2D961E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long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sz="1600" dirty="0">
                <a:solidFill>
                  <a:srgbClr val="C1651C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n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) {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   </a:t>
            </a:r>
            <a:r>
              <a:rPr lang="fr-FR" sz="1600" dirty="0">
                <a:solidFill>
                  <a:srgbClr val="2D961E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long</a:t>
            </a:r>
            <a:r>
              <a:rPr lang="fr-FR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fr-FR" sz="1600" dirty="0">
                <a:solidFill>
                  <a:srgbClr val="C1651C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i</a:t>
            </a:r>
            <a:r>
              <a:rPr lang="fr-FR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, *</a:t>
            </a:r>
            <a:r>
              <a:rPr lang="fr-FR" sz="1600" dirty="0">
                <a:solidFill>
                  <a:srgbClr val="C1651C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p</a:t>
            </a:r>
            <a:r>
              <a:rPr lang="fr-FR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;</a:t>
            </a:r>
            <a:endParaRPr lang="fr-FR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fr-FR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   </a:t>
            </a:r>
            <a:r>
              <a:rPr lang="fr-FR" sz="1600" dirty="0">
                <a:solidFill>
                  <a:srgbClr val="CB2418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/* </a:t>
            </a:r>
            <a:r>
              <a:rPr lang="fr-FR" sz="1600" dirty="0" err="1">
                <a:solidFill>
                  <a:srgbClr val="CB2418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Allocate</a:t>
            </a:r>
            <a:r>
              <a:rPr lang="fr-FR" sz="1600" dirty="0">
                <a:solidFill>
                  <a:srgbClr val="CB2418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a block of n longs */</a:t>
            </a:r>
            <a:endParaRPr lang="fr-FR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   p = (</a:t>
            </a:r>
            <a:r>
              <a:rPr lang="en-US" sz="1600" dirty="0">
                <a:solidFill>
                  <a:srgbClr val="2D961E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long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*) malloc(n * </a:t>
            </a:r>
            <a:r>
              <a:rPr lang="en-US" sz="1600" dirty="0" err="1">
                <a:solidFill>
                  <a:srgbClr val="C2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(</a:t>
            </a:r>
            <a:r>
              <a:rPr lang="en-US" sz="1600" dirty="0">
                <a:solidFill>
                  <a:srgbClr val="2D961E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long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));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(p == </a:t>
            </a:r>
            <a:r>
              <a:rPr lang="en-US" sz="1600" dirty="0">
                <a:solidFill>
                  <a:srgbClr val="2C929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) {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fi-FI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       </a:t>
            </a:r>
            <a:r>
              <a:rPr lang="fi-FI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perror(</a:t>
            </a:r>
            <a:r>
              <a:rPr lang="fi-FI" sz="1600" dirty="0" err="1">
                <a:solidFill>
                  <a:srgbClr val="9D206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"malloc</a:t>
            </a:r>
            <a:r>
              <a:rPr lang="fi-FI" sz="1600" dirty="0">
                <a:solidFill>
                  <a:srgbClr val="9D206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"</a:t>
            </a:r>
            <a:r>
              <a:rPr lang="fi-FI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);</a:t>
            </a:r>
            <a:endParaRPr lang="fi-FI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fi-FI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       exit(0);</a:t>
            </a:r>
            <a:endParaRPr lang="fi-FI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fi-FI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   }</a:t>
            </a:r>
            <a:endParaRPr lang="fi-FI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fi-FI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fi-FI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   </a:t>
            </a:r>
            <a:r>
              <a:rPr lang="fi-FI" sz="1600" dirty="0">
                <a:solidFill>
                  <a:srgbClr val="CB2418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/* </a:t>
            </a:r>
            <a:r>
              <a:rPr lang="fi-FI" sz="1600" dirty="0" err="1">
                <a:solidFill>
                  <a:srgbClr val="CB2418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Initialize</a:t>
            </a:r>
            <a:r>
              <a:rPr lang="fi-FI" sz="1600" dirty="0">
                <a:solidFill>
                  <a:srgbClr val="CB2418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fi-FI" sz="1600" dirty="0" err="1">
                <a:solidFill>
                  <a:srgbClr val="CB2418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allocated</a:t>
            </a:r>
            <a:r>
              <a:rPr lang="fi-FI" sz="1600" dirty="0">
                <a:solidFill>
                  <a:srgbClr val="CB2418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fi-FI" sz="1600" dirty="0" err="1">
                <a:solidFill>
                  <a:srgbClr val="CB2418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block</a:t>
            </a:r>
            <a:r>
              <a:rPr lang="fi-FI" sz="1600" dirty="0">
                <a:solidFill>
                  <a:srgbClr val="CB2418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*/</a:t>
            </a:r>
            <a:endParaRPr lang="fi-FI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da-DK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   </a:t>
            </a:r>
            <a:r>
              <a:rPr lang="da-DK" sz="1600" dirty="0">
                <a:solidFill>
                  <a:srgbClr val="C2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for</a:t>
            </a:r>
            <a:r>
              <a:rPr lang="da-DK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(i=0; i&lt;n; i++)</a:t>
            </a:r>
            <a:endParaRPr lang="da-DK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da-DK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	p[i] = i;</a:t>
            </a:r>
            <a:endParaRPr lang="da-DK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da-DK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   </a:t>
            </a:r>
            <a:r>
              <a:rPr lang="da-DK" sz="1600" dirty="0">
                <a:solidFill>
                  <a:srgbClr val="99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/* Do </a:t>
            </a:r>
            <a:r>
              <a:rPr lang="da-DK" sz="1600" dirty="0" err="1">
                <a:solidFill>
                  <a:srgbClr val="99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something</a:t>
            </a:r>
            <a:r>
              <a:rPr lang="da-DK" sz="1600" dirty="0">
                <a:solidFill>
                  <a:srgbClr val="99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with p */</a:t>
            </a:r>
            <a:endParaRPr lang="da-DK" sz="1600" dirty="0">
              <a:solidFill>
                <a:srgbClr val="99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da-DK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   . . .</a:t>
            </a:r>
            <a:endParaRPr lang="da-DK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da-DK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   </a:t>
            </a:r>
            <a:r>
              <a:rPr lang="da-DK" sz="1600" dirty="0">
                <a:solidFill>
                  <a:srgbClr val="CB2418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/* Return </a:t>
            </a:r>
            <a:r>
              <a:rPr lang="da-DK" sz="1600" dirty="0" err="1">
                <a:solidFill>
                  <a:srgbClr val="CB2418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allocated</a:t>
            </a:r>
            <a:r>
              <a:rPr lang="da-DK" sz="1600" dirty="0">
                <a:solidFill>
                  <a:srgbClr val="CB2418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da-DK" sz="1600" dirty="0" err="1">
                <a:solidFill>
                  <a:srgbClr val="CB2418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block</a:t>
            </a:r>
            <a:r>
              <a:rPr lang="da-DK" sz="1600" dirty="0">
                <a:solidFill>
                  <a:srgbClr val="CB2418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to the </a:t>
            </a:r>
            <a:r>
              <a:rPr lang="da-DK" sz="1600" dirty="0" err="1">
                <a:solidFill>
                  <a:srgbClr val="CB2418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heap</a:t>
            </a:r>
            <a:r>
              <a:rPr lang="da-DK" sz="1600" dirty="0">
                <a:solidFill>
                  <a:srgbClr val="CB2418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*/</a:t>
            </a:r>
            <a:endParaRPr lang="da-DK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   free(p);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}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1"/>
          <p:cNvSpPr>
            <a:spLocks noGrp="1" noChangeArrowheads="1"/>
          </p:cNvSpPr>
          <p:nvPr>
            <p:ph type="title"/>
          </p:nvPr>
        </p:nvSpPr>
        <p:spPr>
          <a:xfrm>
            <a:off x="1676400" y="435678"/>
            <a:ext cx="8991600" cy="762000"/>
          </a:xfrm>
        </p:spPr>
        <p:txBody>
          <a:bodyPr/>
          <a:lstStyle/>
          <a:p>
            <a:r>
              <a:rPr lang="zh-CN" altLang="en-US" dirty="0" smtClean="0"/>
              <a:t>堆可视化的约束条件</a:t>
            </a:r>
            <a:endParaRPr lang="en-GB" dirty="0"/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 </a:t>
            </a:r>
            <a:r>
              <a:rPr lang="zh-CN" altLang="en-US" dirty="0" smtClean="0"/>
              <a:t>块</a:t>
            </a:r>
            <a:r>
              <a:rPr lang="en-GB" dirty="0" smtClean="0"/>
              <a:t> </a:t>
            </a:r>
            <a:r>
              <a:rPr lang="en-GB" dirty="0"/>
              <a:t>= 1 </a:t>
            </a:r>
            <a:r>
              <a:rPr lang="en-GB" dirty="0" smtClean="0"/>
              <a:t>“</a:t>
            </a:r>
            <a:r>
              <a:rPr lang="zh-CN" altLang="en-US" dirty="0" smtClean="0"/>
              <a:t>字</a:t>
            </a:r>
            <a:r>
              <a:rPr lang="en-GB" dirty="0" smtClean="0"/>
              <a:t>” </a:t>
            </a:r>
            <a:r>
              <a:rPr lang="en-GB" dirty="0"/>
              <a:t>= 8 </a:t>
            </a:r>
            <a:r>
              <a:rPr lang="zh-CN" altLang="en-US" dirty="0" smtClean="0"/>
              <a:t>字节</a:t>
            </a:r>
            <a:endParaRPr lang="en-GB" dirty="0"/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2824162" y="3918718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3128962" y="3918718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3433762" y="3918718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46" name="Rectangle 6"/>
          <p:cNvSpPr>
            <a:spLocks noChangeArrowheads="1"/>
          </p:cNvSpPr>
          <p:nvPr/>
        </p:nvSpPr>
        <p:spPr bwMode="auto">
          <a:xfrm>
            <a:off x="3738562" y="3918718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47" name="Rectangle 7"/>
          <p:cNvSpPr>
            <a:spLocks noChangeArrowheads="1"/>
          </p:cNvSpPr>
          <p:nvPr/>
        </p:nvSpPr>
        <p:spPr bwMode="auto">
          <a:xfrm>
            <a:off x="4043362" y="3918718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48" name="Rectangle 8"/>
          <p:cNvSpPr>
            <a:spLocks noChangeArrowheads="1"/>
          </p:cNvSpPr>
          <p:nvPr/>
        </p:nvSpPr>
        <p:spPr bwMode="auto">
          <a:xfrm>
            <a:off x="4348162" y="3918718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4652962" y="3918718"/>
            <a:ext cx="304800" cy="304800"/>
          </a:xfrm>
          <a:prstGeom prst="rect">
            <a:avLst/>
          </a:prstGeom>
          <a:noFill/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50" name="Rectangle 10"/>
          <p:cNvSpPr>
            <a:spLocks noChangeArrowheads="1"/>
          </p:cNvSpPr>
          <p:nvPr/>
        </p:nvSpPr>
        <p:spPr bwMode="auto">
          <a:xfrm>
            <a:off x="4957762" y="3918718"/>
            <a:ext cx="304800" cy="304800"/>
          </a:xfrm>
          <a:prstGeom prst="rect">
            <a:avLst/>
          </a:prstGeom>
          <a:noFill/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51" name="Rectangle 11"/>
          <p:cNvSpPr>
            <a:spLocks noChangeArrowheads="1"/>
          </p:cNvSpPr>
          <p:nvPr/>
        </p:nvSpPr>
        <p:spPr bwMode="auto">
          <a:xfrm>
            <a:off x="5262562" y="3918718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52" name="Rectangle 12"/>
          <p:cNvSpPr>
            <a:spLocks noChangeArrowheads="1"/>
          </p:cNvSpPr>
          <p:nvPr/>
        </p:nvSpPr>
        <p:spPr bwMode="auto">
          <a:xfrm>
            <a:off x="5567362" y="3918718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53" name="Rectangle 13"/>
          <p:cNvSpPr>
            <a:spLocks noChangeArrowheads="1"/>
          </p:cNvSpPr>
          <p:nvPr/>
        </p:nvSpPr>
        <p:spPr bwMode="auto">
          <a:xfrm>
            <a:off x="5872162" y="3918718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54" name="Rectangle 14"/>
          <p:cNvSpPr>
            <a:spLocks noChangeArrowheads="1"/>
          </p:cNvSpPr>
          <p:nvPr/>
        </p:nvSpPr>
        <p:spPr bwMode="auto">
          <a:xfrm>
            <a:off x="6176962" y="3918718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55" name="Rectangle 15"/>
          <p:cNvSpPr>
            <a:spLocks noChangeArrowheads="1"/>
          </p:cNvSpPr>
          <p:nvPr/>
        </p:nvSpPr>
        <p:spPr bwMode="auto">
          <a:xfrm>
            <a:off x="6481762" y="3918718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56" name="Rectangle 16"/>
          <p:cNvSpPr>
            <a:spLocks noChangeArrowheads="1"/>
          </p:cNvSpPr>
          <p:nvPr/>
        </p:nvSpPr>
        <p:spPr bwMode="auto">
          <a:xfrm>
            <a:off x="6786562" y="3918718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57" name="Rectangle 17"/>
          <p:cNvSpPr>
            <a:spLocks noChangeArrowheads="1"/>
          </p:cNvSpPr>
          <p:nvPr/>
        </p:nvSpPr>
        <p:spPr bwMode="auto">
          <a:xfrm>
            <a:off x="7091362" y="3918718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58" name="Rectangle 18"/>
          <p:cNvSpPr>
            <a:spLocks noChangeArrowheads="1"/>
          </p:cNvSpPr>
          <p:nvPr/>
        </p:nvSpPr>
        <p:spPr bwMode="auto">
          <a:xfrm>
            <a:off x="7396162" y="3918718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59" name="Rectangle 19"/>
          <p:cNvSpPr>
            <a:spLocks noChangeArrowheads="1"/>
          </p:cNvSpPr>
          <p:nvPr/>
        </p:nvSpPr>
        <p:spPr bwMode="auto">
          <a:xfrm>
            <a:off x="7700962" y="3918718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60" name="Rectangle 20"/>
          <p:cNvSpPr>
            <a:spLocks noChangeArrowheads="1"/>
          </p:cNvSpPr>
          <p:nvPr/>
        </p:nvSpPr>
        <p:spPr bwMode="auto">
          <a:xfrm>
            <a:off x="8005762" y="3918718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61" name="Rectangle 21"/>
          <p:cNvSpPr>
            <a:spLocks noChangeArrowheads="1"/>
          </p:cNvSpPr>
          <p:nvPr/>
        </p:nvSpPr>
        <p:spPr bwMode="auto">
          <a:xfrm>
            <a:off x="8310562" y="3918718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62" name="Rectangle 22"/>
          <p:cNvSpPr>
            <a:spLocks noChangeArrowheads="1"/>
          </p:cNvSpPr>
          <p:nvPr/>
        </p:nvSpPr>
        <p:spPr bwMode="auto">
          <a:xfrm>
            <a:off x="8615362" y="3918718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64" name="Text Box 24"/>
          <p:cNvSpPr txBox="1">
            <a:spLocks noChangeArrowheads="1"/>
          </p:cNvSpPr>
          <p:nvPr/>
        </p:nvSpPr>
        <p:spPr bwMode="auto">
          <a:xfrm>
            <a:off x="2637700" y="4572000"/>
            <a:ext cx="1629270" cy="577082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 smtClean="0">
                <a:latin typeface="Calibri" pitchFamily="34" charset="0"/>
              </a:rPr>
              <a:t>已分配的内存块</a:t>
            </a:r>
            <a:endParaRPr lang="en-US" altLang="zh-CN" sz="1600" dirty="0" smtClean="0">
              <a:latin typeface="Calibri" pitchFamily="34" charset="0"/>
            </a:endParaRP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 smtClean="0">
                <a:latin typeface="Calibri" pitchFamily="34" charset="0"/>
              </a:rPr>
              <a:t>（</a:t>
            </a:r>
            <a:r>
              <a:rPr lang="en-US" altLang="zh-CN" sz="1600" dirty="0" smtClean="0">
                <a:latin typeface="Calibri" pitchFamily="34" charset="0"/>
              </a:rPr>
              <a:t>4</a:t>
            </a:r>
            <a:r>
              <a:rPr lang="zh-CN" altLang="en-US" sz="1600" dirty="0" smtClean="0">
                <a:latin typeface="Calibri" pitchFamily="34" charset="0"/>
              </a:rPr>
              <a:t>个字）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10265" name="Text Box 25"/>
          <p:cNvSpPr txBox="1">
            <a:spLocks noChangeArrowheads="1"/>
          </p:cNvSpPr>
          <p:nvPr/>
        </p:nvSpPr>
        <p:spPr bwMode="auto">
          <a:xfrm>
            <a:off x="5645492" y="4572000"/>
            <a:ext cx="1113103" cy="577082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 smtClean="0">
                <a:latin typeface="Calibri" pitchFamily="34" charset="0"/>
              </a:rPr>
              <a:t>空闲块</a:t>
            </a:r>
            <a:endParaRPr lang="en-US" altLang="zh-CN" sz="1600" dirty="0" smtClean="0">
              <a:latin typeface="Calibri" pitchFamily="34" charset="0"/>
            </a:endParaRP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 smtClean="0">
                <a:latin typeface="Calibri" pitchFamily="34" charset="0"/>
              </a:rPr>
              <a:t>（</a:t>
            </a:r>
            <a:r>
              <a:rPr lang="en-US" altLang="zh-CN" sz="1600" dirty="0" smtClean="0">
                <a:latin typeface="Calibri" pitchFamily="34" charset="0"/>
              </a:rPr>
              <a:t>2</a:t>
            </a:r>
            <a:r>
              <a:rPr lang="zh-CN" altLang="en-US" sz="1600" dirty="0" smtClean="0">
                <a:latin typeface="Calibri" pitchFamily="34" charset="0"/>
              </a:rPr>
              <a:t>个字）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10267" name="Rectangle 27"/>
          <p:cNvSpPr>
            <a:spLocks noChangeArrowheads="1"/>
          </p:cNvSpPr>
          <p:nvPr/>
        </p:nvSpPr>
        <p:spPr bwMode="auto">
          <a:xfrm>
            <a:off x="8056256" y="4845801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68" name="Rectangle 28"/>
          <p:cNvSpPr>
            <a:spLocks noChangeArrowheads="1"/>
          </p:cNvSpPr>
          <p:nvPr/>
        </p:nvSpPr>
        <p:spPr bwMode="auto">
          <a:xfrm>
            <a:off x="8056256" y="5226801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69" name="Text Box 29"/>
          <p:cNvSpPr txBox="1">
            <a:spLocks noChangeArrowheads="1"/>
          </p:cNvSpPr>
          <p:nvPr/>
        </p:nvSpPr>
        <p:spPr bwMode="auto">
          <a:xfrm>
            <a:off x="8437257" y="4845802"/>
            <a:ext cx="802120" cy="335799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 smtClean="0">
                <a:latin typeface="Calibri" pitchFamily="34" charset="0"/>
              </a:rPr>
              <a:t>空闲字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10270" name="Text Box 30"/>
          <p:cNvSpPr txBox="1">
            <a:spLocks noChangeArrowheads="1"/>
          </p:cNvSpPr>
          <p:nvPr/>
        </p:nvSpPr>
        <p:spPr bwMode="auto">
          <a:xfrm>
            <a:off x="8434082" y="5226802"/>
            <a:ext cx="1008907" cy="335799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 smtClean="0">
                <a:latin typeface="Calibri" pitchFamily="34" charset="0"/>
              </a:rPr>
              <a:t>已分配字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32" name="AutoShape 17"/>
          <p:cNvSpPr/>
          <p:nvPr/>
        </p:nvSpPr>
        <p:spPr bwMode="auto">
          <a:xfrm rot="16200000">
            <a:off x="3351796" y="3766318"/>
            <a:ext cx="182880" cy="1188720"/>
          </a:xfrm>
          <a:prstGeom prst="leftBrace">
            <a:avLst>
              <a:gd name="adj1" fmla="val 33333"/>
              <a:gd name="adj2" fmla="val 50901"/>
            </a:avLst>
          </a:prstGeom>
          <a:noFill/>
          <a:ln w="2857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" name="AutoShape 17"/>
          <p:cNvSpPr/>
          <p:nvPr/>
        </p:nvSpPr>
        <p:spPr bwMode="auto">
          <a:xfrm rot="16200000">
            <a:off x="6099400" y="4067718"/>
            <a:ext cx="180842" cy="583882"/>
          </a:xfrm>
          <a:prstGeom prst="leftBrace">
            <a:avLst>
              <a:gd name="adj1" fmla="val 33333"/>
              <a:gd name="adj2" fmla="val 50901"/>
            </a:avLst>
          </a:prstGeom>
          <a:noFill/>
          <a:ln w="2857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cxnSp>
        <p:nvCxnSpPr>
          <p:cNvPr id="3" name="Straight Arrow Connector 2"/>
          <p:cNvCxnSpPr/>
          <p:nvPr/>
        </p:nvCxnSpPr>
        <p:spPr bwMode="auto">
          <a:xfrm>
            <a:off x="2824162" y="3429000"/>
            <a:ext cx="0" cy="489718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5" name="Straight Arrow Connector 34"/>
          <p:cNvCxnSpPr/>
          <p:nvPr/>
        </p:nvCxnSpPr>
        <p:spPr bwMode="auto">
          <a:xfrm>
            <a:off x="8920162" y="3429000"/>
            <a:ext cx="0" cy="489718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1985964" y="2779195"/>
            <a:ext cx="1676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 smtClean="0">
                <a:latin typeface="Calibri" pitchFamily="34" charset="0"/>
              </a:rPr>
              <a:t>堆的</a:t>
            </a:r>
            <a:endParaRPr lang="en-US" altLang="zh-CN" sz="1800" dirty="0" smtClean="0">
              <a:latin typeface="Calibri" pitchFamily="34" charset="0"/>
            </a:endParaRPr>
          </a:p>
          <a:p>
            <a:pPr algn="ctr"/>
            <a:r>
              <a:rPr lang="zh-CN" altLang="en-US" sz="1800" dirty="0" smtClean="0">
                <a:latin typeface="Calibri" pitchFamily="34" charset="0"/>
              </a:rPr>
              <a:t>最低地址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665243" y="2225197"/>
            <a:ext cx="25098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 smtClean="0">
                <a:latin typeface="Calibri" pitchFamily="34" charset="0"/>
              </a:rPr>
              <a:t>堆的最高地址</a:t>
            </a:r>
            <a:endParaRPr lang="en-US" altLang="zh-CN" sz="1800" dirty="0" smtClean="0">
              <a:latin typeface="Calibri" pitchFamily="34" charset="0"/>
            </a:endParaRPr>
          </a:p>
          <a:p>
            <a:pPr algn="ctr"/>
            <a:r>
              <a:rPr lang="zh-CN" altLang="en-US" sz="1800" dirty="0" smtClean="0">
                <a:latin typeface="Calibri" pitchFamily="34" charset="0"/>
              </a:rPr>
              <a:t>（“断点”，可通过</a:t>
            </a:r>
            <a:r>
              <a:rPr lang="en-US" altLang="zh-CN" sz="1800" dirty="0" err="1" smtClean="0">
                <a:latin typeface="Calibri" pitchFamily="34" charset="0"/>
              </a:rPr>
              <a:t>sbrk</a:t>
            </a:r>
            <a:r>
              <a:rPr lang="zh-CN" altLang="en-US" sz="1800" dirty="0" smtClean="0">
                <a:latin typeface="Calibri" pitchFamily="34" charset="0"/>
              </a:rPr>
              <a:t>系统调用调整）</a:t>
            </a:r>
            <a:endParaRPr lang="en-US" sz="1800" dirty="0">
              <a:latin typeface="Calibri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1"/>
          <p:cNvSpPr>
            <a:spLocks noGrp="1" noChangeArrowheads="1"/>
          </p:cNvSpPr>
          <p:nvPr>
            <p:ph type="title"/>
          </p:nvPr>
        </p:nvSpPr>
        <p:spPr>
          <a:xfrm>
            <a:off x="1981200" y="493714"/>
            <a:ext cx="6464300" cy="573087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dirty="0" smtClean="0"/>
              <a:t>分配示例（概念性）</a:t>
            </a:r>
            <a:endParaRPr lang="en-GB" dirty="0"/>
          </a:p>
        </p:txBody>
      </p:sp>
      <p:sp>
        <p:nvSpPr>
          <p:cNvPr id="11283" name="Text Box 19"/>
          <p:cNvSpPr txBox="1">
            <a:spLocks noChangeArrowheads="1"/>
          </p:cNvSpPr>
          <p:nvPr/>
        </p:nvSpPr>
        <p:spPr bwMode="auto">
          <a:xfrm>
            <a:off x="1700831" y="1582738"/>
            <a:ext cx="2249632" cy="359010"/>
          </a:xfrm>
          <a:prstGeom prst="rect">
            <a:avLst/>
          </a:prstGeom>
          <a:solidFill>
            <a:srgbClr val="F6F5BD"/>
          </a:solidFill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latin typeface="Courier New" panose="02070609020205020404" pitchFamily="49" charset="0"/>
              </a:rPr>
              <a:t>p1 = malloc(32)</a:t>
            </a:r>
            <a:endParaRPr lang="en-GB" sz="1800" dirty="0">
              <a:latin typeface="Courier New" panose="02070609020205020404" pitchFamily="49" charset="0"/>
            </a:endParaRPr>
          </a:p>
        </p:txBody>
      </p:sp>
      <p:sp>
        <p:nvSpPr>
          <p:cNvPr id="11301" name="Text Box 37"/>
          <p:cNvSpPr txBox="1">
            <a:spLocks noChangeArrowheads="1"/>
          </p:cNvSpPr>
          <p:nvPr/>
        </p:nvSpPr>
        <p:spPr bwMode="auto">
          <a:xfrm>
            <a:off x="1700831" y="2464826"/>
            <a:ext cx="2249632" cy="3590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latin typeface="Courier New" panose="02070609020205020404" pitchFamily="49" charset="0"/>
              </a:rPr>
              <a:t>p2 = malloc(40)</a:t>
            </a:r>
            <a:endParaRPr lang="en-GB" sz="1800" dirty="0">
              <a:latin typeface="Courier New" panose="02070609020205020404" pitchFamily="49" charset="0"/>
            </a:endParaRPr>
          </a:p>
        </p:txBody>
      </p:sp>
      <p:sp>
        <p:nvSpPr>
          <p:cNvPr id="11319" name="Text Box 55"/>
          <p:cNvSpPr txBox="1">
            <a:spLocks noChangeArrowheads="1"/>
          </p:cNvSpPr>
          <p:nvPr/>
        </p:nvSpPr>
        <p:spPr bwMode="auto">
          <a:xfrm>
            <a:off x="1700831" y="3365128"/>
            <a:ext cx="2249632" cy="359010"/>
          </a:xfrm>
          <a:prstGeom prst="rect">
            <a:avLst/>
          </a:prstGeom>
          <a:solidFill>
            <a:srgbClr val="F1C7C7"/>
          </a:solidFill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latin typeface="Courier New" panose="02070609020205020404" pitchFamily="49" charset="0"/>
              </a:rPr>
              <a:t>p3 = malloc(48)</a:t>
            </a:r>
            <a:endParaRPr lang="en-GB" sz="1800" dirty="0">
              <a:latin typeface="Courier New" panose="02070609020205020404" pitchFamily="49" charset="0"/>
            </a:endParaRPr>
          </a:p>
        </p:txBody>
      </p:sp>
      <p:sp>
        <p:nvSpPr>
          <p:cNvPr id="11337" name="Text Box 73"/>
          <p:cNvSpPr txBox="1">
            <a:spLocks noChangeArrowheads="1"/>
          </p:cNvSpPr>
          <p:nvPr/>
        </p:nvSpPr>
        <p:spPr bwMode="auto">
          <a:xfrm>
            <a:off x="2057400" y="4244975"/>
            <a:ext cx="1284624" cy="3590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>
                <a:latin typeface="Courier New" panose="02070609020205020404" pitchFamily="49" charset="0"/>
              </a:rPr>
              <a:t>free(p2)</a:t>
            </a:r>
            <a:endParaRPr lang="en-GB" sz="1800">
              <a:latin typeface="Courier New" panose="02070609020205020404" pitchFamily="49" charset="0"/>
            </a:endParaRPr>
          </a:p>
        </p:txBody>
      </p:sp>
      <p:sp>
        <p:nvSpPr>
          <p:cNvPr id="11355" name="Text Box 91"/>
          <p:cNvSpPr txBox="1">
            <a:spLocks noChangeArrowheads="1"/>
          </p:cNvSpPr>
          <p:nvPr/>
        </p:nvSpPr>
        <p:spPr bwMode="auto">
          <a:xfrm>
            <a:off x="1700831" y="5128926"/>
            <a:ext cx="2249632" cy="359010"/>
          </a:xfrm>
          <a:prstGeom prst="rect">
            <a:avLst/>
          </a:prstGeom>
          <a:solidFill>
            <a:srgbClr val="D5F1CF"/>
          </a:solidFill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latin typeface="Courier New" panose="02070609020205020404" pitchFamily="49" charset="0"/>
              </a:rPr>
              <a:t>p4 = malloc(16)</a:t>
            </a:r>
            <a:endParaRPr lang="en-GB" sz="1800" dirty="0">
              <a:latin typeface="Courier New" panose="02070609020205020404" pitchFamily="49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4516437" y="1614488"/>
            <a:ext cx="5486400" cy="304800"/>
            <a:chOff x="2992437" y="1614488"/>
            <a:chExt cx="5486400" cy="304800"/>
          </a:xfrm>
        </p:grpSpPr>
        <p:grpSp>
          <p:nvGrpSpPr>
            <p:cNvPr id="98" name="Group 97"/>
            <p:cNvGrpSpPr/>
            <p:nvPr/>
          </p:nvGrpSpPr>
          <p:grpSpPr>
            <a:xfrm>
              <a:off x="2992437" y="1614488"/>
              <a:ext cx="5181600" cy="304800"/>
              <a:chOff x="3006724" y="1614488"/>
              <a:chExt cx="5181600" cy="304800"/>
            </a:xfrm>
          </p:grpSpPr>
          <p:sp>
            <p:nvSpPr>
              <p:cNvPr id="11266" name="Rectangle 2"/>
              <p:cNvSpPr>
                <a:spLocks noChangeArrowheads="1"/>
              </p:cNvSpPr>
              <p:nvPr/>
            </p:nvSpPr>
            <p:spPr bwMode="auto">
              <a:xfrm>
                <a:off x="3006724" y="1614488"/>
                <a:ext cx="304800" cy="304800"/>
              </a:xfrm>
              <a:prstGeom prst="rect">
                <a:avLst/>
              </a:prstGeom>
              <a:solidFill>
                <a:srgbClr val="F6F5BD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67" name="Rectangle 3"/>
              <p:cNvSpPr>
                <a:spLocks noChangeArrowheads="1"/>
              </p:cNvSpPr>
              <p:nvPr/>
            </p:nvSpPr>
            <p:spPr bwMode="auto">
              <a:xfrm>
                <a:off x="3311524" y="1614488"/>
                <a:ext cx="304800" cy="304800"/>
              </a:xfrm>
              <a:prstGeom prst="rect">
                <a:avLst/>
              </a:prstGeom>
              <a:solidFill>
                <a:srgbClr val="F6F5BD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68" name="Rectangle 4"/>
              <p:cNvSpPr>
                <a:spLocks noChangeArrowheads="1"/>
              </p:cNvSpPr>
              <p:nvPr/>
            </p:nvSpPr>
            <p:spPr bwMode="auto">
              <a:xfrm>
                <a:off x="3616324" y="1614488"/>
                <a:ext cx="304800" cy="304800"/>
              </a:xfrm>
              <a:prstGeom prst="rect">
                <a:avLst/>
              </a:prstGeom>
              <a:solidFill>
                <a:srgbClr val="F6F5BD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69" name="Rectangle 5"/>
              <p:cNvSpPr>
                <a:spLocks noChangeArrowheads="1"/>
              </p:cNvSpPr>
              <p:nvPr/>
            </p:nvSpPr>
            <p:spPr bwMode="auto">
              <a:xfrm>
                <a:off x="3921124" y="1614488"/>
                <a:ext cx="304800" cy="304800"/>
              </a:xfrm>
              <a:prstGeom prst="rect">
                <a:avLst/>
              </a:prstGeom>
              <a:solidFill>
                <a:srgbClr val="F6F5BD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70" name="Rectangle 6"/>
              <p:cNvSpPr>
                <a:spLocks noChangeArrowheads="1"/>
              </p:cNvSpPr>
              <p:nvPr/>
            </p:nvSpPr>
            <p:spPr bwMode="auto">
              <a:xfrm>
                <a:off x="42259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71" name="Rectangle 7"/>
              <p:cNvSpPr>
                <a:spLocks noChangeArrowheads="1"/>
              </p:cNvSpPr>
              <p:nvPr/>
            </p:nvSpPr>
            <p:spPr bwMode="auto">
              <a:xfrm>
                <a:off x="45307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72" name="Rectangle 8"/>
              <p:cNvSpPr>
                <a:spLocks noChangeArrowheads="1"/>
              </p:cNvSpPr>
              <p:nvPr/>
            </p:nvSpPr>
            <p:spPr bwMode="auto">
              <a:xfrm>
                <a:off x="48355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73" name="Rectangle 9"/>
              <p:cNvSpPr>
                <a:spLocks noChangeArrowheads="1"/>
              </p:cNvSpPr>
              <p:nvPr/>
            </p:nvSpPr>
            <p:spPr bwMode="auto">
              <a:xfrm>
                <a:off x="51403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74" name="Rectangle 10"/>
              <p:cNvSpPr>
                <a:spLocks noChangeArrowheads="1"/>
              </p:cNvSpPr>
              <p:nvPr/>
            </p:nvSpPr>
            <p:spPr bwMode="auto">
              <a:xfrm>
                <a:off x="54451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75" name="Rectangle 11"/>
              <p:cNvSpPr>
                <a:spLocks noChangeArrowheads="1"/>
              </p:cNvSpPr>
              <p:nvPr/>
            </p:nvSpPr>
            <p:spPr bwMode="auto">
              <a:xfrm>
                <a:off x="57499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76" name="Rectangle 12"/>
              <p:cNvSpPr>
                <a:spLocks noChangeArrowheads="1"/>
              </p:cNvSpPr>
              <p:nvPr/>
            </p:nvSpPr>
            <p:spPr bwMode="auto">
              <a:xfrm>
                <a:off x="60547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77" name="Rectangle 13"/>
              <p:cNvSpPr>
                <a:spLocks noChangeArrowheads="1"/>
              </p:cNvSpPr>
              <p:nvPr/>
            </p:nvSpPr>
            <p:spPr bwMode="auto">
              <a:xfrm>
                <a:off x="63595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78" name="Rectangle 14"/>
              <p:cNvSpPr>
                <a:spLocks noChangeArrowheads="1"/>
              </p:cNvSpPr>
              <p:nvPr/>
            </p:nvSpPr>
            <p:spPr bwMode="auto">
              <a:xfrm>
                <a:off x="66643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79" name="Rectangle 15"/>
              <p:cNvSpPr>
                <a:spLocks noChangeArrowheads="1"/>
              </p:cNvSpPr>
              <p:nvPr/>
            </p:nvSpPr>
            <p:spPr bwMode="auto">
              <a:xfrm>
                <a:off x="69691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80" name="Rectangle 16"/>
              <p:cNvSpPr>
                <a:spLocks noChangeArrowheads="1"/>
              </p:cNvSpPr>
              <p:nvPr/>
            </p:nvSpPr>
            <p:spPr bwMode="auto">
              <a:xfrm>
                <a:off x="72739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81" name="Rectangle 17"/>
              <p:cNvSpPr>
                <a:spLocks noChangeArrowheads="1"/>
              </p:cNvSpPr>
              <p:nvPr/>
            </p:nvSpPr>
            <p:spPr bwMode="auto">
              <a:xfrm>
                <a:off x="75787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82" name="Rectangle 18"/>
              <p:cNvSpPr>
                <a:spLocks noChangeArrowheads="1"/>
              </p:cNvSpPr>
              <p:nvPr/>
            </p:nvSpPr>
            <p:spPr bwMode="auto">
              <a:xfrm>
                <a:off x="78835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101" name="Rectangle 9"/>
            <p:cNvSpPr>
              <a:spLocks noChangeArrowheads="1"/>
            </p:cNvSpPr>
            <p:nvPr/>
          </p:nvSpPr>
          <p:spPr bwMode="auto">
            <a:xfrm>
              <a:off x="8174037" y="1614488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4516437" y="2501901"/>
            <a:ext cx="5486400" cy="304800"/>
            <a:chOff x="2992437" y="2501901"/>
            <a:chExt cx="5486400" cy="304800"/>
          </a:xfrm>
        </p:grpSpPr>
        <p:sp>
          <p:nvSpPr>
            <p:cNvPr id="11284" name="Rectangle 20"/>
            <p:cNvSpPr>
              <a:spLocks noChangeArrowheads="1"/>
            </p:cNvSpPr>
            <p:nvPr/>
          </p:nvSpPr>
          <p:spPr bwMode="auto">
            <a:xfrm>
              <a:off x="2992437" y="2501901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5" name="Rectangle 21"/>
            <p:cNvSpPr>
              <a:spLocks noChangeArrowheads="1"/>
            </p:cNvSpPr>
            <p:nvPr/>
          </p:nvSpPr>
          <p:spPr bwMode="auto">
            <a:xfrm>
              <a:off x="3297237" y="2501901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6" name="Rectangle 22"/>
            <p:cNvSpPr>
              <a:spLocks noChangeArrowheads="1"/>
            </p:cNvSpPr>
            <p:nvPr/>
          </p:nvSpPr>
          <p:spPr bwMode="auto">
            <a:xfrm>
              <a:off x="3602037" y="2501901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7" name="Rectangle 23"/>
            <p:cNvSpPr>
              <a:spLocks noChangeArrowheads="1"/>
            </p:cNvSpPr>
            <p:nvPr/>
          </p:nvSpPr>
          <p:spPr bwMode="auto">
            <a:xfrm>
              <a:off x="3906837" y="2501901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8" name="Rectangle 24"/>
            <p:cNvSpPr>
              <a:spLocks noChangeArrowheads="1"/>
            </p:cNvSpPr>
            <p:nvPr/>
          </p:nvSpPr>
          <p:spPr bwMode="auto">
            <a:xfrm>
              <a:off x="4211637" y="2501901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9" name="Rectangle 25"/>
            <p:cNvSpPr>
              <a:spLocks noChangeArrowheads="1"/>
            </p:cNvSpPr>
            <p:nvPr/>
          </p:nvSpPr>
          <p:spPr bwMode="auto">
            <a:xfrm>
              <a:off x="4516437" y="2501901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0" name="Rectangle 26"/>
            <p:cNvSpPr>
              <a:spLocks noChangeArrowheads="1"/>
            </p:cNvSpPr>
            <p:nvPr/>
          </p:nvSpPr>
          <p:spPr bwMode="auto">
            <a:xfrm>
              <a:off x="4821237" y="2501901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1" name="Rectangle 27"/>
            <p:cNvSpPr>
              <a:spLocks noChangeArrowheads="1"/>
            </p:cNvSpPr>
            <p:nvPr/>
          </p:nvSpPr>
          <p:spPr bwMode="auto">
            <a:xfrm>
              <a:off x="5126037" y="2501901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2" name="Rectangle 28"/>
            <p:cNvSpPr>
              <a:spLocks noChangeArrowheads="1"/>
            </p:cNvSpPr>
            <p:nvPr/>
          </p:nvSpPr>
          <p:spPr bwMode="auto">
            <a:xfrm>
              <a:off x="5430837" y="2501901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3" name="Rectangle 29"/>
            <p:cNvSpPr>
              <a:spLocks noChangeArrowheads="1"/>
            </p:cNvSpPr>
            <p:nvPr/>
          </p:nvSpPr>
          <p:spPr bwMode="auto">
            <a:xfrm>
              <a:off x="57356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4" name="Rectangle 30"/>
            <p:cNvSpPr>
              <a:spLocks noChangeArrowheads="1"/>
            </p:cNvSpPr>
            <p:nvPr/>
          </p:nvSpPr>
          <p:spPr bwMode="auto">
            <a:xfrm>
              <a:off x="60404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5" name="Rectangle 31"/>
            <p:cNvSpPr>
              <a:spLocks noChangeArrowheads="1"/>
            </p:cNvSpPr>
            <p:nvPr/>
          </p:nvSpPr>
          <p:spPr bwMode="auto">
            <a:xfrm>
              <a:off x="63452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6" name="Rectangle 32"/>
            <p:cNvSpPr>
              <a:spLocks noChangeArrowheads="1"/>
            </p:cNvSpPr>
            <p:nvPr/>
          </p:nvSpPr>
          <p:spPr bwMode="auto">
            <a:xfrm>
              <a:off x="66500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7" name="Rectangle 33"/>
            <p:cNvSpPr>
              <a:spLocks noChangeArrowheads="1"/>
            </p:cNvSpPr>
            <p:nvPr/>
          </p:nvSpPr>
          <p:spPr bwMode="auto">
            <a:xfrm>
              <a:off x="69548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1298" name="Rectangle 34"/>
            <p:cNvSpPr>
              <a:spLocks noChangeArrowheads="1"/>
            </p:cNvSpPr>
            <p:nvPr/>
          </p:nvSpPr>
          <p:spPr bwMode="auto">
            <a:xfrm>
              <a:off x="72596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9" name="Rectangle 35"/>
            <p:cNvSpPr>
              <a:spLocks noChangeArrowheads="1"/>
            </p:cNvSpPr>
            <p:nvPr/>
          </p:nvSpPr>
          <p:spPr bwMode="auto">
            <a:xfrm>
              <a:off x="75644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0" name="Rectangle 36"/>
            <p:cNvSpPr>
              <a:spLocks noChangeArrowheads="1"/>
            </p:cNvSpPr>
            <p:nvPr/>
          </p:nvSpPr>
          <p:spPr bwMode="auto">
            <a:xfrm>
              <a:off x="78692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" name="Rectangle 9"/>
            <p:cNvSpPr>
              <a:spLocks noChangeArrowheads="1"/>
            </p:cNvSpPr>
            <p:nvPr/>
          </p:nvSpPr>
          <p:spPr bwMode="auto">
            <a:xfrm>
              <a:off x="81740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4516437" y="3389313"/>
            <a:ext cx="5486400" cy="304800"/>
            <a:chOff x="2992437" y="3389313"/>
            <a:chExt cx="5486400" cy="304800"/>
          </a:xfrm>
        </p:grpSpPr>
        <p:sp>
          <p:nvSpPr>
            <p:cNvPr id="11302" name="Rectangle 38"/>
            <p:cNvSpPr>
              <a:spLocks noChangeArrowheads="1"/>
            </p:cNvSpPr>
            <p:nvPr/>
          </p:nvSpPr>
          <p:spPr bwMode="auto">
            <a:xfrm>
              <a:off x="2992437" y="3389313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3" name="Rectangle 39"/>
            <p:cNvSpPr>
              <a:spLocks noChangeArrowheads="1"/>
            </p:cNvSpPr>
            <p:nvPr/>
          </p:nvSpPr>
          <p:spPr bwMode="auto">
            <a:xfrm>
              <a:off x="3297237" y="3389313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4" name="Rectangle 40"/>
            <p:cNvSpPr>
              <a:spLocks noChangeArrowheads="1"/>
            </p:cNvSpPr>
            <p:nvPr/>
          </p:nvSpPr>
          <p:spPr bwMode="auto">
            <a:xfrm>
              <a:off x="3602037" y="3389313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5" name="Rectangle 41"/>
            <p:cNvSpPr>
              <a:spLocks noChangeArrowheads="1"/>
            </p:cNvSpPr>
            <p:nvPr/>
          </p:nvSpPr>
          <p:spPr bwMode="auto">
            <a:xfrm>
              <a:off x="3906837" y="3389313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6" name="Rectangle 42"/>
            <p:cNvSpPr>
              <a:spLocks noChangeArrowheads="1"/>
            </p:cNvSpPr>
            <p:nvPr/>
          </p:nvSpPr>
          <p:spPr bwMode="auto">
            <a:xfrm>
              <a:off x="4211637" y="3389313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7" name="Rectangle 43"/>
            <p:cNvSpPr>
              <a:spLocks noChangeArrowheads="1"/>
            </p:cNvSpPr>
            <p:nvPr/>
          </p:nvSpPr>
          <p:spPr bwMode="auto">
            <a:xfrm>
              <a:off x="4516437" y="3389313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8" name="Rectangle 44"/>
            <p:cNvSpPr>
              <a:spLocks noChangeArrowheads="1"/>
            </p:cNvSpPr>
            <p:nvPr/>
          </p:nvSpPr>
          <p:spPr bwMode="auto">
            <a:xfrm>
              <a:off x="4821237" y="3389313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9" name="Rectangle 45"/>
            <p:cNvSpPr>
              <a:spLocks noChangeArrowheads="1"/>
            </p:cNvSpPr>
            <p:nvPr/>
          </p:nvSpPr>
          <p:spPr bwMode="auto">
            <a:xfrm>
              <a:off x="5126037" y="3389313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0" name="Rectangle 46"/>
            <p:cNvSpPr>
              <a:spLocks noChangeArrowheads="1"/>
            </p:cNvSpPr>
            <p:nvPr/>
          </p:nvSpPr>
          <p:spPr bwMode="auto">
            <a:xfrm>
              <a:off x="5430837" y="3389313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1" name="Rectangle 47"/>
            <p:cNvSpPr>
              <a:spLocks noChangeArrowheads="1"/>
            </p:cNvSpPr>
            <p:nvPr/>
          </p:nvSpPr>
          <p:spPr bwMode="auto">
            <a:xfrm>
              <a:off x="5735637" y="3389313"/>
              <a:ext cx="304800" cy="3048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2" name="Rectangle 48"/>
            <p:cNvSpPr>
              <a:spLocks noChangeArrowheads="1"/>
            </p:cNvSpPr>
            <p:nvPr/>
          </p:nvSpPr>
          <p:spPr bwMode="auto">
            <a:xfrm>
              <a:off x="6040437" y="3389313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3" name="Rectangle 49"/>
            <p:cNvSpPr>
              <a:spLocks noChangeArrowheads="1"/>
            </p:cNvSpPr>
            <p:nvPr/>
          </p:nvSpPr>
          <p:spPr bwMode="auto">
            <a:xfrm>
              <a:off x="6345237" y="3389313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4" name="Rectangle 50"/>
            <p:cNvSpPr>
              <a:spLocks noChangeArrowheads="1"/>
            </p:cNvSpPr>
            <p:nvPr/>
          </p:nvSpPr>
          <p:spPr bwMode="auto">
            <a:xfrm>
              <a:off x="6650037" y="3389313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5" name="Rectangle 51"/>
            <p:cNvSpPr>
              <a:spLocks noChangeArrowheads="1"/>
            </p:cNvSpPr>
            <p:nvPr/>
          </p:nvSpPr>
          <p:spPr bwMode="auto">
            <a:xfrm>
              <a:off x="6954837" y="3389313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6" name="Rectangle 52"/>
            <p:cNvSpPr>
              <a:spLocks noChangeArrowheads="1"/>
            </p:cNvSpPr>
            <p:nvPr/>
          </p:nvSpPr>
          <p:spPr bwMode="auto">
            <a:xfrm>
              <a:off x="7259637" y="3389313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7" name="Rectangle 53"/>
            <p:cNvSpPr>
              <a:spLocks noChangeArrowheads="1"/>
            </p:cNvSpPr>
            <p:nvPr/>
          </p:nvSpPr>
          <p:spPr bwMode="auto">
            <a:xfrm>
              <a:off x="7564437" y="3389313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8" name="Rectangle 54"/>
            <p:cNvSpPr>
              <a:spLocks noChangeArrowheads="1"/>
            </p:cNvSpPr>
            <p:nvPr/>
          </p:nvSpPr>
          <p:spPr bwMode="auto">
            <a:xfrm>
              <a:off x="7869237" y="3389313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" name="Rectangle 9"/>
            <p:cNvSpPr>
              <a:spLocks noChangeArrowheads="1"/>
            </p:cNvSpPr>
            <p:nvPr/>
          </p:nvSpPr>
          <p:spPr bwMode="auto">
            <a:xfrm>
              <a:off x="8174037" y="3389313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4516437" y="4272080"/>
            <a:ext cx="5486400" cy="309446"/>
            <a:chOff x="2992437" y="4272080"/>
            <a:chExt cx="5486400" cy="309446"/>
          </a:xfrm>
        </p:grpSpPr>
        <p:sp>
          <p:nvSpPr>
            <p:cNvPr id="11320" name="Rectangle 56"/>
            <p:cNvSpPr>
              <a:spLocks noChangeArrowheads="1"/>
            </p:cNvSpPr>
            <p:nvPr/>
          </p:nvSpPr>
          <p:spPr bwMode="auto">
            <a:xfrm>
              <a:off x="2992437" y="4276726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1" name="Rectangle 57"/>
            <p:cNvSpPr>
              <a:spLocks noChangeArrowheads="1"/>
            </p:cNvSpPr>
            <p:nvPr/>
          </p:nvSpPr>
          <p:spPr bwMode="auto">
            <a:xfrm>
              <a:off x="3297237" y="4276726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2" name="Rectangle 58"/>
            <p:cNvSpPr>
              <a:spLocks noChangeArrowheads="1"/>
            </p:cNvSpPr>
            <p:nvPr/>
          </p:nvSpPr>
          <p:spPr bwMode="auto">
            <a:xfrm>
              <a:off x="3602037" y="4276726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3" name="Rectangle 59"/>
            <p:cNvSpPr>
              <a:spLocks noChangeArrowheads="1"/>
            </p:cNvSpPr>
            <p:nvPr/>
          </p:nvSpPr>
          <p:spPr bwMode="auto">
            <a:xfrm>
              <a:off x="3906837" y="4276726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4" name="Rectangle 60"/>
            <p:cNvSpPr>
              <a:spLocks noChangeArrowheads="1"/>
            </p:cNvSpPr>
            <p:nvPr/>
          </p:nvSpPr>
          <p:spPr bwMode="auto">
            <a:xfrm>
              <a:off x="4211637" y="4276726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5" name="Rectangle 61"/>
            <p:cNvSpPr>
              <a:spLocks noChangeArrowheads="1"/>
            </p:cNvSpPr>
            <p:nvPr/>
          </p:nvSpPr>
          <p:spPr bwMode="auto">
            <a:xfrm>
              <a:off x="4516437" y="4276726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6" name="Rectangle 62"/>
            <p:cNvSpPr>
              <a:spLocks noChangeArrowheads="1"/>
            </p:cNvSpPr>
            <p:nvPr/>
          </p:nvSpPr>
          <p:spPr bwMode="auto">
            <a:xfrm>
              <a:off x="4821237" y="4276726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7" name="Rectangle 63"/>
            <p:cNvSpPr>
              <a:spLocks noChangeArrowheads="1"/>
            </p:cNvSpPr>
            <p:nvPr/>
          </p:nvSpPr>
          <p:spPr bwMode="auto">
            <a:xfrm>
              <a:off x="5126037" y="4276726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8" name="Rectangle 64"/>
            <p:cNvSpPr>
              <a:spLocks noChangeArrowheads="1"/>
            </p:cNvSpPr>
            <p:nvPr/>
          </p:nvSpPr>
          <p:spPr bwMode="auto">
            <a:xfrm>
              <a:off x="5430837" y="4276726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9" name="Rectangle 65"/>
            <p:cNvSpPr>
              <a:spLocks noChangeArrowheads="1"/>
            </p:cNvSpPr>
            <p:nvPr/>
          </p:nvSpPr>
          <p:spPr bwMode="auto">
            <a:xfrm>
              <a:off x="5735637" y="4276726"/>
              <a:ext cx="304800" cy="3048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0" name="Rectangle 66"/>
            <p:cNvSpPr>
              <a:spLocks noChangeArrowheads="1"/>
            </p:cNvSpPr>
            <p:nvPr/>
          </p:nvSpPr>
          <p:spPr bwMode="auto">
            <a:xfrm>
              <a:off x="6040437" y="4276726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1" name="Rectangle 67"/>
            <p:cNvSpPr>
              <a:spLocks noChangeArrowheads="1"/>
            </p:cNvSpPr>
            <p:nvPr/>
          </p:nvSpPr>
          <p:spPr bwMode="auto">
            <a:xfrm>
              <a:off x="6345237" y="4276726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2" name="Rectangle 68"/>
            <p:cNvSpPr>
              <a:spLocks noChangeArrowheads="1"/>
            </p:cNvSpPr>
            <p:nvPr/>
          </p:nvSpPr>
          <p:spPr bwMode="auto">
            <a:xfrm>
              <a:off x="6650037" y="4276726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3" name="Rectangle 69"/>
            <p:cNvSpPr>
              <a:spLocks noChangeArrowheads="1"/>
            </p:cNvSpPr>
            <p:nvPr/>
          </p:nvSpPr>
          <p:spPr bwMode="auto">
            <a:xfrm>
              <a:off x="6954837" y="4276726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4" name="Rectangle 70"/>
            <p:cNvSpPr>
              <a:spLocks noChangeArrowheads="1"/>
            </p:cNvSpPr>
            <p:nvPr/>
          </p:nvSpPr>
          <p:spPr bwMode="auto">
            <a:xfrm>
              <a:off x="7259637" y="4276726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5" name="Rectangle 71"/>
            <p:cNvSpPr>
              <a:spLocks noChangeArrowheads="1"/>
            </p:cNvSpPr>
            <p:nvPr/>
          </p:nvSpPr>
          <p:spPr bwMode="auto">
            <a:xfrm>
              <a:off x="7564437" y="4276726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6" name="Rectangle 72"/>
            <p:cNvSpPr>
              <a:spLocks noChangeArrowheads="1"/>
            </p:cNvSpPr>
            <p:nvPr/>
          </p:nvSpPr>
          <p:spPr bwMode="auto">
            <a:xfrm>
              <a:off x="7869237" y="4276726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" name="Rectangle 9"/>
            <p:cNvSpPr>
              <a:spLocks noChangeArrowheads="1"/>
            </p:cNvSpPr>
            <p:nvPr/>
          </p:nvSpPr>
          <p:spPr bwMode="auto">
            <a:xfrm>
              <a:off x="8174037" y="4272080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516437" y="5164138"/>
            <a:ext cx="5486400" cy="304800"/>
            <a:chOff x="2992437" y="5164138"/>
            <a:chExt cx="5486400" cy="304800"/>
          </a:xfrm>
        </p:grpSpPr>
        <p:sp>
          <p:nvSpPr>
            <p:cNvPr id="11338" name="Rectangle 74"/>
            <p:cNvSpPr>
              <a:spLocks noChangeArrowheads="1"/>
            </p:cNvSpPr>
            <p:nvPr/>
          </p:nvSpPr>
          <p:spPr bwMode="auto">
            <a:xfrm>
              <a:off x="2992437" y="5164138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9" name="Rectangle 75"/>
            <p:cNvSpPr>
              <a:spLocks noChangeArrowheads="1"/>
            </p:cNvSpPr>
            <p:nvPr/>
          </p:nvSpPr>
          <p:spPr bwMode="auto">
            <a:xfrm>
              <a:off x="3297237" y="5164138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0" name="Rectangle 76"/>
            <p:cNvSpPr>
              <a:spLocks noChangeArrowheads="1"/>
            </p:cNvSpPr>
            <p:nvPr/>
          </p:nvSpPr>
          <p:spPr bwMode="auto">
            <a:xfrm>
              <a:off x="3602037" y="5164138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1" name="Rectangle 77"/>
            <p:cNvSpPr>
              <a:spLocks noChangeArrowheads="1"/>
            </p:cNvSpPr>
            <p:nvPr/>
          </p:nvSpPr>
          <p:spPr bwMode="auto">
            <a:xfrm>
              <a:off x="3906837" y="5164138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2" name="Rectangle 78"/>
            <p:cNvSpPr>
              <a:spLocks noChangeArrowheads="1"/>
            </p:cNvSpPr>
            <p:nvPr/>
          </p:nvSpPr>
          <p:spPr bwMode="auto">
            <a:xfrm>
              <a:off x="4211637" y="5164138"/>
              <a:ext cx="304800" cy="30480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3" name="Rectangle 79"/>
            <p:cNvSpPr>
              <a:spLocks noChangeArrowheads="1"/>
            </p:cNvSpPr>
            <p:nvPr/>
          </p:nvSpPr>
          <p:spPr bwMode="auto">
            <a:xfrm>
              <a:off x="4516437" y="5164138"/>
              <a:ext cx="304800" cy="30480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4" name="Rectangle 80"/>
            <p:cNvSpPr>
              <a:spLocks noChangeArrowheads="1"/>
            </p:cNvSpPr>
            <p:nvPr/>
          </p:nvSpPr>
          <p:spPr bwMode="auto">
            <a:xfrm>
              <a:off x="4821237" y="5164138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5" name="Rectangle 81"/>
            <p:cNvSpPr>
              <a:spLocks noChangeArrowheads="1"/>
            </p:cNvSpPr>
            <p:nvPr/>
          </p:nvSpPr>
          <p:spPr bwMode="auto">
            <a:xfrm>
              <a:off x="5126037" y="5164138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6" name="Rectangle 82"/>
            <p:cNvSpPr>
              <a:spLocks noChangeArrowheads="1"/>
            </p:cNvSpPr>
            <p:nvPr/>
          </p:nvSpPr>
          <p:spPr bwMode="auto">
            <a:xfrm>
              <a:off x="5430837" y="5164138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7" name="Rectangle 83"/>
            <p:cNvSpPr>
              <a:spLocks noChangeArrowheads="1"/>
            </p:cNvSpPr>
            <p:nvPr/>
          </p:nvSpPr>
          <p:spPr bwMode="auto">
            <a:xfrm>
              <a:off x="5735637" y="5164138"/>
              <a:ext cx="304800" cy="3048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8" name="Rectangle 84"/>
            <p:cNvSpPr>
              <a:spLocks noChangeArrowheads="1"/>
            </p:cNvSpPr>
            <p:nvPr/>
          </p:nvSpPr>
          <p:spPr bwMode="auto">
            <a:xfrm>
              <a:off x="6040437" y="5164138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9" name="Rectangle 85"/>
            <p:cNvSpPr>
              <a:spLocks noChangeArrowheads="1"/>
            </p:cNvSpPr>
            <p:nvPr/>
          </p:nvSpPr>
          <p:spPr bwMode="auto">
            <a:xfrm>
              <a:off x="6345237" y="5164138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50" name="Rectangle 86"/>
            <p:cNvSpPr>
              <a:spLocks noChangeArrowheads="1"/>
            </p:cNvSpPr>
            <p:nvPr/>
          </p:nvSpPr>
          <p:spPr bwMode="auto">
            <a:xfrm>
              <a:off x="6650037" y="5164138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51" name="Rectangle 87"/>
            <p:cNvSpPr>
              <a:spLocks noChangeArrowheads="1"/>
            </p:cNvSpPr>
            <p:nvPr/>
          </p:nvSpPr>
          <p:spPr bwMode="auto">
            <a:xfrm>
              <a:off x="6954837" y="5164138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52" name="Rectangle 88"/>
            <p:cNvSpPr>
              <a:spLocks noChangeArrowheads="1"/>
            </p:cNvSpPr>
            <p:nvPr/>
          </p:nvSpPr>
          <p:spPr bwMode="auto">
            <a:xfrm>
              <a:off x="7259637" y="5164138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53" name="Rectangle 89"/>
            <p:cNvSpPr>
              <a:spLocks noChangeArrowheads="1"/>
            </p:cNvSpPr>
            <p:nvPr/>
          </p:nvSpPr>
          <p:spPr bwMode="auto">
            <a:xfrm>
              <a:off x="7564437" y="5164138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54" name="Rectangle 90"/>
            <p:cNvSpPr>
              <a:spLocks noChangeArrowheads="1"/>
            </p:cNvSpPr>
            <p:nvPr/>
          </p:nvSpPr>
          <p:spPr bwMode="auto">
            <a:xfrm>
              <a:off x="7869237" y="5164138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" name="Rectangle 9"/>
            <p:cNvSpPr>
              <a:spLocks noChangeArrowheads="1"/>
            </p:cNvSpPr>
            <p:nvPr/>
          </p:nvSpPr>
          <p:spPr bwMode="auto">
            <a:xfrm>
              <a:off x="8174037" y="5164138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cxnSp>
        <p:nvCxnSpPr>
          <p:cNvPr id="8" name="Straight Arrow Connector 7"/>
          <p:cNvCxnSpPr/>
          <p:nvPr/>
        </p:nvCxnSpPr>
        <p:spPr bwMode="auto">
          <a:xfrm>
            <a:off x="7412037" y="3160713"/>
            <a:ext cx="0" cy="38100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7369810" y="2976245"/>
            <a:ext cx="2865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 smtClean="0">
                <a:latin typeface="Calibri" pitchFamily="34" charset="0"/>
              </a:rPr>
              <a:t>对齐间隙</a:t>
            </a:r>
            <a:r>
              <a:rPr lang="en-US" altLang="zh-CN" sz="1800" dirty="0" smtClean="0">
                <a:latin typeface="Calibri" pitchFamily="34" charset="0"/>
              </a:rPr>
              <a:t>（16</a:t>
            </a:r>
            <a:r>
              <a:rPr lang="zh-CN" altLang="en-US" sz="1800" dirty="0" smtClean="0">
                <a:latin typeface="Calibri" pitchFamily="34" charset="0"/>
              </a:rPr>
              <a:t>字节对齐</a:t>
            </a:r>
            <a:r>
              <a:rPr lang="en-US" altLang="zh-CN" sz="1800" dirty="0" smtClean="0">
                <a:latin typeface="Calibri" pitchFamily="34" charset="0"/>
              </a:rPr>
              <a:t>）</a:t>
            </a:r>
            <a:endParaRPr lang="en-US" altLang="zh-CN" sz="1800" dirty="0" smtClean="0">
              <a:latin typeface="Calibri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约束条件</a:t>
            </a:r>
            <a:endParaRPr lang="zh-CN" altLang="en-US"/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应用程序</a:t>
            </a:r>
            <a:endParaRPr lang="en-GB"/>
          </a:p>
          <a:p>
            <a:pPr lvl="1"/>
            <a:r>
              <a:rPr lang="zh-CN" altLang="en-US"/>
              <a:t>可以按任意顺序发出 </a:t>
            </a:r>
            <a:r>
              <a:rPr lang="en-GB"/>
              <a:t>malloc </a:t>
            </a:r>
            <a:r>
              <a:rPr lang="zh-CN" altLang="en-US"/>
              <a:t>和 </a:t>
            </a:r>
            <a:r>
              <a:rPr lang="en-GB"/>
              <a:t>free </a:t>
            </a:r>
            <a:r>
              <a:rPr lang="zh-CN" altLang="en-US"/>
              <a:t>请求</a:t>
            </a:r>
            <a:endParaRPr lang="en-GB"/>
          </a:p>
          <a:p>
            <a:pPr lvl="1"/>
            <a:r>
              <a:rPr lang="en-GB"/>
              <a:t>free </a:t>
            </a:r>
            <a:r>
              <a:rPr lang="zh-CN" altLang="en-US"/>
              <a:t>请求必须对应一个</a:t>
            </a:r>
            <a:r>
              <a:rPr lang="en-GB"/>
              <a:t> malloc </a:t>
            </a:r>
            <a:r>
              <a:rPr lang="zh-CN" altLang="en-US"/>
              <a:t>分配的内存块</a:t>
            </a:r>
            <a:endParaRPr lang="en-GB"/>
          </a:p>
          <a:p>
            <a:r>
              <a:rPr lang="zh-CN" altLang="en-US"/>
              <a:t>显式分配器</a:t>
            </a:r>
            <a:endParaRPr lang="en-GB"/>
          </a:p>
          <a:p>
            <a:pPr lvl="1"/>
            <a:r>
              <a:rPr lang="zh-CN" altLang="en-US"/>
              <a:t>无法控制已分配内存块的数量或大小</a:t>
            </a:r>
            <a:endParaRPr lang="en-GB"/>
          </a:p>
          <a:p>
            <a:pPr lvl="1"/>
            <a:r>
              <a:rPr lang="zh-CN" altLang="en-US"/>
              <a:t>必须立即响应</a:t>
            </a:r>
            <a:r>
              <a:rPr lang="en-GB"/>
              <a:t> malloc </a:t>
            </a:r>
            <a:r>
              <a:rPr lang="zh-CN" altLang="en-US"/>
              <a:t>请求</a:t>
            </a:r>
            <a:endParaRPr lang="en-GB"/>
          </a:p>
          <a:p>
            <a:pPr lvl="2"/>
            <a:r>
              <a:rPr lang="zh-CN" altLang="en-US"/>
              <a:t>即，不能重排序或缓存请求</a:t>
            </a:r>
            <a:endParaRPr lang="en-GB"/>
          </a:p>
          <a:p>
            <a:pPr lvl="1"/>
            <a:r>
              <a:rPr lang="zh-CN" altLang="en-US"/>
              <a:t>必须从空闲内存中分配块</a:t>
            </a:r>
            <a:endParaRPr lang="en-GB"/>
          </a:p>
          <a:p>
            <a:pPr lvl="2"/>
            <a:r>
              <a:rPr lang="zh-CN" altLang="en-US"/>
              <a:t>即，只能把分配的块放到空闲内存中</a:t>
            </a:r>
            <a:endParaRPr lang="en-GB"/>
          </a:p>
          <a:p>
            <a:pPr lvl="1"/>
            <a:r>
              <a:rPr lang="zh-CN" altLang="en-US"/>
              <a:t>必须对齐块以满足所有对齐要求</a:t>
            </a:r>
            <a:endParaRPr lang="en-GB"/>
          </a:p>
          <a:p>
            <a:pPr lvl="2"/>
            <a:r>
              <a:rPr lang="en-US" altLang="zh-CN"/>
              <a:t>64</a:t>
            </a:r>
            <a:r>
              <a:rPr lang="zh-CN" altLang="en-US"/>
              <a:t>位系统上对齐</a:t>
            </a:r>
            <a:r>
              <a:rPr lang="en-GB"/>
              <a:t>16</a:t>
            </a:r>
            <a:r>
              <a:rPr lang="zh-CN" altLang="en-US"/>
              <a:t>字节（</a:t>
            </a:r>
            <a:r>
              <a:rPr lang="en-GB" altLang="zh-CN"/>
              <a:t>x86-64</a:t>
            </a:r>
            <a:r>
              <a:rPr lang="zh-CN" altLang="en-US"/>
              <a:t>）</a:t>
            </a:r>
            <a:endParaRPr lang="en-GB"/>
          </a:p>
          <a:p>
            <a:pPr lvl="1"/>
            <a:r>
              <a:rPr lang="zh-CN" altLang="en-US"/>
              <a:t>只能操作和修改空闲内存</a:t>
            </a:r>
            <a:endParaRPr lang="en-GB"/>
          </a:p>
          <a:p>
            <a:pPr lvl="1"/>
            <a:r>
              <a:rPr lang="zh-CN" altLang="en-US"/>
              <a:t>不能移动已被 </a:t>
            </a:r>
            <a:r>
              <a:rPr lang="en-GB" altLang="zh-CN"/>
              <a:t>malloc </a:t>
            </a:r>
            <a:r>
              <a:rPr lang="zh-CN" altLang="en-US"/>
              <a:t>分配的块</a:t>
            </a:r>
            <a:endParaRPr lang="en-GB"/>
          </a:p>
          <a:p>
            <a:pPr lvl="2"/>
            <a:r>
              <a:rPr lang="zh-CN" altLang="en-US"/>
              <a:t>即，不允许压缩。为什么不允许？</a:t>
            </a:r>
            <a:endParaRPr lang="zh-CN" altLang="en-US" i="1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性能目标：吞吐量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314" name="Rectangle 2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/>
                  <a:t>给定一个</a:t>
                </a:r>
                <a:r>
                  <a:rPr lang="en-GB"/>
                  <a:t> malloc </a:t>
                </a:r>
                <a:r>
                  <a:rPr lang="zh-CN" altLang="en-US"/>
                  <a:t>和</a:t>
                </a:r>
                <a:r>
                  <a:rPr lang="en-GB"/>
                  <a:t> free </a:t>
                </a:r>
                <a:r>
                  <a:rPr lang="zh-CN" altLang="en-US"/>
                  <a:t>请求序列：</a:t>
                </a:r>
                <a:endParaRPr lang="en-GB"/>
              </a:p>
              <a:p>
                <a:pPr lvl="1"/>
                <a:r>
                  <a:rPr lang="en-GB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𝑅</m:t>
                        </m:r>
                      </m:e>
                      <m:sub>
                        <m:r>
                          <a:rPr lang="en-US">
                            <a:latin typeface="DejaVu Math TeX Gyre" panose="02000503000000000000" charset="0"/>
                            <a:ea typeface="SimSun" charset="0"/>
                            <a:cs typeface="DejaVu Math TeX Gyre" panose="02000503000000000000" charset="0"/>
                          </a:rPr>
                          <m:t>0</m:t>
                        </m:r>
                      </m:sub>
                    </m:sSub>
                    <m:r>
                      <a:rPr lang="en-US">
                        <a:latin typeface="DejaVu Math TeX Gyre" panose="02000503000000000000" charset="0"/>
                        <a:ea typeface="SimSun" charset="0"/>
                        <a:cs typeface="DejaVu Math TeX Gyre" panose="02000503000000000000" charset="0"/>
                      </a:rPr>
                      <m:t>, </m:t>
                    </m:r>
                    <m:sSub>
                      <m:sSubPr>
                        <m:ctrlPr>
                          <a:rPr lang="en-US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𝑅</m:t>
                        </m:r>
                      </m:e>
                      <m:sub>
                        <m:r>
                          <a:rPr lang="en-US">
                            <a:latin typeface="DejaVu Math TeX Gyre" panose="02000503000000000000" charset="0"/>
                            <a:ea typeface="SimSun" charset="0"/>
                            <a:cs typeface="DejaVu Math TeX Gyre" panose="02000503000000000000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DejaVu Math TeX Gyre" panose="02000503000000000000" charset="0"/>
                        <a:ea typeface="SimSun" charset="0"/>
                        <a:cs typeface="DejaVu Math TeX Gyre" panose="02000503000000000000" charset="0"/>
                      </a:rPr>
                      <m:t>,…, </m:t>
                    </m:r>
                    <m:sSub>
                      <m:sSubPr>
                        <m:ctrlPr>
                          <a:rPr lang="en-US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𝑅</m:t>
                        </m:r>
                      </m:e>
                      <m:sub>
                        <m:r>
                          <a:rPr lang="en-US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𝑘</m:t>
                        </m:r>
                      </m:sub>
                    </m:sSub>
                    <m:r>
                      <a:rPr lang="en-US">
                        <a:latin typeface="DejaVu Math TeX Gyre" panose="02000503000000000000" charset="0"/>
                        <a:ea typeface="SimSun" charset="0"/>
                        <a:cs typeface="DejaVu Math TeX Gyre" panose="02000503000000000000" charset="0"/>
                      </a:rPr>
                      <m:t>,…,</m:t>
                    </m:r>
                    <m:sSub>
                      <m:sSubPr>
                        <m:ctrlPr>
                          <a:rPr lang="en-US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𝑅</m:t>
                        </m:r>
                      </m:e>
                      <m:sub>
                        <m:r>
                          <a:rPr lang="en-US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𝑛</m:t>
                        </m:r>
                        <m:r>
                          <a:rPr lang="en-US">
                            <a:latin typeface="DejaVu Math TeX Gyre" panose="02000503000000000000" charset="0"/>
                            <a:ea typeface="SimSun" charset="0"/>
                            <a:cs typeface="DejaVu Math TeX Gyre" panose="02000503000000000000" charset="0"/>
                          </a:rPr>
                          <m:t>−</m:t>
                        </m:r>
                        <m:r>
                          <a:rPr lang="en-US">
                            <a:latin typeface="DejaVu Math TeX Gyre" panose="02000503000000000000" charset="0"/>
                            <a:ea typeface="SimSun" charset="0"/>
                            <a:cs typeface="DejaVu Math TeX Gyre" panose="02000503000000000000" charset="0"/>
                          </a:rPr>
                          <m:t>1</m:t>
                        </m:r>
                      </m:sub>
                    </m:sSub>
                  </m:oMath>
                </a14:m>
                <a:endParaRPr lang="en-GB"/>
              </a:p>
              <a:p>
                <a:endParaRPr lang="en-GB"/>
              </a:p>
              <a:p>
                <a:r>
                  <a:rPr lang="zh-CN" altLang="en-US"/>
                  <a:t>目标：最大化吞吐量和内存利用率峰值</a:t>
                </a:r>
                <a:endParaRPr lang="en-GB"/>
              </a:p>
              <a:p>
                <a:pPr lvl="1"/>
                <a:r>
                  <a:rPr lang="zh-CN" altLang="en-US"/>
                  <a:t>这些目标往往是相互冲突的</a:t>
                </a:r>
                <a:endParaRPr lang="en-GB"/>
              </a:p>
              <a:p>
                <a:endParaRPr lang="en-GB"/>
              </a:p>
              <a:p>
                <a:r>
                  <a:rPr lang="zh-CN" altLang="en-US"/>
                  <a:t>吞吐量：</a:t>
                </a:r>
                <a:endParaRPr lang="en-GB"/>
              </a:p>
              <a:p>
                <a:pPr lvl="1"/>
                <a:r>
                  <a:rPr lang="zh-CN" altLang="en-US"/>
                  <a:t>每单位时间完成的请求数量</a:t>
                </a:r>
                <a:endParaRPr lang="en-GB"/>
              </a:p>
              <a:p>
                <a:pPr lvl="1"/>
                <a:r>
                  <a:rPr lang="zh-CN" altLang="en-US"/>
                  <a:t>示例：</a:t>
                </a:r>
                <a:endParaRPr lang="en-GB"/>
              </a:p>
              <a:p>
                <a:pPr lvl="2"/>
                <a:r>
                  <a:rPr lang="en-US" altLang="zh-CN"/>
                  <a:t>10</a:t>
                </a:r>
                <a:r>
                  <a:rPr lang="zh-CN" altLang="en-US"/>
                  <a:t>秒内进行了</a:t>
                </a:r>
                <a:r>
                  <a:rPr lang="en-GB"/>
                  <a:t>5,000</a:t>
                </a:r>
                <a:r>
                  <a:rPr lang="zh-CN" altLang="en-US"/>
                  <a:t>次</a:t>
                </a:r>
                <a:r>
                  <a:rPr lang="en-GB"/>
                  <a:t>  malloc </a:t>
                </a:r>
                <a:r>
                  <a:rPr lang="zh-CN" altLang="en-US"/>
                  <a:t>调用和</a:t>
                </a:r>
                <a:r>
                  <a:rPr lang="en-GB"/>
                  <a:t> 5,000 free </a:t>
                </a:r>
                <a:r>
                  <a:rPr lang="zh-CN" altLang="en-US"/>
                  <a:t>调用</a:t>
                </a:r>
                <a:r>
                  <a:rPr lang="en-GB"/>
                  <a:t> </a:t>
                </a:r>
                <a:endParaRPr lang="en-GB"/>
              </a:p>
              <a:p>
                <a:pPr lvl="2"/>
                <a:r>
                  <a:rPr lang="zh-CN" altLang="en-US"/>
                  <a:t>吞吐量为</a:t>
                </a:r>
                <a:r>
                  <a:rPr lang="en-GB"/>
                  <a:t> 1,000 </a:t>
                </a:r>
                <a:r>
                  <a:rPr lang="zh-CN" altLang="en-US"/>
                  <a:t>次操作</a:t>
                </a:r>
                <a:r>
                  <a:rPr lang="en-GB"/>
                  <a:t>/</a:t>
                </a:r>
                <a:r>
                  <a:rPr lang="zh-CN" altLang="en-US"/>
                  <a:t>秒</a:t>
                </a:r>
                <a:endParaRPr lang="zh-CN" altLang="en-US"/>
              </a:p>
            </p:txBody>
          </p:sp>
        </mc:Choice>
        <mc:Fallback>
          <p:sp>
            <p:nvSpPr>
              <p:cNvPr id="13314" name="Rectangle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1"/>
                <a:stretch>
                  <a:fillRect l="-2" r="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 noGrp="1" noChangeArrowheads="1"/>
          </p:cNvSpPr>
          <p:nvPr>
            <p:ph type="title"/>
          </p:nvPr>
        </p:nvSpPr>
        <p:spPr>
          <a:xfrm>
            <a:off x="1905000" y="228601"/>
            <a:ext cx="8699500" cy="1096963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dirty="0" smtClean="0"/>
              <a:t>性能目</a:t>
            </a:r>
            <a:r>
              <a:rPr lang="zh-CN" altLang="en-US" dirty="0"/>
              <a:t>标：最小化开销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338" name="Rectangle 2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956310" y="1295400"/>
                <a:ext cx="10228580" cy="5216525"/>
              </a:xfrm>
            </p:spPr>
            <p:txBody>
              <a:bodyPr/>
              <a:lstStyle/>
              <a:p>
                <a:pPr>
                  <a:lnSpc>
                    <a:spcPct val="83000"/>
                  </a:lnSpc>
                  <a:tabLst>
                    <a:tab pos="318770" algn="l"/>
                    <a:tab pos="845820" algn="l"/>
                    <a:tab pos="1760220" algn="l"/>
                    <a:tab pos="2674620" algn="l"/>
                    <a:tab pos="3589020" algn="l"/>
                    <a:tab pos="4503420" algn="l"/>
                    <a:tab pos="5417820" algn="l"/>
                    <a:tab pos="6332220" algn="l"/>
                    <a:tab pos="7246620" algn="l"/>
                    <a:tab pos="8161020" algn="l"/>
                    <a:tab pos="9075420" algn="l"/>
                    <a:tab pos="9989820" algn="l"/>
                  </a:tabLst>
                </a:pPr>
                <a:r>
                  <a:rPr lang="zh-CN" altLang="en-US" dirty="0"/>
                  <a:t>给定一个</a:t>
                </a:r>
                <a:r>
                  <a:rPr lang="en-GB" altLang="zh-CN" dirty="0"/>
                  <a:t> </a:t>
                </a:r>
                <a:r>
                  <a:rPr lang="en-GB" altLang="zh-CN" dirty="0" err="1">
                    <a:latin typeface="Courier New" panose="02070609020205020404" pitchFamily="49" charset="0"/>
                  </a:rPr>
                  <a:t>malloc</a:t>
                </a:r>
                <a:r>
                  <a:rPr lang="en-GB" altLang="zh-CN" dirty="0"/>
                  <a:t> </a:t>
                </a:r>
                <a:r>
                  <a:rPr lang="zh-CN" altLang="en-US" dirty="0"/>
                  <a:t>和</a:t>
                </a:r>
                <a:r>
                  <a:rPr lang="en-GB" altLang="zh-CN" dirty="0"/>
                  <a:t> </a:t>
                </a:r>
                <a:r>
                  <a:rPr lang="en-GB" altLang="zh-CN" dirty="0">
                    <a:latin typeface="Courier New" panose="02070609020205020404" pitchFamily="49" charset="0"/>
                  </a:rPr>
                  <a:t>free</a:t>
                </a:r>
                <a:r>
                  <a:rPr lang="en-GB" altLang="zh-CN" dirty="0"/>
                  <a:t> </a:t>
                </a:r>
                <a:r>
                  <a:rPr lang="zh-CN" altLang="en-US" dirty="0"/>
                  <a:t>请求序列</a:t>
                </a:r>
                <a:r>
                  <a:rPr lang="zh-CN" altLang="en-US" dirty="0" smtClean="0"/>
                  <a:t>：</a:t>
                </a:r>
                <a:endParaRPr lang="en-GB" dirty="0"/>
              </a:p>
              <a:p>
                <a:pPr lvl="1">
                  <a:lnSpc>
                    <a:spcPct val="88000"/>
                  </a:lnSpc>
                  <a:tabLst>
                    <a:tab pos="318770" algn="l"/>
                    <a:tab pos="845820" algn="l"/>
                    <a:tab pos="1760220" algn="l"/>
                    <a:tab pos="2674620" algn="l"/>
                    <a:tab pos="3589020" algn="l"/>
                    <a:tab pos="4503420" algn="l"/>
                    <a:tab pos="5417820" algn="l"/>
                    <a:tab pos="6332220" algn="l"/>
                    <a:tab pos="7246620" algn="l"/>
                    <a:tab pos="8161020" algn="l"/>
                    <a:tab pos="9075420" algn="l"/>
                    <a:tab pos="998982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GB" sz="1200" i="1" dirty="0"/>
              </a:p>
              <a:p>
                <a:pPr>
                  <a:lnSpc>
                    <a:spcPct val="83000"/>
                  </a:lnSpc>
                  <a:spcBef>
                    <a:spcPts val="1800"/>
                  </a:spcBef>
                  <a:tabLst>
                    <a:tab pos="318770" algn="l"/>
                    <a:tab pos="845820" algn="l"/>
                    <a:tab pos="1760220" algn="l"/>
                    <a:tab pos="2674620" algn="l"/>
                    <a:tab pos="3589020" algn="l"/>
                    <a:tab pos="4503420" algn="l"/>
                    <a:tab pos="5417820" algn="l"/>
                    <a:tab pos="6332220" algn="l"/>
                    <a:tab pos="7246620" algn="l"/>
                    <a:tab pos="8161020" algn="l"/>
                    <a:tab pos="9075420" algn="l"/>
                    <a:tab pos="9989820" algn="l"/>
                  </a:tabLst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i="1" dirty="0" smtClean="0"/>
                  <a:t>个请求后：</a:t>
                </a:r>
                <a:endParaRPr lang="en-GB" i="1" dirty="0">
                  <a:solidFill>
                    <a:srgbClr val="C00000"/>
                  </a:solidFill>
                </a:endParaRPr>
              </a:p>
              <a:p>
                <a:pPr>
                  <a:lnSpc>
                    <a:spcPct val="83000"/>
                  </a:lnSpc>
                  <a:spcBef>
                    <a:spcPts val="1800"/>
                  </a:spcBef>
                  <a:tabLst>
                    <a:tab pos="318770" algn="l"/>
                    <a:tab pos="845820" algn="l"/>
                    <a:tab pos="1760220" algn="l"/>
                    <a:tab pos="2674620" algn="l"/>
                    <a:tab pos="3589020" algn="l"/>
                    <a:tab pos="4503420" algn="l"/>
                    <a:tab pos="5417820" algn="l"/>
                    <a:tab pos="6332220" algn="l"/>
                    <a:tab pos="7246620" algn="l"/>
                    <a:tab pos="8161020" algn="l"/>
                    <a:tab pos="9075420" algn="l"/>
                    <a:tab pos="9989820" algn="l"/>
                  </a:tabLst>
                </a:pPr>
                <a:r>
                  <a:rPr lang="zh-CN" altLang="en-US" i="1" dirty="0" smtClean="0">
                    <a:solidFill>
                      <a:srgbClr val="C00000"/>
                    </a:solidFill>
                  </a:rPr>
                  <a:t>定义：</a:t>
                </a:r>
                <a:r>
                  <a:rPr lang="en-GB" i="1" dirty="0" smtClean="0"/>
                  <a:t> </a:t>
                </a:r>
                <a:r>
                  <a:rPr lang="zh-CN" altLang="en-US" i="1" dirty="0" smtClean="0"/>
                  <a:t>总负载</a:t>
                </a:r>
                <a:r>
                  <a:rPr lang="en-GB" i="1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en-GB" dirty="0"/>
                  <a:t> </a:t>
                </a:r>
                <a:endParaRPr lang="en-GB" dirty="0"/>
              </a:p>
              <a:p>
                <a:pPr lvl="1">
                  <a:lnSpc>
                    <a:spcPct val="88000"/>
                  </a:lnSpc>
                  <a:tabLst>
                    <a:tab pos="318770" algn="l"/>
                    <a:tab pos="845820" algn="l"/>
                    <a:tab pos="1760220" algn="l"/>
                    <a:tab pos="2674620" algn="l"/>
                    <a:tab pos="3589020" algn="l"/>
                    <a:tab pos="4503420" algn="l"/>
                    <a:tab pos="5417820" algn="l"/>
                    <a:tab pos="6332220" algn="l"/>
                    <a:tab pos="7246620" algn="l"/>
                    <a:tab pos="8161020" algn="l"/>
                    <a:tab pos="9075420" algn="l"/>
                    <a:tab pos="9989820" algn="l"/>
                  </a:tabLst>
                </a:pPr>
                <a:r>
                  <a:rPr lang="en-GB" dirty="0"/>
                  <a:t> </a:t>
                </a:r>
                <a:r>
                  <a:rPr lang="en-GB" b="1" dirty="0">
                    <a:latin typeface="Courier New" panose="02070609020205020404" pitchFamily="49" charset="0"/>
                  </a:rPr>
                  <a:t>malloc(p)</a:t>
                </a:r>
                <a:r>
                  <a:rPr lang="en-GB" dirty="0"/>
                  <a:t> </a:t>
                </a:r>
                <a:r>
                  <a:rPr lang="zh-CN" altLang="en-US" dirty="0" smtClean="0"/>
                  <a:t>生成一个</a:t>
                </a:r>
                <a:r>
                  <a:rPr lang="zh-CN" altLang="en-US" b="1" i="1" dirty="0">
                    <a:solidFill>
                      <a:srgbClr val="C00000"/>
                    </a:solidFill>
                  </a:rPr>
                  <a:t>有效</a:t>
                </a:r>
                <a:r>
                  <a:rPr lang="zh-CN" altLang="en-US" b="1" i="1" dirty="0" smtClean="0">
                    <a:solidFill>
                      <a:srgbClr val="C00000"/>
                    </a:solidFill>
                  </a:rPr>
                  <a:t>负载 </a:t>
                </a:r>
                <a:r>
                  <a:rPr lang="zh-CN" altLang="en-US" dirty="0" smtClean="0"/>
                  <a:t>为</a:t>
                </a:r>
                <a:r>
                  <a:rPr lang="en-GB" dirty="0" smtClean="0"/>
                  <a:t> </a:t>
                </a:r>
                <a:r>
                  <a:rPr lang="en-GB" b="1" dirty="0">
                    <a:latin typeface="Courier New" panose="02070609020205020404" pitchFamily="49" charset="0"/>
                  </a:rPr>
                  <a:t>p</a:t>
                </a:r>
                <a:r>
                  <a:rPr lang="en-GB" dirty="0"/>
                  <a:t> </a:t>
                </a:r>
                <a:r>
                  <a:rPr lang="zh-CN" altLang="en-US" dirty="0" smtClean="0"/>
                  <a:t>字节的内存块</a:t>
                </a:r>
                <a:endParaRPr lang="en-GB" dirty="0"/>
              </a:p>
              <a:p>
                <a:pPr lvl="1">
                  <a:lnSpc>
                    <a:spcPct val="88000"/>
                  </a:lnSpc>
                  <a:tabLst>
                    <a:tab pos="318770" algn="l"/>
                    <a:tab pos="845820" algn="l"/>
                    <a:tab pos="1760220" algn="l"/>
                    <a:tab pos="2674620" algn="l"/>
                    <a:tab pos="3589020" algn="l"/>
                    <a:tab pos="4503420" algn="l"/>
                    <a:tab pos="5417820" algn="l"/>
                    <a:tab pos="6332220" algn="l"/>
                    <a:tab pos="7246620" algn="l"/>
                    <a:tab pos="8161020" algn="l"/>
                    <a:tab pos="9075420" algn="l"/>
                    <a:tab pos="9989820" algn="l"/>
                  </a:tabLst>
                </a:pPr>
                <a:r>
                  <a:rPr lang="zh-CN" altLang="en-US" b="1" i="1" dirty="0" smtClean="0">
                    <a:solidFill>
                      <a:srgbClr val="C00000"/>
                    </a:solidFill>
                  </a:rPr>
                  <a:t>总负载</a:t>
                </a:r>
                <a:r>
                  <a:rPr lang="en-GB" b="1" i="1" dirty="0" smtClean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GB" dirty="0"/>
                  <a:t> </a:t>
                </a:r>
                <a:r>
                  <a:rPr lang="zh-CN" altLang="en-US" dirty="0" smtClean="0"/>
                  <a:t>是当前分配的有效负载的总和</a:t>
                </a:r>
                <a:r>
                  <a:rPr lang="en-GB" dirty="0" smtClean="0"/>
                  <a:t> </a:t>
                </a:r>
                <a:endParaRPr lang="en-GB" dirty="0"/>
              </a:p>
              <a:p>
                <a:pPr lvl="1">
                  <a:lnSpc>
                    <a:spcPct val="88000"/>
                  </a:lnSpc>
                  <a:tabLst>
                    <a:tab pos="318770" algn="l"/>
                    <a:tab pos="845820" algn="l"/>
                    <a:tab pos="1760220" algn="l"/>
                    <a:tab pos="2674620" algn="l"/>
                    <a:tab pos="3589020" algn="l"/>
                    <a:tab pos="4503420" algn="l"/>
                    <a:tab pos="5417820" algn="l"/>
                    <a:tab pos="6332220" algn="l"/>
                    <a:tab pos="7246620" algn="l"/>
                    <a:tab pos="8161020" algn="l"/>
                    <a:tab pos="9075420" algn="l"/>
                    <a:tab pos="9989820" algn="l"/>
                  </a:tabLst>
                </a:pPr>
                <a:r>
                  <a:rPr lang="zh-CN" altLang="en-US" b="1" i="1" dirty="0" smtClean="0">
                    <a:solidFill>
                      <a:srgbClr val="C00000"/>
                    </a:solidFill>
                  </a:rPr>
                  <a:t>总负载峰值</a:t>
                </a:r>
                <a:r>
                  <a:rPr lang="en-GB" dirty="0" smtClean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 smtClean="0"/>
                  <a:t>是在之前请求序列中任意点的最大总负载</a:t>
                </a:r>
                <a:r>
                  <a:rPr lang="en-GB" dirty="0" smtClean="0"/>
                  <a:t> </a:t>
                </a:r>
                <a:endParaRPr lang="en-GB" dirty="0"/>
              </a:p>
              <a:p>
                <a:pPr>
                  <a:lnSpc>
                    <a:spcPct val="83000"/>
                  </a:lnSpc>
                  <a:spcBef>
                    <a:spcPts val="1800"/>
                  </a:spcBef>
                  <a:tabLst>
                    <a:tab pos="318770" algn="l"/>
                    <a:tab pos="845820" algn="l"/>
                    <a:tab pos="1760220" algn="l"/>
                    <a:tab pos="2674620" algn="l"/>
                    <a:tab pos="3589020" algn="l"/>
                    <a:tab pos="4503420" algn="l"/>
                    <a:tab pos="5417820" algn="l"/>
                    <a:tab pos="6332220" algn="l"/>
                    <a:tab pos="7246620" algn="l"/>
                    <a:tab pos="8161020" algn="l"/>
                    <a:tab pos="9075420" algn="l"/>
                    <a:tab pos="9989820" algn="l"/>
                  </a:tabLst>
                </a:pPr>
                <a:r>
                  <a:rPr lang="zh-CN" altLang="en-US" i="1" dirty="0" smtClean="0">
                    <a:solidFill>
                      <a:srgbClr val="C00000"/>
                    </a:solidFill>
                  </a:rPr>
                  <a:t>定义：</a:t>
                </a:r>
                <a:r>
                  <a:rPr lang="zh-CN" altLang="en-US" i="1" dirty="0" smtClean="0"/>
                  <a:t>当前堆大小</a:t>
                </a:r>
                <a:r>
                  <a:rPr lang="en-GB" i="1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endParaRPr lang="en-GB" i="1" baseline="-25000" dirty="0"/>
              </a:p>
              <a:p>
                <a:pPr lvl="1">
                  <a:lnSpc>
                    <a:spcPct val="88000"/>
                  </a:lnSpc>
                  <a:tabLst>
                    <a:tab pos="318770" algn="l"/>
                    <a:tab pos="845820" algn="l"/>
                    <a:tab pos="1760220" algn="l"/>
                    <a:tab pos="2674620" algn="l"/>
                    <a:tab pos="3589020" algn="l"/>
                    <a:tab pos="4503420" algn="l"/>
                    <a:tab pos="5417820" algn="l"/>
                    <a:tab pos="6332220" algn="l"/>
                    <a:tab pos="7246620" algn="l"/>
                    <a:tab pos="8161020" algn="l"/>
                    <a:tab pos="9075420" algn="l"/>
                    <a:tab pos="9989820" algn="l"/>
                  </a:tabLst>
                </a:pPr>
                <a:r>
                  <a:rPr lang="zh-CN" altLang="en-US" dirty="0" smtClean="0"/>
                  <a:t>假设分配器使用</a:t>
                </a:r>
                <a:r>
                  <a:rPr lang="en-GB" altLang="zh-CN" b="1" dirty="0" err="1">
                    <a:latin typeface="Courier New" panose="02070609020205020404" pitchFamily="49" charset="0"/>
                  </a:rPr>
                  <a:t>sbrk</a:t>
                </a:r>
                <a:r>
                  <a:rPr lang="zh-CN" altLang="en-US" dirty="0" smtClean="0"/>
                  <a:t>时，堆只扩展不收缩</a:t>
                </a:r>
                <a:endParaRPr lang="en-GB" dirty="0">
                  <a:cs typeface="Calibri" pitchFamily="34" charset="0"/>
                </a:endParaRPr>
              </a:p>
              <a:p>
                <a:pPr>
                  <a:lnSpc>
                    <a:spcPct val="83000"/>
                  </a:lnSpc>
                  <a:spcBef>
                    <a:spcPts val="1800"/>
                  </a:spcBef>
                  <a:tabLst>
                    <a:tab pos="318770" algn="l"/>
                    <a:tab pos="845820" algn="l"/>
                    <a:tab pos="1760220" algn="l"/>
                    <a:tab pos="2674620" algn="l"/>
                    <a:tab pos="3589020" algn="l"/>
                    <a:tab pos="4503420" algn="l"/>
                    <a:tab pos="5417820" algn="l"/>
                    <a:tab pos="6332220" algn="l"/>
                    <a:tab pos="7246620" algn="l"/>
                    <a:tab pos="8161020" algn="l"/>
                    <a:tab pos="9075420" algn="l"/>
                    <a:tab pos="9989820" algn="l"/>
                  </a:tabLst>
                </a:pPr>
                <a:r>
                  <a:rPr lang="zh-CN" altLang="en-US" i="1" dirty="0" smtClean="0">
                    <a:solidFill>
                      <a:srgbClr val="C00000"/>
                    </a:solidFill>
                  </a:rPr>
                  <a:t>定义：</a:t>
                </a:r>
                <a:r>
                  <a:rPr lang="zh-CN" altLang="en-US" i="1" dirty="0" smtClean="0"/>
                  <a:t>开销</a:t>
                </a:r>
                <a:r>
                  <a:rPr lang="en-GB" i="1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endParaRPr lang="en-GB" i="1" dirty="0"/>
              </a:p>
              <a:p>
                <a:pPr lvl="1">
                  <a:lnSpc>
                    <a:spcPct val="83000"/>
                  </a:lnSpc>
                  <a:spcBef>
                    <a:spcPts val="480"/>
                  </a:spcBef>
                  <a:tabLst>
                    <a:tab pos="318770" algn="l"/>
                    <a:tab pos="845820" algn="l"/>
                    <a:tab pos="1760220" algn="l"/>
                    <a:tab pos="2674620" algn="l"/>
                    <a:tab pos="3589020" algn="l"/>
                    <a:tab pos="4503420" algn="l"/>
                    <a:tab pos="5417820" algn="l"/>
                    <a:tab pos="6332220" algn="l"/>
                    <a:tab pos="7246620" algn="l"/>
                    <a:tab pos="8161020" algn="l"/>
                    <a:tab pos="9075420" algn="l"/>
                    <a:tab pos="9989820" algn="l"/>
                  </a:tabLst>
                </a:pPr>
                <a:r>
                  <a:rPr lang="zh-CN" altLang="en-US" b="1" dirty="0" smtClean="0"/>
                  <a:t>未</a:t>
                </a:r>
                <a:r>
                  <a:rPr lang="zh-CN" altLang="en-US" dirty="0" smtClean="0"/>
                  <a:t>用于程序数据的堆空间比例</a:t>
                </a:r>
                <a:endParaRPr lang="en-GB" dirty="0"/>
              </a:p>
              <a:p>
                <a:pPr lvl="1">
                  <a:lnSpc>
                    <a:spcPct val="95000"/>
                  </a:lnSpc>
                  <a:tabLst>
                    <a:tab pos="318770" algn="l"/>
                    <a:tab pos="845820" algn="l"/>
                    <a:tab pos="1760220" algn="l"/>
                    <a:tab pos="2674620" algn="l"/>
                    <a:tab pos="3589020" algn="l"/>
                    <a:tab pos="4503420" algn="l"/>
                    <a:tab pos="5417820" algn="l"/>
                    <a:tab pos="6332220" algn="l"/>
                    <a:tab pos="7246620" algn="l"/>
                    <a:tab pos="8161020" algn="l"/>
                    <a:tab pos="9075420" algn="l"/>
                    <a:tab pos="998982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f>
                      <m:fPr>
                        <m:type m:val="li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func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)−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baseline="-25000" dirty="0"/>
              </a:p>
            </p:txBody>
          </p:sp>
        </mc:Choice>
        <mc:Fallback>
          <p:sp>
            <p:nvSpPr>
              <p:cNvPr id="14338" name="Rectangle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956310" y="1295400"/>
                <a:ext cx="10228580" cy="5216525"/>
              </a:xfrm>
              <a:blipFill rotWithShape="1">
                <a:blip r:embed="rId1"/>
                <a:stretch>
                  <a:fillRect t="-329" b="-253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基准测试示例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5985" y="1371600"/>
            <a:ext cx="4345940" cy="4972050"/>
          </a:xfrm>
        </p:spPr>
        <p:txBody>
          <a:bodyPr/>
          <a:lstStyle/>
          <a:p>
            <a:r>
              <a:rPr lang="zh-CN" altLang="en-US" dirty="0"/>
              <a:t>基准测</a:t>
            </a:r>
            <a:r>
              <a:rPr lang="zh-CN" altLang="en-US" dirty="0" smtClean="0"/>
              <a:t>试</a:t>
            </a:r>
            <a:r>
              <a:rPr lang="en-US" dirty="0" smtClean="0"/>
              <a:t>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dirty="0" err="1"/>
              <a:t>syn</a:t>
            </a:r>
            <a:r>
              <a:rPr lang="en-US" dirty="0"/>
              <a:t>-array-short</a:t>
            </a:r>
            <a:endParaRPr lang="en-US" dirty="0"/>
          </a:p>
          <a:p>
            <a:pPr lvl="1"/>
            <a:r>
              <a:rPr lang="zh-CN" altLang="en-US" dirty="0" smtClean="0"/>
              <a:t>在</a:t>
            </a:r>
            <a:r>
              <a:rPr lang="en-US" altLang="zh-CN" dirty="0" err="1" smtClean="0"/>
              <a:t>malloc</a:t>
            </a:r>
            <a:r>
              <a:rPr lang="zh-CN" altLang="en-US" dirty="0" smtClean="0"/>
              <a:t>实验中提供的跟踪</a:t>
            </a:r>
            <a:endParaRPr lang="en-US" dirty="0"/>
          </a:p>
          <a:p>
            <a:pPr lvl="1"/>
            <a:r>
              <a:rPr lang="zh-CN" altLang="en-US" dirty="0" smtClean="0"/>
              <a:t>分配和释放</a:t>
            </a:r>
            <a:r>
              <a:rPr lang="en-US" altLang="zh-CN" dirty="0" smtClean="0"/>
              <a:t>10</a:t>
            </a:r>
            <a:r>
              <a:rPr lang="zh-CN" altLang="en-US" dirty="0" smtClean="0"/>
              <a:t>个块</a:t>
            </a:r>
            <a:endParaRPr lang="en-US" dirty="0"/>
          </a:p>
          <a:p>
            <a:pPr lvl="1"/>
            <a:r>
              <a:rPr lang="en-US" dirty="0"/>
              <a:t>a = </a:t>
            </a:r>
            <a:r>
              <a:rPr lang="zh-CN" altLang="en-US" dirty="0" smtClean="0"/>
              <a:t>分配</a:t>
            </a:r>
            <a:endParaRPr lang="en-US" dirty="0" smtClean="0"/>
          </a:p>
          <a:p>
            <a:pPr lvl="1"/>
            <a:r>
              <a:rPr lang="en-US" dirty="0" smtClean="0"/>
              <a:t>f = </a:t>
            </a:r>
            <a:r>
              <a:rPr lang="zh-CN" altLang="en-US" dirty="0" smtClean="0"/>
              <a:t>释放</a:t>
            </a:r>
            <a:endParaRPr lang="en-US" dirty="0" smtClean="0"/>
          </a:p>
          <a:p>
            <a:pPr lvl="1"/>
            <a:r>
              <a:rPr lang="zh-CN" altLang="en-US" dirty="0" smtClean="0"/>
              <a:t>倾向于开始时分配，结束时释放</a:t>
            </a:r>
            <a:endParaRPr lang="en-US" dirty="0"/>
          </a:p>
          <a:p>
            <a:pPr lvl="1"/>
            <a:r>
              <a:rPr lang="zh-CN" altLang="en-US" dirty="0" smtClean="0"/>
              <a:t>块编号为</a:t>
            </a:r>
            <a:r>
              <a:rPr lang="en-US" dirty="0" smtClean="0"/>
              <a:t> </a:t>
            </a:r>
            <a:r>
              <a:rPr lang="en-US" dirty="0"/>
              <a:t>1–10</a:t>
            </a:r>
            <a:endParaRPr lang="en-US" dirty="0"/>
          </a:p>
          <a:p>
            <a:pPr lvl="1"/>
            <a:r>
              <a:rPr lang="en-US" dirty="0" smtClean="0"/>
              <a:t>Allocated</a:t>
            </a:r>
            <a:r>
              <a:rPr lang="zh-CN" altLang="en-US" dirty="0" smtClean="0"/>
              <a:t>：所有已分配的总和</a:t>
            </a:r>
            <a:endParaRPr lang="en-US" dirty="0"/>
          </a:p>
          <a:p>
            <a:pPr lvl="1"/>
            <a:r>
              <a:rPr lang="en-US" dirty="0" smtClean="0"/>
              <a:t>Peak</a:t>
            </a:r>
            <a:r>
              <a:rPr lang="zh-CN" altLang="en-US" dirty="0" smtClean="0"/>
              <a:t>：当前已分配的最大值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562600" y="1197679"/>
          <a:ext cx="4800598" cy="53206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1276"/>
                <a:gridCol w="1243213"/>
                <a:gridCol w="784018"/>
                <a:gridCol w="1095163"/>
                <a:gridCol w="1086928"/>
              </a:tblGrid>
              <a:tr h="25336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Step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Command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Delta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Allocated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Peak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effectLst/>
                          <a:latin typeface="Courier New" panose="02070609020205020404" pitchFamily="49" charset="0"/>
                          <a:cs typeface="Courier New" panose="02070609020205020404" pitchFamily="49" charset="0"/>
                        </a:rPr>
                        <a:t>a 0 9904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609020205020404" pitchFamily="49" charset="0"/>
                        <a:cs typeface="Courier New" panose="02070609020205020404" pitchFamily="49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9904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9904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9904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effectLst/>
                          <a:latin typeface="Courier New" panose="02070609020205020404" pitchFamily="49" charset="0"/>
                          <a:cs typeface="Courier New" panose="02070609020205020404" pitchFamily="49" charset="0"/>
                        </a:rPr>
                        <a:t>a 1 50084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609020205020404" pitchFamily="49" charset="0"/>
                        <a:cs typeface="Courier New" panose="02070609020205020404" pitchFamily="49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50084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59988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59988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effectLst/>
                          <a:latin typeface="Courier New" panose="02070609020205020404" pitchFamily="49" charset="0"/>
                          <a:cs typeface="Courier New" panose="02070609020205020404" pitchFamily="49" charset="0"/>
                        </a:rPr>
                        <a:t>a 2 20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609020205020404" pitchFamily="49" charset="0"/>
                        <a:cs typeface="Courier New" panose="02070609020205020404" pitchFamily="49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60008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60008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effectLst/>
                          <a:latin typeface="Courier New" panose="02070609020205020404" pitchFamily="49" charset="0"/>
                          <a:cs typeface="Courier New" panose="02070609020205020404" pitchFamily="49" charset="0"/>
                        </a:rPr>
                        <a:t>a 3 16784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609020205020404" pitchFamily="49" charset="0"/>
                        <a:cs typeface="Courier New" panose="02070609020205020404" pitchFamily="49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16784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76792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76792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effectLst/>
                          <a:latin typeface="Courier New" panose="02070609020205020404" pitchFamily="49" charset="0"/>
                          <a:cs typeface="Courier New" panose="02070609020205020404" pitchFamily="49" charset="0"/>
                        </a:rPr>
                        <a:t>f 3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609020205020404" pitchFamily="49" charset="0"/>
                        <a:cs typeface="Courier New" panose="02070609020205020404" pitchFamily="49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-16784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60008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76792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effectLst/>
                          <a:latin typeface="Courier New" panose="02070609020205020404" pitchFamily="49" charset="0"/>
                          <a:cs typeface="Courier New" panose="02070609020205020404" pitchFamily="49" charset="0"/>
                        </a:rPr>
                        <a:t>a 4 840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609020205020404" pitchFamily="49" charset="0"/>
                        <a:cs typeface="Courier New" panose="02070609020205020404" pitchFamily="49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840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60848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76792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7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effectLst/>
                          <a:latin typeface="Courier New" panose="02070609020205020404" pitchFamily="49" charset="0"/>
                          <a:cs typeface="Courier New" panose="02070609020205020404" pitchFamily="49" charset="0"/>
                        </a:rPr>
                        <a:t>a 5 3244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609020205020404" pitchFamily="49" charset="0"/>
                        <a:cs typeface="Courier New" panose="02070609020205020404" pitchFamily="49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3244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64092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76792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effectLst/>
                          <a:latin typeface="Courier New" panose="02070609020205020404" pitchFamily="49" charset="0"/>
                          <a:cs typeface="Courier New" panose="02070609020205020404" pitchFamily="49" charset="0"/>
                        </a:rPr>
                        <a:t>f 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609020205020404" pitchFamily="49" charset="0"/>
                        <a:cs typeface="Courier New" panose="02070609020205020404" pitchFamily="49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-9904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54188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76792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effectLst/>
                          <a:latin typeface="Courier New" panose="02070609020205020404" pitchFamily="49" charset="0"/>
                          <a:cs typeface="Courier New" panose="02070609020205020404" pitchFamily="49" charset="0"/>
                        </a:rPr>
                        <a:t>a 6 2012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609020205020404" pitchFamily="49" charset="0"/>
                        <a:cs typeface="Courier New" panose="02070609020205020404" pitchFamily="49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2012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56200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76792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10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effectLst/>
                          <a:latin typeface="Courier New" panose="02070609020205020404" pitchFamily="49" charset="0"/>
                          <a:cs typeface="Courier New" panose="02070609020205020404" pitchFamily="49" charset="0"/>
                        </a:rPr>
                        <a:t>f 2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609020205020404" pitchFamily="49" charset="0"/>
                        <a:cs typeface="Courier New" panose="02070609020205020404" pitchFamily="49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-20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56180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76792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11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effectLst/>
                          <a:latin typeface="Courier New" panose="02070609020205020404" pitchFamily="49" charset="0"/>
                          <a:cs typeface="Courier New" panose="02070609020205020404" pitchFamily="49" charset="0"/>
                        </a:rPr>
                        <a:t>a 7 33856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609020205020404" pitchFamily="49" charset="0"/>
                        <a:cs typeface="Courier New" panose="02070609020205020404" pitchFamily="49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33856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90036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90036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effectLst/>
                          <a:latin typeface="Courier New" panose="02070609020205020404" pitchFamily="49" charset="0"/>
                          <a:cs typeface="Courier New" panose="02070609020205020404" pitchFamily="49" charset="0"/>
                        </a:rPr>
                        <a:t>f 1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609020205020404" pitchFamily="49" charset="0"/>
                        <a:cs typeface="Courier New" panose="02070609020205020404" pitchFamily="49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-50084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39952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90036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13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effectLst/>
                          <a:latin typeface="Courier New" panose="02070609020205020404" pitchFamily="49" charset="0"/>
                          <a:cs typeface="Courier New" panose="02070609020205020404" pitchFamily="49" charset="0"/>
                        </a:rPr>
                        <a:t>a 8 136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609020205020404" pitchFamily="49" charset="0"/>
                        <a:cs typeface="Courier New" panose="02070609020205020404" pitchFamily="49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136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40088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90036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14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effectLst/>
                          <a:latin typeface="Courier New" panose="02070609020205020404" pitchFamily="49" charset="0"/>
                          <a:cs typeface="Courier New" panose="02070609020205020404" pitchFamily="49" charset="0"/>
                        </a:rPr>
                        <a:t>f 7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609020205020404" pitchFamily="49" charset="0"/>
                        <a:cs typeface="Courier New" panose="02070609020205020404" pitchFamily="49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-33856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6232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90036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effectLst/>
                          <a:latin typeface="Courier New" panose="02070609020205020404" pitchFamily="49" charset="0"/>
                          <a:cs typeface="Courier New" panose="02070609020205020404" pitchFamily="49" charset="0"/>
                        </a:rPr>
                        <a:t>f 6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609020205020404" pitchFamily="49" charset="0"/>
                        <a:cs typeface="Courier New" panose="02070609020205020404" pitchFamily="49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-2012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4220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90036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16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effectLst/>
                          <a:latin typeface="Courier New" panose="02070609020205020404" pitchFamily="49" charset="0"/>
                          <a:cs typeface="Courier New" panose="02070609020205020404" pitchFamily="49" charset="0"/>
                        </a:rPr>
                        <a:t>a 9 20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609020205020404" pitchFamily="49" charset="0"/>
                        <a:cs typeface="Courier New" panose="02070609020205020404" pitchFamily="49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4240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90036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17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effectLst/>
                          <a:latin typeface="Courier New" panose="02070609020205020404" pitchFamily="49" charset="0"/>
                          <a:cs typeface="Courier New" panose="02070609020205020404" pitchFamily="49" charset="0"/>
                        </a:rPr>
                        <a:t>f 4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609020205020404" pitchFamily="49" charset="0"/>
                        <a:cs typeface="Courier New" panose="02070609020205020404" pitchFamily="49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-840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3400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90036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18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effectLst/>
                          <a:latin typeface="Courier New" panose="02070609020205020404" pitchFamily="49" charset="0"/>
                          <a:cs typeface="Courier New" panose="02070609020205020404" pitchFamily="49" charset="0"/>
                        </a:rPr>
                        <a:t>f 8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609020205020404" pitchFamily="49" charset="0"/>
                        <a:cs typeface="Courier New" panose="02070609020205020404" pitchFamily="49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-136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3264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90036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19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effectLst/>
                          <a:latin typeface="Courier New" panose="02070609020205020404" pitchFamily="49" charset="0"/>
                          <a:cs typeface="Courier New" panose="02070609020205020404" pitchFamily="49" charset="0"/>
                        </a:rPr>
                        <a:t>f 5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609020205020404" pitchFamily="49" charset="0"/>
                        <a:cs typeface="Courier New" panose="02070609020205020404" pitchFamily="49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-3244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90036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20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effectLst/>
                          <a:latin typeface="Courier New" panose="02070609020205020404" pitchFamily="49" charset="0"/>
                          <a:cs typeface="Courier New" panose="02070609020205020404" pitchFamily="49" charset="0"/>
                        </a:rPr>
                        <a:t>f 9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609020205020404" pitchFamily="49" charset="0"/>
                        <a:cs typeface="Courier New" panose="02070609020205020404" pitchFamily="49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-20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90036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8924" y="435678"/>
            <a:ext cx="7592093" cy="762000"/>
          </a:xfrm>
        </p:spPr>
        <p:txBody>
          <a:bodyPr/>
          <a:lstStyle/>
          <a:p>
            <a:r>
              <a:rPr lang="zh-CN" altLang="en-US" dirty="0" smtClean="0"/>
              <a:t>基</a:t>
            </a:r>
            <a:r>
              <a:rPr lang="zh-CN" altLang="en-US" dirty="0"/>
              <a:t>准测</a:t>
            </a:r>
            <a:r>
              <a:rPr lang="zh-CN" altLang="en-US" dirty="0" smtClean="0"/>
              <a:t>试可视化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257800" y="5187518"/>
                <a:ext cx="5410200" cy="1365682"/>
              </a:xfrm>
            </p:spPr>
            <p:txBody>
              <a:bodyPr/>
              <a:lstStyle/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(allocated</a:t>
                </a:r>
                <a:r>
                  <a:rPr lang="en-US" dirty="0"/>
                  <a:t>) </a:t>
                </a:r>
                <a:r>
                  <a:rPr lang="zh-CN" altLang="en-US" dirty="0" smtClean="0"/>
                  <a:t>和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lim>
                    </m:limLow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(</a:t>
                </a:r>
                <a:r>
                  <a:rPr lang="en-US" dirty="0" smtClean="0"/>
                  <a:t>peak)</a:t>
                </a:r>
                <a:r>
                  <a:rPr lang="zh-CN" altLang="en-US" dirty="0" smtClean="0"/>
                  <a:t>是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</a:t>
                </a:r>
                <a:r>
                  <a:rPr lang="zh-CN" altLang="en-US" dirty="0" smtClean="0"/>
                  <a:t>（步长）的函数</a:t>
                </a:r>
                <a:endParaRPr lang="en-US" dirty="0"/>
              </a:p>
              <a:p>
                <a:pPr lvl="1"/>
                <a:r>
                  <a:rPr lang="en-US" dirty="0" smtClean="0"/>
                  <a:t>Y</a:t>
                </a:r>
                <a:r>
                  <a:rPr lang="zh-CN" altLang="en-US" dirty="0" smtClean="0"/>
                  <a:t>轴归一化 </a:t>
                </a:r>
                <a:r>
                  <a:rPr lang="en-US" dirty="0" smtClean="0"/>
                  <a:t>— </a:t>
                </a:r>
                <a:r>
                  <a:rPr lang="zh-CN" altLang="en-US" dirty="0" smtClean="0"/>
                  <a:t>最大值比例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57800" y="5187518"/>
                <a:ext cx="5410200" cy="1365682"/>
              </a:xfrm>
              <a:blipFill rotWithShape="1">
                <a:blip r:embed="rId2"/>
                <a:stretch>
                  <a:fillRect t="-1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34334" y="1197678"/>
          <a:ext cx="4038600" cy="426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7423"/>
                <a:gridCol w="1045878"/>
                <a:gridCol w="659571"/>
                <a:gridCol w="921328"/>
                <a:gridCol w="914400"/>
              </a:tblGrid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Step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Command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Delta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Allocated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Peak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effectLst/>
                          <a:latin typeface="Courier New" panose="02070609020205020404" pitchFamily="49" charset="0"/>
                          <a:cs typeface="Courier New" panose="02070609020205020404" pitchFamily="49" charset="0"/>
                        </a:rPr>
                        <a:t>a 0 9904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609020205020404" pitchFamily="49" charset="0"/>
                        <a:cs typeface="Courier New" panose="02070609020205020404" pitchFamily="49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9904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9904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9904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effectLst/>
                          <a:latin typeface="Courier New" panose="02070609020205020404" pitchFamily="49" charset="0"/>
                          <a:cs typeface="Courier New" panose="02070609020205020404" pitchFamily="49" charset="0"/>
                        </a:rPr>
                        <a:t>a 1 50084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609020205020404" pitchFamily="49" charset="0"/>
                        <a:cs typeface="Courier New" panose="02070609020205020404" pitchFamily="49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50084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59988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59988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effectLst/>
                          <a:latin typeface="Courier New" panose="02070609020205020404" pitchFamily="49" charset="0"/>
                          <a:cs typeface="Courier New" panose="02070609020205020404" pitchFamily="49" charset="0"/>
                        </a:rPr>
                        <a:t>a 2 20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609020205020404" pitchFamily="49" charset="0"/>
                        <a:cs typeface="Courier New" panose="02070609020205020404" pitchFamily="49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20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60008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60008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effectLst/>
                          <a:latin typeface="Courier New" panose="02070609020205020404" pitchFamily="49" charset="0"/>
                          <a:cs typeface="Courier New" panose="02070609020205020404" pitchFamily="49" charset="0"/>
                        </a:rPr>
                        <a:t>a 3 16784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609020205020404" pitchFamily="49" charset="0"/>
                        <a:cs typeface="Courier New" panose="02070609020205020404" pitchFamily="49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16784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76792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76792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effectLst/>
                          <a:latin typeface="Courier New" panose="02070609020205020404" pitchFamily="49" charset="0"/>
                          <a:cs typeface="Courier New" panose="02070609020205020404" pitchFamily="49" charset="0"/>
                        </a:rPr>
                        <a:t>f 3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609020205020404" pitchFamily="49" charset="0"/>
                        <a:cs typeface="Courier New" panose="02070609020205020404" pitchFamily="49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-16784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60008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76792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effectLst/>
                          <a:latin typeface="Courier New" panose="02070609020205020404" pitchFamily="49" charset="0"/>
                          <a:cs typeface="Courier New" panose="02070609020205020404" pitchFamily="49" charset="0"/>
                        </a:rPr>
                        <a:t>a 4 840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609020205020404" pitchFamily="49" charset="0"/>
                        <a:cs typeface="Courier New" panose="02070609020205020404" pitchFamily="49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840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60848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76792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effectLst/>
                          <a:latin typeface="Courier New" panose="02070609020205020404" pitchFamily="49" charset="0"/>
                          <a:cs typeface="Courier New" panose="02070609020205020404" pitchFamily="49" charset="0"/>
                        </a:rPr>
                        <a:t>a 5 3244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609020205020404" pitchFamily="49" charset="0"/>
                        <a:cs typeface="Courier New" panose="02070609020205020404" pitchFamily="49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3244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64092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76792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effectLst/>
                          <a:latin typeface="Courier New" panose="02070609020205020404" pitchFamily="49" charset="0"/>
                          <a:cs typeface="Courier New" panose="02070609020205020404" pitchFamily="49" charset="0"/>
                        </a:rPr>
                        <a:t>f 0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609020205020404" pitchFamily="49" charset="0"/>
                        <a:cs typeface="Courier New" panose="02070609020205020404" pitchFamily="49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-9904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54188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76792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effectLst/>
                          <a:latin typeface="Courier New" panose="02070609020205020404" pitchFamily="49" charset="0"/>
                          <a:cs typeface="Courier New" panose="02070609020205020404" pitchFamily="49" charset="0"/>
                        </a:rPr>
                        <a:t>a 6 2012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609020205020404" pitchFamily="49" charset="0"/>
                        <a:cs typeface="Courier New" panose="02070609020205020404" pitchFamily="49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2012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56200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76792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10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effectLst/>
                          <a:latin typeface="Courier New" panose="02070609020205020404" pitchFamily="49" charset="0"/>
                          <a:cs typeface="Courier New" panose="02070609020205020404" pitchFamily="49" charset="0"/>
                        </a:rPr>
                        <a:t>f 2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609020205020404" pitchFamily="49" charset="0"/>
                        <a:cs typeface="Courier New" panose="02070609020205020404" pitchFamily="49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-20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56180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76792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11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effectLst/>
                          <a:latin typeface="Courier New" panose="02070609020205020404" pitchFamily="49" charset="0"/>
                          <a:cs typeface="Courier New" panose="02070609020205020404" pitchFamily="49" charset="0"/>
                        </a:rPr>
                        <a:t>a 7 33856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609020205020404" pitchFamily="49" charset="0"/>
                        <a:cs typeface="Courier New" panose="02070609020205020404" pitchFamily="49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33856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90036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90036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12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effectLst/>
                          <a:latin typeface="Courier New" panose="02070609020205020404" pitchFamily="49" charset="0"/>
                          <a:cs typeface="Courier New" panose="02070609020205020404" pitchFamily="49" charset="0"/>
                        </a:rPr>
                        <a:t>f 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609020205020404" pitchFamily="49" charset="0"/>
                        <a:cs typeface="Courier New" panose="02070609020205020404" pitchFamily="49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-50084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39952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90036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13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effectLst/>
                          <a:latin typeface="Courier New" panose="02070609020205020404" pitchFamily="49" charset="0"/>
                          <a:cs typeface="Courier New" panose="02070609020205020404" pitchFamily="49" charset="0"/>
                        </a:rPr>
                        <a:t>a 8 136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609020205020404" pitchFamily="49" charset="0"/>
                        <a:cs typeface="Courier New" panose="02070609020205020404" pitchFamily="49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136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40088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90036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14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effectLst/>
                          <a:latin typeface="Courier New" panose="02070609020205020404" pitchFamily="49" charset="0"/>
                          <a:cs typeface="Courier New" panose="02070609020205020404" pitchFamily="49" charset="0"/>
                        </a:rPr>
                        <a:t>f 7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609020205020404" pitchFamily="49" charset="0"/>
                        <a:cs typeface="Courier New" panose="02070609020205020404" pitchFamily="49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-33856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6232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90036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effectLst/>
                          <a:latin typeface="Courier New" panose="02070609020205020404" pitchFamily="49" charset="0"/>
                          <a:cs typeface="Courier New" panose="02070609020205020404" pitchFamily="49" charset="0"/>
                        </a:rPr>
                        <a:t>f 6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609020205020404" pitchFamily="49" charset="0"/>
                        <a:cs typeface="Courier New" panose="02070609020205020404" pitchFamily="49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-2012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4220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90036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16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effectLst/>
                          <a:latin typeface="Courier New" panose="02070609020205020404" pitchFamily="49" charset="0"/>
                          <a:cs typeface="Courier New" panose="02070609020205020404" pitchFamily="49" charset="0"/>
                        </a:rPr>
                        <a:t>a 9 20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609020205020404" pitchFamily="49" charset="0"/>
                        <a:cs typeface="Courier New" panose="02070609020205020404" pitchFamily="49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20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4240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90036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17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effectLst/>
                          <a:latin typeface="Courier New" panose="02070609020205020404" pitchFamily="49" charset="0"/>
                          <a:cs typeface="Courier New" panose="02070609020205020404" pitchFamily="49" charset="0"/>
                        </a:rPr>
                        <a:t>f 4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609020205020404" pitchFamily="49" charset="0"/>
                        <a:cs typeface="Courier New" panose="02070609020205020404" pitchFamily="49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-840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3400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90036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18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effectLst/>
                          <a:latin typeface="Courier New" panose="02070609020205020404" pitchFamily="49" charset="0"/>
                          <a:cs typeface="Courier New" panose="02070609020205020404" pitchFamily="49" charset="0"/>
                        </a:rPr>
                        <a:t>f 8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609020205020404" pitchFamily="49" charset="0"/>
                        <a:cs typeface="Courier New" panose="02070609020205020404" pitchFamily="49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-136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3264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90036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19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effectLst/>
                          <a:latin typeface="Courier New" panose="02070609020205020404" pitchFamily="49" charset="0"/>
                          <a:cs typeface="Courier New" panose="02070609020205020404" pitchFamily="49" charset="0"/>
                        </a:rPr>
                        <a:t>f 5 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609020205020404" pitchFamily="49" charset="0"/>
                        <a:cs typeface="Courier New" panose="02070609020205020404" pitchFamily="49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-3244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20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90036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20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effectLst/>
                          <a:latin typeface="Courier New" panose="02070609020205020404" pitchFamily="49" charset="0"/>
                          <a:cs typeface="Courier New" panose="02070609020205020404" pitchFamily="49" charset="0"/>
                        </a:rPr>
                        <a:t>f 9 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609020205020404" pitchFamily="49" charset="0"/>
                        <a:cs typeface="Courier New" panose="02070609020205020404" pitchFamily="49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-20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90036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7" name="Chart 6"/>
          <p:cNvGraphicFramePr/>
          <p:nvPr/>
        </p:nvGraphicFramePr>
        <p:xfrm>
          <a:off x="5867401" y="1197679"/>
          <a:ext cx="4690266" cy="38244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典型基准测试行为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7401" y="4419601"/>
            <a:ext cx="7896225" cy="1685925"/>
          </a:xfrm>
        </p:spPr>
        <p:txBody>
          <a:bodyPr/>
          <a:lstStyle/>
          <a:p>
            <a:r>
              <a:rPr lang="zh-CN" altLang="en-US" dirty="0" smtClean="0"/>
              <a:t>更长的</a:t>
            </a:r>
            <a:r>
              <a:rPr lang="en-US" dirty="0" err="1" smtClean="0"/>
              <a:t>malloc</a:t>
            </a:r>
            <a:r>
              <a:rPr lang="en-US" dirty="0" smtClean="0"/>
              <a:t> </a:t>
            </a:r>
            <a:r>
              <a:rPr lang="zh-CN" altLang="en-US" dirty="0" smtClean="0"/>
              <a:t>和</a:t>
            </a:r>
            <a:r>
              <a:rPr lang="en-US" dirty="0" smtClean="0"/>
              <a:t> free</a:t>
            </a:r>
            <a:r>
              <a:rPr lang="zh-CN" altLang="en-US" dirty="0" smtClean="0"/>
              <a:t>（</a:t>
            </a:r>
            <a:r>
              <a:rPr lang="en-US" altLang="zh-CN" dirty="0" smtClean="0"/>
              <a:t> 40,000</a:t>
            </a:r>
            <a:r>
              <a:rPr lang="zh-CN" altLang="en-US" dirty="0" smtClean="0"/>
              <a:t>个</a:t>
            </a:r>
            <a:r>
              <a:rPr lang="en-US" altLang="zh-CN" dirty="0" smtClean="0"/>
              <a:t> </a:t>
            </a:r>
            <a:r>
              <a:rPr lang="zh-CN" altLang="en-US" dirty="0" smtClean="0"/>
              <a:t>块）序列</a:t>
            </a:r>
            <a:endParaRPr lang="en-US" dirty="0"/>
          </a:p>
          <a:p>
            <a:pPr lvl="1"/>
            <a:r>
              <a:rPr lang="zh-CN" altLang="en-US" dirty="0"/>
              <a:t>开</a:t>
            </a:r>
            <a:r>
              <a:rPr lang="zh-CN" altLang="en-US" dirty="0" smtClean="0"/>
              <a:t>始都是</a:t>
            </a:r>
            <a:r>
              <a:rPr lang="en-US" dirty="0" smtClean="0"/>
              <a:t> </a:t>
            </a:r>
            <a:r>
              <a:rPr lang="en-US" dirty="0" err="1" smtClean="0"/>
              <a:t>malloc</a:t>
            </a:r>
            <a:r>
              <a:rPr lang="zh-CN" altLang="en-US" dirty="0" smtClean="0"/>
              <a:t>，然后逐渐转向全是</a:t>
            </a:r>
            <a:r>
              <a:rPr lang="en-US" dirty="0" smtClean="0"/>
              <a:t> free</a:t>
            </a:r>
            <a:endParaRPr lang="en-US" dirty="0"/>
          </a:p>
          <a:p>
            <a:r>
              <a:rPr lang="zh-CN" altLang="en-US" dirty="0" smtClean="0"/>
              <a:t>分配器必须始终高效管理空间</a:t>
            </a:r>
            <a:endParaRPr lang="en-US" dirty="0"/>
          </a:p>
          <a:p>
            <a:endParaRPr lang="en-US" dirty="0"/>
          </a:p>
          <a:p>
            <a:r>
              <a:rPr lang="en-US" dirty="0"/>
              <a:t>Production </a:t>
            </a:r>
            <a:r>
              <a:rPr lang="zh-CN" altLang="en-US" dirty="0" smtClean="0"/>
              <a:t>分配器可以缩小堆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2800" y="1066801"/>
            <a:ext cx="5638800" cy="32417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0" y="2687684"/>
            <a:ext cx="330744" cy="110800"/>
          </a:xfrm>
          <a:prstGeom prst="rect">
            <a:avLst/>
          </a:prstGeom>
          <a:solidFill>
            <a:schemeClr val="bg1"/>
          </a:solidFill>
        </p:spPr>
        <p:txBody>
          <a:bodyPr wrap="square" lIns="9144" tIns="9144" rIns="0" bIns="9144" rtlCol="0">
            <a:spAutoFit/>
          </a:bodyPr>
          <a:lstStyle/>
          <a:p>
            <a:r>
              <a:rPr lang="en-US" sz="600" b="0" dirty="0">
                <a:latin typeface="Calibri" pitchFamily="34" charset="0"/>
              </a:rPr>
              <a:t>Allocated</a:t>
            </a:r>
            <a:endParaRPr lang="en-US" sz="600" b="0" dirty="0">
              <a:latin typeface="Calibri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0" y="2556200"/>
            <a:ext cx="228600" cy="110800"/>
          </a:xfrm>
          <a:prstGeom prst="rect">
            <a:avLst/>
          </a:prstGeom>
          <a:solidFill>
            <a:schemeClr val="bg1"/>
          </a:solidFill>
        </p:spPr>
        <p:txBody>
          <a:bodyPr wrap="square" lIns="9144" tIns="9144" rIns="0" bIns="9144" rtlCol="0">
            <a:spAutoFit/>
          </a:bodyPr>
          <a:lstStyle/>
          <a:p>
            <a:r>
              <a:rPr lang="en-US" sz="600" b="0" dirty="0">
                <a:latin typeface="Calibri" pitchFamily="34" charset="0"/>
              </a:rPr>
              <a:t>Peak</a:t>
            </a:r>
            <a:endParaRPr lang="en-US" sz="600" b="0" dirty="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碎片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3000"/>
              </a:lnSpc>
              <a:spcBef>
                <a:spcPts val="1250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i="1" dirty="0">
                <a:solidFill>
                  <a:srgbClr val="C00000"/>
                </a:solidFill>
              </a:rPr>
              <a:t>碎</a:t>
            </a:r>
            <a:r>
              <a:rPr lang="zh-CN" altLang="en-US" i="1" dirty="0" smtClean="0">
                <a:solidFill>
                  <a:srgbClr val="C00000"/>
                </a:solidFill>
              </a:rPr>
              <a:t>片 </a:t>
            </a:r>
            <a:r>
              <a:rPr lang="zh-CN" altLang="en-US" dirty="0" smtClean="0"/>
              <a:t>导致堆利用率很低</a:t>
            </a:r>
            <a:endParaRPr lang="en-GB" dirty="0">
              <a:solidFill>
                <a:srgbClr val="C00000"/>
              </a:solidFill>
            </a:endParaRPr>
          </a:p>
          <a:p>
            <a:pPr lvl="1">
              <a:lnSpc>
                <a:spcPct val="88000"/>
              </a:lnSpc>
              <a:spcBef>
                <a:spcPts val="565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b="1" i="1" dirty="0" smtClean="0">
                <a:solidFill>
                  <a:srgbClr val="C00000"/>
                </a:solidFill>
                <a:ea typeface="+mn-ea"/>
                <a:cs typeface="+mn-cs"/>
              </a:rPr>
              <a:t>内部</a:t>
            </a:r>
            <a:r>
              <a:rPr lang="en-GB" dirty="0" smtClean="0"/>
              <a:t>  </a:t>
            </a:r>
            <a:r>
              <a:rPr lang="zh-CN" altLang="en-US" dirty="0" smtClean="0"/>
              <a:t>碎片</a:t>
            </a:r>
            <a:endParaRPr lang="en-GB" dirty="0"/>
          </a:p>
          <a:p>
            <a:pPr lvl="1">
              <a:lnSpc>
                <a:spcPct val="88000"/>
              </a:lnSpc>
              <a:spcBef>
                <a:spcPts val="565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b="1" i="1" dirty="0" smtClean="0">
                <a:solidFill>
                  <a:srgbClr val="C00000"/>
                </a:solidFill>
                <a:ea typeface="+mn-ea"/>
                <a:cs typeface="+mn-cs"/>
              </a:rPr>
              <a:t>外</a:t>
            </a:r>
            <a:r>
              <a:rPr lang="zh-CN" altLang="en-US" b="1" i="1" dirty="0">
                <a:solidFill>
                  <a:srgbClr val="C00000"/>
                </a:solidFill>
                <a:ea typeface="+mn-ea"/>
                <a:cs typeface="+mn-cs"/>
              </a:rPr>
              <a:t>部</a:t>
            </a:r>
            <a:r>
              <a:rPr lang="en-GB" dirty="0" smtClean="0"/>
              <a:t>  </a:t>
            </a:r>
            <a:r>
              <a:rPr lang="zh-CN" altLang="en-US" dirty="0" smtClean="0"/>
              <a:t>碎片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"/>
          <p:cNvSpPr>
            <a:spLocks noGrp="1" noChangeArrowheads="1"/>
          </p:cNvSpPr>
          <p:nvPr>
            <p:ph type="title"/>
          </p:nvPr>
        </p:nvSpPr>
        <p:spPr>
          <a:xfrm>
            <a:off x="1905000" y="457201"/>
            <a:ext cx="6731000" cy="573087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dirty="0" smtClean="0"/>
              <a:t>内部碎片</a:t>
            </a:r>
            <a:endParaRPr lang="en-GB" dirty="0"/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905001" y="1220788"/>
            <a:ext cx="8839199" cy="5408612"/>
          </a:xfrm>
        </p:spPr>
        <p:txBody>
          <a:bodyPr/>
          <a:lstStyle/>
          <a:p>
            <a:pPr>
              <a:lnSpc>
                <a:spcPct val="88000"/>
              </a:lnSpc>
              <a:spcBef>
                <a:spcPts val="565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sz="2200" dirty="0" smtClean="0"/>
              <a:t>对于给定内存块，如果有效负载小于内存块大小就会发生</a:t>
            </a:r>
            <a:r>
              <a:rPr lang="zh-CN" altLang="en-US" sz="2200" i="1" dirty="0" smtClean="0">
                <a:solidFill>
                  <a:srgbClr val="C00000"/>
                </a:solidFill>
              </a:rPr>
              <a:t>内部碎片</a:t>
            </a:r>
            <a:r>
              <a:rPr lang="en-GB" sz="2200" i="1" dirty="0" smtClean="0">
                <a:solidFill>
                  <a:srgbClr val="C00000"/>
                </a:solidFill>
              </a:rPr>
              <a:t> </a:t>
            </a:r>
            <a:endParaRPr lang="en-GB" sz="2200" dirty="0"/>
          </a:p>
          <a:p>
            <a:pPr>
              <a:lnSpc>
                <a:spcPct val="88000"/>
              </a:lnSpc>
              <a:spcBef>
                <a:spcPts val="565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sz="2200" dirty="0"/>
          </a:p>
          <a:p>
            <a:pPr>
              <a:lnSpc>
                <a:spcPct val="88000"/>
              </a:lnSpc>
              <a:spcBef>
                <a:spcPts val="565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sz="2200" dirty="0"/>
          </a:p>
          <a:p>
            <a:pPr>
              <a:lnSpc>
                <a:spcPct val="88000"/>
              </a:lnSpc>
              <a:spcBef>
                <a:spcPts val="565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sz="2200" dirty="0"/>
          </a:p>
          <a:p>
            <a:pPr>
              <a:lnSpc>
                <a:spcPct val="88000"/>
              </a:lnSpc>
              <a:spcBef>
                <a:spcPts val="565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sz="2200" dirty="0"/>
          </a:p>
          <a:p>
            <a:pPr>
              <a:lnSpc>
                <a:spcPct val="88000"/>
              </a:lnSpc>
              <a:spcBef>
                <a:spcPts val="565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sz="2200" dirty="0"/>
          </a:p>
          <a:p>
            <a:pPr>
              <a:lnSpc>
                <a:spcPct val="88000"/>
              </a:lnSpc>
              <a:spcBef>
                <a:spcPts val="565"/>
              </a:spcBef>
              <a:buNone/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sz="2200" dirty="0"/>
          </a:p>
          <a:p>
            <a:pPr>
              <a:lnSpc>
                <a:spcPct val="88000"/>
              </a:lnSpc>
              <a:spcBef>
                <a:spcPts val="565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sz="2200" dirty="0" smtClean="0"/>
              <a:t>原因</a:t>
            </a:r>
            <a:r>
              <a:rPr lang="en-GB" sz="2200" dirty="0" smtClean="0"/>
              <a:t> </a:t>
            </a:r>
            <a:endParaRPr lang="en-GB" sz="2200" dirty="0"/>
          </a:p>
          <a:p>
            <a:pPr lvl="1">
              <a:lnSpc>
                <a:spcPct val="88000"/>
              </a:lnSpc>
              <a:spcBef>
                <a:spcPts val="565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>
                <a:ea typeface="+mn-ea"/>
                <a:cs typeface="+mn-cs"/>
              </a:rPr>
              <a:t>维护堆数据结构的开销</a:t>
            </a:r>
            <a:endParaRPr lang="en-GB" dirty="0">
              <a:ea typeface="+mn-ea"/>
              <a:cs typeface="+mn-cs"/>
            </a:endParaRPr>
          </a:p>
          <a:p>
            <a:pPr lvl="1">
              <a:lnSpc>
                <a:spcPct val="88000"/>
              </a:lnSpc>
              <a:spcBef>
                <a:spcPts val="565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>
                <a:ea typeface="+mn-ea"/>
                <a:cs typeface="+mn-cs"/>
              </a:rPr>
              <a:t>用于对齐的填充</a:t>
            </a:r>
            <a:endParaRPr lang="en-GB" dirty="0">
              <a:ea typeface="+mn-ea"/>
              <a:cs typeface="+mn-cs"/>
            </a:endParaRPr>
          </a:p>
          <a:p>
            <a:pPr lvl="1">
              <a:lnSpc>
                <a:spcPct val="88000"/>
              </a:lnSpc>
              <a:spcBef>
                <a:spcPts val="565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>
                <a:ea typeface="+mn-ea"/>
                <a:cs typeface="+mn-cs"/>
              </a:rPr>
              <a:t>明确的策略决定</a:t>
            </a:r>
            <a:r>
              <a:rPr lang="en-GB" dirty="0" smtClean="0">
                <a:ea typeface="+mn-ea"/>
                <a:cs typeface="+mn-cs"/>
              </a:rPr>
              <a:t> </a:t>
            </a:r>
            <a:br>
              <a:rPr lang="en-GB" dirty="0">
                <a:ea typeface="+mn-ea"/>
                <a:cs typeface="+mn-cs"/>
              </a:rPr>
            </a:br>
            <a:r>
              <a:rPr lang="zh-CN" altLang="en-US" dirty="0" smtClean="0">
                <a:ea typeface="+mn-ea"/>
                <a:cs typeface="+mn-cs"/>
              </a:rPr>
              <a:t>（如：为了满足一个小请求返回一个大内存块）</a:t>
            </a:r>
            <a:endParaRPr lang="en-GB" sz="2200" dirty="0"/>
          </a:p>
          <a:p>
            <a:pPr>
              <a:lnSpc>
                <a:spcPct val="88000"/>
              </a:lnSpc>
              <a:spcBef>
                <a:spcPts val="1800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sz="2200" dirty="0" smtClean="0"/>
              <a:t>仅取决于</a:t>
            </a:r>
            <a:r>
              <a:rPr lang="zh-CN" altLang="en-US" sz="2200" i="1" dirty="0">
                <a:solidFill>
                  <a:srgbClr val="C00000"/>
                </a:solidFill>
              </a:rPr>
              <a:t>之</a:t>
            </a:r>
            <a:r>
              <a:rPr lang="zh-CN" altLang="en-US" sz="2200" i="1" dirty="0" smtClean="0">
                <a:solidFill>
                  <a:srgbClr val="C00000"/>
                </a:solidFill>
              </a:rPr>
              <a:t>前 </a:t>
            </a:r>
            <a:r>
              <a:rPr lang="zh-CN" altLang="en-US" sz="2200" dirty="0" smtClean="0"/>
              <a:t>请求的模式</a:t>
            </a:r>
            <a:endParaRPr lang="en-GB" sz="2200" dirty="0"/>
          </a:p>
          <a:p>
            <a:pPr lvl="1">
              <a:lnSpc>
                <a:spcPct val="88000"/>
              </a:lnSpc>
              <a:spcBef>
                <a:spcPts val="565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因此，易于测量</a:t>
            </a:r>
            <a:endParaRPr lang="en-GB" dirty="0"/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4618846" y="2895600"/>
            <a:ext cx="2819400" cy="6096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 smtClean="0">
                <a:latin typeface="Calibri" pitchFamily="34" charset="0"/>
              </a:rPr>
              <a:t>有效负载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7438246" y="2895600"/>
            <a:ext cx="762000" cy="6096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3856846" y="2895600"/>
            <a:ext cx="762000" cy="6096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8672336" y="2911642"/>
            <a:ext cx="1008907" cy="335799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 smtClean="0">
                <a:latin typeface="Calibri" pitchFamily="34" charset="0"/>
              </a:rPr>
              <a:t>内部碎片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15367" name="Line 7"/>
          <p:cNvSpPr>
            <a:spLocks noChangeShapeType="1"/>
          </p:cNvSpPr>
          <p:nvPr/>
        </p:nvSpPr>
        <p:spPr bwMode="auto">
          <a:xfrm flipH="1">
            <a:off x="7845426" y="3200400"/>
            <a:ext cx="765175" cy="1588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368" name="AutoShape 8"/>
          <p:cNvSpPr/>
          <p:nvPr/>
        </p:nvSpPr>
        <p:spPr bwMode="auto">
          <a:xfrm rot="16200000">
            <a:off x="5874559" y="495300"/>
            <a:ext cx="304800" cy="4343400"/>
          </a:xfrm>
          <a:prstGeom prst="rightBrace">
            <a:avLst>
              <a:gd name="adj1" fmla="val 118750"/>
              <a:gd name="adj2" fmla="val 50000"/>
            </a:avLst>
          </a:prstGeom>
          <a:noFill/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69" name="Text Box 9"/>
          <p:cNvSpPr txBox="1">
            <a:spLocks noChangeArrowheads="1"/>
          </p:cNvSpPr>
          <p:nvPr/>
        </p:nvSpPr>
        <p:spPr bwMode="auto">
          <a:xfrm>
            <a:off x="5859854" y="2133600"/>
            <a:ext cx="802120" cy="335799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 smtClean="0">
                <a:latin typeface="Calibri" pitchFamily="34" charset="0"/>
              </a:rPr>
              <a:t>内存块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15370" name="Text Box 10"/>
          <p:cNvSpPr txBox="1">
            <a:spLocks noChangeArrowheads="1"/>
          </p:cNvSpPr>
          <p:nvPr/>
        </p:nvSpPr>
        <p:spPr bwMode="auto">
          <a:xfrm>
            <a:off x="2208815" y="2911642"/>
            <a:ext cx="1008907" cy="335799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 smtClean="0">
                <a:latin typeface="Calibri" pitchFamily="34" charset="0"/>
              </a:rPr>
              <a:t>内部碎片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15371" name="Line 11"/>
          <p:cNvSpPr>
            <a:spLocks noChangeShapeType="1"/>
          </p:cNvSpPr>
          <p:nvPr/>
        </p:nvSpPr>
        <p:spPr bwMode="auto">
          <a:xfrm>
            <a:off x="3581400" y="3200400"/>
            <a:ext cx="685800" cy="1588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内部碎片的影响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5670" y="4528428"/>
            <a:ext cx="7896225" cy="2100973"/>
          </a:xfrm>
        </p:spPr>
        <p:txBody>
          <a:bodyPr/>
          <a:lstStyle/>
          <a:p>
            <a:r>
              <a:rPr lang="zh-CN" altLang="en-US" dirty="0" smtClean="0"/>
              <a:t>紫色线条：由于分配器数据和对齐填充增加的堆大小</a:t>
            </a:r>
            <a:endParaRPr lang="en-US" dirty="0" smtClean="0"/>
          </a:p>
          <a:p>
            <a:pPr lvl="1"/>
            <a:r>
              <a:rPr lang="zh-CN" altLang="en-US" dirty="0" smtClean="0"/>
              <a:t>对于这个基准测试，开销为</a:t>
            </a:r>
            <a:r>
              <a:rPr lang="en-US" altLang="zh-CN" dirty="0" smtClean="0"/>
              <a:t>1.5%</a:t>
            </a:r>
            <a:endParaRPr lang="en-US" dirty="0" smtClean="0"/>
          </a:p>
          <a:p>
            <a:pPr lvl="1"/>
            <a:r>
              <a:rPr lang="zh-CN" altLang="en-US" dirty="0" smtClean="0"/>
              <a:t>在实践中无法实现</a:t>
            </a:r>
            <a:endParaRPr lang="en-US" dirty="0"/>
          </a:p>
          <a:p>
            <a:pPr lvl="1"/>
            <a:r>
              <a:rPr lang="zh-CN" altLang="en-US" dirty="0" smtClean="0"/>
              <a:t>尤其是因为无法移动已分配的内存块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4201" y="1164151"/>
            <a:ext cx="5659165" cy="32534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02955" y="2859212"/>
            <a:ext cx="330744" cy="110800"/>
          </a:xfrm>
          <a:prstGeom prst="rect">
            <a:avLst/>
          </a:prstGeom>
          <a:solidFill>
            <a:schemeClr val="bg1"/>
          </a:solidFill>
        </p:spPr>
        <p:txBody>
          <a:bodyPr wrap="square" lIns="9144" tIns="9144" rIns="0" bIns="9144" rtlCol="0">
            <a:spAutoFit/>
          </a:bodyPr>
          <a:lstStyle/>
          <a:p>
            <a:r>
              <a:rPr lang="en-US" sz="600" b="0" dirty="0">
                <a:latin typeface="Calibri" pitchFamily="34" charset="0"/>
              </a:rPr>
              <a:t>Allocated</a:t>
            </a:r>
            <a:endParaRPr lang="en-US" sz="600" b="0" dirty="0">
              <a:latin typeface="Calibri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402955" y="2727728"/>
            <a:ext cx="228600" cy="110800"/>
          </a:xfrm>
          <a:prstGeom prst="rect">
            <a:avLst/>
          </a:prstGeom>
          <a:solidFill>
            <a:schemeClr val="bg1"/>
          </a:solidFill>
        </p:spPr>
        <p:txBody>
          <a:bodyPr wrap="square" lIns="9144" tIns="9144" rIns="0" bIns="9144" rtlCol="0">
            <a:spAutoFit/>
          </a:bodyPr>
          <a:lstStyle/>
          <a:p>
            <a:r>
              <a:rPr lang="en-US" sz="600" b="0" dirty="0">
                <a:latin typeface="Calibri" pitchFamily="34" charset="0"/>
              </a:rPr>
              <a:t>Peak</a:t>
            </a:r>
            <a:endParaRPr lang="en-US" sz="600" b="0" dirty="0">
              <a:latin typeface="Calibri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02955" y="2596244"/>
            <a:ext cx="781050" cy="110800"/>
          </a:xfrm>
          <a:prstGeom prst="rect">
            <a:avLst/>
          </a:prstGeom>
          <a:solidFill>
            <a:schemeClr val="bg1"/>
          </a:solidFill>
        </p:spPr>
        <p:txBody>
          <a:bodyPr wrap="square" lIns="9144" tIns="9144" rIns="0" bIns="9144" rtlCol="0">
            <a:spAutoFit/>
          </a:bodyPr>
          <a:lstStyle/>
          <a:p>
            <a:r>
              <a:rPr lang="en-US" sz="600" b="0" dirty="0">
                <a:latin typeface="Calibri" pitchFamily="34" charset="0"/>
              </a:rPr>
              <a:t>Peak + Internal Frag</a:t>
            </a:r>
            <a:endParaRPr lang="en-US" sz="600" b="0" dirty="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外部碎片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9167" y="1504950"/>
            <a:ext cx="10528300" cy="4972050"/>
          </a:xfrm>
        </p:spPr>
        <p:txBody>
          <a:bodyPr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dirty="0"/>
              <a:t>发</a:t>
            </a:r>
            <a:r>
              <a:rPr lang="zh-CN" altLang="en-US" dirty="0" smtClean="0"/>
              <a:t>生在总的堆内存足够，但没有单个空闲块足够大的情况</a:t>
            </a:r>
            <a:endParaRPr lang="en-GB" dirty="0"/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/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/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/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/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/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/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/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800" dirty="0"/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dirty="0" smtClean="0"/>
              <a:t>取决于未来请求的模式</a:t>
            </a:r>
            <a:endParaRPr lang="en-GB" dirty="0" smtClean="0"/>
          </a:p>
          <a:p>
            <a:pPr lvl="1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dirty="0" smtClean="0"/>
              <a:t>因此，难以测量</a:t>
            </a:r>
            <a:endParaRPr lang="en-US" dirty="0"/>
          </a:p>
        </p:txBody>
      </p:sp>
      <p:sp>
        <p:nvSpPr>
          <p:cNvPr id="80" name="Text Box 91"/>
          <p:cNvSpPr txBox="1">
            <a:spLocks noChangeArrowheads="1"/>
          </p:cNvSpPr>
          <p:nvPr/>
        </p:nvSpPr>
        <p:spPr bwMode="auto">
          <a:xfrm>
            <a:off x="1847656" y="4876800"/>
            <a:ext cx="2249632" cy="359010"/>
          </a:xfrm>
          <a:prstGeom prst="rect">
            <a:avLst/>
          </a:prstGeom>
          <a:solidFill>
            <a:srgbClr val="D5F1CF"/>
          </a:solidFill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latin typeface="Courier New" panose="02070609020205020404" pitchFamily="49" charset="0"/>
              </a:rPr>
              <a:t>p4 = malloc(64)</a:t>
            </a:r>
            <a:endParaRPr lang="en-GB" sz="1800" dirty="0">
              <a:latin typeface="Courier New" panose="02070609020205020404" pitchFamily="49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4724401" y="4782745"/>
            <a:ext cx="38972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i="1" dirty="0" smtClean="0">
                <a:solidFill>
                  <a:srgbClr val="C00000"/>
                </a:solidFill>
                <a:latin typeface="Calibri" pitchFamily="34" charset="0"/>
              </a:rPr>
              <a:t>哇！（现在会发生什么？）</a:t>
            </a:r>
            <a:endParaRPr lang="en-US" i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83" name="Text Box 19"/>
          <p:cNvSpPr txBox="1">
            <a:spLocks noChangeArrowheads="1"/>
          </p:cNvSpPr>
          <p:nvPr/>
        </p:nvSpPr>
        <p:spPr bwMode="auto">
          <a:xfrm>
            <a:off x="1700831" y="2362200"/>
            <a:ext cx="2249632" cy="359010"/>
          </a:xfrm>
          <a:prstGeom prst="rect">
            <a:avLst/>
          </a:prstGeom>
          <a:solidFill>
            <a:srgbClr val="F6F5BD"/>
          </a:solidFill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latin typeface="Courier New" panose="02070609020205020404" pitchFamily="49" charset="0"/>
              </a:rPr>
              <a:t>p1 = malloc(32)</a:t>
            </a:r>
            <a:endParaRPr lang="en-GB" sz="1800" dirty="0">
              <a:latin typeface="Courier New" panose="02070609020205020404" pitchFamily="49" charset="0"/>
            </a:endParaRPr>
          </a:p>
        </p:txBody>
      </p:sp>
      <p:sp>
        <p:nvSpPr>
          <p:cNvPr id="84" name="Text Box 37"/>
          <p:cNvSpPr txBox="1">
            <a:spLocks noChangeArrowheads="1"/>
          </p:cNvSpPr>
          <p:nvPr/>
        </p:nvSpPr>
        <p:spPr bwMode="auto">
          <a:xfrm>
            <a:off x="1700831" y="2971800"/>
            <a:ext cx="2249632" cy="3590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latin typeface="Courier New" panose="02070609020205020404" pitchFamily="49" charset="0"/>
              </a:rPr>
              <a:t>p2 = malloc(40)</a:t>
            </a:r>
            <a:endParaRPr lang="en-GB" sz="1800" dirty="0">
              <a:latin typeface="Courier New" panose="02070609020205020404" pitchFamily="49" charset="0"/>
            </a:endParaRPr>
          </a:p>
        </p:txBody>
      </p:sp>
      <p:sp>
        <p:nvSpPr>
          <p:cNvPr id="85" name="Text Box 55"/>
          <p:cNvSpPr txBox="1">
            <a:spLocks noChangeArrowheads="1"/>
          </p:cNvSpPr>
          <p:nvPr/>
        </p:nvSpPr>
        <p:spPr bwMode="auto">
          <a:xfrm>
            <a:off x="1700831" y="3657600"/>
            <a:ext cx="2249632" cy="359010"/>
          </a:xfrm>
          <a:prstGeom prst="rect">
            <a:avLst/>
          </a:prstGeom>
          <a:solidFill>
            <a:srgbClr val="F1C7C7"/>
          </a:solidFill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latin typeface="Courier New" panose="02070609020205020404" pitchFamily="49" charset="0"/>
              </a:rPr>
              <a:t>p3 = malloc(48)</a:t>
            </a:r>
            <a:endParaRPr lang="en-GB" sz="1800" dirty="0">
              <a:latin typeface="Courier New" panose="02070609020205020404" pitchFamily="49" charset="0"/>
            </a:endParaRPr>
          </a:p>
        </p:txBody>
      </p:sp>
      <p:sp>
        <p:nvSpPr>
          <p:cNvPr id="86" name="Text Box 73"/>
          <p:cNvSpPr txBox="1">
            <a:spLocks noChangeArrowheads="1"/>
          </p:cNvSpPr>
          <p:nvPr/>
        </p:nvSpPr>
        <p:spPr bwMode="auto">
          <a:xfrm>
            <a:off x="2057400" y="4263096"/>
            <a:ext cx="1284624" cy="3590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>
                <a:latin typeface="Courier New" panose="02070609020205020404" pitchFamily="49" charset="0"/>
              </a:rPr>
              <a:t>free(p2)</a:t>
            </a:r>
            <a:endParaRPr lang="en-GB" sz="1800">
              <a:latin typeface="Courier New" panose="02070609020205020404" pitchFamily="49" charset="0"/>
            </a:endParaRPr>
          </a:p>
        </p:txBody>
      </p:sp>
      <p:grpSp>
        <p:nvGrpSpPr>
          <p:cNvPr id="87" name="Group 86"/>
          <p:cNvGrpSpPr/>
          <p:nvPr/>
        </p:nvGrpSpPr>
        <p:grpSpPr>
          <a:xfrm>
            <a:off x="4516437" y="2393950"/>
            <a:ext cx="5486400" cy="304800"/>
            <a:chOff x="2992437" y="1614488"/>
            <a:chExt cx="5486400" cy="304800"/>
          </a:xfrm>
        </p:grpSpPr>
        <p:grpSp>
          <p:nvGrpSpPr>
            <p:cNvPr id="88" name="Group 87"/>
            <p:cNvGrpSpPr/>
            <p:nvPr/>
          </p:nvGrpSpPr>
          <p:grpSpPr>
            <a:xfrm>
              <a:off x="2992437" y="1614488"/>
              <a:ext cx="5181600" cy="304800"/>
              <a:chOff x="3006724" y="1614488"/>
              <a:chExt cx="5181600" cy="304800"/>
            </a:xfrm>
          </p:grpSpPr>
          <p:sp>
            <p:nvSpPr>
              <p:cNvPr id="90" name="Rectangle 2"/>
              <p:cNvSpPr>
                <a:spLocks noChangeArrowheads="1"/>
              </p:cNvSpPr>
              <p:nvPr/>
            </p:nvSpPr>
            <p:spPr bwMode="auto">
              <a:xfrm>
                <a:off x="3006724" y="1614488"/>
                <a:ext cx="304800" cy="304800"/>
              </a:xfrm>
              <a:prstGeom prst="rect">
                <a:avLst/>
              </a:prstGeom>
              <a:solidFill>
                <a:srgbClr val="F6F5BD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1" name="Rectangle 3"/>
              <p:cNvSpPr>
                <a:spLocks noChangeArrowheads="1"/>
              </p:cNvSpPr>
              <p:nvPr/>
            </p:nvSpPr>
            <p:spPr bwMode="auto">
              <a:xfrm>
                <a:off x="3311524" y="1614488"/>
                <a:ext cx="304800" cy="304800"/>
              </a:xfrm>
              <a:prstGeom prst="rect">
                <a:avLst/>
              </a:prstGeom>
              <a:solidFill>
                <a:srgbClr val="F6F5BD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" name="Rectangle 4"/>
              <p:cNvSpPr>
                <a:spLocks noChangeArrowheads="1"/>
              </p:cNvSpPr>
              <p:nvPr/>
            </p:nvSpPr>
            <p:spPr bwMode="auto">
              <a:xfrm>
                <a:off x="3616324" y="1614488"/>
                <a:ext cx="304800" cy="304800"/>
              </a:xfrm>
              <a:prstGeom prst="rect">
                <a:avLst/>
              </a:prstGeom>
              <a:solidFill>
                <a:srgbClr val="F6F5BD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3" name="Rectangle 5"/>
              <p:cNvSpPr>
                <a:spLocks noChangeArrowheads="1"/>
              </p:cNvSpPr>
              <p:nvPr/>
            </p:nvSpPr>
            <p:spPr bwMode="auto">
              <a:xfrm>
                <a:off x="3921124" y="1614488"/>
                <a:ext cx="304800" cy="304800"/>
              </a:xfrm>
              <a:prstGeom prst="rect">
                <a:avLst/>
              </a:prstGeom>
              <a:solidFill>
                <a:srgbClr val="F6F5BD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4" name="Rectangle 6"/>
              <p:cNvSpPr>
                <a:spLocks noChangeArrowheads="1"/>
              </p:cNvSpPr>
              <p:nvPr/>
            </p:nvSpPr>
            <p:spPr bwMode="auto">
              <a:xfrm>
                <a:off x="42259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5" name="Rectangle 7"/>
              <p:cNvSpPr>
                <a:spLocks noChangeArrowheads="1"/>
              </p:cNvSpPr>
              <p:nvPr/>
            </p:nvSpPr>
            <p:spPr bwMode="auto">
              <a:xfrm>
                <a:off x="45307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6" name="Rectangle 8"/>
              <p:cNvSpPr>
                <a:spLocks noChangeArrowheads="1"/>
              </p:cNvSpPr>
              <p:nvPr/>
            </p:nvSpPr>
            <p:spPr bwMode="auto">
              <a:xfrm>
                <a:off x="48355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7" name="Rectangle 9"/>
              <p:cNvSpPr>
                <a:spLocks noChangeArrowheads="1"/>
              </p:cNvSpPr>
              <p:nvPr/>
            </p:nvSpPr>
            <p:spPr bwMode="auto">
              <a:xfrm>
                <a:off x="51403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8" name="Rectangle 10"/>
              <p:cNvSpPr>
                <a:spLocks noChangeArrowheads="1"/>
              </p:cNvSpPr>
              <p:nvPr/>
            </p:nvSpPr>
            <p:spPr bwMode="auto">
              <a:xfrm>
                <a:off x="54451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9" name="Rectangle 11"/>
              <p:cNvSpPr>
                <a:spLocks noChangeArrowheads="1"/>
              </p:cNvSpPr>
              <p:nvPr/>
            </p:nvSpPr>
            <p:spPr bwMode="auto">
              <a:xfrm>
                <a:off x="57499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0" name="Rectangle 12"/>
              <p:cNvSpPr>
                <a:spLocks noChangeArrowheads="1"/>
              </p:cNvSpPr>
              <p:nvPr/>
            </p:nvSpPr>
            <p:spPr bwMode="auto">
              <a:xfrm>
                <a:off x="60547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1" name="Rectangle 13"/>
              <p:cNvSpPr>
                <a:spLocks noChangeArrowheads="1"/>
              </p:cNvSpPr>
              <p:nvPr/>
            </p:nvSpPr>
            <p:spPr bwMode="auto">
              <a:xfrm>
                <a:off x="63595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" name="Rectangle 14"/>
              <p:cNvSpPr>
                <a:spLocks noChangeArrowheads="1"/>
              </p:cNvSpPr>
              <p:nvPr/>
            </p:nvSpPr>
            <p:spPr bwMode="auto">
              <a:xfrm>
                <a:off x="66643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" name="Rectangle 15"/>
              <p:cNvSpPr>
                <a:spLocks noChangeArrowheads="1"/>
              </p:cNvSpPr>
              <p:nvPr/>
            </p:nvSpPr>
            <p:spPr bwMode="auto">
              <a:xfrm>
                <a:off x="69691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4" name="Rectangle 16"/>
              <p:cNvSpPr>
                <a:spLocks noChangeArrowheads="1"/>
              </p:cNvSpPr>
              <p:nvPr/>
            </p:nvSpPr>
            <p:spPr bwMode="auto">
              <a:xfrm>
                <a:off x="72739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5" name="Rectangle 17"/>
              <p:cNvSpPr>
                <a:spLocks noChangeArrowheads="1"/>
              </p:cNvSpPr>
              <p:nvPr/>
            </p:nvSpPr>
            <p:spPr bwMode="auto">
              <a:xfrm>
                <a:off x="75787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6" name="Rectangle 18"/>
              <p:cNvSpPr>
                <a:spLocks noChangeArrowheads="1"/>
              </p:cNvSpPr>
              <p:nvPr/>
            </p:nvSpPr>
            <p:spPr bwMode="auto">
              <a:xfrm>
                <a:off x="78835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89" name="Rectangle 9"/>
            <p:cNvSpPr>
              <a:spLocks noChangeArrowheads="1"/>
            </p:cNvSpPr>
            <p:nvPr/>
          </p:nvSpPr>
          <p:spPr bwMode="auto">
            <a:xfrm>
              <a:off x="8174037" y="1614488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7" name="Group 106"/>
          <p:cNvGrpSpPr/>
          <p:nvPr/>
        </p:nvGrpSpPr>
        <p:grpSpPr>
          <a:xfrm>
            <a:off x="4516437" y="3008875"/>
            <a:ext cx="5486400" cy="304800"/>
            <a:chOff x="2992437" y="2501901"/>
            <a:chExt cx="5486400" cy="304800"/>
          </a:xfrm>
        </p:grpSpPr>
        <p:sp>
          <p:nvSpPr>
            <p:cNvPr id="108" name="Rectangle 20"/>
            <p:cNvSpPr>
              <a:spLocks noChangeArrowheads="1"/>
            </p:cNvSpPr>
            <p:nvPr/>
          </p:nvSpPr>
          <p:spPr bwMode="auto">
            <a:xfrm>
              <a:off x="2992437" y="2501901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" name="Rectangle 21"/>
            <p:cNvSpPr>
              <a:spLocks noChangeArrowheads="1"/>
            </p:cNvSpPr>
            <p:nvPr/>
          </p:nvSpPr>
          <p:spPr bwMode="auto">
            <a:xfrm>
              <a:off x="3297237" y="2501901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0" name="Rectangle 22"/>
            <p:cNvSpPr>
              <a:spLocks noChangeArrowheads="1"/>
            </p:cNvSpPr>
            <p:nvPr/>
          </p:nvSpPr>
          <p:spPr bwMode="auto">
            <a:xfrm>
              <a:off x="3602037" y="2501901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" name="Rectangle 23"/>
            <p:cNvSpPr>
              <a:spLocks noChangeArrowheads="1"/>
            </p:cNvSpPr>
            <p:nvPr/>
          </p:nvSpPr>
          <p:spPr bwMode="auto">
            <a:xfrm>
              <a:off x="3906837" y="2501901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" name="Rectangle 24"/>
            <p:cNvSpPr>
              <a:spLocks noChangeArrowheads="1"/>
            </p:cNvSpPr>
            <p:nvPr/>
          </p:nvSpPr>
          <p:spPr bwMode="auto">
            <a:xfrm>
              <a:off x="4211637" y="2501901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" name="Rectangle 25"/>
            <p:cNvSpPr>
              <a:spLocks noChangeArrowheads="1"/>
            </p:cNvSpPr>
            <p:nvPr/>
          </p:nvSpPr>
          <p:spPr bwMode="auto">
            <a:xfrm>
              <a:off x="4516437" y="2501901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4" name="Rectangle 26"/>
            <p:cNvSpPr>
              <a:spLocks noChangeArrowheads="1"/>
            </p:cNvSpPr>
            <p:nvPr/>
          </p:nvSpPr>
          <p:spPr bwMode="auto">
            <a:xfrm>
              <a:off x="4821237" y="2501901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5" name="Rectangle 27"/>
            <p:cNvSpPr>
              <a:spLocks noChangeArrowheads="1"/>
            </p:cNvSpPr>
            <p:nvPr/>
          </p:nvSpPr>
          <p:spPr bwMode="auto">
            <a:xfrm>
              <a:off x="5126037" y="2501901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" name="Rectangle 28"/>
            <p:cNvSpPr>
              <a:spLocks noChangeArrowheads="1"/>
            </p:cNvSpPr>
            <p:nvPr/>
          </p:nvSpPr>
          <p:spPr bwMode="auto">
            <a:xfrm>
              <a:off x="5430837" y="2501901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" name="Rectangle 29"/>
            <p:cNvSpPr>
              <a:spLocks noChangeArrowheads="1"/>
            </p:cNvSpPr>
            <p:nvPr/>
          </p:nvSpPr>
          <p:spPr bwMode="auto">
            <a:xfrm>
              <a:off x="57356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" name="Rectangle 30"/>
            <p:cNvSpPr>
              <a:spLocks noChangeArrowheads="1"/>
            </p:cNvSpPr>
            <p:nvPr/>
          </p:nvSpPr>
          <p:spPr bwMode="auto">
            <a:xfrm>
              <a:off x="60404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" name="Rectangle 31"/>
            <p:cNvSpPr>
              <a:spLocks noChangeArrowheads="1"/>
            </p:cNvSpPr>
            <p:nvPr/>
          </p:nvSpPr>
          <p:spPr bwMode="auto">
            <a:xfrm>
              <a:off x="63452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" name="Rectangle 32"/>
            <p:cNvSpPr>
              <a:spLocks noChangeArrowheads="1"/>
            </p:cNvSpPr>
            <p:nvPr/>
          </p:nvSpPr>
          <p:spPr bwMode="auto">
            <a:xfrm>
              <a:off x="66500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1" name="Rectangle 33"/>
            <p:cNvSpPr>
              <a:spLocks noChangeArrowheads="1"/>
            </p:cNvSpPr>
            <p:nvPr/>
          </p:nvSpPr>
          <p:spPr bwMode="auto">
            <a:xfrm>
              <a:off x="69548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22" name="Rectangle 34"/>
            <p:cNvSpPr>
              <a:spLocks noChangeArrowheads="1"/>
            </p:cNvSpPr>
            <p:nvPr/>
          </p:nvSpPr>
          <p:spPr bwMode="auto">
            <a:xfrm>
              <a:off x="72596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" name="Rectangle 35"/>
            <p:cNvSpPr>
              <a:spLocks noChangeArrowheads="1"/>
            </p:cNvSpPr>
            <p:nvPr/>
          </p:nvSpPr>
          <p:spPr bwMode="auto">
            <a:xfrm>
              <a:off x="75644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" name="Rectangle 36"/>
            <p:cNvSpPr>
              <a:spLocks noChangeArrowheads="1"/>
            </p:cNvSpPr>
            <p:nvPr/>
          </p:nvSpPr>
          <p:spPr bwMode="auto">
            <a:xfrm>
              <a:off x="78692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" name="Rectangle 9"/>
            <p:cNvSpPr>
              <a:spLocks noChangeArrowheads="1"/>
            </p:cNvSpPr>
            <p:nvPr/>
          </p:nvSpPr>
          <p:spPr bwMode="auto">
            <a:xfrm>
              <a:off x="81740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26" name="Group 125"/>
          <p:cNvGrpSpPr/>
          <p:nvPr/>
        </p:nvGrpSpPr>
        <p:grpSpPr>
          <a:xfrm>
            <a:off x="4516437" y="3681785"/>
            <a:ext cx="5486400" cy="304800"/>
            <a:chOff x="2992437" y="3389313"/>
            <a:chExt cx="5486400" cy="304800"/>
          </a:xfrm>
        </p:grpSpPr>
        <p:sp>
          <p:nvSpPr>
            <p:cNvPr id="127" name="Rectangle 38"/>
            <p:cNvSpPr>
              <a:spLocks noChangeArrowheads="1"/>
            </p:cNvSpPr>
            <p:nvPr/>
          </p:nvSpPr>
          <p:spPr bwMode="auto">
            <a:xfrm>
              <a:off x="2992437" y="3389313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" name="Rectangle 39"/>
            <p:cNvSpPr>
              <a:spLocks noChangeArrowheads="1"/>
            </p:cNvSpPr>
            <p:nvPr/>
          </p:nvSpPr>
          <p:spPr bwMode="auto">
            <a:xfrm>
              <a:off x="3297237" y="3389313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" name="Rectangle 40"/>
            <p:cNvSpPr>
              <a:spLocks noChangeArrowheads="1"/>
            </p:cNvSpPr>
            <p:nvPr/>
          </p:nvSpPr>
          <p:spPr bwMode="auto">
            <a:xfrm>
              <a:off x="3602037" y="3389313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" name="Rectangle 41"/>
            <p:cNvSpPr>
              <a:spLocks noChangeArrowheads="1"/>
            </p:cNvSpPr>
            <p:nvPr/>
          </p:nvSpPr>
          <p:spPr bwMode="auto">
            <a:xfrm>
              <a:off x="3906837" y="3389313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" name="Rectangle 42"/>
            <p:cNvSpPr>
              <a:spLocks noChangeArrowheads="1"/>
            </p:cNvSpPr>
            <p:nvPr/>
          </p:nvSpPr>
          <p:spPr bwMode="auto">
            <a:xfrm>
              <a:off x="4211637" y="3389313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2" name="Rectangle 43"/>
            <p:cNvSpPr>
              <a:spLocks noChangeArrowheads="1"/>
            </p:cNvSpPr>
            <p:nvPr/>
          </p:nvSpPr>
          <p:spPr bwMode="auto">
            <a:xfrm>
              <a:off x="4516437" y="3389313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" name="Rectangle 44"/>
            <p:cNvSpPr>
              <a:spLocks noChangeArrowheads="1"/>
            </p:cNvSpPr>
            <p:nvPr/>
          </p:nvSpPr>
          <p:spPr bwMode="auto">
            <a:xfrm>
              <a:off x="4821237" y="3389313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4" name="Rectangle 45"/>
            <p:cNvSpPr>
              <a:spLocks noChangeArrowheads="1"/>
            </p:cNvSpPr>
            <p:nvPr/>
          </p:nvSpPr>
          <p:spPr bwMode="auto">
            <a:xfrm>
              <a:off x="5126037" y="3389313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5" name="Rectangle 46"/>
            <p:cNvSpPr>
              <a:spLocks noChangeArrowheads="1"/>
            </p:cNvSpPr>
            <p:nvPr/>
          </p:nvSpPr>
          <p:spPr bwMode="auto">
            <a:xfrm>
              <a:off x="5430837" y="3389313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" name="Rectangle 47"/>
            <p:cNvSpPr>
              <a:spLocks noChangeArrowheads="1"/>
            </p:cNvSpPr>
            <p:nvPr/>
          </p:nvSpPr>
          <p:spPr bwMode="auto">
            <a:xfrm>
              <a:off x="5735637" y="3389313"/>
              <a:ext cx="304800" cy="3048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7" name="Rectangle 48"/>
            <p:cNvSpPr>
              <a:spLocks noChangeArrowheads="1"/>
            </p:cNvSpPr>
            <p:nvPr/>
          </p:nvSpPr>
          <p:spPr bwMode="auto">
            <a:xfrm>
              <a:off x="6040437" y="3389313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8" name="Rectangle 49"/>
            <p:cNvSpPr>
              <a:spLocks noChangeArrowheads="1"/>
            </p:cNvSpPr>
            <p:nvPr/>
          </p:nvSpPr>
          <p:spPr bwMode="auto">
            <a:xfrm>
              <a:off x="6345237" y="3389313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9" name="Rectangle 50"/>
            <p:cNvSpPr>
              <a:spLocks noChangeArrowheads="1"/>
            </p:cNvSpPr>
            <p:nvPr/>
          </p:nvSpPr>
          <p:spPr bwMode="auto">
            <a:xfrm>
              <a:off x="6650037" y="3389313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0" name="Rectangle 51"/>
            <p:cNvSpPr>
              <a:spLocks noChangeArrowheads="1"/>
            </p:cNvSpPr>
            <p:nvPr/>
          </p:nvSpPr>
          <p:spPr bwMode="auto">
            <a:xfrm>
              <a:off x="6954837" y="3389313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1" name="Rectangle 52"/>
            <p:cNvSpPr>
              <a:spLocks noChangeArrowheads="1"/>
            </p:cNvSpPr>
            <p:nvPr/>
          </p:nvSpPr>
          <p:spPr bwMode="auto">
            <a:xfrm>
              <a:off x="7259637" y="3389313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2" name="Rectangle 53"/>
            <p:cNvSpPr>
              <a:spLocks noChangeArrowheads="1"/>
            </p:cNvSpPr>
            <p:nvPr/>
          </p:nvSpPr>
          <p:spPr bwMode="auto">
            <a:xfrm>
              <a:off x="7564437" y="3389313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" name="Rectangle 54"/>
            <p:cNvSpPr>
              <a:spLocks noChangeArrowheads="1"/>
            </p:cNvSpPr>
            <p:nvPr/>
          </p:nvSpPr>
          <p:spPr bwMode="auto">
            <a:xfrm>
              <a:off x="7869237" y="3389313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" name="Rectangle 9"/>
            <p:cNvSpPr>
              <a:spLocks noChangeArrowheads="1"/>
            </p:cNvSpPr>
            <p:nvPr/>
          </p:nvSpPr>
          <p:spPr bwMode="auto">
            <a:xfrm>
              <a:off x="8174037" y="3389313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45" name="Group 144"/>
          <p:cNvGrpSpPr/>
          <p:nvPr/>
        </p:nvGrpSpPr>
        <p:grpSpPr>
          <a:xfrm>
            <a:off x="4516437" y="4294847"/>
            <a:ext cx="5486400" cy="304800"/>
            <a:chOff x="2992437" y="4276726"/>
            <a:chExt cx="5486400" cy="304800"/>
          </a:xfrm>
        </p:grpSpPr>
        <p:sp>
          <p:nvSpPr>
            <p:cNvPr id="146" name="Rectangle 56"/>
            <p:cNvSpPr>
              <a:spLocks noChangeArrowheads="1"/>
            </p:cNvSpPr>
            <p:nvPr/>
          </p:nvSpPr>
          <p:spPr bwMode="auto">
            <a:xfrm>
              <a:off x="2992437" y="4276726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7" name="Rectangle 57"/>
            <p:cNvSpPr>
              <a:spLocks noChangeArrowheads="1"/>
            </p:cNvSpPr>
            <p:nvPr/>
          </p:nvSpPr>
          <p:spPr bwMode="auto">
            <a:xfrm>
              <a:off x="3297237" y="4276726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8" name="Rectangle 58"/>
            <p:cNvSpPr>
              <a:spLocks noChangeArrowheads="1"/>
            </p:cNvSpPr>
            <p:nvPr/>
          </p:nvSpPr>
          <p:spPr bwMode="auto">
            <a:xfrm>
              <a:off x="3602037" y="4276726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" name="Rectangle 59"/>
            <p:cNvSpPr>
              <a:spLocks noChangeArrowheads="1"/>
            </p:cNvSpPr>
            <p:nvPr/>
          </p:nvSpPr>
          <p:spPr bwMode="auto">
            <a:xfrm>
              <a:off x="3906837" y="4276726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0" name="Rectangle 60"/>
            <p:cNvSpPr>
              <a:spLocks noChangeArrowheads="1"/>
            </p:cNvSpPr>
            <p:nvPr/>
          </p:nvSpPr>
          <p:spPr bwMode="auto">
            <a:xfrm>
              <a:off x="4211637" y="4276726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1" name="Rectangle 61"/>
            <p:cNvSpPr>
              <a:spLocks noChangeArrowheads="1"/>
            </p:cNvSpPr>
            <p:nvPr/>
          </p:nvSpPr>
          <p:spPr bwMode="auto">
            <a:xfrm>
              <a:off x="4516437" y="4276726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2" name="Rectangle 62"/>
            <p:cNvSpPr>
              <a:spLocks noChangeArrowheads="1"/>
            </p:cNvSpPr>
            <p:nvPr/>
          </p:nvSpPr>
          <p:spPr bwMode="auto">
            <a:xfrm>
              <a:off x="4821237" y="4276726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" name="Rectangle 63"/>
            <p:cNvSpPr>
              <a:spLocks noChangeArrowheads="1"/>
            </p:cNvSpPr>
            <p:nvPr/>
          </p:nvSpPr>
          <p:spPr bwMode="auto">
            <a:xfrm>
              <a:off x="5126037" y="4276726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" name="Rectangle 64"/>
            <p:cNvSpPr>
              <a:spLocks noChangeArrowheads="1"/>
            </p:cNvSpPr>
            <p:nvPr/>
          </p:nvSpPr>
          <p:spPr bwMode="auto">
            <a:xfrm>
              <a:off x="5430837" y="4276726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" name="Rectangle 65"/>
            <p:cNvSpPr>
              <a:spLocks noChangeArrowheads="1"/>
            </p:cNvSpPr>
            <p:nvPr/>
          </p:nvSpPr>
          <p:spPr bwMode="auto">
            <a:xfrm>
              <a:off x="5735637" y="4276726"/>
              <a:ext cx="304800" cy="3048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6" name="Rectangle 66"/>
            <p:cNvSpPr>
              <a:spLocks noChangeArrowheads="1"/>
            </p:cNvSpPr>
            <p:nvPr/>
          </p:nvSpPr>
          <p:spPr bwMode="auto">
            <a:xfrm>
              <a:off x="6040437" y="4276726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7" name="Rectangle 67"/>
            <p:cNvSpPr>
              <a:spLocks noChangeArrowheads="1"/>
            </p:cNvSpPr>
            <p:nvPr/>
          </p:nvSpPr>
          <p:spPr bwMode="auto">
            <a:xfrm>
              <a:off x="6345237" y="4276726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8" name="Rectangle 68"/>
            <p:cNvSpPr>
              <a:spLocks noChangeArrowheads="1"/>
            </p:cNvSpPr>
            <p:nvPr/>
          </p:nvSpPr>
          <p:spPr bwMode="auto">
            <a:xfrm>
              <a:off x="6650037" y="4276726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9" name="Rectangle 69"/>
            <p:cNvSpPr>
              <a:spLocks noChangeArrowheads="1"/>
            </p:cNvSpPr>
            <p:nvPr/>
          </p:nvSpPr>
          <p:spPr bwMode="auto">
            <a:xfrm>
              <a:off x="6954837" y="4276726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0" name="Rectangle 70"/>
            <p:cNvSpPr>
              <a:spLocks noChangeArrowheads="1"/>
            </p:cNvSpPr>
            <p:nvPr/>
          </p:nvSpPr>
          <p:spPr bwMode="auto">
            <a:xfrm>
              <a:off x="7259637" y="4276726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1" name="Rectangle 71"/>
            <p:cNvSpPr>
              <a:spLocks noChangeArrowheads="1"/>
            </p:cNvSpPr>
            <p:nvPr/>
          </p:nvSpPr>
          <p:spPr bwMode="auto">
            <a:xfrm>
              <a:off x="7564437" y="4276726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2" name="Rectangle 72"/>
            <p:cNvSpPr>
              <a:spLocks noChangeArrowheads="1"/>
            </p:cNvSpPr>
            <p:nvPr/>
          </p:nvSpPr>
          <p:spPr bwMode="auto">
            <a:xfrm>
              <a:off x="7869237" y="4276726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" name="Rectangle 9"/>
            <p:cNvSpPr>
              <a:spLocks noChangeArrowheads="1"/>
            </p:cNvSpPr>
            <p:nvPr/>
          </p:nvSpPr>
          <p:spPr bwMode="auto">
            <a:xfrm>
              <a:off x="8174037" y="4276726"/>
              <a:ext cx="304800" cy="30015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 animBg="1"/>
      <p:bldP spid="8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外部碎片的影响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0290" y="4583998"/>
            <a:ext cx="8433731" cy="1838325"/>
          </a:xfrm>
        </p:spPr>
        <p:txBody>
          <a:bodyPr/>
          <a:lstStyle/>
          <a:p>
            <a:r>
              <a:rPr lang="zh-CN" altLang="en-US" dirty="0" smtClean="0"/>
              <a:t>绿色线条：由于外部碎片而增加的堆大小</a:t>
            </a:r>
            <a:endParaRPr lang="en-US" dirty="0"/>
          </a:p>
          <a:p>
            <a:r>
              <a:rPr lang="zh-CN" altLang="en-US" dirty="0"/>
              <a:t>最</a:t>
            </a:r>
            <a:r>
              <a:rPr lang="zh-CN" altLang="en-US" dirty="0" smtClean="0"/>
              <a:t>佳适配：一种分配策略</a:t>
            </a:r>
            <a:endParaRPr lang="en-US" dirty="0"/>
          </a:p>
          <a:p>
            <a:pPr lvl="1"/>
            <a:r>
              <a:rPr lang="zh-CN" altLang="en-US" dirty="0" smtClean="0"/>
              <a:t>（稍后讨论）</a:t>
            </a:r>
            <a:endParaRPr lang="en-US" dirty="0"/>
          </a:p>
          <a:p>
            <a:pPr lvl="1"/>
            <a:r>
              <a:rPr lang="zh-CN" altLang="en-US" dirty="0"/>
              <a:t>对于这个基准测试，总</a:t>
            </a:r>
            <a:r>
              <a:rPr lang="zh-CN" altLang="en-US" dirty="0" smtClean="0"/>
              <a:t>开销 </a:t>
            </a:r>
            <a:r>
              <a:rPr lang="en-US" dirty="0" smtClean="0"/>
              <a:t>= </a:t>
            </a:r>
            <a:r>
              <a:rPr lang="en-US" dirty="0"/>
              <a:t>8.3% 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5601" y="1148911"/>
            <a:ext cx="5659165" cy="32534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78165" y="2914612"/>
            <a:ext cx="330744" cy="110800"/>
          </a:xfrm>
          <a:prstGeom prst="rect">
            <a:avLst/>
          </a:prstGeom>
          <a:solidFill>
            <a:schemeClr val="bg1"/>
          </a:solidFill>
        </p:spPr>
        <p:txBody>
          <a:bodyPr wrap="square" lIns="9144" tIns="9144" rIns="0" bIns="9144" rtlCol="0">
            <a:spAutoFit/>
          </a:bodyPr>
          <a:lstStyle/>
          <a:p>
            <a:r>
              <a:rPr lang="en-US" sz="600" b="0" dirty="0">
                <a:latin typeface="Calibri" pitchFamily="34" charset="0"/>
              </a:rPr>
              <a:t>Allocated</a:t>
            </a:r>
            <a:endParaRPr lang="en-US" sz="600" b="0" dirty="0">
              <a:latin typeface="Calibri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178165" y="2783128"/>
            <a:ext cx="228600" cy="110800"/>
          </a:xfrm>
          <a:prstGeom prst="rect">
            <a:avLst/>
          </a:prstGeom>
          <a:solidFill>
            <a:schemeClr val="bg1"/>
          </a:solidFill>
        </p:spPr>
        <p:txBody>
          <a:bodyPr wrap="square" lIns="9144" tIns="9144" rIns="0" bIns="9144" rtlCol="0">
            <a:spAutoFit/>
          </a:bodyPr>
          <a:lstStyle/>
          <a:p>
            <a:r>
              <a:rPr lang="en-US" sz="600" b="0" dirty="0">
                <a:latin typeface="Calibri" pitchFamily="34" charset="0"/>
              </a:rPr>
              <a:t>Peak</a:t>
            </a:r>
            <a:endParaRPr lang="en-US" sz="600" b="0" dirty="0">
              <a:latin typeface="Calibri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178165" y="2651644"/>
            <a:ext cx="781050" cy="110800"/>
          </a:xfrm>
          <a:prstGeom prst="rect">
            <a:avLst/>
          </a:prstGeom>
          <a:solidFill>
            <a:schemeClr val="bg1"/>
          </a:solidFill>
        </p:spPr>
        <p:txBody>
          <a:bodyPr wrap="square" lIns="9144" tIns="9144" rIns="0" bIns="9144" rtlCol="0">
            <a:spAutoFit/>
          </a:bodyPr>
          <a:lstStyle/>
          <a:p>
            <a:r>
              <a:rPr lang="en-US" sz="600" b="0" dirty="0">
                <a:latin typeface="Calibri" pitchFamily="34" charset="0"/>
              </a:rPr>
              <a:t>Peak + Internal Frag</a:t>
            </a:r>
            <a:endParaRPr lang="en-US" sz="600" b="0" dirty="0">
              <a:latin typeface="Calibri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178165" y="2518139"/>
            <a:ext cx="781050" cy="110800"/>
          </a:xfrm>
          <a:prstGeom prst="rect">
            <a:avLst/>
          </a:prstGeom>
          <a:solidFill>
            <a:schemeClr val="bg1"/>
          </a:solidFill>
        </p:spPr>
        <p:txBody>
          <a:bodyPr wrap="square" lIns="9144" tIns="9144" rIns="0" bIns="9144" rtlCol="0">
            <a:spAutoFit/>
          </a:bodyPr>
          <a:lstStyle/>
          <a:p>
            <a:r>
              <a:rPr lang="en-US" sz="600" b="0" dirty="0">
                <a:latin typeface="Calibri" pitchFamily="34" charset="0"/>
              </a:rPr>
              <a:t>Peak + All Frag (Best Fit)</a:t>
            </a:r>
            <a:endParaRPr lang="en-US" sz="600" b="0" dirty="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</a:t>
            </a:r>
            <a:r>
              <a:rPr lang="zh-CN" altLang="en-US" dirty="0" smtClean="0"/>
              <a:t>现问题</a:t>
            </a:r>
            <a:endParaRPr lang="en-US" dirty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仅根据一个指针，如何知道要释放多少内存</a:t>
            </a:r>
            <a:r>
              <a:rPr lang="en-US" altLang="zh-CN" dirty="0" smtClean="0"/>
              <a:t>?</a:t>
            </a:r>
            <a:endParaRPr lang="en-US" dirty="0" smtClean="0"/>
          </a:p>
          <a:p>
            <a:endParaRPr lang="en-US" dirty="0" smtClean="0"/>
          </a:p>
          <a:p>
            <a:r>
              <a:rPr lang="zh-CN" altLang="en-US" dirty="0"/>
              <a:t>如</a:t>
            </a:r>
            <a:r>
              <a:rPr lang="zh-CN" altLang="en-US" dirty="0" smtClean="0"/>
              <a:t>何跟踪空闲块？</a:t>
            </a:r>
            <a:endParaRPr lang="en-US" dirty="0"/>
          </a:p>
          <a:p>
            <a:endParaRPr lang="en-US" dirty="0"/>
          </a:p>
          <a:p>
            <a:r>
              <a:rPr lang="zh-CN" altLang="en-US" dirty="0"/>
              <a:t>当分配一个比其所在空闲块更小的结构时，如</a:t>
            </a:r>
            <a:r>
              <a:rPr lang="zh-CN" altLang="en-US" dirty="0" smtClean="0"/>
              <a:t>何处理多余的空间？</a:t>
            </a:r>
            <a:endParaRPr lang="en-US" dirty="0"/>
          </a:p>
          <a:p>
            <a:endParaRPr lang="en-US" dirty="0"/>
          </a:p>
          <a:p>
            <a:r>
              <a:rPr lang="zh-CN" altLang="en-US" dirty="0" smtClean="0"/>
              <a:t>如何选择一个内存块进行分配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许多内存块都可能合适？</a:t>
            </a:r>
            <a:endParaRPr lang="en-US" dirty="0"/>
          </a:p>
          <a:p>
            <a:endParaRPr lang="en-US" dirty="0"/>
          </a:p>
          <a:p>
            <a:r>
              <a:rPr lang="zh-CN" altLang="en-US" dirty="0"/>
              <a:t>如</a:t>
            </a:r>
            <a:r>
              <a:rPr lang="zh-CN" altLang="en-US" dirty="0" smtClean="0"/>
              <a:t>何重复使用已被释放的内存块？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知道要释放多少空间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0876" y="1197679"/>
            <a:ext cx="7896225" cy="5136447"/>
          </a:xfrm>
        </p:spPr>
        <p:txBody>
          <a:bodyPr/>
          <a:lstStyle/>
          <a:p>
            <a:r>
              <a:rPr lang="zh-CN" altLang="en-US" dirty="0"/>
              <a:t>标</a:t>
            </a:r>
            <a:r>
              <a:rPr lang="zh-CN" altLang="en-US" dirty="0" smtClean="0"/>
              <a:t>准方法</a:t>
            </a:r>
            <a:endParaRPr lang="en-US" dirty="0"/>
          </a:p>
          <a:p>
            <a:pPr lvl="1"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zh-CN" altLang="en-US" dirty="0" smtClean="0"/>
              <a:t>把保存内存块长度（以字节为单位）的字放在这个块的</a:t>
            </a:r>
            <a:r>
              <a:rPr lang="zh-CN" altLang="en-US" i="1" dirty="0" smtClean="0"/>
              <a:t>前面</a:t>
            </a:r>
            <a:endParaRPr lang="en-GB" dirty="0"/>
          </a:p>
          <a:p>
            <a:pPr lvl="2"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zh-CN" altLang="en-US" dirty="0" smtClean="0"/>
              <a:t>包含表头</a:t>
            </a:r>
            <a:endParaRPr lang="en-GB" dirty="0"/>
          </a:p>
          <a:p>
            <a:pPr lvl="2"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zh-CN" altLang="en-US" dirty="0" smtClean="0"/>
              <a:t>这个字通常被称为</a:t>
            </a:r>
            <a:r>
              <a:rPr lang="zh-CN" altLang="en-US" b="1" i="1" dirty="0">
                <a:solidFill>
                  <a:srgbClr val="C00000"/>
                </a:solidFill>
              </a:rPr>
              <a:t>头部字</a:t>
            </a:r>
            <a:r>
              <a:rPr lang="zh-CN" altLang="en-US" b="1" i="1" dirty="0" smtClean="0">
                <a:solidFill>
                  <a:srgbClr val="C00000"/>
                </a:solidFill>
              </a:rPr>
              <a:t>段  </a:t>
            </a:r>
            <a:r>
              <a:rPr lang="zh-CN" altLang="en-US" dirty="0" smtClean="0"/>
              <a:t>或 </a:t>
            </a:r>
            <a:r>
              <a:rPr lang="zh-CN" altLang="en-US" b="1" i="1" dirty="0" smtClean="0">
                <a:solidFill>
                  <a:srgbClr val="C00000"/>
                </a:solidFill>
              </a:rPr>
              <a:t>头部 </a:t>
            </a:r>
            <a:endParaRPr lang="en-GB" b="1" i="1" dirty="0">
              <a:solidFill>
                <a:srgbClr val="C00000"/>
              </a:solidFill>
            </a:endParaRPr>
          </a:p>
          <a:p>
            <a:pPr lvl="1"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zh-CN" altLang="en-US" dirty="0" smtClean="0"/>
              <a:t>每个分配的内存块都需要一个附加字</a:t>
            </a:r>
            <a:endParaRPr lang="en-GB" dirty="0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165306" y="4014430"/>
            <a:ext cx="2033227" cy="329643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ourier New" panose="02070609020205020404" pitchFamily="49" charset="0"/>
              </a:rPr>
              <a:t>p0 = malloc(32)</a:t>
            </a:r>
            <a:endParaRPr lang="en-GB" sz="1600" dirty="0">
              <a:latin typeface="Courier New" panose="02070609020205020404" pitchFamily="49" charset="0"/>
            </a:endParaRPr>
          </a:p>
        </p:txBody>
      </p:sp>
      <p:sp>
        <p:nvSpPr>
          <p:cNvPr id="40" name="Text Box 39"/>
          <p:cNvSpPr txBox="1">
            <a:spLocks noChangeArrowheads="1"/>
          </p:cNvSpPr>
          <p:nvPr/>
        </p:nvSpPr>
        <p:spPr bwMode="auto">
          <a:xfrm>
            <a:off x="6934200" y="3733800"/>
            <a:ext cx="425450" cy="32385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ourier New" panose="02070609020205020404" pitchFamily="49" charset="0"/>
              </a:rPr>
              <a:t>p0</a:t>
            </a:r>
            <a:endParaRPr lang="en-GB" sz="1600">
              <a:latin typeface="Courier New" panose="02070609020205020404" pitchFamily="49" charset="0"/>
            </a:endParaRPr>
          </a:p>
        </p:txBody>
      </p:sp>
      <p:sp>
        <p:nvSpPr>
          <p:cNvPr id="41" name="Rectangle 40"/>
          <p:cNvSpPr>
            <a:spLocks noChangeArrowheads="1"/>
          </p:cNvSpPr>
          <p:nvPr/>
        </p:nvSpPr>
        <p:spPr bwMode="auto">
          <a:xfrm>
            <a:off x="4035425" y="4343400"/>
            <a:ext cx="304800" cy="304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2" name="Rectangle 41"/>
          <p:cNvSpPr>
            <a:spLocks noChangeArrowheads="1"/>
          </p:cNvSpPr>
          <p:nvPr/>
        </p:nvSpPr>
        <p:spPr bwMode="auto">
          <a:xfrm>
            <a:off x="4340225" y="4343400"/>
            <a:ext cx="304800" cy="304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Rectangle 42"/>
          <p:cNvSpPr>
            <a:spLocks noChangeArrowheads="1"/>
          </p:cNvSpPr>
          <p:nvPr/>
        </p:nvSpPr>
        <p:spPr bwMode="auto">
          <a:xfrm>
            <a:off x="4645025" y="4343400"/>
            <a:ext cx="304800" cy="30480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" name="Rectangle 43"/>
          <p:cNvSpPr>
            <a:spLocks noChangeArrowheads="1"/>
          </p:cNvSpPr>
          <p:nvPr/>
        </p:nvSpPr>
        <p:spPr bwMode="auto">
          <a:xfrm>
            <a:off x="4949825" y="4343400"/>
            <a:ext cx="304800" cy="30480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5" name="Rectangle 44"/>
          <p:cNvSpPr>
            <a:spLocks noChangeArrowheads="1"/>
          </p:cNvSpPr>
          <p:nvPr/>
        </p:nvSpPr>
        <p:spPr bwMode="auto">
          <a:xfrm>
            <a:off x="5254625" y="4343400"/>
            <a:ext cx="304800" cy="304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6" name="Rectangle 45"/>
          <p:cNvSpPr>
            <a:spLocks noChangeArrowheads="1"/>
          </p:cNvSpPr>
          <p:nvPr/>
        </p:nvSpPr>
        <p:spPr bwMode="auto">
          <a:xfrm>
            <a:off x="5559425" y="4343400"/>
            <a:ext cx="304800" cy="304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7" name="Rectangle 46"/>
          <p:cNvSpPr>
            <a:spLocks noChangeArrowheads="1"/>
          </p:cNvSpPr>
          <p:nvPr/>
        </p:nvSpPr>
        <p:spPr bwMode="auto">
          <a:xfrm>
            <a:off x="5864225" y="4343400"/>
            <a:ext cx="304800" cy="30480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8" name="Rectangle 47"/>
          <p:cNvSpPr>
            <a:spLocks noChangeArrowheads="1"/>
          </p:cNvSpPr>
          <p:nvPr/>
        </p:nvSpPr>
        <p:spPr bwMode="auto">
          <a:xfrm>
            <a:off x="6169025" y="4343400"/>
            <a:ext cx="304800" cy="30480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9" name="Rectangle 48"/>
          <p:cNvSpPr>
            <a:spLocks noChangeArrowheads="1"/>
          </p:cNvSpPr>
          <p:nvPr/>
        </p:nvSpPr>
        <p:spPr bwMode="auto">
          <a:xfrm>
            <a:off x="6473825" y="4343400"/>
            <a:ext cx="304800" cy="30480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" name="Rectangle 49"/>
          <p:cNvSpPr>
            <a:spLocks noChangeArrowheads="1"/>
          </p:cNvSpPr>
          <p:nvPr/>
        </p:nvSpPr>
        <p:spPr bwMode="auto">
          <a:xfrm>
            <a:off x="7083425" y="4343400"/>
            <a:ext cx="304800" cy="3048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" name="Rectangle 50"/>
          <p:cNvSpPr>
            <a:spLocks noChangeArrowheads="1"/>
          </p:cNvSpPr>
          <p:nvPr/>
        </p:nvSpPr>
        <p:spPr bwMode="auto">
          <a:xfrm>
            <a:off x="7388225" y="4343400"/>
            <a:ext cx="304800" cy="3048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" name="Rectangle 51"/>
          <p:cNvSpPr>
            <a:spLocks noChangeArrowheads="1"/>
          </p:cNvSpPr>
          <p:nvPr/>
        </p:nvSpPr>
        <p:spPr bwMode="auto">
          <a:xfrm>
            <a:off x="7693025" y="4343400"/>
            <a:ext cx="304800" cy="3048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" name="Rectangle 52"/>
          <p:cNvSpPr>
            <a:spLocks noChangeArrowheads="1"/>
          </p:cNvSpPr>
          <p:nvPr/>
        </p:nvSpPr>
        <p:spPr bwMode="auto">
          <a:xfrm>
            <a:off x="7997825" y="4343400"/>
            <a:ext cx="304800" cy="3048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" name="Rectangle 53"/>
          <p:cNvSpPr>
            <a:spLocks noChangeArrowheads="1"/>
          </p:cNvSpPr>
          <p:nvPr/>
        </p:nvSpPr>
        <p:spPr bwMode="auto">
          <a:xfrm>
            <a:off x="8302625" y="4343400"/>
            <a:ext cx="304800" cy="304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" name="Rectangle 54"/>
          <p:cNvSpPr>
            <a:spLocks noChangeArrowheads="1"/>
          </p:cNvSpPr>
          <p:nvPr/>
        </p:nvSpPr>
        <p:spPr bwMode="auto">
          <a:xfrm>
            <a:off x="8607425" y="4343400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6" name="Line 55"/>
          <p:cNvSpPr>
            <a:spLocks noChangeShapeType="1"/>
          </p:cNvSpPr>
          <p:nvPr/>
        </p:nvSpPr>
        <p:spPr bwMode="auto">
          <a:xfrm>
            <a:off x="8602662" y="4152900"/>
            <a:ext cx="1588" cy="6858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709228" y="5665237"/>
            <a:ext cx="1169208" cy="325988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ourier New" panose="02070609020205020404" pitchFamily="49" charset="0"/>
              </a:rPr>
              <a:t>free(p0)</a:t>
            </a:r>
            <a:endParaRPr lang="en-GB" sz="1600" dirty="0">
              <a:latin typeface="Courier New" panose="02070609020205020404" pitchFamily="49" charset="0"/>
            </a:endParaRPr>
          </a:p>
        </p:txBody>
      </p:sp>
      <p:sp>
        <p:nvSpPr>
          <p:cNvPr id="58" name="Text Box 57"/>
          <p:cNvSpPr txBox="1">
            <a:spLocks noChangeArrowheads="1"/>
          </p:cNvSpPr>
          <p:nvPr/>
        </p:nvSpPr>
        <p:spPr bwMode="auto">
          <a:xfrm>
            <a:off x="6438986" y="5129817"/>
            <a:ext cx="802120" cy="577082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 smtClean="0">
                <a:latin typeface="Calibri" pitchFamily="34" charset="0"/>
              </a:rPr>
              <a:t>内存块</a:t>
            </a:r>
            <a:endParaRPr lang="en-US" altLang="zh-CN" sz="1600" dirty="0" smtClean="0">
              <a:latin typeface="Calibri" pitchFamily="34" charset="0"/>
            </a:endParaRP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 smtClean="0">
                <a:latin typeface="Calibri" pitchFamily="34" charset="0"/>
              </a:rPr>
              <a:t>大小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60" name="Text Box 59"/>
          <p:cNvSpPr txBox="1">
            <a:spLocks noChangeArrowheads="1"/>
          </p:cNvSpPr>
          <p:nvPr/>
        </p:nvSpPr>
        <p:spPr bwMode="auto">
          <a:xfrm>
            <a:off x="7595612" y="5129816"/>
            <a:ext cx="1215695" cy="577082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 smtClean="0">
                <a:latin typeface="Calibri" pitchFamily="34" charset="0"/>
              </a:rPr>
              <a:t>有效负载</a:t>
            </a:r>
            <a:endParaRPr lang="en-US" altLang="zh-CN" sz="1600" dirty="0" smtClean="0">
              <a:latin typeface="Calibri" pitchFamily="34" charset="0"/>
            </a:endParaRP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 smtClean="0">
                <a:latin typeface="Calibri" pitchFamily="34" charset="0"/>
              </a:rPr>
              <a:t>（对齐的）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65" name="Line 64"/>
          <p:cNvSpPr>
            <a:spLocks noChangeShapeType="1"/>
          </p:cNvSpPr>
          <p:nvPr/>
        </p:nvSpPr>
        <p:spPr bwMode="auto">
          <a:xfrm>
            <a:off x="7136113" y="4038600"/>
            <a:ext cx="1588" cy="304800"/>
          </a:xfrm>
          <a:prstGeom prst="line">
            <a:avLst/>
          </a:prstGeom>
          <a:noFill/>
          <a:ln w="25560">
            <a:solidFill>
              <a:schemeClr val="tx1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7" name="Rectangle 66"/>
          <p:cNvSpPr>
            <a:spLocks noChangeArrowheads="1"/>
          </p:cNvSpPr>
          <p:nvPr/>
        </p:nvSpPr>
        <p:spPr bwMode="auto">
          <a:xfrm>
            <a:off x="6778625" y="4343400"/>
            <a:ext cx="304800" cy="304800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0" dirty="0">
                <a:latin typeface="Calibri" pitchFamily="34" charset="0"/>
              </a:rPr>
              <a:t>48</a:t>
            </a:r>
            <a:endParaRPr lang="en-GB" sz="1600" b="0" dirty="0">
              <a:latin typeface="Calibri" pitchFamily="34" charset="0"/>
            </a:endParaRPr>
          </a:p>
        </p:txBody>
      </p:sp>
      <p:sp>
        <p:nvSpPr>
          <p:cNvPr id="66" name="Line 65"/>
          <p:cNvSpPr>
            <a:spLocks noChangeShapeType="1"/>
          </p:cNvSpPr>
          <p:nvPr/>
        </p:nvSpPr>
        <p:spPr bwMode="auto">
          <a:xfrm>
            <a:off x="6778625" y="4166286"/>
            <a:ext cx="1588" cy="6858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cxnSp>
        <p:nvCxnSpPr>
          <p:cNvPr id="69" name="Straight Arrow Connector 68"/>
          <p:cNvCxnSpPr>
            <a:endCxn id="67" idx="2"/>
          </p:cNvCxnSpPr>
          <p:nvPr/>
        </p:nvCxnSpPr>
        <p:spPr bwMode="auto">
          <a:xfrm rot="16200000" flipV="1">
            <a:off x="6703695" y="4875531"/>
            <a:ext cx="457200" cy="2539"/>
          </a:xfrm>
          <a:prstGeom prst="straightConnector1">
            <a:avLst/>
          </a:prstGeom>
          <a:noFill/>
          <a:ln w="12700">
            <a:solidFill>
              <a:srgbClr val="000000"/>
            </a:solidFill>
            <a:miter lim="800000"/>
            <a:headEnd type="none" w="med" len="med"/>
            <a:tailEnd type="arrow"/>
          </a:ln>
          <a:effectLst/>
        </p:spPr>
      </p:cxnSp>
      <p:cxnSp>
        <p:nvCxnSpPr>
          <p:cNvPr id="71" name="Straight Arrow Connector 70"/>
          <p:cNvCxnSpPr>
            <a:endCxn id="50" idx="2"/>
          </p:cNvCxnSpPr>
          <p:nvPr/>
        </p:nvCxnSpPr>
        <p:spPr bwMode="auto">
          <a:xfrm flipH="1" flipV="1">
            <a:off x="7235826" y="4648200"/>
            <a:ext cx="822593" cy="457200"/>
          </a:xfrm>
          <a:prstGeom prst="straightConnector1">
            <a:avLst/>
          </a:prstGeom>
          <a:noFill/>
          <a:ln w="12700">
            <a:solidFill>
              <a:srgbClr val="000000"/>
            </a:solidFill>
            <a:miter lim="800000"/>
            <a:headEnd type="none" w="med" len="med"/>
            <a:tailEnd type="arrow"/>
          </a:ln>
          <a:effectLst/>
        </p:spPr>
      </p:cxnSp>
      <p:cxnSp>
        <p:nvCxnSpPr>
          <p:cNvPr id="73" name="Straight Arrow Connector 72"/>
          <p:cNvCxnSpPr>
            <a:endCxn id="51" idx="2"/>
          </p:cNvCxnSpPr>
          <p:nvPr/>
        </p:nvCxnSpPr>
        <p:spPr bwMode="auto">
          <a:xfrm flipH="1" flipV="1">
            <a:off x="7540626" y="4648200"/>
            <a:ext cx="517793" cy="457200"/>
          </a:xfrm>
          <a:prstGeom prst="straightConnector1">
            <a:avLst/>
          </a:prstGeom>
          <a:noFill/>
          <a:ln w="12700">
            <a:solidFill>
              <a:srgbClr val="000000"/>
            </a:solidFill>
            <a:miter lim="800000"/>
            <a:headEnd type="none" w="med" len="med"/>
            <a:tailEnd type="arrow"/>
          </a:ln>
          <a:effectLst/>
        </p:spPr>
      </p:cxnSp>
      <p:cxnSp>
        <p:nvCxnSpPr>
          <p:cNvPr id="77" name="Straight Arrow Connector 76"/>
          <p:cNvCxnSpPr>
            <a:endCxn id="52" idx="2"/>
          </p:cNvCxnSpPr>
          <p:nvPr/>
        </p:nvCxnSpPr>
        <p:spPr bwMode="auto">
          <a:xfrm flipH="1" flipV="1">
            <a:off x="7845426" y="4648200"/>
            <a:ext cx="212993" cy="457200"/>
          </a:xfrm>
          <a:prstGeom prst="straightConnector1">
            <a:avLst/>
          </a:prstGeom>
          <a:noFill/>
          <a:ln w="12700">
            <a:solidFill>
              <a:srgbClr val="000000"/>
            </a:solidFill>
            <a:miter lim="800000"/>
            <a:headEnd type="none" w="med" len="med"/>
            <a:tailEnd type="arrow"/>
          </a:ln>
          <a:effectLst/>
        </p:spPr>
      </p:cxnSp>
      <p:cxnSp>
        <p:nvCxnSpPr>
          <p:cNvPr id="79" name="Straight Arrow Connector 78"/>
          <p:cNvCxnSpPr>
            <a:endCxn id="53" idx="2"/>
          </p:cNvCxnSpPr>
          <p:nvPr/>
        </p:nvCxnSpPr>
        <p:spPr bwMode="auto">
          <a:xfrm flipV="1">
            <a:off x="8058419" y="4648200"/>
            <a:ext cx="91807" cy="457200"/>
          </a:xfrm>
          <a:prstGeom prst="straightConnector1">
            <a:avLst/>
          </a:prstGeom>
          <a:noFill/>
          <a:ln w="12700">
            <a:solidFill>
              <a:srgbClr val="000000"/>
            </a:solidFill>
            <a:miter lim="800000"/>
            <a:headEnd type="none" w="med" len="med"/>
            <a:tailEnd type="arrow"/>
          </a:ln>
          <a:effectLst/>
        </p:spPr>
      </p:cxn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035425" y="3429000"/>
            <a:ext cx="304800" cy="304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4340225" y="3429000"/>
            <a:ext cx="304800" cy="304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645025" y="3429000"/>
            <a:ext cx="304800" cy="30480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4949825" y="3429000"/>
            <a:ext cx="304800" cy="30480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5254625" y="3429000"/>
            <a:ext cx="304800" cy="304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5559425" y="3429000"/>
            <a:ext cx="304800" cy="304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5864225" y="3429000"/>
            <a:ext cx="304800" cy="30480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6169025" y="3429000"/>
            <a:ext cx="304800" cy="30480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6473825" y="3429000"/>
            <a:ext cx="304800" cy="30480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7083425" y="3429000"/>
            <a:ext cx="304800" cy="304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7388225" y="3429000"/>
            <a:ext cx="304800" cy="304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7693025" y="3429000"/>
            <a:ext cx="304800" cy="304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7997825" y="3429000"/>
            <a:ext cx="304800" cy="304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8302625" y="3429000"/>
            <a:ext cx="304800" cy="304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8607425" y="3429000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8912225" y="3429000"/>
            <a:ext cx="304800" cy="30480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6778625" y="3429000"/>
            <a:ext cx="304800" cy="304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0" name="Rectangle 69"/>
          <p:cNvSpPr>
            <a:spLocks noChangeArrowheads="1"/>
          </p:cNvSpPr>
          <p:nvPr/>
        </p:nvSpPr>
        <p:spPr bwMode="auto">
          <a:xfrm>
            <a:off x="9220200" y="3429000"/>
            <a:ext cx="304800" cy="30480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" name="Rectangle 71"/>
          <p:cNvSpPr>
            <a:spLocks noChangeArrowheads="1"/>
          </p:cNvSpPr>
          <p:nvPr/>
        </p:nvSpPr>
        <p:spPr bwMode="auto">
          <a:xfrm>
            <a:off x="8912225" y="4343400"/>
            <a:ext cx="304800" cy="30480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" name="Rectangle 73"/>
          <p:cNvSpPr>
            <a:spLocks noChangeArrowheads="1"/>
          </p:cNvSpPr>
          <p:nvPr/>
        </p:nvSpPr>
        <p:spPr bwMode="auto">
          <a:xfrm>
            <a:off x="9220200" y="4343400"/>
            <a:ext cx="304800" cy="30480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3" name="Group 22"/>
          <p:cNvGrpSpPr/>
          <p:nvPr/>
        </p:nvGrpSpPr>
        <p:grpSpPr>
          <a:xfrm>
            <a:off x="3998755" y="5991225"/>
            <a:ext cx="5489575" cy="304800"/>
            <a:chOff x="2474754" y="5991225"/>
            <a:chExt cx="5489575" cy="304800"/>
          </a:xfrm>
        </p:grpSpPr>
        <p:sp>
          <p:nvSpPr>
            <p:cNvPr id="76" name="Rectangle 75"/>
            <p:cNvSpPr>
              <a:spLocks noChangeArrowheads="1"/>
            </p:cNvSpPr>
            <p:nvPr/>
          </p:nvSpPr>
          <p:spPr bwMode="auto">
            <a:xfrm>
              <a:off x="2474754" y="5991225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" name="Rectangle 77"/>
            <p:cNvSpPr>
              <a:spLocks noChangeArrowheads="1"/>
            </p:cNvSpPr>
            <p:nvPr/>
          </p:nvSpPr>
          <p:spPr bwMode="auto">
            <a:xfrm>
              <a:off x="2779554" y="5991225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" name="Rectangle 79"/>
            <p:cNvSpPr>
              <a:spLocks noChangeArrowheads="1"/>
            </p:cNvSpPr>
            <p:nvPr/>
          </p:nvSpPr>
          <p:spPr bwMode="auto">
            <a:xfrm>
              <a:off x="3084354" y="5991225"/>
              <a:ext cx="304800" cy="304800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" name="Rectangle 80"/>
            <p:cNvSpPr>
              <a:spLocks noChangeArrowheads="1"/>
            </p:cNvSpPr>
            <p:nvPr/>
          </p:nvSpPr>
          <p:spPr bwMode="auto">
            <a:xfrm>
              <a:off x="3389154" y="5991225"/>
              <a:ext cx="304800" cy="304800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" name="Rectangle 81"/>
            <p:cNvSpPr>
              <a:spLocks noChangeArrowheads="1"/>
            </p:cNvSpPr>
            <p:nvPr/>
          </p:nvSpPr>
          <p:spPr bwMode="auto">
            <a:xfrm>
              <a:off x="3693954" y="5991225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" name="Rectangle 82"/>
            <p:cNvSpPr>
              <a:spLocks noChangeArrowheads="1"/>
            </p:cNvSpPr>
            <p:nvPr/>
          </p:nvSpPr>
          <p:spPr bwMode="auto">
            <a:xfrm>
              <a:off x="3998754" y="5991225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" name="Rectangle 83"/>
            <p:cNvSpPr>
              <a:spLocks noChangeArrowheads="1"/>
            </p:cNvSpPr>
            <p:nvPr/>
          </p:nvSpPr>
          <p:spPr bwMode="auto">
            <a:xfrm>
              <a:off x="4303554" y="5991225"/>
              <a:ext cx="304800" cy="304800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" name="Rectangle 84"/>
            <p:cNvSpPr>
              <a:spLocks noChangeArrowheads="1"/>
            </p:cNvSpPr>
            <p:nvPr/>
          </p:nvSpPr>
          <p:spPr bwMode="auto">
            <a:xfrm>
              <a:off x="4608354" y="5991225"/>
              <a:ext cx="304800" cy="304800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" name="Rectangle 85"/>
            <p:cNvSpPr>
              <a:spLocks noChangeArrowheads="1"/>
            </p:cNvSpPr>
            <p:nvPr/>
          </p:nvSpPr>
          <p:spPr bwMode="auto">
            <a:xfrm>
              <a:off x="4913154" y="5991225"/>
              <a:ext cx="304800" cy="304800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7" name="Rectangle 86"/>
            <p:cNvSpPr>
              <a:spLocks noChangeArrowheads="1"/>
            </p:cNvSpPr>
            <p:nvPr/>
          </p:nvSpPr>
          <p:spPr bwMode="auto">
            <a:xfrm>
              <a:off x="5522754" y="5991225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8" name="Rectangle 87"/>
            <p:cNvSpPr>
              <a:spLocks noChangeArrowheads="1"/>
            </p:cNvSpPr>
            <p:nvPr/>
          </p:nvSpPr>
          <p:spPr bwMode="auto">
            <a:xfrm>
              <a:off x="5827554" y="5991225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" name="Rectangle 88"/>
            <p:cNvSpPr>
              <a:spLocks noChangeArrowheads="1"/>
            </p:cNvSpPr>
            <p:nvPr/>
          </p:nvSpPr>
          <p:spPr bwMode="auto">
            <a:xfrm>
              <a:off x="6132354" y="5991225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" name="Rectangle 89"/>
            <p:cNvSpPr>
              <a:spLocks noChangeArrowheads="1"/>
            </p:cNvSpPr>
            <p:nvPr/>
          </p:nvSpPr>
          <p:spPr bwMode="auto">
            <a:xfrm>
              <a:off x="6437154" y="5991225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" name="Rectangle 90"/>
            <p:cNvSpPr>
              <a:spLocks noChangeArrowheads="1"/>
            </p:cNvSpPr>
            <p:nvPr/>
          </p:nvSpPr>
          <p:spPr bwMode="auto">
            <a:xfrm>
              <a:off x="6741954" y="5991225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" name="Rectangle 91"/>
            <p:cNvSpPr>
              <a:spLocks noChangeArrowheads="1"/>
            </p:cNvSpPr>
            <p:nvPr/>
          </p:nvSpPr>
          <p:spPr bwMode="auto">
            <a:xfrm>
              <a:off x="7046754" y="5991225"/>
              <a:ext cx="304800" cy="3048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" name="Rectangle 92"/>
            <p:cNvSpPr>
              <a:spLocks noChangeArrowheads="1"/>
            </p:cNvSpPr>
            <p:nvPr/>
          </p:nvSpPr>
          <p:spPr bwMode="auto">
            <a:xfrm>
              <a:off x="7351554" y="5991225"/>
              <a:ext cx="304800" cy="304800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4" name="Rectangle 93"/>
            <p:cNvSpPr>
              <a:spLocks noChangeArrowheads="1"/>
            </p:cNvSpPr>
            <p:nvPr/>
          </p:nvSpPr>
          <p:spPr bwMode="auto">
            <a:xfrm>
              <a:off x="5217954" y="5991225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5" name="Rectangle 94"/>
            <p:cNvSpPr>
              <a:spLocks noChangeArrowheads="1"/>
            </p:cNvSpPr>
            <p:nvPr/>
          </p:nvSpPr>
          <p:spPr bwMode="auto">
            <a:xfrm>
              <a:off x="7659529" y="5991225"/>
              <a:ext cx="304800" cy="304800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cxnSp>
        <p:nvCxnSpPr>
          <p:cNvPr id="96" name="Straight Arrow Connector 95"/>
          <p:cNvCxnSpPr/>
          <p:nvPr/>
        </p:nvCxnSpPr>
        <p:spPr bwMode="auto">
          <a:xfrm flipH="1" flipV="1">
            <a:off x="8456944" y="4648200"/>
            <a:ext cx="332214" cy="481616"/>
          </a:xfrm>
          <a:prstGeom prst="straightConnector1">
            <a:avLst/>
          </a:prstGeom>
          <a:noFill/>
          <a:ln w="12700">
            <a:solidFill>
              <a:srgbClr val="000000"/>
            </a:solidFill>
            <a:miter lim="800000"/>
            <a:headEnd type="none" w="med" len="med"/>
            <a:tailEnd type="arrow"/>
          </a:ln>
          <a:effectLst/>
        </p:spPr>
      </p:cxnSp>
      <p:sp>
        <p:nvSpPr>
          <p:cNvPr id="97" name="Text Box 57"/>
          <p:cNvSpPr txBox="1">
            <a:spLocks noChangeArrowheads="1"/>
          </p:cNvSpPr>
          <p:nvPr/>
        </p:nvSpPr>
        <p:spPr bwMode="auto">
          <a:xfrm>
            <a:off x="8651448" y="5129816"/>
            <a:ext cx="1438512" cy="577082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 smtClean="0">
                <a:latin typeface="Calibri" pitchFamily="34" charset="0"/>
              </a:rPr>
              <a:t>填充字</a:t>
            </a:r>
            <a:endParaRPr lang="en-US" altLang="zh-CN" sz="1600" dirty="0" smtClean="0">
              <a:latin typeface="Calibri" pitchFamily="34" charset="0"/>
            </a:endParaRP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 smtClean="0">
                <a:latin typeface="Calibri" pitchFamily="34" charset="0"/>
              </a:rPr>
              <a:t>（用于对齐）</a:t>
            </a:r>
            <a:endParaRPr lang="en-GB" sz="1600" dirty="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/>
          <p:nvPr/>
        </p:nvSpPr>
        <p:spPr bwMode="auto">
          <a:xfrm>
            <a:off x="1920876" y="1197678"/>
            <a:ext cx="7146925" cy="185032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持续跟踪空闲块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0876" y="1254210"/>
            <a:ext cx="8289925" cy="5375190"/>
          </a:xfrm>
        </p:spPr>
        <p:txBody>
          <a:bodyPr/>
          <a:lstStyle/>
          <a:p>
            <a:r>
              <a:rPr lang="zh-CN" altLang="en-US" dirty="0" smtClean="0"/>
              <a:t>方法</a:t>
            </a:r>
            <a:r>
              <a:rPr lang="en-US" altLang="zh-CN" dirty="0" smtClean="0"/>
              <a:t>1</a:t>
            </a:r>
            <a:r>
              <a:rPr lang="zh-CN" altLang="en-US" dirty="0" smtClean="0"/>
              <a:t>：用</a:t>
            </a:r>
            <a:r>
              <a:rPr lang="zh-CN" altLang="en-US" dirty="0"/>
              <a:t>长度链接所有内存块的</a:t>
            </a:r>
            <a:r>
              <a:rPr lang="zh-CN" altLang="en-US" i="1" dirty="0" smtClean="0">
                <a:solidFill>
                  <a:srgbClr val="C00000"/>
                </a:solidFill>
              </a:rPr>
              <a:t>隐式列表</a:t>
            </a:r>
            <a:r>
              <a:rPr lang="en-US" i="1" dirty="0" smtClean="0">
                <a:solidFill>
                  <a:srgbClr val="C00000"/>
                </a:solidFill>
              </a:rPr>
              <a:t> 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zh-CN" altLang="en-US" dirty="0" smtClean="0"/>
              <a:t>方法</a:t>
            </a:r>
            <a:r>
              <a:rPr lang="en-US" altLang="zh-CN" dirty="0" smtClean="0"/>
              <a:t>2</a:t>
            </a:r>
            <a:r>
              <a:rPr lang="zh-CN" altLang="en-US" dirty="0" smtClean="0"/>
              <a:t>：用指针在空闲块中建立</a:t>
            </a:r>
            <a:r>
              <a:rPr lang="zh-CN" altLang="en-US" i="1" dirty="0" smtClean="0">
                <a:solidFill>
                  <a:srgbClr val="C00000"/>
                </a:solidFill>
              </a:rPr>
              <a:t>显式列表</a:t>
            </a:r>
            <a:r>
              <a:rPr lang="en-GB" dirty="0" smtClean="0">
                <a:solidFill>
                  <a:srgbClr val="C00000"/>
                </a:solidFill>
              </a:rPr>
              <a:t> </a:t>
            </a:r>
            <a:endParaRPr lang="en-GB" dirty="0"/>
          </a:p>
          <a:p>
            <a:endParaRPr lang="en-GB" dirty="0"/>
          </a:p>
          <a:p>
            <a:pPr>
              <a:lnSpc>
                <a:spcPct val="83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dirty="0"/>
          </a:p>
          <a:p>
            <a:pPr>
              <a:lnSpc>
                <a:spcPct val="83000"/>
              </a:lnSpc>
              <a:buNone/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dirty="0"/>
          </a:p>
          <a:p>
            <a:pPr>
              <a:lnSpc>
                <a:spcPct val="83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方法</a:t>
            </a:r>
            <a:r>
              <a:rPr lang="en-US" altLang="zh-CN" dirty="0" smtClean="0"/>
              <a:t>3</a:t>
            </a:r>
            <a:r>
              <a:rPr lang="zh-CN" altLang="en-US" dirty="0" smtClean="0"/>
              <a:t>：</a:t>
            </a:r>
            <a:r>
              <a:rPr lang="zh-CN" altLang="en-US" i="1" dirty="0" smtClean="0">
                <a:solidFill>
                  <a:srgbClr val="C00000"/>
                </a:solidFill>
              </a:rPr>
              <a:t>分离式空</a:t>
            </a:r>
            <a:r>
              <a:rPr lang="zh-CN" altLang="en-US" i="1" dirty="0" smtClean="0">
                <a:solidFill>
                  <a:srgbClr val="C00000"/>
                </a:solidFill>
              </a:rPr>
              <a:t>闲列表</a:t>
            </a:r>
            <a:endParaRPr lang="en-GB" i="1" dirty="0">
              <a:solidFill>
                <a:srgbClr val="C00000"/>
              </a:solidFill>
            </a:endParaRPr>
          </a:p>
          <a:p>
            <a:pPr lvl="1">
              <a:lnSpc>
                <a:spcPct val="88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/>
              <a:t>按</a:t>
            </a:r>
            <a:r>
              <a:rPr lang="zh-CN" altLang="en-US" dirty="0" smtClean="0"/>
              <a:t>照不同的大小建立不同的空闲列表</a:t>
            </a:r>
            <a:endParaRPr lang="en-US" dirty="0"/>
          </a:p>
          <a:p>
            <a:pPr lvl="1">
              <a:lnSpc>
                <a:spcPct val="88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US" dirty="0"/>
          </a:p>
          <a:p>
            <a:pPr>
              <a:lnSpc>
                <a:spcPct val="83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方法</a:t>
            </a:r>
            <a:r>
              <a:rPr lang="en-US" altLang="zh-CN" dirty="0" smtClean="0"/>
              <a:t>4</a:t>
            </a:r>
            <a:r>
              <a:rPr lang="zh-CN" altLang="en-US" dirty="0" smtClean="0"/>
              <a:t>：</a:t>
            </a:r>
            <a:r>
              <a:rPr lang="zh-CN" altLang="en-US" i="1" dirty="0" smtClean="0">
                <a:solidFill>
                  <a:srgbClr val="C00000"/>
                </a:solidFill>
              </a:rPr>
              <a:t>按大小排序的内存块</a:t>
            </a:r>
            <a:endParaRPr lang="en-GB" i="1" dirty="0">
              <a:solidFill>
                <a:srgbClr val="C00000"/>
              </a:solidFill>
            </a:endParaRPr>
          </a:p>
          <a:p>
            <a:pPr lvl="1">
              <a:lnSpc>
                <a:spcPct val="88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可以使用平衡树（如：红</a:t>
            </a:r>
            <a:r>
              <a:rPr lang="en-US" altLang="zh-CN" dirty="0" smtClean="0"/>
              <a:t>-</a:t>
            </a:r>
            <a:r>
              <a:rPr lang="zh-CN" altLang="en-US" dirty="0" smtClean="0"/>
              <a:t>黑树），在每个空闲块内都有指针，并用长度作为键</a:t>
            </a:r>
            <a:endParaRPr lang="en-GB" dirty="0"/>
          </a:p>
        </p:txBody>
      </p:sp>
      <p:sp>
        <p:nvSpPr>
          <p:cNvPr id="21" name="Freeform 39"/>
          <p:cNvSpPr/>
          <p:nvPr/>
        </p:nvSpPr>
        <p:spPr bwMode="auto">
          <a:xfrm>
            <a:off x="3276601" y="1972962"/>
            <a:ext cx="1188261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528" y="0"/>
              </a:cxn>
              <a:cxn ang="0">
                <a:pos x="960" y="144"/>
              </a:cxn>
            </a:cxnLst>
            <a:rect l="0" t="0" r="r" b="b"/>
            <a:pathLst>
              <a:path w="960" h="144">
                <a:moveTo>
                  <a:pt x="0" y="144"/>
                </a:moveTo>
                <a:cubicBezTo>
                  <a:pt x="184" y="72"/>
                  <a:pt x="368" y="0"/>
                  <a:pt x="528" y="0"/>
                </a:cubicBezTo>
                <a:cubicBezTo>
                  <a:pt x="688" y="0"/>
                  <a:pt x="824" y="72"/>
                  <a:pt x="960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Freeform 40"/>
          <p:cNvSpPr/>
          <p:nvPr/>
        </p:nvSpPr>
        <p:spPr bwMode="auto">
          <a:xfrm>
            <a:off x="4505432" y="1959678"/>
            <a:ext cx="1819168" cy="231374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384" y="0"/>
              </a:cxn>
              <a:cxn ang="0">
                <a:pos x="768" y="144"/>
              </a:cxn>
            </a:cxnLst>
            <a:rect l="0" t="0" r="r" b="b"/>
            <a:pathLst>
              <a:path w="768" h="144">
                <a:moveTo>
                  <a:pt x="0" y="144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Freeform 41"/>
          <p:cNvSpPr/>
          <p:nvPr/>
        </p:nvSpPr>
        <p:spPr bwMode="auto">
          <a:xfrm>
            <a:off x="6362701" y="1972962"/>
            <a:ext cx="1188261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576" y="0"/>
              </a:cxn>
              <a:cxn ang="0">
                <a:pos x="1152" y="144"/>
              </a:cxn>
            </a:cxnLst>
            <a:rect l="0" t="0" r="r" b="b"/>
            <a:pathLst>
              <a:path w="1152" h="144">
                <a:moveTo>
                  <a:pt x="0" y="144"/>
                </a:moveTo>
                <a:cubicBezTo>
                  <a:pt x="192" y="72"/>
                  <a:pt x="384" y="0"/>
                  <a:pt x="576" y="0"/>
                </a:cubicBezTo>
                <a:cubicBezTo>
                  <a:pt x="768" y="0"/>
                  <a:pt x="960" y="72"/>
                  <a:pt x="1152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9128847" y="1764096"/>
            <a:ext cx="21210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800" b="0" dirty="0" smtClean="0">
                <a:latin typeface="Calibri" pitchFamily="34" charset="0"/>
              </a:rPr>
              <a:t>需</a:t>
            </a:r>
            <a:r>
              <a:rPr lang="zh-CN" altLang="en-US" sz="1800" b="0" dirty="0">
                <a:latin typeface="Calibri" pitchFamily="34" charset="0"/>
              </a:rPr>
              <a:t>要把每个内存</a:t>
            </a:r>
            <a:r>
              <a:rPr lang="zh-CN" altLang="en-US" sz="1800" b="0" dirty="0" smtClean="0">
                <a:latin typeface="Calibri" pitchFamily="34" charset="0"/>
              </a:rPr>
              <a:t>块</a:t>
            </a:r>
            <a:endParaRPr lang="en-US" altLang="zh-CN" sz="1800" b="0" dirty="0" smtClean="0">
              <a:latin typeface="Calibri" pitchFamily="34" charset="0"/>
            </a:endParaRPr>
          </a:p>
          <a:p>
            <a:pPr algn="ctr"/>
            <a:r>
              <a:rPr lang="zh-CN" altLang="en-US" sz="1800" b="0" dirty="0" smtClean="0">
                <a:latin typeface="Calibri" pitchFamily="34" charset="0"/>
              </a:rPr>
              <a:t>标记为已分配</a:t>
            </a:r>
            <a:r>
              <a:rPr lang="en-US" altLang="zh-CN" sz="1800" b="0" dirty="0" smtClean="0">
                <a:latin typeface="Calibri" pitchFamily="34" charset="0"/>
              </a:rPr>
              <a:t>/</a:t>
            </a:r>
            <a:r>
              <a:rPr lang="zh-CN" altLang="en-US" sz="1800" b="0" dirty="0" smtClean="0">
                <a:latin typeface="Calibri" pitchFamily="34" charset="0"/>
              </a:rPr>
              <a:t>空闲</a:t>
            </a:r>
            <a:endParaRPr lang="en-US" sz="1800" b="0" dirty="0">
              <a:latin typeface="Calibri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064202" y="379163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800" b="0" dirty="0" smtClean="0">
                <a:latin typeface="Calibri" pitchFamily="34" charset="0"/>
              </a:rPr>
              <a:t>指针需要空间</a:t>
            </a:r>
            <a:endParaRPr lang="en-US" sz="1800" b="0" dirty="0">
              <a:latin typeface="Calibri" pitchFamily="34" charset="0"/>
            </a:endParaRPr>
          </a:p>
        </p:txBody>
      </p:sp>
      <p:sp>
        <p:nvSpPr>
          <p:cNvPr id="46" name="Text Box 410"/>
          <p:cNvSpPr txBox="1">
            <a:spLocks noChangeAspect="1" noChangeArrowheads="1"/>
          </p:cNvSpPr>
          <p:nvPr/>
        </p:nvSpPr>
        <p:spPr bwMode="auto">
          <a:xfrm>
            <a:off x="2497101" y="1922409"/>
            <a:ext cx="723276" cy="307777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zh-CN" altLang="en-US" sz="1400" b="0" dirty="0" smtClean="0">
                <a:latin typeface="Calibri" pitchFamily="34" charset="0"/>
                <a:cs typeface="Calibri" pitchFamily="34" charset="0"/>
              </a:rPr>
              <a:t>未使用</a:t>
            </a:r>
            <a:endParaRPr lang="en-US" sz="1400" b="0" dirty="0"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48" name="Group 47"/>
          <p:cNvGrpSpPr/>
          <p:nvPr/>
        </p:nvGrpSpPr>
        <p:grpSpPr>
          <a:xfrm>
            <a:off x="2812544" y="2209801"/>
            <a:ext cx="5188456" cy="311019"/>
            <a:chOff x="1288544" y="2209800"/>
            <a:chExt cx="5188456" cy="311019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6002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0" dirty="0">
                  <a:latin typeface="Calibri" pitchFamily="34" charset="0"/>
                  <a:cs typeface="Calibri" pitchFamily="34" charset="0"/>
                </a:rPr>
                <a:t>32</a:t>
              </a:r>
              <a:endParaRPr lang="en-GB" sz="16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050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22098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25146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28194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 b="0" dirty="0">
                  <a:latin typeface="Calibri" pitchFamily="34" charset="0"/>
                  <a:cs typeface="Calibri" pitchFamily="34" charset="0"/>
                </a:rPr>
                <a:t>48</a:t>
              </a:r>
              <a:endParaRPr lang="en-US" sz="16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31242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sz="16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34290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37338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40386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46482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 b="0" dirty="0">
                  <a:latin typeface="Calibri" pitchFamily="34" charset="0"/>
                  <a:cs typeface="Calibri" pitchFamily="34" charset="0"/>
                </a:rPr>
                <a:t>32</a:t>
              </a:r>
              <a:endParaRPr lang="en-US" sz="16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" name="Rectangle 14"/>
            <p:cNvSpPr>
              <a:spLocks noChangeArrowheads="1"/>
            </p:cNvSpPr>
            <p:nvPr/>
          </p:nvSpPr>
          <p:spPr bwMode="auto">
            <a:xfrm>
              <a:off x="49530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5" name="Rectangle 15"/>
            <p:cNvSpPr>
              <a:spLocks noChangeArrowheads="1"/>
            </p:cNvSpPr>
            <p:nvPr/>
          </p:nvSpPr>
          <p:spPr bwMode="auto">
            <a:xfrm>
              <a:off x="52578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6" name="Rectangle 16"/>
            <p:cNvSpPr>
              <a:spLocks noChangeArrowheads="1"/>
            </p:cNvSpPr>
            <p:nvPr/>
          </p:nvSpPr>
          <p:spPr bwMode="auto">
            <a:xfrm>
              <a:off x="55626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7" name="Rectangle 17"/>
            <p:cNvSpPr>
              <a:spLocks noChangeArrowheads="1"/>
            </p:cNvSpPr>
            <p:nvPr/>
          </p:nvSpPr>
          <p:spPr bwMode="auto">
            <a:xfrm>
              <a:off x="58674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0" dirty="0">
                  <a:latin typeface="Calibri" pitchFamily="34" charset="0"/>
                  <a:cs typeface="Calibri" pitchFamily="34" charset="0"/>
                </a:rPr>
                <a:t>16</a:t>
              </a:r>
              <a:endParaRPr lang="en-GB" sz="16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8" name="Rectangle 18"/>
            <p:cNvSpPr>
              <a:spLocks noChangeArrowheads="1"/>
            </p:cNvSpPr>
            <p:nvPr/>
          </p:nvSpPr>
          <p:spPr bwMode="auto">
            <a:xfrm>
              <a:off x="61722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sz="16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0" name="Rectangle 20"/>
            <p:cNvSpPr>
              <a:spLocks noChangeArrowheads="1"/>
            </p:cNvSpPr>
            <p:nvPr/>
          </p:nvSpPr>
          <p:spPr bwMode="auto">
            <a:xfrm>
              <a:off x="43434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sz="16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47" name="Rectangle 7"/>
            <p:cNvSpPr>
              <a:spLocks noChangeArrowheads="1"/>
            </p:cNvSpPr>
            <p:nvPr/>
          </p:nvSpPr>
          <p:spPr bwMode="auto">
            <a:xfrm>
              <a:off x="1288544" y="2216019"/>
              <a:ext cx="304800" cy="304800"/>
            </a:xfrm>
            <a:prstGeom prst="rect">
              <a:avLst/>
            </a:prstGeom>
            <a:pattFill prst="wdUpDiag">
              <a:fgClr>
                <a:schemeClr val="bg2"/>
              </a:fgClr>
              <a:bgClr>
                <a:schemeClr val="bg1"/>
              </a:bgClr>
            </a:patt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 dirty="0">
                <a:latin typeface="Calibri" pitchFamily="34" charset="0"/>
                <a:cs typeface="Calibri" pitchFamily="34" charset="0"/>
              </a:endParaRP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2846111" y="3962399"/>
            <a:ext cx="5181600" cy="304800"/>
            <a:chOff x="1295400" y="2209800"/>
            <a:chExt cx="5181600" cy="304800"/>
          </a:xfrm>
        </p:grpSpPr>
        <p:sp>
          <p:nvSpPr>
            <p:cNvPr id="50" name="Rectangle 4"/>
            <p:cNvSpPr>
              <a:spLocks noChangeArrowheads="1"/>
            </p:cNvSpPr>
            <p:nvPr/>
          </p:nvSpPr>
          <p:spPr bwMode="auto">
            <a:xfrm>
              <a:off x="16002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0" dirty="0">
                  <a:latin typeface="Calibri" pitchFamily="34" charset="0"/>
                  <a:cs typeface="Calibri" pitchFamily="34" charset="0"/>
                </a:rPr>
                <a:t>32</a:t>
              </a:r>
              <a:endParaRPr lang="en-GB" sz="16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1" name="Rectangle 5"/>
            <p:cNvSpPr>
              <a:spLocks noChangeArrowheads="1"/>
            </p:cNvSpPr>
            <p:nvPr/>
          </p:nvSpPr>
          <p:spPr bwMode="auto">
            <a:xfrm>
              <a:off x="19050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2" name="Rectangle 6"/>
            <p:cNvSpPr>
              <a:spLocks noChangeArrowheads="1"/>
            </p:cNvSpPr>
            <p:nvPr/>
          </p:nvSpPr>
          <p:spPr bwMode="auto">
            <a:xfrm>
              <a:off x="22098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3" name="Rectangle 7"/>
            <p:cNvSpPr>
              <a:spLocks noChangeArrowheads="1"/>
            </p:cNvSpPr>
            <p:nvPr/>
          </p:nvSpPr>
          <p:spPr bwMode="auto">
            <a:xfrm>
              <a:off x="25146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4" name="Rectangle 8"/>
            <p:cNvSpPr>
              <a:spLocks noChangeArrowheads="1"/>
            </p:cNvSpPr>
            <p:nvPr/>
          </p:nvSpPr>
          <p:spPr bwMode="auto">
            <a:xfrm>
              <a:off x="28194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 b="0" dirty="0">
                  <a:latin typeface="Calibri" pitchFamily="34" charset="0"/>
                  <a:cs typeface="Calibri" pitchFamily="34" charset="0"/>
                </a:rPr>
                <a:t>48</a:t>
              </a:r>
              <a:endParaRPr lang="en-US" sz="16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5" name="Rectangle 9"/>
            <p:cNvSpPr>
              <a:spLocks noChangeArrowheads="1"/>
            </p:cNvSpPr>
            <p:nvPr/>
          </p:nvSpPr>
          <p:spPr bwMode="auto">
            <a:xfrm>
              <a:off x="31242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sz="16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6" name="Rectangle 10"/>
            <p:cNvSpPr>
              <a:spLocks noChangeArrowheads="1"/>
            </p:cNvSpPr>
            <p:nvPr/>
          </p:nvSpPr>
          <p:spPr bwMode="auto">
            <a:xfrm>
              <a:off x="34290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7" name="Rectangle 11"/>
            <p:cNvSpPr>
              <a:spLocks noChangeArrowheads="1"/>
            </p:cNvSpPr>
            <p:nvPr/>
          </p:nvSpPr>
          <p:spPr bwMode="auto">
            <a:xfrm>
              <a:off x="37338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8" name="Rectangle 12"/>
            <p:cNvSpPr>
              <a:spLocks noChangeArrowheads="1"/>
            </p:cNvSpPr>
            <p:nvPr/>
          </p:nvSpPr>
          <p:spPr bwMode="auto">
            <a:xfrm>
              <a:off x="40386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9" name="Rectangle 13"/>
            <p:cNvSpPr>
              <a:spLocks noChangeArrowheads="1"/>
            </p:cNvSpPr>
            <p:nvPr/>
          </p:nvSpPr>
          <p:spPr bwMode="auto">
            <a:xfrm>
              <a:off x="46482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 b="0" dirty="0">
                  <a:latin typeface="Calibri" pitchFamily="34" charset="0"/>
                  <a:cs typeface="Calibri" pitchFamily="34" charset="0"/>
                </a:rPr>
                <a:t>32</a:t>
              </a:r>
              <a:endParaRPr lang="en-US" sz="16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0" name="Rectangle 14"/>
            <p:cNvSpPr>
              <a:spLocks noChangeArrowheads="1"/>
            </p:cNvSpPr>
            <p:nvPr/>
          </p:nvSpPr>
          <p:spPr bwMode="auto">
            <a:xfrm>
              <a:off x="49530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1" name="Rectangle 15"/>
            <p:cNvSpPr>
              <a:spLocks noChangeArrowheads="1"/>
            </p:cNvSpPr>
            <p:nvPr/>
          </p:nvSpPr>
          <p:spPr bwMode="auto">
            <a:xfrm>
              <a:off x="52578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2" name="Rectangle 16"/>
            <p:cNvSpPr>
              <a:spLocks noChangeArrowheads="1"/>
            </p:cNvSpPr>
            <p:nvPr/>
          </p:nvSpPr>
          <p:spPr bwMode="auto">
            <a:xfrm>
              <a:off x="55626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3" name="Rectangle 17"/>
            <p:cNvSpPr>
              <a:spLocks noChangeArrowheads="1"/>
            </p:cNvSpPr>
            <p:nvPr/>
          </p:nvSpPr>
          <p:spPr bwMode="auto">
            <a:xfrm>
              <a:off x="58674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0" dirty="0">
                  <a:latin typeface="Calibri" pitchFamily="34" charset="0"/>
                  <a:cs typeface="Calibri" pitchFamily="34" charset="0"/>
                </a:rPr>
                <a:t>16</a:t>
              </a:r>
              <a:endParaRPr lang="en-GB" sz="16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4" name="Rectangle 18"/>
            <p:cNvSpPr>
              <a:spLocks noChangeArrowheads="1"/>
            </p:cNvSpPr>
            <p:nvPr/>
          </p:nvSpPr>
          <p:spPr bwMode="auto">
            <a:xfrm>
              <a:off x="61722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sz="16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" name="Rectangle 20"/>
            <p:cNvSpPr>
              <a:spLocks noChangeArrowheads="1"/>
            </p:cNvSpPr>
            <p:nvPr/>
          </p:nvSpPr>
          <p:spPr bwMode="auto">
            <a:xfrm>
              <a:off x="43434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sz="16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6" name="Rectangle 7"/>
            <p:cNvSpPr>
              <a:spLocks noChangeArrowheads="1"/>
            </p:cNvSpPr>
            <p:nvPr/>
          </p:nvSpPr>
          <p:spPr bwMode="auto">
            <a:xfrm>
              <a:off x="1295400" y="2209800"/>
              <a:ext cx="304800" cy="304800"/>
            </a:xfrm>
            <a:prstGeom prst="rect">
              <a:avLst/>
            </a:prstGeom>
            <a:pattFill prst="wdUpDiag">
              <a:fgClr>
                <a:schemeClr val="bg2"/>
              </a:fgClr>
              <a:bgClr>
                <a:schemeClr val="bg1"/>
              </a:bgClr>
            </a:patt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sz="1600" b="0" dirty="0">
                <a:latin typeface="Calibri" pitchFamily="34" charset="0"/>
                <a:cs typeface="Calibri" pitchFamily="34" charset="0"/>
              </a:endParaRPr>
            </a:p>
          </p:txBody>
        </p:sp>
      </p:grpSp>
      <p:sp>
        <p:nvSpPr>
          <p:cNvPr id="41" name="Freeform 38"/>
          <p:cNvSpPr/>
          <p:nvPr/>
        </p:nvSpPr>
        <p:spPr bwMode="auto">
          <a:xfrm>
            <a:off x="3600381" y="3550334"/>
            <a:ext cx="2733568" cy="482600"/>
          </a:xfrm>
          <a:custGeom>
            <a:avLst/>
            <a:gdLst/>
            <a:ahLst/>
            <a:cxnLst>
              <a:cxn ang="0">
                <a:pos x="0" y="304"/>
              </a:cxn>
              <a:cxn ang="0">
                <a:pos x="912" y="16"/>
              </a:cxn>
              <a:cxn ang="0">
                <a:pos x="1536" y="208"/>
              </a:cxn>
            </a:cxnLst>
            <a:rect l="0" t="0" r="r" b="b"/>
            <a:pathLst>
              <a:path w="1536" h="304">
                <a:moveTo>
                  <a:pt x="0" y="304"/>
                </a:moveTo>
                <a:cubicBezTo>
                  <a:pt x="328" y="167"/>
                  <a:pt x="656" y="31"/>
                  <a:pt x="912" y="16"/>
                </a:cubicBezTo>
                <a:cubicBezTo>
                  <a:pt x="1167" y="0"/>
                  <a:pt x="1351" y="104"/>
                  <a:pt x="1536" y="208"/>
                </a:cubicBezTo>
              </a:path>
            </a:pathLst>
          </a:custGeom>
          <a:noFill/>
          <a:ln w="2556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7" name="Freeform 38"/>
          <p:cNvSpPr/>
          <p:nvPr/>
        </p:nvSpPr>
        <p:spPr bwMode="auto">
          <a:xfrm>
            <a:off x="6627805" y="3621689"/>
            <a:ext cx="1677996" cy="482600"/>
          </a:xfrm>
          <a:custGeom>
            <a:avLst/>
            <a:gdLst/>
            <a:ahLst/>
            <a:cxnLst>
              <a:cxn ang="0">
                <a:pos x="0" y="304"/>
              </a:cxn>
              <a:cxn ang="0">
                <a:pos x="912" y="16"/>
              </a:cxn>
              <a:cxn ang="0">
                <a:pos x="1536" y="208"/>
              </a:cxn>
            </a:cxnLst>
            <a:rect l="0" t="0" r="r" b="b"/>
            <a:pathLst>
              <a:path w="1536" h="304">
                <a:moveTo>
                  <a:pt x="0" y="304"/>
                </a:moveTo>
                <a:cubicBezTo>
                  <a:pt x="328" y="167"/>
                  <a:pt x="656" y="31"/>
                  <a:pt x="912" y="16"/>
                </a:cubicBezTo>
                <a:cubicBezTo>
                  <a:pt x="1167" y="0"/>
                  <a:pt x="1351" y="104"/>
                  <a:pt x="1536" y="208"/>
                </a:cubicBezTo>
              </a:path>
            </a:pathLst>
          </a:custGeom>
          <a:noFill/>
          <a:ln w="2556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Arrow: Right 18"/>
          <p:cNvSpPr/>
          <p:nvPr/>
        </p:nvSpPr>
        <p:spPr bwMode="auto">
          <a:xfrm>
            <a:off x="1698509" y="2135431"/>
            <a:ext cx="519688" cy="453538"/>
          </a:xfrm>
          <a:prstGeom prst="rightArrow">
            <a:avLst/>
          </a:prstGeom>
          <a:solidFill>
            <a:srgbClr val="C0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67" grpId="0" animBg="1"/>
      <p:bldP spid="1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29167" y="1362075"/>
            <a:ext cx="10528300" cy="4972050"/>
          </a:xfrm>
        </p:spPr>
        <p:txBody>
          <a:bodyPr/>
          <a:lstStyle/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基础概念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zh-CN" altLang="en-US" dirty="0" smtClean="0"/>
              <a:t>隐式空闲列表</a:t>
            </a:r>
            <a:endParaRPr lang="en-US" dirty="0"/>
          </a:p>
          <a:p>
            <a:pPr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方法 ：隐式空闲列表</a:t>
            </a:r>
            <a:endParaRPr lang="zh-CN" altLang="en-US"/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每个内存块都需要其大小和分配状态</a:t>
            </a:r>
            <a:endParaRPr lang="en-GB"/>
          </a:p>
          <a:p>
            <a:pPr lvl="1"/>
            <a:r>
              <a:rPr lang="zh-CN" altLang="en-US"/>
              <a:t>可以用两个字来存储这些信息：浪费！</a:t>
            </a:r>
            <a:endParaRPr lang="en-GB"/>
          </a:p>
          <a:p>
            <a:r>
              <a:rPr lang="zh-CN" altLang="en-US"/>
              <a:t>常用技巧</a:t>
            </a:r>
            <a:endParaRPr lang="en-GB"/>
          </a:p>
          <a:p>
            <a:pPr lvl="1"/>
            <a:r>
              <a:rPr lang="zh-CN" altLang="en-US"/>
              <a:t>当内存块对齐时，某些低地址位总是为</a:t>
            </a:r>
            <a:r>
              <a:rPr lang="en-US" altLang="zh-CN"/>
              <a:t>0 (</a:t>
            </a:r>
            <a:r>
              <a:rPr lang="zh-CN" altLang="en-US">
                <a:solidFill>
                  <a:srgbClr val="00B050"/>
                </a:solidFill>
              </a:rPr>
              <a:t>比如</a:t>
            </a:r>
            <a:r>
              <a:rPr lang="en-US" altLang="zh-CN">
                <a:solidFill>
                  <a:srgbClr val="00B050"/>
                </a:solidFill>
              </a:rPr>
              <a:t>16</a:t>
            </a:r>
            <a:r>
              <a:rPr lang="zh-CN" altLang="en-US">
                <a:solidFill>
                  <a:srgbClr val="00B050"/>
                </a:solidFill>
              </a:rPr>
              <a:t>字节对齐时</a:t>
            </a:r>
            <a:r>
              <a:rPr lang="en-US" altLang="zh-CN">
                <a:solidFill>
                  <a:srgbClr val="00B050"/>
                </a:solidFill>
              </a:rPr>
              <a:t>，</a:t>
            </a:r>
            <a:r>
              <a:rPr lang="zh-CN" altLang="en-US">
                <a:solidFill>
                  <a:srgbClr val="00B050"/>
                </a:solidFill>
              </a:rPr>
              <a:t>低</a:t>
            </a:r>
            <a:r>
              <a:rPr lang="en-US" altLang="zh-CN">
                <a:solidFill>
                  <a:srgbClr val="00B050"/>
                </a:solidFill>
              </a:rPr>
              <a:t>4</a:t>
            </a:r>
            <a:r>
              <a:rPr lang="zh-CN" altLang="en-US">
                <a:solidFill>
                  <a:srgbClr val="00B050"/>
                </a:solidFill>
              </a:rPr>
              <a:t>位为</a:t>
            </a:r>
            <a:r>
              <a:rPr lang="en-US" altLang="zh-CN">
                <a:solidFill>
                  <a:srgbClr val="00B050"/>
                </a:solidFill>
              </a:rPr>
              <a:t>0000</a:t>
            </a:r>
            <a:r>
              <a:rPr lang="en-US" altLang="zh-CN"/>
              <a:t>）</a:t>
            </a:r>
            <a:endParaRPr lang="en-GB"/>
          </a:p>
          <a:p>
            <a:pPr lvl="1"/>
            <a:r>
              <a:rPr lang="zh-CN" altLang="en-US"/>
              <a:t>与其存储一个总是为</a:t>
            </a:r>
            <a:r>
              <a:rPr lang="en-US" altLang="zh-CN"/>
              <a:t>0</a:t>
            </a:r>
            <a:r>
              <a:rPr lang="zh-CN" altLang="en-US"/>
              <a:t>的位，不如将其用作已分配</a:t>
            </a:r>
            <a:r>
              <a:rPr lang="en-US" altLang="zh-CN"/>
              <a:t>/</a:t>
            </a:r>
            <a:r>
              <a:rPr lang="zh-CN" altLang="en-US"/>
              <a:t>空闲标志位</a:t>
            </a:r>
            <a:endParaRPr lang="en-GB"/>
          </a:p>
          <a:p>
            <a:pPr lvl="1"/>
            <a:r>
              <a:rPr lang="zh-CN" altLang="en-US"/>
              <a:t>当读取“内存块大小”字时，必须屏蔽这个位</a:t>
            </a:r>
            <a:endParaRPr lang="zh-CN" altLang="en-US"/>
          </a:p>
        </p:txBody>
      </p:sp>
      <p:sp>
        <p:nvSpPr>
          <p:cNvPr id="26" name="Rectangle 3"/>
          <p:cNvSpPr>
            <a:spLocks noChangeArrowheads="1"/>
          </p:cNvSpPr>
          <p:nvPr/>
        </p:nvSpPr>
        <p:spPr bwMode="auto">
          <a:xfrm>
            <a:off x="4495800" y="4279900"/>
            <a:ext cx="1370012" cy="381000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 smtClean="0">
                <a:latin typeface="Calibri" pitchFamily="34" charset="0"/>
              </a:rPr>
              <a:t>内存块大小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27" name="Text Box 4"/>
          <p:cNvSpPr txBox="1">
            <a:spLocks noChangeArrowheads="1"/>
          </p:cNvSpPr>
          <p:nvPr/>
        </p:nvSpPr>
        <p:spPr bwMode="auto">
          <a:xfrm>
            <a:off x="4947604" y="3610126"/>
            <a:ext cx="746015" cy="335799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1 </a:t>
            </a:r>
            <a:r>
              <a:rPr lang="zh-CN" altLang="en-US" sz="1600" dirty="0" smtClean="0">
                <a:latin typeface="Calibri" pitchFamily="34" charset="0"/>
              </a:rPr>
              <a:t>个字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28" name="Text Box 5"/>
          <p:cNvSpPr txBox="1">
            <a:spLocks noChangeArrowheads="1"/>
          </p:cNvSpPr>
          <p:nvPr/>
        </p:nvSpPr>
        <p:spPr bwMode="auto">
          <a:xfrm>
            <a:off x="2345725" y="4707925"/>
            <a:ext cx="1730259" cy="697756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0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已分配和空闲</a:t>
            </a:r>
            <a:endParaRPr lang="en-US" altLang="zh-CN" sz="2000" i="1" dirty="0" smtClean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</a:endParaRP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0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内存块的格式</a:t>
            </a:r>
            <a:endParaRPr lang="en-GB" sz="2000" i="1" dirty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</a:endParaRPr>
          </a:p>
        </p:txBody>
      </p:sp>
      <p:sp>
        <p:nvSpPr>
          <p:cNvPr id="29" name="Rectangle 6"/>
          <p:cNvSpPr>
            <a:spLocks noChangeArrowheads="1"/>
          </p:cNvSpPr>
          <p:nvPr/>
        </p:nvSpPr>
        <p:spPr bwMode="auto">
          <a:xfrm>
            <a:off x="4495800" y="4660901"/>
            <a:ext cx="1676400" cy="1285875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 smtClean="0">
                <a:latin typeface="Calibri" pitchFamily="34" charset="0"/>
              </a:rPr>
              <a:t>有效负载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30" name="Text Box 7"/>
          <p:cNvSpPr txBox="1">
            <a:spLocks noChangeArrowheads="1"/>
          </p:cNvSpPr>
          <p:nvPr/>
        </p:nvSpPr>
        <p:spPr bwMode="auto">
          <a:xfrm>
            <a:off x="6530975" y="4302557"/>
            <a:ext cx="2869994" cy="1783503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a = 1: </a:t>
            </a:r>
            <a:r>
              <a:rPr lang="zh-CN" altLang="en-US" sz="1600" dirty="0" smtClean="0">
                <a:latin typeface="Calibri" pitchFamily="34" charset="0"/>
              </a:rPr>
              <a:t>已分配块</a:t>
            </a:r>
            <a:r>
              <a:rPr lang="en-GB" sz="1600" dirty="0" smtClean="0">
                <a:latin typeface="Calibri" pitchFamily="34" charset="0"/>
              </a:rPr>
              <a:t>  </a:t>
            </a:r>
            <a:endParaRPr lang="en-GB" sz="1600" dirty="0">
              <a:latin typeface="Calibri" pitchFamily="34" charset="0"/>
            </a:endParaRP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a = 0: </a:t>
            </a:r>
            <a:r>
              <a:rPr lang="zh-CN" altLang="en-US" sz="1600" dirty="0" smtClean="0">
                <a:latin typeface="Calibri" pitchFamily="34" charset="0"/>
              </a:rPr>
              <a:t>空闲块</a:t>
            </a:r>
            <a:endParaRPr lang="en-GB" sz="1600" dirty="0">
              <a:latin typeface="Calibri" pitchFamily="34" charset="0"/>
            </a:endParaRP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600" dirty="0">
              <a:latin typeface="Calibri" pitchFamily="34" charset="0"/>
            </a:endParaRP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 smtClean="0">
                <a:latin typeface="Calibri" pitchFamily="34" charset="0"/>
              </a:rPr>
              <a:t>内存块大小：内存块的总容量</a:t>
            </a:r>
            <a:endParaRPr lang="en-GB" sz="1600" dirty="0">
              <a:latin typeface="Calibri" pitchFamily="34" charset="0"/>
            </a:endParaRP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600" dirty="0">
              <a:latin typeface="Calibri" pitchFamily="34" charset="0"/>
            </a:endParaRP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>
                <a:latin typeface="Calibri" pitchFamily="34" charset="0"/>
              </a:rPr>
              <a:t>有</a:t>
            </a:r>
            <a:r>
              <a:rPr lang="zh-CN" altLang="en-US" sz="1600" dirty="0" smtClean="0">
                <a:latin typeface="Calibri" pitchFamily="34" charset="0"/>
              </a:rPr>
              <a:t>效负载：</a:t>
            </a:r>
            <a:r>
              <a:rPr lang="en-GB" sz="1600" dirty="0" smtClean="0">
                <a:latin typeface="Calibri" pitchFamily="34" charset="0"/>
              </a:rPr>
              <a:t> </a:t>
            </a:r>
            <a:r>
              <a:rPr lang="zh-CN" altLang="en-US" sz="1600" dirty="0" smtClean="0">
                <a:latin typeface="Calibri" pitchFamily="34" charset="0"/>
              </a:rPr>
              <a:t>应用数据</a:t>
            </a:r>
            <a:endParaRPr lang="en-US" altLang="zh-CN" sz="1600" dirty="0" smtClean="0">
              <a:latin typeface="Calibri" pitchFamily="34" charset="0"/>
            </a:endParaRP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 smtClean="0">
                <a:latin typeface="Calibri" pitchFamily="34" charset="0"/>
              </a:rPr>
              <a:t>（只包括已分配内存块）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31" name="Rectangle 8"/>
          <p:cNvSpPr>
            <a:spLocks noChangeArrowheads="1"/>
          </p:cNvSpPr>
          <p:nvPr/>
        </p:nvSpPr>
        <p:spPr bwMode="auto">
          <a:xfrm>
            <a:off x="5867400" y="4279900"/>
            <a:ext cx="304800" cy="381000"/>
          </a:xfrm>
          <a:prstGeom prst="rect">
            <a:avLst/>
          </a:prstGeom>
          <a:solidFill>
            <a:srgbClr val="EBAFA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a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32" name="Rectangle 9"/>
          <p:cNvSpPr>
            <a:spLocks noChangeArrowheads="1"/>
          </p:cNvSpPr>
          <p:nvPr/>
        </p:nvSpPr>
        <p:spPr bwMode="auto">
          <a:xfrm>
            <a:off x="4495800" y="5943600"/>
            <a:ext cx="1676400" cy="6858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>
                <a:latin typeface="Calibri" pitchFamily="34" charset="0"/>
              </a:rPr>
              <a:t>填</a:t>
            </a:r>
            <a:r>
              <a:rPr lang="zh-CN" altLang="en-US" sz="1600" dirty="0" smtClean="0">
                <a:latin typeface="Calibri" pitchFamily="34" charset="0"/>
              </a:rPr>
              <a:t>充（可选）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33" name="AutoShape 8"/>
          <p:cNvSpPr/>
          <p:nvPr/>
        </p:nvSpPr>
        <p:spPr bwMode="auto">
          <a:xfrm rot="16200000">
            <a:off x="5219702" y="3222025"/>
            <a:ext cx="228600" cy="1676401"/>
          </a:xfrm>
          <a:prstGeom prst="rightBrace">
            <a:avLst>
              <a:gd name="adj1" fmla="val 118750"/>
              <a:gd name="adj2" fmla="val 50000"/>
            </a:avLst>
          </a:prstGeom>
          <a:noFill/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/>
      <p:bldP spid="28" grpId="0"/>
      <p:bldP spid="29" grpId="0" animBg="1"/>
      <p:bldP spid="30" grpId="0"/>
      <p:bldP spid="31" grpId="0" animBg="1"/>
      <p:bldP spid="32" grpId="0" animBg="1"/>
      <p:bldP spid="3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隐式空闲列表详解</a:t>
            </a:r>
            <a:endParaRPr lang="en-US" dirty="0"/>
          </a:p>
        </p:txBody>
      </p:sp>
      <p:sp>
        <p:nvSpPr>
          <p:cNvPr id="25" name="Text Box 404"/>
          <p:cNvSpPr txBox="1">
            <a:spLocks noChangeAspect="1" noChangeArrowheads="1"/>
          </p:cNvSpPr>
          <p:nvPr/>
        </p:nvSpPr>
        <p:spPr bwMode="auto">
          <a:xfrm>
            <a:off x="1377485" y="2195900"/>
            <a:ext cx="1107996" cy="646331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zh-CN" altLang="en-US" sz="1800" b="0" dirty="0" smtClean="0">
                <a:latin typeface="Calibri" pitchFamily="34" charset="0"/>
                <a:cs typeface="Calibri" pitchFamily="34" charset="0"/>
              </a:rPr>
              <a:t>堆的</a:t>
            </a:r>
            <a:endParaRPr lang="en-US" altLang="zh-CN" sz="1800" b="0" dirty="0" smtClean="0"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zh-CN" altLang="en-US" sz="1800" b="0" dirty="0" smtClean="0">
                <a:latin typeface="Calibri" pitchFamily="34" charset="0"/>
                <a:cs typeface="Calibri" pitchFamily="34" charset="0"/>
              </a:rPr>
              <a:t>起始位置</a:t>
            </a:r>
            <a:endParaRPr lang="en-US" sz="18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3" name="Line 429"/>
          <p:cNvSpPr>
            <a:spLocks noChangeAspect="1" noChangeShapeType="1"/>
          </p:cNvSpPr>
          <p:nvPr/>
        </p:nvSpPr>
        <p:spPr bwMode="auto">
          <a:xfrm flipV="1">
            <a:off x="2583691" y="4423937"/>
            <a:ext cx="0" cy="50102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2000">
              <a:latin typeface="+mn-lt"/>
            </a:endParaRPr>
          </a:p>
        </p:txBody>
      </p:sp>
      <p:sp>
        <p:nvSpPr>
          <p:cNvPr id="44" name="Text Box 431"/>
          <p:cNvSpPr txBox="1">
            <a:spLocks noChangeAspect="1" noChangeArrowheads="1"/>
          </p:cNvSpPr>
          <p:nvPr/>
        </p:nvSpPr>
        <p:spPr bwMode="auto">
          <a:xfrm>
            <a:off x="2625483" y="4293275"/>
            <a:ext cx="1863209" cy="707886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square" anchor="ctr">
            <a:spAutoFit/>
          </a:bodyPr>
          <a:lstStyle/>
          <a:p>
            <a:r>
              <a:rPr lang="zh-CN" altLang="en-US" sz="2000" b="0" dirty="0" smtClean="0">
                <a:solidFill>
                  <a:schemeClr val="bg2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对齐</a:t>
            </a:r>
            <a:endParaRPr lang="en-US" altLang="zh-CN" sz="2000" b="0" dirty="0" smtClean="0">
              <a:solidFill>
                <a:schemeClr val="bg2">
                  <a:lumMod val="75000"/>
                </a:schemeClr>
              </a:solidFill>
              <a:latin typeface="Calibri" pitchFamily="34" charset="0"/>
              <a:cs typeface="Calibri" pitchFamily="34" charset="0"/>
            </a:endParaRPr>
          </a:p>
          <a:p>
            <a:r>
              <a:rPr lang="zh-CN" altLang="en-US" sz="2000" b="0" dirty="0" smtClean="0">
                <a:solidFill>
                  <a:schemeClr val="bg2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双字</a:t>
            </a:r>
            <a:endParaRPr lang="en-US" sz="2000" b="0" dirty="0">
              <a:solidFill>
                <a:schemeClr val="bg2">
                  <a:lumMod val="75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" name="Rectangle 432"/>
          <p:cNvSpPr>
            <a:spLocks noChangeAspect="1" noChangeArrowheads="1"/>
          </p:cNvSpPr>
          <p:nvPr/>
        </p:nvSpPr>
        <p:spPr bwMode="auto">
          <a:xfrm>
            <a:off x="7732814" y="2310981"/>
            <a:ext cx="395470" cy="5180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2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" name="Rectangle 379"/>
          <p:cNvSpPr>
            <a:spLocks noChangeAspect="1" noChangeArrowheads="1"/>
          </p:cNvSpPr>
          <p:nvPr/>
        </p:nvSpPr>
        <p:spPr bwMode="auto">
          <a:xfrm>
            <a:off x="2995696" y="2310981"/>
            <a:ext cx="395470" cy="5180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 sz="1400" b="0" dirty="0">
                <a:latin typeface="Calibri" pitchFamily="34" charset="0"/>
                <a:cs typeface="Calibri" pitchFamily="34" charset="0"/>
              </a:rPr>
              <a:t>16/0</a:t>
            </a:r>
            <a:endParaRPr lang="en-US" sz="14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" name="Rectangle 380"/>
          <p:cNvSpPr>
            <a:spLocks noChangeAspect="1" noChangeArrowheads="1"/>
          </p:cNvSpPr>
          <p:nvPr/>
        </p:nvSpPr>
        <p:spPr bwMode="auto">
          <a:xfrm>
            <a:off x="3391166" y="2310981"/>
            <a:ext cx="393766" cy="5180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2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" name="Rectangle 384"/>
          <p:cNvSpPr>
            <a:spLocks noChangeAspect="1" noChangeArrowheads="1"/>
          </p:cNvSpPr>
          <p:nvPr/>
        </p:nvSpPr>
        <p:spPr bwMode="auto">
          <a:xfrm>
            <a:off x="3771294" y="2310981"/>
            <a:ext cx="393766" cy="518016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 sz="1400" b="0" dirty="0">
                <a:latin typeface="Calibri" pitchFamily="34" charset="0"/>
                <a:cs typeface="Calibri" pitchFamily="34" charset="0"/>
              </a:rPr>
              <a:t>32/1</a:t>
            </a:r>
            <a:endParaRPr lang="en-US" sz="14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" name="Rectangle 385"/>
          <p:cNvSpPr>
            <a:spLocks noChangeAspect="1" noChangeArrowheads="1"/>
          </p:cNvSpPr>
          <p:nvPr/>
        </p:nvSpPr>
        <p:spPr bwMode="auto">
          <a:xfrm>
            <a:off x="4165060" y="2310981"/>
            <a:ext cx="395470" cy="518016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2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0" name="Rectangle 386"/>
          <p:cNvSpPr>
            <a:spLocks noChangeAspect="1" noChangeArrowheads="1"/>
          </p:cNvSpPr>
          <p:nvPr/>
        </p:nvSpPr>
        <p:spPr bwMode="auto">
          <a:xfrm>
            <a:off x="4560530" y="2310981"/>
            <a:ext cx="395470" cy="518016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2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" name="Rectangle 387" descr="Wide upward diagonal"/>
          <p:cNvSpPr>
            <a:spLocks noChangeAspect="1" noChangeArrowheads="1"/>
          </p:cNvSpPr>
          <p:nvPr/>
        </p:nvSpPr>
        <p:spPr bwMode="auto">
          <a:xfrm>
            <a:off x="4956001" y="2310981"/>
            <a:ext cx="393766" cy="518016"/>
          </a:xfrm>
          <a:prstGeom prst="rect">
            <a:avLst/>
          </a:prstGeom>
          <a:pattFill prst="wdUpDiag">
            <a:fgClr>
              <a:srgbClr val="C0C0C0"/>
            </a:fgClr>
            <a:bgClr>
              <a:srgbClr val="FFFFFF"/>
            </a:bgClr>
          </a:patt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2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2" name="Rectangle 388"/>
          <p:cNvSpPr>
            <a:spLocks noChangeAspect="1" noChangeArrowheads="1"/>
          </p:cNvSpPr>
          <p:nvPr/>
        </p:nvSpPr>
        <p:spPr bwMode="auto">
          <a:xfrm>
            <a:off x="5772509" y="2310981"/>
            <a:ext cx="393766" cy="5180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2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" name="Rectangle 389"/>
          <p:cNvSpPr>
            <a:spLocks noChangeAspect="1" noChangeArrowheads="1"/>
          </p:cNvSpPr>
          <p:nvPr/>
        </p:nvSpPr>
        <p:spPr bwMode="auto">
          <a:xfrm>
            <a:off x="6166275" y="2310981"/>
            <a:ext cx="395470" cy="5180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2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4" name="Rectangle 390"/>
          <p:cNvSpPr>
            <a:spLocks noChangeAspect="1" noChangeArrowheads="1"/>
          </p:cNvSpPr>
          <p:nvPr/>
        </p:nvSpPr>
        <p:spPr bwMode="auto">
          <a:xfrm>
            <a:off x="6561745" y="2310981"/>
            <a:ext cx="393766" cy="5180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2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5" name="Rectangle 391"/>
          <p:cNvSpPr>
            <a:spLocks noChangeAspect="1" noChangeArrowheads="1"/>
          </p:cNvSpPr>
          <p:nvPr/>
        </p:nvSpPr>
        <p:spPr bwMode="auto">
          <a:xfrm>
            <a:off x="6955511" y="2310981"/>
            <a:ext cx="395470" cy="5180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2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" name="Rectangle 392"/>
          <p:cNvSpPr>
            <a:spLocks noChangeAspect="1" noChangeArrowheads="1"/>
          </p:cNvSpPr>
          <p:nvPr/>
        </p:nvSpPr>
        <p:spPr bwMode="auto">
          <a:xfrm>
            <a:off x="7350981" y="2310981"/>
            <a:ext cx="395470" cy="5180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2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7" name="Rectangle 393"/>
          <p:cNvSpPr>
            <a:spLocks noChangeAspect="1" noChangeArrowheads="1"/>
          </p:cNvSpPr>
          <p:nvPr/>
        </p:nvSpPr>
        <p:spPr bwMode="auto">
          <a:xfrm>
            <a:off x="8491367" y="2310981"/>
            <a:ext cx="395470" cy="518016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 sz="1400" b="0" dirty="0">
                <a:latin typeface="Calibri" pitchFamily="34" charset="0"/>
                <a:cs typeface="Calibri" pitchFamily="34" charset="0"/>
              </a:rPr>
              <a:t>32/1</a:t>
            </a:r>
            <a:endParaRPr lang="en-US" sz="14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8" name="Rectangle 394"/>
          <p:cNvSpPr>
            <a:spLocks noChangeAspect="1" noChangeArrowheads="1"/>
          </p:cNvSpPr>
          <p:nvPr/>
        </p:nvSpPr>
        <p:spPr bwMode="auto">
          <a:xfrm>
            <a:off x="8886837" y="2310981"/>
            <a:ext cx="393766" cy="518016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2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9" name="Rectangle 395"/>
          <p:cNvSpPr>
            <a:spLocks noChangeAspect="1" noChangeArrowheads="1"/>
          </p:cNvSpPr>
          <p:nvPr/>
        </p:nvSpPr>
        <p:spPr bwMode="auto">
          <a:xfrm>
            <a:off x="5377039" y="2310981"/>
            <a:ext cx="395470" cy="5180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 sz="1400" b="0" dirty="0">
                <a:latin typeface="Calibri" pitchFamily="34" charset="0"/>
                <a:cs typeface="Calibri" pitchFamily="34" charset="0"/>
              </a:rPr>
              <a:t>64/0</a:t>
            </a:r>
            <a:endParaRPr lang="en-US" sz="14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0" name="Freeform 396"/>
          <p:cNvSpPr>
            <a:spLocks noChangeAspect="1"/>
          </p:cNvSpPr>
          <p:nvPr/>
        </p:nvSpPr>
        <p:spPr bwMode="auto">
          <a:xfrm>
            <a:off x="3077517" y="1777269"/>
            <a:ext cx="806282" cy="497833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528" y="0"/>
              </a:cxn>
              <a:cxn ang="0">
                <a:pos x="960" y="144"/>
              </a:cxn>
            </a:cxnLst>
            <a:rect l="0" t="0" r="r" b="b"/>
            <a:pathLst>
              <a:path w="960" h="144">
                <a:moveTo>
                  <a:pt x="0" y="144"/>
                </a:moveTo>
                <a:cubicBezTo>
                  <a:pt x="184" y="72"/>
                  <a:pt x="368" y="0"/>
                  <a:pt x="528" y="0"/>
                </a:cubicBezTo>
                <a:cubicBezTo>
                  <a:pt x="688" y="0"/>
                  <a:pt x="824" y="72"/>
                  <a:pt x="960" y="144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 sz="12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1" name="Freeform 397"/>
          <p:cNvSpPr>
            <a:spLocks noChangeAspect="1"/>
          </p:cNvSpPr>
          <p:nvPr/>
        </p:nvSpPr>
        <p:spPr bwMode="auto">
          <a:xfrm>
            <a:off x="3955393" y="1777269"/>
            <a:ext cx="1493240" cy="497833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384" y="0"/>
              </a:cxn>
              <a:cxn ang="0">
                <a:pos x="768" y="144"/>
              </a:cxn>
            </a:cxnLst>
            <a:rect l="0" t="0" r="r" b="b"/>
            <a:pathLst>
              <a:path w="768" h="144">
                <a:moveTo>
                  <a:pt x="0" y="144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 sz="12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2" name="Freeform 398"/>
          <p:cNvSpPr>
            <a:spLocks noChangeAspect="1"/>
          </p:cNvSpPr>
          <p:nvPr/>
        </p:nvSpPr>
        <p:spPr bwMode="auto">
          <a:xfrm>
            <a:off x="5479316" y="1759329"/>
            <a:ext cx="3100690" cy="497833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576" y="0"/>
              </a:cxn>
              <a:cxn ang="0">
                <a:pos x="1152" y="144"/>
              </a:cxn>
            </a:cxnLst>
            <a:rect l="0" t="0" r="r" b="b"/>
            <a:pathLst>
              <a:path w="1152" h="144">
                <a:moveTo>
                  <a:pt x="0" y="144"/>
                </a:moveTo>
                <a:cubicBezTo>
                  <a:pt x="192" y="72"/>
                  <a:pt x="384" y="0"/>
                  <a:pt x="576" y="0"/>
                </a:cubicBezTo>
                <a:cubicBezTo>
                  <a:pt x="768" y="0"/>
                  <a:pt x="960" y="72"/>
                  <a:pt x="1152" y="144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 sz="12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" name="Rectangle 399"/>
          <p:cNvSpPr>
            <a:spLocks noChangeAspect="1" noChangeArrowheads="1"/>
          </p:cNvSpPr>
          <p:nvPr/>
        </p:nvSpPr>
        <p:spPr bwMode="auto">
          <a:xfrm>
            <a:off x="9280602" y="2310981"/>
            <a:ext cx="395470" cy="518016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2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4" name="Rectangle 403" descr="Wide upward diagonal"/>
          <p:cNvSpPr>
            <a:spLocks noChangeAspect="1" noChangeArrowheads="1"/>
          </p:cNvSpPr>
          <p:nvPr/>
        </p:nvSpPr>
        <p:spPr bwMode="auto">
          <a:xfrm>
            <a:off x="2600226" y="2310981"/>
            <a:ext cx="395470" cy="518016"/>
          </a:xfrm>
          <a:prstGeom prst="rect">
            <a:avLst/>
          </a:prstGeom>
          <a:pattFill prst="wdUpDiag">
            <a:fgClr>
              <a:srgbClr val="C0C0C0"/>
            </a:fgClr>
            <a:bgClr>
              <a:srgbClr val="FFFFFF"/>
            </a:bgClr>
          </a:patt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endParaRPr lang="en-US" sz="12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6" name="Rectangle 406"/>
          <p:cNvSpPr>
            <a:spLocks noChangeAspect="1" noChangeArrowheads="1"/>
          </p:cNvSpPr>
          <p:nvPr/>
        </p:nvSpPr>
        <p:spPr bwMode="auto">
          <a:xfrm>
            <a:off x="2995697" y="2308738"/>
            <a:ext cx="777303" cy="518016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2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7" name="Rectangle 407"/>
          <p:cNvSpPr>
            <a:spLocks noChangeAspect="1" noChangeArrowheads="1"/>
          </p:cNvSpPr>
          <p:nvPr/>
        </p:nvSpPr>
        <p:spPr bwMode="auto">
          <a:xfrm>
            <a:off x="3772999" y="2308738"/>
            <a:ext cx="1595518" cy="518016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2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8" name="Text Box 410"/>
          <p:cNvSpPr txBox="1">
            <a:spLocks noChangeAspect="1" noChangeArrowheads="1"/>
          </p:cNvSpPr>
          <p:nvPr/>
        </p:nvSpPr>
        <p:spPr bwMode="auto">
          <a:xfrm>
            <a:off x="9963702" y="1867049"/>
            <a:ext cx="723275" cy="307777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zh-CN" altLang="en-US" sz="1400" b="0" dirty="0" smtClean="0">
                <a:latin typeface="Calibri" pitchFamily="34" charset="0"/>
                <a:cs typeface="Calibri" pitchFamily="34" charset="0"/>
              </a:rPr>
              <a:t>结束块</a:t>
            </a:r>
            <a:endParaRPr lang="en-US" sz="14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9" name="Line 411"/>
          <p:cNvSpPr>
            <a:spLocks noChangeAspect="1" noChangeShapeType="1"/>
          </p:cNvSpPr>
          <p:nvPr/>
        </p:nvSpPr>
        <p:spPr bwMode="auto">
          <a:xfrm flipV="1">
            <a:off x="3391166" y="2882816"/>
            <a:ext cx="0" cy="55613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200">
              <a:latin typeface="+mn-lt"/>
            </a:endParaRPr>
          </a:p>
        </p:txBody>
      </p:sp>
      <p:sp>
        <p:nvSpPr>
          <p:cNvPr id="30" name="Line 413"/>
          <p:cNvSpPr>
            <a:spLocks noChangeAspect="1" noChangeShapeType="1"/>
          </p:cNvSpPr>
          <p:nvPr/>
        </p:nvSpPr>
        <p:spPr bwMode="auto">
          <a:xfrm flipV="1">
            <a:off x="4168469" y="2882816"/>
            <a:ext cx="0" cy="55613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200">
              <a:latin typeface="+mn-lt"/>
            </a:endParaRPr>
          </a:p>
        </p:txBody>
      </p:sp>
      <p:sp>
        <p:nvSpPr>
          <p:cNvPr id="31" name="Line 414"/>
          <p:cNvSpPr>
            <a:spLocks noChangeAspect="1" noChangeShapeType="1"/>
          </p:cNvSpPr>
          <p:nvPr/>
        </p:nvSpPr>
        <p:spPr bwMode="auto">
          <a:xfrm flipV="1">
            <a:off x="4959410" y="2882816"/>
            <a:ext cx="0" cy="55613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200">
              <a:latin typeface="+mn-lt"/>
            </a:endParaRPr>
          </a:p>
        </p:txBody>
      </p:sp>
      <p:sp>
        <p:nvSpPr>
          <p:cNvPr id="32" name="Line 415"/>
          <p:cNvSpPr>
            <a:spLocks noChangeAspect="1" noChangeShapeType="1"/>
          </p:cNvSpPr>
          <p:nvPr/>
        </p:nvSpPr>
        <p:spPr bwMode="auto">
          <a:xfrm flipV="1">
            <a:off x="5777624" y="2882816"/>
            <a:ext cx="0" cy="55613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200">
              <a:latin typeface="+mn-lt"/>
            </a:endParaRPr>
          </a:p>
        </p:txBody>
      </p:sp>
      <p:sp>
        <p:nvSpPr>
          <p:cNvPr id="33" name="Line 416"/>
          <p:cNvSpPr>
            <a:spLocks noChangeAspect="1" noChangeShapeType="1"/>
          </p:cNvSpPr>
          <p:nvPr/>
        </p:nvSpPr>
        <p:spPr bwMode="auto">
          <a:xfrm flipV="1">
            <a:off x="6568564" y="2882816"/>
            <a:ext cx="0" cy="55613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200">
              <a:latin typeface="+mn-lt"/>
            </a:endParaRPr>
          </a:p>
        </p:txBody>
      </p:sp>
      <p:sp>
        <p:nvSpPr>
          <p:cNvPr id="34" name="Line 417"/>
          <p:cNvSpPr>
            <a:spLocks noChangeAspect="1" noChangeShapeType="1"/>
          </p:cNvSpPr>
          <p:nvPr/>
        </p:nvSpPr>
        <p:spPr bwMode="auto">
          <a:xfrm flipV="1">
            <a:off x="7345867" y="2882816"/>
            <a:ext cx="0" cy="55613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200">
              <a:latin typeface="+mn-lt"/>
            </a:endParaRPr>
          </a:p>
        </p:txBody>
      </p:sp>
      <p:sp>
        <p:nvSpPr>
          <p:cNvPr id="35" name="Line 418"/>
          <p:cNvSpPr>
            <a:spLocks noChangeAspect="1" noChangeShapeType="1"/>
          </p:cNvSpPr>
          <p:nvPr/>
        </p:nvSpPr>
        <p:spPr bwMode="auto">
          <a:xfrm flipV="1">
            <a:off x="8900473" y="2882816"/>
            <a:ext cx="0" cy="55613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200">
              <a:latin typeface="+mn-lt"/>
            </a:endParaRPr>
          </a:p>
        </p:txBody>
      </p:sp>
      <p:sp>
        <p:nvSpPr>
          <p:cNvPr id="36" name="Line 419"/>
          <p:cNvSpPr>
            <a:spLocks noChangeAspect="1" noChangeShapeType="1"/>
          </p:cNvSpPr>
          <p:nvPr/>
        </p:nvSpPr>
        <p:spPr bwMode="auto">
          <a:xfrm flipV="1">
            <a:off x="2613863" y="2864876"/>
            <a:ext cx="0" cy="55613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200">
              <a:latin typeface="+mn-lt"/>
            </a:endParaRPr>
          </a:p>
        </p:txBody>
      </p:sp>
      <p:sp>
        <p:nvSpPr>
          <p:cNvPr id="37" name="Line 420"/>
          <p:cNvSpPr>
            <a:spLocks noChangeAspect="1" noChangeShapeType="1"/>
          </p:cNvSpPr>
          <p:nvPr/>
        </p:nvSpPr>
        <p:spPr bwMode="auto">
          <a:xfrm flipV="1">
            <a:off x="9691414" y="2882816"/>
            <a:ext cx="0" cy="55613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200">
              <a:latin typeface="+mn-lt"/>
            </a:endParaRPr>
          </a:p>
        </p:txBody>
      </p:sp>
      <p:sp>
        <p:nvSpPr>
          <p:cNvPr id="38" name="Rectangle 421"/>
          <p:cNvSpPr>
            <a:spLocks noChangeAspect="1" noChangeArrowheads="1"/>
          </p:cNvSpPr>
          <p:nvPr/>
        </p:nvSpPr>
        <p:spPr bwMode="auto">
          <a:xfrm>
            <a:off x="9676073" y="2310981"/>
            <a:ext cx="395470" cy="518016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2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9" name="Rectangle 409"/>
          <p:cNvSpPr>
            <a:spLocks noChangeAspect="1" noChangeArrowheads="1"/>
          </p:cNvSpPr>
          <p:nvPr/>
        </p:nvSpPr>
        <p:spPr bwMode="auto">
          <a:xfrm>
            <a:off x="8501595" y="2308738"/>
            <a:ext cx="1581880" cy="518016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2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0" name="Freeform 422"/>
          <p:cNvSpPr>
            <a:spLocks noChangeAspect="1"/>
          </p:cNvSpPr>
          <p:nvPr/>
        </p:nvSpPr>
        <p:spPr bwMode="auto">
          <a:xfrm>
            <a:off x="8632850" y="1752601"/>
            <a:ext cx="1493240" cy="497833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384" y="0"/>
              </a:cxn>
              <a:cxn ang="0">
                <a:pos x="768" y="144"/>
              </a:cxn>
            </a:cxnLst>
            <a:rect l="0" t="0" r="r" b="b"/>
            <a:pathLst>
              <a:path w="768" h="144">
                <a:moveTo>
                  <a:pt x="0" y="144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 sz="12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1" name="Rectangle 423" descr="Wide upward diagonal"/>
          <p:cNvSpPr>
            <a:spLocks noChangeAspect="1" noChangeArrowheads="1"/>
          </p:cNvSpPr>
          <p:nvPr/>
        </p:nvSpPr>
        <p:spPr bwMode="auto">
          <a:xfrm>
            <a:off x="10073247" y="2310981"/>
            <a:ext cx="395470" cy="518016"/>
          </a:xfrm>
          <a:prstGeom prst="rect">
            <a:avLst/>
          </a:prstGeom>
          <a:pattFill prst="wdUpDiag">
            <a:fgClr>
              <a:srgbClr val="C0C0C0"/>
            </a:fgClr>
            <a:bgClr>
              <a:srgbClr val="FFFFFF"/>
            </a:bgClr>
          </a:patt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 sz="1400" b="0" dirty="0">
                <a:latin typeface="Calibri" pitchFamily="34" charset="0"/>
                <a:cs typeface="Calibri" pitchFamily="34" charset="0"/>
              </a:rPr>
              <a:t>8/1</a:t>
            </a:r>
            <a:endParaRPr lang="en-US" sz="14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2" name="Rectangle 426"/>
          <p:cNvSpPr>
            <a:spLocks noChangeAspect="1" noChangeArrowheads="1"/>
          </p:cNvSpPr>
          <p:nvPr/>
        </p:nvSpPr>
        <p:spPr bwMode="auto">
          <a:xfrm>
            <a:off x="10073247" y="2308738"/>
            <a:ext cx="432171" cy="518016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2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5" name="Rectangle 433"/>
          <p:cNvSpPr>
            <a:spLocks noChangeAspect="1" noChangeArrowheads="1"/>
          </p:cNvSpPr>
          <p:nvPr/>
        </p:nvSpPr>
        <p:spPr bwMode="auto">
          <a:xfrm>
            <a:off x="8114647" y="2293040"/>
            <a:ext cx="395470" cy="5180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2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6" name="Rectangle 408"/>
          <p:cNvSpPr>
            <a:spLocks noChangeAspect="1" noChangeArrowheads="1"/>
          </p:cNvSpPr>
          <p:nvPr/>
        </p:nvSpPr>
        <p:spPr bwMode="auto">
          <a:xfrm>
            <a:off x="5368518" y="2308738"/>
            <a:ext cx="3136487" cy="518016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2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7" name="Line 434"/>
          <p:cNvSpPr>
            <a:spLocks noChangeAspect="1" noChangeShapeType="1"/>
          </p:cNvSpPr>
          <p:nvPr/>
        </p:nvSpPr>
        <p:spPr bwMode="auto">
          <a:xfrm flipV="1">
            <a:off x="8109534" y="2882816"/>
            <a:ext cx="0" cy="55613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200">
              <a:latin typeface="+mn-lt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164409" y="4239161"/>
            <a:ext cx="4424609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latin typeface="Calibri" pitchFamily="34" charset="0"/>
              </a:rPr>
              <a:t>已分配内存块：有底纹</a:t>
            </a:r>
            <a:endParaRPr lang="en-US" sz="2000" b="0" dirty="0">
              <a:latin typeface="Calibri" pitchFamily="34" charset="0"/>
            </a:endParaRPr>
          </a:p>
          <a:p>
            <a:r>
              <a:rPr lang="zh-CN" altLang="en-US" sz="2000" dirty="0" smtClean="0">
                <a:latin typeface="Calibri" pitchFamily="34" charset="0"/>
              </a:rPr>
              <a:t>空闲内存块：无底纹</a:t>
            </a:r>
            <a:endParaRPr lang="en-US" sz="2000" b="0" dirty="0">
              <a:latin typeface="Calibri" pitchFamily="34" charset="0"/>
            </a:endParaRPr>
          </a:p>
          <a:p>
            <a:r>
              <a:rPr lang="zh-CN" altLang="en-US" sz="2000" dirty="0" smtClean="0">
                <a:latin typeface="Calibri" pitchFamily="34" charset="0"/>
              </a:rPr>
              <a:t>表头：标记为“字的数量</a:t>
            </a:r>
            <a:r>
              <a:rPr lang="en-US" altLang="zh-CN" sz="2000" dirty="0" smtClean="0">
                <a:latin typeface="Calibri" pitchFamily="34" charset="0"/>
              </a:rPr>
              <a:t>/</a:t>
            </a:r>
            <a:r>
              <a:rPr lang="zh-CN" altLang="en-US" sz="2000" dirty="0" smtClean="0">
                <a:latin typeface="Calibri" pitchFamily="34" charset="0"/>
              </a:rPr>
              <a:t>已分配位”</a:t>
            </a:r>
            <a:endParaRPr lang="en-US" sz="2000" b="0" dirty="0">
              <a:latin typeface="Calibri" pitchFamily="34" charset="0"/>
            </a:endParaRPr>
          </a:p>
          <a:p>
            <a:r>
              <a:rPr lang="zh-CN" altLang="en-US" sz="2000" b="0" dirty="0" smtClean="0">
                <a:latin typeface="Calibri" pitchFamily="34" charset="0"/>
              </a:rPr>
              <a:t>表头位置未对齐</a:t>
            </a:r>
            <a:endParaRPr lang="en-US" sz="2000" b="0" dirty="0">
              <a:latin typeface="Calibri" pitchFamily="34" charset="0"/>
            </a:endParaRPr>
          </a:p>
          <a:p>
            <a:r>
              <a:rPr lang="en-US" sz="2000" b="0" dirty="0">
                <a:latin typeface="Calibri" pitchFamily="34" charset="0"/>
                <a:sym typeface="Wingdings" panose="05000000000000000000" pitchFamily="2" charset="2"/>
              </a:rPr>
              <a:t> </a:t>
            </a:r>
            <a:r>
              <a:rPr lang="zh-CN" altLang="en-US" sz="2000" b="0" dirty="0">
                <a:latin typeface="Calibri" pitchFamily="34" charset="0"/>
                <a:sym typeface="Wingdings" panose="05000000000000000000" pitchFamily="2" charset="2"/>
              </a:rPr>
              <a:t>有</a:t>
            </a:r>
            <a:r>
              <a:rPr lang="zh-CN" altLang="en-US" sz="2000" b="0" dirty="0" smtClean="0">
                <a:latin typeface="Calibri" pitchFamily="34" charset="0"/>
                <a:sym typeface="Wingdings" panose="05000000000000000000" pitchFamily="2" charset="2"/>
              </a:rPr>
              <a:t>效负载是对齐的</a:t>
            </a:r>
            <a:endParaRPr lang="en-US" sz="2000" b="0" dirty="0">
              <a:latin typeface="Calibri" pitchFamily="34" charset="0"/>
            </a:endParaRPr>
          </a:p>
        </p:txBody>
      </p:sp>
      <p:sp>
        <p:nvSpPr>
          <p:cNvPr id="48" name="Text Box 410"/>
          <p:cNvSpPr txBox="1">
            <a:spLocks noChangeAspect="1" noChangeArrowheads="1"/>
          </p:cNvSpPr>
          <p:nvPr/>
        </p:nvSpPr>
        <p:spPr bwMode="auto">
          <a:xfrm>
            <a:off x="2349670" y="1962812"/>
            <a:ext cx="723276" cy="307777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zh-CN" altLang="en-US" sz="1400" b="0" dirty="0" smtClean="0">
                <a:latin typeface="Calibri" pitchFamily="34" charset="0"/>
                <a:cs typeface="Calibri" pitchFamily="34" charset="0"/>
              </a:rPr>
              <a:t>未使用</a:t>
            </a:r>
            <a:endParaRPr lang="en-US" sz="14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9" name="Rectangle 423" descr="Wide upward diagonal"/>
          <p:cNvSpPr>
            <a:spLocks noChangeAspect="1" noChangeArrowheads="1"/>
          </p:cNvSpPr>
          <p:nvPr/>
        </p:nvSpPr>
        <p:spPr bwMode="auto">
          <a:xfrm>
            <a:off x="2611313" y="2321153"/>
            <a:ext cx="395470" cy="518016"/>
          </a:xfrm>
          <a:prstGeom prst="rect">
            <a:avLst/>
          </a:prstGeom>
          <a:pattFill prst="wdUpDiag">
            <a:fgClr>
              <a:srgbClr val="C0C0C0"/>
            </a:fgClr>
            <a:bgClr>
              <a:srgbClr val="FFFFFF"/>
            </a:bgClr>
          </a:patt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endParaRPr lang="en-US" sz="14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1" name="Rectangle 426"/>
          <p:cNvSpPr>
            <a:spLocks noChangeAspect="1" noChangeArrowheads="1"/>
          </p:cNvSpPr>
          <p:nvPr/>
        </p:nvSpPr>
        <p:spPr bwMode="auto">
          <a:xfrm>
            <a:off x="2590800" y="2308738"/>
            <a:ext cx="415124" cy="518016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200" b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52" name="Straight Arrow Connector 51"/>
          <p:cNvCxnSpPr/>
          <p:nvPr/>
        </p:nvCxnSpPr>
        <p:spPr bwMode="auto">
          <a:xfrm flipV="1">
            <a:off x="3077518" y="2836926"/>
            <a:ext cx="118143" cy="72905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3" name="TextBox 52"/>
          <p:cNvSpPr txBox="1"/>
          <p:nvPr/>
        </p:nvSpPr>
        <p:spPr>
          <a:xfrm>
            <a:off x="2625482" y="3568482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heap_start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cxnSp>
        <p:nvCxnSpPr>
          <p:cNvPr id="56" name="Straight Arrow Connector 55"/>
          <p:cNvCxnSpPr/>
          <p:nvPr/>
        </p:nvCxnSpPr>
        <p:spPr bwMode="auto">
          <a:xfrm flipV="1">
            <a:off x="10126091" y="2836926"/>
            <a:ext cx="118143" cy="72905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7" name="TextBox 56"/>
          <p:cNvSpPr txBox="1"/>
          <p:nvPr/>
        </p:nvSpPr>
        <p:spPr>
          <a:xfrm>
            <a:off x="9075768" y="3565982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heap_end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/>
          <p:cNvSpPr>
            <a:spLocks noGrp="1" noChangeArrowheads="1"/>
          </p:cNvSpPr>
          <p:nvPr>
            <p:ph type="title"/>
          </p:nvPr>
        </p:nvSpPr>
        <p:spPr>
          <a:xfrm>
            <a:off x="1804086" y="468998"/>
            <a:ext cx="8001000" cy="573088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dirty="0" smtClean="0"/>
              <a:t>隐式列表：数据结构</a:t>
            </a:r>
            <a:endParaRPr lang="en-GB" dirty="0"/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814514" y="1371600"/>
            <a:ext cx="8307387" cy="5303838"/>
          </a:xfrm>
        </p:spPr>
        <p:txBody>
          <a:bodyPr/>
          <a:lstStyle/>
          <a:p>
            <a:pPr>
              <a:lnSpc>
                <a:spcPct val="83000"/>
              </a:lnSpc>
              <a:spcBef>
                <a:spcPts val="1250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sz="2000" dirty="0" smtClean="0"/>
              <a:t>内存块声明</a:t>
            </a:r>
            <a:endParaRPr lang="en-GB" sz="2000" dirty="0"/>
          </a:p>
          <a:p>
            <a:pPr>
              <a:lnSpc>
                <a:spcPct val="83000"/>
              </a:lnSpc>
              <a:spcBef>
                <a:spcPts val="1250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sz="2000" dirty="0"/>
          </a:p>
          <a:p>
            <a:pPr>
              <a:lnSpc>
                <a:spcPct val="83000"/>
              </a:lnSpc>
              <a:spcBef>
                <a:spcPts val="1250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sz="2000" dirty="0"/>
          </a:p>
          <a:p>
            <a:pPr>
              <a:lnSpc>
                <a:spcPct val="83000"/>
              </a:lnSpc>
              <a:spcBef>
                <a:spcPts val="1250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sz="2000" dirty="0"/>
          </a:p>
          <a:p>
            <a:pPr>
              <a:lnSpc>
                <a:spcPct val="83000"/>
              </a:lnSpc>
              <a:spcBef>
                <a:spcPts val="1250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sz="2000" dirty="0"/>
          </a:p>
          <a:p>
            <a:pPr marL="0" indent="0">
              <a:lnSpc>
                <a:spcPct val="83000"/>
              </a:lnSpc>
              <a:spcBef>
                <a:spcPts val="1250"/>
              </a:spcBef>
              <a:buNone/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sz="2000" dirty="0"/>
          </a:p>
          <a:p>
            <a:pPr>
              <a:lnSpc>
                <a:spcPct val="83000"/>
              </a:lnSpc>
              <a:spcBef>
                <a:spcPts val="1250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sz="2000" dirty="0" smtClean="0"/>
              <a:t>从块指针获取有效负载</a:t>
            </a:r>
            <a:endParaRPr lang="en-GB" sz="2000" dirty="0"/>
          </a:p>
          <a:p>
            <a:pPr marL="0" indent="0">
              <a:lnSpc>
                <a:spcPct val="83000"/>
              </a:lnSpc>
              <a:spcBef>
                <a:spcPts val="1250"/>
              </a:spcBef>
              <a:buNone/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sz="2000" dirty="0"/>
          </a:p>
          <a:p>
            <a:pPr>
              <a:lnSpc>
                <a:spcPct val="83000"/>
              </a:lnSpc>
              <a:spcBef>
                <a:spcPts val="1250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sz="1800" dirty="0" smtClean="0"/>
              <a:t>从有效负载获取表头信息</a:t>
            </a:r>
            <a:endParaRPr lang="en-GB" sz="1800" dirty="0"/>
          </a:p>
          <a:p>
            <a:pPr lvl="1">
              <a:lnSpc>
                <a:spcPct val="88000"/>
              </a:lnSpc>
              <a:spcBef>
                <a:spcPts val="565"/>
              </a:spcBef>
              <a:buNone/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sz="1800" dirty="0"/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2160372" y="1808626"/>
            <a:ext cx="7644714" cy="34073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square" lIns="90000" tIns="46800" rIns="90000" bIns="46800">
            <a:spAutoFit/>
          </a:bodyPr>
          <a:lstStyle/>
          <a:p>
            <a:r>
              <a:rPr lang="en-US" sz="1600" dirty="0">
                <a:solidFill>
                  <a:srgbClr val="AFD7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typedef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sz="1600" dirty="0">
                <a:solidFill>
                  <a:srgbClr val="34A327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uint64_t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sz="1600" dirty="0" err="1">
                <a:solidFill>
                  <a:srgbClr val="34A327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word_t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;</a:t>
            </a:r>
            <a:endParaRPr lang="en-US" sz="1600" dirty="0">
              <a:solidFill>
                <a:srgbClr val="34A327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2145849" y="2179580"/>
            <a:ext cx="7644714" cy="132562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square" lIns="90000" tIns="46800" rIns="90000" bIns="46800">
            <a:spAutoFit/>
          </a:bodyPr>
          <a:lstStyle/>
          <a:p>
            <a:r>
              <a:rPr lang="en-US" sz="1600" dirty="0">
                <a:solidFill>
                  <a:srgbClr val="D03B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typedef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sz="1600" dirty="0">
                <a:solidFill>
                  <a:srgbClr val="D03B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sz="1600" dirty="0">
                <a:solidFill>
                  <a:srgbClr val="34A327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block</a:t>
            </a:r>
            <a:endParaRPr lang="en-US" sz="1600" dirty="0">
              <a:solidFill>
                <a:srgbClr val="D03BFF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{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    </a:t>
            </a:r>
            <a:r>
              <a:rPr lang="en-US" sz="1600" dirty="0" err="1">
                <a:solidFill>
                  <a:srgbClr val="34A327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word_t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sz="1600" dirty="0">
                <a:solidFill>
                  <a:srgbClr val="CD7923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header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    </a:t>
            </a:r>
            <a:r>
              <a:rPr lang="en-US" sz="1600" dirty="0">
                <a:solidFill>
                  <a:srgbClr val="34A327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unsigned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sz="1600" dirty="0">
                <a:solidFill>
                  <a:srgbClr val="34A327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sz="1600" dirty="0">
                <a:solidFill>
                  <a:srgbClr val="CD7923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payload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[0];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} </a:t>
            </a:r>
            <a:r>
              <a:rPr lang="en-US" sz="1600" dirty="0" err="1">
                <a:solidFill>
                  <a:srgbClr val="34A327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block_t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;</a:t>
            </a:r>
            <a:endParaRPr lang="en-US" sz="1600" dirty="0">
              <a:solidFill>
                <a:srgbClr val="34A327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" name="Rectangle 426"/>
          <p:cNvSpPr>
            <a:spLocks noChangeAspect="1" noChangeArrowheads="1"/>
          </p:cNvSpPr>
          <p:nvPr/>
        </p:nvSpPr>
        <p:spPr bwMode="auto">
          <a:xfrm>
            <a:off x="5257800" y="1011007"/>
            <a:ext cx="813486" cy="518016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r>
              <a:rPr lang="zh-CN" altLang="en-US" sz="1800" b="0" dirty="0" smtClean="0">
                <a:latin typeface="Calibri" pitchFamily="34" charset="0"/>
                <a:cs typeface="Calibri" pitchFamily="34" charset="0"/>
              </a:rPr>
              <a:t>表头</a:t>
            </a:r>
            <a:endParaRPr lang="en-US" sz="18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" name="Rectangle 426"/>
          <p:cNvSpPr>
            <a:spLocks noChangeAspect="1" noChangeArrowheads="1"/>
          </p:cNvSpPr>
          <p:nvPr/>
        </p:nvSpPr>
        <p:spPr bwMode="auto">
          <a:xfrm>
            <a:off x="6071286" y="1011007"/>
            <a:ext cx="2386914" cy="518016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r>
              <a:rPr lang="zh-CN" altLang="en-US" sz="1800" b="0" dirty="0" smtClean="0">
                <a:latin typeface="Calibri" pitchFamily="34" charset="0"/>
                <a:cs typeface="Calibri" pitchFamily="34" charset="0"/>
              </a:rPr>
              <a:t>有效负载</a:t>
            </a:r>
            <a:endParaRPr lang="en-US" sz="18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2144993" y="4210014"/>
            <a:ext cx="7644714" cy="34073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square" lIns="90000" tIns="46800" rIns="90000" bIns="46800">
            <a:spAutoFit/>
          </a:bodyPr>
          <a:lstStyle/>
          <a:p>
            <a:r>
              <a:rPr lang="en-US" sz="1600" dirty="0">
                <a:solidFill>
                  <a:srgbClr val="D03B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(</a:t>
            </a:r>
            <a:r>
              <a:rPr lang="en-US" sz="1600" dirty="0">
                <a:solidFill>
                  <a:srgbClr val="34A327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*) (block-&gt;payload);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2144993" y="5075449"/>
            <a:ext cx="7644714" cy="586957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square" lIns="90000" tIns="46800" rIns="90000" bIns="46800">
            <a:spAutoFit/>
          </a:bodyPr>
          <a:lstStyle/>
          <a:p>
            <a:r>
              <a:rPr lang="en-US" sz="1600" dirty="0">
                <a:solidFill>
                  <a:srgbClr val="D03B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(</a:t>
            </a:r>
            <a:r>
              <a:rPr lang="en-US" sz="1600" dirty="0" err="1">
                <a:solidFill>
                  <a:srgbClr val="34A327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block_t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*) ((</a:t>
            </a:r>
            <a:r>
              <a:rPr lang="en-US" sz="1600" dirty="0">
                <a:solidFill>
                  <a:srgbClr val="34A327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unsigned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sz="1600" dirty="0">
                <a:solidFill>
                  <a:srgbClr val="34A327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*) 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bp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                    - 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offsetof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block_t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, payload));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071235" y="2866390"/>
            <a:ext cx="3599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// Zero length array，GCC</a:t>
            </a:r>
            <a:r>
              <a:rPr lang="zh-CN" altLang="en-US" sz="1800" dirty="0">
                <a:latin typeface="Calibri" pitchFamily="34" charset="0"/>
              </a:rPr>
              <a:t>扩展</a:t>
            </a:r>
            <a:endParaRPr lang="zh-CN" altLang="en-US" sz="1800" dirty="0">
              <a:latin typeface="Calibri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267688" y="4726025"/>
            <a:ext cx="2624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// </a:t>
            </a:r>
            <a:r>
              <a:rPr lang="en-US" sz="18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bp</a:t>
            </a:r>
            <a:r>
              <a:rPr lang="en-US" sz="1800" dirty="0">
                <a:latin typeface="Calibri" pitchFamily="34" charset="0"/>
              </a:rPr>
              <a:t> </a:t>
            </a:r>
            <a:r>
              <a:rPr lang="zh-CN" altLang="en-US" sz="1800" dirty="0" smtClean="0">
                <a:latin typeface="Calibri" pitchFamily="34" charset="0"/>
              </a:rPr>
              <a:t>指向一个有效负载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1" y="3857992"/>
            <a:ext cx="2366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// </a:t>
            </a:r>
            <a:r>
              <a:rPr lang="en-US" sz="18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block_t</a:t>
            </a:r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 *block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31720" y="5946850"/>
            <a:ext cx="7156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C </a:t>
            </a:r>
            <a:r>
              <a:rPr lang="zh-CN" altLang="en-US" sz="1800" dirty="0" smtClean="0">
                <a:latin typeface="Calibri" pitchFamily="34" charset="0"/>
              </a:rPr>
              <a:t>函数</a:t>
            </a:r>
            <a:r>
              <a:rPr lang="en-US" sz="1800" dirty="0" smtClean="0">
                <a:latin typeface="Calibri" pitchFamily="34" charset="0"/>
              </a:rPr>
              <a:t> </a:t>
            </a:r>
            <a:r>
              <a:rPr lang="en-US" sz="18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offsetof</a:t>
            </a:r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(struct, member) </a:t>
            </a:r>
            <a:r>
              <a:rPr lang="zh-CN" altLang="en-US" sz="1800" dirty="0" smtClean="0">
                <a:latin typeface="Courier New" panose="02070609020205020404" pitchFamily="49" charset="0"/>
                <a:cs typeface="Courier New" panose="02070609020205020404" pitchFamily="49" charset="0"/>
              </a:rPr>
              <a:t>返回 </a:t>
            </a:r>
            <a:r>
              <a:rPr lang="en-US" sz="1800" dirty="0" err="1" smtClean="0">
                <a:latin typeface="Calibri" pitchFamily="34" charset="0"/>
              </a:rPr>
              <a:t>struct</a:t>
            </a:r>
            <a:r>
              <a:rPr lang="en-US" sz="1800" dirty="0" smtClean="0">
                <a:latin typeface="Calibri" pitchFamily="34" charset="0"/>
              </a:rPr>
              <a:t> </a:t>
            </a:r>
            <a:r>
              <a:rPr lang="zh-CN" altLang="en-US" sz="1800" dirty="0" smtClean="0">
                <a:latin typeface="Calibri" pitchFamily="34" charset="0"/>
              </a:rPr>
              <a:t>中成员的偏移量</a:t>
            </a:r>
            <a:endParaRPr lang="en-US" sz="1800" dirty="0">
              <a:latin typeface="Calibri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/>
      <p:bldP spid="12" grpId="0"/>
      <p:bldP spid="1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/>
          <p:cNvSpPr>
            <a:spLocks noGrp="1" noChangeArrowheads="1"/>
          </p:cNvSpPr>
          <p:nvPr>
            <p:ph type="title"/>
          </p:nvPr>
        </p:nvSpPr>
        <p:spPr>
          <a:xfrm>
            <a:off x="1804086" y="468998"/>
            <a:ext cx="8001000" cy="573088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dirty="0" smtClean="0"/>
              <a:t>隐式列表：表头访问</a:t>
            </a:r>
            <a:endParaRPr lang="en-GB" dirty="0"/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814514" y="1371600"/>
            <a:ext cx="8307387" cy="5303838"/>
          </a:xfrm>
        </p:spPr>
        <p:txBody>
          <a:bodyPr/>
          <a:lstStyle/>
          <a:p>
            <a:pPr>
              <a:lnSpc>
                <a:spcPct val="83000"/>
              </a:lnSpc>
              <a:spcBef>
                <a:spcPts val="1250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sz="2000" dirty="0" smtClean="0"/>
              <a:t>从表头获取已分配位</a:t>
            </a:r>
            <a:endParaRPr lang="en-GB" sz="2000" dirty="0"/>
          </a:p>
          <a:p>
            <a:pPr marL="0" indent="0">
              <a:lnSpc>
                <a:spcPct val="83000"/>
              </a:lnSpc>
              <a:spcBef>
                <a:spcPts val="1250"/>
              </a:spcBef>
              <a:buNone/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sz="2000" dirty="0"/>
          </a:p>
          <a:p>
            <a:pPr>
              <a:lnSpc>
                <a:spcPct val="83000"/>
              </a:lnSpc>
              <a:spcBef>
                <a:spcPts val="1250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sz="2000" dirty="0" smtClean="0"/>
              <a:t>从表头获取内存块大小</a:t>
            </a:r>
            <a:endParaRPr lang="en-GB" sz="2000" dirty="0"/>
          </a:p>
          <a:p>
            <a:pPr>
              <a:lnSpc>
                <a:spcPct val="83000"/>
              </a:lnSpc>
              <a:spcBef>
                <a:spcPts val="1250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sz="2000" dirty="0"/>
          </a:p>
          <a:p>
            <a:pPr>
              <a:lnSpc>
                <a:spcPct val="83000"/>
              </a:lnSpc>
              <a:spcBef>
                <a:spcPts val="1250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sz="2000" dirty="0" smtClean="0"/>
              <a:t>初始化表头</a:t>
            </a:r>
            <a:endParaRPr lang="en-GB" sz="2000" dirty="0"/>
          </a:p>
          <a:p>
            <a:pPr lvl="1">
              <a:lnSpc>
                <a:spcPct val="88000"/>
              </a:lnSpc>
              <a:spcBef>
                <a:spcPts val="565"/>
              </a:spcBef>
              <a:buNone/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sz="1800" dirty="0"/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2160372" y="1752601"/>
            <a:ext cx="7644714" cy="34073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square" lIns="90000" tIns="46800" rIns="90000" bIns="46800">
            <a:spAutoFit/>
          </a:bodyPr>
          <a:lstStyle/>
          <a:p>
            <a:r>
              <a:rPr lang="en-US" sz="1600" dirty="0">
                <a:solidFill>
                  <a:srgbClr val="D03B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header &amp; 0x1;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7620000" y="979056"/>
            <a:ext cx="1370012" cy="381000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 smtClean="0">
                <a:latin typeface="Calibri" pitchFamily="34" charset="0"/>
              </a:rPr>
              <a:t>内存块大小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8991600" y="979056"/>
            <a:ext cx="304800" cy="381000"/>
          </a:xfrm>
          <a:prstGeom prst="rect">
            <a:avLst/>
          </a:prstGeom>
          <a:solidFill>
            <a:srgbClr val="EBAFA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a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2160372" y="2618036"/>
            <a:ext cx="7644714" cy="33845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square" lIns="90000" tIns="46800" rIns="90000" bIns="46800">
            <a:spAutoFit/>
          </a:bodyPr>
          <a:lstStyle/>
          <a:p>
            <a:r>
              <a:rPr lang="en-US" sz="1600" dirty="0">
                <a:solidFill>
                  <a:srgbClr val="D03B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header &amp; ~0xfL; //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...0000 1111 --&gt; ...1111 0000</a:t>
            </a:r>
            <a:endParaRPr lang="zh-CN" alt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2133863" y="3414025"/>
            <a:ext cx="7644714" cy="34073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square" lIns="90000" tIns="46800" rIns="90000" bIns="4680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block-&gt;header = size | 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alloc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086601" y="3027676"/>
            <a:ext cx="2366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// </a:t>
            </a:r>
            <a:r>
              <a:rPr lang="en-US" sz="18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block_t</a:t>
            </a:r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 *block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61310" y="3886200"/>
            <a:ext cx="6130290" cy="270383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/>
          <p:cNvSpPr>
            <a:spLocks noGrp="1" noChangeArrowheads="1"/>
          </p:cNvSpPr>
          <p:nvPr>
            <p:ph type="title"/>
          </p:nvPr>
        </p:nvSpPr>
        <p:spPr>
          <a:xfrm>
            <a:off x="1804086" y="468998"/>
            <a:ext cx="8001000" cy="573088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dirty="0" smtClean="0"/>
              <a:t>隐式列表：遍历列表</a:t>
            </a:r>
            <a:endParaRPr lang="en-GB" dirty="0"/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814514" y="2438400"/>
            <a:ext cx="8307387" cy="4237038"/>
          </a:xfrm>
        </p:spPr>
        <p:txBody>
          <a:bodyPr/>
          <a:lstStyle/>
          <a:p>
            <a:pPr>
              <a:lnSpc>
                <a:spcPct val="83000"/>
              </a:lnSpc>
              <a:spcBef>
                <a:spcPts val="1250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sz="2000" dirty="0" smtClean="0"/>
              <a:t>查找下一个内存块</a:t>
            </a:r>
            <a:endParaRPr lang="en-GB" sz="2000" dirty="0"/>
          </a:p>
          <a:p>
            <a:pPr>
              <a:lnSpc>
                <a:spcPct val="83000"/>
              </a:lnSpc>
              <a:spcBef>
                <a:spcPts val="1250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sz="2000" dirty="0"/>
          </a:p>
          <a:p>
            <a:pPr>
              <a:lnSpc>
                <a:spcPct val="83000"/>
              </a:lnSpc>
              <a:spcBef>
                <a:spcPts val="1250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sz="2000" dirty="0"/>
          </a:p>
          <a:p>
            <a:pPr>
              <a:lnSpc>
                <a:spcPct val="83000"/>
              </a:lnSpc>
              <a:spcBef>
                <a:spcPts val="1250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sz="2000" dirty="0"/>
          </a:p>
          <a:p>
            <a:pPr lvl="1">
              <a:lnSpc>
                <a:spcPct val="88000"/>
              </a:lnSpc>
              <a:spcBef>
                <a:spcPts val="565"/>
              </a:spcBef>
              <a:buNone/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sz="1800" dirty="0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2145849" y="2865380"/>
            <a:ext cx="7644714" cy="132562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square" lIns="90000" tIns="46800" rIns="90000" bIns="46800">
            <a:spAutoFit/>
          </a:bodyPr>
          <a:lstStyle/>
          <a:p>
            <a:r>
              <a:rPr lang="en-US" sz="1600" dirty="0">
                <a:solidFill>
                  <a:srgbClr val="D03B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static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sz="1600" dirty="0" err="1">
                <a:solidFill>
                  <a:srgbClr val="34A327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block_t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*</a:t>
            </a:r>
            <a:r>
              <a:rPr lang="en-US" sz="1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find_next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(</a:t>
            </a:r>
            <a:r>
              <a:rPr lang="en-US" sz="1600" dirty="0" err="1">
                <a:solidFill>
                  <a:srgbClr val="34A327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block_t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*</a:t>
            </a:r>
            <a:r>
              <a:rPr lang="en-US" sz="1600" dirty="0">
                <a:solidFill>
                  <a:srgbClr val="CD7923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block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)</a:t>
            </a:r>
            <a:endParaRPr lang="en-US" sz="1600" dirty="0">
              <a:solidFill>
                <a:srgbClr val="34A327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{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    </a:t>
            </a:r>
            <a:r>
              <a:rPr lang="en-US" sz="1600" dirty="0">
                <a:solidFill>
                  <a:srgbClr val="D03B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(</a:t>
            </a:r>
            <a:r>
              <a:rPr lang="en-US" sz="1600" dirty="0" err="1">
                <a:solidFill>
                  <a:srgbClr val="34A327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block_t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*) ((</a:t>
            </a:r>
            <a:r>
              <a:rPr lang="en-US" sz="1600" dirty="0">
                <a:solidFill>
                  <a:srgbClr val="34A327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unsigned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sz="1600" dirty="0">
                <a:solidFill>
                  <a:srgbClr val="34A327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*) block 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                       + 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get_size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(block));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}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9" name="Rectangle 426"/>
          <p:cNvSpPr>
            <a:spLocks noChangeAspect="1" noChangeArrowheads="1"/>
          </p:cNvSpPr>
          <p:nvPr/>
        </p:nvSpPr>
        <p:spPr bwMode="auto">
          <a:xfrm>
            <a:off x="2121109" y="1210577"/>
            <a:ext cx="813486" cy="518016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r>
              <a:rPr lang="zh-CN" altLang="en-US" sz="1800" b="0" dirty="0" smtClean="0">
                <a:latin typeface="Calibri" pitchFamily="34" charset="0"/>
                <a:cs typeface="Calibri" pitchFamily="34" charset="0"/>
              </a:rPr>
              <a:t>表头</a:t>
            </a:r>
            <a:endParaRPr lang="en-US" sz="18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2" name="Rectangle 426"/>
          <p:cNvSpPr>
            <a:spLocks noChangeAspect="1" noChangeArrowheads="1"/>
          </p:cNvSpPr>
          <p:nvPr/>
        </p:nvSpPr>
        <p:spPr bwMode="auto">
          <a:xfrm>
            <a:off x="2934596" y="1210577"/>
            <a:ext cx="1637405" cy="518016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r>
              <a:rPr lang="zh-CN" altLang="en-US" sz="1800" b="0" dirty="0" smtClean="0">
                <a:latin typeface="Calibri" pitchFamily="34" charset="0"/>
                <a:cs typeface="Calibri" pitchFamily="34" charset="0"/>
              </a:rPr>
              <a:t>有效负载</a:t>
            </a:r>
            <a:endParaRPr lang="en-US" sz="18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" name="Rectangle 426"/>
          <p:cNvSpPr>
            <a:spLocks noChangeAspect="1" noChangeArrowheads="1"/>
          </p:cNvSpPr>
          <p:nvPr/>
        </p:nvSpPr>
        <p:spPr bwMode="auto">
          <a:xfrm>
            <a:off x="6051067" y="1210577"/>
            <a:ext cx="813486" cy="518016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r>
              <a:rPr lang="zh-CN" altLang="en-US" sz="1800" b="0" dirty="0" smtClean="0">
                <a:latin typeface="Calibri" pitchFamily="34" charset="0"/>
                <a:cs typeface="Calibri" pitchFamily="34" charset="0"/>
              </a:rPr>
              <a:t>表头</a:t>
            </a:r>
            <a:endParaRPr lang="en-US" sz="18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4" name="Rectangle 426"/>
          <p:cNvSpPr>
            <a:spLocks noChangeAspect="1" noChangeArrowheads="1"/>
          </p:cNvSpPr>
          <p:nvPr/>
        </p:nvSpPr>
        <p:spPr bwMode="auto">
          <a:xfrm>
            <a:off x="6864553" y="1210577"/>
            <a:ext cx="2386914" cy="518016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r>
              <a:rPr lang="zh-CN" altLang="en-US" sz="1800" b="0" dirty="0" smtClean="0">
                <a:latin typeface="Calibri" pitchFamily="34" charset="0"/>
                <a:cs typeface="Calibri" pitchFamily="34" charset="0"/>
              </a:rPr>
              <a:t>有效负载</a:t>
            </a:r>
            <a:endParaRPr lang="en-US" sz="18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5" name="Rectangle 426"/>
          <p:cNvSpPr>
            <a:spLocks noChangeAspect="1" noChangeArrowheads="1"/>
          </p:cNvSpPr>
          <p:nvPr/>
        </p:nvSpPr>
        <p:spPr bwMode="auto">
          <a:xfrm>
            <a:off x="4589813" y="1210577"/>
            <a:ext cx="1461254" cy="518016"/>
          </a:xfrm>
          <a:prstGeom prst="rect">
            <a:avLst/>
          </a:prstGeom>
          <a:solidFill>
            <a:schemeClr val="bg1">
              <a:lumMod val="65000"/>
            </a:schemeClr>
          </a:solidFill>
          <a:ln w="381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r>
              <a:rPr lang="zh-CN" altLang="en-US" sz="1800" b="0" dirty="0" smtClean="0">
                <a:latin typeface="Calibri" pitchFamily="34" charset="0"/>
                <a:cs typeface="Calibri" pitchFamily="34" charset="0"/>
              </a:rPr>
              <a:t>未使用</a:t>
            </a:r>
            <a:endParaRPr lang="en-US" sz="1800" b="0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11" name="Straight Arrow Connector 10"/>
          <p:cNvCxnSpPr/>
          <p:nvPr/>
        </p:nvCxnSpPr>
        <p:spPr bwMode="auto">
          <a:xfrm>
            <a:off x="2120369" y="1959238"/>
            <a:ext cx="3930698" cy="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lg" len="med"/>
            <a:tailEnd type="stealth" w="med" len="med"/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3537074" y="1786241"/>
            <a:ext cx="134684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800" dirty="0" smtClean="0">
                <a:latin typeface="Calibri" pitchFamily="34" charset="0"/>
              </a:rPr>
              <a:t>内存块大小</a:t>
            </a:r>
            <a:endParaRPr lang="en-US" sz="1800" dirty="0">
              <a:latin typeface="Calibri" pitchFamily="34" charset="0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1945677" y="5275220"/>
            <a:ext cx="8337307" cy="1086569"/>
            <a:chOff x="421677" y="5275219"/>
            <a:chExt cx="8337307" cy="1086569"/>
          </a:xfrm>
        </p:grpSpPr>
        <p:sp>
          <p:nvSpPr>
            <p:cNvPr id="18" name="Rectangle 432"/>
            <p:cNvSpPr>
              <a:spLocks noChangeAspect="1" noChangeArrowheads="1"/>
            </p:cNvSpPr>
            <p:nvPr/>
          </p:nvSpPr>
          <p:spPr bwMode="auto">
            <a:xfrm>
              <a:off x="5804822" y="5833600"/>
              <a:ext cx="395470" cy="51801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 sz="1200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9" name="Rectangle 379"/>
            <p:cNvSpPr>
              <a:spLocks noChangeAspect="1" noChangeArrowheads="1"/>
            </p:cNvSpPr>
            <p:nvPr/>
          </p:nvSpPr>
          <p:spPr bwMode="auto">
            <a:xfrm>
              <a:off x="1067704" y="5833600"/>
              <a:ext cx="395470" cy="51801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0" dirty="0">
                  <a:latin typeface="Calibri" pitchFamily="34" charset="0"/>
                  <a:cs typeface="Calibri" pitchFamily="34" charset="0"/>
                </a:rPr>
                <a:t>16/0</a:t>
              </a:r>
              <a:endParaRPr lang="en-US" sz="14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0" name="Rectangle 380"/>
            <p:cNvSpPr>
              <a:spLocks noChangeAspect="1" noChangeArrowheads="1"/>
            </p:cNvSpPr>
            <p:nvPr/>
          </p:nvSpPr>
          <p:spPr bwMode="auto">
            <a:xfrm>
              <a:off x="1463174" y="5833600"/>
              <a:ext cx="393766" cy="51801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 sz="1200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1" name="Rectangle 384"/>
            <p:cNvSpPr>
              <a:spLocks noChangeAspect="1" noChangeArrowheads="1"/>
            </p:cNvSpPr>
            <p:nvPr/>
          </p:nvSpPr>
          <p:spPr bwMode="auto">
            <a:xfrm>
              <a:off x="1843302" y="5833600"/>
              <a:ext cx="393766" cy="518016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0" dirty="0">
                  <a:latin typeface="Calibri" pitchFamily="34" charset="0"/>
                  <a:cs typeface="Calibri" pitchFamily="34" charset="0"/>
                </a:rPr>
                <a:t>32/1</a:t>
              </a:r>
              <a:endParaRPr lang="en-US" sz="14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2" name="Rectangle 385"/>
            <p:cNvSpPr>
              <a:spLocks noChangeAspect="1" noChangeArrowheads="1"/>
            </p:cNvSpPr>
            <p:nvPr/>
          </p:nvSpPr>
          <p:spPr bwMode="auto">
            <a:xfrm>
              <a:off x="2237068" y="5833600"/>
              <a:ext cx="395470" cy="518016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 sz="1200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3" name="Rectangle 386"/>
            <p:cNvSpPr>
              <a:spLocks noChangeAspect="1" noChangeArrowheads="1"/>
            </p:cNvSpPr>
            <p:nvPr/>
          </p:nvSpPr>
          <p:spPr bwMode="auto">
            <a:xfrm>
              <a:off x="2632538" y="5833600"/>
              <a:ext cx="395470" cy="518016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 sz="1200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4" name="Rectangle 387" descr="Wide upward diagonal"/>
            <p:cNvSpPr>
              <a:spLocks noChangeAspect="1" noChangeArrowheads="1"/>
            </p:cNvSpPr>
            <p:nvPr/>
          </p:nvSpPr>
          <p:spPr bwMode="auto">
            <a:xfrm>
              <a:off x="3028009" y="5833600"/>
              <a:ext cx="393766" cy="518016"/>
            </a:xfrm>
            <a:prstGeom prst="rect">
              <a:avLst/>
            </a:prstGeom>
            <a:pattFill prst="wdUpDiag">
              <a:fgClr>
                <a:srgbClr val="C0C0C0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 sz="1200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5" name="Rectangle 388"/>
            <p:cNvSpPr>
              <a:spLocks noChangeAspect="1" noChangeArrowheads="1"/>
            </p:cNvSpPr>
            <p:nvPr/>
          </p:nvSpPr>
          <p:spPr bwMode="auto">
            <a:xfrm>
              <a:off x="3844517" y="5833600"/>
              <a:ext cx="393766" cy="51801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 sz="1200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6" name="Rectangle 389"/>
            <p:cNvSpPr>
              <a:spLocks noChangeAspect="1" noChangeArrowheads="1"/>
            </p:cNvSpPr>
            <p:nvPr/>
          </p:nvSpPr>
          <p:spPr bwMode="auto">
            <a:xfrm>
              <a:off x="4238283" y="5833600"/>
              <a:ext cx="395470" cy="51801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 sz="1200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7" name="Rectangle 390"/>
            <p:cNvSpPr>
              <a:spLocks noChangeAspect="1" noChangeArrowheads="1"/>
            </p:cNvSpPr>
            <p:nvPr/>
          </p:nvSpPr>
          <p:spPr bwMode="auto">
            <a:xfrm>
              <a:off x="4633753" y="5833600"/>
              <a:ext cx="393766" cy="51801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 sz="1200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8" name="Rectangle 391"/>
            <p:cNvSpPr>
              <a:spLocks noChangeAspect="1" noChangeArrowheads="1"/>
            </p:cNvSpPr>
            <p:nvPr/>
          </p:nvSpPr>
          <p:spPr bwMode="auto">
            <a:xfrm>
              <a:off x="5027519" y="5833600"/>
              <a:ext cx="395470" cy="51801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 sz="1200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9" name="Rectangle 392"/>
            <p:cNvSpPr>
              <a:spLocks noChangeAspect="1" noChangeArrowheads="1"/>
            </p:cNvSpPr>
            <p:nvPr/>
          </p:nvSpPr>
          <p:spPr bwMode="auto">
            <a:xfrm>
              <a:off x="5422989" y="5833600"/>
              <a:ext cx="395470" cy="51801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 sz="1200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0" name="Rectangle 393"/>
            <p:cNvSpPr>
              <a:spLocks noChangeAspect="1" noChangeArrowheads="1"/>
            </p:cNvSpPr>
            <p:nvPr/>
          </p:nvSpPr>
          <p:spPr bwMode="auto">
            <a:xfrm>
              <a:off x="6563375" y="5833600"/>
              <a:ext cx="395470" cy="518016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0" dirty="0">
                  <a:latin typeface="Calibri" pitchFamily="34" charset="0"/>
                  <a:cs typeface="Calibri" pitchFamily="34" charset="0"/>
                </a:rPr>
                <a:t>32/1</a:t>
              </a:r>
              <a:endParaRPr lang="en-US" sz="14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1" name="Rectangle 394"/>
            <p:cNvSpPr>
              <a:spLocks noChangeAspect="1" noChangeArrowheads="1"/>
            </p:cNvSpPr>
            <p:nvPr/>
          </p:nvSpPr>
          <p:spPr bwMode="auto">
            <a:xfrm>
              <a:off x="6958845" y="5833600"/>
              <a:ext cx="393766" cy="518016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 sz="1200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2" name="Rectangle 395"/>
            <p:cNvSpPr>
              <a:spLocks noChangeAspect="1" noChangeArrowheads="1"/>
            </p:cNvSpPr>
            <p:nvPr/>
          </p:nvSpPr>
          <p:spPr bwMode="auto">
            <a:xfrm>
              <a:off x="3449047" y="5833600"/>
              <a:ext cx="395470" cy="51801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0" dirty="0">
                  <a:latin typeface="Calibri" pitchFamily="34" charset="0"/>
                  <a:cs typeface="Calibri" pitchFamily="34" charset="0"/>
                </a:rPr>
                <a:t>64/0</a:t>
              </a:r>
              <a:endParaRPr lang="en-US" sz="14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3" name="Freeform 396"/>
            <p:cNvSpPr>
              <a:spLocks noChangeAspect="1"/>
            </p:cNvSpPr>
            <p:nvPr/>
          </p:nvSpPr>
          <p:spPr bwMode="auto">
            <a:xfrm>
              <a:off x="1149525" y="5299887"/>
              <a:ext cx="806282" cy="497833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528" y="0"/>
                </a:cxn>
                <a:cxn ang="0">
                  <a:pos x="960" y="144"/>
                </a:cxn>
              </a:cxnLst>
              <a:rect l="0" t="0" r="r" b="b"/>
              <a:pathLst>
                <a:path w="960" h="144">
                  <a:moveTo>
                    <a:pt x="0" y="144"/>
                  </a:moveTo>
                  <a:cubicBezTo>
                    <a:pt x="184" y="72"/>
                    <a:pt x="368" y="0"/>
                    <a:pt x="528" y="0"/>
                  </a:cubicBezTo>
                  <a:cubicBezTo>
                    <a:pt x="688" y="0"/>
                    <a:pt x="824" y="72"/>
                    <a:pt x="960" y="144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200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4" name="Freeform 397"/>
            <p:cNvSpPr>
              <a:spLocks noChangeAspect="1"/>
            </p:cNvSpPr>
            <p:nvPr/>
          </p:nvSpPr>
          <p:spPr bwMode="auto">
            <a:xfrm>
              <a:off x="2027401" y="5299887"/>
              <a:ext cx="1493240" cy="497833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384" y="0"/>
                </a:cxn>
                <a:cxn ang="0">
                  <a:pos x="768" y="144"/>
                </a:cxn>
              </a:cxnLst>
              <a:rect l="0" t="0" r="r" b="b"/>
              <a:pathLst>
                <a:path w="768" h="144">
                  <a:moveTo>
                    <a:pt x="0" y="144"/>
                  </a:moveTo>
                  <a:cubicBezTo>
                    <a:pt x="128" y="72"/>
                    <a:pt x="256" y="0"/>
                    <a:pt x="384" y="0"/>
                  </a:cubicBezTo>
                  <a:cubicBezTo>
                    <a:pt x="512" y="0"/>
                    <a:pt x="640" y="72"/>
                    <a:pt x="768" y="144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200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5" name="Freeform 398"/>
            <p:cNvSpPr>
              <a:spLocks noChangeAspect="1"/>
            </p:cNvSpPr>
            <p:nvPr/>
          </p:nvSpPr>
          <p:spPr bwMode="auto">
            <a:xfrm>
              <a:off x="3551324" y="5281947"/>
              <a:ext cx="3100690" cy="497833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576" y="0"/>
                </a:cxn>
                <a:cxn ang="0">
                  <a:pos x="1152" y="144"/>
                </a:cxn>
              </a:cxnLst>
              <a:rect l="0" t="0" r="r" b="b"/>
              <a:pathLst>
                <a:path w="1152" h="144">
                  <a:moveTo>
                    <a:pt x="0" y="144"/>
                  </a:moveTo>
                  <a:cubicBezTo>
                    <a:pt x="192" y="72"/>
                    <a:pt x="384" y="0"/>
                    <a:pt x="576" y="0"/>
                  </a:cubicBezTo>
                  <a:cubicBezTo>
                    <a:pt x="768" y="0"/>
                    <a:pt x="960" y="72"/>
                    <a:pt x="1152" y="144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200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6" name="Rectangle 399"/>
            <p:cNvSpPr>
              <a:spLocks noChangeAspect="1" noChangeArrowheads="1"/>
            </p:cNvSpPr>
            <p:nvPr/>
          </p:nvSpPr>
          <p:spPr bwMode="auto">
            <a:xfrm>
              <a:off x="7352610" y="5833600"/>
              <a:ext cx="395470" cy="518016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 sz="1200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7" name="Rectangle 403" descr="Wide upward diagonal"/>
            <p:cNvSpPr>
              <a:spLocks noChangeAspect="1" noChangeArrowheads="1"/>
            </p:cNvSpPr>
            <p:nvPr/>
          </p:nvSpPr>
          <p:spPr bwMode="auto">
            <a:xfrm>
              <a:off x="672234" y="5833600"/>
              <a:ext cx="395470" cy="518016"/>
            </a:xfrm>
            <a:prstGeom prst="rect">
              <a:avLst/>
            </a:prstGeom>
            <a:pattFill prst="wdUpDiag">
              <a:fgClr>
                <a:srgbClr val="C0C0C0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sz="1200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8" name="Rectangle 406"/>
            <p:cNvSpPr>
              <a:spLocks noChangeAspect="1" noChangeArrowheads="1"/>
            </p:cNvSpPr>
            <p:nvPr/>
          </p:nvSpPr>
          <p:spPr bwMode="auto">
            <a:xfrm>
              <a:off x="1067704" y="5831357"/>
              <a:ext cx="777303" cy="51801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 sz="1200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9" name="Rectangle 407"/>
            <p:cNvSpPr>
              <a:spLocks noChangeAspect="1" noChangeArrowheads="1"/>
            </p:cNvSpPr>
            <p:nvPr/>
          </p:nvSpPr>
          <p:spPr bwMode="auto">
            <a:xfrm>
              <a:off x="1845007" y="5831357"/>
              <a:ext cx="1595518" cy="51801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 sz="1200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40" name="Text Box 410"/>
            <p:cNvSpPr txBox="1">
              <a:spLocks noChangeAspect="1" noChangeArrowheads="1"/>
            </p:cNvSpPr>
            <p:nvPr/>
          </p:nvSpPr>
          <p:spPr bwMode="auto">
            <a:xfrm>
              <a:off x="8035709" y="5281947"/>
              <a:ext cx="723275" cy="523220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400" b="0" dirty="0" smtClean="0">
                  <a:latin typeface="Calibri" pitchFamily="34" charset="0"/>
                  <a:cs typeface="Calibri" pitchFamily="34" charset="0"/>
                </a:rPr>
                <a:t>结束</a:t>
              </a:r>
              <a:endParaRPr lang="en-US" altLang="zh-CN" sz="1400" b="0" dirty="0" smtClean="0">
                <a:latin typeface="Calibri" pitchFamily="34" charset="0"/>
                <a:cs typeface="Calibri" pitchFamily="34" charset="0"/>
              </a:endParaRPr>
            </a:p>
            <a:p>
              <a:pPr algn="ctr"/>
              <a:r>
                <a:rPr lang="zh-CN" altLang="en-US" sz="1400" b="0" dirty="0">
                  <a:latin typeface="Calibri" pitchFamily="34" charset="0"/>
                  <a:cs typeface="Calibri" pitchFamily="34" charset="0"/>
                </a:rPr>
                <a:t>内</a:t>
              </a:r>
              <a:r>
                <a:rPr lang="zh-CN" altLang="en-US" sz="1400" b="0" dirty="0" smtClean="0">
                  <a:latin typeface="Calibri" pitchFamily="34" charset="0"/>
                  <a:cs typeface="Calibri" pitchFamily="34" charset="0"/>
                </a:rPr>
                <a:t>存块</a:t>
              </a:r>
              <a:endParaRPr lang="en-US" sz="14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41" name="Rectangle 421"/>
            <p:cNvSpPr>
              <a:spLocks noChangeAspect="1" noChangeArrowheads="1"/>
            </p:cNvSpPr>
            <p:nvPr/>
          </p:nvSpPr>
          <p:spPr bwMode="auto">
            <a:xfrm>
              <a:off x="7748081" y="5833600"/>
              <a:ext cx="395470" cy="518016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 sz="1200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42" name="Rectangle 409"/>
            <p:cNvSpPr>
              <a:spLocks noChangeAspect="1" noChangeArrowheads="1"/>
            </p:cNvSpPr>
            <p:nvPr/>
          </p:nvSpPr>
          <p:spPr bwMode="auto">
            <a:xfrm>
              <a:off x="6573603" y="5831357"/>
              <a:ext cx="1581880" cy="51801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 sz="1200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43" name="Freeform 422"/>
            <p:cNvSpPr>
              <a:spLocks noChangeAspect="1"/>
            </p:cNvSpPr>
            <p:nvPr/>
          </p:nvSpPr>
          <p:spPr bwMode="auto">
            <a:xfrm>
              <a:off x="6704858" y="5275219"/>
              <a:ext cx="1493240" cy="497833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384" y="0"/>
                </a:cxn>
                <a:cxn ang="0">
                  <a:pos x="768" y="144"/>
                </a:cxn>
              </a:cxnLst>
              <a:rect l="0" t="0" r="r" b="b"/>
              <a:pathLst>
                <a:path w="768" h="144">
                  <a:moveTo>
                    <a:pt x="0" y="144"/>
                  </a:moveTo>
                  <a:cubicBezTo>
                    <a:pt x="128" y="72"/>
                    <a:pt x="256" y="0"/>
                    <a:pt x="384" y="0"/>
                  </a:cubicBezTo>
                  <a:cubicBezTo>
                    <a:pt x="512" y="0"/>
                    <a:pt x="640" y="72"/>
                    <a:pt x="768" y="144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200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44" name="Rectangle 423" descr="Wide upward diagonal"/>
            <p:cNvSpPr>
              <a:spLocks noChangeAspect="1" noChangeArrowheads="1"/>
            </p:cNvSpPr>
            <p:nvPr/>
          </p:nvSpPr>
          <p:spPr bwMode="auto">
            <a:xfrm>
              <a:off x="8145255" y="5833600"/>
              <a:ext cx="395470" cy="518016"/>
            </a:xfrm>
            <a:prstGeom prst="rect">
              <a:avLst/>
            </a:prstGeom>
            <a:pattFill prst="wdUpDiag">
              <a:fgClr>
                <a:srgbClr val="C0C0C0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0" dirty="0">
                  <a:latin typeface="Calibri" pitchFamily="34" charset="0"/>
                  <a:cs typeface="Calibri" pitchFamily="34" charset="0"/>
                </a:rPr>
                <a:t>8/1</a:t>
              </a:r>
              <a:endParaRPr lang="en-US" sz="14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45" name="Rectangle 426"/>
            <p:cNvSpPr>
              <a:spLocks noChangeAspect="1" noChangeArrowheads="1"/>
            </p:cNvSpPr>
            <p:nvPr/>
          </p:nvSpPr>
          <p:spPr bwMode="auto">
            <a:xfrm>
              <a:off x="8145254" y="5831357"/>
              <a:ext cx="432171" cy="51801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 sz="1200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46" name="Rectangle 433"/>
            <p:cNvSpPr>
              <a:spLocks noChangeAspect="1" noChangeArrowheads="1"/>
            </p:cNvSpPr>
            <p:nvPr/>
          </p:nvSpPr>
          <p:spPr bwMode="auto">
            <a:xfrm>
              <a:off x="6186655" y="5815659"/>
              <a:ext cx="395470" cy="51801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 sz="1200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47" name="Rectangle 408"/>
            <p:cNvSpPr>
              <a:spLocks noChangeAspect="1" noChangeArrowheads="1"/>
            </p:cNvSpPr>
            <p:nvPr/>
          </p:nvSpPr>
          <p:spPr bwMode="auto">
            <a:xfrm>
              <a:off x="3440525" y="5831357"/>
              <a:ext cx="3136487" cy="51801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 sz="1200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48" name="Text Box 410"/>
            <p:cNvSpPr txBox="1">
              <a:spLocks noChangeAspect="1" noChangeArrowheads="1"/>
            </p:cNvSpPr>
            <p:nvPr/>
          </p:nvSpPr>
          <p:spPr bwMode="auto">
            <a:xfrm>
              <a:off x="421677" y="5485430"/>
              <a:ext cx="723275" cy="307777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400" b="0" dirty="0" smtClean="0">
                  <a:latin typeface="Calibri" pitchFamily="34" charset="0"/>
                  <a:cs typeface="Calibri" pitchFamily="34" charset="0"/>
                </a:rPr>
                <a:t>未使用</a:t>
              </a:r>
              <a:endParaRPr lang="en-US" sz="14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49" name="Rectangle 423" descr="Wide upward diagonal"/>
            <p:cNvSpPr>
              <a:spLocks noChangeAspect="1" noChangeArrowheads="1"/>
            </p:cNvSpPr>
            <p:nvPr/>
          </p:nvSpPr>
          <p:spPr bwMode="auto">
            <a:xfrm>
              <a:off x="683321" y="5843772"/>
              <a:ext cx="395470" cy="518016"/>
            </a:xfrm>
            <a:prstGeom prst="rect">
              <a:avLst/>
            </a:prstGeom>
            <a:pattFill prst="wdUpDiag">
              <a:fgClr>
                <a:srgbClr val="C0C0C0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sz="14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0" name="Rectangle 426"/>
            <p:cNvSpPr>
              <a:spLocks noChangeAspect="1" noChangeArrowheads="1"/>
            </p:cNvSpPr>
            <p:nvPr/>
          </p:nvSpPr>
          <p:spPr bwMode="auto">
            <a:xfrm>
              <a:off x="662808" y="5831357"/>
              <a:ext cx="415124" cy="51801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 sz="1200" b="0">
                <a:latin typeface="Calibri" pitchFamily="34" charset="0"/>
                <a:cs typeface="Calibri" pitchFamily="34" charset="0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/>
          <p:cNvSpPr>
            <a:spLocks noGrp="1" noChangeArrowheads="1"/>
          </p:cNvSpPr>
          <p:nvPr>
            <p:ph type="title"/>
          </p:nvPr>
        </p:nvSpPr>
        <p:spPr>
          <a:xfrm>
            <a:off x="1804086" y="468998"/>
            <a:ext cx="8001000" cy="573088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dirty="0" smtClean="0"/>
              <a:t>隐式列表：查找空闲块</a:t>
            </a:r>
            <a:endParaRPr lang="en-GB" dirty="0"/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814514" y="1066800"/>
            <a:ext cx="8307387" cy="5608638"/>
          </a:xfrm>
        </p:spPr>
        <p:txBody>
          <a:bodyPr/>
          <a:lstStyle/>
          <a:p>
            <a:pPr>
              <a:lnSpc>
                <a:spcPct val="83000"/>
              </a:lnSpc>
              <a:spcBef>
                <a:spcPts val="1250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sz="2000" i="1" dirty="0" smtClean="0">
                <a:solidFill>
                  <a:srgbClr val="C00000"/>
                </a:solidFill>
              </a:rPr>
              <a:t>首次适配：</a:t>
            </a:r>
            <a:endParaRPr lang="en-GB" sz="2000" i="1" dirty="0">
              <a:solidFill>
                <a:srgbClr val="C00000"/>
              </a:solidFill>
            </a:endParaRPr>
          </a:p>
          <a:p>
            <a:pPr lvl="1">
              <a:lnSpc>
                <a:spcPct val="88000"/>
              </a:lnSpc>
              <a:spcBef>
                <a:spcPts val="565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sz="1800" dirty="0" smtClean="0"/>
              <a:t>从头开始搜索列表，选择 </a:t>
            </a:r>
            <a:r>
              <a:rPr lang="zh-CN" altLang="en-US" sz="1800" b="1" i="1" dirty="0" smtClean="0">
                <a:solidFill>
                  <a:srgbClr val="C00000"/>
                </a:solidFill>
              </a:rPr>
              <a:t>第一个</a:t>
            </a:r>
            <a:r>
              <a:rPr lang="en-GB" sz="1800" dirty="0" smtClean="0"/>
              <a:t>  </a:t>
            </a:r>
            <a:r>
              <a:rPr lang="zh-CN" altLang="en-US" sz="1800" dirty="0" smtClean="0"/>
              <a:t>合适的空闲块：</a:t>
            </a:r>
            <a:endParaRPr lang="en-GB" sz="1800" dirty="0"/>
          </a:p>
          <a:p>
            <a:pPr lvl="1">
              <a:lnSpc>
                <a:spcPct val="88000"/>
              </a:lnSpc>
              <a:spcBef>
                <a:spcPts val="565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sz="1800" dirty="0" smtClean="0">
                <a:ea typeface="+mn-ea"/>
                <a:cs typeface="+mn-cs"/>
              </a:rPr>
              <a:t>寻找</a:t>
            </a:r>
            <a:r>
              <a:rPr lang="en-GB" sz="1800" dirty="0" smtClean="0">
                <a:ea typeface="+mn-ea"/>
                <a:cs typeface="+mn-cs"/>
              </a:rPr>
              <a:t> </a:t>
            </a:r>
            <a:r>
              <a:rPr lang="en-GB" sz="1800" b="1" dirty="0" err="1">
                <a:latin typeface="Courier New" panose="02070609020205020404" pitchFamily="49" charset="0"/>
                <a:ea typeface="+mn-ea"/>
                <a:cs typeface="Courier New" panose="02070609020205020404" pitchFamily="49" charset="0"/>
              </a:rPr>
              <a:t>asize</a:t>
            </a:r>
            <a:r>
              <a:rPr lang="en-GB" sz="1800" dirty="0">
                <a:ea typeface="+mn-ea"/>
                <a:cs typeface="+mn-cs"/>
              </a:rPr>
              <a:t> </a:t>
            </a:r>
            <a:r>
              <a:rPr lang="zh-CN" altLang="en-US" sz="1800" dirty="0" smtClean="0">
                <a:ea typeface="+mn-ea"/>
                <a:cs typeface="+mn-cs"/>
              </a:rPr>
              <a:t>个字节（含表头）的空间：</a:t>
            </a:r>
            <a:endParaRPr lang="en-GB" b="1" dirty="0">
              <a:latin typeface="+mn-lt"/>
              <a:ea typeface="+mn-ea"/>
              <a:cs typeface="Courier New" panose="02070609020205020404" pitchFamily="49" charset="0"/>
            </a:endParaRPr>
          </a:p>
          <a:p>
            <a:pPr lvl="1">
              <a:lnSpc>
                <a:spcPct val="88000"/>
              </a:lnSpc>
              <a:spcBef>
                <a:spcPts val="565"/>
              </a:spcBef>
              <a:buNone/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sz="1800" dirty="0"/>
          </a:p>
          <a:p>
            <a:pPr lvl="1">
              <a:lnSpc>
                <a:spcPct val="88000"/>
              </a:lnSpc>
              <a:spcBef>
                <a:spcPts val="565"/>
              </a:spcBef>
              <a:buNone/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sz="1800" dirty="0"/>
          </a:p>
          <a:p>
            <a:pPr lvl="1">
              <a:lnSpc>
                <a:spcPct val="88000"/>
              </a:lnSpc>
              <a:spcBef>
                <a:spcPts val="565"/>
              </a:spcBef>
              <a:buNone/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sz="1800" dirty="0"/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2160372" y="2102807"/>
            <a:ext cx="7644714" cy="3049169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square" lIns="90000" tIns="46800" rIns="90000" bIns="46800">
            <a:spAutoFit/>
          </a:bodyPr>
          <a:lstStyle/>
          <a:p>
            <a:r>
              <a:rPr lang="en-US" sz="1600" dirty="0">
                <a:solidFill>
                  <a:srgbClr val="D03B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static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sz="1600" dirty="0" err="1">
                <a:solidFill>
                  <a:srgbClr val="34A327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block_t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*</a:t>
            </a:r>
            <a:r>
              <a:rPr lang="en-US" sz="1600" dirty="0" err="1">
                <a:solidFill>
                  <a:srgbClr val="5E34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find_fit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(</a:t>
            </a:r>
            <a:r>
              <a:rPr lang="en-US" sz="1600" dirty="0" err="1">
                <a:solidFill>
                  <a:srgbClr val="34A327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size_t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sz="1600" dirty="0" err="1">
                <a:solidFill>
                  <a:srgbClr val="CD7923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asize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)</a:t>
            </a:r>
            <a:endParaRPr lang="en-US" sz="1600" dirty="0">
              <a:solidFill>
                <a:srgbClr val="34A327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{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    </a:t>
            </a:r>
            <a:r>
              <a:rPr lang="en-US" sz="1600" dirty="0" err="1">
                <a:solidFill>
                  <a:srgbClr val="34A327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block_t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*</a:t>
            </a:r>
            <a:r>
              <a:rPr lang="en-US" sz="1600" dirty="0">
                <a:solidFill>
                  <a:srgbClr val="CD7923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block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    </a:t>
            </a:r>
            <a:r>
              <a:rPr lang="en-US" sz="1600" dirty="0">
                <a:solidFill>
                  <a:srgbClr val="D03B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(block = 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heap_start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; block != 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heap_end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         block = 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find_next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(block)) {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    {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      </a:t>
            </a:r>
            <a:r>
              <a:rPr lang="en-US" sz="1600" dirty="0">
                <a:solidFill>
                  <a:srgbClr val="D03B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(!(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get_alloc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(block)) 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         &amp;&amp; (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asize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&lt;= 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get_size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(block)))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         </a:t>
            </a:r>
            <a:r>
              <a:rPr lang="en-US" sz="1600" dirty="0">
                <a:solidFill>
                  <a:srgbClr val="D03B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block;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    }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    </a:t>
            </a:r>
            <a:r>
              <a:rPr lang="en-US" sz="1600" dirty="0">
                <a:solidFill>
                  <a:srgbClr val="D03B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sz="1600" dirty="0">
                <a:solidFill>
                  <a:srgbClr val="34A1A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; </a:t>
            </a:r>
            <a:r>
              <a:rPr lang="en-US" sz="1600" dirty="0">
                <a:solidFill>
                  <a:srgbClr val="D7391E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// No fit found</a:t>
            </a:r>
            <a:endParaRPr lang="en-US" sz="1600" dirty="0">
              <a:solidFill>
                <a:srgbClr val="D7391E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}</a:t>
            </a:r>
            <a:endParaRPr lang="en-US" sz="1600" dirty="0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186809" y="5275220"/>
            <a:ext cx="7914617" cy="1086569"/>
            <a:chOff x="662808" y="5275219"/>
            <a:chExt cx="7914617" cy="1086569"/>
          </a:xfrm>
        </p:grpSpPr>
        <p:sp>
          <p:nvSpPr>
            <p:cNvPr id="6" name="Rectangle 432"/>
            <p:cNvSpPr>
              <a:spLocks noChangeAspect="1" noChangeArrowheads="1"/>
            </p:cNvSpPr>
            <p:nvPr/>
          </p:nvSpPr>
          <p:spPr bwMode="auto">
            <a:xfrm>
              <a:off x="5804822" y="5833600"/>
              <a:ext cx="395470" cy="51801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 sz="1200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7" name="Rectangle 379"/>
            <p:cNvSpPr>
              <a:spLocks noChangeAspect="1" noChangeArrowheads="1"/>
            </p:cNvSpPr>
            <p:nvPr/>
          </p:nvSpPr>
          <p:spPr bwMode="auto">
            <a:xfrm>
              <a:off x="1067704" y="5833600"/>
              <a:ext cx="395470" cy="51801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0" dirty="0">
                  <a:latin typeface="Calibri" pitchFamily="34" charset="0"/>
                  <a:cs typeface="Calibri" pitchFamily="34" charset="0"/>
                </a:rPr>
                <a:t>16/0</a:t>
              </a:r>
              <a:endParaRPr lang="en-US" sz="14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8" name="Rectangle 380"/>
            <p:cNvSpPr>
              <a:spLocks noChangeAspect="1" noChangeArrowheads="1"/>
            </p:cNvSpPr>
            <p:nvPr/>
          </p:nvSpPr>
          <p:spPr bwMode="auto">
            <a:xfrm>
              <a:off x="1463174" y="5833600"/>
              <a:ext cx="393766" cy="51801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 sz="1200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" name="Rectangle 384"/>
            <p:cNvSpPr>
              <a:spLocks noChangeAspect="1" noChangeArrowheads="1"/>
            </p:cNvSpPr>
            <p:nvPr/>
          </p:nvSpPr>
          <p:spPr bwMode="auto">
            <a:xfrm>
              <a:off x="1843302" y="5833600"/>
              <a:ext cx="393766" cy="518016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0" dirty="0">
                  <a:latin typeface="Calibri" pitchFamily="34" charset="0"/>
                  <a:cs typeface="Calibri" pitchFamily="34" charset="0"/>
                </a:rPr>
                <a:t>32/1</a:t>
              </a:r>
              <a:endParaRPr lang="en-US" sz="14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0" name="Rectangle 385"/>
            <p:cNvSpPr>
              <a:spLocks noChangeAspect="1" noChangeArrowheads="1"/>
            </p:cNvSpPr>
            <p:nvPr/>
          </p:nvSpPr>
          <p:spPr bwMode="auto">
            <a:xfrm>
              <a:off x="2237068" y="5833600"/>
              <a:ext cx="395470" cy="518016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 sz="1200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1" name="Rectangle 386"/>
            <p:cNvSpPr>
              <a:spLocks noChangeAspect="1" noChangeArrowheads="1"/>
            </p:cNvSpPr>
            <p:nvPr/>
          </p:nvSpPr>
          <p:spPr bwMode="auto">
            <a:xfrm>
              <a:off x="2632538" y="5833600"/>
              <a:ext cx="395470" cy="518016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 sz="1200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2" name="Rectangle 387" descr="Wide upward diagonal"/>
            <p:cNvSpPr>
              <a:spLocks noChangeAspect="1" noChangeArrowheads="1"/>
            </p:cNvSpPr>
            <p:nvPr/>
          </p:nvSpPr>
          <p:spPr bwMode="auto">
            <a:xfrm>
              <a:off x="3028009" y="5833600"/>
              <a:ext cx="393766" cy="518016"/>
            </a:xfrm>
            <a:prstGeom prst="rect">
              <a:avLst/>
            </a:prstGeom>
            <a:pattFill prst="wdUpDiag">
              <a:fgClr>
                <a:srgbClr val="C0C0C0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 sz="1200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3" name="Rectangle 388"/>
            <p:cNvSpPr>
              <a:spLocks noChangeAspect="1" noChangeArrowheads="1"/>
            </p:cNvSpPr>
            <p:nvPr/>
          </p:nvSpPr>
          <p:spPr bwMode="auto">
            <a:xfrm>
              <a:off x="3844517" y="5833600"/>
              <a:ext cx="393766" cy="51801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 sz="1200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" name="Rectangle 389"/>
            <p:cNvSpPr>
              <a:spLocks noChangeAspect="1" noChangeArrowheads="1"/>
            </p:cNvSpPr>
            <p:nvPr/>
          </p:nvSpPr>
          <p:spPr bwMode="auto">
            <a:xfrm>
              <a:off x="4238283" y="5833600"/>
              <a:ext cx="395470" cy="51801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 sz="1200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5" name="Rectangle 390"/>
            <p:cNvSpPr>
              <a:spLocks noChangeAspect="1" noChangeArrowheads="1"/>
            </p:cNvSpPr>
            <p:nvPr/>
          </p:nvSpPr>
          <p:spPr bwMode="auto">
            <a:xfrm>
              <a:off x="4633753" y="5833600"/>
              <a:ext cx="393766" cy="51801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 sz="1200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6" name="Rectangle 391"/>
            <p:cNvSpPr>
              <a:spLocks noChangeAspect="1" noChangeArrowheads="1"/>
            </p:cNvSpPr>
            <p:nvPr/>
          </p:nvSpPr>
          <p:spPr bwMode="auto">
            <a:xfrm>
              <a:off x="5027519" y="5833600"/>
              <a:ext cx="395470" cy="51801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 sz="1200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7" name="Rectangle 392"/>
            <p:cNvSpPr>
              <a:spLocks noChangeAspect="1" noChangeArrowheads="1"/>
            </p:cNvSpPr>
            <p:nvPr/>
          </p:nvSpPr>
          <p:spPr bwMode="auto">
            <a:xfrm>
              <a:off x="5422989" y="5833600"/>
              <a:ext cx="395470" cy="51801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 sz="1200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8" name="Rectangle 393"/>
            <p:cNvSpPr>
              <a:spLocks noChangeAspect="1" noChangeArrowheads="1"/>
            </p:cNvSpPr>
            <p:nvPr/>
          </p:nvSpPr>
          <p:spPr bwMode="auto">
            <a:xfrm>
              <a:off x="6563375" y="5833600"/>
              <a:ext cx="395470" cy="518016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0" dirty="0">
                  <a:latin typeface="Calibri" pitchFamily="34" charset="0"/>
                  <a:cs typeface="Calibri" pitchFamily="34" charset="0"/>
                </a:rPr>
                <a:t>32/1</a:t>
              </a:r>
              <a:endParaRPr lang="en-US" sz="14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9" name="Rectangle 394"/>
            <p:cNvSpPr>
              <a:spLocks noChangeAspect="1" noChangeArrowheads="1"/>
            </p:cNvSpPr>
            <p:nvPr/>
          </p:nvSpPr>
          <p:spPr bwMode="auto">
            <a:xfrm>
              <a:off x="6958845" y="5833600"/>
              <a:ext cx="393766" cy="518016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 sz="1200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0" name="Rectangle 395"/>
            <p:cNvSpPr>
              <a:spLocks noChangeAspect="1" noChangeArrowheads="1"/>
            </p:cNvSpPr>
            <p:nvPr/>
          </p:nvSpPr>
          <p:spPr bwMode="auto">
            <a:xfrm>
              <a:off x="3449047" y="5833600"/>
              <a:ext cx="395470" cy="51801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0" dirty="0">
                  <a:latin typeface="Calibri" pitchFamily="34" charset="0"/>
                  <a:cs typeface="Calibri" pitchFamily="34" charset="0"/>
                </a:rPr>
                <a:t>64/0</a:t>
              </a:r>
              <a:endParaRPr lang="en-US" sz="14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1" name="Freeform 396"/>
            <p:cNvSpPr>
              <a:spLocks noChangeAspect="1"/>
            </p:cNvSpPr>
            <p:nvPr/>
          </p:nvSpPr>
          <p:spPr bwMode="auto">
            <a:xfrm>
              <a:off x="1149525" y="5299887"/>
              <a:ext cx="806282" cy="497833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528" y="0"/>
                </a:cxn>
                <a:cxn ang="0">
                  <a:pos x="960" y="144"/>
                </a:cxn>
              </a:cxnLst>
              <a:rect l="0" t="0" r="r" b="b"/>
              <a:pathLst>
                <a:path w="960" h="144">
                  <a:moveTo>
                    <a:pt x="0" y="144"/>
                  </a:moveTo>
                  <a:cubicBezTo>
                    <a:pt x="184" y="72"/>
                    <a:pt x="368" y="0"/>
                    <a:pt x="528" y="0"/>
                  </a:cubicBezTo>
                  <a:cubicBezTo>
                    <a:pt x="688" y="0"/>
                    <a:pt x="824" y="72"/>
                    <a:pt x="960" y="144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200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2" name="Freeform 397"/>
            <p:cNvSpPr>
              <a:spLocks noChangeAspect="1"/>
            </p:cNvSpPr>
            <p:nvPr/>
          </p:nvSpPr>
          <p:spPr bwMode="auto">
            <a:xfrm>
              <a:off x="2027401" y="5299887"/>
              <a:ext cx="1493240" cy="497833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384" y="0"/>
                </a:cxn>
                <a:cxn ang="0">
                  <a:pos x="768" y="144"/>
                </a:cxn>
              </a:cxnLst>
              <a:rect l="0" t="0" r="r" b="b"/>
              <a:pathLst>
                <a:path w="768" h="144">
                  <a:moveTo>
                    <a:pt x="0" y="144"/>
                  </a:moveTo>
                  <a:cubicBezTo>
                    <a:pt x="128" y="72"/>
                    <a:pt x="256" y="0"/>
                    <a:pt x="384" y="0"/>
                  </a:cubicBezTo>
                  <a:cubicBezTo>
                    <a:pt x="512" y="0"/>
                    <a:pt x="640" y="72"/>
                    <a:pt x="768" y="144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200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3" name="Freeform 398"/>
            <p:cNvSpPr>
              <a:spLocks noChangeAspect="1"/>
            </p:cNvSpPr>
            <p:nvPr/>
          </p:nvSpPr>
          <p:spPr bwMode="auto">
            <a:xfrm>
              <a:off x="3551324" y="5281947"/>
              <a:ext cx="3100690" cy="497833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576" y="0"/>
                </a:cxn>
                <a:cxn ang="0">
                  <a:pos x="1152" y="144"/>
                </a:cxn>
              </a:cxnLst>
              <a:rect l="0" t="0" r="r" b="b"/>
              <a:pathLst>
                <a:path w="1152" h="144">
                  <a:moveTo>
                    <a:pt x="0" y="144"/>
                  </a:moveTo>
                  <a:cubicBezTo>
                    <a:pt x="192" y="72"/>
                    <a:pt x="384" y="0"/>
                    <a:pt x="576" y="0"/>
                  </a:cubicBezTo>
                  <a:cubicBezTo>
                    <a:pt x="768" y="0"/>
                    <a:pt x="960" y="72"/>
                    <a:pt x="1152" y="144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200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4" name="Rectangle 399"/>
            <p:cNvSpPr>
              <a:spLocks noChangeAspect="1" noChangeArrowheads="1"/>
            </p:cNvSpPr>
            <p:nvPr/>
          </p:nvSpPr>
          <p:spPr bwMode="auto">
            <a:xfrm>
              <a:off x="7352610" y="5833600"/>
              <a:ext cx="395470" cy="518016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 sz="1200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5" name="Rectangle 403" descr="Wide upward diagonal"/>
            <p:cNvSpPr>
              <a:spLocks noChangeAspect="1" noChangeArrowheads="1"/>
            </p:cNvSpPr>
            <p:nvPr/>
          </p:nvSpPr>
          <p:spPr bwMode="auto">
            <a:xfrm>
              <a:off x="672234" y="5833600"/>
              <a:ext cx="395470" cy="518016"/>
            </a:xfrm>
            <a:prstGeom prst="rect">
              <a:avLst/>
            </a:prstGeom>
            <a:pattFill prst="wdUpDiag">
              <a:fgClr>
                <a:srgbClr val="C0C0C0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sz="1200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6" name="Rectangle 406"/>
            <p:cNvSpPr>
              <a:spLocks noChangeAspect="1" noChangeArrowheads="1"/>
            </p:cNvSpPr>
            <p:nvPr/>
          </p:nvSpPr>
          <p:spPr bwMode="auto">
            <a:xfrm>
              <a:off x="1067704" y="5831357"/>
              <a:ext cx="777303" cy="51801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 sz="1200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7" name="Rectangle 407"/>
            <p:cNvSpPr>
              <a:spLocks noChangeAspect="1" noChangeArrowheads="1"/>
            </p:cNvSpPr>
            <p:nvPr/>
          </p:nvSpPr>
          <p:spPr bwMode="auto">
            <a:xfrm>
              <a:off x="1845007" y="5831357"/>
              <a:ext cx="1595518" cy="51801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 sz="1200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8" name="Text Box 410"/>
            <p:cNvSpPr txBox="1">
              <a:spLocks noChangeAspect="1" noChangeArrowheads="1"/>
            </p:cNvSpPr>
            <p:nvPr/>
          </p:nvSpPr>
          <p:spPr bwMode="auto">
            <a:xfrm>
              <a:off x="8304981" y="5389668"/>
              <a:ext cx="184730" cy="307777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endParaRPr lang="en-US" sz="14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9" name="Rectangle 421"/>
            <p:cNvSpPr>
              <a:spLocks noChangeAspect="1" noChangeArrowheads="1"/>
            </p:cNvSpPr>
            <p:nvPr/>
          </p:nvSpPr>
          <p:spPr bwMode="auto">
            <a:xfrm>
              <a:off x="7748081" y="5833600"/>
              <a:ext cx="395470" cy="518016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 sz="1200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0" name="Rectangle 409"/>
            <p:cNvSpPr>
              <a:spLocks noChangeAspect="1" noChangeArrowheads="1"/>
            </p:cNvSpPr>
            <p:nvPr/>
          </p:nvSpPr>
          <p:spPr bwMode="auto">
            <a:xfrm>
              <a:off x="6573603" y="5831357"/>
              <a:ext cx="1581880" cy="51801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 sz="1200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1" name="Freeform 422"/>
            <p:cNvSpPr>
              <a:spLocks noChangeAspect="1"/>
            </p:cNvSpPr>
            <p:nvPr/>
          </p:nvSpPr>
          <p:spPr bwMode="auto">
            <a:xfrm>
              <a:off x="6704858" y="5275219"/>
              <a:ext cx="1493240" cy="497833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384" y="0"/>
                </a:cxn>
                <a:cxn ang="0">
                  <a:pos x="768" y="144"/>
                </a:cxn>
              </a:cxnLst>
              <a:rect l="0" t="0" r="r" b="b"/>
              <a:pathLst>
                <a:path w="768" h="144">
                  <a:moveTo>
                    <a:pt x="0" y="144"/>
                  </a:moveTo>
                  <a:cubicBezTo>
                    <a:pt x="128" y="72"/>
                    <a:pt x="256" y="0"/>
                    <a:pt x="384" y="0"/>
                  </a:cubicBezTo>
                  <a:cubicBezTo>
                    <a:pt x="512" y="0"/>
                    <a:pt x="640" y="72"/>
                    <a:pt x="768" y="144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200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2" name="Rectangle 423" descr="Wide upward diagonal"/>
            <p:cNvSpPr>
              <a:spLocks noChangeAspect="1" noChangeArrowheads="1"/>
            </p:cNvSpPr>
            <p:nvPr/>
          </p:nvSpPr>
          <p:spPr bwMode="auto">
            <a:xfrm>
              <a:off x="8145255" y="5833600"/>
              <a:ext cx="395470" cy="518016"/>
            </a:xfrm>
            <a:prstGeom prst="rect">
              <a:avLst/>
            </a:prstGeom>
            <a:pattFill prst="wdUpDiag">
              <a:fgClr>
                <a:srgbClr val="C0C0C0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0" dirty="0">
                  <a:latin typeface="Calibri" pitchFamily="34" charset="0"/>
                  <a:cs typeface="Calibri" pitchFamily="34" charset="0"/>
                </a:rPr>
                <a:t>8/1</a:t>
              </a:r>
              <a:endParaRPr lang="en-US" sz="14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3" name="Rectangle 426"/>
            <p:cNvSpPr>
              <a:spLocks noChangeAspect="1" noChangeArrowheads="1"/>
            </p:cNvSpPr>
            <p:nvPr/>
          </p:nvSpPr>
          <p:spPr bwMode="auto">
            <a:xfrm>
              <a:off x="8145254" y="5831357"/>
              <a:ext cx="432171" cy="51801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 sz="1200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4" name="Rectangle 433"/>
            <p:cNvSpPr>
              <a:spLocks noChangeAspect="1" noChangeArrowheads="1"/>
            </p:cNvSpPr>
            <p:nvPr/>
          </p:nvSpPr>
          <p:spPr bwMode="auto">
            <a:xfrm>
              <a:off x="6186655" y="5815659"/>
              <a:ext cx="395470" cy="51801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 sz="1200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5" name="Rectangle 408"/>
            <p:cNvSpPr>
              <a:spLocks noChangeAspect="1" noChangeArrowheads="1"/>
            </p:cNvSpPr>
            <p:nvPr/>
          </p:nvSpPr>
          <p:spPr bwMode="auto">
            <a:xfrm>
              <a:off x="3440525" y="5831357"/>
              <a:ext cx="3136487" cy="51801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 sz="1200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6" name="Text Box 410"/>
            <p:cNvSpPr txBox="1">
              <a:spLocks noChangeAspect="1" noChangeArrowheads="1"/>
            </p:cNvSpPr>
            <p:nvPr/>
          </p:nvSpPr>
          <p:spPr bwMode="auto">
            <a:xfrm>
              <a:off x="690949" y="5485430"/>
              <a:ext cx="184731" cy="307777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endParaRPr lang="en-US" sz="14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7" name="Rectangle 423" descr="Wide upward diagonal"/>
            <p:cNvSpPr>
              <a:spLocks noChangeAspect="1" noChangeArrowheads="1"/>
            </p:cNvSpPr>
            <p:nvPr/>
          </p:nvSpPr>
          <p:spPr bwMode="auto">
            <a:xfrm>
              <a:off x="683321" y="5843772"/>
              <a:ext cx="395470" cy="518016"/>
            </a:xfrm>
            <a:prstGeom prst="rect">
              <a:avLst/>
            </a:prstGeom>
            <a:pattFill prst="wdUpDiag">
              <a:fgClr>
                <a:srgbClr val="C0C0C0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sz="14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8" name="Rectangle 426"/>
            <p:cNvSpPr>
              <a:spLocks noChangeAspect="1" noChangeArrowheads="1"/>
            </p:cNvSpPr>
            <p:nvPr/>
          </p:nvSpPr>
          <p:spPr bwMode="auto">
            <a:xfrm>
              <a:off x="662808" y="5831357"/>
              <a:ext cx="415124" cy="51801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 sz="1200" b="0">
                <a:latin typeface="Calibri" pitchFamily="34" charset="0"/>
                <a:cs typeface="Calibri" pitchFamily="34" charset="0"/>
              </a:endParaRPr>
            </a:p>
          </p:txBody>
        </p:sp>
      </p:grpSp>
      <p:cxnSp>
        <p:nvCxnSpPr>
          <p:cNvPr id="39" name="Straight Arrow Connector 38"/>
          <p:cNvCxnSpPr/>
          <p:nvPr/>
        </p:nvCxnSpPr>
        <p:spPr bwMode="auto">
          <a:xfrm>
            <a:off x="2223509" y="5491666"/>
            <a:ext cx="538469" cy="331762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0" name="TextBox 39"/>
          <p:cNvSpPr txBox="1"/>
          <p:nvPr/>
        </p:nvSpPr>
        <p:spPr>
          <a:xfrm>
            <a:off x="1632412" y="5122334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heap_start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 bwMode="auto">
          <a:xfrm flipH="1">
            <a:off x="9881530" y="5453519"/>
            <a:ext cx="401997" cy="376363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2" name="TextBox 41"/>
          <p:cNvSpPr txBox="1"/>
          <p:nvPr/>
        </p:nvSpPr>
        <p:spPr>
          <a:xfrm>
            <a:off x="9380468" y="5084186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heap_end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814514" y="1066800"/>
            <a:ext cx="8307387" cy="5608638"/>
          </a:xfrm>
        </p:spPr>
        <p:txBody>
          <a:bodyPr/>
          <a:lstStyle/>
          <a:p>
            <a:pPr>
              <a:lnSpc>
                <a:spcPct val="83000"/>
              </a:lnSpc>
              <a:spcBef>
                <a:spcPts val="1250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sz="2000" i="1" dirty="0" smtClean="0">
                <a:solidFill>
                  <a:srgbClr val="C00000"/>
                </a:solidFill>
              </a:rPr>
              <a:t>首次适配</a:t>
            </a:r>
            <a:r>
              <a:rPr lang="en-US" altLang="zh-CN" sz="2000" i="1" dirty="0" smtClean="0">
                <a:solidFill>
                  <a:srgbClr val="C00000"/>
                </a:solidFill>
              </a:rPr>
              <a:t>:</a:t>
            </a:r>
            <a:endParaRPr lang="en-GB" sz="2000" i="1" dirty="0">
              <a:solidFill>
                <a:srgbClr val="C00000"/>
              </a:solidFill>
            </a:endParaRPr>
          </a:p>
          <a:p>
            <a:pPr lvl="1">
              <a:lnSpc>
                <a:spcPct val="88000"/>
              </a:lnSpc>
              <a:spcBef>
                <a:spcPts val="565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sz="1800" dirty="0" smtClean="0"/>
              <a:t>从头开始搜索列表，选择</a:t>
            </a:r>
            <a:r>
              <a:rPr lang="en-GB" sz="1800" dirty="0" smtClean="0"/>
              <a:t> </a:t>
            </a:r>
            <a:r>
              <a:rPr lang="zh-CN" altLang="en-US" sz="1800" b="1" i="1" dirty="0" smtClean="0">
                <a:solidFill>
                  <a:srgbClr val="C00000"/>
                </a:solidFill>
              </a:rPr>
              <a:t>第一个</a:t>
            </a:r>
            <a:r>
              <a:rPr lang="en-GB" sz="1800" dirty="0" smtClean="0"/>
              <a:t> </a:t>
            </a:r>
            <a:r>
              <a:rPr lang="zh-CN" altLang="en-US" sz="1800" dirty="0" smtClean="0"/>
              <a:t>合适的空闲块：</a:t>
            </a:r>
            <a:endParaRPr lang="en-GB" sz="1800" dirty="0"/>
          </a:p>
          <a:p>
            <a:pPr lvl="1">
              <a:lnSpc>
                <a:spcPct val="88000"/>
              </a:lnSpc>
              <a:spcBef>
                <a:spcPts val="565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sz="1800" dirty="0" smtClean="0"/>
              <a:t>根据内存块的</a:t>
            </a:r>
            <a:r>
              <a:rPr lang="zh-CN" altLang="en-US" sz="1800" dirty="0"/>
              <a:t>总数（已分配的和空闲的） ，</a:t>
            </a:r>
            <a:r>
              <a:rPr lang="zh-CN" altLang="en-US" sz="1800" dirty="0" smtClean="0">
                <a:solidFill>
                  <a:srgbClr val="FF0000"/>
                </a:solidFill>
              </a:rPr>
              <a:t>可能需要线性时间</a:t>
            </a:r>
            <a:endParaRPr lang="en-GB" sz="1800" dirty="0">
              <a:solidFill>
                <a:srgbClr val="FF0000"/>
              </a:solidFill>
            </a:endParaRPr>
          </a:p>
          <a:p>
            <a:pPr lvl="1">
              <a:lnSpc>
                <a:spcPct val="88000"/>
              </a:lnSpc>
              <a:spcBef>
                <a:spcPts val="565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sz="1800" dirty="0" smtClean="0">
                <a:solidFill>
                  <a:srgbClr val="FF0000"/>
                </a:solidFill>
              </a:rPr>
              <a:t>在实践中可能在列表开始的位置造成“碎片”</a:t>
            </a:r>
            <a:endParaRPr lang="en-GB" sz="1800" dirty="0">
              <a:solidFill>
                <a:srgbClr val="FF0000"/>
              </a:solidFill>
            </a:endParaRPr>
          </a:p>
          <a:p>
            <a:pPr>
              <a:lnSpc>
                <a:spcPct val="83000"/>
              </a:lnSpc>
              <a:spcBef>
                <a:spcPts val="1250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sz="2000" i="1" dirty="0" smtClean="0">
                <a:solidFill>
                  <a:srgbClr val="C00000"/>
                </a:solidFill>
              </a:rPr>
              <a:t>下一次适配：</a:t>
            </a:r>
            <a:endParaRPr lang="en-GB" sz="2000" i="1" dirty="0">
              <a:solidFill>
                <a:srgbClr val="C00000"/>
              </a:solidFill>
            </a:endParaRPr>
          </a:p>
          <a:p>
            <a:pPr lvl="1">
              <a:lnSpc>
                <a:spcPct val="88000"/>
              </a:lnSpc>
              <a:spcBef>
                <a:spcPts val="565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sz="1800" dirty="0" smtClean="0"/>
              <a:t>与首次适配类似，但从上一次搜索结束的位置开始</a:t>
            </a:r>
            <a:endParaRPr lang="en-GB" sz="1800" dirty="0"/>
          </a:p>
          <a:p>
            <a:pPr lvl="1"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sz="1800" dirty="0" smtClean="0">
                <a:solidFill>
                  <a:srgbClr val="00B050"/>
                </a:solidFill>
              </a:rPr>
              <a:t>通常比首次适配要快</a:t>
            </a:r>
            <a:r>
              <a:rPr lang="zh-CN" altLang="en-US" sz="1800" dirty="0" smtClean="0"/>
              <a:t>：避免重新扫描无用的内存块</a:t>
            </a:r>
            <a:endParaRPr lang="en-GB" sz="1800" dirty="0"/>
          </a:p>
          <a:p>
            <a:pPr lvl="1"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sz="1800" dirty="0" smtClean="0">
                <a:solidFill>
                  <a:srgbClr val="FF0000"/>
                </a:solidFill>
              </a:rPr>
              <a:t>有些研究表明，带来更多碎片</a:t>
            </a:r>
            <a:endParaRPr lang="en-GB" sz="1800" dirty="0">
              <a:solidFill>
                <a:srgbClr val="FF0000"/>
              </a:solidFill>
            </a:endParaRPr>
          </a:p>
          <a:p>
            <a:pPr>
              <a:lnSpc>
                <a:spcPct val="83000"/>
              </a:lnSpc>
              <a:spcBef>
                <a:spcPts val="1250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sz="2000" i="1" dirty="0" smtClean="0">
                <a:solidFill>
                  <a:srgbClr val="C00000"/>
                </a:solidFill>
              </a:rPr>
              <a:t>最佳适配：</a:t>
            </a:r>
            <a:endParaRPr lang="en-GB" sz="2000" i="1" dirty="0">
              <a:solidFill>
                <a:srgbClr val="C00000"/>
              </a:solidFill>
            </a:endParaRPr>
          </a:p>
          <a:p>
            <a:pPr lvl="1">
              <a:lnSpc>
                <a:spcPct val="88000"/>
              </a:lnSpc>
              <a:spcBef>
                <a:spcPts val="565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sz="1800" dirty="0" smtClean="0"/>
              <a:t>搜索列表，选择 </a:t>
            </a:r>
            <a:r>
              <a:rPr lang="zh-CN" altLang="en-US" sz="1800" b="1" i="1" dirty="0" smtClean="0">
                <a:solidFill>
                  <a:srgbClr val="C00000"/>
                </a:solidFill>
              </a:rPr>
              <a:t>最佳</a:t>
            </a:r>
            <a:r>
              <a:rPr lang="en-GB" sz="1800" dirty="0" smtClean="0"/>
              <a:t>  </a:t>
            </a:r>
            <a:r>
              <a:rPr lang="zh-CN" altLang="en-US" sz="1800" dirty="0" smtClean="0"/>
              <a:t>空闲块：合适剩余字节最少</a:t>
            </a:r>
            <a:endParaRPr lang="en-GB" sz="1800" dirty="0"/>
          </a:p>
          <a:p>
            <a:pPr lvl="1">
              <a:lnSpc>
                <a:spcPct val="88000"/>
              </a:lnSpc>
              <a:spcBef>
                <a:spcPts val="565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sz="1800" dirty="0" smtClean="0">
                <a:solidFill>
                  <a:srgbClr val="00B050"/>
                </a:solidFill>
              </a:rPr>
              <a:t>保持较小程度的碎片化</a:t>
            </a:r>
            <a:r>
              <a:rPr lang="zh-CN" altLang="en-US" sz="1800" dirty="0" smtClean="0"/>
              <a:t> </a:t>
            </a:r>
            <a:r>
              <a:rPr lang="en-GB" sz="1800" dirty="0" smtClean="0"/>
              <a:t>— </a:t>
            </a:r>
            <a:r>
              <a:rPr lang="zh-CN" altLang="en-US" sz="1800" dirty="0" smtClean="0"/>
              <a:t>通常能改善内存使用率</a:t>
            </a:r>
            <a:endParaRPr lang="en-GB" sz="1800" dirty="0"/>
          </a:p>
          <a:p>
            <a:pPr lvl="1">
              <a:lnSpc>
                <a:spcPct val="88000"/>
              </a:lnSpc>
              <a:spcBef>
                <a:spcPts val="565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sz="1800" dirty="0" smtClean="0">
                <a:solidFill>
                  <a:srgbClr val="FF0000"/>
                </a:solidFill>
              </a:rPr>
              <a:t>通常比首次适配要慢</a:t>
            </a:r>
            <a:endParaRPr lang="en-GB" sz="1800" dirty="0">
              <a:solidFill>
                <a:srgbClr val="FF0000"/>
              </a:solidFill>
            </a:endParaRPr>
          </a:p>
          <a:p>
            <a:pPr lvl="1">
              <a:lnSpc>
                <a:spcPct val="88000"/>
              </a:lnSpc>
              <a:spcBef>
                <a:spcPts val="565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sz="1800" dirty="0" smtClean="0"/>
              <a:t>仍然是贪心算法，不能保证最优性</a:t>
            </a:r>
            <a:endParaRPr lang="en-GB" sz="1800" dirty="0"/>
          </a:p>
        </p:txBody>
      </p:sp>
      <p:sp>
        <p:nvSpPr>
          <p:cNvPr id="5" name="Rectangle 1"/>
          <p:cNvSpPr>
            <a:spLocks noGrp="1" noChangeArrowheads="1"/>
          </p:cNvSpPr>
          <p:nvPr>
            <p:ph type="title"/>
          </p:nvPr>
        </p:nvSpPr>
        <p:spPr>
          <a:xfrm>
            <a:off x="1804086" y="468998"/>
            <a:ext cx="8001000" cy="573088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dirty="0" smtClean="0"/>
              <a:t>隐式列表：查找空闲块</a:t>
            </a:r>
            <a:endParaRPr lang="en-GB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策略比较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5670" y="4417628"/>
            <a:ext cx="7896225" cy="1838325"/>
          </a:xfrm>
        </p:spPr>
        <p:txBody>
          <a:bodyPr/>
          <a:lstStyle/>
          <a:p>
            <a:r>
              <a:rPr lang="zh-CN" altLang="en-US" dirty="0" smtClean="0"/>
              <a:t>总开销（针对这个基准测试）</a:t>
            </a:r>
            <a:endParaRPr lang="en-US" dirty="0"/>
          </a:p>
          <a:p>
            <a:pPr lvl="1">
              <a:tabLst>
                <a:tab pos="2738120" algn="dec"/>
              </a:tabLst>
            </a:pPr>
            <a:r>
              <a:rPr lang="zh-CN" altLang="en-US" dirty="0" smtClean="0"/>
              <a:t>完美适配：</a:t>
            </a:r>
            <a:r>
              <a:rPr lang="en-US" dirty="0"/>
              <a:t>	1.6%</a:t>
            </a:r>
            <a:endParaRPr lang="en-US" dirty="0"/>
          </a:p>
          <a:p>
            <a:pPr lvl="1">
              <a:tabLst>
                <a:tab pos="2738120" algn="dec"/>
              </a:tabLst>
            </a:pPr>
            <a:r>
              <a:rPr lang="zh-CN" altLang="en-US" dirty="0" smtClean="0"/>
              <a:t>最佳适配：</a:t>
            </a:r>
            <a:r>
              <a:rPr lang="en-US" dirty="0"/>
              <a:t>	8.3%</a:t>
            </a:r>
            <a:endParaRPr lang="en-US" dirty="0"/>
          </a:p>
          <a:p>
            <a:pPr lvl="1">
              <a:tabLst>
                <a:tab pos="2738120" algn="dec"/>
              </a:tabLst>
            </a:pPr>
            <a:r>
              <a:rPr lang="zh-CN" altLang="en-US" dirty="0" smtClean="0"/>
              <a:t>首次适配：</a:t>
            </a:r>
            <a:r>
              <a:rPr lang="en-US" dirty="0"/>
              <a:t>	11.9%</a:t>
            </a:r>
            <a:endParaRPr lang="en-US" dirty="0"/>
          </a:p>
          <a:p>
            <a:pPr lvl="1">
              <a:tabLst>
                <a:tab pos="2738120" algn="dec"/>
              </a:tabLst>
            </a:pPr>
            <a:r>
              <a:rPr lang="zh-CN" altLang="en-US" dirty="0" smtClean="0"/>
              <a:t>下一次适配：</a:t>
            </a:r>
            <a:r>
              <a:rPr lang="en-US" dirty="0"/>
              <a:t>	21.6%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2800" y="1133485"/>
            <a:ext cx="5659166" cy="32534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1"/>
          <p:cNvSpPr>
            <a:spLocks noGrp="1" noChangeArrowheads="1"/>
          </p:cNvSpPr>
          <p:nvPr>
            <p:ph type="title"/>
          </p:nvPr>
        </p:nvSpPr>
        <p:spPr>
          <a:xfrm>
            <a:off x="1790700" y="493714"/>
            <a:ext cx="8610600" cy="573087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dirty="0" smtClean="0"/>
              <a:t>隐式列表：分配空闲块</a:t>
            </a:r>
            <a:endParaRPr lang="en-GB" dirty="0"/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814514" y="1220788"/>
            <a:ext cx="8307387" cy="5224462"/>
          </a:xfrm>
        </p:spPr>
        <p:txBody>
          <a:bodyPr/>
          <a:lstStyle/>
          <a:p>
            <a:pPr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在空闲块中分配：</a:t>
            </a:r>
            <a:r>
              <a:rPr lang="zh-CN" altLang="en-US" i="1" dirty="0" smtClean="0">
                <a:solidFill>
                  <a:srgbClr val="C00000"/>
                </a:solidFill>
              </a:rPr>
              <a:t>分割</a:t>
            </a:r>
            <a:endParaRPr lang="en-GB" i="1" dirty="0">
              <a:solidFill>
                <a:srgbClr val="C00000"/>
              </a:solidFill>
            </a:endParaRPr>
          </a:p>
          <a:p>
            <a:pPr lvl="1"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由于分配的空间可能小于空闲空间，</a:t>
            </a:r>
            <a:r>
              <a:rPr lang="zh-CN" altLang="en-US" dirty="0"/>
              <a:t>那</a:t>
            </a:r>
            <a:r>
              <a:rPr lang="zh-CN" altLang="en-US" dirty="0" smtClean="0"/>
              <a:t>么就需要分割这个内存块</a:t>
            </a:r>
            <a:endParaRPr lang="en-GB" dirty="0"/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3581400" y="2751438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0" dirty="0">
                <a:latin typeface="Calibri" pitchFamily="34" charset="0"/>
                <a:cs typeface="Calibri" pitchFamily="34" charset="0"/>
              </a:rPr>
              <a:t>32</a:t>
            </a:r>
            <a:endParaRPr lang="en-GB" sz="16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3886200" y="2751438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558" name="Rectangle 6"/>
          <p:cNvSpPr>
            <a:spLocks noChangeArrowheads="1"/>
          </p:cNvSpPr>
          <p:nvPr/>
        </p:nvSpPr>
        <p:spPr bwMode="auto">
          <a:xfrm>
            <a:off x="4191000" y="2751438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559" name="Rectangle 7"/>
          <p:cNvSpPr>
            <a:spLocks noChangeArrowheads="1"/>
          </p:cNvSpPr>
          <p:nvPr/>
        </p:nvSpPr>
        <p:spPr bwMode="auto">
          <a:xfrm>
            <a:off x="4495800" y="2751438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560" name="Rectangle 8"/>
          <p:cNvSpPr>
            <a:spLocks noChangeArrowheads="1"/>
          </p:cNvSpPr>
          <p:nvPr/>
        </p:nvSpPr>
        <p:spPr bwMode="auto">
          <a:xfrm>
            <a:off x="4800600" y="2751438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0" dirty="0">
                <a:latin typeface="Calibri" pitchFamily="34" charset="0"/>
                <a:cs typeface="Calibri" pitchFamily="34" charset="0"/>
              </a:rPr>
              <a:t>32</a:t>
            </a:r>
            <a:endParaRPr lang="en-GB" sz="16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561" name="Rectangle 9"/>
          <p:cNvSpPr>
            <a:spLocks noChangeArrowheads="1"/>
          </p:cNvSpPr>
          <p:nvPr/>
        </p:nvSpPr>
        <p:spPr bwMode="auto">
          <a:xfrm>
            <a:off x="5105400" y="2751438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562" name="Rectangle 10"/>
          <p:cNvSpPr>
            <a:spLocks noChangeArrowheads="1"/>
          </p:cNvSpPr>
          <p:nvPr/>
        </p:nvSpPr>
        <p:spPr bwMode="auto">
          <a:xfrm>
            <a:off x="5410200" y="2751438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563" name="Rectangle 11"/>
          <p:cNvSpPr>
            <a:spLocks noChangeArrowheads="1"/>
          </p:cNvSpPr>
          <p:nvPr/>
        </p:nvSpPr>
        <p:spPr bwMode="auto">
          <a:xfrm>
            <a:off x="5715000" y="2751438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564" name="Rectangle 12"/>
          <p:cNvSpPr>
            <a:spLocks noChangeArrowheads="1"/>
          </p:cNvSpPr>
          <p:nvPr/>
        </p:nvSpPr>
        <p:spPr bwMode="auto">
          <a:xfrm>
            <a:off x="6324600" y="2751438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565" name="Rectangle 13"/>
          <p:cNvSpPr>
            <a:spLocks noChangeArrowheads="1"/>
          </p:cNvSpPr>
          <p:nvPr/>
        </p:nvSpPr>
        <p:spPr bwMode="auto">
          <a:xfrm>
            <a:off x="6629400" y="2751438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566" name="Rectangle 14"/>
          <p:cNvSpPr>
            <a:spLocks noChangeArrowheads="1"/>
          </p:cNvSpPr>
          <p:nvPr/>
        </p:nvSpPr>
        <p:spPr bwMode="auto">
          <a:xfrm>
            <a:off x="6934200" y="2751438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567" name="Rectangle 15"/>
          <p:cNvSpPr>
            <a:spLocks noChangeArrowheads="1"/>
          </p:cNvSpPr>
          <p:nvPr/>
        </p:nvSpPr>
        <p:spPr bwMode="auto">
          <a:xfrm>
            <a:off x="7239000" y="2751438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568" name="Rectangle 16"/>
          <p:cNvSpPr>
            <a:spLocks noChangeArrowheads="1"/>
          </p:cNvSpPr>
          <p:nvPr/>
        </p:nvSpPr>
        <p:spPr bwMode="auto">
          <a:xfrm>
            <a:off x="7543800" y="2751438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569" name="Rectangle 17"/>
          <p:cNvSpPr>
            <a:spLocks noChangeArrowheads="1"/>
          </p:cNvSpPr>
          <p:nvPr/>
        </p:nvSpPr>
        <p:spPr bwMode="auto">
          <a:xfrm>
            <a:off x="7848600" y="2751438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0" dirty="0">
                <a:latin typeface="Calibri" pitchFamily="34" charset="0"/>
                <a:cs typeface="Calibri" pitchFamily="34" charset="0"/>
              </a:rPr>
              <a:t>16</a:t>
            </a:r>
            <a:endParaRPr lang="en-GB" sz="16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570" name="Rectangle 18"/>
          <p:cNvSpPr>
            <a:spLocks noChangeArrowheads="1"/>
          </p:cNvSpPr>
          <p:nvPr/>
        </p:nvSpPr>
        <p:spPr bwMode="auto">
          <a:xfrm>
            <a:off x="8153400" y="2751438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571" name="Rectangle 19"/>
          <p:cNvSpPr>
            <a:spLocks noChangeArrowheads="1"/>
          </p:cNvSpPr>
          <p:nvPr/>
        </p:nvSpPr>
        <p:spPr bwMode="auto">
          <a:xfrm>
            <a:off x="6019800" y="2751438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0" dirty="0">
                <a:latin typeface="Calibri" pitchFamily="34" charset="0"/>
                <a:cs typeface="Calibri" pitchFamily="34" charset="0"/>
              </a:rPr>
              <a:t>48</a:t>
            </a:r>
            <a:endParaRPr lang="en-GB" sz="16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572" name="Freeform 20"/>
          <p:cNvSpPr/>
          <p:nvPr/>
        </p:nvSpPr>
        <p:spPr bwMode="auto">
          <a:xfrm>
            <a:off x="4953000" y="2514600"/>
            <a:ext cx="12192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384" y="0"/>
              </a:cxn>
              <a:cxn ang="0">
                <a:pos x="768" y="144"/>
              </a:cxn>
            </a:cxnLst>
            <a:rect l="0" t="0" r="r" b="b"/>
            <a:pathLst>
              <a:path w="768" h="144">
                <a:moveTo>
                  <a:pt x="0" y="144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73" name="Freeform 21"/>
          <p:cNvSpPr/>
          <p:nvPr/>
        </p:nvSpPr>
        <p:spPr bwMode="auto">
          <a:xfrm>
            <a:off x="6172200" y="2514600"/>
            <a:ext cx="18288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576" y="0"/>
              </a:cxn>
              <a:cxn ang="0">
                <a:pos x="1152" y="144"/>
              </a:cxn>
            </a:cxnLst>
            <a:rect l="0" t="0" r="r" b="b"/>
            <a:pathLst>
              <a:path w="1152" h="144">
                <a:moveTo>
                  <a:pt x="0" y="144"/>
                </a:moveTo>
                <a:cubicBezTo>
                  <a:pt x="192" y="72"/>
                  <a:pt x="384" y="0"/>
                  <a:pt x="576" y="0"/>
                </a:cubicBezTo>
                <a:cubicBezTo>
                  <a:pt x="768" y="0"/>
                  <a:pt x="960" y="72"/>
                  <a:pt x="1152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74" name="Rectangle 22"/>
          <p:cNvSpPr>
            <a:spLocks noChangeArrowheads="1"/>
          </p:cNvSpPr>
          <p:nvPr/>
        </p:nvSpPr>
        <p:spPr bwMode="auto">
          <a:xfrm>
            <a:off x="4800600" y="4250789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0" dirty="0">
                <a:latin typeface="Calibri" pitchFamily="34" charset="0"/>
                <a:cs typeface="Calibri" pitchFamily="34" charset="0"/>
              </a:rPr>
              <a:t>32</a:t>
            </a:r>
            <a:endParaRPr lang="en-GB" sz="16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575" name="Rectangle 23"/>
          <p:cNvSpPr>
            <a:spLocks noChangeArrowheads="1"/>
          </p:cNvSpPr>
          <p:nvPr/>
        </p:nvSpPr>
        <p:spPr bwMode="auto">
          <a:xfrm>
            <a:off x="5105400" y="4250789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576" name="Rectangle 24"/>
          <p:cNvSpPr>
            <a:spLocks noChangeArrowheads="1"/>
          </p:cNvSpPr>
          <p:nvPr/>
        </p:nvSpPr>
        <p:spPr bwMode="auto">
          <a:xfrm>
            <a:off x="5410200" y="4250789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577" name="Rectangle 25"/>
          <p:cNvSpPr>
            <a:spLocks noChangeArrowheads="1"/>
          </p:cNvSpPr>
          <p:nvPr/>
        </p:nvSpPr>
        <p:spPr bwMode="auto">
          <a:xfrm>
            <a:off x="5715000" y="4250789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578" name="Rectangle 26"/>
          <p:cNvSpPr>
            <a:spLocks noChangeArrowheads="1"/>
          </p:cNvSpPr>
          <p:nvPr/>
        </p:nvSpPr>
        <p:spPr bwMode="auto">
          <a:xfrm>
            <a:off x="6324600" y="4250789"/>
            <a:ext cx="304800" cy="304800"/>
          </a:xfrm>
          <a:prstGeom prst="rect">
            <a:avLst/>
          </a:prstGeom>
          <a:solidFill>
            <a:srgbClr val="CCFFCC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579" name="Rectangle 27"/>
          <p:cNvSpPr>
            <a:spLocks noChangeArrowheads="1"/>
          </p:cNvSpPr>
          <p:nvPr/>
        </p:nvSpPr>
        <p:spPr bwMode="auto">
          <a:xfrm>
            <a:off x="6629400" y="4250789"/>
            <a:ext cx="304800" cy="304800"/>
          </a:xfrm>
          <a:prstGeom prst="rect">
            <a:avLst/>
          </a:prstGeom>
          <a:solidFill>
            <a:srgbClr val="CCFFCC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580" name="Rectangle 28"/>
          <p:cNvSpPr>
            <a:spLocks noChangeArrowheads="1"/>
          </p:cNvSpPr>
          <p:nvPr/>
        </p:nvSpPr>
        <p:spPr bwMode="auto">
          <a:xfrm>
            <a:off x="6934200" y="4250789"/>
            <a:ext cx="304800" cy="304800"/>
          </a:xfrm>
          <a:prstGeom prst="rect">
            <a:avLst/>
          </a:prstGeom>
          <a:solidFill>
            <a:srgbClr val="CCFFCC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581" name="Rectangle 29"/>
          <p:cNvSpPr>
            <a:spLocks noChangeArrowheads="1"/>
          </p:cNvSpPr>
          <p:nvPr/>
        </p:nvSpPr>
        <p:spPr bwMode="auto">
          <a:xfrm>
            <a:off x="7239000" y="4250789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582" name="Rectangle 30"/>
          <p:cNvSpPr>
            <a:spLocks noChangeArrowheads="1"/>
          </p:cNvSpPr>
          <p:nvPr/>
        </p:nvSpPr>
        <p:spPr bwMode="auto">
          <a:xfrm>
            <a:off x="7543800" y="4250789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583" name="Rectangle 31"/>
          <p:cNvSpPr>
            <a:spLocks noChangeArrowheads="1"/>
          </p:cNvSpPr>
          <p:nvPr/>
        </p:nvSpPr>
        <p:spPr bwMode="auto">
          <a:xfrm>
            <a:off x="7848600" y="4250789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0" dirty="0">
                <a:latin typeface="Calibri" pitchFamily="34" charset="0"/>
                <a:cs typeface="Calibri" pitchFamily="34" charset="0"/>
              </a:rPr>
              <a:t>16</a:t>
            </a:r>
            <a:endParaRPr lang="en-GB" sz="16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584" name="Rectangle 32"/>
          <p:cNvSpPr>
            <a:spLocks noChangeArrowheads="1"/>
          </p:cNvSpPr>
          <p:nvPr/>
        </p:nvSpPr>
        <p:spPr bwMode="auto">
          <a:xfrm>
            <a:off x="8153400" y="4250789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585" name="Rectangle 33"/>
          <p:cNvSpPr>
            <a:spLocks noChangeArrowheads="1"/>
          </p:cNvSpPr>
          <p:nvPr/>
        </p:nvSpPr>
        <p:spPr bwMode="auto">
          <a:xfrm>
            <a:off x="6019800" y="4250789"/>
            <a:ext cx="304800" cy="304800"/>
          </a:xfrm>
          <a:prstGeom prst="rect">
            <a:avLst/>
          </a:prstGeom>
          <a:solidFill>
            <a:srgbClr val="CCFFCC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0" dirty="0">
                <a:latin typeface="Calibri" pitchFamily="34" charset="0"/>
                <a:cs typeface="Calibri" pitchFamily="34" charset="0"/>
              </a:rPr>
              <a:t>32</a:t>
            </a:r>
            <a:endParaRPr lang="en-GB" sz="16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586" name="Freeform 34"/>
          <p:cNvSpPr/>
          <p:nvPr/>
        </p:nvSpPr>
        <p:spPr bwMode="auto">
          <a:xfrm>
            <a:off x="4953000" y="4013951"/>
            <a:ext cx="12192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384" y="0"/>
              </a:cxn>
              <a:cxn ang="0">
                <a:pos x="768" y="144"/>
              </a:cxn>
            </a:cxnLst>
            <a:rect l="0" t="0" r="r" b="b"/>
            <a:pathLst>
              <a:path w="768" h="144">
                <a:moveTo>
                  <a:pt x="0" y="144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587" name="Line 35"/>
          <p:cNvSpPr>
            <a:spLocks noChangeShapeType="1"/>
          </p:cNvSpPr>
          <p:nvPr/>
        </p:nvSpPr>
        <p:spPr bwMode="auto">
          <a:xfrm flipV="1">
            <a:off x="6162408" y="3054652"/>
            <a:ext cx="1588" cy="231775"/>
          </a:xfrm>
          <a:prstGeom prst="line">
            <a:avLst/>
          </a:prstGeom>
          <a:noFill/>
          <a:ln w="25560">
            <a:solidFill>
              <a:schemeClr val="tx1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588" name="Text Box 36"/>
          <p:cNvSpPr txBox="1">
            <a:spLocks noChangeArrowheads="1"/>
          </p:cNvSpPr>
          <p:nvPr/>
        </p:nvSpPr>
        <p:spPr bwMode="auto">
          <a:xfrm>
            <a:off x="6006833" y="3208639"/>
            <a:ext cx="292366" cy="335799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p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23589" name="Freeform 37"/>
          <p:cNvSpPr/>
          <p:nvPr/>
        </p:nvSpPr>
        <p:spPr bwMode="auto">
          <a:xfrm>
            <a:off x="3733800" y="2514600"/>
            <a:ext cx="12192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384" y="0"/>
              </a:cxn>
              <a:cxn ang="0">
                <a:pos x="768" y="144"/>
              </a:cxn>
            </a:cxnLst>
            <a:rect l="0" t="0" r="r" b="b"/>
            <a:pathLst>
              <a:path w="768" h="144">
                <a:moveTo>
                  <a:pt x="0" y="144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90" name="Text Box 38"/>
          <p:cNvSpPr txBox="1">
            <a:spLocks noChangeArrowheads="1"/>
          </p:cNvSpPr>
          <p:nvPr/>
        </p:nvSpPr>
        <p:spPr bwMode="auto">
          <a:xfrm>
            <a:off x="7239000" y="4236202"/>
            <a:ext cx="390148" cy="335799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0" dirty="0">
                <a:latin typeface="Calibri" pitchFamily="34" charset="0"/>
                <a:cs typeface="Calibri" pitchFamily="34" charset="0"/>
              </a:rPr>
              <a:t>16</a:t>
            </a:r>
            <a:endParaRPr lang="en-GB" sz="16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591" name="Freeform 39"/>
          <p:cNvSpPr/>
          <p:nvPr/>
        </p:nvSpPr>
        <p:spPr bwMode="auto">
          <a:xfrm>
            <a:off x="6096000" y="4013951"/>
            <a:ext cx="12954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432" y="0"/>
              </a:cxn>
              <a:cxn ang="0">
                <a:pos x="816" y="144"/>
              </a:cxn>
            </a:cxnLst>
            <a:rect l="0" t="0" r="r" b="b"/>
            <a:pathLst>
              <a:path w="816" h="144">
                <a:moveTo>
                  <a:pt x="0" y="144"/>
                </a:moveTo>
                <a:cubicBezTo>
                  <a:pt x="148" y="72"/>
                  <a:pt x="296" y="0"/>
                  <a:pt x="432" y="0"/>
                </a:cubicBezTo>
                <a:cubicBezTo>
                  <a:pt x="568" y="0"/>
                  <a:pt x="692" y="72"/>
                  <a:pt x="816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592" name="Freeform 40"/>
          <p:cNvSpPr/>
          <p:nvPr/>
        </p:nvSpPr>
        <p:spPr bwMode="auto">
          <a:xfrm>
            <a:off x="7391400" y="4090151"/>
            <a:ext cx="609600" cy="1524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192" y="0"/>
              </a:cxn>
              <a:cxn ang="0">
                <a:pos x="384" y="96"/>
              </a:cxn>
            </a:cxnLst>
            <a:rect l="0" t="0" r="r" b="b"/>
            <a:pathLst>
              <a:path w="384" h="96">
                <a:moveTo>
                  <a:pt x="0" y="96"/>
                </a:moveTo>
                <a:cubicBezTo>
                  <a:pt x="64" y="48"/>
                  <a:pt x="128" y="0"/>
                  <a:pt x="192" y="0"/>
                </a:cubicBezTo>
                <a:cubicBezTo>
                  <a:pt x="256" y="0"/>
                  <a:pt x="320" y="48"/>
                  <a:pt x="384" y="96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593" name="Rectangle 41"/>
          <p:cNvSpPr>
            <a:spLocks noChangeArrowheads="1"/>
          </p:cNvSpPr>
          <p:nvPr/>
        </p:nvSpPr>
        <p:spPr bwMode="auto">
          <a:xfrm>
            <a:off x="3581400" y="4250789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0" dirty="0">
                <a:latin typeface="Calibri" pitchFamily="34" charset="0"/>
                <a:cs typeface="Calibri" pitchFamily="34" charset="0"/>
              </a:rPr>
              <a:t>32</a:t>
            </a:r>
            <a:endParaRPr lang="en-GB" sz="16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594" name="Rectangle 42"/>
          <p:cNvSpPr>
            <a:spLocks noChangeArrowheads="1"/>
          </p:cNvSpPr>
          <p:nvPr/>
        </p:nvSpPr>
        <p:spPr bwMode="auto">
          <a:xfrm>
            <a:off x="3886200" y="4250789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595" name="Rectangle 43"/>
          <p:cNvSpPr>
            <a:spLocks noChangeArrowheads="1"/>
          </p:cNvSpPr>
          <p:nvPr/>
        </p:nvSpPr>
        <p:spPr bwMode="auto">
          <a:xfrm>
            <a:off x="4191000" y="4250789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596" name="Rectangle 44"/>
          <p:cNvSpPr>
            <a:spLocks noChangeArrowheads="1"/>
          </p:cNvSpPr>
          <p:nvPr/>
        </p:nvSpPr>
        <p:spPr bwMode="auto">
          <a:xfrm>
            <a:off x="4495800" y="4250789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597" name="Freeform 45"/>
          <p:cNvSpPr/>
          <p:nvPr/>
        </p:nvSpPr>
        <p:spPr bwMode="auto">
          <a:xfrm>
            <a:off x="3733800" y="4013951"/>
            <a:ext cx="12192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384" y="0"/>
              </a:cxn>
              <a:cxn ang="0">
                <a:pos x="768" y="144"/>
              </a:cxn>
            </a:cxnLst>
            <a:rect l="0" t="0" r="r" b="b"/>
            <a:pathLst>
              <a:path w="768" h="144">
                <a:moveTo>
                  <a:pt x="0" y="144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598" name="Text Box 46"/>
          <p:cNvSpPr txBox="1">
            <a:spLocks noChangeArrowheads="1"/>
          </p:cNvSpPr>
          <p:nvPr/>
        </p:nvSpPr>
        <p:spPr bwMode="auto">
          <a:xfrm>
            <a:off x="1966114" y="3685640"/>
            <a:ext cx="2314095" cy="31303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 err="1">
                <a:latin typeface="Courier New" panose="02070609020205020404" pitchFamily="49" charset="0"/>
              </a:rPr>
              <a:t>split_block</a:t>
            </a:r>
            <a:r>
              <a:rPr lang="en-GB" sz="1600" dirty="0">
                <a:latin typeface="Courier New" panose="02070609020205020404" pitchFamily="49" charset="0"/>
              </a:rPr>
              <a:t>(p, 32)</a:t>
            </a:r>
            <a:endParaRPr lang="en-GB" sz="1600" dirty="0">
              <a:latin typeface="Courier New" panose="02070609020205020404" pitchFamily="49" charset="0"/>
            </a:endParaRPr>
          </a:p>
        </p:txBody>
      </p:sp>
      <p:sp>
        <p:nvSpPr>
          <p:cNvPr id="48" name="Rectangle 7"/>
          <p:cNvSpPr>
            <a:spLocks noChangeArrowheads="1"/>
          </p:cNvSpPr>
          <p:nvPr/>
        </p:nvSpPr>
        <p:spPr bwMode="auto">
          <a:xfrm>
            <a:off x="3276600" y="2756693"/>
            <a:ext cx="304800" cy="304800"/>
          </a:xfrm>
          <a:prstGeom prst="rect">
            <a:avLst/>
          </a:prstGeom>
          <a:pattFill prst="wdUpDiag">
            <a:fgClr>
              <a:schemeClr val="bg2"/>
            </a:fgClr>
            <a:bgClr>
              <a:schemeClr val="bg1"/>
            </a:bgClr>
          </a:patt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9" name="Rectangle 7"/>
          <p:cNvSpPr>
            <a:spLocks noChangeArrowheads="1"/>
          </p:cNvSpPr>
          <p:nvPr/>
        </p:nvSpPr>
        <p:spPr bwMode="auto">
          <a:xfrm>
            <a:off x="3276600" y="4245534"/>
            <a:ext cx="304800" cy="304800"/>
          </a:xfrm>
          <a:prstGeom prst="rect">
            <a:avLst/>
          </a:prstGeom>
          <a:pattFill prst="wdUpDiag">
            <a:fgClr>
              <a:schemeClr val="bg2"/>
            </a:fgClr>
            <a:bgClr>
              <a:schemeClr val="bg1"/>
            </a:bgClr>
          </a:patt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0" name="Rectangle 7"/>
          <p:cNvSpPr>
            <a:spLocks noChangeArrowheads="1"/>
          </p:cNvSpPr>
          <p:nvPr/>
        </p:nvSpPr>
        <p:spPr bwMode="auto">
          <a:xfrm>
            <a:off x="8458200" y="2751438"/>
            <a:ext cx="304800" cy="304800"/>
          </a:xfrm>
          <a:prstGeom prst="rect">
            <a:avLst/>
          </a:prstGeom>
          <a:pattFill prst="wdUpDiag">
            <a:fgClr>
              <a:schemeClr val="bg2"/>
            </a:fgClr>
            <a:bgClr>
              <a:schemeClr val="bg1"/>
            </a:bgClr>
          </a:patt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r>
              <a:rPr lang="en-US" sz="1600" b="0" dirty="0">
                <a:latin typeface="Calibri" pitchFamily="34" charset="0"/>
                <a:cs typeface="Calibri" pitchFamily="34" charset="0"/>
              </a:rPr>
              <a:t>8</a:t>
            </a:r>
            <a:endParaRPr lang="en-US" sz="16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1" name="Rectangle 7"/>
          <p:cNvSpPr>
            <a:spLocks noChangeArrowheads="1"/>
          </p:cNvSpPr>
          <p:nvPr/>
        </p:nvSpPr>
        <p:spPr bwMode="auto">
          <a:xfrm>
            <a:off x="8458200" y="4250789"/>
            <a:ext cx="304800" cy="304800"/>
          </a:xfrm>
          <a:prstGeom prst="rect">
            <a:avLst/>
          </a:prstGeom>
          <a:pattFill prst="wdUpDiag">
            <a:fgClr>
              <a:schemeClr val="bg2"/>
            </a:fgClr>
            <a:bgClr>
              <a:schemeClr val="bg1"/>
            </a:bgClr>
          </a:patt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r>
              <a:rPr lang="en-US" sz="1600" b="0" dirty="0">
                <a:latin typeface="Calibri" pitchFamily="34" charset="0"/>
                <a:cs typeface="Calibri" pitchFamily="34" charset="0"/>
              </a:rPr>
              <a:t>8</a:t>
            </a:r>
            <a:endParaRPr lang="en-US" sz="16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2" name="Freeform 40"/>
          <p:cNvSpPr/>
          <p:nvPr/>
        </p:nvSpPr>
        <p:spPr bwMode="auto">
          <a:xfrm>
            <a:off x="8016766" y="4083801"/>
            <a:ext cx="609600" cy="1524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192" y="0"/>
              </a:cxn>
              <a:cxn ang="0">
                <a:pos x="384" y="96"/>
              </a:cxn>
            </a:cxnLst>
            <a:rect l="0" t="0" r="r" b="b"/>
            <a:pathLst>
              <a:path w="384" h="96">
                <a:moveTo>
                  <a:pt x="0" y="96"/>
                </a:moveTo>
                <a:cubicBezTo>
                  <a:pt x="64" y="48"/>
                  <a:pt x="128" y="0"/>
                  <a:pt x="192" y="0"/>
                </a:cubicBezTo>
                <a:cubicBezTo>
                  <a:pt x="256" y="0"/>
                  <a:pt x="320" y="48"/>
                  <a:pt x="384" y="96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3" name="Freeform 40"/>
          <p:cNvSpPr/>
          <p:nvPr/>
        </p:nvSpPr>
        <p:spPr bwMode="auto">
          <a:xfrm>
            <a:off x="8016766" y="2578372"/>
            <a:ext cx="609600" cy="1524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192" y="0"/>
              </a:cxn>
              <a:cxn ang="0">
                <a:pos x="384" y="96"/>
              </a:cxn>
            </a:cxnLst>
            <a:rect l="0" t="0" r="r" b="b"/>
            <a:pathLst>
              <a:path w="384" h="96">
                <a:moveTo>
                  <a:pt x="0" y="96"/>
                </a:moveTo>
                <a:cubicBezTo>
                  <a:pt x="64" y="48"/>
                  <a:pt x="128" y="0"/>
                  <a:pt x="192" y="0"/>
                </a:cubicBezTo>
                <a:cubicBezTo>
                  <a:pt x="256" y="0"/>
                  <a:pt x="320" y="48"/>
                  <a:pt x="384" y="96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dirty="0" smtClean="0"/>
              <a:t>隐式列表：分割空闲块</a:t>
            </a:r>
            <a:endParaRPr lang="en-GB" dirty="0"/>
          </a:p>
        </p:txBody>
      </p:sp>
      <p:sp>
        <p:nvSpPr>
          <p:cNvPr id="23564" name="Rectangle 12"/>
          <p:cNvSpPr>
            <a:spLocks noChangeArrowheads="1"/>
          </p:cNvSpPr>
          <p:nvPr/>
        </p:nvSpPr>
        <p:spPr bwMode="auto">
          <a:xfrm>
            <a:off x="2971800" y="2251747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565" name="Rectangle 13"/>
          <p:cNvSpPr>
            <a:spLocks noChangeArrowheads="1"/>
          </p:cNvSpPr>
          <p:nvPr/>
        </p:nvSpPr>
        <p:spPr bwMode="auto">
          <a:xfrm>
            <a:off x="3276600" y="2251747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566" name="Rectangle 14"/>
          <p:cNvSpPr>
            <a:spLocks noChangeArrowheads="1"/>
          </p:cNvSpPr>
          <p:nvPr/>
        </p:nvSpPr>
        <p:spPr bwMode="auto">
          <a:xfrm>
            <a:off x="3581400" y="2251747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567" name="Rectangle 15"/>
          <p:cNvSpPr>
            <a:spLocks noChangeArrowheads="1"/>
          </p:cNvSpPr>
          <p:nvPr/>
        </p:nvSpPr>
        <p:spPr bwMode="auto">
          <a:xfrm>
            <a:off x="3886200" y="2251747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568" name="Rectangle 16"/>
          <p:cNvSpPr>
            <a:spLocks noChangeArrowheads="1"/>
          </p:cNvSpPr>
          <p:nvPr/>
        </p:nvSpPr>
        <p:spPr bwMode="auto">
          <a:xfrm>
            <a:off x="4191000" y="2251747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571" name="Rectangle 19"/>
          <p:cNvSpPr>
            <a:spLocks noChangeArrowheads="1"/>
          </p:cNvSpPr>
          <p:nvPr/>
        </p:nvSpPr>
        <p:spPr bwMode="auto">
          <a:xfrm>
            <a:off x="2667000" y="2251747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0" dirty="0">
                <a:latin typeface="Calibri" pitchFamily="34" charset="0"/>
                <a:cs typeface="Calibri" pitchFamily="34" charset="0"/>
              </a:rPr>
              <a:t>64</a:t>
            </a:r>
            <a:endParaRPr lang="en-GB" sz="16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573" name="Freeform 21"/>
          <p:cNvSpPr/>
          <p:nvPr/>
        </p:nvSpPr>
        <p:spPr bwMode="auto">
          <a:xfrm>
            <a:off x="2819400" y="2016217"/>
            <a:ext cx="25146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576" y="0"/>
              </a:cxn>
              <a:cxn ang="0">
                <a:pos x="1152" y="144"/>
              </a:cxn>
            </a:cxnLst>
            <a:rect l="0" t="0" r="r" b="b"/>
            <a:pathLst>
              <a:path w="1152" h="144">
                <a:moveTo>
                  <a:pt x="0" y="144"/>
                </a:moveTo>
                <a:cubicBezTo>
                  <a:pt x="192" y="72"/>
                  <a:pt x="384" y="0"/>
                  <a:pt x="576" y="0"/>
                </a:cubicBezTo>
                <a:cubicBezTo>
                  <a:pt x="768" y="0"/>
                  <a:pt x="960" y="72"/>
                  <a:pt x="1152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87" name="Line 35"/>
          <p:cNvSpPr>
            <a:spLocks noChangeShapeType="1"/>
          </p:cNvSpPr>
          <p:nvPr/>
        </p:nvSpPr>
        <p:spPr bwMode="auto">
          <a:xfrm flipV="1">
            <a:off x="2809608" y="2556269"/>
            <a:ext cx="1588" cy="231775"/>
          </a:xfrm>
          <a:prstGeom prst="line">
            <a:avLst/>
          </a:prstGeom>
          <a:noFill/>
          <a:ln w="25560">
            <a:solidFill>
              <a:schemeClr val="tx1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588" name="Text Box 36"/>
          <p:cNvSpPr txBox="1">
            <a:spLocks noChangeArrowheads="1"/>
          </p:cNvSpPr>
          <p:nvPr/>
        </p:nvSpPr>
        <p:spPr bwMode="auto">
          <a:xfrm>
            <a:off x="2654033" y="2710256"/>
            <a:ext cx="292366" cy="335799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p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23598" name="Text Box 46"/>
          <p:cNvSpPr txBox="1">
            <a:spLocks noChangeArrowheads="1"/>
          </p:cNvSpPr>
          <p:nvPr/>
        </p:nvSpPr>
        <p:spPr bwMode="auto">
          <a:xfrm>
            <a:off x="2776751" y="1537407"/>
            <a:ext cx="2314095" cy="31303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 err="1">
                <a:latin typeface="Courier New" panose="02070609020205020404" pitchFamily="49" charset="0"/>
              </a:rPr>
              <a:t>split_block</a:t>
            </a:r>
            <a:r>
              <a:rPr lang="en-GB" sz="1600" dirty="0">
                <a:latin typeface="Courier New" panose="02070609020205020404" pitchFamily="49" charset="0"/>
              </a:rPr>
              <a:t>(p, 32)</a:t>
            </a:r>
            <a:endParaRPr lang="en-GB" sz="1600" dirty="0">
              <a:latin typeface="Courier New" panose="02070609020205020404" pitchFamily="49" charset="0"/>
            </a:endParaRPr>
          </a:p>
        </p:txBody>
      </p:sp>
      <p:sp>
        <p:nvSpPr>
          <p:cNvPr id="54" name="Text Box 3"/>
          <p:cNvSpPr txBox="1">
            <a:spLocks noChangeArrowheads="1"/>
          </p:cNvSpPr>
          <p:nvPr/>
        </p:nvSpPr>
        <p:spPr bwMode="auto">
          <a:xfrm>
            <a:off x="2133601" y="3288733"/>
            <a:ext cx="7587631" cy="270337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dirty="0">
                <a:solidFill>
                  <a:srgbClr val="C2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// Warning: This code is incomplete</a:t>
            </a:r>
            <a:endParaRPr lang="en-US" sz="1600" dirty="0">
              <a:solidFill>
                <a:srgbClr val="C200FF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600" dirty="0">
              <a:solidFill>
                <a:srgbClr val="C200FF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dirty="0">
                <a:solidFill>
                  <a:srgbClr val="C2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static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sz="1600" dirty="0">
                <a:solidFill>
                  <a:srgbClr val="2D961E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sz="1600" dirty="0" err="1">
                <a:solidFill>
                  <a:srgbClr val="4A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split_block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(</a:t>
            </a:r>
            <a:r>
              <a:rPr lang="en-US" sz="1600" dirty="0" err="1">
                <a:solidFill>
                  <a:srgbClr val="2D961E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block_t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*</a:t>
            </a:r>
            <a:r>
              <a:rPr lang="en-US" sz="1600" dirty="0">
                <a:solidFill>
                  <a:srgbClr val="C1651C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block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, </a:t>
            </a:r>
            <a:r>
              <a:rPr lang="en-US" sz="1600" dirty="0" err="1">
                <a:solidFill>
                  <a:srgbClr val="2D961E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size_t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asize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){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   </a:t>
            </a:r>
            <a:r>
              <a:rPr lang="en-US" sz="1600" dirty="0" err="1">
                <a:solidFill>
                  <a:srgbClr val="2D961E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size_t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block_size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get_size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(block);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   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((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block_size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- 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asize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) &gt;= 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min_block_size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) {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write_header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(block, 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asize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, </a:t>
            </a:r>
            <a:r>
              <a:rPr lang="en-US" sz="1600" dirty="0">
                <a:solidFill>
                  <a:srgbClr val="34A1A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true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);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       </a:t>
            </a:r>
            <a:r>
              <a:rPr lang="en-US" sz="1600" dirty="0" err="1">
                <a:solidFill>
                  <a:srgbClr val="34A327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block_t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*</a:t>
            </a:r>
            <a:r>
              <a:rPr lang="en-US" sz="1600" dirty="0" err="1">
                <a:solidFill>
                  <a:srgbClr val="CD7923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block_next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find_next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(block);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        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write_header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block_next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block_size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- 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asize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, </a:t>
            </a:r>
            <a:r>
              <a:rPr lang="en-US" sz="1600" dirty="0">
                <a:solidFill>
                  <a:srgbClr val="34A1A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false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);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}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600" dirty="0">
              <a:solidFill>
                <a:srgbClr val="990000"/>
              </a:solidFill>
              <a:latin typeface="Courier New" panose="02070609020205020404" pitchFamily="49" charset="0"/>
            </a:endParaRPr>
          </a:p>
        </p:txBody>
      </p:sp>
      <p:sp>
        <p:nvSpPr>
          <p:cNvPr id="56" name="Rectangle 26"/>
          <p:cNvSpPr>
            <a:spLocks noChangeArrowheads="1"/>
          </p:cNvSpPr>
          <p:nvPr/>
        </p:nvSpPr>
        <p:spPr bwMode="auto">
          <a:xfrm>
            <a:off x="6477000" y="2251747"/>
            <a:ext cx="304800" cy="304800"/>
          </a:xfrm>
          <a:prstGeom prst="rect">
            <a:avLst/>
          </a:prstGeom>
          <a:solidFill>
            <a:srgbClr val="CCFFCC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7" name="Rectangle 27"/>
          <p:cNvSpPr>
            <a:spLocks noChangeArrowheads="1"/>
          </p:cNvSpPr>
          <p:nvPr/>
        </p:nvSpPr>
        <p:spPr bwMode="auto">
          <a:xfrm>
            <a:off x="6781800" y="2251747"/>
            <a:ext cx="304800" cy="304800"/>
          </a:xfrm>
          <a:prstGeom prst="rect">
            <a:avLst/>
          </a:prstGeom>
          <a:solidFill>
            <a:srgbClr val="CCFFCC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6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8" name="Rectangle 28"/>
          <p:cNvSpPr>
            <a:spLocks noChangeArrowheads="1"/>
          </p:cNvSpPr>
          <p:nvPr/>
        </p:nvSpPr>
        <p:spPr bwMode="auto">
          <a:xfrm>
            <a:off x="7086600" y="2251747"/>
            <a:ext cx="304800" cy="304800"/>
          </a:xfrm>
          <a:prstGeom prst="rect">
            <a:avLst/>
          </a:prstGeom>
          <a:solidFill>
            <a:srgbClr val="CCFFCC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6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9" name="Rectangle 29"/>
          <p:cNvSpPr>
            <a:spLocks noChangeArrowheads="1"/>
          </p:cNvSpPr>
          <p:nvPr/>
        </p:nvSpPr>
        <p:spPr bwMode="auto">
          <a:xfrm>
            <a:off x="7391400" y="2251747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6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0" name="Rectangle 30"/>
          <p:cNvSpPr>
            <a:spLocks noChangeArrowheads="1"/>
          </p:cNvSpPr>
          <p:nvPr/>
        </p:nvSpPr>
        <p:spPr bwMode="auto">
          <a:xfrm>
            <a:off x="8305800" y="2251747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6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1" name="Rectangle 31"/>
          <p:cNvSpPr>
            <a:spLocks noChangeArrowheads="1"/>
          </p:cNvSpPr>
          <p:nvPr/>
        </p:nvSpPr>
        <p:spPr bwMode="auto">
          <a:xfrm>
            <a:off x="8610600" y="2251747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0" dirty="0">
                <a:latin typeface="Calibri" pitchFamily="34" charset="0"/>
                <a:cs typeface="Calibri" pitchFamily="34" charset="0"/>
              </a:rPr>
              <a:t>16</a:t>
            </a:r>
            <a:endParaRPr lang="en-GB" sz="16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2" name="Rectangle 33"/>
          <p:cNvSpPr>
            <a:spLocks noChangeArrowheads="1"/>
          </p:cNvSpPr>
          <p:nvPr/>
        </p:nvSpPr>
        <p:spPr bwMode="auto">
          <a:xfrm>
            <a:off x="6172200" y="2251747"/>
            <a:ext cx="304800" cy="304800"/>
          </a:xfrm>
          <a:prstGeom prst="rect">
            <a:avLst/>
          </a:prstGeom>
          <a:solidFill>
            <a:srgbClr val="CCFFCC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0" dirty="0">
                <a:latin typeface="Calibri" pitchFamily="34" charset="0"/>
                <a:cs typeface="Calibri" pitchFamily="34" charset="0"/>
              </a:rPr>
              <a:t>32</a:t>
            </a:r>
            <a:endParaRPr lang="en-GB" sz="16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3" name="Text Box 38"/>
          <p:cNvSpPr txBox="1">
            <a:spLocks noChangeArrowheads="1"/>
          </p:cNvSpPr>
          <p:nvPr/>
        </p:nvSpPr>
        <p:spPr bwMode="auto">
          <a:xfrm>
            <a:off x="7391400" y="2251748"/>
            <a:ext cx="390148" cy="335799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0" dirty="0">
                <a:latin typeface="Calibri" pitchFamily="34" charset="0"/>
                <a:cs typeface="Calibri" pitchFamily="34" charset="0"/>
              </a:rPr>
              <a:t>32</a:t>
            </a:r>
            <a:endParaRPr lang="en-GB" sz="16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4" name="Freeform 39"/>
          <p:cNvSpPr/>
          <p:nvPr/>
        </p:nvSpPr>
        <p:spPr bwMode="auto">
          <a:xfrm>
            <a:off x="6248400" y="2032751"/>
            <a:ext cx="12954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432" y="0"/>
              </a:cxn>
              <a:cxn ang="0">
                <a:pos x="816" y="144"/>
              </a:cxn>
            </a:cxnLst>
            <a:rect l="0" t="0" r="r" b="b"/>
            <a:pathLst>
              <a:path w="816" h="144">
                <a:moveTo>
                  <a:pt x="0" y="144"/>
                </a:moveTo>
                <a:cubicBezTo>
                  <a:pt x="148" y="72"/>
                  <a:pt x="296" y="0"/>
                  <a:pt x="432" y="0"/>
                </a:cubicBezTo>
                <a:cubicBezTo>
                  <a:pt x="568" y="0"/>
                  <a:pt x="692" y="72"/>
                  <a:pt x="816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5" name="Freeform 40"/>
          <p:cNvSpPr/>
          <p:nvPr/>
        </p:nvSpPr>
        <p:spPr bwMode="auto">
          <a:xfrm>
            <a:off x="7543800" y="2032751"/>
            <a:ext cx="1295400" cy="2286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192" y="0"/>
              </a:cxn>
              <a:cxn ang="0">
                <a:pos x="384" y="96"/>
              </a:cxn>
            </a:cxnLst>
            <a:rect l="0" t="0" r="r" b="b"/>
            <a:pathLst>
              <a:path w="384" h="96">
                <a:moveTo>
                  <a:pt x="0" y="96"/>
                </a:moveTo>
                <a:cubicBezTo>
                  <a:pt x="64" y="48"/>
                  <a:pt x="128" y="0"/>
                  <a:pt x="192" y="0"/>
                </a:cubicBezTo>
                <a:cubicBezTo>
                  <a:pt x="256" y="0"/>
                  <a:pt x="320" y="48"/>
                  <a:pt x="384" y="96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sz="16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5" name="Rectangle 15"/>
          <p:cNvSpPr>
            <a:spLocks noChangeArrowheads="1"/>
          </p:cNvSpPr>
          <p:nvPr/>
        </p:nvSpPr>
        <p:spPr bwMode="auto">
          <a:xfrm>
            <a:off x="4509986" y="2251747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6" name="Rectangle 16"/>
          <p:cNvSpPr>
            <a:spLocks noChangeArrowheads="1"/>
          </p:cNvSpPr>
          <p:nvPr/>
        </p:nvSpPr>
        <p:spPr bwMode="auto">
          <a:xfrm>
            <a:off x="4814786" y="2251747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7" name="Rectangle 31"/>
          <p:cNvSpPr>
            <a:spLocks noChangeArrowheads="1"/>
          </p:cNvSpPr>
          <p:nvPr/>
        </p:nvSpPr>
        <p:spPr bwMode="auto">
          <a:xfrm>
            <a:off x="5123688" y="2251747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0" dirty="0">
                <a:latin typeface="Calibri" pitchFamily="34" charset="0"/>
                <a:cs typeface="Calibri" pitchFamily="34" charset="0"/>
              </a:rPr>
              <a:t>16</a:t>
            </a:r>
            <a:endParaRPr lang="en-GB" sz="16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8" name="Rectangle 15"/>
          <p:cNvSpPr>
            <a:spLocks noChangeArrowheads="1"/>
          </p:cNvSpPr>
          <p:nvPr/>
        </p:nvSpPr>
        <p:spPr bwMode="auto">
          <a:xfrm>
            <a:off x="7696200" y="2251747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9" name="Rectangle 16"/>
          <p:cNvSpPr>
            <a:spLocks noChangeArrowheads="1"/>
          </p:cNvSpPr>
          <p:nvPr/>
        </p:nvSpPr>
        <p:spPr bwMode="auto">
          <a:xfrm>
            <a:off x="8001000" y="2251747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>
            <a:spLocks noGrp="1" noChangeArrowheads="1"/>
          </p:cNvSpPr>
          <p:nvPr>
            <p:ph type="title"/>
          </p:nvPr>
        </p:nvSpPr>
        <p:spPr>
          <a:xfrm>
            <a:off x="1790700" y="533401"/>
            <a:ext cx="7200900" cy="573087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dirty="0" smtClean="0"/>
              <a:t>隐式列表：释放内存块</a:t>
            </a:r>
            <a:endParaRPr lang="en-GB" dirty="0"/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814514" y="1220788"/>
            <a:ext cx="8307387" cy="4341812"/>
          </a:xfrm>
        </p:spPr>
        <p:txBody>
          <a:bodyPr/>
          <a:lstStyle/>
          <a:p>
            <a:pPr marL="346075" indent="-346075">
              <a:tabLst>
                <a:tab pos="457200" algn="l"/>
                <a:tab pos="984250" algn="l"/>
                <a:tab pos="1898650" algn="l"/>
                <a:tab pos="2813050" algn="l"/>
                <a:tab pos="3727450" algn="l"/>
                <a:tab pos="4641850" algn="l"/>
                <a:tab pos="5556250" algn="l"/>
                <a:tab pos="6470650" algn="l"/>
                <a:tab pos="7385050" algn="l"/>
                <a:tab pos="8299450" algn="l"/>
                <a:tab pos="9213850" algn="l"/>
                <a:tab pos="10128250" algn="l"/>
              </a:tabLst>
            </a:pPr>
            <a:r>
              <a:rPr lang="zh-CN" altLang="en-US" dirty="0" smtClean="0"/>
              <a:t>最简单的实现：</a:t>
            </a:r>
            <a:endParaRPr lang="en-GB" dirty="0"/>
          </a:p>
          <a:p>
            <a:pPr lvl="1">
              <a:tabLst>
                <a:tab pos="457200" algn="l"/>
                <a:tab pos="984250" algn="l"/>
                <a:tab pos="1898650" algn="l"/>
                <a:tab pos="2813050" algn="l"/>
                <a:tab pos="3727450" algn="l"/>
                <a:tab pos="4641850" algn="l"/>
                <a:tab pos="5556250" algn="l"/>
                <a:tab pos="6470650" algn="l"/>
                <a:tab pos="7385050" algn="l"/>
                <a:tab pos="8299450" algn="l"/>
                <a:tab pos="9213850" algn="l"/>
                <a:tab pos="10128250" algn="l"/>
              </a:tabLst>
            </a:pPr>
            <a:r>
              <a:rPr lang="zh-CN" altLang="en-US" dirty="0" smtClean="0"/>
              <a:t>只需要清除“已分配”标志</a:t>
            </a:r>
            <a:endParaRPr lang="en-GB" dirty="0"/>
          </a:p>
          <a:p>
            <a:pPr lvl="1">
              <a:tabLst>
                <a:tab pos="457200" algn="l"/>
                <a:tab pos="984250" algn="l"/>
                <a:tab pos="1898650" algn="l"/>
                <a:tab pos="2813050" algn="l"/>
                <a:tab pos="3727450" algn="l"/>
                <a:tab pos="4641850" algn="l"/>
                <a:tab pos="5556250" algn="l"/>
                <a:tab pos="6470650" algn="l"/>
                <a:tab pos="7385050" algn="l"/>
                <a:tab pos="8299450" algn="l"/>
                <a:tab pos="9213850" algn="l"/>
                <a:tab pos="10128250" algn="l"/>
              </a:tabLst>
            </a:pPr>
            <a:r>
              <a:rPr lang="zh-CN" altLang="en-US" dirty="0" smtClean="0"/>
              <a:t>但可能导致“虚假碎片”</a:t>
            </a:r>
            <a:endParaRPr lang="en-GB" dirty="0"/>
          </a:p>
          <a:p>
            <a:pPr lvl="1">
              <a:buSzPct val="75000"/>
              <a:buNone/>
              <a:tabLst>
                <a:tab pos="457200" algn="l"/>
                <a:tab pos="984250" algn="l"/>
                <a:tab pos="1898650" algn="l"/>
                <a:tab pos="2813050" algn="l"/>
                <a:tab pos="3727450" algn="l"/>
                <a:tab pos="4641850" algn="l"/>
                <a:tab pos="5556250" algn="l"/>
                <a:tab pos="6470650" algn="l"/>
                <a:tab pos="7385050" algn="l"/>
                <a:tab pos="8299450" algn="l"/>
                <a:tab pos="9213850" algn="l"/>
                <a:tab pos="10128250" algn="l"/>
              </a:tabLst>
            </a:pPr>
            <a:endParaRPr lang="en-GB" dirty="0"/>
          </a:p>
          <a:p>
            <a:pPr lvl="1">
              <a:buSzPct val="75000"/>
              <a:buNone/>
              <a:tabLst>
                <a:tab pos="457200" algn="l"/>
                <a:tab pos="984250" algn="l"/>
                <a:tab pos="1898650" algn="l"/>
                <a:tab pos="2813050" algn="l"/>
                <a:tab pos="3727450" algn="l"/>
                <a:tab pos="4641850" algn="l"/>
                <a:tab pos="5556250" algn="l"/>
                <a:tab pos="6470650" algn="l"/>
                <a:tab pos="7385050" algn="l"/>
                <a:tab pos="8299450" algn="l"/>
                <a:tab pos="9213850" algn="l"/>
                <a:tab pos="10128250" algn="l"/>
              </a:tabLst>
            </a:pPr>
            <a:endParaRPr lang="en-GB" dirty="0"/>
          </a:p>
          <a:p>
            <a:pPr lvl="1">
              <a:buSzPct val="75000"/>
              <a:buNone/>
              <a:tabLst>
                <a:tab pos="457200" algn="l"/>
                <a:tab pos="984250" algn="l"/>
                <a:tab pos="1898650" algn="l"/>
                <a:tab pos="2813050" algn="l"/>
                <a:tab pos="3727450" algn="l"/>
                <a:tab pos="4641850" algn="l"/>
                <a:tab pos="5556250" algn="l"/>
                <a:tab pos="6470650" algn="l"/>
                <a:tab pos="7385050" algn="l"/>
                <a:tab pos="8299450" algn="l"/>
                <a:tab pos="9213850" algn="l"/>
                <a:tab pos="10128250" algn="l"/>
              </a:tabLst>
            </a:pPr>
            <a:endParaRPr lang="en-GB" dirty="0"/>
          </a:p>
          <a:p>
            <a:pPr lvl="1">
              <a:buSzPct val="75000"/>
              <a:buNone/>
              <a:tabLst>
                <a:tab pos="457200" algn="l"/>
                <a:tab pos="984250" algn="l"/>
                <a:tab pos="1898650" algn="l"/>
                <a:tab pos="2813050" algn="l"/>
                <a:tab pos="3727450" algn="l"/>
                <a:tab pos="4641850" algn="l"/>
                <a:tab pos="5556250" algn="l"/>
                <a:tab pos="6470650" algn="l"/>
                <a:tab pos="7385050" algn="l"/>
                <a:tab pos="8299450" algn="l"/>
                <a:tab pos="9213850" algn="l"/>
                <a:tab pos="10128250" algn="l"/>
              </a:tabLst>
            </a:pPr>
            <a:endParaRPr lang="en-GB" dirty="0"/>
          </a:p>
          <a:p>
            <a:pPr lvl="1">
              <a:buSzPct val="75000"/>
              <a:buNone/>
              <a:tabLst>
                <a:tab pos="457200" algn="l"/>
                <a:tab pos="984250" algn="l"/>
                <a:tab pos="1898650" algn="l"/>
                <a:tab pos="2813050" algn="l"/>
                <a:tab pos="3727450" algn="l"/>
                <a:tab pos="4641850" algn="l"/>
                <a:tab pos="5556250" algn="l"/>
                <a:tab pos="6470650" algn="l"/>
                <a:tab pos="7385050" algn="l"/>
                <a:tab pos="8299450" algn="l"/>
                <a:tab pos="9213850" algn="l"/>
                <a:tab pos="10128250" algn="l"/>
              </a:tabLst>
            </a:pPr>
            <a:endParaRPr lang="en-GB" dirty="0"/>
          </a:p>
          <a:p>
            <a:pPr lvl="1">
              <a:buSzPct val="75000"/>
              <a:buNone/>
              <a:tabLst>
                <a:tab pos="457200" algn="l"/>
                <a:tab pos="984250" algn="l"/>
                <a:tab pos="1898650" algn="l"/>
                <a:tab pos="2813050" algn="l"/>
                <a:tab pos="3727450" algn="l"/>
                <a:tab pos="4641850" algn="l"/>
                <a:tab pos="5556250" algn="l"/>
                <a:tab pos="6470650" algn="l"/>
                <a:tab pos="7385050" algn="l"/>
                <a:tab pos="8299450" algn="l"/>
                <a:tab pos="9213850" algn="l"/>
                <a:tab pos="10128250" algn="l"/>
              </a:tabLst>
            </a:pPr>
            <a:endParaRPr lang="en-GB" dirty="0"/>
          </a:p>
          <a:p>
            <a:pPr lvl="1">
              <a:buSzPct val="75000"/>
              <a:buNone/>
              <a:tabLst>
                <a:tab pos="457200" algn="l"/>
                <a:tab pos="984250" algn="l"/>
                <a:tab pos="1898650" algn="l"/>
                <a:tab pos="2813050" algn="l"/>
                <a:tab pos="3727450" algn="l"/>
                <a:tab pos="4641850" algn="l"/>
                <a:tab pos="5556250" algn="l"/>
                <a:tab pos="6470650" algn="l"/>
                <a:tab pos="7385050" algn="l"/>
                <a:tab pos="8299450" algn="l"/>
                <a:tab pos="9213850" algn="l"/>
                <a:tab pos="10128250" algn="l"/>
              </a:tabLst>
            </a:pPr>
            <a:endParaRPr lang="en-GB" dirty="0"/>
          </a:p>
        </p:txBody>
      </p:sp>
      <p:grpSp>
        <p:nvGrpSpPr>
          <p:cNvPr id="54" name="Group 53"/>
          <p:cNvGrpSpPr/>
          <p:nvPr/>
        </p:nvGrpSpPr>
        <p:grpSpPr>
          <a:xfrm>
            <a:off x="3657600" y="3167513"/>
            <a:ext cx="4876800" cy="541638"/>
            <a:chOff x="2133600" y="3167513"/>
            <a:chExt cx="4876800" cy="541638"/>
          </a:xfrm>
        </p:grpSpPr>
        <p:sp>
          <p:nvSpPr>
            <p:cNvPr id="24579" name="Rectangle 3"/>
            <p:cNvSpPr>
              <a:spLocks noChangeArrowheads="1"/>
            </p:cNvSpPr>
            <p:nvPr/>
          </p:nvSpPr>
          <p:spPr bwMode="auto">
            <a:xfrm>
              <a:off x="3352800" y="3404351"/>
              <a:ext cx="304800" cy="3048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240">
              <a:solidFill>
                <a:srgbClr val="000066"/>
              </a:solidFill>
              <a:prstDash val="sysDash"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0" dirty="0">
                  <a:latin typeface="Calibri" pitchFamily="34" charset="0"/>
                  <a:cs typeface="Calibri" pitchFamily="34" charset="0"/>
                </a:rPr>
                <a:t>32</a:t>
              </a:r>
              <a:endParaRPr lang="en-GB" sz="16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4580" name="Rectangle 4"/>
            <p:cNvSpPr>
              <a:spLocks noChangeArrowheads="1"/>
            </p:cNvSpPr>
            <p:nvPr/>
          </p:nvSpPr>
          <p:spPr bwMode="auto">
            <a:xfrm>
              <a:off x="3657600" y="3404351"/>
              <a:ext cx="304800" cy="3048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240">
              <a:solidFill>
                <a:srgbClr val="000066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4581" name="Rectangle 5"/>
            <p:cNvSpPr>
              <a:spLocks noChangeArrowheads="1"/>
            </p:cNvSpPr>
            <p:nvPr/>
          </p:nvSpPr>
          <p:spPr bwMode="auto">
            <a:xfrm>
              <a:off x="3962400" y="3404351"/>
              <a:ext cx="304800" cy="3048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240">
              <a:solidFill>
                <a:srgbClr val="000066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4582" name="Rectangle 6"/>
            <p:cNvSpPr>
              <a:spLocks noChangeArrowheads="1"/>
            </p:cNvSpPr>
            <p:nvPr/>
          </p:nvSpPr>
          <p:spPr bwMode="auto">
            <a:xfrm>
              <a:off x="4267200" y="3404351"/>
              <a:ext cx="304800" cy="3048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240">
              <a:solidFill>
                <a:srgbClr val="000066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4583" name="Rectangle 7"/>
            <p:cNvSpPr>
              <a:spLocks noChangeArrowheads="1"/>
            </p:cNvSpPr>
            <p:nvPr/>
          </p:nvSpPr>
          <p:spPr bwMode="auto">
            <a:xfrm>
              <a:off x="4876800" y="3404351"/>
              <a:ext cx="3048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rgbClr val="000066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4584" name="Rectangle 8"/>
            <p:cNvSpPr>
              <a:spLocks noChangeArrowheads="1"/>
            </p:cNvSpPr>
            <p:nvPr/>
          </p:nvSpPr>
          <p:spPr bwMode="auto">
            <a:xfrm>
              <a:off x="5181600" y="3404351"/>
              <a:ext cx="3048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rgbClr val="000066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4585" name="Rectangle 9"/>
            <p:cNvSpPr>
              <a:spLocks noChangeArrowheads="1"/>
            </p:cNvSpPr>
            <p:nvPr/>
          </p:nvSpPr>
          <p:spPr bwMode="auto">
            <a:xfrm>
              <a:off x="5486400" y="3404351"/>
              <a:ext cx="3048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rgbClr val="000066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en-US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4586" name="Rectangle 10"/>
            <p:cNvSpPr>
              <a:spLocks noChangeArrowheads="1"/>
            </p:cNvSpPr>
            <p:nvPr/>
          </p:nvSpPr>
          <p:spPr bwMode="auto">
            <a:xfrm>
              <a:off x="5791200" y="3404351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r>
                <a:rPr lang="en-US" sz="1600" b="0" dirty="0">
                  <a:latin typeface="Calibri" pitchFamily="34" charset="0"/>
                  <a:cs typeface="Calibri" pitchFamily="34" charset="0"/>
                </a:rPr>
                <a:t>16</a:t>
              </a:r>
              <a:endParaRPr lang="en-US" sz="16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4587" name="Rectangle 11"/>
            <p:cNvSpPr>
              <a:spLocks noChangeArrowheads="1"/>
            </p:cNvSpPr>
            <p:nvPr/>
          </p:nvSpPr>
          <p:spPr bwMode="auto">
            <a:xfrm>
              <a:off x="6096000" y="3404351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4588" name="Rectangle 12"/>
            <p:cNvSpPr>
              <a:spLocks noChangeArrowheads="1"/>
            </p:cNvSpPr>
            <p:nvPr/>
          </p:nvSpPr>
          <p:spPr bwMode="auto">
            <a:xfrm>
              <a:off x="6400800" y="3404351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prstDash val="sysDash"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0" dirty="0">
                  <a:latin typeface="Calibri" pitchFamily="34" charset="0"/>
                  <a:cs typeface="Calibri" pitchFamily="34" charset="0"/>
                </a:rPr>
                <a:t>16</a:t>
              </a:r>
              <a:endParaRPr lang="en-GB" sz="16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4589" name="Rectangle 13"/>
            <p:cNvSpPr>
              <a:spLocks noChangeArrowheads="1"/>
            </p:cNvSpPr>
            <p:nvPr/>
          </p:nvSpPr>
          <p:spPr bwMode="auto">
            <a:xfrm>
              <a:off x="6705600" y="3404351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4590" name="Rectangle 14"/>
            <p:cNvSpPr>
              <a:spLocks noChangeArrowheads="1"/>
            </p:cNvSpPr>
            <p:nvPr/>
          </p:nvSpPr>
          <p:spPr bwMode="auto">
            <a:xfrm>
              <a:off x="4572000" y="3404351"/>
              <a:ext cx="3048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rgbClr val="000066"/>
              </a:solidFill>
              <a:prstDash val="sysDash"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0" dirty="0">
                  <a:latin typeface="Calibri" pitchFamily="34" charset="0"/>
                  <a:cs typeface="Calibri" pitchFamily="34" charset="0"/>
                </a:rPr>
                <a:t>32</a:t>
              </a:r>
              <a:endParaRPr lang="en-GB" sz="16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4591" name="Freeform 15"/>
            <p:cNvSpPr/>
            <p:nvPr/>
          </p:nvSpPr>
          <p:spPr bwMode="auto">
            <a:xfrm>
              <a:off x="3505200" y="3167513"/>
              <a:ext cx="1219200" cy="228600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384" y="0"/>
                </a:cxn>
                <a:cxn ang="0">
                  <a:pos x="768" y="144"/>
                </a:cxn>
              </a:cxnLst>
              <a:rect l="0" t="0" r="r" b="b"/>
              <a:pathLst>
                <a:path w="768" h="144">
                  <a:moveTo>
                    <a:pt x="0" y="144"/>
                  </a:moveTo>
                  <a:cubicBezTo>
                    <a:pt x="128" y="72"/>
                    <a:pt x="256" y="0"/>
                    <a:pt x="384" y="0"/>
                  </a:cubicBezTo>
                  <a:cubicBezTo>
                    <a:pt x="512" y="0"/>
                    <a:pt x="640" y="72"/>
                    <a:pt x="768" y="144"/>
                  </a:cubicBezTo>
                </a:path>
              </a:pathLst>
            </a:custGeom>
            <a:noFill/>
            <a:ln w="25560">
              <a:solidFill>
                <a:schemeClr val="tx1"/>
              </a:solidFill>
              <a:prstDash val="sysDash"/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4593" name="Freeform 17"/>
            <p:cNvSpPr/>
            <p:nvPr/>
          </p:nvSpPr>
          <p:spPr bwMode="auto">
            <a:xfrm>
              <a:off x="4648200" y="3167513"/>
              <a:ext cx="1295400" cy="228600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432" y="0"/>
                </a:cxn>
                <a:cxn ang="0">
                  <a:pos x="816" y="144"/>
                </a:cxn>
              </a:cxnLst>
              <a:rect l="0" t="0" r="r" b="b"/>
              <a:pathLst>
                <a:path w="816" h="144">
                  <a:moveTo>
                    <a:pt x="0" y="144"/>
                  </a:moveTo>
                  <a:cubicBezTo>
                    <a:pt x="148" y="72"/>
                    <a:pt x="296" y="0"/>
                    <a:pt x="432" y="0"/>
                  </a:cubicBezTo>
                  <a:cubicBezTo>
                    <a:pt x="568" y="0"/>
                    <a:pt x="692" y="72"/>
                    <a:pt x="816" y="144"/>
                  </a:cubicBezTo>
                </a:path>
              </a:pathLst>
            </a:custGeom>
            <a:noFill/>
            <a:ln w="25560">
              <a:solidFill>
                <a:schemeClr val="tx1"/>
              </a:solidFill>
              <a:prstDash val="sysDash"/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4594" name="Freeform 18"/>
            <p:cNvSpPr/>
            <p:nvPr/>
          </p:nvSpPr>
          <p:spPr bwMode="auto">
            <a:xfrm>
              <a:off x="5943600" y="3243713"/>
              <a:ext cx="609600" cy="152400"/>
            </a:xfrm>
            <a:custGeom>
              <a:avLst/>
              <a:gdLst/>
              <a:ahLst/>
              <a:cxnLst>
                <a:cxn ang="0">
                  <a:pos x="0" y="96"/>
                </a:cxn>
                <a:cxn ang="0">
                  <a:pos x="192" y="0"/>
                </a:cxn>
                <a:cxn ang="0">
                  <a:pos x="384" y="96"/>
                </a:cxn>
              </a:cxnLst>
              <a:rect l="0" t="0" r="r" b="b"/>
              <a:pathLst>
                <a:path w="384" h="96">
                  <a:moveTo>
                    <a:pt x="0" y="96"/>
                  </a:moveTo>
                  <a:cubicBezTo>
                    <a:pt x="64" y="48"/>
                    <a:pt x="128" y="0"/>
                    <a:pt x="192" y="0"/>
                  </a:cubicBezTo>
                  <a:cubicBezTo>
                    <a:pt x="256" y="0"/>
                    <a:pt x="320" y="48"/>
                    <a:pt x="384" y="96"/>
                  </a:cubicBezTo>
                </a:path>
              </a:pathLst>
            </a:custGeom>
            <a:noFill/>
            <a:ln w="25560">
              <a:solidFill>
                <a:schemeClr val="tx1"/>
              </a:solidFill>
              <a:prstDash val="sysDash"/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4611" name="Rectangle 35"/>
            <p:cNvSpPr>
              <a:spLocks noChangeArrowheads="1"/>
            </p:cNvSpPr>
            <p:nvPr/>
          </p:nvSpPr>
          <p:spPr bwMode="auto">
            <a:xfrm>
              <a:off x="2133600" y="3404351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prstDash val="sysDash"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0" dirty="0">
                  <a:latin typeface="Calibri" pitchFamily="34" charset="0"/>
                  <a:cs typeface="Calibri" pitchFamily="34" charset="0"/>
                </a:rPr>
                <a:t>32</a:t>
              </a:r>
              <a:endParaRPr lang="en-GB" sz="16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4612" name="Rectangle 36"/>
            <p:cNvSpPr>
              <a:spLocks noChangeArrowheads="1"/>
            </p:cNvSpPr>
            <p:nvPr/>
          </p:nvSpPr>
          <p:spPr bwMode="auto">
            <a:xfrm>
              <a:off x="2438400" y="3404351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4613" name="Rectangle 37"/>
            <p:cNvSpPr>
              <a:spLocks noChangeArrowheads="1"/>
            </p:cNvSpPr>
            <p:nvPr/>
          </p:nvSpPr>
          <p:spPr bwMode="auto">
            <a:xfrm>
              <a:off x="2743200" y="3404351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4614" name="Rectangle 38"/>
            <p:cNvSpPr>
              <a:spLocks noChangeArrowheads="1"/>
            </p:cNvSpPr>
            <p:nvPr/>
          </p:nvSpPr>
          <p:spPr bwMode="auto">
            <a:xfrm>
              <a:off x="3048000" y="3404351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4615" name="Freeform 39"/>
            <p:cNvSpPr/>
            <p:nvPr/>
          </p:nvSpPr>
          <p:spPr bwMode="auto">
            <a:xfrm>
              <a:off x="2286000" y="3167513"/>
              <a:ext cx="1219200" cy="228600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384" y="0"/>
                </a:cxn>
                <a:cxn ang="0">
                  <a:pos x="768" y="144"/>
                </a:cxn>
              </a:cxnLst>
              <a:rect l="0" t="0" r="r" b="b"/>
              <a:pathLst>
                <a:path w="768" h="144">
                  <a:moveTo>
                    <a:pt x="0" y="144"/>
                  </a:moveTo>
                  <a:cubicBezTo>
                    <a:pt x="128" y="72"/>
                    <a:pt x="256" y="0"/>
                    <a:pt x="384" y="0"/>
                  </a:cubicBezTo>
                  <a:cubicBezTo>
                    <a:pt x="512" y="0"/>
                    <a:pt x="640" y="72"/>
                    <a:pt x="768" y="144"/>
                  </a:cubicBezTo>
                </a:path>
              </a:pathLst>
            </a:custGeom>
            <a:noFill/>
            <a:ln w="25560">
              <a:solidFill>
                <a:schemeClr val="tx1"/>
              </a:solidFill>
              <a:prstDash val="sysDash"/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2349500" y="3707564"/>
            <a:ext cx="6184900" cy="1016836"/>
            <a:chOff x="825500" y="3707564"/>
            <a:chExt cx="6184900" cy="1016836"/>
          </a:xfrm>
        </p:grpSpPr>
        <p:sp>
          <p:nvSpPr>
            <p:cNvPr id="24595" name="Text Box 19"/>
            <p:cNvSpPr txBox="1">
              <a:spLocks noChangeArrowheads="1"/>
            </p:cNvSpPr>
            <p:nvPr/>
          </p:nvSpPr>
          <p:spPr bwMode="auto">
            <a:xfrm>
              <a:off x="825500" y="3863139"/>
              <a:ext cx="1045777" cy="325988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ourier New" panose="02070609020205020404" pitchFamily="49" charset="0"/>
                </a:rPr>
                <a:t>free(p)</a:t>
              </a:r>
              <a:endParaRPr lang="en-GB" sz="1600" dirty="0">
                <a:latin typeface="Courier New" panose="02070609020205020404" pitchFamily="49" charset="0"/>
              </a:endParaRPr>
            </a:p>
          </p:txBody>
        </p:sp>
        <p:sp>
          <p:nvSpPr>
            <p:cNvPr id="24596" name="Text Box 20"/>
            <p:cNvSpPr txBox="1">
              <a:spLocks noChangeArrowheads="1"/>
            </p:cNvSpPr>
            <p:nvPr/>
          </p:nvSpPr>
          <p:spPr bwMode="auto">
            <a:xfrm>
              <a:off x="4573588" y="3785351"/>
              <a:ext cx="305190" cy="329643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ourier New" panose="02070609020205020404" pitchFamily="49" charset="0"/>
                </a:rPr>
                <a:t>p</a:t>
              </a:r>
              <a:endParaRPr lang="en-GB" sz="1600" dirty="0">
                <a:latin typeface="Courier New" panose="02070609020205020404" pitchFamily="49" charset="0"/>
              </a:endParaRPr>
            </a:p>
          </p:txBody>
        </p:sp>
        <p:sp>
          <p:nvSpPr>
            <p:cNvPr id="24597" name="Line 21"/>
            <p:cNvSpPr>
              <a:spLocks noChangeShapeType="1"/>
            </p:cNvSpPr>
            <p:nvPr/>
          </p:nvSpPr>
          <p:spPr bwMode="auto">
            <a:xfrm flipV="1">
              <a:off x="4724400" y="3707564"/>
              <a:ext cx="1588" cy="155575"/>
            </a:xfrm>
            <a:prstGeom prst="line">
              <a:avLst/>
            </a:prstGeom>
            <a:noFill/>
            <a:ln w="25560">
              <a:solidFill>
                <a:srgbClr val="000066"/>
              </a:solidFill>
              <a:miter lim="800000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598" name="Rectangle 22"/>
            <p:cNvSpPr>
              <a:spLocks noChangeArrowheads="1"/>
            </p:cNvSpPr>
            <p:nvPr/>
          </p:nvSpPr>
          <p:spPr bwMode="auto">
            <a:xfrm>
              <a:off x="2133600" y="4394951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32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24599" name="Rectangle 23"/>
            <p:cNvSpPr>
              <a:spLocks noChangeArrowheads="1"/>
            </p:cNvSpPr>
            <p:nvPr/>
          </p:nvSpPr>
          <p:spPr bwMode="auto">
            <a:xfrm>
              <a:off x="2438400" y="4394951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0" name="Rectangle 24"/>
            <p:cNvSpPr>
              <a:spLocks noChangeArrowheads="1"/>
            </p:cNvSpPr>
            <p:nvPr/>
          </p:nvSpPr>
          <p:spPr bwMode="auto">
            <a:xfrm>
              <a:off x="2743200" y="4394951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1" name="Rectangle 25"/>
            <p:cNvSpPr>
              <a:spLocks noChangeArrowheads="1"/>
            </p:cNvSpPr>
            <p:nvPr/>
          </p:nvSpPr>
          <p:spPr bwMode="auto">
            <a:xfrm>
              <a:off x="3048000" y="4394951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2" name="Rectangle 26"/>
            <p:cNvSpPr>
              <a:spLocks noChangeArrowheads="1"/>
            </p:cNvSpPr>
            <p:nvPr/>
          </p:nvSpPr>
          <p:spPr bwMode="auto">
            <a:xfrm>
              <a:off x="3352800" y="4394951"/>
              <a:ext cx="304800" cy="3048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32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24603" name="Rectangle 27"/>
            <p:cNvSpPr>
              <a:spLocks noChangeArrowheads="1"/>
            </p:cNvSpPr>
            <p:nvPr/>
          </p:nvSpPr>
          <p:spPr bwMode="auto">
            <a:xfrm>
              <a:off x="3657600" y="4394951"/>
              <a:ext cx="304800" cy="3048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4" name="Rectangle 28"/>
            <p:cNvSpPr>
              <a:spLocks noChangeArrowheads="1"/>
            </p:cNvSpPr>
            <p:nvPr/>
          </p:nvSpPr>
          <p:spPr bwMode="auto">
            <a:xfrm>
              <a:off x="3962400" y="4394951"/>
              <a:ext cx="304800" cy="3048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5" name="Rectangle 29"/>
            <p:cNvSpPr>
              <a:spLocks noChangeArrowheads="1"/>
            </p:cNvSpPr>
            <p:nvPr/>
          </p:nvSpPr>
          <p:spPr bwMode="auto">
            <a:xfrm>
              <a:off x="4267200" y="4394951"/>
              <a:ext cx="304800" cy="3048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6" name="Rectangle 30"/>
            <p:cNvSpPr>
              <a:spLocks noChangeArrowheads="1"/>
            </p:cNvSpPr>
            <p:nvPr/>
          </p:nvSpPr>
          <p:spPr bwMode="auto">
            <a:xfrm>
              <a:off x="6400800" y="4394951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16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24607" name="Rectangle 31"/>
            <p:cNvSpPr>
              <a:spLocks noChangeArrowheads="1"/>
            </p:cNvSpPr>
            <p:nvPr/>
          </p:nvSpPr>
          <p:spPr bwMode="auto">
            <a:xfrm>
              <a:off x="6705600" y="4394951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8" name="Freeform 32"/>
            <p:cNvSpPr/>
            <p:nvPr/>
          </p:nvSpPr>
          <p:spPr bwMode="auto">
            <a:xfrm>
              <a:off x="3505200" y="4158113"/>
              <a:ext cx="1219200" cy="228600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384" y="0"/>
                </a:cxn>
                <a:cxn ang="0">
                  <a:pos x="768" y="144"/>
                </a:cxn>
              </a:cxnLst>
              <a:rect l="0" t="0" r="r" b="b"/>
              <a:pathLst>
                <a:path w="768" h="144">
                  <a:moveTo>
                    <a:pt x="0" y="144"/>
                  </a:moveTo>
                  <a:cubicBezTo>
                    <a:pt x="128" y="72"/>
                    <a:pt x="256" y="0"/>
                    <a:pt x="384" y="0"/>
                  </a:cubicBezTo>
                  <a:cubicBezTo>
                    <a:pt x="512" y="0"/>
                    <a:pt x="640" y="72"/>
                    <a:pt x="768" y="144"/>
                  </a:cubicBezTo>
                </a:path>
              </a:pathLst>
            </a:custGeom>
            <a:noFill/>
            <a:ln w="25560">
              <a:solidFill>
                <a:schemeClr val="tx1"/>
              </a:solidFill>
              <a:prstDash val="sysDash"/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9" name="Freeform 33"/>
            <p:cNvSpPr/>
            <p:nvPr/>
          </p:nvSpPr>
          <p:spPr bwMode="auto">
            <a:xfrm>
              <a:off x="2286000" y="4158113"/>
              <a:ext cx="1219200" cy="228600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384" y="0"/>
                </a:cxn>
                <a:cxn ang="0">
                  <a:pos x="768" y="144"/>
                </a:cxn>
              </a:cxnLst>
              <a:rect l="0" t="0" r="r" b="b"/>
              <a:pathLst>
                <a:path w="768" h="144">
                  <a:moveTo>
                    <a:pt x="0" y="144"/>
                  </a:moveTo>
                  <a:cubicBezTo>
                    <a:pt x="128" y="72"/>
                    <a:pt x="256" y="0"/>
                    <a:pt x="384" y="0"/>
                  </a:cubicBezTo>
                  <a:cubicBezTo>
                    <a:pt x="512" y="0"/>
                    <a:pt x="640" y="72"/>
                    <a:pt x="768" y="144"/>
                  </a:cubicBezTo>
                </a:path>
              </a:pathLst>
            </a:custGeom>
            <a:noFill/>
            <a:ln w="25560">
              <a:solidFill>
                <a:schemeClr val="tx1"/>
              </a:solidFill>
              <a:prstDash val="sysDash"/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6" name="Rectangle 40"/>
            <p:cNvSpPr>
              <a:spLocks noChangeArrowheads="1"/>
            </p:cNvSpPr>
            <p:nvPr/>
          </p:nvSpPr>
          <p:spPr bwMode="auto">
            <a:xfrm>
              <a:off x="4876800" y="4394951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7" name="Rectangle 41"/>
            <p:cNvSpPr>
              <a:spLocks noChangeArrowheads="1"/>
            </p:cNvSpPr>
            <p:nvPr/>
          </p:nvSpPr>
          <p:spPr bwMode="auto">
            <a:xfrm>
              <a:off x="5181600" y="4394951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8" name="Rectangle 42"/>
            <p:cNvSpPr>
              <a:spLocks noChangeArrowheads="1"/>
            </p:cNvSpPr>
            <p:nvPr/>
          </p:nvSpPr>
          <p:spPr bwMode="auto">
            <a:xfrm>
              <a:off x="5486400" y="4394951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9" name="Rectangle 43"/>
            <p:cNvSpPr>
              <a:spLocks noChangeArrowheads="1"/>
            </p:cNvSpPr>
            <p:nvPr/>
          </p:nvSpPr>
          <p:spPr bwMode="auto">
            <a:xfrm>
              <a:off x="5791200" y="4394951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20" name="Rectangle 44"/>
            <p:cNvSpPr>
              <a:spLocks noChangeArrowheads="1"/>
            </p:cNvSpPr>
            <p:nvPr/>
          </p:nvSpPr>
          <p:spPr bwMode="auto">
            <a:xfrm>
              <a:off x="6096000" y="4394951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21" name="Rectangle 45"/>
            <p:cNvSpPr>
              <a:spLocks noChangeArrowheads="1"/>
            </p:cNvSpPr>
            <p:nvPr/>
          </p:nvSpPr>
          <p:spPr bwMode="auto">
            <a:xfrm>
              <a:off x="4572000" y="4394951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32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24622" name="Text Box 46"/>
            <p:cNvSpPr txBox="1">
              <a:spLocks noChangeArrowheads="1"/>
            </p:cNvSpPr>
            <p:nvPr/>
          </p:nvSpPr>
          <p:spPr bwMode="auto">
            <a:xfrm>
              <a:off x="5776913" y="4388601"/>
              <a:ext cx="390148" cy="335799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16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24623" name="Freeform 47"/>
            <p:cNvSpPr/>
            <p:nvPr/>
          </p:nvSpPr>
          <p:spPr bwMode="auto">
            <a:xfrm>
              <a:off x="4648200" y="4158113"/>
              <a:ext cx="1295400" cy="228600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432" y="0"/>
                </a:cxn>
                <a:cxn ang="0">
                  <a:pos x="816" y="144"/>
                </a:cxn>
              </a:cxnLst>
              <a:rect l="0" t="0" r="r" b="b"/>
              <a:pathLst>
                <a:path w="816" h="144">
                  <a:moveTo>
                    <a:pt x="0" y="144"/>
                  </a:moveTo>
                  <a:cubicBezTo>
                    <a:pt x="148" y="72"/>
                    <a:pt x="296" y="0"/>
                    <a:pt x="432" y="0"/>
                  </a:cubicBezTo>
                  <a:cubicBezTo>
                    <a:pt x="568" y="0"/>
                    <a:pt x="692" y="72"/>
                    <a:pt x="816" y="144"/>
                  </a:cubicBezTo>
                </a:path>
              </a:pathLst>
            </a:custGeom>
            <a:noFill/>
            <a:ln w="25560">
              <a:solidFill>
                <a:schemeClr val="tx1"/>
              </a:solidFill>
              <a:prstDash val="sysDash"/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24" name="Freeform 48"/>
            <p:cNvSpPr/>
            <p:nvPr/>
          </p:nvSpPr>
          <p:spPr bwMode="auto">
            <a:xfrm>
              <a:off x="5943600" y="4234313"/>
              <a:ext cx="609600" cy="152400"/>
            </a:xfrm>
            <a:custGeom>
              <a:avLst/>
              <a:gdLst/>
              <a:ahLst/>
              <a:cxnLst>
                <a:cxn ang="0">
                  <a:pos x="0" y="96"/>
                </a:cxn>
                <a:cxn ang="0">
                  <a:pos x="192" y="0"/>
                </a:cxn>
                <a:cxn ang="0">
                  <a:pos x="384" y="96"/>
                </a:cxn>
              </a:cxnLst>
              <a:rect l="0" t="0" r="r" b="b"/>
              <a:pathLst>
                <a:path w="384" h="96">
                  <a:moveTo>
                    <a:pt x="0" y="96"/>
                  </a:moveTo>
                  <a:cubicBezTo>
                    <a:pt x="64" y="48"/>
                    <a:pt x="128" y="0"/>
                    <a:pt x="192" y="0"/>
                  </a:cubicBezTo>
                  <a:cubicBezTo>
                    <a:pt x="256" y="0"/>
                    <a:pt x="320" y="48"/>
                    <a:pt x="384" y="96"/>
                  </a:cubicBezTo>
                </a:path>
              </a:pathLst>
            </a:custGeom>
            <a:noFill/>
            <a:ln w="25560">
              <a:solidFill>
                <a:schemeClr val="tx1"/>
              </a:solidFill>
              <a:prstDash val="sysDash"/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4625" name="Text Box 49"/>
          <p:cNvSpPr txBox="1">
            <a:spLocks noChangeArrowheads="1"/>
          </p:cNvSpPr>
          <p:nvPr/>
        </p:nvSpPr>
        <p:spPr bwMode="auto">
          <a:xfrm>
            <a:off x="2365375" y="4967829"/>
            <a:ext cx="1786364" cy="329643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ourier New" panose="02070609020205020404" pitchFamily="49" charset="0"/>
              </a:rPr>
              <a:t>malloc(5*SIZ)</a:t>
            </a:r>
            <a:endParaRPr lang="en-GB" sz="1600" dirty="0">
              <a:latin typeface="Courier New" panose="02070609020205020404" pitchFamily="49" charset="0"/>
            </a:endParaRPr>
          </a:p>
        </p:txBody>
      </p:sp>
      <p:sp>
        <p:nvSpPr>
          <p:cNvPr id="24626" name="Text Box 50"/>
          <p:cNvSpPr txBox="1">
            <a:spLocks noChangeArrowheads="1"/>
          </p:cNvSpPr>
          <p:nvPr/>
        </p:nvSpPr>
        <p:spPr bwMode="auto">
          <a:xfrm>
            <a:off x="4252743" y="4890302"/>
            <a:ext cx="800517" cy="47122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2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i="1" dirty="0" smtClean="0">
                <a:solidFill>
                  <a:srgbClr val="C00000"/>
                </a:solidFill>
                <a:latin typeface="Calibri" pitchFamily="34" charset="0"/>
              </a:rPr>
              <a:t>哇！</a:t>
            </a:r>
            <a:endParaRPr lang="en-GB" i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858001" y="5079753"/>
            <a:ext cx="358784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zh-CN" altLang="en-US" i="1" dirty="0" smtClean="0">
                <a:solidFill>
                  <a:srgbClr val="C00000"/>
                </a:solidFill>
                <a:latin typeface="+mj-lt"/>
              </a:rPr>
              <a:t>有足够的连续空闲空间，</a:t>
            </a:r>
            <a:endParaRPr lang="en-US" altLang="zh-CN" i="1" dirty="0" smtClean="0">
              <a:solidFill>
                <a:srgbClr val="C00000"/>
              </a:solidFill>
              <a:latin typeface="+mj-lt"/>
            </a:endParaRPr>
          </a:p>
          <a:p>
            <a:pPr marL="0" lvl="1"/>
            <a:r>
              <a:rPr lang="zh-CN" altLang="en-US" i="1" dirty="0" smtClean="0">
                <a:solidFill>
                  <a:srgbClr val="C00000"/>
                </a:solidFill>
                <a:latin typeface="+mj-lt"/>
              </a:rPr>
              <a:t>但分配器无法找到它</a:t>
            </a:r>
            <a:endParaRPr lang="en-US" sz="1800" dirty="0">
              <a:latin typeface="+mj-lt"/>
            </a:endParaRPr>
          </a:p>
        </p:txBody>
      </p:sp>
      <p:sp>
        <p:nvSpPr>
          <p:cNvPr id="55" name="Rectangle 7"/>
          <p:cNvSpPr>
            <a:spLocks noChangeArrowheads="1"/>
          </p:cNvSpPr>
          <p:nvPr/>
        </p:nvSpPr>
        <p:spPr bwMode="auto">
          <a:xfrm>
            <a:off x="3352410" y="3402764"/>
            <a:ext cx="304800" cy="304800"/>
          </a:xfrm>
          <a:prstGeom prst="rect">
            <a:avLst/>
          </a:prstGeom>
          <a:pattFill prst="wdUpDiag">
            <a:fgClr>
              <a:schemeClr val="bg2"/>
            </a:fgClr>
            <a:bgClr>
              <a:schemeClr val="bg1"/>
            </a:bgClr>
          </a:patt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6" name="Rectangle 7"/>
          <p:cNvSpPr>
            <a:spLocks noChangeArrowheads="1"/>
          </p:cNvSpPr>
          <p:nvPr/>
        </p:nvSpPr>
        <p:spPr bwMode="auto">
          <a:xfrm>
            <a:off x="3346066" y="4386713"/>
            <a:ext cx="304800" cy="304800"/>
          </a:xfrm>
          <a:prstGeom prst="rect">
            <a:avLst/>
          </a:prstGeom>
          <a:pattFill prst="wdUpDiag">
            <a:fgClr>
              <a:schemeClr val="bg2"/>
            </a:fgClr>
            <a:bgClr>
              <a:schemeClr val="bg1"/>
            </a:bgClr>
          </a:patt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7" name="Rectangle 7"/>
          <p:cNvSpPr>
            <a:spLocks noChangeArrowheads="1"/>
          </p:cNvSpPr>
          <p:nvPr/>
        </p:nvSpPr>
        <p:spPr bwMode="auto">
          <a:xfrm>
            <a:off x="8534400" y="3404351"/>
            <a:ext cx="304800" cy="304800"/>
          </a:xfrm>
          <a:prstGeom prst="rect">
            <a:avLst/>
          </a:prstGeom>
          <a:pattFill prst="wdUpDiag">
            <a:fgClr>
              <a:schemeClr val="bg2"/>
            </a:fgClr>
            <a:bgClr>
              <a:schemeClr val="bg1"/>
            </a:bgClr>
          </a:patt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r>
              <a:rPr lang="en-US" sz="1600" b="0" dirty="0">
                <a:latin typeface="Calibri" pitchFamily="34" charset="0"/>
                <a:cs typeface="Calibri" pitchFamily="34" charset="0"/>
              </a:rPr>
              <a:t>8</a:t>
            </a:r>
            <a:endParaRPr lang="en-US" sz="16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8" name="Rectangle 7"/>
          <p:cNvSpPr>
            <a:spLocks noChangeArrowheads="1"/>
          </p:cNvSpPr>
          <p:nvPr/>
        </p:nvSpPr>
        <p:spPr bwMode="auto">
          <a:xfrm>
            <a:off x="8534400" y="4394951"/>
            <a:ext cx="304800" cy="304800"/>
          </a:xfrm>
          <a:prstGeom prst="rect">
            <a:avLst/>
          </a:prstGeom>
          <a:pattFill prst="wdUpDiag">
            <a:fgClr>
              <a:schemeClr val="bg2"/>
            </a:fgClr>
            <a:bgClr>
              <a:schemeClr val="bg1"/>
            </a:bgClr>
          </a:patt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r>
              <a:rPr lang="en-US" sz="1600" b="0" dirty="0">
                <a:latin typeface="Calibri" pitchFamily="34" charset="0"/>
                <a:cs typeface="Calibri" pitchFamily="34" charset="0"/>
              </a:rPr>
              <a:t>8</a:t>
            </a:r>
            <a:endParaRPr lang="en-US" sz="16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9" name="Freeform 40"/>
          <p:cNvSpPr/>
          <p:nvPr/>
        </p:nvSpPr>
        <p:spPr bwMode="auto">
          <a:xfrm>
            <a:off x="8079828" y="3239294"/>
            <a:ext cx="609600" cy="1524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192" y="0"/>
              </a:cxn>
              <a:cxn ang="0">
                <a:pos x="384" y="96"/>
              </a:cxn>
            </a:cxnLst>
            <a:rect l="0" t="0" r="r" b="b"/>
            <a:pathLst>
              <a:path w="384" h="96">
                <a:moveTo>
                  <a:pt x="0" y="96"/>
                </a:moveTo>
                <a:cubicBezTo>
                  <a:pt x="64" y="48"/>
                  <a:pt x="128" y="0"/>
                  <a:pt x="192" y="0"/>
                </a:cubicBezTo>
                <a:cubicBezTo>
                  <a:pt x="256" y="0"/>
                  <a:pt x="320" y="48"/>
                  <a:pt x="384" y="96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0" name="Freeform 40"/>
          <p:cNvSpPr/>
          <p:nvPr/>
        </p:nvSpPr>
        <p:spPr bwMode="auto">
          <a:xfrm>
            <a:off x="8090338" y="4216134"/>
            <a:ext cx="609600" cy="1524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192" y="0"/>
              </a:cxn>
              <a:cxn ang="0">
                <a:pos x="384" y="96"/>
              </a:cxn>
            </a:cxnLst>
            <a:rect l="0" t="0" r="r" b="b"/>
            <a:pathLst>
              <a:path w="384" h="96">
                <a:moveTo>
                  <a:pt x="0" y="96"/>
                </a:moveTo>
                <a:cubicBezTo>
                  <a:pt x="64" y="48"/>
                  <a:pt x="128" y="0"/>
                  <a:pt x="192" y="0"/>
                </a:cubicBezTo>
                <a:cubicBezTo>
                  <a:pt x="256" y="0"/>
                  <a:pt x="320" y="48"/>
                  <a:pt x="384" y="96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25" grpId="0"/>
      <p:bldP spid="24626" grpId="0"/>
      <p:bldP spid="53" grpId="0"/>
      <p:bldP spid="56" grpId="0" animBg="1"/>
      <p:bldP spid="58" grpId="0" animBg="1"/>
      <p:bldP spid="6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/>
          <p:cNvSpPr>
            <a:spLocks noGrp="1" noChangeArrowheads="1"/>
          </p:cNvSpPr>
          <p:nvPr>
            <p:ph type="title"/>
          </p:nvPr>
        </p:nvSpPr>
        <p:spPr>
          <a:xfrm>
            <a:off x="1828800" y="457201"/>
            <a:ext cx="6769100" cy="573087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dirty="0" smtClean="0"/>
              <a:t>隐式列表：合并</a:t>
            </a:r>
            <a:endParaRPr lang="en-GB" dirty="0"/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843690" y="1220788"/>
            <a:ext cx="8307387" cy="5486400"/>
          </a:xfrm>
          <a:ln>
            <a:prstDash val="sysDash"/>
          </a:ln>
        </p:spPr>
        <p:txBody>
          <a:bodyPr/>
          <a:lstStyle/>
          <a:p>
            <a:pPr>
              <a:lnSpc>
                <a:spcPct val="83000"/>
              </a:lnSpc>
              <a:spcBef>
                <a:spcPts val="1750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如果后一个</a:t>
            </a:r>
            <a:r>
              <a:rPr lang="en-US" altLang="zh-CN" dirty="0" smtClean="0"/>
              <a:t>/</a:t>
            </a:r>
            <a:r>
              <a:rPr lang="zh-CN" altLang="en-US" dirty="0"/>
              <a:t>前</a:t>
            </a:r>
            <a:r>
              <a:rPr lang="zh-CN" altLang="en-US" dirty="0" smtClean="0"/>
              <a:t>一个内存块是空闲的，就</a:t>
            </a:r>
            <a:r>
              <a:rPr lang="zh-CN" altLang="en-US" i="1" dirty="0">
                <a:solidFill>
                  <a:srgbClr val="C00000"/>
                </a:solidFill>
              </a:rPr>
              <a:t>合</a:t>
            </a:r>
            <a:r>
              <a:rPr lang="zh-CN" altLang="en-US" i="1" dirty="0" smtClean="0">
                <a:solidFill>
                  <a:srgbClr val="C00000"/>
                </a:solidFill>
              </a:rPr>
              <a:t>并 </a:t>
            </a:r>
            <a:r>
              <a:rPr lang="zh-CN" altLang="en-US" dirty="0" smtClean="0"/>
              <a:t>它们</a:t>
            </a:r>
            <a:endParaRPr lang="en-GB" dirty="0"/>
          </a:p>
          <a:p>
            <a:pPr lvl="1">
              <a:lnSpc>
                <a:spcPct val="88000"/>
              </a:lnSpc>
              <a:spcBef>
                <a:spcPts val="750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与后一个内存块合并</a:t>
            </a:r>
            <a:endParaRPr lang="en-GB" dirty="0"/>
          </a:p>
          <a:p>
            <a:pPr lvl="1">
              <a:lnSpc>
                <a:spcPct val="88000"/>
              </a:lnSpc>
              <a:spcBef>
                <a:spcPts val="750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dirty="0"/>
          </a:p>
          <a:p>
            <a:pPr marL="1144905" lvl="2" indent="-236855">
              <a:lnSpc>
                <a:spcPct val="91000"/>
              </a:lnSpc>
              <a:buSzPct val="90000"/>
              <a:buNone/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en-GB" dirty="0">
                <a:latin typeface="Courier New" panose="02070609020205020404" pitchFamily="49" charset="0"/>
              </a:rPr>
              <a:t>  </a:t>
            </a:r>
            <a:r>
              <a:rPr lang="en-GB" b="0" dirty="0">
                <a:latin typeface="Courier New" panose="02070609020205020404" pitchFamily="49" charset="0"/>
              </a:rPr>
              <a:t> </a:t>
            </a:r>
            <a:endParaRPr lang="en-GB" b="0" dirty="0">
              <a:latin typeface="Courier New" panose="02070609020205020404" pitchFamily="49" charset="0"/>
            </a:endParaRPr>
          </a:p>
          <a:p>
            <a:pPr lvl="1">
              <a:lnSpc>
                <a:spcPct val="85000"/>
              </a:lnSpc>
              <a:buNone/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b="0" dirty="0">
              <a:latin typeface="Courier New" panose="02070609020205020404" pitchFamily="49" charset="0"/>
            </a:endParaRPr>
          </a:p>
          <a:p>
            <a:pPr lvl="1">
              <a:lnSpc>
                <a:spcPct val="85000"/>
              </a:lnSpc>
              <a:buNone/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b="0" dirty="0">
              <a:latin typeface="Courier New" panose="02070609020205020404" pitchFamily="49" charset="0"/>
            </a:endParaRPr>
          </a:p>
          <a:p>
            <a:pPr lvl="1">
              <a:lnSpc>
                <a:spcPct val="88000"/>
              </a:lnSpc>
              <a:spcBef>
                <a:spcPts val="750"/>
              </a:spcBef>
              <a:buNone/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sz="2400" dirty="0"/>
          </a:p>
          <a:p>
            <a:pPr lvl="1">
              <a:lnSpc>
                <a:spcPct val="88000"/>
              </a:lnSpc>
              <a:spcBef>
                <a:spcPts val="750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dirty="0"/>
          </a:p>
        </p:txBody>
      </p:sp>
      <p:sp>
        <p:nvSpPr>
          <p:cNvPr id="25647" name="Rectangle 47"/>
          <p:cNvSpPr>
            <a:spLocks noChangeArrowheads="1"/>
          </p:cNvSpPr>
          <p:nvPr/>
        </p:nvSpPr>
        <p:spPr bwMode="auto">
          <a:xfrm>
            <a:off x="3505200" y="2597150"/>
            <a:ext cx="6477000" cy="16637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5648" name="Rectangle 48"/>
          <p:cNvSpPr>
            <a:spLocks noChangeArrowheads="1"/>
          </p:cNvSpPr>
          <p:nvPr/>
        </p:nvSpPr>
        <p:spPr bwMode="auto">
          <a:xfrm>
            <a:off x="2598738" y="2597151"/>
            <a:ext cx="7535862" cy="354013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" name="Rectangle 3"/>
          <p:cNvSpPr>
            <a:spLocks noChangeArrowheads="1"/>
          </p:cNvSpPr>
          <p:nvPr/>
        </p:nvSpPr>
        <p:spPr bwMode="auto">
          <a:xfrm>
            <a:off x="5105400" y="2413751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0" dirty="0">
                <a:latin typeface="Calibri" pitchFamily="34" charset="0"/>
                <a:cs typeface="Calibri" pitchFamily="34" charset="0"/>
              </a:rPr>
              <a:t>32</a:t>
            </a:r>
            <a:endParaRPr lang="en-GB" sz="16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5" name="Rectangle 4"/>
          <p:cNvSpPr>
            <a:spLocks noChangeArrowheads="1"/>
          </p:cNvSpPr>
          <p:nvPr/>
        </p:nvSpPr>
        <p:spPr bwMode="auto">
          <a:xfrm>
            <a:off x="5410200" y="2413751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6" name="Rectangle 5"/>
          <p:cNvSpPr>
            <a:spLocks noChangeArrowheads="1"/>
          </p:cNvSpPr>
          <p:nvPr/>
        </p:nvSpPr>
        <p:spPr bwMode="auto">
          <a:xfrm>
            <a:off x="5715000" y="2413751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7" name="Rectangle 6"/>
          <p:cNvSpPr>
            <a:spLocks noChangeArrowheads="1"/>
          </p:cNvSpPr>
          <p:nvPr/>
        </p:nvSpPr>
        <p:spPr bwMode="auto">
          <a:xfrm>
            <a:off x="6019800" y="2413751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8" name="Rectangle 7"/>
          <p:cNvSpPr>
            <a:spLocks noChangeArrowheads="1"/>
          </p:cNvSpPr>
          <p:nvPr/>
        </p:nvSpPr>
        <p:spPr bwMode="auto">
          <a:xfrm>
            <a:off x="6629400" y="2413751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9" name="Rectangle 8"/>
          <p:cNvSpPr>
            <a:spLocks noChangeArrowheads="1"/>
          </p:cNvSpPr>
          <p:nvPr/>
        </p:nvSpPr>
        <p:spPr bwMode="auto">
          <a:xfrm>
            <a:off x="6934200" y="2413751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0" name="Rectangle 9"/>
          <p:cNvSpPr>
            <a:spLocks noChangeArrowheads="1"/>
          </p:cNvSpPr>
          <p:nvPr/>
        </p:nvSpPr>
        <p:spPr bwMode="auto">
          <a:xfrm>
            <a:off x="7239000" y="2413751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1" name="Rectangle 10"/>
          <p:cNvSpPr>
            <a:spLocks noChangeArrowheads="1"/>
          </p:cNvSpPr>
          <p:nvPr/>
        </p:nvSpPr>
        <p:spPr bwMode="auto">
          <a:xfrm>
            <a:off x="7543800" y="2413751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2" name="Rectangle 11"/>
          <p:cNvSpPr>
            <a:spLocks noChangeArrowheads="1"/>
          </p:cNvSpPr>
          <p:nvPr/>
        </p:nvSpPr>
        <p:spPr bwMode="auto">
          <a:xfrm>
            <a:off x="7848600" y="2413751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3" name="Rectangle 12"/>
          <p:cNvSpPr>
            <a:spLocks noChangeArrowheads="1"/>
          </p:cNvSpPr>
          <p:nvPr/>
        </p:nvSpPr>
        <p:spPr bwMode="auto">
          <a:xfrm>
            <a:off x="8153400" y="2413751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0" dirty="0">
                <a:latin typeface="Calibri" pitchFamily="34" charset="0"/>
                <a:cs typeface="Calibri" pitchFamily="34" charset="0"/>
              </a:rPr>
              <a:t>16</a:t>
            </a:r>
            <a:endParaRPr lang="en-GB" sz="16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4" name="Rectangle 13"/>
          <p:cNvSpPr>
            <a:spLocks noChangeArrowheads="1"/>
          </p:cNvSpPr>
          <p:nvPr/>
        </p:nvSpPr>
        <p:spPr bwMode="auto">
          <a:xfrm>
            <a:off x="8458200" y="2413751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5" name="Rectangle 14"/>
          <p:cNvSpPr>
            <a:spLocks noChangeArrowheads="1"/>
          </p:cNvSpPr>
          <p:nvPr/>
        </p:nvSpPr>
        <p:spPr bwMode="auto">
          <a:xfrm>
            <a:off x="6324600" y="2413751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0" dirty="0">
                <a:latin typeface="Calibri" pitchFamily="34" charset="0"/>
                <a:cs typeface="Calibri" pitchFamily="34" charset="0"/>
              </a:rPr>
              <a:t>32</a:t>
            </a:r>
            <a:endParaRPr lang="en-GB" sz="16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6" name="Freeform 15"/>
          <p:cNvSpPr/>
          <p:nvPr/>
        </p:nvSpPr>
        <p:spPr bwMode="auto">
          <a:xfrm>
            <a:off x="5257800" y="2176913"/>
            <a:ext cx="12192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384" y="0"/>
              </a:cxn>
              <a:cxn ang="0">
                <a:pos x="768" y="144"/>
              </a:cxn>
            </a:cxnLst>
            <a:rect l="0" t="0" r="r" b="b"/>
            <a:pathLst>
              <a:path w="768" h="144">
                <a:moveTo>
                  <a:pt x="0" y="144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7" name="Text Box 16"/>
          <p:cNvSpPr txBox="1">
            <a:spLocks noChangeArrowheads="1"/>
          </p:cNvSpPr>
          <p:nvPr/>
        </p:nvSpPr>
        <p:spPr bwMode="auto">
          <a:xfrm>
            <a:off x="7554227" y="2407402"/>
            <a:ext cx="390148" cy="335799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0" dirty="0">
                <a:latin typeface="Calibri" pitchFamily="34" charset="0"/>
                <a:cs typeface="Calibri" pitchFamily="34" charset="0"/>
              </a:rPr>
              <a:t>16</a:t>
            </a:r>
            <a:endParaRPr lang="en-GB" sz="16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8" name="Freeform 17"/>
          <p:cNvSpPr/>
          <p:nvPr/>
        </p:nvSpPr>
        <p:spPr bwMode="auto">
          <a:xfrm>
            <a:off x="6400800" y="2176913"/>
            <a:ext cx="12954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432" y="0"/>
              </a:cxn>
              <a:cxn ang="0">
                <a:pos x="816" y="144"/>
              </a:cxn>
            </a:cxnLst>
            <a:rect l="0" t="0" r="r" b="b"/>
            <a:pathLst>
              <a:path w="816" h="144">
                <a:moveTo>
                  <a:pt x="0" y="144"/>
                </a:moveTo>
                <a:cubicBezTo>
                  <a:pt x="148" y="72"/>
                  <a:pt x="296" y="0"/>
                  <a:pt x="432" y="0"/>
                </a:cubicBezTo>
                <a:cubicBezTo>
                  <a:pt x="568" y="0"/>
                  <a:pt x="692" y="72"/>
                  <a:pt x="816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9" name="Freeform 18"/>
          <p:cNvSpPr/>
          <p:nvPr/>
        </p:nvSpPr>
        <p:spPr bwMode="auto">
          <a:xfrm>
            <a:off x="7696200" y="2253113"/>
            <a:ext cx="609600" cy="1524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192" y="0"/>
              </a:cxn>
              <a:cxn ang="0">
                <a:pos x="384" y="96"/>
              </a:cxn>
            </a:cxnLst>
            <a:rect l="0" t="0" r="r" b="b"/>
            <a:pathLst>
              <a:path w="384" h="96">
                <a:moveTo>
                  <a:pt x="0" y="96"/>
                </a:moveTo>
                <a:cubicBezTo>
                  <a:pt x="64" y="48"/>
                  <a:pt x="128" y="0"/>
                  <a:pt x="192" y="0"/>
                </a:cubicBezTo>
                <a:cubicBezTo>
                  <a:pt x="256" y="0"/>
                  <a:pt x="320" y="48"/>
                  <a:pt x="384" y="96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0" name="Text Box 19"/>
          <p:cNvSpPr txBox="1">
            <a:spLocks noChangeArrowheads="1"/>
          </p:cNvSpPr>
          <p:nvPr/>
        </p:nvSpPr>
        <p:spPr bwMode="auto">
          <a:xfrm>
            <a:off x="2578101" y="2872539"/>
            <a:ext cx="1045777" cy="325988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ourier New" panose="02070609020205020404" pitchFamily="49" charset="0"/>
              </a:rPr>
              <a:t>free(p)</a:t>
            </a:r>
            <a:endParaRPr lang="en-GB" sz="1600" dirty="0">
              <a:latin typeface="Courier New" panose="02070609020205020404" pitchFamily="49" charset="0"/>
            </a:endParaRPr>
          </a:p>
        </p:txBody>
      </p:sp>
      <p:sp>
        <p:nvSpPr>
          <p:cNvPr id="71" name="Text Box 20"/>
          <p:cNvSpPr txBox="1">
            <a:spLocks noChangeArrowheads="1"/>
          </p:cNvSpPr>
          <p:nvPr/>
        </p:nvSpPr>
        <p:spPr bwMode="auto">
          <a:xfrm>
            <a:off x="6326188" y="2794752"/>
            <a:ext cx="305190" cy="329643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ourier New" panose="02070609020205020404" pitchFamily="49" charset="0"/>
              </a:rPr>
              <a:t>p</a:t>
            </a:r>
            <a:endParaRPr lang="en-GB" sz="1600">
              <a:latin typeface="Courier New" panose="02070609020205020404" pitchFamily="49" charset="0"/>
            </a:endParaRPr>
          </a:p>
        </p:txBody>
      </p:sp>
      <p:sp>
        <p:nvSpPr>
          <p:cNvPr id="72" name="Line 21"/>
          <p:cNvSpPr>
            <a:spLocks noChangeShapeType="1"/>
          </p:cNvSpPr>
          <p:nvPr/>
        </p:nvSpPr>
        <p:spPr bwMode="auto">
          <a:xfrm flipV="1">
            <a:off x="6477000" y="2716965"/>
            <a:ext cx="1588" cy="155575"/>
          </a:xfrm>
          <a:prstGeom prst="line">
            <a:avLst/>
          </a:prstGeom>
          <a:noFill/>
          <a:ln w="25560">
            <a:solidFill>
              <a:srgbClr val="000066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3" name="Rectangle 22"/>
          <p:cNvSpPr>
            <a:spLocks noChangeArrowheads="1"/>
          </p:cNvSpPr>
          <p:nvPr/>
        </p:nvSpPr>
        <p:spPr bwMode="auto">
          <a:xfrm>
            <a:off x="3886200" y="3404351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0" dirty="0">
                <a:latin typeface="Calibri" pitchFamily="34" charset="0"/>
                <a:cs typeface="Calibri" pitchFamily="34" charset="0"/>
              </a:rPr>
              <a:t>32</a:t>
            </a:r>
            <a:endParaRPr lang="en-GB" sz="16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4" name="Rectangle 23"/>
          <p:cNvSpPr>
            <a:spLocks noChangeArrowheads="1"/>
          </p:cNvSpPr>
          <p:nvPr/>
        </p:nvSpPr>
        <p:spPr bwMode="auto">
          <a:xfrm>
            <a:off x="4191000" y="3404351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5" name="Rectangle 24"/>
          <p:cNvSpPr>
            <a:spLocks noChangeArrowheads="1"/>
          </p:cNvSpPr>
          <p:nvPr/>
        </p:nvSpPr>
        <p:spPr bwMode="auto">
          <a:xfrm>
            <a:off x="4495800" y="3404351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6" name="Rectangle 25"/>
          <p:cNvSpPr>
            <a:spLocks noChangeArrowheads="1"/>
          </p:cNvSpPr>
          <p:nvPr/>
        </p:nvSpPr>
        <p:spPr bwMode="auto">
          <a:xfrm>
            <a:off x="4800600" y="3404351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7" name="Rectangle 26"/>
          <p:cNvSpPr>
            <a:spLocks noChangeArrowheads="1"/>
          </p:cNvSpPr>
          <p:nvPr/>
        </p:nvSpPr>
        <p:spPr bwMode="auto">
          <a:xfrm>
            <a:off x="5105400" y="3404351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0" dirty="0">
                <a:latin typeface="Calibri" pitchFamily="34" charset="0"/>
                <a:cs typeface="Calibri" pitchFamily="34" charset="0"/>
              </a:rPr>
              <a:t>32</a:t>
            </a:r>
            <a:endParaRPr lang="en-GB" sz="16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8" name="Rectangle 27"/>
          <p:cNvSpPr>
            <a:spLocks noChangeArrowheads="1"/>
          </p:cNvSpPr>
          <p:nvPr/>
        </p:nvSpPr>
        <p:spPr bwMode="auto">
          <a:xfrm>
            <a:off x="5410200" y="3404351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9" name="Rectangle 28"/>
          <p:cNvSpPr>
            <a:spLocks noChangeArrowheads="1"/>
          </p:cNvSpPr>
          <p:nvPr/>
        </p:nvSpPr>
        <p:spPr bwMode="auto">
          <a:xfrm>
            <a:off x="5715000" y="3404351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0" name="Rectangle 29"/>
          <p:cNvSpPr>
            <a:spLocks noChangeArrowheads="1"/>
          </p:cNvSpPr>
          <p:nvPr/>
        </p:nvSpPr>
        <p:spPr bwMode="auto">
          <a:xfrm>
            <a:off x="6019800" y="3404351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1" name="Rectangle 30"/>
          <p:cNvSpPr>
            <a:spLocks noChangeArrowheads="1"/>
          </p:cNvSpPr>
          <p:nvPr/>
        </p:nvSpPr>
        <p:spPr bwMode="auto">
          <a:xfrm>
            <a:off x="8153400" y="3404351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0" dirty="0">
                <a:latin typeface="Calibri" pitchFamily="34" charset="0"/>
                <a:cs typeface="Calibri" pitchFamily="34" charset="0"/>
              </a:rPr>
              <a:t>16</a:t>
            </a:r>
            <a:endParaRPr lang="en-GB" sz="16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2" name="Rectangle 31"/>
          <p:cNvSpPr>
            <a:spLocks noChangeArrowheads="1"/>
          </p:cNvSpPr>
          <p:nvPr/>
        </p:nvSpPr>
        <p:spPr bwMode="auto">
          <a:xfrm>
            <a:off x="8458200" y="3404351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3" name="Freeform 32"/>
          <p:cNvSpPr/>
          <p:nvPr/>
        </p:nvSpPr>
        <p:spPr bwMode="auto">
          <a:xfrm>
            <a:off x="5257800" y="3167513"/>
            <a:ext cx="12192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384" y="0"/>
              </a:cxn>
              <a:cxn ang="0">
                <a:pos x="768" y="144"/>
              </a:cxn>
            </a:cxnLst>
            <a:rect l="0" t="0" r="r" b="b"/>
            <a:pathLst>
              <a:path w="768" h="144">
                <a:moveTo>
                  <a:pt x="0" y="144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4" name="Freeform 33"/>
          <p:cNvSpPr/>
          <p:nvPr/>
        </p:nvSpPr>
        <p:spPr bwMode="auto">
          <a:xfrm>
            <a:off x="4038600" y="3167513"/>
            <a:ext cx="12192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384" y="0"/>
              </a:cxn>
              <a:cxn ang="0">
                <a:pos x="768" y="144"/>
              </a:cxn>
            </a:cxnLst>
            <a:rect l="0" t="0" r="r" b="b"/>
            <a:pathLst>
              <a:path w="768" h="144">
                <a:moveTo>
                  <a:pt x="0" y="144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5" name="Rectangle 35"/>
          <p:cNvSpPr>
            <a:spLocks noChangeArrowheads="1"/>
          </p:cNvSpPr>
          <p:nvPr/>
        </p:nvSpPr>
        <p:spPr bwMode="auto">
          <a:xfrm>
            <a:off x="3886200" y="2413751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0" dirty="0">
                <a:latin typeface="Calibri" pitchFamily="34" charset="0"/>
                <a:cs typeface="Calibri" pitchFamily="34" charset="0"/>
              </a:rPr>
              <a:t>32</a:t>
            </a:r>
            <a:endParaRPr lang="en-GB" sz="16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6" name="Rectangle 36"/>
          <p:cNvSpPr>
            <a:spLocks noChangeArrowheads="1"/>
          </p:cNvSpPr>
          <p:nvPr/>
        </p:nvSpPr>
        <p:spPr bwMode="auto">
          <a:xfrm>
            <a:off x="4191000" y="2413751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7" name="Rectangle 37"/>
          <p:cNvSpPr>
            <a:spLocks noChangeArrowheads="1"/>
          </p:cNvSpPr>
          <p:nvPr/>
        </p:nvSpPr>
        <p:spPr bwMode="auto">
          <a:xfrm>
            <a:off x="4495800" y="2413751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8" name="Rectangle 38"/>
          <p:cNvSpPr>
            <a:spLocks noChangeArrowheads="1"/>
          </p:cNvSpPr>
          <p:nvPr/>
        </p:nvSpPr>
        <p:spPr bwMode="auto">
          <a:xfrm>
            <a:off x="4800600" y="2413751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9" name="Freeform 39"/>
          <p:cNvSpPr/>
          <p:nvPr/>
        </p:nvSpPr>
        <p:spPr bwMode="auto">
          <a:xfrm>
            <a:off x="4038600" y="2176913"/>
            <a:ext cx="12192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384" y="0"/>
              </a:cxn>
              <a:cxn ang="0">
                <a:pos x="768" y="144"/>
              </a:cxn>
            </a:cxnLst>
            <a:rect l="0" t="0" r="r" b="b"/>
            <a:pathLst>
              <a:path w="768" h="144">
                <a:moveTo>
                  <a:pt x="0" y="144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0" name="Rectangle 40"/>
          <p:cNvSpPr>
            <a:spLocks noChangeArrowheads="1"/>
          </p:cNvSpPr>
          <p:nvPr/>
        </p:nvSpPr>
        <p:spPr bwMode="auto">
          <a:xfrm>
            <a:off x="6629400" y="3404351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1" name="Rectangle 41"/>
          <p:cNvSpPr>
            <a:spLocks noChangeArrowheads="1"/>
          </p:cNvSpPr>
          <p:nvPr/>
        </p:nvSpPr>
        <p:spPr bwMode="auto">
          <a:xfrm>
            <a:off x="6934200" y="3404351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2" name="Rectangle 42"/>
          <p:cNvSpPr>
            <a:spLocks noChangeArrowheads="1"/>
          </p:cNvSpPr>
          <p:nvPr/>
        </p:nvSpPr>
        <p:spPr bwMode="auto">
          <a:xfrm>
            <a:off x="7239000" y="3404351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3" name="Rectangle 43"/>
          <p:cNvSpPr>
            <a:spLocks noChangeArrowheads="1"/>
          </p:cNvSpPr>
          <p:nvPr/>
        </p:nvSpPr>
        <p:spPr bwMode="auto">
          <a:xfrm>
            <a:off x="7543800" y="3404351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4" name="Rectangle 44"/>
          <p:cNvSpPr>
            <a:spLocks noChangeArrowheads="1"/>
          </p:cNvSpPr>
          <p:nvPr/>
        </p:nvSpPr>
        <p:spPr bwMode="auto">
          <a:xfrm>
            <a:off x="7848600" y="3404351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5" name="Rectangle 45"/>
          <p:cNvSpPr>
            <a:spLocks noChangeArrowheads="1"/>
          </p:cNvSpPr>
          <p:nvPr/>
        </p:nvSpPr>
        <p:spPr bwMode="auto">
          <a:xfrm>
            <a:off x="6324600" y="3404351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0" dirty="0">
                <a:latin typeface="Calibri" pitchFamily="34" charset="0"/>
                <a:cs typeface="Calibri" pitchFamily="34" charset="0"/>
              </a:rPr>
              <a:t>48</a:t>
            </a:r>
            <a:endParaRPr lang="en-GB" sz="16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6" name="Text Box 46"/>
          <p:cNvSpPr txBox="1">
            <a:spLocks noChangeArrowheads="1"/>
          </p:cNvSpPr>
          <p:nvPr/>
        </p:nvSpPr>
        <p:spPr bwMode="auto">
          <a:xfrm>
            <a:off x="7554227" y="3398002"/>
            <a:ext cx="390148" cy="335799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0" dirty="0">
                <a:latin typeface="Calibri" pitchFamily="34" charset="0"/>
                <a:cs typeface="Calibri" pitchFamily="34" charset="0"/>
              </a:rPr>
              <a:t>16</a:t>
            </a:r>
            <a:endParaRPr lang="en-GB" sz="16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7" name="Freeform 47"/>
          <p:cNvSpPr/>
          <p:nvPr/>
        </p:nvSpPr>
        <p:spPr bwMode="auto">
          <a:xfrm>
            <a:off x="6400800" y="3167513"/>
            <a:ext cx="19050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432" y="0"/>
              </a:cxn>
              <a:cxn ang="0">
                <a:pos x="816" y="144"/>
              </a:cxn>
            </a:cxnLst>
            <a:rect l="0" t="0" r="r" b="b"/>
            <a:pathLst>
              <a:path w="816" h="144">
                <a:moveTo>
                  <a:pt x="0" y="144"/>
                </a:moveTo>
                <a:cubicBezTo>
                  <a:pt x="148" y="72"/>
                  <a:pt x="296" y="0"/>
                  <a:pt x="432" y="0"/>
                </a:cubicBezTo>
                <a:cubicBezTo>
                  <a:pt x="568" y="0"/>
                  <a:pt x="692" y="72"/>
                  <a:pt x="816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9" name="TextBox 98"/>
          <p:cNvSpPr txBox="1"/>
          <p:nvPr/>
        </p:nvSpPr>
        <p:spPr>
          <a:xfrm>
            <a:off x="9323196" y="2570831"/>
            <a:ext cx="9589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i="1" dirty="0" smtClean="0">
                <a:solidFill>
                  <a:srgbClr val="C00000"/>
                </a:solidFill>
                <a:latin typeface="Calibri" pitchFamily="34" charset="0"/>
              </a:rPr>
              <a:t>逻辑上</a:t>
            </a:r>
            <a:endParaRPr lang="en-US" altLang="zh-CN" sz="2000" i="1" dirty="0" smtClean="0">
              <a:solidFill>
                <a:srgbClr val="C00000"/>
              </a:solidFill>
              <a:latin typeface="Calibri" pitchFamily="34" charset="0"/>
            </a:endParaRPr>
          </a:p>
          <a:p>
            <a:r>
              <a:rPr lang="zh-CN" altLang="en-US" sz="2000" i="1" dirty="0" smtClean="0">
                <a:solidFill>
                  <a:srgbClr val="C00000"/>
                </a:solidFill>
                <a:latin typeface="Calibri" pitchFamily="34" charset="0"/>
              </a:rPr>
              <a:t>消失了</a:t>
            </a:r>
            <a:endParaRPr lang="en-US" sz="2000" i="1" dirty="0">
              <a:solidFill>
                <a:srgbClr val="C00000"/>
              </a:solidFill>
              <a:latin typeface="Calibri" pitchFamily="34" charset="0"/>
            </a:endParaRPr>
          </a:p>
        </p:txBody>
      </p:sp>
      <p:cxnSp>
        <p:nvCxnSpPr>
          <p:cNvPr id="101" name="Straight Arrow Connector 100"/>
          <p:cNvCxnSpPr>
            <a:stCxn id="99" idx="1"/>
            <a:endCxn id="96" idx="0"/>
          </p:cNvCxnSpPr>
          <p:nvPr/>
        </p:nvCxnSpPr>
        <p:spPr bwMode="auto">
          <a:xfrm flipH="1">
            <a:off x="7749301" y="2924774"/>
            <a:ext cx="1573895" cy="473228"/>
          </a:xfrm>
          <a:prstGeom prst="straightConnector1">
            <a:avLst/>
          </a:prstGeom>
          <a:noFill/>
          <a:ln w="28575">
            <a:solidFill>
              <a:srgbClr val="C00000"/>
            </a:solidFill>
            <a:miter lim="800000"/>
            <a:headEnd type="none" w="med" len="med"/>
            <a:tailEnd type="arrow"/>
          </a:ln>
          <a:effectLst/>
        </p:spPr>
      </p:cxnSp>
      <p:sp>
        <p:nvSpPr>
          <p:cNvPr id="53" name="Rectangle 7"/>
          <p:cNvSpPr>
            <a:spLocks noChangeArrowheads="1"/>
          </p:cNvSpPr>
          <p:nvPr/>
        </p:nvSpPr>
        <p:spPr bwMode="auto">
          <a:xfrm>
            <a:off x="3572981" y="2407401"/>
            <a:ext cx="304800" cy="304800"/>
          </a:xfrm>
          <a:prstGeom prst="rect">
            <a:avLst/>
          </a:prstGeom>
          <a:pattFill prst="wdUpDiag">
            <a:fgClr>
              <a:schemeClr val="bg2"/>
            </a:fgClr>
            <a:bgClr>
              <a:schemeClr val="bg1"/>
            </a:bgClr>
          </a:patt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8" name="Rectangle 7"/>
          <p:cNvSpPr>
            <a:spLocks noChangeArrowheads="1"/>
          </p:cNvSpPr>
          <p:nvPr/>
        </p:nvSpPr>
        <p:spPr bwMode="auto">
          <a:xfrm>
            <a:off x="3581400" y="3398450"/>
            <a:ext cx="304800" cy="304800"/>
          </a:xfrm>
          <a:prstGeom prst="rect">
            <a:avLst/>
          </a:prstGeom>
          <a:pattFill prst="wdUpDiag">
            <a:fgClr>
              <a:schemeClr val="bg2"/>
            </a:fgClr>
            <a:bgClr>
              <a:schemeClr val="bg1"/>
            </a:bgClr>
          </a:patt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00" name="Rectangle 7"/>
          <p:cNvSpPr>
            <a:spLocks noChangeArrowheads="1"/>
          </p:cNvSpPr>
          <p:nvPr/>
        </p:nvSpPr>
        <p:spPr bwMode="auto">
          <a:xfrm>
            <a:off x="8771419" y="2411738"/>
            <a:ext cx="304800" cy="304800"/>
          </a:xfrm>
          <a:prstGeom prst="rect">
            <a:avLst/>
          </a:prstGeom>
          <a:pattFill prst="wdUpDiag">
            <a:fgClr>
              <a:schemeClr val="bg2"/>
            </a:fgClr>
            <a:bgClr>
              <a:schemeClr val="bg1"/>
            </a:bgClr>
          </a:patt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r>
              <a:rPr lang="en-US" sz="1600" b="0" dirty="0">
                <a:latin typeface="Calibri" pitchFamily="34" charset="0"/>
                <a:cs typeface="Calibri" pitchFamily="34" charset="0"/>
              </a:rPr>
              <a:t>8</a:t>
            </a:r>
            <a:endParaRPr lang="en-US" sz="16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02" name="Rectangle 7"/>
          <p:cNvSpPr>
            <a:spLocks noChangeArrowheads="1"/>
          </p:cNvSpPr>
          <p:nvPr/>
        </p:nvSpPr>
        <p:spPr bwMode="auto">
          <a:xfrm>
            <a:off x="8771419" y="3404351"/>
            <a:ext cx="304800" cy="304800"/>
          </a:xfrm>
          <a:prstGeom prst="rect">
            <a:avLst/>
          </a:prstGeom>
          <a:pattFill prst="wdUpDiag">
            <a:fgClr>
              <a:schemeClr val="bg2"/>
            </a:fgClr>
            <a:bgClr>
              <a:schemeClr val="bg1"/>
            </a:bgClr>
          </a:patt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r>
              <a:rPr lang="en-US" sz="1600" b="0" dirty="0">
                <a:latin typeface="Calibri" pitchFamily="34" charset="0"/>
                <a:cs typeface="Calibri" pitchFamily="34" charset="0"/>
              </a:rPr>
              <a:t>1</a:t>
            </a:r>
            <a:endParaRPr lang="en-US" sz="16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03" name="Freeform 18"/>
          <p:cNvSpPr/>
          <p:nvPr/>
        </p:nvSpPr>
        <p:spPr bwMode="auto">
          <a:xfrm>
            <a:off x="8327685" y="2232299"/>
            <a:ext cx="609600" cy="1524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192" y="0"/>
              </a:cxn>
              <a:cxn ang="0">
                <a:pos x="384" y="96"/>
              </a:cxn>
            </a:cxnLst>
            <a:rect l="0" t="0" r="r" b="b"/>
            <a:pathLst>
              <a:path w="384" h="96">
                <a:moveTo>
                  <a:pt x="0" y="96"/>
                </a:moveTo>
                <a:cubicBezTo>
                  <a:pt x="64" y="48"/>
                  <a:pt x="128" y="0"/>
                  <a:pt x="192" y="0"/>
                </a:cubicBezTo>
                <a:cubicBezTo>
                  <a:pt x="256" y="0"/>
                  <a:pt x="320" y="48"/>
                  <a:pt x="384" y="96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04" name="Freeform 18"/>
          <p:cNvSpPr/>
          <p:nvPr/>
        </p:nvSpPr>
        <p:spPr bwMode="auto">
          <a:xfrm>
            <a:off x="8327685" y="3230187"/>
            <a:ext cx="609600" cy="1524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192" y="0"/>
              </a:cxn>
              <a:cxn ang="0">
                <a:pos x="384" y="96"/>
              </a:cxn>
            </a:cxnLst>
            <a:rect l="0" t="0" r="r" b="b"/>
            <a:pathLst>
              <a:path w="384" h="96">
                <a:moveTo>
                  <a:pt x="0" y="96"/>
                </a:moveTo>
                <a:cubicBezTo>
                  <a:pt x="64" y="48"/>
                  <a:pt x="128" y="0"/>
                  <a:pt x="192" y="0"/>
                </a:cubicBezTo>
                <a:cubicBezTo>
                  <a:pt x="256" y="0"/>
                  <a:pt x="320" y="48"/>
                  <a:pt x="384" y="96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791796" y="1219200"/>
            <a:ext cx="8307387" cy="5486400"/>
          </a:xfrm>
          <a:ln>
            <a:prstDash val="sysDash"/>
          </a:ln>
        </p:spPr>
        <p:txBody>
          <a:bodyPr/>
          <a:lstStyle/>
          <a:p>
            <a:pPr>
              <a:lnSpc>
                <a:spcPct val="83000"/>
              </a:lnSpc>
              <a:spcBef>
                <a:spcPts val="1750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如果后一个内存块是空闲的，就</a:t>
            </a:r>
            <a:r>
              <a:rPr lang="zh-CN" altLang="en-US" i="1" dirty="0">
                <a:solidFill>
                  <a:srgbClr val="C00000"/>
                </a:solidFill>
              </a:rPr>
              <a:t>合</a:t>
            </a:r>
            <a:r>
              <a:rPr lang="zh-CN" altLang="en-US" i="1" dirty="0" smtClean="0">
                <a:solidFill>
                  <a:srgbClr val="C00000"/>
                </a:solidFill>
              </a:rPr>
              <a:t>并 </a:t>
            </a:r>
            <a:r>
              <a:rPr lang="zh-CN" altLang="en-US" dirty="0" smtClean="0"/>
              <a:t>它</a:t>
            </a:r>
            <a:endParaRPr lang="en-GB" dirty="0"/>
          </a:p>
          <a:p>
            <a:pPr lvl="1">
              <a:lnSpc>
                <a:spcPct val="88000"/>
              </a:lnSpc>
              <a:spcBef>
                <a:spcPts val="750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与后一个内存块合并</a:t>
            </a:r>
            <a:endParaRPr lang="en-GB" dirty="0"/>
          </a:p>
          <a:p>
            <a:pPr lvl="1">
              <a:lnSpc>
                <a:spcPct val="88000"/>
              </a:lnSpc>
              <a:spcBef>
                <a:spcPts val="750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dirty="0"/>
          </a:p>
          <a:p>
            <a:pPr marL="1144905" lvl="2" indent="-236855">
              <a:lnSpc>
                <a:spcPct val="91000"/>
              </a:lnSpc>
              <a:buSzPct val="90000"/>
              <a:buNone/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en-GB" dirty="0">
                <a:latin typeface="Courier New" panose="02070609020205020404" pitchFamily="49" charset="0"/>
              </a:rPr>
              <a:t>  </a:t>
            </a:r>
            <a:r>
              <a:rPr lang="en-GB" b="0" dirty="0">
                <a:latin typeface="Courier New" panose="02070609020205020404" pitchFamily="49" charset="0"/>
              </a:rPr>
              <a:t> </a:t>
            </a:r>
            <a:endParaRPr lang="en-GB" b="0" dirty="0">
              <a:latin typeface="Courier New" panose="02070609020205020404" pitchFamily="49" charset="0"/>
            </a:endParaRPr>
          </a:p>
          <a:p>
            <a:pPr lvl="1">
              <a:lnSpc>
                <a:spcPct val="85000"/>
              </a:lnSpc>
              <a:buNone/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b="0" dirty="0">
              <a:latin typeface="Courier New" panose="02070609020205020404" pitchFamily="49" charset="0"/>
            </a:endParaRPr>
          </a:p>
          <a:p>
            <a:pPr lvl="1">
              <a:lnSpc>
                <a:spcPct val="85000"/>
              </a:lnSpc>
              <a:buNone/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b="0" dirty="0">
              <a:latin typeface="Courier New" panose="02070609020205020404" pitchFamily="49" charset="0"/>
            </a:endParaRPr>
          </a:p>
          <a:p>
            <a:pPr lvl="1">
              <a:lnSpc>
                <a:spcPct val="85000"/>
              </a:lnSpc>
              <a:buNone/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b="0" dirty="0">
              <a:latin typeface="Courier New" panose="02070609020205020404" pitchFamily="49" charset="0"/>
            </a:endParaRPr>
          </a:p>
          <a:p>
            <a:pPr lvl="1">
              <a:lnSpc>
                <a:spcPct val="85000"/>
              </a:lnSpc>
              <a:buNone/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b="0" dirty="0">
              <a:latin typeface="Courier New" panose="02070609020205020404" pitchFamily="49" charset="0"/>
            </a:endParaRPr>
          </a:p>
          <a:p>
            <a:pPr lvl="1">
              <a:lnSpc>
                <a:spcPct val="88000"/>
              </a:lnSpc>
              <a:spcBef>
                <a:spcPts val="750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dirty="0"/>
          </a:p>
          <a:p>
            <a:pPr lvl="1">
              <a:lnSpc>
                <a:spcPct val="88000"/>
              </a:lnSpc>
              <a:spcBef>
                <a:spcPts val="750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如何与</a:t>
            </a:r>
            <a:r>
              <a:rPr lang="zh-CN" altLang="en-US" i="1" dirty="0" smtClean="0"/>
              <a:t>前一个</a:t>
            </a:r>
            <a:r>
              <a:rPr lang="en-GB" dirty="0" smtClean="0"/>
              <a:t> </a:t>
            </a:r>
            <a:r>
              <a:rPr lang="zh-CN" altLang="en-US" dirty="0" smtClean="0"/>
              <a:t>内存块合并？</a:t>
            </a:r>
            <a:endParaRPr lang="en-GB" dirty="0"/>
          </a:p>
          <a:p>
            <a:pPr lvl="2">
              <a:lnSpc>
                <a:spcPct val="88000"/>
              </a:lnSpc>
              <a:spcBef>
                <a:spcPts val="750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如何知道这个内存块从哪里开始？</a:t>
            </a:r>
            <a:endParaRPr lang="en-GB" dirty="0"/>
          </a:p>
          <a:p>
            <a:pPr lvl="2">
              <a:lnSpc>
                <a:spcPct val="88000"/>
              </a:lnSpc>
              <a:spcBef>
                <a:spcPts val="750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如何判断它是否已分配？</a:t>
            </a:r>
            <a:endParaRPr lang="en-GB" dirty="0"/>
          </a:p>
        </p:txBody>
      </p:sp>
      <p:sp>
        <p:nvSpPr>
          <p:cNvPr id="25647" name="Rectangle 47"/>
          <p:cNvSpPr>
            <a:spLocks noChangeArrowheads="1"/>
          </p:cNvSpPr>
          <p:nvPr/>
        </p:nvSpPr>
        <p:spPr bwMode="auto">
          <a:xfrm>
            <a:off x="3505200" y="2597150"/>
            <a:ext cx="6477000" cy="16637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5648" name="Rectangle 48"/>
          <p:cNvSpPr>
            <a:spLocks noChangeArrowheads="1"/>
          </p:cNvSpPr>
          <p:nvPr/>
        </p:nvSpPr>
        <p:spPr bwMode="auto">
          <a:xfrm>
            <a:off x="2598738" y="2597151"/>
            <a:ext cx="7535862" cy="354013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" name="Rectangle 3"/>
          <p:cNvSpPr>
            <a:spLocks noChangeArrowheads="1"/>
          </p:cNvSpPr>
          <p:nvPr/>
        </p:nvSpPr>
        <p:spPr bwMode="auto">
          <a:xfrm>
            <a:off x="5105400" y="2413751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6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5" name="Rectangle 4"/>
          <p:cNvSpPr>
            <a:spLocks noChangeArrowheads="1"/>
          </p:cNvSpPr>
          <p:nvPr/>
        </p:nvSpPr>
        <p:spPr bwMode="auto">
          <a:xfrm>
            <a:off x="5410200" y="2413751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6" name="Rectangle 5"/>
          <p:cNvSpPr>
            <a:spLocks noChangeArrowheads="1"/>
          </p:cNvSpPr>
          <p:nvPr/>
        </p:nvSpPr>
        <p:spPr bwMode="auto">
          <a:xfrm>
            <a:off x="5715000" y="2413751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7" name="Rectangle 6"/>
          <p:cNvSpPr>
            <a:spLocks noChangeArrowheads="1"/>
          </p:cNvSpPr>
          <p:nvPr/>
        </p:nvSpPr>
        <p:spPr bwMode="auto">
          <a:xfrm>
            <a:off x="6019800" y="2413751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8" name="Rectangle 7"/>
          <p:cNvSpPr>
            <a:spLocks noChangeArrowheads="1"/>
          </p:cNvSpPr>
          <p:nvPr/>
        </p:nvSpPr>
        <p:spPr bwMode="auto">
          <a:xfrm>
            <a:off x="6629400" y="2413751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9" name="Rectangle 8"/>
          <p:cNvSpPr>
            <a:spLocks noChangeArrowheads="1"/>
          </p:cNvSpPr>
          <p:nvPr/>
        </p:nvSpPr>
        <p:spPr bwMode="auto">
          <a:xfrm>
            <a:off x="6934200" y="2413751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0" name="Rectangle 9"/>
          <p:cNvSpPr>
            <a:spLocks noChangeArrowheads="1"/>
          </p:cNvSpPr>
          <p:nvPr/>
        </p:nvSpPr>
        <p:spPr bwMode="auto">
          <a:xfrm>
            <a:off x="7239000" y="2413751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1" name="Rectangle 10"/>
          <p:cNvSpPr>
            <a:spLocks noChangeArrowheads="1"/>
          </p:cNvSpPr>
          <p:nvPr/>
        </p:nvSpPr>
        <p:spPr bwMode="auto">
          <a:xfrm>
            <a:off x="7543800" y="2413751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2" name="Rectangle 11"/>
          <p:cNvSpPr>
            <a:spLocks noChangeArrowheads="1"/>
          </p:cNvSpPr>
          <p:nvPr/>
        </p:nvSpPr>
        <p:spPr bwMode="auto">
          <a:xfrm>
            <a:off x="7848600" y="2413751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3" name="Rectangle 12"/>
          <p:cNvSpPr>
            <a:spLocks noChangeArrowheads="1"/>
          </p:cNvSpPr>
          <p:nvPr/>
        </p:nvSpPr>
        <p:spPr bwMode="auto">
          <a:xfrm>
            <a:off x="8153400" y="2413751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0" dirty="0">
                <a:latin typeface="Calibri" pitchFamily="34" charset="0"/>
                <a:cs typeface="Calibri" pitchFamily="34" charset="0"/>
              </a:rPr>
              <a:t>16</a:t>
            </a:r>
            <a:endParaRPr lang="en-GB" sz="16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4" name="Rectangle 13"/>
          <p:cNvSpPr>
            <a:spLocks noChangeArrowheads="1"/>
          </p:cNvSpPr>
          <p:nvPr/>
        </p:nvSpPr>
        <p:spPr bwMode="auto">
          <a:xfrm>
            <a:off x="8458200" y="2413751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5" name="Rectangle 14"/>
          <p:cNvSpPr>
            <a:spLocks noChangeArrowheads="1"/>
          </p:cNvSpPr>
          <p:nvPr/>
        </p:nvSpPr>
        <p:spPr bwMode="auto">
          <a:xfrm>
            <a:off x="6324600" y="2413751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0" dirty="0">
                <a:latin typeface="Calibri" pitchFamily="34" charset="0"/>
                <a:cs typeface="Calibri" pitchFamily="34" charset="0"/>
              </a:rPr>
              <a:t>32</a:t>
            </a:r>
            <a:endParaRPr lang="en-GB" sz="16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7" name="Text Box 16"/>
          <p:cNvSpPr txBox="1">
            <a:spLocks noChangeArrowheads="1"/>
          </p:cNvSpPr>
          <p:nvPr/>
        </p:nvSpPr>
        <p:spPr bwMode="auto">
          <a:xfrm>
            <a:off x="7554227" y="2407402"/>
            <a:ext cx="390148" cy="335799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0" dirty="0">
                <a:latin typeface="Calibri" pitchFamily="34" charset="0"/>
                <a:cs typeface="Calibri" pitchFamily="34" charset="0"/>
              </a:rPr>
              <a:t>16</a:t>
            </a:r>
            <a:endParaRPr lang="en-GB" sz="16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8" name="Freeform 17"/>
          <p:cNvSpPr/>
          <p:nvPr/>
        </p:nvSpPr>
        <p:spPr bwMode="auto">
          <a:xfrm>
            <a:off x="6400800" y="2176913"/>
            <a:ext cx="12954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432" y="0"/>
              </a:cxn>
              <a:cxn ang="0">
                <a:pos x="816" y="144"/>
              </a:cxn>
            </a:cxnLst>
            <a:rect l="0" t="0" r="r" b="b"/>
            <a:pathLst>
              <a:path w="816" h="144">
                <a:moveTo>
                  <a:pt x="0" y="144"/>
                </a:moveTo>
                <a:cubicBezTo>
                  <a:pt x="148" y="72"/>
                  <a:pt x="296" y="0"/>
                  <a:pt x="432" y="0"/>
                </a:cubicBezTo>
                <a:cubicBezTo>
                  <a:pt x="568" y="0"/>
                  <a:pt x="692" y="72"/>
                  <a:pt x="816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9" name="Freeform 18"/>
          <p:cNvSpPr/>
          <p:nvPr/>
        </p:nvSpPr>
        <p:spPr bwMode="auto">
          <a:xfrm>
            <a:off x="7696200" y="2253113"/>
            <a:ext cx="609600" cy="1524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192" y="0"/>
              </a:cxn>
              <a:cxn ang="0">
                <a:pos x="384" y="96"/>
              </a:cxn>
            </a:cxnLst>
            <a:rect l="0" t="0" r="r" b="b"/>
            <a:pathLst>
              <a:path w="384" h="96">
                <a:moveTo>
                  <a:pt x="0" y="96"/>
                </a:moveTo>
                <a:cubicBezTo>
                  <a:pt x="64" y="48"/>
                  <a:pt x="128" y="0"/>
                  <a:pt x="192" y="0"/>
                </a:cubicBezTo>
                <a:cubicBezTo>
                  <a:pt x="256" y="0"/>
                  <a:pt x="320" y="48"/>
                  <a:pt x="384" y="96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0" name="Text Box 19"/>
          <p:cNvSpPr txBox="1">
            <a:spLocks noChangeArrowheads="1"/>
          </p:cNvSpPr>
          <p:nvPr/>
        </p:nvSpPr>
        <p:spPr bwMode="auto">
          <a:xfrm>
            <a:off x="2578101" y="2872539"/>
            <a:ext cx="1045777" cy="325988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ourier New" panose="02070609020205020404" pitchFamily="49" charset="0"/>
              </a:rPr>
              <a:t>free(p)</a:t>
            </a:r>
            <a:endParaRPr lang="en-GB" sz="1600" dirty="0">
              <a:latin typeface="Courier New" panose="02070609020205020404" pitchFamily="49" charset="0"/>
            </a:endParaRPr>
          </a:p>
        </p:txBody>
      </p:sp>
      <p:sp>
        <p:nvSpPr>
          <p:cNvPr id="71" name="Text Box 20"/>
          <p:cNvSpPr txBox="1">
            <a:spLocks noChangeArrowheads="1"/>
          </p:cNvSpPr>
          <p:nvPr/>
        </p:nvSpPr>
        <p:spPr bwMode="auto">
          <a:xfrm>
            <a:off x="6326188" y="2794752"/>
            <a:ext cx="305190" cy="329643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>
                <a:latin typeface="Courier New" panose="02070609020205020404" pitchFamily="49" charset="0"/>
              </a:rPr>
              <a:t>p</a:t>
            </a:r>
            <a:endParaRPr lang="en-GB" sz="1600">
              <a:latin typeface="Courier New" panose="02070609020205020404" pitchFamily="49" charset="0"/>
            </a:endParaRPr>
          </a:p>
        </p:txBody>
      </p:sp>
      <p:sp>
        <p:nvSpPr>
          <p:cNvPr id="72" name="Line 21"/>
          <p:cNvSpPr>
            <a:spLocks noChangeShapeType="1"/>
          </p:cNvSpPr>
          <p:nvPr/>
        </p:nvSpPr>
        <p:spPr bwMode="auto">
          <a:xfrm flipV="1">
            <a:off x="6477000" y="2716965"/>
            <a:ext cx="1588" cy="155575"/>
          </a:xfrm>
          <a:prstGeom prst="line">
            <a:avLst/>
          </a:prstGeom>
          <a:noFill/>
          <a:ln w="25560">
            <a:solidFill>
              <a:srgbClr val="000066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" name="Rectangle 22"/>
          <p:cNvSpPr>
            <a:spLocks noChangeArrowheads="1"/>
          </p:cNvSpPr>
          <p:nvPr/>
        </p:nvSpPr>
        <p:spPr bwMode="auto">
          <a:xfrm>
            <a:off x="3886200" y="3404351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0" dirty="0">
                <a:latin typeface="Calibri" pitchFamily="34" charset="0"/>
                <a:cs typeface="Calibri" pitchFamily="34" charset="0"/>
              </a:rPr>
              <a:t>64</a:t>
            </a:r>
            <a:endParaRPr lang="en-GB" sz="16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4" name="Rectangle 23"/>
          <p:cNvSpPr>
            <a:spLocks noChangeArrowheads="1"/>
          </p:cNvSpPr>
          <p:nvPr/>
        </p:nvSpPr>
        <p:spPr bwMode="auto">
          <a:xfrm>
            <a:off x="4191000" y="3404351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5" name="Rectangle 24"/>
          <p:cNvSpPr>
            <a:spLocks noChangeArrowheads="1"/>
          </p:cNvSpPr>
          <p:nvPr/>
        </p:nvSpPr>
        <p:spPr bwMode="auto">
          <a:xfrm>
            <a:off x="4495800" y="3404351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6" name="Rectangle 25"/>
          <p:cNvSpPr>
            <a:spLocks noChangeArrowheads="1"/>
          </p:cNvSpPr>
          <p:nvPr/>
        </p:nvSpPr>
        <p:spPr bwMode="auto">
          <a:xfrm>
            <a:off x="4800600" y="3404351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7" name="Rectangle 26"/>
          <p:cNvSpPr>
            <a:spLocks noChangeArrowheads="1"/>
          </p:cNvSpPr>
          <p:nvPr/>
        </p:nvSpPr>
        <p:spPr bwMode="auto">
          <a:xfrm>
            <a:off x="5105400" y="3404351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6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8" name="Rectangle 27"/>
          <p:cNvSpPr>
            <a:spLocks noChangeArrowheads="1"/>
          </p:cNvSpPr>
          <p:nvPr/>
        </p:nvSpPr>
        <p:spPr bwMode="auto">
          <a:xfrm>
            <a:off x="5410200" y="3404351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9" name="Rectangle 28"/>
          <p:cNvSpPr>
            <a:spLocks noChangeArrowheads="1"/>
          </p:cNvSpPr>
          <p:nvPr/>
        </p:nvSpPr>
        <p:spPr bwMode="auto">
          <a:xfrm>
            <a:off x="5715000" y="3404351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0" name="Rectangle 29"/>
          <p:cNvSpPr>
            <a:spLocks noChangeArrowheads="1"/>
          </p:cNvSpPr>
          <p:nvPr/>
        </p:nvSpPr>
        <p:spPr bwMode="auto">
          <a:xfrm>
            <a:off x="6019800" y="3404351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1" name="Rectangle 30"/>
          <p:cNvSpPr>
            <a:spLocks noChangeArrowheads="1"/>
          </p:cNvSpPr>
          <p:nvPr/>
        </p:nvSpPr>
        <p:spPr bwMode="auto">
          <a:xfrm>
            <a:off x="8153400" y="3404351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0" dirty="0">
                <a:latin typeface="Calibri" pitchFamily="34" charset="0"/>
                <a:cs typeface="Calibri" pitchFamily="34" charset="0"/>
              </a:rPr>
              <a:t>16</a:t>
            </a:r>
            <a:endParaRPr lang="en-GB" sz="16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2" name="Rectangle 31"/>
          <p:cNvSpPr>
            <a:spLocks noChangeArrowheads="1"/>
          </p:cNvSpPr>
          <p:nvPr/>
        </p:nvSpPr>
        <p:spPr bwMode="auto">
          <a:xfrm>
            <a:off x="8458200" y="3404351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4" name="Freeform 33"/>
          <p:cNvSpPr/>
          <p:nvPr/>
        </p:nvSpPr>
        <p:spPr bwMode="auto">
          <a:xfrm>
            <a:off x="4038600" y="3167513"/>
            <a:ext cx="23622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384" y="0"/>
              </a:cxn>
              <a:cxn ang="0">
                <a:pos x="768" y="144"/>
              </a:cxn>
            </a:cxnLst>
            <a:rect l="0" t="0" r="r" b="b"/>
            <a:pathLst>
              <a:path w="768" h="144">
                <a:moveTo>
                  <a:pt x="0" y="144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5" name="Rectangle 35"/>
          <p:cNvSpPr>
            <a:spLocks noChangeArrowheads="1"/>
          </p:cNvSpPr>
          <p:nvPr/>
        </p:nvSpPr>
        <p:spPr bwMode="auto">
          <a:xfrm>
            <a:off x="3886200" y="2413751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0" dirty="0">
                <a:latin typeface="Calibri" pitchFamily="34" charset="0"/>
                <a:cs typeface="Calibri" pitchFamily="34" charset="0"/>
              </a:rPr>
              <a:t>64</a:t>
            </a:r>
            <a:endParaRPr lang="en-GB" sz="16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6" name="Rectangle 36"/>
          <p:cNvSpPr>
            <a:spLocks noChangeArrowheads="1"/>
          </p:cNvSpPr>
          <p:nvPr/>
        </p:nvSpPr>
        <p:spPr bwMode="auto">
          <a:xfrm>
            <a:off x="4191000" y="2413751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7" name="Rectangle 37"/>
          <p:cNvSpPr>
            <a:spLocks noChangeArrowheads="1"/>
          </p:cNvSpPr>
          <p:nvPr/>
        </p:nvSpPr>
        <p:spPr bwMode="auto">
          <a:xfrm>
            <a:off x="4495800" y="2413751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8" name="Rectangle 38"/>
          <p:cNvSpPr>
            <a:spLocks noChangeArrowheads="1"/>
          </p:cNvSpPr>
          <p:nvPr/>
        </p:nvSpPr>
        <p:spPr bwMode="auto">
          <a:xfrm>
            <a:off x="4800600" y="2413751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9" name="Freeform 39"/>
          <p:cNvSpPr/>
          <p:nvPr/>
        </p:nvSpPr>
        <p:spPr bwMode="auto">
          <a:xfrm>
            <a:off x="4038600" y="2176913"/>
            <a:ext cx="23622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384" y="0"/>
              </a:cxn>
              <a:cxn ang="0">
                <a:pos x="768" y="144"/>
              </a:cxn>
            </a:cxnLst>
            <a:rect l="0" t="0" r="r" b="b"/>
            <a:pathLst>
              <a:path w="768" h="144">
                <a:moveTo>
                  <a:pt x="0" y="144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0" name="Rectangle 40"/>
          <p:cNvSpPr>
            <a:spLocks noChangeArrowheads="1"/>
          </p:cNvSpPr>
          <p:nvPr/>
        </p:nvSpPr>
        <p:spPr bwMode="auto">
          <a:xfrm>
            <a:off x="6629400" y="3404351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1" name="Rectangle 41"/>
          <p:cNvSpPr>
            <a:spLocks noChangeArrowheads="1"/>
          </p:cNvSpPr>
          <p:nvPr/>
        </p:nvSpPr>
        <p:spPr bwMode="auto">
          <a:xfrm>
            <a:off x="6934200" y="3404351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2" name="Rectangle 42"/>
          <p:cNvSpPr>
            <a:spLocks noChangeArrowheads="1"/>
          </p:cNvSpPr>
          <p:nvPr/>
        </p:nvSpPr>
        <p:spPr bwMode="auto">
          <a:xfrm>
            <a:off x="7239000" y="3404351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3" name="Rectangle 43"/>
          <p:cNvSpPr>
            <a:spLocks noChangeArrowheads="1"/>
          </p:cNvSpPr>
          <p:nvPr/>
        </p:nvSpPr>
        <p:spPr bwMode="auto">
          <a:xfrm>
            <a:off x="7543800" y="3404351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4" name="Rectangle 44"/>
          <p:cNvSpPr>
            <a:spLocks noChangeArrowheads="1"/>
          </p:cNvSpPr>
          <p:nvPr/>
        </p:nvSpPr>
        <p:spPr bwMode="auto">
          <a:xfrm>
            <a:off x="7848600" y="3404351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5" name="Rectangle 45"/>
          <p:cNvSpPr>
            <a:spLocks noChangeArrowheads="1"/>
          </p:cNvSpPr>
          <p:nvPr/>
        </p:nvSpPr>
        <p:spPr bwMode="auto">
          <a:xfrm>
            <a:off x="6324600" y="3404351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0" dirty="0">
                <a:latin typeface="Calibri" pitchFamily="34" charset="0"/>
                <a:cs typeface="Calibri" pitchFamily="34" charset="0"/>
              </a:rPr>
              <a:t>48</a:t>
            </a:r>
            <a:endParaRPr lang="en-GB" sz="16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6" name="Text Box 46"/>
          <p:cNvSpPr txBox="1">
            <a:spLocks noChangeArrowheads="1"/>
          </p:cNvSpPr>
          <p:nvPr/>
        </p:nvSpPr>
        <p:spPr bwMode="auto">
          <a:xfrm>
            <a:off x="7554227" y="3398002"/>
            <a:ext cx="390148" cy="335799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0" dirty="0">
                <a:latin typeface="Calibri" pitchFamily="34" charset="0"/>
                <a:cs typeface="Calibri" pitchFamily="34" charset="0"/>
              </a:rPr>
              <a:t>16</a:t>
            </a:r>
            <a:endParaRPr lang="en-GB" sz="16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7" name="Freeform 47"/>
          <p:cNvSpPr/>
          <p:nvPr/>
        </p:nvSpPr>
        <p:spPr bwMode="auto">
          <a:xfrm>
            <a:off x="6400800" y="3167513"/>
            <a:ext cx="19050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432" y="0"/>
              </a:cxn>
              <a:cxn ang="0">
                <a:pos x="816" y="144"/>
              </a:cxn>
            </a:cxnLst>
            <a:rect l="0" t="0" r="r" b="b"/>
            <a:pathLst>
              <a:path w="816" h="144">
                <a:moveTo>
                  <a:pt x="0" y="144"/>
                </a:moveTo>
                <a:cubicBezTo>
                  <a:pt x="148" y="72"/>
                  <a:pt x="296" y="0"/>
                  <a:pt x="432" y="0"/>
                </a:cubicBezTo>
                <a:cubicBezTo>
                  <a:pt x="568" y="0"/>
                  <a:pt x="692" y="72"/>
                  <a:pt x="816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9" name="TextBox 98"/>
          <p:cNvSpPr txBox="1"/>
          <p:nvPr/>
        </p:nvSpPr>
        <p:spPr>
          <a:xfrm>
            <a:off x="9323196" y="2570831"/>
            <a:ext cx="9925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i="1" dirty="0" smtClean="0">
                <a:solidFill>
                  <a:srgbClr val="C00000"/>
                </a:solidFill>
                <a:latin typeface="Calibri" pitchFamily="34" charset="0"/>
              </a:rPr>
              <a:t>逻辑上</a:t>
            </a:r>
            <a:endParaRPr lang="en-US" altLang="zh-CN" sz="2000" i="1" dirty="0" smtClean="0">
              <a:solidFill>
                <a:srgbClr val="C00000"/>
              </a:solidFill>
              <a:latin typeface="Calibri" pitchFamily="34" charset="0"/>
            </a:endParaRPr>
          </a:p>
          <a:p>
            <a:r>
              <a:rPr lang="zh-CN" altLang="en-US" sz="2000" i="1" dirty="0">
                <a:solidFill>
                  <a:srgbClr val="C00000"/>
                </a:solidFill>
                <a:latin typeface="Calibri" pitchFamily="34" charset="0"/>
              </a:rPr>
              <a:t>消</a:t>
            </a:r>
            <a:r>
              <a:rPr lang="zh-CN" altLang="en-US" sz="2000" i="1" dirty="0" smtClean="0">
                <a:solidFill>
                  <a:srgbClr val="C00000"/>
                </a:solidFill>
                <a:latin typeface="Calibri" pitchFamily="34" charset="0"/>
              </a:rPr>
              <a:t>失了</a:t>
            </a:r>
            <a:endParaRPr lang="en-US" sz="2000" i="1" dirty="0">
              <a:solidFill>
                <a:srgbClr val="C00000"/>
              </a:solidFill>
              <a:latin typeface="Calibri" pitchFamily="34" charset="0"/>
            </a:endParaRPr>
          </a:p>
        </p:txBody>
      </p:sp>
      <p:cxnSp>
        <p:nvCxnSpPr>
          <p:cNvPr id="101" name="Straight Arrow Connector 100"/>
          <p:cNvCxnSpPr>
            <a:stCxn id="99" idx="1"/>
            <a:endCxn id="96" idx="0"/>
          </p:cNvCxnSpPr>
          <p:nvPr/>
        </p:nvCxnSpPr>
        <p:spPr bwMode="auto">
          <a:xfrm flipH="1">
            <a:off x="7749301" y="2924774"/>
            <a:ext cx="1573895" cy="473228"/>
          </a:xfrm>
          <a:prstGeom prst="straightConnector1">
            <a:avLst/>
          </a:prstGeom>
          <a:noFill/>
          <a:ln w="28575">
            <a:solidFill>
              <a:srgbClr val="C00000"/>
            </a:solidFill>
            <a:miter lim="800000"/>
            <a:headEnd type="none" w="med" len="med"/>
            <a:tailEnd type="arrow"/>
          </a:ln>
          <a:effectLst/>
        </p:spPr>
      </p:cxnSp>
      <p:sp>
        <p:nvSpPr>
          <p:cNvPr id="53" name="Rectangle 7"/>
          <p:cNvSpPr>
            <a:spLocks noChangeArrowheads="1"/>
          </p:cNvSpPr>
          <p:nvPr/>
        </p:nvSpPr>
        <p:spPr bwMode="auto">
          <a:xfrm>
            <a:off x="3572981" y="2407401"/>
            <a:ext cx="304800" cy="304800"/>
          </a:xfrm>
          <a:prstGeom prst="rect">
            <a:avLst/>
          </a:prstGeom>
          <a:pattFill prst="wdUpDiag">
            <a:fgClr>
              <a:schemeClr val="bg2"/>
            </a:fgClr>
            <a:bgClr>
              <a:schemeClr val="bg1"/>
            </a:bgClr>
          </a:patt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8" name="Rectangle 7"/>
          <p:cNvSpPr>
            <a:spLocks noChangeArrowheads="1"/>
          </p:cNvSpPr>
          <p:nvPr/>
        </p:nvSpPr>
        <p:spPr bwMode="auto">
          <a:xfrm>
            <a:off x="3581400" y="3398450"/>
            <a:ext cx="304800" cy="304800"/>
          </a:xfrm>
          <a:prstGeom prst="rect">
            <a:avLst/>
          </a:prstGeom>
          <a:pattFill prst="wdUpDiag">
            <a:fgClr>
              <a:schemeClr val="bg2"/>
            </a:fgClr>
            <a:bgClr>
              <a:schemeClr val="bg1"/>
            </a:bgClr>
          </a:patt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00" name="Rectangle 7"/>
          <p:cNvSpPr>
            <a:spLocks noChangeArrowheads="1"/>
          </p:cNvSpPr>
          <p:nvPr/>
        </p:nvSpPr>
        <p:spPr bwMode="auto">
          <a:xfrm>
            <a:off x="8771419" y="2411738"/>
            <a:ext cx="304800" cy="304800"/>
          </a:xfrm>
          <a:prstGeom prst="rect">
            <a:avLst/>
          </a:prstGeom>
          <a:pattFill prst="wdUpDiag">
            <a:fgClr>
              <a:schemeClr val="bg2"/>
            </a:fgClr>
            <a:bgClr>
              <a:schemeClr val="bg1"/>
            </a:bgClr>
          </a:patt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r>
              <a:rPr lang="en-US" sz="1600" b="0" dirty="0">
                <a:latin typeface="Calibri" pitchFamily="34" charset="0"/>
                <a:cs typeface="Calibri" pitchFamily="34" charset="0"/>
              </a:rPr>
              <a:t>8</a:t>
            </a:r>
            <a:endParaRPr lang="en-US" sz="16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02" name="Rectangle 7"/>
          <p:cNvSpPr>
            <a:spLocks noChangeArrowheads="1"/>
          </p:cNvSpPr>
          <p:nvPr/>
        </p:nvSpPr>
        <p:spPr bwMode="auto">
          <a:xfrm>
            <a:off x="8771419" y="3404351"/>
            <a:ext cx="304800" cy="304800"/>
          </a:xfrm>
          <a:prstGeom prst="rect">
            <a:avLst/>
          </a:prstGeom>
          <a:pattFill prst="wdUpDiag">
            <a:fgClr>
              <a:schemeClr val="bg2"/>
            </a:fgClr>
            <a:bgClr>
              <a:schemeClr val="bg1"/>
            </a:bgClr>
          </a:patt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r>
              <a:rPr lang="en-US" sz="1600" b="0" dirty="0">
                <a:latin typeface="Calibri" pitchFamily="34" charset="0"/>
                <a:cs typeface="Calibri" pitchFamily="34" charset="0"/>
              </a:rPr>
              <a:t>8</a:t>
            </a:r>
            <a:endParaRPr lang="en-US" sz="16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03" name="Freeform 18"/>
          <p:cNvSpPr/>
          <p:nvPr/>
        </p:nvSpPr>
        <p:spPr bwMode="auto">
          <a:xfrm>
            <a:off x="8327685" y="2232299"/>
            <a:ext cx="609600" cy="1524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192" y="0"/>
              </a:cxn>
              <a:cxn ang="0">
                <a:pos x="384" y="96"/>
              </a:cxn>
            </a:cxnLst>
            <a:rect l="0" t="0" r="r" b="b"/>
            <a:pathLst>
              <a:path w="384" h="96">
                <a:moveTo>
                  <a:pt x="0" y="96"/>
                </a:moveTo>
                <a:cubicBezTo>
                  <a:pt x="64" y="48"/>
                  <a:pt x="128" y="0"/>
                  <a:pt x="192" y="0"/>
                </a:cubicBezTo>
                <a:cubicBezTo>
                  <a:pt x="256" y="0"/>
                  <a:pt x="320" y="48"/>
                  <a:pt x="384" y="96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04" name="Freeform 18"/>
          <p:cNvSpPr/>
          <p:nvPr/>
        </p:nvSpPr>
        <p:spPr bwMode="auto">
          <a:xfrm>
            <a:off x="8327685" y="3230187"/>
            <a:ext cx="609600" cy="1524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192" y="0"/>
              </a:cxn>
              <a:cxn ang="0">
                <a:pos x="384" y="96"/>
              </a:cxn>
            </a:cxnLst>
            <a:rect l="0" t="0" r="r" b="b"/>
            <a:pathLst>
              <a:path w="384" h="96">
                <a:moveTo>
                  <a:pt x="0" y="96"/>
                </a:moveTo>
                <a:cubicBezTo>
                  <a:pt x="64" y="48"/>
                  <a:pt x="128" y="0"/>
                  <a:pt x="192" y="0"/>
                </a:cubicBezTo>
                <a:cubicBezTo>
                  <a:pt x="256" y="0"/>
                  <a:pt x="320" y="48"/>
                  <a:pt x="384" y="96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" name="Rectangle 1"/>
          <p:cNvSpPr>
            <a:spLocks noGrp="1" noChangeArrowheads="1"/>
          </p:cNvSpPr>
          <p:nvPr>
            <p:ph type="title"/>
          </p:nvPr>
        </p:nvSpPr>
        <p:spPr>
          <a:xfrm>
            <a:off x="1828800" y="457201"/>
            <a:ext cx="6769100" cy="573087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dirty="0" smtClean="0"/>
              <a:t>隐式列表：合并</a:t>
            </a:r>
            <a:endParaRPr lang="en-GB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隐式列表：双向合并</a:t>
            </a:r>
            <a:endParaRPr lang="zh-CN" altLang="en-US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00B050"/>
                </a:solidFill>
              </a:rPr>
              <a:t>边界标记</a:t>
            </a:r>
            <a:r>
              <a:rPr lang="en-US" altLang="zh-CN">
                <a:solidFill>
                  <a:srgbClr val="00B050"/>
                </a:solidFill>
              </a:rPr>
              <a:t>footer</a:t>
            </a:r>
            <a:r>
              <a:rPr lang="en-GB"/>
              <a:t> [Knuth73]</a:t>
            </a:r>
            <a:endParaRPr lang="en-GB"/>
          </a:p>
          <a:p>
            <a:pPr lvl="1"/>
            <a:r>
              <a:rPr lang="zh-CN" altLang="en-US"/>
              <a:t>在空闲块的“底部”（结束的地方）复制内存块大小</a:t>
            </a:r>
            <a:r>
              <a:rPr lang="en-US" altLang="zh-CN"/>
              <a:t>/</a:t>
            </a:r>
            <a:r>
              <a:rPr lang="zh-CN" altLang="en-US"/>
              <a:t>已分配字</a:t>
            </a:r>
            <a:endParaRPr lang="en-GB"/>
          </a:p>
          <a:p>
            <a:pPr lvl="1"/>
            <a:r>
              <a:rPr lang="zh-CN" altLang="en-US"/>
              <a:t>允许反向遍历“列表”，但需要额外的空间</a:t>
            </a:r>
            <a:endParaRPr lang="en-GB"/>
          </a:p>
          <a:p>
            <a:pPr lvl="1"/>
            <a:r>
              <a:rPr lang="zh-CN" altLang="en-US"/>
              <a:t>重要且通用的方法！</a:t>
            </a:r>
            <a:endParaRPr lang="zh-CN" altLang="en-US"/>
          </a:p>
        </p:txBody>
      </p:sp>
      <p:sp>
        <p:nvSpPr>
          <p:cNvPr id="26627" name="Rectangle 3"/>
          <p:cNvSpPr>
            <a:spLocks noChangeArrowheads="1"/>
          </p:cNvSpPr>
          <p:nvPr/>
        </p:nvSpPr>
        <p:spPr bwMode="auto">
          <a:xfrm>
            <a:off x="4635501" y="4275288"/>
            <a:ext cx="1370013" cy="381000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 smtClean="0">
                <a:latin typeface="Calibri" pitchFamily="34" charset="0"/>
              </a:rPr>
              <a:t>内存块大小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26630" name="Rectangle 6"/>
          <p:cNvSpPr>
            <a:spLocks noChangeArrowheads="1"/>
          </p:cNvSpPr>
          <p:nvPr/>
        </p:nvSpPr>
        <p:spPr bwMode="auto">
          <a:xfrm>
            <a:off x="4635500" y="4656289"/>
            <a:ext cx="1676400" cy="1285875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 smtClean="0">
                <a:latin typeface="Calibri" pitchFamily="34" charset="0"/>
              </a:rPr>
              <a:t>有效负载和填充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26632" name="Rectangle 8"/>
          <p:cNvSpPr>
            <a:spLocks noChangeArrowheads="1"/>
          </p:cNvSpPr>
          <p:nvPr/>
        </p:nvSpPr>
        <p:spPr bwMode="auto">
          <a:xfrm>
            <a:off x="6007100" y="4275288"/>
            <a:ext cx="304800" cy="381000"/>
          </a:xfrm>
          <a:prstGeom prst="rect">
            <a:avLst/>
          </a:prstGeom>
          <a:solidFill>
            <a:srgbClr val="EBAFA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a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26633" name="Rectangle 9"/>
          <p:cNvSpPr>
            <a:spLocks noChangeArrowheads="1"/>
          </p:cNvSpPr>
          <p:nvPr/>
        </p:nvSpPr>
        <p:spPr bwMode="auto">
          <a:xfrm>
            <a:off x="4633913" y="5936872"/>
            <a:ext cx="1370012" cy="381000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 smtClean="0">
                <a:latin typeface="Calibri" pitchFamily="34" charset="0"/>
              </a:rPr>
              <a:t>内存块大小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26634" name="Rectangle 10"/>
          <p:cNvSpPr>
            <a:spLocks noChangeArrowheads="1"/>
          </p:cNvSpPr>
          <p:nvPr/>
        </p:nvSpPr>
        <p:spPr bwMode="auto">
          <a:xfrm>
            <a:off x="6007100" y="5936872"/>
            <a:ext cx="304800" cy="381000"/>
          </a:xfrm>
          <a:prstGeom prst="rect">
            <a:avLst/>
          </a:prstGeom>
          <a:solidFill>
            <a:srgbClr val="EBAFA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a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26635" name="Text Box 11"/>
          <p:cNvSpPr txBox="1">
            <a:spLocks noChangeArrowheads="1"/>
          </p:cNvSpPr>
          <p:nvPr/>
        </p:nvSpPr>
        <p:spPr bwMode="auto">
          <a:xfrm>
            <a:off x="2979895" y="5910498"/>
            <a:ext cx="1008907" cy="577082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 smtClean="0">
                <a:latin typeface="Calibri" pitchFamily="34" charset="0"/>
              </a:rPr>
              <a:t>边界标记</a:t>
            </a:r>
            <a:endParaRPr lang="en-US" altLang="zh-CN" sz="1600" dirty="0" smtClean="0">
              <a:latin typeface="Calibri" pitchFamily="34" charset="0"/>
            </a:endParaRP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 smtClean="0">
                <a:latin typeface="Calibri" pitchFamily="34" charset="0"/>
              </a:rPr>
              <a:t>（表尾）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26636" name="Line 12"/>
          <p:cNvSpPr>
            <a:spLocks noChangeShapeType="1"/>
          </p:cNvSpPr>
          <p:nvPr/>
        </p:nvSpPr>
        <p:spPr bwMode="auto">
          <a:xfrm>
            <a:off x="4114800" y="6104088"/>
            <a:ext cx="533400" cy="1588"/>
          </a:xfrm>
          <a:prstGeom prst="line">
            <a:avLst/>
          </a:prstGeom>
          <a:noFill/>
          <a:ln w="25560">
            <a:solidFill>
              <a:schemeClr val="tx1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39" name="Group 38"/>
          <p:cNvGrpSpPr/>
          <p:nvPr/>
        </p:nvGrpSpPr>
        <p:grpSpPr>
          <a:xfrm>
            <a:off x="3048000" y="2895600"/>
            <a:ext cx="5486400" cy="785054"/>
            <a:chOff x="1524000" y="5706762"/>
            <a:chExt cx="5486400" cy="785054"/>
          </a:xfrm>
        </p:grpSpPr>
        <p:sp>
          <p:nvSpPr>
            <p:cNvPr id="26637" name="Rectangle 13"/>
            <p:cNvSpPr>
              <a:spLocks noChangeArrowheads="1"/>
            </p:cNvSpPr>
            <p:nvPr/>
          </p:nvSpPr>
          <p:spPr bwMode="auto">
            <a:xfrm>
              <a:off x="1524000" y="59436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32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26638" name="Rectangle 14"/>
            <p:cNvSpPr>
              <a:spLocks noChangeArrowheads="1"/>
            </p:cNvSpPr>
            <p:nvPr/>
          </p:nvSpPr>
          <p:spPr bwMode="auto">
            <a:xfrm>
              <a:off x="1828800" y="59436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9" name="Rectangle 15"/>
            <p:cNvSpPr>
              <a:spLocks noChangeArrowheads="1"/>
            </p:cNvSpPr>
            <p:nvPr/>
          </p:nvSpPr>
          <p:spPr bwMode="auto">
            <a:xfrm>
              <a:off x="2133600" y="59436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0" name="Rectangle 16"/>
            <p:cNvSpPr>
              <a:spLocks noChangeArrowheads="1"/>
            </p:cNvSpPr>
            <p:nvPr/>
          </p:nvSpPr>
          <p:spPr bwMode="auto">
            <a:xfrm>
              <a:off x="2438400" y="59436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32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26641" name="Rectangle 17"/>
            <p:cNvSpPr>
              <a:spLocks noChangeArrowheads="1"/>
            </p:cNvSpPr>
            <p:nvPr/>
          </p:nvSpPr>
          <p:spPr bwMode="auto">
            <a:xfrm>
              <a:off x="2743200" y="59436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32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26642" name="Rectangle 18"/>
            <p:cNvSpPr>
              <a:spLocks noChangeArrowheads="1"/>
            </p:cNvSpPr>
            <p:nvPr/>
          </p:nvSpPr>
          <p:spPr bwMode="auto">
            <a:xfrm>
              <a:off x="3048000" y="59436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3" name="Rectangle 19"/>
            <p:cNvSpPr>
              <a:spLocks noChangeArrowheads="1"/>
            </p:cNvSpPr>
            <p:nvPr/>
          </p:nvSpPr>
          <p:spPr bwMode="auto">
            <a:xfrm>
              <a:off x="3352800" y="59436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4" name="Rectangle 20"/>
            <p:cNvSpPr>
              <a:spLocks noChangeArrowheads="1"/>
            </p:cNvSpPr>
            <p:nvPr/>
          </p:nvSpPr>
          <p:spPr bwMode="auto">
            <a:xfrm>
              <a:off x="3657600" y="59436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32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26645" name="Rectangle 21"/>
            <p:cNvSpPr>
              <a:spLocks noChangeArrowheads="1"/>
            </p:cNvSpPr>
            <p:nvPr/>
          </p:nvSpPr>
          <p:spPr bwMode="auto">
            <a:xfrm>
              <a:off x="4267200" y="59436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6" name="Rectangle 22"/>
            <p:cNvSpPr>
              <a:spLocks noChangeArrowheads="1"/>
            </p:cNvSpPr>
            <p:nvPr/>
          </p:nvSpPr>
          <p:spPr bwMode="auto">
            <a:xfrm>
              <a:off x="4572000" y="59436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7" name="Rectangle 23"/>
            <p:cNvSpPr>
              <a:spLocks noChangeArrowheads="1"/>
            </p:cNvSpPr>
            <p:nvPr/>
          </p:nvSpPr>
          <p:spPr bwMode="auto">
            <a:xfrm>
              <a:off x="4876800" y="59436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8" name="Rectangle 24"/>
            <p:cNvSpPr>
              <a:spLocks noChangeArrowheads="1"/>
            </p:cNvSpPr>
            <p:nvPr/>
          </p:nvSpPr>
          <p:spPr bwMode="auto">
            <a:xfrm>
              <a:off x="5181600" y="59436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9" name="Rectangle 25"/>
            <p:cNvSpPr>
              <a:spLocks noChangeArrowheads="1"/>
            </p:cNvSpPr>
            <p:nvPr/>
          </p:nvSpPr>
          <p:spPr bwMode="auto">
            <a:xfrm>
              <a:off x="5486400" y="59436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48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26650" name="Rectangle 26"/>
            <p:cNvSpPr>
              <a:spLocks noChangeArrowheads="1"/>
            </p:cNvSpPr>
            <p:nvPr/>
          </p:nvSpPr>
          <p:spPr bwMode="auto">
            <a:xfrm>
              <a:off x="5791200" y="59436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32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26651" name="Rectangle 27"/>
            <p:cNvSpPr>
              <a:spLocks noChangeArrowheads="1"/>
            </p:cNvSpPr>
            <p:nvPr/>
          </p:nvSpPr>
          <p:spPr bwMode="auto">
            <a:xfrm>
              <a:off x="6096000" y="59436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2" name="Rectangle 28"/>
            <p:cNvSpPr>
              <a:spLocks noChangeArrowheads="1"/>
            </p:cNvSpPr>
            <p:nvPr/>
          </p:nvSpPr>
          <p:spPr bwMode="auto">
            <a:xfrm>
              <a:off x="3962400" y="59436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48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26653" name="Freeform 29"/>
            <p:cNvSpPr/>
            <p:nvPr/>
          </p:nvSpPr>
          <p:spPr bwMode="auto">
            <a:xfrm>
              <a:off x="2895600" y="5706762"/>
              <a:ext cx="1219200" cy="228600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384" y="0"/>
                </a:cxn>
                <a:cxn ang="0">
                  <a:pos x="768" y="144"/>
                </a:cxn>
              </a:cxnLst>
              <a:rect l="0" t="0" r="r" b="b"/>
              <a:pathLst>
                <a:path w="768" h="144">
                  <a:moveTo>
                    <a:pt x="0" y="144"/>
                  </a:moveTo>
                  <a:cubicBezTo>
                    <a:pt x="128" y="72"/>
                    <a:pt x="256" y="0"/>
                    <a:pt x="384" y="0"/>
                  </a:cubicBezTo>
                  <a:cubicBezTo>
                    <a:pt x="512" y="0"/>
                    <a:pt x="640" y="72"/>
                    <a:pt x="768" y="144"/>
                  </a:cubicBezTo>
                </a:path>
              </a:pathLst>
            </a:custGeom>
            <a:noFill/>
            <a:ln w="25560">
              <a:solidFill>
                <a:schemeClr val="tx1"/>
              </a:solidFill>
              <a:prstDash val="sysDash"/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4" name="Freeform 30"/>
            <p:cNvSpPr/>
            <p:nvPr/>
          </p:nvSpPr>
          <p:spPr bwMode="auto">
            <a:xfrm>
              <a:off x="4114800" y="5706762"/>
              <a:ext cx="1828800" cy="228600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576" y="0"/>
                </a:cxn>
                <a:cxn ang="0">
                  <a:pos x="1152" y="144"/>
                </a:cxn>
              </a:cxnLst>
              <a:rect l="0" t="0" r="r" b="b"/>
              <a:pathLst>
                <a:path w="1152" h="144">
                  <a:moveTo>
                    <a:pt x="0" y="144"/>
                  </a:moveTo>
                  <a:cubicBezTo>
                    <a:pt x="192" y="72"/>
                    <a:pt x="384" y="0"/>
                    <a:pt x="576" y="0"/>
                  </a:cubicBezTo>
                  <a:cubicBezTo>
                    <a:pt x="768" y="0"/>
                    <a:pt x="960" y="72"/>
                    <a:pt x="1152" y="144"/>
                  </a:cubicBezTo>
                </a:path>
              </a:pathLst>
            </a:custGeom>
            <a:noFill/>
            <a:ln w="25560">
              <a:solidFill>
                <a:schemeClr val="tx1"/>
              </a:solidFill>
              <a:prstDash val="sysDash"/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5" name="Freeform 31"/>
            <p:cNvSpPr/>
            <p:nvPr/>
          </p:nvSpPr>
          <p:spPr bwMode="auto">
            <a:xfrm>
              <a:off x="1676400" y="5706762"/>
              <a:ext cx="1219200" cy="228600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384" y="0"/>
                </a:cxn>
                <a:cxn ang="0">
                  <a:pos x="768" y="144"/>
                </a:cxn>
              </a:cxnLst>
              <a:rect l="0" t="0" r="r" b="b"/>
              <a:pathLst>
                <a:path w="768" h="144">
                  <a:moveTo>
                    <a:pt x="0" y="144"/>
                  </a:moveTo>
                  <a:cubicBezTo>
                    <a:pt x="128" y="72"/>
                    <a:pt x="256" y="0"/>
                    <a:pt x="384" y="0"/>
                  </a:cubicBezTo>
                  <a:cubicBezTo>
                    <a:pt x="512" y="0"/>
                    <a:pt x="640" y="72"/>
                    <a:pt x="768" y="144"/>
                  </a:cubicBezTo>
                </a:path>
              </a:pathLst>
            </a:custGeom>
            <a:noFill/>
            <a:ln w="25560">
              <a:solidFill>
                <a:schemeClr val="tx1"/>
              </a:solidFill>
              <a:prstDash val="sysDash"/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6" name="Rectangle 32"/>
            <p:cNvSpPr>
              <a:spLocks noChangeArrowheads="1"/>
            </p:cNvSpPr>
            <p:nvPr/>
          </p:nvSpPr>
          <p:spPr bwMode="auto">
            <a:xfrm>
              <a:off x="6400800" y="59436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7" name="Rectangle 33"/>
            <p:cNvSpPr>
              <a:spLocks noChangeArrowheads="1"/>
            </p:cNvSpPr>
            <p:nvPr/>
          </p:nvSpPr>
          <p:spPr bwMode="auto">
            <a:xfrm>
              <a:off x="6705600" y="59436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32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26658" name="Freeform 34"/>
            <p:cNvSpPr/>
            <p:nvPr/>
          </p:nvSpPr>
          <p:spPr bwMode="auto">
            <a:xfrm>
              <a:off x="2590800" y="6263216"/>
              <a:ext cx="1219200" cy="228600"/>
            </a:xfrm>
            <a:custGeom>
              <a:avLst/>
              <a:gdLst/>
              <a:ahLst/>
              <a:cxnLst>
                <a:cxn ang="0">
                  <a:pos x="768" y="0"/>
                </a:cxn>
                <a:cxn ang="0">
                  <a:pos x="336" y="144"/>
                </a:cxn>
                <a:cxn ang="0">
                  <a:pos x="0" y="0"/>
                </a:cxn>
              </a:cxnLst>
              <a:rect l="0" t="0" r="r" b="b"/>
              <a:pathLst>
                <a:path w="768" h="144">
                  <a:moveTo>
                    <a:pt x="768" y="0"/>
                  </a:moveTo>
                  <a:cubicBezTo>
                    <a:pt x="616" y="72"/>
                    <a:pt x="464" y="144"/>
                    <a:pt x="336" y="144"/>
                  </a:cubicBezTo>
                  <a:cubicBezTo>
                    <a:pt x="208" y="144"/>
                    <a:pt x="104" y="72"/>
                    <a:pt x="0" y="0"/>
                  </a:cubicBezTo>
                </a:path>
              </a:pathLst>
            </a:custGeom>
            <a:noFill/>
            <a:ln w="25560">
              <a:solidFill>
                <a:schemeClr val="tx1"/>
              </a:solidFill>
              <a:prstDash val="sysDash"/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9" name="Freeform 35"/>
            <p:cNvSpPr/>
            <p:nvPr/>
          </p:nvSpPr>
          <p:spPr bwMode="auto">
            <a:xfrm>
              <a:off x="3810000" y="6263216"/>
              <a:ext cx="1828800" cy="228600"/>
            </a:xfrm>
            <a:custGeom>
              <a:avLst/>
              <a:gdLst/>
              <a:ahLst/>
              <a:cxnLst>
                <a:cxn ang="0">
                  <a:pos x="1152" y="0"/>
                </a:cxn>
                <a:cxn ang="0">
                  <a:pos x="576" y="144"/>
                </a:cxn>
                <a:cxn ang="0">
                  <a:pos x="0" y="0"/>
                </a:cxn>
              </a:cxnLst>
              <a:rect l="0" t="0" r="r" b="b"/>
              <a:pathLst>
                <a:path w="1152" h="144">
                  <a:moveTo>
                    <a:pt x="1152" y="0"/>
                  </a:moveTo>
                  <a:cubicBezTo>
                    <a:pt x="960" y="72"/>
                    <a:pt x="768" y="144"/>
                    <a:pt x="576" y="144"/>
                  </a:cubicBezTo>
                  <a:cubicBezTo>
                    <a:pt x="384" y="144"/>
                    <a:pt x="192" y="72"/>
                    <a:pt x="0" y="0"/>
                  </a:cubicBezTo>
                </a:path>
              </a:pathLst>
            </a:custGeom>
            <a:noFill/>
            <a:ln w="25560">
              <a:solidFill>
                <a:schemeClr val="tx1"/>
              </a:solidFill>
              <a:prstDash val="sysDash"/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60" name="Freeform 36"/>
            <p:cNvSpPr/>
            <p:nvPr/>
          </p:nvSpPr>
          <p:spPr bwMode="auto">
            <a:xfrm>
              <a:off x="5638800" y="6263216"/>
              <a:ext cx="1219200" cy="228600"/>
            </a:xfrm>
            <a:custGeom>
              <a:avLst/>
              <a:gdLst/>
              <a:ahLst/>
              <a:cxnLst>
                <a:cxn ang="0">
                  <a:pos x="768" y="0"/>
                </a:cxn>
                <a:cxn ang="0">
                  <a:pos x="384" y="144"/>
                </a:cxn>
                <a:cxn ang="0">
                  <a:pos x="0" y="0"/>
                </a:cxn>
              </a:cxnLst>
              <a:rect l="0" t="0" r="r" b="b"/>
              <a:pathLst>
                <a:path w="768" h="144">
                  <a:moveTo>
                    <a:pt x="768" y="0"/>
                  </a:moveTo>
                  <a:cubicBezTo>
                    <a:pt x="640" y="72"/>
                    <a:pt x="512" y="144"/>
                    <a:pt x="384" y="144"/>
                  </a:cubicBezTo>
                  <a:cubicBezTo>
                    <a:pt x="256" y="144"/>
                    <a:pt x="63" y="23"/>
                    <a:pt x="0" y="0"/>
                  </a:cubicBezTo>
                </a:path>
              </a:pathLst>
            </a:custGeom>
            <a:noFill/>
            <a:ln w="25560">
              <a:solidFill>
                <a:schemeClr val="tx1"/>
              </a:solidFill>
              <a:prstDash val="sysDash"/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6661" name="Text Box 37"/>
          <p:cNvSpPr txBox="1">
            <a:spLocks noChangeArrowheads="1"/>
          </p:cNvSpPr>
          <p:nvPr/>
        </p:nvSpPr>
        <p:spPr bwMode="auto">
          <a:xfrm>
            <a:off x="3312680" y="4267201"/>
            <a:ext cx="595333" cy="335799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 smtClean="0">
                <a:latin typeface="Calibri" pitchFamily="34" charset="0"/>
              </a:rPr>
              <a:t>表头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26662" name="Line 38"/>
          <p:cNvSpPr>
            <a:spLocks noChangeShapeType="1"/>
          </p:cNvSpPr>
          <p:nvPr/>
        </p:nvSpPr>
        <p:spPr bwMode="auto">
          <a:xfrm>
            <a:off x="4114800" y="4427688"/>
            <a:ext cx="533400" cy="1588"/>
          </a:xfrm>
          <a:prstGeom prst="line">
            <a:avLst/>
          </a:prstGeom>
          <a:noFill/>
          <a:ln w="25560">
            <a:solidFill>
              <a:schemeClr val="tx1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" name="Rectangle 7"/>
          <p:cNvSpPr>
            <a:spLocks noChangeArrowheads="1"/>
          </p:cNvSpPr>
          <p:nvPr/>
        </p:nvSpPr>
        <p:spPr bwMode="auto">
          <a:xfrm>
            <a:off x="2743200" y="3132438"/>
            <a:ext cx="304800" cy="304800"/>
          </a:xfrm>
          <a:prstGeom prst="rect">
            <a:avLst/>
          </a:prstGeom>
          <a:pattFill prst="wdUpDiag">
            <a:fgClr>
              <a:schemeClr val="bg2"/>
            </a:fgClr>
            <a:bgClr>
              <a:schemeClr val="bg1"/>
            </a:bgClr>
          </a:patt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r>
              <a:rPr lang="en-US" sz="1600" dirty="0">
                <a:latin typeface="+mn-lt"/>
              </a:rPr>
              <a:t>8</a:t>
            </a:r>
            <a:endParaRPr lang="en-US" sz="1600" dirty="0">
              <a:latin typeface="+mn-lt"/>
            </a:endParaRPr>
          </a:p>
        </p:txBody>
      </p:sp>
      <p:sp>
        <p:nvSpPr>
          <p:cNvPr id="41" name="Rectangle 7"/>
          <p:cNvSpPr>
            <a:spLocks noChangeArrowheads="1"/>
          </p:cNvSpPr>
          <p:nvPr/>
        </p:nvSpPr>
        <p:spPr bwMode="auto">
          <a:xfrm>
            <a:off x="8537028" y="3132438"/>
            <a:ext cx="304800" cy="304800"/>
          </a:xfrm>
          <a:prstGeom prst="rect">
            <a:avLst/>
          </a:prstGeom>
          <a:pattFill prst="wdUpDiag">
            <a:fgClr>
              <a:schemeClr val="bg2"/>
            </a:fgClr>
            <a:bgClr>
              <a:schemeClr val="bg1"/>
            </a:bgClr>
          </a:patt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r>
              <a:rPr lang="en-US" sz="1600" dirty="0">
                <a:latin typeface="+mn-lt"/>
              </a:rPr>
              <a:t>8</a:t>
            </a:r>
            <a:endParaRPr lang="en-US" sz="1600" dirty="0">
              <a:latin typeface="+mn-lt"/>
            </a:endParaRPr>
          </a:p>
        </p:txBody>
      </p:sp>
      <p:sp>
        <p:nvSpPr>
          <p:cNvPr id="42" name="Freeform 31"/>
          <p:cNvSpPr/>
          <p:nvPr/>
        </p:nvSpPr>
        <p:spPr bwMode="auto">
          <a:xfrm>
            <a:off x="7467600" y="2880784"/>
            <a:ext cx="12192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384" y="0"/>
              </a:cxn>
              <a:cxn ang="0">
                <a:pos x="768" y="144"/>
              </a:cxn>
            </a:cxnLst>
            <a:rect l="0" t="0" r="r" b="b"/>
            <a:pathLst>
              <a:path w="768" h="144">
                <a:moveTo>
                  <a:pt x="0" y="144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Freeform 34"/>
          <p:cNvSpPr/>
          <p:nvPr/>
        </p:nvSpPr>
        <p:spPr bwMode="auto">
          <a:xfrm>
            <a:off x="2892972" y="3473450"/>
            <a:ext cx="1219200" cy="228600"/>
          </a:xfrm>
          <a:custGeom>
            <a:avLst/>
            <a:gdLst/>
            <a:ahLst/>
            <a:cxnLst>
              <a:cxn ang="0">
                <a:pos x="768" y="0"/>
              </a:cxn>
              <a:cxn ang="0">
                <a:pos x="336" y="144"/>
              </a:cxn>
              <a:cxn ang="0">
                <a:pos x="0" y="0"/>
              </a:cxn>
            </a:cxnLst>
            <a:rect l="0" t="0" r="r" b="b"/>
            <a:pathLst>
              <a:path w="768" h="144">
                <a:moveTo>
                  <a:pt x="768" y="0"/>
                </a:moveTo>
                <a:cubicBezTo>
                  <a:pt x="616" y="72"/>
                  <a:pt x="464" y="144"/>
                  <a:pt x="336" y="144"/>
                </a:cubicBezTo>
                <a:cubicBezTo>
                  <a:pt x="208" y="144"/>
                  <a:pt x="104" y="72"/>
                  <a:pt x="0" y="0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" name="Text Box 5"/>
          <p:cNvSpPr txBox="1">
            <a:spLocks noChangeArrowheads="1"/>
          </p:cNvSpPr>
          <p:nvPr/>
        </p:nvSpPr>
        <p:spPr bwMode="auto">
          <a:xfrm>
            <a:off x="1978004" y="4907871"/>
            <a:ext cx="1730259" cy="697756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0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已分配和空闲</a:t>
            </a:r>
            <a:endParaRPr lang="en-US" altLang="zh-CN" sz="2000" i="1" dirty="0" smtClean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</a:endParaRP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20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内存块的格式</a:t>
            </a:r>
            <a:endParaRPr lang="en-GB" sz="2000" i="1" dirty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</a:endParaRPr>
          </a:p>
        </p:txBody>
      </p:sp>
      <p:sp>
        <p:nvSpPr>
          <p:cNvPr id="46" name="Text Box 7"/>
          <p:cNvSpPr txBox="1">
            <a:spLocks noChangeArrowheads="1"/>
          </p:cNvSpPr>
          <p:nvPr/>
        </p:nvSpPr>
        <p:spPr bwMode="auto">
          <a:xfrm>
            <a:off x="6530975" y="4302557"/>
            <a:ext cx="2869994" cy="1783503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a = 1: </a:t>
            </a:r>
            <a:r>
              <a:rPr lang="zh-CN" altLang="en-US" sz="1600" dirty="0" smtClean="0">
                <a:latin typeface="Calibri" pitchFamily="34" charset="0"/>
              </a:rPr>
              <a:t>已分配块</a:t>
            </a:r>
            <a:r>
              <a:rPr lang="en-GB" sz="1600" dirty="0" smtClean="0">
                <a:latin typeface="Calibri" pitchFamily="34" charset="0"/>
              </a:rPr>
              <a:t>  </a:t>
            </a:r>
            <a:endParaRPr lang="en-GB" sz="1600" dirty="0">
              <a:latin typeface="Calibri" pitchFamily="34" charset="0"/>
            </a:endParaRP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a = 0: </a:t>
            </a:r>
            <a:r>
              <a:rPr lang="zh-CN" altLang="en-US" sz="1600" dirty="0" smtClean="0">
                <a:latin typeface="Calibri" pitchFamily="34" charset="0"/>
              </a:rPr>
              <a:t>空闲块</a:t>
            </a:r>
            <a:endParaRPr lang="en-GB" sz="1600" dirty="0">
              <a:latin typeface="Calibri" pitchFamily="34" charset="0"/>
            </a:endParaRP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600" dirty="0">
              <a:latin typeface="Calibri" pitchFamily="34" charset="0"/>
            </a:endParaRP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 smtClean="0">
                <a:latin typeface="Calibri" pitchFamily="34" charset="0"/>
              </a:rPr>
              <a:t>内存块大小：内存块的总容量</a:t>
            </a:r>
            <a:endParaRPr lang="en-GB" sz="1600" dirty="0">
              <a:latin typeface="Calibri" pitchFamily="34" charset="0"/>
            </a:endParaRP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600" dirty="0">
              <a:latin typeface="Calibri" pitchFamily="34" charset="0"/>
            </a:endParaRP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>
                <a:latin typeface="Calibri" pitchFamily="34" charset="0"/>
              </a:rPr>
              <a:t>有</a:t>
            </a:r>
            <a:r>
              <a:rPr lang="zh-CN" altLang="en-US" sz="1600" dirty="0" smtClean="0">
                <a:latin typeface="Calibri" pitchFamily="34" charset="0"/>
              </a:rPr>
              <a:t>效负载：</a:t>
            </a:r>
            <a:r>
              <a:rPr lang="en-GB" sz="1600" dirty="0" smtClean="0">
                <a:latin typeface="Calibri" pitchFamily="34" charset="0"/>
              </a:rPr>
              <a:t> </a:t>
            </a:r>
            <a:r>
              <a:rPr lang="zh-CN" altLang="en-US" sz="1600" dirty="0" smtClean="0">
                <a:latin typeface="Calibri" pitchFamily="34" charset="0"/>
              </a:rPr>
              <a:t>应用数据</a:t>
            </a:r>
            <a:endParaRPr lang="en-US" altLang="zh-CN" sz="1600" dirty="0" smtClean="0">
              <a:latin typeface="Calibri" pitchFamily="34" charset="0"/>
            </a:endParaRP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 smtClean="0">
                <a:latin typeface="Calibri" pitchFamily="34" charset="0"/>
              </a:rPr>
              <a:t>（只包括已分配内存块）</a:t>
            </a:r>
            <a:endParaRPr lang="en-GB" sz="1600" dirty="0">
              <a:latin typeface="Calibri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animBg="1"/>
      <p:bldP spid="26630" grpId="0" animBg="1"/>
      <p:bldP spid="26632" grpId="0" animBg="1"/>
      <p:bldP spid="26633" grpId="0" animBg="1"/>
      <p:bldP spid="26634" grpId="0" animBg="1"/>
      <p:bldP spid="26635" grpId="0"/>
      <p:bldP spid="26636" grpId="0" animBg="1"/>
      <p:bldP spid="26661" grpId="0"/>
      <p:bldP spid="26662" grpId="0" animBg="1"/>
      <p:bldP spid="44" grpId="0"/>
      <p:bldP spid="4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带表尾的实现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0875" y="1477704"/>
            <a:ext cx="7896225" cy="497205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zh-CN" altLang="en-US" dirty="0" smtClean="0"/>
              <a:t>定位当前内存块的表尾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046629" y="3277225"/>
            <a:ext cx="7644714" cy="1818063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square" lIns="90000" tIns="46800" rIns="90000" bIns="46800">
            <a:spAutoFit/>
          </a:bodyPr>
          <a:lstStyle/>
          <a:p>
            <a:r>
              <a:rPr lang="en-US" sz="1600" dirty="0">
                <a:solidFill>
                  <a:srgbClr val="39A428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const </a:t>
            </a:r>
            <a:r>
              <a:rPr lang="en-US" sz="1600" dirty="0" err="1">
                <a:solidFill>
                  <a:srgbClr val="39A428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size_t</a:t>
            </a:r>
            <a:r>
              <a:rPr lang="en-US" sz="1600" dirty="0">
                <a:solidFill>
                  <a:srgbClr val="39A428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sz="1600" dirty="0" err="1">
                <a:solidFill>
                  <a:srgbClr val="39A428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dsize</a:t>
            </a:r>
            <a:r>
              <a:rPr lang="en-US" sz="1600" dirty="0">
                <a:solidFill>
                  <a:srgbClr val="39A428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= 2*</a:t>
            </a:r>
            <a:r>
              <a:rPr lang="en-US" sz="1600" dirty="0" err="1">
                <a:solidFill>
                  <a:srgbClr val="39A428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sizeof</a:t>
            </a:r>
            <a:r>
              <a:rPr lang="en-US" sz="1600" dirty="0">
                <a:solidFill>
                  <a:srgbClr val="39A428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(</a:t>
            </a:r>
            <a:r>
              <a:rPr lang="en-US" sz="1600" dirty="0" err="1">
                <a:solidFill>
                  <a:srgbClr val="39A428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word_t</a:t>
            </a:r>
            <a:r>
              <a:rPr lang="en-US" sz="1600" dirty="0">
                <a:solidFill>
                  <a:srgbClr val="39A428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);</a:t>
            </a:r>
            <a:endParaRPr lang="en-US" sz="1600" dirty="0">
              <a:solidFill>
                <a:srgbClr val="39A428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1600" dirty="0">
              <a:solidFill>
                <a:srgbClr val="D422FF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D422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static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sz="1600" dirty="0" err="1">
                <a:solidFill>
                  <a:srgbClr val="39A428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word_t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*</a:t>
            </a:r>
            <a:r>
              <a:rPr lang="en-US" sz="1600" dirty="0" err="1">
                <a:solidFill>
                  <a:srgbClr val="6122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header_to_footer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(</a:t>
            </a:r>
            <a:r>
              <a:rPr lang="en-US" sz="1600" dirty="0" err="1">
                <a:solidFill>
                  <a:srgbClr val="39A428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block_t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*</a:t>
            </a:r>
            <a:r>
              <a:rPr lang="en-US" sz="1600" dirty="0">
                <a:solidFill>
                  <a:srgbClr val="C79725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block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)</a:t>
            </a:r>
            <a:endParaRPr lang="en-US" sz="1600" dirty="0">
              <a:solidFill>
                <a:srgbClr val="6122FF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{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    </a:t>
            </a:r>
            <a:r>
              <a:rPr lang="en-US" sz="1600" dirty="0" err="1">
                <a:solidFill>
                  <a:srgbClr val="39A428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size_t</a:t>
            </a:r>
            <a:r>
              <a:rPr lang="en-US" sz="1600" dirty="0">
                <a:solidFill>
                  <a:srgbClr val="39A428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sz="16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asize</a:t>
            </a: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 = </a:t>
            </a:r>
            <a:r>
              <a:rPr lang="en-US" sz="16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get_size</a:t>
            </a:r>
            <a:r>
              <a:rPr lang="en-US" sz="1600" dirty="0">
                <a:latin typeface="Courier New" panose="02070609020205020404" pitchFamily="49" charset="0"/>
                <a:cs typeface="Courier New" panose="02070609020205020404" pitchFamily="49" charset="0"/>
              </a:rPr>
              <a:t>(block);</a:t>
            </a:r>
            <a:endParaRPr lang="en-US" sz="1600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39A428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   </a:t>
            </a:r>
            <a:r>
              <a:rPr lang="en-US" sz="1600" dirty="0">
                <a:solidFill>
                  <a:srgbClr val="D422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(</a:t>
            </a:r>
            <a:r>
              <a:rPr lang="en-US" sz="1600" dirty="0" err="1">
                <a:solidFill>
                  <a:srgbClr val="39A428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word_t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*) (block-&gt;payload + 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asize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- 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dsize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);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}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" name="Rectangle 426"/>
          <p:cNvSpPr>
            <a:spLocks noChangeAspect="1" noChangeArrowheads="1"/>
          </p:cNvSpPr>
          <p:nvPr/>
        </p:nvSpPr>
        <p:spPr bwMode="auto">
          <a:xfrm>
            <a:off x="2121109" y="1158384"/>
            <a:ext cx="813486" cy="518016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r>
              <a:rPr lang="zh-CN" altLang="en-US" sz="1800" b="0" dirty="0" smtClean="0">
                <a:latin typeface="Calibri" pitchFamily="34" charset="0"/>
                <a:cs typeface="Calibri" pitchFamily="34" charset="0"/>
              </a:rPr>
              <a:t>表头</a:t>
            </a:r>
            <a:endParaRPr lang="en-US" sz="18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" name="Rectangle 426"/>
          <p:cNvSpPr>
            <a:spLocks noChangeAspect="1" noChangeArrowheads="1"/>
          </p:cNvSpPr>
          <p:nvPr/>
        </p:nvSpPr>
        <p:spPr bwMode="auto">
          <a:xfrm>
            <a:off x="2934596" y="1158384"/>
            <a:ext cx="1637405" cy="518016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r>
              <a:rPr lang="zh-CN" altLang="en-US" sz="1800" b="0" dirty="0" smtClean="0">
                <a:latin typeface="Calibri" pitchFamily="34" charset="0"/>
                <a:cs typeface="Calibri" pitchFamily="34" charset="0"/>
              </a:rPr>
              <a:t>有效负载</a:t>
            </a:r>
            <a:endParaRPr lang="en-US" sz="18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" name="Rectangle 426"/>
          <p:cNvSpPr>
            <a:spLocks noChangeAspect="1" noChangeArrowheads="1"/>
          </p:cNvSpPr>
          <p:nvPr/>
        </p:nvSpPr>
        <p:spPr bwMode="auto">
          <a:xfrm>
            <a:off x="6400800" y="1158384"/>
            <a:ext cx="813486" cy="518016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r>
              <a:rPr lang="zh-CN" altLang="en-US" sz="1800" b="0" dirty="0" smtClean="0">
                <a:latin typeface="Calibri" pitchFamily="34" charset="0"/>
                <a:cs typeface="Calibri" pitchFamily="34" charset="0"/>
              </a:rPr>
              <a:t>表头</a:t>
            </a:r>
            <a:endParaRPr lang="en-US" sz="18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" name="Rectangle 426"/>
          <p:cNvSpPr>
            <a:spLocks noChangeAspect="1" noChangeArrowheads="1"/>
          </p:cNvSpPr>
          <p:nvPr/>
        </p:nvSpPr>
        <p:spPr bwMode="auto">
          <a:xfrm>
            <a:off x="7214286" y="1158384"/>
            <a:ext cx="2386914" cy="518016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r>
              <a:rPr lang="zh-CN" altLang="en-US" sz="1800" b="0" dirty="0">
                <a:latin typeface="Calibri" pitchFamily="34" charset="0"/>
                <a:cs typeface="Calibri" pitchFamily="34" charset="0"/>
              </a:rPr>
              <a:t>有</a:t>
            </a:r>
            <a:r>
              <a:rPr lang="zh-CN" altLang="en-US" sz="1800" b="0" dirty="0" smtClean="0">
                <a:latin typeface="Calibri" pitchFamily="34" charset="0"/>
                <a:cs typeface="Calibri" pitchFamily="34" charset="0"/>
              </a:rPr>
              <a:t>效负载</a:t>
            </a:r>
            <a:endParaRPr lang="en-US" sz="18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0" name="Rectangle 426"/>
          <p:cNvSpPr>
            <a:spLocks noChangeAspect="1" noChangeArrowheads="1"/>
          </p:cNvSpPr>
          <p:nvPr/>
        </p:nvSpPr>
        <p:spPr bwMode="auto">
          <a:xfrm>
            <a:off x="4589814" y="1158384"/>
            <a:ext cx="997501" cy="518016"/>
          </a:xfrm>
          <a:prstGeom prst="rect">
            <a:avLst/>
          </a:prstGeom>
          <a:solidFill>
            <a:schemeClr val="bg1">
              <a:lumMod val="65000"/>
            </a:schemeClr>
          </a:solidFill>
          <a:ln w="381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r>
              <a:rPr lang="zh-CN" altLang="en-US" sz="1800" b="0" dirty="0">
                <a:latin typeface="Calibri" pitchFamily="34" charset="0"/>
                <a:cs typeface="Calibri" pitchFamily="34" charset="0"/>
              </a:rPr>
              <a:t>未使用</a:t>
            </a:r>
            <a:endParaRPr lang="en-US" sz="18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" name="Rectangle 426"/>
          <p:cNvSpPr>
            <a:spLocks noChangeAspect="1" noChangeArrowheads="1"/>
          </p:cNvSpPr>
          <p:nvPr/>
        </p:nvSpPr>
        <p:spPr bwMode="auto">
          <a:xfrm>
            <a:off x="5587314" y="1158384"/>
            <a:ext cx="813486" cy="518016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r>
              <a:rPr lang="zh-CN" altLang="en-US" sz="1800" b="0" dirty="0" smtClean="0">
                <a:latin typeface="Calibri" pitchFamily="34" charset="0"/>
                <a:cs typeface="Calibri" pitchFamily="34" charset="0"/>
              </a:rPr>
              <a:t>表尾</a:t>
            </a:r>
            <a:endParaRPr lang="en-US" sz="1800" b="0" dirty="0"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2934596" y="1981200"/>
            <a:ext cx="4279691" cy="369332"/>
            <a:chOff x="1410595" y="1732003"/>
            <a:chExt cx="4279691" cy="369332"/>
          </a:xfrm>
        </p:grpSpPr>
        <p:cxnSp>
          <p:nvCxnSpPr>
            <p:cNvPr id="13" name="Straight Arrow Connector 12"/>
            <p:cNvCxnSpPr/>
            <p:nvPr/>
          </p:nvCxnSpPr>
          <p:spPr bwMode="auto">
            <a:xfrm>
              <a:off x="1410595" y="1905000"/>
              <a:ext cx="4279691" cy="0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lg" len="med"/>
              <a:tailEnd type="stealth" w="med" len="med"/>
            </a:ln>
            <a:effectLst/>
          </p:spPr>
        </p:cxnSp>
        <p:sp>
          <p:nvSpPr>
            <p:cNvPr id="14" name="TextBox 13"/>
            <p:cNvSpPr txBox="1"/>
            <p:nvPr/>
          </p:nvSpPr>
          <p:spPr>
            <a:xfrm>
              <a:off x="3051927" y="1732003"/>
              <a:ext cx="648447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 err="1">
                  <a:latin typeface="Calibri" pitchFamily="34" charset="0"/>
                </a:rPr>
                <a:t>asize</a:t>
              </a:r>
              <a:endParaRPr lang="en-US" sz="1800" dirty="0">
                <a:latin typeface="Calibri" pitchFamily="34" charset="0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5563660" y="2286000"/>
            <a:ext cx="1650626" cy="369332"/>
            <a:chOff x="4039660" y="1985054"/>
            <a:chExt cx="1650626" cy="369332"/>
          </a:xfrm>
        </p:grpSpPr>
        <p:cxnSp>
          <p:nvCxnSpPr>
            <p:cNvPr id="15" name="Straight Arrow Connector 14"/>
            <p:cNvCxnSpPr/>
            <p:nvPr/>
          </p:nvCxnSpPr>
          <p:spPr bwMode="auto">
            <a:xfrm>
              <a:off x="4039660" y="2209800"/>
              <a:ext cx="1650626" cy="0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stealth" w="lg" len="med"/>
              <a:tailEnd type="none" w="med" len="med"/>
            </a:ln>
            <a:effectLst/>
          </p:spPr>
        </p:cxnSp>
        <p:sp>
          <p:nvSpPr>
            <p:cNvPr id="17" name="TextBox 16"/>
            <p:cNvSpPr txBox="1"/>
            <p:nvPr/>
          </p:nvSpPr>
          <p:spPr>
            <a:xfrm>
              <a:off x="4572000" y="1985054"/>
              <a:ext cx="658065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 err="1">
                  <a:latin typeface="Calibri" pitchFamily="34" charset="0"/>
                </a:rPr>
                <a:t>dsize</a:t>
              </a:r>
              <a:endParaRPr lang="en-US" sz="1800" dirty="0">
                <a:latin typeface="Calibri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2121110" y="1739817"/>
            <a:ext cx="4279691" cy="369332"/>
            <a:chOff x="1410595" y="1732003"/>
            <a:chExt cx="4279691" cy="369332"/>
          </a:xfrm>
        </p:grpSpPr>
        <p:cxnSp>
          <p:nvCxnSpPr>
            <p:cNvPr id="19" name="Straight Arrow Connector 18"/>
            <p:cNvCxnSpPr/>
            <p:nvPr/>
          </p:nvCxnSpPr>
          <p:spPr bwMode="auto">
            <a:xfrm>
              <a:off x="1410595" y="1905000"/>
              <a:ext cx="4279691" cy="0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lg" len="med"/>
              <a:tailEnd type="stealth" w="med" len="med"/>
            </a:ln>
            <a:effectLst/>
          </p:spPr>
        </p:cxnSp>
        <p:sp>
          <p:nvSpPr>
            <p:cNvPr id="20" name="TextBox 19"/>
            <p:cNvSpPr txBox="1"/>
            <p:nvPr/>
          </p:nvSpPr>
          <p:spPr>
            <a:xfrm>
              <a:off x="3051927" y="1732003"/>
              <a:ext cx="648447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 err="1">
                  <a:latin typeface="Calibri" pitchFamily="34" charset="0"/>
                </a:rPr>
                <a:t>asize</a:t>
              </a:r>
              <a:endParaRPr lang="en-US" sz="1800" dirty="0">
                <a:latin typeface="Calibri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0875" y="1477704"/>
            <a:ext cx="7896225" cy="497205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zh-CN" altLang="en-US" dirty="0" smtClean="0"/>
              <a:t>定位前一个内存块的表尾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2046629" y="3424030"/>
            <a:ext cx="7644714" cy="1079399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square" lIns="90000" tIns="46800" rIns="90000" bIns="46800">
            <a:spAutoFit/>
          </a:bodyPr>
          <a:lstStyle/>
          <a:p>
            <a:r>
              <a:rPr lang="en-US" sz="1600" dirty="0">
                <a:solidFill>
                  <a:srgbClr val="D422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static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sz="1600" dirty="0" err="1">
                <a:solidFill>
                  <a:srgbClr val="39A428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word_t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*</a:t>
            </a:r>
            <a:r>
              <a:rPr lang="en-US" sz="1600" dirty="0" err="1">
                <a:solidFill>
                  <a:srgbClr val="6122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find_prev_footer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(</a:t>
            </a:r>
            <a:r>
              <a:rPr lang="en-US" sz="1600" dirty="0" err="1">
                <a:solidFill>
                  <a:srgbClr val="39A428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block_t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*</a:t>
            </a:r>
            <a:r>
              <a:rPr lang="en-US" sz="1600" dirty="0">
                <a:solidFill>
                  <a:srgbClr val="C79725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block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)</a:t>
            </a:r>
            <a:endParaRPr lang="en-US" sz="1600" dirty="0">
              <a:solidFill>
                <a:srgbClr val="6122FF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{</a:t>
            </a:r>
            <a:r>
              <a:rPr lang="en-US" sz="1600" dirty="0">
                <a:solidFill>
                  <a:srgbClr val="E03322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               </a:t>
            </a:r>
            <a:endParaRPr lang="en-US" sz="1600" dirty="0">
              <a:solidFill>
                <a:srgbClr val="E03322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    </a:t>
            </a:r>
            <a:r>
              <a:rPr lang="en-US" sz="1600" dirty="0">
                <a:solidFill>
                  <a:srgbClr val="D422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&amp;(block-&gt;header) - 1;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}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" name="Rectangle 426"/>
          <p:cNvSpPr>
            <a:spLocks noChangeAspect="1" noChangeArrowheads="1"/>
          </p:cNvSpPr>
          <p:nvPr/>
        </p:nvSpPr>
        <p:spPr bwMode="auto">
          <a:xfrm>
            <a:off x="2121109" y="1158384"/>
            <a:ext cx="813486" cy="518016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r>
              <a:rPr lang="zh-CN" altLang="en-US" sz="1800" b="0" dirty="0" smtClean="0">
                <a:latin typeface="Calibri" pitchFamily="34" charset="0"/>
                <a:cs typeface="Calibri" pitchFamily="34" charset="0"/>
              </a:rPr>
              <a:t>表头</a:t>
            </a:r>
            <a:endParaRPr lang="en-US" sz="18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" name="Rectangle 426"/>
          <p:cNvSpPr>
            <a:spLocks noChangeAspect="1" noChangeArrowheads="1"/>
          </p:cNvSpPr>
          <p:nvPr/>
        </p:nvSpPr>
        <p:spPr bwMode="auto">
          <a:xfrm>
            <a:off x="2934596" y="1158384"/>
            <a:ext cx="1637405" cy="518016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r>
              <a:rPr lang="zh-CN" altLang="en-US" sz="1800" b="0" dirty="0" smtClean="0">
                <a:latin typeface="Calibri" pitchFamily="34" charset="0"/>
                <a:cs typeface="Calibri" pitchFamily="34" charset="0"/>
              </a:rPr>
              <a:t>有效负载</a:t>
            </a:r>
            <a:endParaRPr lang="en-US" sz="18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" name="Rectangle 426"/>
          <p:cNvSpPr>
            <a:spLocks noChangeAspect="1" noChangeArrowheads="1"/>
          </p:cNvSpPr>
          <p:nvPr/>
        </p:nvSpPr>
        <p:spPr bwMode="auto">
          <a:xfrm>
            <a:off x="6400800" y="1158384"/>
            <a:ext cx="813486" cy="518016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r>
              <a:rPr lang="zh-CN" altLang="en-US" sz="1800" b="0" dirty="0" smtClean="0">
                <a:latin typeface="Calibri" pitchFamily="34" charset="0"/>
                <a:cs typeface="Calibri" pitchFamily="34" charset="0"/>
              </a:rPr>
              <a:t>表头</a:t>
            </a:r>
            <a:endParaRPr lang="en-US" sz="18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" name="Rectangle 426"/>
          <p:cNvSpPr>
            <a:spLocks noChangeAspect="1" noChangeArrowheads="1"/>
          </p:cNvSpPr>
          <p:nvPr/>
        </p:nvSpPr>
        <p:spPr bwMode="auto">
          <a:xfrm>
            <a:off x="7214286" y="1158384"/>
            <a:ext cx="2386914" cy="518016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r>
              <a:rPr lang="zh-CN" altLang="en-US" sz="1800" b="0" dirty="0">
                <a:latin typeface="Calibri" pitchFamily="34" charset="0"/>
                <a:cs typeface="Calibri" pitchFamily="34" charset="0"/>
              </a:rPr>
              <a:t>有</a:t>
            </a:r>
            <a:r>
              <a:rPr lang="zh-CN" altLang="en-US" sz="1800" b="0" dirty="0" smtClean="0">
                <a:latin typeface="Calibri" pitchFamily="34" charset="0"/>
                <a:cs typeface="Calibri" pitchFamily="34" charset="0"/>
              </a:rPr>
              <a:t>效负载</a:t>
            </a:r>
            <a:endParaRPr lang="en-US" sz="18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0" name="Rectangle 426"/>
          <p:cNvSpPr>
            <a:spLocks noChangeAspect="1" noChangeArrowheads="1"/>
          </p:cNvSpPr>
          <p:nvPr/>
        </p:nvSpPr>
        <p:spPr bwMode="auto">
          <a:xfrm>
            <a:off x="4589814" y="1158384"/>
            <a:ext cx="997501" cy="518016"/>
          </a:xfrm>
          <a:prstGeom prst="rect">
            <a:avLst/>
          </a:prstGeom>
          <a:solidFill>
            <a:schemeClr val="bg1">
              <a:lumMod val="65000"/>
            </a:schemeClr>
          </a:solidFill>
          <a:ln w="381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r>
              <a:rPr lang="zh-CN" altLang="en-US" sz="1800" b="0" dirty="0" smtClean="0">
                <a:latin typeface="Calibri" pitchFamily="34" charset="0"/>
                <a:cs typeface="Calibri" pitchFamily="34" charset="0"/>
              </a:rPr>
              <a:t>未使用</a:t>
            </a:r>
            <a:endParaRPr lang="en-US" sz="18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" name="Rectangle 426"/>
          <p:cNvSpPr>
            <a:spLocks noChangeAspect="1" noChangeArrowheads="1"/>
          </p:cNvSpPr>
          <p:nvPr/>
        </p:nvSpPr>
        <p:spPr bwMode="auto">
          <a:xfrm>
            <a:off x="5587314" y="1158384"/>
            <a:ext cx="813486" cy="518016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r>
              <a:rPr lang="zh-CN" altLang="en-US" sz="1800" b="0" dirty="0" smtClean="0">
                <a:latin typeface="Calibri" pitchFamily="34" charset="0"/>
                <a:cs typeface="Calibri" pitchFamily="34" charset="0"/>
              </a:rPr>
              <a:t>表尾</a:t>
            </a:r>
            <a:endParaRPr lang="en-US" sz="1800" b="0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15" name="Straight Arrow Connector 14"/>
          <p:cNvCxnSpPr/>
          <p:nvPr/>
        </p:nvCxnSpPr>
        <p:spPr bwMode="auto">
          <a:xfrm>
            <a:off x="5587314" y="1975437"/>
            <a:ext cx="813486" cy="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stealth" w="lg" len="med"/>
            <a:tailEnd type="none" w="med" len="med"/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5584329" y="2110092"/>
            <a:ext cx="81945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800" dirty="0">
                <a:latin typeface="Calibri" pitchFamily="34" charset="0"/>
              </a:rPr>
              <a:t>1 </a:t>
            </a:r>
            <a:r>
              <a:rPr lang="zh-CN" altLang="en-US" sz="1800" dirty="0" smtClean="0">
                <a:latin typeface="Calibri" pitchFamily="34" charset="0"/>
              </a:rPr>
              <a:t>个字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476025" y="435678"/>
            <a:ext cx="10122791" cy="762000"/>
          </a:xfrm>
        </p:spPr>
        <p:txBody>
          <a:bodyPr/>
          <a:lstStyle/>
          <a:p>
            <a:r>
              <a:rPr lang="zh-CN" altLang="en-US" dirty="0" smtClean="0"/>
              <a:t>带表尾的实现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dirty="0" smtClean="0"/>
              <a:t>分割空闲块：完整版</a:t>
            </a:r>
            <a:endParaRPr lang="en-GB" dirty="0"/>
          </a:p>
        </p:txBody>
      </p:sp>
      <p:sp>
        <p:nvSpPr>
          <p:cNvPr id="23564" name="Rectangle 12"/>
          <p:cNvSpPr>
            <a:spLocks noChangeArrowheads="1"/>
          </p:cNvSpPr>
          <p:nvPr/>
        </p:nvSpPr>
        <p:spPr bwMode="auto">
          <a:xfrm>
            <a:off x="2971800" y="2251747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565" name="Rectangle 13"/>
          <p:cNvSpPr>
            <a:spLocks noChangeArrowheads="1"/>
          </p:cNvSpPr>
          <p:nvPr/>
        </p:nvSpPr>
        <p:spPr bwMode="auto">
          <a:xfrm>
            <a:off x="3276600" y="2251747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566" name="Rectangle 14"/>
          <p:cNvSpPr>
            <a:spLocks noChangeArrowheads="1"/>
          </p:cNvSpPr>
          <p:nvPr/>
        </p:nvSpPr>
        <p:spPr bwMode="auto">
          <a:xfrm>
            <a:off x="3581400" y="2251747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567" name="Rectangle 15"/>
          <p:cNvSpPr>
            <a:spLocks noChangeArrowheads="1"/>
          </p:cNvSpPr>
          <p:nvPr/>
        </p:nvSpPr>
        <p:spPr bwMode="auto">
          <a:xfrm>
            <a:off x="3886200" y="2251747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568" name="Rectangle 16"/>
          <p:cNvSpPr>
            <a:spLocks noChangeArrowheads="1"/>
          </p:cNvSpPr>
          <p:nvPr/>
        </p:nvSpPr>
        <p:spPr bwMode="auto">
          <a:xfrm>
            <a:off x="4191000" y="2251747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571" name="Rectangle 19"/>
          <p:cNvSpPr>
            <a:spLocks noChangeArrowheads="1"/>
          </p:cNvSpPr>
          <p:nvPr/>
        </p:nvSpPr>
        <p:spPr bwMode="auto">
          <a:xfrm>
            <a:off x="2667000" y="2251747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0" dirty="0">
                <a:latin typeface="Calibri" pitchFamily="34" charset="0"/>
                <a:cs typeface="Calibri" pitchFamily="34" charset="0"/>
              </a:rPr>
              <a:t>64</a:t>
            </a:r>
            <a:endParaRPr lang="en-GB" sz="16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573" name="Freeform 21"/>
          <p:cNvSpPr/>
          <p:nvPr/>
        </p:nvSpPr>
        <p:spPr bwMode="auto">
          <a:xfrm>
            <a:off x="2819400" y="2016217"/>
            <a:ext cx="25146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576" y="0"/>
              </a:cxn>
              <a:cxn ang="0">
                <a:pos x="1152" y="144"/>
              </a:cxn>
            </a:cxnLst>
            <a:rect l="0" t="0" r="r" b="b"/>
            <a:pathLst>
              <a:path w="1152" h="144">
                <a:moveTo>
                  <a:pt x="0" y="144"/>
                </a:moveTo>
                <a:cubicBezTo>
                  <a:pt x="192" y="72"/>
                  <a:pt x="384" y="0"/>
                  <a:pt x="576" y="0"/>
                </a:cubicBezTo>
                <a:cubicBezTo>
                  <a:pt x="768" y="0"/>
                  <a:pt x="960" y="72"/>
                  <a:pt x="1152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87" name="Line 35"/>
          <p:cNvSpPr>
            <a:spLocks noChangeShapeType="1"/>
          </p:cNvSpPr>
          <p:nvPr/>
        </p:nvSpPr>
        <p:spPr bwMode="auto">
          <a:xfrm flipV="1">
            <a:off x="2809608" y="2556269"/>
            <a:ext cx="1588" cy="231775"/>
          </a:xfrm>
          <a:prstGeom prst="line">
            <a:avLst/>
          </a:prstGeom>
          <a:noFill/>
          <a:ln w="25560">
            <a:solidFill>
              <a:schemeClr val="tx1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588" name="Text Box 36"/>
          <p:cNvSpPr txBox="1">
            <a:spLocks noChangeArrowheads="1"/>
          </p:cNvSpPr>
          <p:nvPr/>
        </p:nvSpPr>
        <p:spPr bwMode="auto">
          <a:xfrm>
            <a:off x="2654033" y="2710256"/>
            <a:ext cx="292366" cy="335799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p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23598" name="Text Box 46"/>
          <p:cNvSpPr txBox="1">
            <a:spLocks noChangeArrowheads="1"/>
          </p:cNvSpPr>
          <p:nvPr/>
        </p:nvSpPr>
        <p:spPr bwMode="auto">
          <a:xfrm>
            <a:off x="2776751" y="1537407"/>
            <a:ext cx="2314095" cy="31303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 err="1">
                <a:latin typeface="Courier New" panose="02070609020205020404" pitchFamily="49" charset="0"/>
              </a:rPr>
              <a:t>split_block</a:t>
            </a:r>
            <a:r>
              <a:rPr lang="en-GB" sz="1600" dirty="0">
                <a:latin typeface="Courier New" panose="02070609020205020404" pitchFamily="49" charset="0"/>
              </a:rPr>
              <a:t>(p, 32)</a:t>
            </a:r>
            <a:endParaRPr lang="en-GB" sz="1600" dirty="0">
              <a:latin typeface="Courier New" panose="02070609020205020404" pitchFamily="49" charset="0"/>
            </a:endParaRPr>
          </a:p>
        </p:txBody>
      </p:sp>
      <p:sp>
        <p:nvSpPr>
          <p:cNvPr id="54" name="Text Box 3"/>
          <p:cNvSpPr txBox="1">
            <a:spLocks noChangeArrowheads="1"/>
          </p:cNvSpPr>
          <p:nvPr/>
        </p:nvSpPr>
        <p:spPr bwMode="auto">
          <a:xfrm>
            <a:off x="2133601" y="3288734"/>
            <a:ext cx="7587631" cy="273286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dirty="0">
                <a:solidFill>
                  <a:srgbClr val="C2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static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sz="1600" dirty="0">
                <a:solidFill>
                  <a:srgbClr val="2D961E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sz="1600" dirty="0" err="1">
                <a:solidFill>
                  <a:srgbClr val="4A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split_block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(</a:t>
            </a:r>
            <a:r>
              <a:rPr lang="en-US" sz="1600" dirty="0" err="1">
                <a:solidFill>
                  <a:srgbClr val="2D961E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block_t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*</a:t>
            </a:r>
            <a:r>
              <a:rPr lang="en-US" sz="1600" dirty="0">
                <a:solidFill>
                  <a:srgbClr val="C1651C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block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, </a:t>
            </a:r>
            <a:r>
              <a:rPr lang="en-US" sz="1600" dirty="0" err="1">
                <a:solidFill>
                  <a:srgbClr val="2D961E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size_t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asize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){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   </a:t>
            </a:r>
            <a:r>
              <a:rPr lang="en-US" sz="1600" dirty="0" err="1">
                <a:solidFill>
                  <a:srgbClr val="2D961E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size_t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block_size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get_size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(block);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   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((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block_size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- 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asize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) &gt;= 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min_block_size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) {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write_header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(block, 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asize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, </a:t>
            </a:r>
            <a:r>
              <a:rPr lang="en-US" sz="1600" dirty="0">
                <a:solidFill>
                  <a:srgbClr val="34A1A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true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);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write_footer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(block, 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asize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, </a:t>
            </a:r>
            <a:r>
              <a:rPr lang="en-US" sz="1600" dirty="0">
                <a:solidFill>
                  <a:srgbClr val="34A1A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true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);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       </a:t>
            </a:r>
            <a:r>
              <a:rPr lang="en-US" sz="1600" dirty="0" err="1">
                <a:solidFill>
                  <a:srgbClr val="34A327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block_t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*</a:t>
            </a:r>
            <a:r>
              <a:rPr lang="en-US" sz="1600" dirty="0" err="1">
                <a:solidFill>
                  <a:srgbClr val="CD7923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block_next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find_next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(block);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        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write_header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block_next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block_size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- 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asize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, </a:t>
            </a:r>
            <a:r>
              <a:rPr lang="en-US" sz="1600" dirty="0">
                <a:solidFill>
                  <a:srgbClr val="34A1A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false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);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        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write_footer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block_next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block_size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- 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asize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, </a:t>
            </a:r>
            <a:r>
              <a:rPr lang="en-US" sz="1600" dirty="0">
                <a:solidFill>
                  <a:srgbClr val="34A1A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false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);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}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600" dirty="0">
              <a:solidFill>
                <a:srgbClr val="990000"/>
              </a:solidFill>
              <a:latin typeface="Courier New" panose="02070609020205020404" pitchFamily="49" charset="0"/>
            </a:endParaRPr>
          </a:p>
        </p:txBody>
      </p:sp>
      <p:sp>
        <p:nvSpPr>
          <p:cNvPr id="56" name="Rectangle 26"/>
          <p:cNvSpPr>
            <a:spLocks noChangeArrowheads="1"/>
          </p:cNvSpPr>
          <p:nvPr/>
        </p:nvSpPr>
        <p:spPr bwMode="auto">
          <a:xfrm>
            <a:off x="6477000" y="2251747"/>
            <a:ext cx="304800" cy="304800"/>
          </a:xfrm>
          <a:prstGeom prst="rect">
            <a:avLst/>
          </a:prstGeom>
          <a:solidFill>
            <a:srgbClr val="CCFFCC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7" name="Rectangle 27"/>
          <p:cNvSpPr>
            <a:spLocks noChangeArrowheads="1"/>
          </p:cNvSpPr>
          <p:nvPr/>
        </p:nvSpPr>
        <p:spPr bwMode="auto">
          <a:xfrm>
            <a:off x="6781800" y="2251747"/>
            <a:ext cx="304800" cy="304800"/>
          </a:xfrm>
          <a:prstGeom prst="rect">
            <a:avLst/>
          </a:prstGeom>
          <a:solidFill>
            <a:srgbClr val="CCFFCC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6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8" name="Rectangle 28"/>
          <p:cNvSpPr>
            <a:spLocks noChangeArrowheads="1"/>
          </p:cNvSpPr>
          <p:nvPr/>
        </p:nvSpPr>
        <p:spPr bwMode="auto">
          <a:xfrm>
            <a:off x="7086600" y="2251747"/>
            <a:ext cx="304800" cy="304800"/>
          </a:xfrm>
          <a:prstGeom prst="rect">
            <a:avLst/>
          </a:prstGeom>
          <a:solidFill>
            <a:srgbClr val="CCFFCC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r>
              <a:rPr lang="en-US" sz="1600" b="0" dirty="0">
                <a:latin typeface="Calibri" pitchFamily="34" charset="0"/>
                <a:cs typeface="Calibri" pitchFamily="34" charset="0"/>
              </a:rPr>
              <a:t>32</a:t>
            </a:r>
            <a:endParaRPr lang="en-US" sz="16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9" name="Rectangle 29"/>
          <p:cNvSpPr>
            <a:spLocks noChangeArrowheads="1"/>
          </p:cNvSpPr>
          <p:nvPr/>
        </p:nvSpPr>
        <p:spPr bwMode="auto">
          <a:xfrm>
            <a:off x="7391400" y="2251747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6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0" name="Rectangle 30"/>
          <p:cNvSpPr>
            <a:spLocks noChangeArrowheads="1"/>
          </p:cNvSpPr>
          <p:nvPr/>
        </p:nvSpPr>
        <p:spPr bwMode="auto">
          <a:xfrm>
            <a:off x="8305800" y="2251747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r>
              <a:rPr lang="en-US" sz="1600" b="0" dirty="0">
                <a:latin typeface="Calibri" pitchFamily="34" charset="0"/>
                <a:cs typeface="Calibri" pitchFamily="34" charset="0"/>
              </a:rPr>
              <a:t>32</a:t>
            </a:r>
            <a:endParaRPr lang="en-US" sz="16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1" name="Rectangle 31"/>
          <p:cNvSpPr>
            <a:spLocks noChangeArrowheads="1"/>
          </p:cNvSpPr>
          <p:nvPr/>
        </p:nvSpPr>
        <p:spPr bwMode="auto">
          <a:xfrm>
            <a:off x="8610600" y="2251747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0" dirty="0">
                <a:latin typeface="Calibri" pitchFamily="34" charset="0"/>
                <a:cs typeface="Calibri" pitchFamily="34" charset="0"/>
              </a:rPr>
              <a:t>16</a:t>
            </a:r>
            <a:endParaRPr lang="en-GB" sz="16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2" name="Rectangle 33"/>
          <p:cNvSpPr>
            <a:spLocks noChangeArrowheads="1"/>
          </p:cNvSpPr>
          <p:nvPr/>
        </p:nvSpPr>
        <p:spPr bwMode="auto">
          <a:xfrm>
            <a:off x="6172200" y="2251747"/>
            <a:ext cx="304800" cy="304800"/>
          </a:xfrm>
          <a:prstGeom prst="rect">
            <a:avLst/>
          </a:prstGeom>
          <a:solidFill>
            <a:srgbClr val="CCFFCC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0" dirty="0">
                <a:latin typeface="Calibri" pitchFamily="34" charset="0"/>
                <a:cs typeface="Calibri" pitchFamily="34" charset="0"/>
              </a:rPr>
              <a:t>32</a:t>
            </a:r>
            <a:endParaRPr lang="en-GB" sz="16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3" name="Text Box 38"/>
          <p:cNvSpPr txBox="1">
            <a:spLocks noChangeArrowheads="1"/>
          </p:cNvSpPr>
          <p:nvPr/>
        </p:nvSpPr>
        <p:spPr bwMode="auto">
          <a:xfrm>
            <a:off x="7315200" y="2245360"/>
            <a:ext cx="433705" cy="34226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square" lIns="90000" tIns="46800" rIns="90000" bIns="46800">
            <a:no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0" dirty="0">
                <a:latin typeface="Calibri" pitchFamily="34" charset="0"/>
                <a:cs typeface="Calibri" pitchFamily="34" charset="0"/>
              </a:rPr>
              <a:t>32</a:t>
            </a:r>
            <a:endParaRPr lang="en-GB" sz="16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4" name="Freeform 39"/>
          <p:cNvSpPr/>
          <p:nvPr/>
        </p:nvSpPr>
        <p:spPr bwMode="auto">
          <a:xfrm>
            <a:off x="6248400" y="2032751"/>
            <a:ext cx="12954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432" y="0"/>
              </a:cxn>
              <a:cxn ang="0">
                <a:pos x="816" y="144"/>
              </a:cxn>
            </a:cxnLst>
            <a:rect l="0" t="0" r="r" b="b"/>
            <a:pathLst>
              <a:path w="816" h="144">
                <a:moveTo>
                  <a:pt x="0" y="144"/>
                </a:moveTo>
                <a:cubicBezTo>
                  <a:pt x="148" y="72"/>
                  <a:pt x="296" y="0"/>
                  <a:pt x="432" y="0"/>
                </a:cubicBezTo>
                <a:cubicBezTo>
                  <a:pt x="568" y="0"/>
                  <a:pt x="692" y="72"/>
                  <a:pt x="816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5" name="Freeform 40"/>
          <p:cNvSpPr/>
          <p:nvPr/>
        </p:nvSpPr>
        <p:spPr bwMode="auto">
          <a:xfrm>
            <a:off x="7543800" y="2032751"/>
            <a:ext cx="1200912" cy="2286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192" y="0"/>
              </a:cxn>
              <a:cxn ang="0">
                <a:pos x="384" y="96"/>
              </a:cxn>
            </a:cxnLst>
            <a:rect l="0" t="0" r="r" b="b"/>
            <a:pathLst>
              <a:path w="384" h="96">
                <a:moveTo>
                  <a:pt x="0" y="96"/>
                </a:moveTo>
                <a:cubicBezTo>
                  <a:pt x="64" y="48"/>
                  <a:pt x="128" y="0"/>
                  <a:pt x="192" y="0"/>
                </a:cubicBezTo>
                <a:cubicBezTo>
                  <a:pt x="256" y="0"/>
                  <a:pt x="320" y="48"/>
                  <a:pt x="384" y="96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sz="16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5" name="Rectangle 15"/>
          <p:cNvSpPr>
            <a:spLocks noChangeArrowheads="1"/>
          </p:cNvSpPr>
          <p:nvPr/>
        </p:nvSpPr>
        <p:spPr bwMode="auto">
          <a:xfrm>
            <a:off x="4509986" y="2251747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6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6" name="Rectangle 16"/>
          <p:cNvSpPr>
            <a:spLocks noChangeArrowheads="1"/>
          </p:cNvSpPr>
          <p:nvPr/>
        </p:nvSpPr>
        <p:spPr bwMode="auto">
          <a:xfrm>
            <a:off x="4814786" y="2251747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r>
              <a:rPr lang="en-US" sz="1600" b="0" dirty="0">
                <a:latin typeface="Calibri" pitchFamily="34" charset="0"/>
                <a:cs typeface="Calibri" pitchFamily="34" charset="0"/>
              </a:rPr>
              <a:t>64</a:t>
            </a:r>
            <a:endParaRPr lang="en-US" sz="16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7" name="Rectangle 31"/>
          <p:cNvSpPr>
            <a:spLocks noChangeArrowheads="1"/>
          </p:cNvSpPr>
          <p:nvPr/>
        </p:nvSpPr>
        <p:spPr bwMode="auto">
          <a:xfrm>
            <a:off x="5123688" y="2251747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0" dirty="0">
                <a:latin typeface="Calibri" pitchFamily="34" charset="0"/>
                <a:cs typeface="Calibri" pitchFamily="34" charset="0"/>
              </a:rPr>
              <a:t>16</a:t>
            </a:r>
            <a:endParaRPr lang="en-GB" sz="16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8" name="Rectangle 15"/>
          <p:cNvSpPr>
            <a:spLocks noChangeArrowheads="1"/>
          </p:cNvSpPr>
          <p:nvPr/>
        </p:nvSpPr>
        <p:spPr bwMode="auto">
          <a:xfrm>
            <a:off x="7696200" y="2251747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9" name="Rectangle 16"/>
          <p:cNvSpPr>
            <a:spLocks noChangeArrowheads="1"/>
          </p:cNvSpPr>
          <p:nvPr/>
        </p:nvSpPr>
        <p:spPr bwMode="auto">
          <a:xfrm>
            <a:off x="8001000" y="2251747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b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>
            <a:spLocks noGrp="1" noChangeArrowheads="1"/>
          </p:cNvSpPr>
          <p:nvPr>
            <p:ph type="title"/>
          </p:nvPr>
        </p:nvSpPr>
        <p:spPr>
          <a:xfrm>
            <a:off x="1968500" y="569914"/>
            <a:ext cx="7023100" cy="573087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dirty="0"/>
              <a:t>常</a:t>
            </a:r>
            <a:r>
              <a:rPr lang="zh-CN" altLang="en-US" dirty="0" smtClean="0"/>
              <a:t>数时间合并</a:t>
            </a:r>
            <a:endParaRPr lang="en-GB" dirty="0"/>
          </a:p>
        </p:txBody>
      </p:sp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3962400" y="2895600"/>
            <a:ext cx="1143000" cy="30480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3962400" y="2590800"/>
            <a:ext cx="1143000" cy="3048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 smtClean="0">
                <a:latin typeface="Calibri" pitchFamily="34" charset="0"/>
              </a:rPr>
              <a:t>已分配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3962400" y="3200400"/>
            <a:ext cx="1143000" cy="3048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>
                <a:latin typeface="Calibri" pitchFamily="34" charset="0"/>
              </a:rPr>
              <a:t>已分配</a:t>
            </a:r>
            <a:endParaRPr lang="en-GB" altLang="zh-CN" sz="1600" dirty="0">
              <a:latin typeface="Calibri" pitchFamily="34" charset="0"/>
            </a:endParaRPr>
          </a:p>
        </p:txBody>
      </p:sp>
      <p:sp>
        <p:nvSpPr>
          <p:cNvPr id="27653" name="Rectangle 5"/>
          <p:cNvSpPr>
            <a:spLocks noChangeArrowheads="1"/>
          </p:cNvSpPr>
          <p:nvPr/>
        </p:nvSpPr>
        <p:spPr bwMode="auto">
          <a:xfrm>
            <a:off x="5486400" y="2895600"/>
            <a:ext cx="1143000" cy="30480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654" name="Rectangle 6"/>
          <p:cNvSpPr>
            <a:spLocks noChangeArrowheads="1"/>
          </p:cNvSpPr>
          <p:nvPr/>
        </p:nvSpPr>
        <p:spPr bwMode="auto">
          <a:xfrm>
            <a:off x="5486400" y="2590800"/>
            <a:ext cx="1143000" cy="3048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>
                <a:latin typeface="Calibri" pitchFamily="34" charset="0"/>
              </a:rPr>
              <a:t>已分配</a:t>
            </a:r>
            <a:endParaRPr lang="en-GB" altLang="zh-CN" sz="1600" dirty="0">
              <a:latin typeface="Calibri" pitchFamily="34" charset="0"/>
            </a:endParaRPr>
          </a:p>
        </p:txBody>
      </p:sp>
      <p:sp>
        <p:nvSpPr>
          <p:cNvPr id="27655" name="Rectangle 7"/>
          <p:cNvSpPr>
            <a:spLocks noChangeArrowheads="1"/>
          </p:cNvSpPr>
          <p:nvPr/>
        </p:nvSpPr>
        <p:spPr bwMode="auto">
          <a:xfrm>
            <a:off x="5486400" y="3200400"/>
            <a:ext cx="1143000" cy="304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 smtClean="0">
                <a:latin typeface="Calibri" pitchFamily="34" charset="0"/>
              </a:rPr>
              <a:t>空闲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27656" name="Rectangle 8"/>
          <p:cNvSpPr>
            <a:spLocks noChangeArrowheads="1"/>
          </p:cNvSpPr>
          <p:nvPr/>
        </p:nvSpPr>
        <p:spPr bwMode="auto">
          <a:xfrm>
            <a:off x="7010400" y="2895600"/>
            <a:ext cx="1143000" cy="30480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657" name="Rectangle 9"/>
          <p:cNvSpPr>
            <a:spLocks noChangeArrowheads="1"/>
          </p:cNvSpPr>
          <p:nvPr/>
        </p:nvSpPr>
        <p:spPr bwMode="auto">
          <a:xfrm>
            <a:off x="7010400" y="2590800"/>
            <a:ext cx="1143000" cy="304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>
                <a:latin typeface="Calibri" pitchFamily="34" charset="0"/>
              </a:rPr>
              <a:t>空闲</a:t>
            </a:r>
            <a:endParaRPr lang="en-GB" altLang="zh-CN" sz="1600" dirty="0">
              <a:latin typeface="Calibri" pitchFamily="34" charset="0"/>
            </a:endParaRPr>
          </a:p>
        </p:txBody>
      </p:sp>
      <p:sp>
        <p:nvSpPr>
          <p:cNvPr id="27658" name="Rectangle 10"/>
          <p:cNvSpPr>
            <a:spLocks noChangeArrowheads="1"/>
          </p:cNvSpPr>
          <p:nvPr/>
        </p:nvSpPr>
        <p:spPr bwMode="auto">
          <a:xfrm>
            <a:off x="7010400" y="3200400"/>
            <a:ext cx="1143000" cy="3048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>
                <a:latin typeface="Calibri" pitchFamily="34" charset="0"/>
              </a:rPr>
              <a:t>已分配</a:t>
            </a:r>
            <a:endParaRPr lang="en-GB" altLang="zh-CN" sz="1600" dirty="0">
              <a:latin typeface="Calibri" pitchFamily="34" charset="0"/>
            </a:endParaRPr>
          </a:p>
        </p:txBody>
      </p:sp>
      <p:sp>
        <p:nvSpPr>
          <p:cNvPr id="27659" name="Rectangle 11"/>
          <p:cNvSpPr>
            <a:spLocks noChangeArrowheads="1"/>
          </p:cNvSpPr>
          <p:nvPr/>
        </p:nvSpPr>
        <p:spPr bwMode="auto">
          <a:xfrm>
            <a:off x="8534400" y="2895600"/>
            <a:ext cx="1143000" cy="30480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660" name="Rectangle 12"/>
          <p:cNvSpPr>
            <a:spLocks noChangeArrowheads="1"/>
          </p:cNvSpPr>
          <p:nvPr/>
        </p:nvSpPr>
        <p:spPr bwMode="auto">
          <a:xfrm>
            <a:off x="8534400" y="2590800"/>
            <a:ext cx="1143000" cy="304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>
                <a:latin typeface="Calibri" pitchFamily="34" charset="0"/>
              </a:rPr>
              <a:t>空闲</a:t>
            </a:r>
            <a:endParaRPr lang="en-GB" altLang="zh-CN" sz="1600" dirty="0">
              <a:latin typeface="Calibri" pitchFamily="34" charset="0"/>
            </a:endParaRPr>
          </a:p>
        </p:txBody>
      </p:sp>
      <p:sp>
        <p:nvSpPr>
          <p:cNvPr id="27661" name="Rectangle 13"/>
          <p:cNvSpPr>
            <a:spLocks noChangeArrowheads="1"/>
          </p:cNvSpPr>
          <p:nvPr/>
        </p:nvSpPr>
        <p:spPr bwMode="auto">
          <a:xfrm>
            <a:off x="8534400" y="3200400"/>
            <a:ext cx="1143000" cy="304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>
                <a:latin typeface="Calibri" pitchFamily="34" charset="0"/>
              </a:rPr>
              <a:t>空闲</a:t>
            </a:r>
            <a:endParaRPr lang="en-GB" altLang="zh-CN" sz="1600" dirty="0">
              <a:latin typeface="Calibri" pitchFamily="34" charset="0"/>
            </a:endParaRPr>
          </a:p>
        </p:txBody>
      </p:sp>
      <p:sp>
        <p:nvSpPr>
          <p:cNvPr id="27662" name="Text Box 14"/>
          <p:cNvSpPr txBox="1">
            <a:spLocks noChangeArrowheads="1"/>
          </p:cNvSpPr>
          <p:nvPr/>
        </p:nvSpPr>
        <p:spPr bwMode="auto">
          <a:xfrm>
            <a:off x="2297736" y="2749551"/>
            <a:ext cx="879064" cy="637483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800" dirty="0">
                <a:latin typeface="Calibri" pitchFamily="34" charset="0"/>
              </a:rPr>
              <a:t>内存块</a:t>
            </a:r>
            <a:endParaRPr lang="en-GB" altLang="zh-CN" sz="1800" dirty="0">
              <a:latin typeface="Calibri" pitchFamily="34" charset="0"/>
            </a:endParaRPr>
          </a:p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800" dirty="0" smtClean="0">
                <a:latin typeface="Calibri" pitchFamily="34" charset="0"/>
              </a:rPr>
              <a:t>已释放</a:t>
            </a:r>
            <a:endParaRPr lang="en-US" altLang="zh-CN" sz="1800" dirty="0" smtClean="0">
              <a:latin typeface="Calibri" pitchFamily="34" charset="0"/>
            </a:endParaRPr>
          </a:p>
        </p:txBody>
      </p:sp>
      <p:sp>
        <p:nvSpPr>
          <p:cNvPr id="27663" name="Line 15"/>
          <p:cNvSpPr>
            <a:spLocks noChangeShapeType="1"/>
          </p:cNvSpPr>
          <p:nvPr/>
        </p:nvSpPr>
        <p:spPr bwMode="auto">
          <a:xfrm>
            <a:off x="3352800" y="3048000"/>
            <a:ext cx="457200" cy="1588"/>
          </a:xfrm>
          <a:prstGeom prst="line">
            <a:avLst/>
          </a:prstGeom>
          <a:noFill/>
          <a:ln w="25560">
            <a:solidFill>
              <a:schemeClr val="tx1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664" name="Text Box 16"/>
          <p:cNvSpPr txBox="1">
            <a:spLocks noChangeArrowheads="1"/>
          </p:cNvSpPr>
          <p:nvPr/>
        </p:nvSpPr>
        <p:spPr bwMode="auto">
          <a:xfrm>
            <a:off x="4114801" y="2057401"/>
            <a:ext cx="816547" cy="365999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800" i="1" dirty="0" smtClean="0">
                <a:solidFill>
                  <a:srgbClr val="C00000"/>
                </a:solidFill>
                <a:latin typeface="Calibri" pitchFamily="34" charset="0"/>
              </a:rPr>
              <a:t>场景 </a:t>
            </a:r>
            <a:r>
              <a:rPr lang="en-US" altLang="zh-CN" sz="1800" i="1" dirty="0" smtClean="0">
                <a:solidFill>
                  <a:srgbClr val="C00000"/>
                </a:solidFill>
                <a:latin typeface="Calibri" pitchFamily="34" charset="0"/>
              </a:rPr>
              <a:t>1</a:t>
            </a:r>
            <a:endParaRPr lang="en-GB" sz="1800" i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27665" name="Text Box 17"/>
          <p:cNvSpPr txBox="1">
            <a:spLocks noChangeArrowheads="1"/>
          </p:cNvSpPr>
          <p:nvPr/>
        </p:nvSpPr>
        <p:spPr bwMode="auto">
          <a:xfrm>
            <a:off x="5638801" y="2057401"/>
            <a:ext cx="816547" cy="365999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800" i="1" dirty="0">
                <a:solidFill>
                  <a:srgbClr val="C00000"/>
                </a:solidFill>
                <a:latin typeface="Calibri" pitchFamily="34" charset="0"/>
              </a:rPr>
              <a:t>场</a:t>
            </a:r>
            <a:r>
              <a:rPr lang="zh-CN" altLang="en-US" sz="1800" i="1" dirty="0" smtClean="0">
                <a:solidFill>
                  <a:srgbClr val="C00000"/>
                </a:solidFill>
                <a:latin typeface="Calibri" pitchFamily="34" charset="0"/>
              </a:rPr>
              <a:t>景 </a:t>
            </a:r>
            <a:r>
              <a:rPr lang="en-US" altLang="zh-CN" sz="1800" i="1" dirty="0">
                <a:solidFill>
                  <a:srgbClr val="C00000"/>
                </a:solidFill>
                <a:latin typeface="Calibri" pitchFamily="34" charset="0"/>
              </a:rPr>
              <a:t>2</a:t>
            </a:r>
            <a:endParaRPr lang="en-GB" sz="1800" i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27666" name="Text Box 18"/>
          <p:cNvSpPr txBox="1">
            <a:spLocks noChangeArrowheads="1"/>
          </p:cNvSpPr>
          <p:nvPr/>
        </p:nvSpPr>
        <p:spPr bwMode="auto">
          <a:xfrm>
            <a:off x="7162801" y="2057401"/>
            <a:ext cx="816547" cy="365999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800" i="1" dirty="0">
                <a:solidFill>
                  <a:srgbClr val="C00000"/>
                </a:solidFill>
                <a:latin typeface="Calibri" pitchFamily="34" charset="0"/>
              </a:rPr>
              <a:t>场</a:t>
            </a:r>
            <a:r>
              <a:rPr lang="zh-CN" altLang="en-US" sz="1800" i="1" dirty="0" smtClean="0">
                <a:solidFill>
                  <a:srgbClr val="C00000"/>
                </a:solidFill>
                <a:latin typeface="Calibri" pitchFamily="34" charset="0"/>
              </a:rPr>
              <a:t>景 </a:t>
            </a:r>
            <a:r>
              <a:rPr lang="en-US" altLang="zh-CN" sz="1800" i="1" dirty="0" smtClean="0">
                <a:solidFill>
                  <a:srgbClr val="C00000"/>
                </a:solidFill>
                <a:latin typeface="Calibri" pitchFamily="34" charset="0"/>
              </a:rPr>
              <a:t>3</a:t>
            </a:r>
            <a:endParaRPr lang="en-GB" sz="1800" i="1" dirty="0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27667" name="Text Box 19"/>
          <p:cNvSpPr txBox="1">
            <a:spLocks noChangeArrowheads="1"/>
          </p:cNvSpPr>
          <p:nvPr/>
        </p:nvSpPr>
        <p:spPr bwMode="auto">
          <a:xfrm>
            <a:off x="8686801" y="2057401"/>
            <a:ext cx="816547" cy="365999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800" i="1" dirty="0">
                <a:solidFill>
                  <a:srgbClr val="C00000"/>
                </a:solidFill>
                <a:latin typeface="Calibri" pitchFamily="34" charset="0"/>
              </a:rPr>
              <a:t>场</a:t>
            </a:r>
            <a:r>
              <a:rPr lang="zh-CN" altLang="en-US" sz="1800" i="1" dirty="0" smtClean="0">
                <a:solidFill>
                  <a:srgbClr val="C00000"/>
                </a:solidFill>
                <a:latin typeface="Calibri" pitchFamily="34" charset="0"/>
              </a:rPr>
              <a:t>景 </a:t>
            </a:r>
            <a:r>
              <a:rPr lang="en-US" altLang="zh-CN" sz="1800" i="1" dirty="0" smtClean="0">
                <a:solidFill>
                  <a:srgbClr val="C00000"/>
                </a:solidFill>
                <a:latin typeface="Calibri" pitchFamily="34" charset="0"/>
              </a:rPr>
              <a:t>4</a:t>
            </a:r>
            <a:endParaRPr lang="en-GB" sz="1800" i="1" dirty="0">
              <a:solidFill>
                <a:srgbClr val="C00000"/>
              </a:solidFill>
              <a:latin typeface="Calibri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"/>
          <p:cNvSpPr>
            <a:spLocks noChangeArrowheads="1"/>
          </p:cNvSpPr>
          <p:nvPr/>
        </p:nvSpPr>
        <p:spPr bwMode="auto">
          <a:xfrm>
            <a:off x="3276600" y="1905000"/>
            <a:ext cx="12954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m1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4572000" y="1905000"/>
            <a:ext cx="3810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1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28675" name="Rectangle 3"/>
          <p:cNvSpPr>
            <a:spLocks noChangeArrowheads="1"/>
          </p:cNvSpPr>
          <p:nvPr/>
        </p:nvSpPr>
        <p:spPr bwMode="auto">
          <a:xfrm>
            <a:off x="3276600" y="2209800"/>
            <a:ext cx="16764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title"/>
          </p:nvPr>
        </p:nvSpPr>
        <p:spPr>
          <a:xfrm>
            <a:off x="1943100" y="483418"/>
            <a:ext cx="8305800" cy="573087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dirty="0" smtClean="0"/>
              <a:t>常数时间合并（场景 </a:t>
            </a:r>
            <a:r>
              <a:rPr lang="en-US" altLang="zh-CN" dirty="0" smtClean="0"/>
              <a:t>1 </a:t>
            </a:r>
            <a:r>
              <a:rPr lang="zh-CN" altLang="en-US" dirty="0" smtClean="0"/>
              <a:t>）</a:t>
            </a:r>
            <a:endParaRPr lang="en-GB" dirty="0"/>
          </a:p>
        </p:txBody>
      </p:sp>
      <p:sp>
        <p:nvSpPr>
          <p:cNvPr id="28677" name="Rectangle 5"/>
          <p:cNvSpPr>
            <a:spLocks noChangeArrowheads="1"/>
          </p:cNvSpPr>
          <p:nvPr/>
        </p:nvSpPr>
        <p:spPr bwMode="auto">
          <a:xfrm>
            <a:off x="3276600" y="2514600"/>
            <a:ext cx="1676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678" name="Rectangle 6"/>
          <p:cNvSpPr>
            <a:spLocks noChangeArrowheads="1"/>
          </p:cNvSpPr>
          <p:nvPr/>
        </p:nvSpPr>
        <p:spPr bwMode="auto">
          <a:xfrm>
            <a:off x="3276600" y="2514600"/>
            <a:ext cx="12954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m1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28679" name="Rectangle 7"/>
          <p:cNvSpPr>
            <a:spLocks noChangeArrowheads="1"/>
          </p:cNvSpPr>
          <p:nvPr/>
        </p:nvSpPr>
        <p:spPr bwMode="auto">
          <a:xfrm>
            <a:off x="4572000" y="2514600"/>
            <a:ext cx="3810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1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28680" name="Rectangle 8"/>
          <p:cNvSpPr>
            <a:spLocks noChangeArrowheads="1"/>
          </p:cNvSpPr>
          <p:nvPr/>
        </p:nvSpPr>
        <p:spPr bwMode="auto">
          <a:xfrm>
            <a:off x="3276600" y="1905000"/>
            <a:ext cx="1676400" cy="914400"/>
          </a:xfrm>
          <a:prstGeom prst="rect">
            <a:avLst/>
          </a:prstGeom>
          <a:noFill/>
          <a:ln w="3816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681" name="Line 9"/>
          <p:cNvSpPr>
            <a:spLocks noChangeShapeType="1"/>
          </p:cNvSpPr>
          <p:nvPr/>
        </p:nvSpPr>
        <p:spPr bwMode="auto">
          <a:xfrm>
            <a:off x="4114800" y="4191000"/>
            <a:ext cx="1588" cy="457200"/>
          </a:xfrm>
          <a:prstGeom prst="line">
            <a:avLst/>
          </a:prstGeom>
          <a:noFill/>
          <a:ln w="25560">
            <a:solidFill>
              <a:schemeClr val="tx1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682" name="Rectangle 10"/>
          <p:cNvSpPr>
            <a:spLocks noChangeArrowheads="1"/>
          </p:cNvSpPr>
          <p:nvPr/>
        </p:nvSpPr>
        <p:spPr bwMode="auto">
          <a:xfrm>
            <a:off x="3276600" y="2819400"/>
            <a:ext cx="12954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n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28683" name="Rectangle 11"/>
          <p:cNvSpPr>
            <a:spLocks noChangeArrowheads="1"/>
          </p:cNvSpPr>
          <p:nvPr/>
        </p:nvSpPr>
        <p:spPr bwMode="auto">
          <a:xfrm>
            <a:off x="4572000" y="2819400"/>
            <a:ext cx="3810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1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28684" name="Rectangle 12"/>
          <p:cNvSpPr>
            <a:spLocks noChangeArrowheads="1"/>
          </p:cNvSpPr>
          <p:nvPr/>
        </p:nvSpPr>
        <p:spPr bwMode="auto">
          <a:xfrm>
            <a:off x="3276600" y="3124200"/>
            <a:ext cx="16764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685" name="Rectangle 13"/>
          <p:cNvSpPr>
            <a:spLocks noChangeArrowheads="1"/>
          </p:cNvSpPr>
          <p:nvPr/>
        </p:nvSpPr>
        <p:spPr bwMode="auto">
          <a:xfrm>
            <a:off x="3276600" y="3429000"/>
            <a:ext cx="1676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686" name="Rectangle 14"/>
          <p:cNvSpPr>
            <a:spLocks noChangeArrowheads="1"/>
          </p:cNvSpPr>
          <p:nvPr/>
        </p:nvSpPr>
        <p:spPr bwMode="auto">
          <a:xfrm>
            <a:off x="3276600" y="3429000"/>
            <a:ext cx="12954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n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28687" name="Rectangle 15"/>
          <p:cNvSpPr>
            <a:spLocks noChangeArrowheads="1"/>
          </p:cNvSpPr>
          <p:nvPr/>
        </p:nvSpPr>
        <p:spPr bwMode="auto">
          <a:xfrm>
            <a:off x="4572000" y="3429000"/>
            <a:ext cx="3810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1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28688" name="Rectangle 16"/>
          <p:cNvSpPr>
            <a:spLocks noChangeArrowheads="1"/>
          </p:cNvSpPr>
          <p:nvPr/>
        </p:nvSpPr>
        <p:spPr bwMode="auto">
          <a:xfrm>
            <a:off x="3276600" y="2819400"/>
            <a:ext cx="1676400" cy="914400"/>
          </a:xfrm>
          <a:prstGeom prst="rect">
            <a:avLst/>
          </a:prstGeom>
          <a:noFill/>
          <a:ln w="3816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689" name="Rectangle 17"/>
          <p:cNvSpPr>
            <a:spLocks noChangeArrowheads="1"/>
          </p:cNvSpPr>
          <p:nvPr/>
        </p:nvSpPr>
        <p:spPr bwMode="auto">
          <a:xfrm>
            <a:off x="3276600" y="3733800"/>
            <a:ext cx="12954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m2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28690" name="Rectangle 18"/>
          <p:cNvSpPr>
            <a:spLocks noChangeArrowheads="1"/>
          </p:cNvSpPr>
          <p:nvPr/>
        </p:nvSpPr>
        <p:spPr bwMode="auto">
          <a:xfrm>
            <a:off x="4572000" y="3733800"/>
            <a:ext cx="3810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1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28691" name="Rectangle 19"/>
          <p:cNvSpPr>
            <a:spLocks noChangeArrowheads="1"/>
          </p:cNvSpPr>
          <p:nvPr/>
        </p:nvSpPr>
        <p:spPr bwMode="auto">
          <a:xfrm>
            <a:off x="3276600" y="4038600"/>
            <a:ext cx="16764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692" name="Rectangle 20"/>
          <p:cNvSpPr>
            <a:spLocks noChangeArrowheads="1"/>
          </p:cNvSpPr>
          <p:nvPr/>
        </p:nvSpPr>
        <p:spPr bwMode="auto">
          <a:xfrm>
            <a:off x="3276600" y="4343400"/>
            <a:ext cx="1676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693" name="Rectangle 21"/>
          <p:cNvSpPr>
            <a:spLocks noChangeArrowheads="1"/>
          </p:cNvSpPr>
          <p:nvPr/>
        </p:nvSpPr>
        <p:spPr bwMode="auto">
          <a:xfrm>
            <a:off x="3276600" y="4343400"/>
            <a:ext cx="12954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m2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28694" name="Rectangle 22"/>
          <p:cNvSpPr>
            <a:spLocks noChangeArrowheads="1"/>
          </p:cNvSpPr>
          <p:nvPr/>
        </p:nvSpPr>
        <p:spPr bwMode="auto">
          <a:xfrm>
            <a:off x="4572000" y="4343400"/>
            <a:ext cx="3810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1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28695" name="Rectangle 23"/>
          <p:cNvSpPr>
            <a:spLocks noChangeArrowheads="1"/>
          </p:cNvSpPr>
          <p:nvPr/>
        </p:nvSpPr>
        <p:spPr bwMode="auto">
          <a:xfrm>
            <a:off x="3276600" y="3733800"/>
            <a:ext cx="1676400" cy="914400"/>
          </a:xfrm>
          <a:prstGeom prst="rect">
            <a:avLst/>
          </a:prstGeom>
          <a:noFill/>
          <a:ln w="3816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5105400" y="1905000"/>
            <a:ext cx="2514600" cy="2743200"/>
            <a:chOff x="3581400" y="1905000"/>
            <a:chExt cx="2514600" cy="2743200"/>
          </a:xfrm>
        </p:grpSpPr>
        <p:sp>
          <p:nvSpPr>
            <p:cNvPr id="28696" name="Rectangle 24"/>
            <p:cNvSpPr>
              <a:spLocks noChangeArrowheads="1"/>
            </p:cNvSpPr>
            <p:nvPr/>
          </p:nvSpPr>
          <p:spPr bwMode="auto">
            <a:xfrm>
              <a:off x="4419600" y="1905000"/>
              <a:ext cx="12954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m1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28697" name="Rectangle 25"/>
            <p:cNvSpPr>
              <a:spLocks noChangeArrowheads="1"/>
            </p:cNvSpPr>
            <p:nvPr/>
          </p:nvSpPr>
          <p:spPr bwMode="auto">
            <a:xfrm>
              <a:off x="5715000" y="1905000"/>
              <a:ext cx="3810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1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28698" name="Rectangle 26"/>
            <p:cNvSpPr>
              <a:spLocks noChangeArrowheads="1"/>
            </p:cNvSpPr>
            <p:nvPr/>
          </p:nvSpPr>
          <p:spPr bwMode="auto">
            <a:xfrm>
              <a:off x="4419600" y="2209800"/>
              <a:ext cx="16764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9" name="Rectangle 27"/>
            <p:cNvSpPr>
              <a:spLocks noChangeArrowheads="1"/>
            </p:cNvSpPr>
            <p:nvPr/>
          </p:nvSpPr>
          <p:spPr bwMode="auto">
            <a:xfrm>
              <a:off x="4419600" y="2514600"/>
              <a:ext cx="16764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00" name="Rectangle 28"/>
            <p:cNvSpPr>
              <a:spLocks noChangeArrowheads="1"/>
            </p:cNvSpPr>
            <p:nvPr/>
          </p:nvSpPr>
          <p:spPr bwMode="auto">
            <a:xfrm>
              <a:off x="4419600" y="2514600"/>
              <a:ext cx="12954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m1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28701" name="Rectangle 29"/>
            <p:cNvSpPr>
              <a:spLocks noChangeArrowheads="1"/>
            </p:cNvSpPr>
            <p:nvPr/>
          </p:nvSpPr>
          <p:spPr bwMode="auto">
            <a:xfrm>
              <a:off x="5715000" y="2514600"/>
              <a:ext cx="3810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1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28702" name="Rectangle 30"/>
            <p:cNvSpPr>
              <a:spLocks noChangeArrowheads="1"/>
            </p:cNvSpPr>
            <p:nvPr/>
          </p:nvSpPr>
          <p:spPr bwMode="auto">
            <a:xfrm>
              <a:off x="4419600" y="1905000"/>
              <a:ext cx="1676400" cy="914400"/>
            </a:xfrm>
            <a:prstGeom prst="rect">
              <a:avLst/>
            </a:prstGeom>
            <a:noFill/>
            <a:ln w="3816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03" name="Line 31"/>
            <p:cNvSpPr>
              <a:spLocks noChangeShapeType="1"/>
            </p:cNvSpPr>
            <p:nvPr/>
          </p:nvSpPr>
          <p:spPr bwMode="auto">
            <a:xfrm>
              <a:off x="5257800" y="4191000"/>
              <a:ext cx="1588" cy="457200"/>
            </a:xfrm>
            <a:prstGeom prst="line">
              <a:avLst/>
            </a:prstGeom>
            <a:noFill/>
            <a:ln w="25560">
              <a:solidFill>
                <a:schemeClr val="tx1"/>
              </a:solidFill>
              <a:miter lim="800000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8704" name="Rectangle 32"/>
            <p:cNvSpPr>
              <a:spLocks noChangeArrowheads="1"/>
            </p:cNvSpPr>
            <p:nvPr/>
          </p:nvSpPr>
          <p:spPr bwMode="auto">
            <a:xfrm>
              <a:off x="4419600" y="2819400"/>
              <a:ext cx="12954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n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28705" name="Rectangle 33"/>
            <p:cNvSpPr>
              <a:spLocks noChangeArrowheads="1"/>
            </p:cNvSpPr>
            <p:nvPr/>
          </p:nvSpPr>
          <p:spPr bwMode="auto">
            <a:xfrm>
              <a:off x="5715000" y="2819400"/>
              <a:ext cx="3810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0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28706" name="Rectangle 34"/>
            <p:cNvSpPr>
              <a:spLocks noChangeArrowheads="1"/>
            </p:cNvSpPr>
            <p:nvPr/>
          </p:nvSpPr>
          <p:spPr bwMode="auto">
            <a:xfrm>
              <a:off x="4419600" y="3124200"/>
              <a:ext cx="1676400" cy="304800"/>
            </a:xfrm>
            <a:prstGeom prst="rect">
              <a:avLst/>
            </a:prstGeom>
            <a:solidFill>
              <a:schemeClr val="bg1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07" name="Rectangle 35"/>
            <p:cNvSpPr>
              <a:spLocks noChangeArrowheads="1"/>
            </p:cNvSpPr>
            <p:nvPr/>
          </p:nvSpPr>
          <p:spPr bwMode="auto">
            <a:xfrm>
              <a:off x="4419600" y="3429000"/>
              <a:ext cx="16764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08" name="Rectangle 36"/>
            <p:cNvSpPr>
              <a:spLocks noChangeArrowheads="1"/>
            </p:cNvSpPr>
            <p:nvPr/>
          </p:nvSpPr>
          <p:spPr bwMode="auto">
            <a:xfrm>
              <a:off x="4419600" y="3429000"/>
              <a:ext cx="12954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n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28709" name="Rectangle 37"/>
            <p:cNvSpPr>
              <a:spLocks noChangeArrowheads="1"/>
            </p:cNvSpPr>
            <p:nvPr/>
          </p:nvSpPr>
          <p:spPr bwMode="auto">
            <a:xfrm>
              <a:off x="5715000" y="3429000"/>
              <a:ext cx="3810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0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28710" name="Rectangle 38"/>
            <p:cNvSpPr>
              <a:spLocks noChangeArrowheads="1"/>
            </p:cNvSpPr>
            <p:nvPr/>
          </p:nvSpPr>
          <p:spPr bwMode="auto">
            <a:xfrm>
              <a:off x="4419600" y="2819400"/>
              <a:ext cx="1676400" cy="914400"/>
            </a:xfrm>
            <a:prstGeom prst="rect">
              <a:avLst/>
            </a:prstGeom>
            <a:noFill/>
            <a:ln w="3816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11" name="Rectangle 39"/>
            <p:cNvSpPr>
              <a:spLocks noChangeArrowheads="1"/>
            </p:cNvSpPr>
            <p:nvPr/>
          </p:nvSpPr>
          <p:spPr bwMode="auto">
            <a:xfrm>
              <a:off x="4419600" y="3733800"/>
              <a:ext cx="12954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m2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28712" name="Rectangle 40"/>
            <p:cNvSpPr>
              <a:spLocks noChangeArrowheads="1"/>
            </p:cNvSpPr>
            <p:nvPr/>
          </p:nvSpPr>
          <p:spPr bwMode="auto">
            <a:xfrm>
              <a:off x="5715000" y="3733800"/>
              <a:ext cx="3810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1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28713" name="Rectangle 41"/>
            <p:cNvSpPr>
              <a:spLocks noChangeArrowheads="1"/>
            </p:cNvSpPr>
            <p:nvPr/>
          </p:nvSpPr>
          <p:spPr bwMode="auto">
            <a:xfrm>
              <a:off x="4419600" y="4038600"/>
              <a:ext cx="16764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14" name="Rectangle 42"/>
            <p:cNvSpPr>
              <a:spLocks noChangeArrowheads="1"/>
            </p:cNvSpPr>
            <p:nvPr/>
          </p:nvSpPr>
          <p:spPr bwMode="auto">
            <a:xfrm>
              <a:off x="4419600" y="4343400"/>
              <a:ext cx="16764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15" name="Rectangle 43"/>
            <p:cNvSpPr>
              <a:spLocks noChangeArrowheads="1"/>
            </p:cNvSpPr>
            <p:nvPr/>
          </p:nvSpPr>
          <p:spPr bwMode="auto">
            <a:xfrm>
              <a:off x="4419600" y="4343400"/>
              <a:ext cx="12954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m2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28716" name="Rectangle 44"/>
            <p:cNvSpPr>
              <a:spLocks noChangeArrowheads="1"/>
            </p:cNvSpPr>
            <p:nvPr/>
          </p:nvSpPr>
          <p:spPr bwMode="auto">
            <a:xfrm>
              <a:off x="5715000" y="4343400"/>
              <a:ext cx="3810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1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28717" name="Rectangle 45"/>
            <p:cNvSpPr>
              <a:spLocks noChangeArrowheads="1"/>
            </p:cNvSpPr>
            <p:nvPr/>
          </p:nvSpPr>
          <p:spPr bwMode="auto">
            <a:xfrm>
              <a:off x="4419600" y="3733800"/>
              <a:ext cx="1676400" cy="914400"/>
            </a:xfrm>
            <a:prstGeom prst="rect">
              <a:avLst/>
            </a:prstGeom>
            <a:noFill/>
            <a:ln w="3816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18" name="Line 46"/>
            <p:cNvSpPr>
              <a:spLocks noChangeShapeType="1"/>
            </p:cNvSpPr>
            <p:nvPr/>
          </p:nvSpPr>
          <p:spPr bwMode="auto">
            <a:xfrm>
              <a:off x="3581400" y="3276600"/>
              <a:ext cx="609600" cy="1588"/>
            </a:xfrm>
            <a:prstGeom prst="line">
              <a:avLst/>
            </a:prstGeom>
            <a:noFill/>
            <a:ln w="25560">
              <a:solidFill>
                <a:schemeClr val="tx1"/>
              </a:solidFill>
              <a:miter lim="800000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10" name="Rectangle 14"/>
          <p:cNvSpPr>
            <a:spLocks noChangeArrowheads="1"/>
          </p:cNvSpPr>
          <p:nvPr/>
        </p:nvSpPr>
        <p:spPr bwMode="auto">
          <a:xfrm>
            <a:off x="3276600" y="1905000"/>
            <a:ext cx="12954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m1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29711" name="Rectangle 15"/>
          <p:cNvSpPr>
            <a:spLocks noChangeArrowheads="1"/>
          </p:cNvSpPr>
          <p:nvPr/>
        </p:nvSpPr>
        <p:spPr bwMode="auto">
          <a:xfrm>
            <a:off x="4572000" y="1905000"/>
            <a:ext cx="3810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1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29712" name="Rectangle 16"/>
          <p:cNvSpPr>
            <a:spLocks noChangeArrowheads="1"/>
          </p:cNvSpPr>
          <p:nvPr/>
        </p:nvSpPr>
        <p:spPr bwMode="auto">
          <a:xfrm>
            <a:off x="3276600" y="2209800"/>
            <a:ext cx="16764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713" name="Rectangle 17"/>
          <p:cNvSpPr>
            <a:spLocks noChangeArrowheads="1"/>
          </p:cNvSpPr>
          <p:nvPr/>
        </p:nvSpPr>
        <p:spPr bwMode="auto">
          <a:xfrm>
            <a:off x="3276600" y="2514600"/>
            <a:ext cx="1676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714" name="Rectangle 18"/>
          <p:cNvSpPr>
            <a:spLocks noChangeArrowheads="1"/>
          </p:cNvSpPr>
          <p:nvPr/>
        </p:nvSpPr>
        <p:spPr bwMode="auto">
          <a:xfrm>
            <a:off x="3276600" y="2514600"/>
            <a:ext cx="12954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m1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29715" name="Rectangle 19"/>
          <p:cNvSpPr>
            <a:spLocks noChangeArrowheads="1"/>
          </p:cNvSpPr>
          <p:nvPr/>
        </p:nvSpPr>
        <p:spPr bwMode="auto">
          <a:xfrm>
            <a:off x="4572000" y="2514600"/>
            <a:ext cx="3810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1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29716" name="Rectangle 20"/>
          <p:cNvSpPr>
            <a:spLocks noChangeArrowheads="1"/>
          </p:cNvSpPr>
          <p:nvPr/>
        </p:nvSpPr>
        <p:spPr bwMode="auto">
          <a:xfrm>
            <a:off x="3276600" y="1905000"/>
            <a:ext cx="1676400" cy="914400"/>
          </a:xfrm>
          <a:prstGeom prst="rect">
            <a:avLst/>
          </a:prstGeom>
          <a:noFill/>
          <a:ln w="3816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717" name="Line 21"/>
          <p:cNvSpPr>
            <a:spLocks noChangeShapeType="1"/>
          </p:cNvSpPr>
          <p:nvPr/>
        </p:nvSpPr>
        <p:spPr bwMode="auto">
          <a:xfrm>
            <a:off x="4114800" y="4191000"/>
            <a:ext cx="1588" cy="457200"/>
          </a:xfrm>
          <a:prstGeom prst="line">
            <a:avLst/>
          </a:prstGeom>
          <a:noFill/>
          <a:ln w="25560">
            <a:solidFill>
              <a:schemeClr val="tx1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718" name="Rectangle 22"/>
          <p:cNvSpPr>
            <a:spLocks noChangeArrowheads="1"/>
          </p:cNvSpPr>
          <p:nvPr/>
        </p:nvSpPr>
        <p:spPr bwMode="auto">
          <a:xfrm>
            <a:off x="3276600" y="2819400"/>
            <a:ext cx="12954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n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29719" name="Rectangle 23"/>
          <p:cNvSpPr>
            <a:spLocks noChangeArrowheads="1"/>
          </p:cNvSpPr>
          <p:nvPr/>
        </p:nvSpPr>
        <p:spPr bwMode="auto">
          <a:xfrm>
            <a:off x="4572000" y="2819400"/>
            <a:ext cx="3810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1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29720" name="Rectangle 24"/>
          <p:cNvSpPr>
            <a:spLocks noChangeArrowheads="1"/>
          </p:cNvSpPr>
          <p:nvPr/>
        </p:nvSpPr>
        <p:spPr bwMode="auto">
          <a:xfrm>
            <a:off x="3276600" y="3124200"/>
            <a:ext cx="16764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721" name="Rectangle 25"/>
          <p:cNvSpPr>
            <a:spLocks noChangeArrowheads="1"/>
          </p:cNvSpPr>
          <p:nvPr/>
        </p:nvSpPr>
        <p:spPr bwMode="auto">
          <a:xfrm>
            <a:off x="3276600" y="3429000"/>
            <a:ext cx="1676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722" name="Rectangle 26"/>
          <p:cNvSpPr>
            <a:spLocks noChangeArrowheads="1"/>
          </p:cNvSpPr>
          <p:nvPr/>
        </p:nvSpPr>
        <p:spPr bwMode="auto">
          <a:xfrm>
            <a:off x="3276600" y="3429000"/>
            <a:ext cx="12954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n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29723" name="Rectangle 27"/>
          <p:cNvSpPr>
            <a:spLocks noChangeArrowheads="1"/>
          </p:cNvSpPr>
          <p:nvPr/>
        </p:nvSpPr>
        <p:spPr bwMode="auto">
          <a:xfrm>
            <a:off x="4572000" y="3429000"/>
            <a:ext cx="3810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1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29724" name="Rectangle 28"/>
          <p:cNvSpPr>
            <a:spLocks noChangeArrowheads="1"/>
          </p:cNvSpPr>
          <p:nvPr/>
        </p:nvSpPr>
        <p:spPr bwMode="auto">
          <a:xfrm>
            <a:off x="3276600" y="2819400"/>
            <a:ext cx="1676400" cy="914400"/>
          </a:xfrm>
          <a:prstGeom prst="rect">
            <a:avLst/>
          </a:prstGeom>
          <a:noFill/>
          <a:ln w="3816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725" name="Rectangle 29"/>
          <p:cNvSpPr>
            <a:spLocks noChangeArrowheads="1"/>
          </p:cNvSpPr>
          <p:nvPr/>
        </p:nvSpPr>
        <p:spPr bwMode="auto">
          <a:xfrm>
            <a:off x="3276600" y="3733800"/>
            <a:ext cx="12954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m2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29726" name="Rectangle 30"/>
          <p:cNvSpPr>
            <a:spLocks noChangeArrowheads="1"/>
          </p:cNvSpPr>
          <p:nvPr/>
        </p:nvSpPr>
        <p:spPr bwMode="auto">
          <a:xfrm>
            <a:off x="4572000" y="3733800"/>
            <a:ext cx="3810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0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29727" name="Rectangle 31"/>
          <p:cNvSpPr>
            <a:spLocks noChangeArrowheads="1"/>
          </p:cNvSpPr>
          <p:nvPr/>
        </p:nvSpPr>
        <p:spPr bwMode="auto">
          <a:xfrm>
            <a:off x="3276600" y="4038600"/>
            <a:ext cx="16764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728" name="Rectangle 32"/>
          <p:cNvSpPr>
            <a:spLocks noChangeArrowheads="1"/>
          </p:cNvSpPr>
          <p:nvPr/>
        </p:nvSpPr>
        <p:spPr bwMode="auto">
          <a:xfrm>
            <a:off x="3276600" y="4343400"/>
            <a:ext cx="1676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729" name="Rectangle 33"/>
          <p:cNvSpPr>
            <a:spLocks noChangeArrowheads="1"/>
          </p:cNvSpPr>
          <p:nvPr/>
        </p:nvSpPr>
        <p:spPr bwMode="auto">
          <a:xfrm>
            <a:off x="3276600" y="4343400"/>
            <a:ext cx="12954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m2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29730" name="Rectangle 34"/>
          <p:cNvSpPr>
            <a:spLocks noChangeArrowheads="1"/>
          </p:cNvSpPr>
          <p:nvPr/>
        </p:nvSpPr>
        <p:spPr bwMode="auto">
          <a:xfrm>
            <a:off x="4572000" y="4343400"/>
            <a:ext cx="3810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0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29731" name="Rectangle 35"/>
          <p:cNvSpPr>
            <a:spLocks noChangeArrowheads="1"/>
          </p:cNvSpPr>
          <p:nvPr/>
        </p:nvSpPr>
        <p:spPr bwMode="auto">
          <a:xfrm>
            <a:off x="3276600" y="3733800"/>
            <a:ext cx="1676400" cy="914400"/>
          </a:xfrm>
          <a:prstGeom prst="rect">
            <a:avLst/>
          </a:prstGeom>
          <a:noFill/>
          <a:ln w="3816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5257800" y="1905000"/>
            <a:ext cx="2514600" cy="2743200"/>
            <a:chOff x="3733800" y="1905000"/>
            <a:chExt cx="2514600" cy="2743200"/>
          </a:xfrm>
        </p:grpSpPr>
        <p:sp>
          <p:nvSpPr>
            <p:cNvPr id="29697" name="Rectangle 1"/>
            <p:cNvSpPr>
              <a:spLocks noChangeArrowheads="1"/>
            </p:cNvSpPr>
            <p:nvPr/>
          </p:nvSpPr>
          <p:spPr bwMode="auto">
            <a:xfrm>
              <a:off x="4572000" y="1905000"/>
              <a:ext cx="12954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m1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29698" name="Rectangle 2"/>
            <p:cNvSpPr>
              <a:spLocks noChangeArrowheads="1"/>
            </p:cNvSpPr>
            <p:nvPr/>
          </p:nvSpPr>
          <p:spPr bwMode="auto">
            <a:xfrm>
              <a:off x="5867400" y="1905000"/>
              <a:ext cx="3810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1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29699" name="Rectangle 3"/>
            <p:cNvSpPr>
              <a:spLocks noChangeArrowheads="1"/>
            </p:cNvSpPr>
            <p:nvPr/>
          </p:nvSpPr>
          <p:spPr bwMode="auto">
            <a:xfrm>
              <a:off x="4572000" y="2209800"/>
              <a:ext cx="16764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1" name="Rectangle 5"/>
            <p:cNvSpPr>
              <a:spLocks noChangeArrowheads="1"/>
            </p:cNvSpPr>
            <p:nvPr/>
          </p:nvSpPr>
          <p:spPr bwMode="auto">
            <a:xfrm>
              <a:off x="4572000" y="2514600"/>
              <a:ext cx="16764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2" name="Rectangle 6"/>
            <p:cNvSpPr>
              <a:spLocks noChangeArrowheads="1"/>
            </p:cNvSpPr>
            <p:nvPr/>
          </p:nvSpPr>
          <p:spPr bwMode="auto">
            <a:xfrm>
              <a:off x="4572000" y="2514600"/>
              <a:ext cx="12954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m1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29703" name="Rectangle 7"/>
            <p:cNvSpPr>
              <a:spLocks noChangeArrowheads="1"/>
            </p:cNvSpPr>
            <p:nvPr/>
          </p:nvSpPr>
          <p:spPr bwMode="auto">
            <a:xfrm>
              <a:off x="5867400" y="2514600"/>
              <a:ext cx="3810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1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29704" name="Rectangle 8"/>
            <p:cNvSpPr>
              <a:spLocks noChangeArrowheads="1"/>
            </p:cNvSpPr>
            <p:nvPr/>
          </p:nvSpPr>
          <p:spPr bwMode="auto">
            <a:xfrm>
              <a:off x="4572000" y="1905000"/>
              <a:ext cx="1676400" cy="914400"/>
            </a:xfrm>
            <a:prstGeom prst="rect">
              <a:avLst/>
            </a:prstGeom>
            <a:noFill/>
            <a:ln w="3816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5" name="Rectangle 9"/>
            <p:cNvSpPr>
              <a:spLocks noChangeArrowheads="1"/>
            </p:cNvSpPr>
            <p:nvPr/>
          </p:nvSpPr>
          <p:spPr bwMode="auto">
            <a:xfrm>
              <a:off x="4572000" y="2819400"/>
              <a:ext cx="12954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n+m2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29706" name="Rectangle 10"/>
            <p:cNvSpPr>
              <a:spLocks noChangeArrowheads="1"/>
            </p:cNvSpPr>
            <p:nvPr/>
          </p:nvSpPr>
          <p:spPr bwMode="auto">
            <a:xfrm>
              <a:off x="5867400" y="2819400"/>
              <a:ext cx="3810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0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29707" name="Rectangle 11"/>
            <p:cNvSpPr>
              <a:spLocks noChangeArrowheads="1"/>
            </p:cNvSpPr>
            <p:nvPr/>
          </p:nvSpPr>
          <p:spPr bwMode="auto">
            <a:xfrm>
              <a:off x="4572000" y="4343400"/>
              <a:ext cx="16764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8" name="Rectangle 12"/>
            <p:cNvSpPr>
              <a:spLocks noChangeArrowheads="1"/>
            </p:cNvSpPr>
            <p:nvPr/>
          </p:nvSpPr>
          <p:spPr bwMode="auto">
            <a:xfrm>
              <a:off x="4572000" y="4343400"/>
              <a:ext cx="12954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n+m2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29709" name="Rectangle 13"/>
            <p:cNvSpPr>
              <a:spLocks noChangeArrowheads="1"/>
            </p:cNvSpPr>
            <p:nvPr/>
          </p:nvSpPr>
          <p:spPr bwMode="auto">
            <a:xfrm>
              <a:off x="5867400" y="4343400"/>
              <a:ext cx="3810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0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29732" name="Line 36"/>
            <p:cNvSpPr>
              <a:spLocks noChangeShapeType="1"/>
            </p:cNvSpPr>
            <p:nvPr/>
          </p:nvSpPr>
          <p:spPr bwMode="auto">
            <a:xfrm>
              <a:off x="3733800" y="3276600"/>
              <a:ext cx="609600" cy="1588"/>
            </a:xfrm>
            <a:prstGeom prst="line">
              <a:avLst/>
            </a:prstGeom>
            <a:noFill/>
            <a:ln w="25560">
              <a:solidFill>
                <a:schemeClr val="tx1"/>
              </a:solidFill>
              <a:miter lim="800000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9733" name="Rectangle 37"/>
            <p:cNvSpPr>
              <a:spLocks noChangeArrowheads="1"/>
            </p:cNvSpPr>
            <p:nvPr/>
          </p:nvSpPr>
          <p:spPr bwMode="auto">
            <a:xfrm>
              <a:off x="4572000" y="3124200"/>
              <a:ext cx="1676400" cy="1219200"/>
            </a:xfrm>
            <a:prstGeom prst="rect">
              <a:avLst/>
            </a:prstGeom>
            <a:solidFill>
              <a:schemeClr val="bg1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4" name="Rectangle 38"/>
            <p:cNvSpPr>
              <a:spLocks noChangeArrowheads="1"/>
            </p:cNvSpPr>
            <p:nvPr/>
          </p:nvSpPr>
          <p:spPr bwMode="auto">
            <a:xfrm>
              <a:off x="4572000" y="2819400"/>
              <a:ext cx="1676400" cy="1828800"/>
            </a:xfrm>
            <a:prstGeom prst="rect">
              <a:avLst/>
            </a:prstGeom>
            <a:noFill/>
            <a:ln w="3816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2" name="Rectangle 4"/>
          <p:cNvSpPr>
            <a:spLocks noGrp="1" noChangeArrowheads="1"/>
          </p:cNvSpPr>
          <p:nvPr>
            <p:ph type="title"/>
          </p:nvPr>
        </p:nvSpPr>
        <p:spPr>
          <a:xfrm>
            <a:off x="1943100" y="483418"/>
            <a:ext cx="8305800" cy="573087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dirty="0" smtClean="0"/>
              <a:t>常数时间合并（场景 </a:t>
            </a:r>
            <a:r>
              <a:rPr lang="en-US" altLang="zh-CN" dirty="0" smtClean="0"/>
              <a:t>2 </a:t>
            </a:r>
            <a:r>
              <a:rPr lang="zh-CN" altLang="en-US" dirty="0" smtClean="0"/>
              <a:t>）</a:t>
            </a:r>
            <a:endParaRPr lang="en-GB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1"/>
          <p:cNvSpPr>
            <a:spLocks noChangeArrowheads="1"/>
          </p:cNvSpPr>
          <p:nvPr/>
        </p:nvSpPr>
        <p:spPr bwMode="auto">
          <a:xfrm>
            <a:off x="3276600" y="1905000"/>
            <a:ext cx="1295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m1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4572000" y="1905000"/>
            <a:ext cx="3810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0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30723" name="Rectangle 3"/>
          <p:cNvSpPr>
            <a:spLocks noChangeArrowheads="1"/>
          </p:cNvSpPr>
          <p:nvPr/>
        </p:nvSpPr>
        <p:spPr bwMode="auto">
          <a:xfrm>
            <a:off x="3276600" y="2209800"/>
            <a:ext cx="1676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725" name="Rectangle 5"/>
          <p:cNvSpPr>
            <a:spLocks noChangeArrowheads="1"/>
          </p:cNvSpPr>
          <p:nvPr/>
        </p:nvSpPr>
        <p:spPr bwMode="auto">
          <a:xfrm>
            <a:off x="3276600" y="2514600"/>
            <a:ext cx="1676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726" name="Rectangle 6"/>
          <p:cNvSpPr>
            <a:spLocks noChangeArrowheads="1"/>
          </p:cNvSpPr>
          <p:nvPr/>
        </p:nvSpPr>
        <p:spPr bwMode="auto">
          <a:xfrm>
            <a:off x="3276600" y="2514600"/>
            <a:ext cx="1295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m1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30727" name="Rectangle 7"/>
          <p:cNvSpPr>
            <a:spLocks noChangeArrowheads="1"/>
          </p:cNvSpPr>
          <p:nvPr/>
        </p:nvSpPr>
        <p:spPr bwMode="auto">
          <a:xfrm>
            <a:off x="4572000" y="2514600"/>
            <a:ext cx="3810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0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30728" name="Rectangle 8"/>
          <p:cNvSpPr>
            <a:spLocks noChangeArrowheads="1"/>
          </p:cNvSpPr>
          <p:nvPr/>
        </p:nvSpPr>
        <p:spPr bwMode="auto">
          <a:xfrm>
            <a:off x="3276600" y="1905000"/>
            <a:ext cx="1676400" cy="914400"/>
          </a:xfrm>
          <a:prstGeom prst="rect">
            <a:avLst/>
          </a:prstGeom>
          <a:noFill/>
          <a:ln w="3816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729" name="Line 9"/>
          <p:cNvSpPr>
            <a:spLocks noChangeShapeType="1"/>
          </p:cNvSpPr>
          <p:nvPr/>
        </p:nvSpPr>
        <p:spPr bwMode="auto">
          <a:xfrm>
            <a:off x="4114800" y="4191000"/>
            <a:ext cx="1588" cy="457200"/>
          </a:xfrm>
          <a:prstGeom prst="line">
            <a:avLst/>
          </a:prstGeom>
          <a:noFill/>
          <a:ln w="25560">
            <a:solidFill>
              <a:schemeClr val="tx1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730" name="Rectangle 10"/>
          <p:cNvSpPr>
            <a:spLocks noChangeArrowheads="1"/>
          </p:cNvSpPr>
          <p:nvPr/>
        </p:nvSpPr>
        <p:spPr bwMode="auto">
          <a:xfrm>
            <a:off x="3276600" y="2819400"/>
            <a:ext cx="12954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n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30731" name="Rectangle 11"/>
          <p:cNvSpPr>
            <a:spLocks noChangeArrowheads="1"/>
          </p:cNvSpPr>
          <p:nvPr/>
        </p:nvSpPr>
        <p:spPr bwMode="auto">
          <a:xfrm>
            <a:off x="4572000" y="2819400"/>
            <a:ext cx="3810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1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30732" name="Rectangle 12"/>
          <p:cNvSpPr>
            <a:spLocks noChangeArrowheads="1"/>
          </p:cNvSpPr>
          <p:nvPr/>
        </p:nvSpPr>
        <p:spPr bwMode="auto">
          <a:xfrm>
            <a:off x="3276600" y="3124200"/>
            <a:ext cx="16764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733" name="Rectangle 13"/>
          <p:cNvSpPr>
            <a:spLocks noChangeArrowheads="1"/>
          </p:cNvSpPr>
          <p:nvPr/>
        </p:nvSpPr>
        <p:spPr bwMode="auto">
          <a:xfrm>
            <a:off x="3276600" y="3429000"/>
            <a:ext cx="1676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734" name="Rectangle 14"/>
          <p:cNvSpPr>
            <a:spLocks noChangeArrowheads="1"/>
          </p:cNvSpPr>
          <p:nvPr/>
        </p:nvSpPr>
        <p:spPr bwMode="auto">
          <a:xfrm>
            <a:off x="3276600" y="3429000"/>
            <a:ext cx="12954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n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30735" name="Rectangle 15"/>
          <p:cNvSpPr>
            <a:spLocks noChangeArrowheads="1"/>
          </p:cNvSpPr>
          <p:nvPr/>
        </p:nvSpPr>
        <p:spPr bwMode="auto">
          <a:xfrm>
            <a:off x="4572000" y="3429000"/>
            <a:ext cx="3810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1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30736" name="Rectangle 16"/>
          <p:cNvSpPr>
            <a:spLocks noChangeArrowheads="1"/>
          </p:cNvSpPr>
          <p:nvPr/>
        </p:nvSpPr>
        <p:spPr bwMode="auto">
          <a:xfrm>
            <a:off x="3276600" y="2819400"/>
            <a:ext cx="1676400" cy="914400"/>
          </a:xfrm>
          <a:prstGeom prst="rect">
            <a:avLst/>
          </a:prstGeom>
          <a:noFill/>
          <a:ln w="3816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737" name="Rectangle 17"/>
          <p:cNvSpPr>
            <a:spLocks noChangeArrowheads="1"/>
          </p:cNvSpPr>
          <p:nvPr/>
        </p:nvSpPr>
        <p:spPr bwMode="auto">
          <a:xfrm>
            <a:off x="3276600" y="3733800"/>
            <a:ext cx="12954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m2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30738" name="Rectangle 18"/>
          <p:cNvSpPr>
            <a:spLocks noChangeArrowheads="1"/>
          </p:cNvSpPr>
          <p:nvPr/>
        </p:nvSpPr>
        <p:spPr bwMode="auto">
          <a:xfrm>
            <a:off x="4572000" y="3733800"/>
            <a:ext cx="3810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1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30739" name="Rectangle 19"/>
          <p:cNvSpPr>
            <a:spLocks noChangeArrowheads="1"/>
          </p:cNvSpPr>
          <p:nvPr/>
        </p:nvSpPr>
        <p:spPr bwMode="auto">
          <a:xfrm>
            <a:off x="3276600" y="4038600"/>
            <a:ext cx="16764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740" name="Rectangle 20"/>
          <p:cNvSpPr>
            <a:spLocks noChangeArrowheads="1"/>
          </p:cNvSpPr>
          <p:nvPr/>
        </p:nvSpPr>
        <p:spPr bwMode="auto">
          <a:xfrm>
            <a:off x="3276600" y="4343400"/>
            <a:ext cx="1676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741" name="Rectangle 21"/>
          <p:cNvSpPr>
            <a:spLocks noChangeArrowheads="1"/>
          </p:cNvSpPr>
          <p:nvPr/>
        </p:nvSpPr>
        <p:spPr bwMode="auto">
          <a:xfrm>
            <a:off x="3276600" y="4343400"/>
            <a:ext cx="12954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m2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30742" name="Rectangle 22"/>
          <p:cNvSpPr>
            <a:spLocks noChangeArrowheads="1"/>
          </p:cNvSpPr>
          <p:nvPr/>
        </p:nvSpPr>
        <p:spPr bwMode="auto">
          <a:xfrm>
            <a:off x="4572000" y="4343400"/>
            <a:ext cx="3810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1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30743" name="Rectangle 23"/>
          <p:cNvSpPr>
            <a:spLocks noChangeArrowheads="1"/>
          </p:cNvSpPr>
          <p:nvPr/>
        </p:nvSpPr>
        <p:spPr bwMode="auto">
          <a:xfrm>
            <a:off x="3276600" y="3733800"/>
            <a:ext cx="1676400" cy="914400"/>
          </a:xfrm>
          <a:prstGeom prst="rect">
            <a:avLst/>
          </a:prstGeom>
          <a:noFill/>
          <a:ln w="3816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5105400" y="1905000"/>
            <a:ext cx="2514600" cy="2743200"/>
            <a:chOff x="3581400" y="1905000"/>
            <a:chExt cx="2514600" cy="2743200"/>
          </a:xfrm>
        </p:grpSpPr>
        <p:sp>
          <p:nvSpPr>
            <p:cNvPr id="30744" name="Rectangle 24"/>
            <p:cNvSpPr>
              <a:spLocks noChangeArrowheads="1"/>
            </p:cNvSpPr>
            <p:nvPr/>
          </p:nvSpPr>
          <p:spPr bwMode="auto">
            <a:xfrm>
              <a:off x="4419600" y="1905000"/>
              <a:ext cx="12954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n+m1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30745" name="Rectangle 25"/>
            <p:cNvSpPr>
              <a:spLocks noChangeArrowheads="1"/>
            </p:cNvSpPr>
            <p:nvPr/>
          </p:nvSpPr>
          <p:spPr bwMode="auto">
            <a:xfrm>
              <a:off x="5715000" y="1905000"/>
              <a:ext cx="3810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0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30746" name="Rectangle 26"/>
            <p:cNvSpPr>
              <a:spLocks noChangeArrowheads="1"/>
            </p:cNvSpPr>
            <p:nvPr/>
          </p:nvSpPr>
          <p:spPr bwMode="auto">
            <a:xfrm>
              <a:off x="4419600" y="2209800"/>
              <a:ext cx="1676400" cy="1219200"/>
            </a:xfrm>
            <a:prstGeom prst="rect">
              <a:avLst/>
            </a:prstGeom>
            <a:solidFill>
              <a:schemeClr val="bg1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7" name="Line 27"/>
            <p:cNvSpPr>
              <a:spLocks noChangeShapeType="1"/>
            </p:cNvSpPr>
            <p:nvPr/>
          </p:nvSpPr>
          <p:spPr bwMode="auto">
            <a:xfrm>
              <a:off x="5257800" y="4191000"/>
              <a:ext cx="1588" cy="457200"/>
            </a:xfrm>
            <a:prstGeom prst="line">
              <a:avLst/>
            </a:prstGeom>
            <a:noFill/>
            <a:ln w="25560">
              <a:solidFill>
                <a:schemeClr val="tx1"/>
              </a:solidFill>
              <a:miter lim="800000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0748" name="Rectangle 28"/>
            <p:cNvSpPr>
              <a:spLocks noChangeArrowheads="1"/>
            </p:cNvSpPr>
            <p:nvPr/>
          </p:nvSpPr>
          <p:spPr bwMode="auto">
            <a:xfrm>
              <a:off x="4419600" y="3429000"/>
              <a:ext cx="16764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9" name="Rectangle 29"/>
            <p:cNvSpPr>
              <a:spLocks noChangeArrowheads="1"/>
            </p:cNvSpPr>
            <p:nvPr/>
          </p:nvSpPr>
          <p:spPr bwMode="auto">
            <a:xfrm>
              <a:off x="4419600" y="3429000"/>
              <a:ext cx="12954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n+m1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30750" name="Rectangle 30"/>
            <p:cNvSpPr>
              <a:spLocks noChangeArrowheads="1"/>
            </p:cNvSpPr>
            <p:nvPr/>
          </p:nvSpPr>
          <p:spPr bwMode="auto">
            <a:xfrm>
              <a:off x="5715000" y="3429000"/>
              <a:ext cx="3810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0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30751" name="Rectangle 31"/>
            <p:cNvSpPr>
              <a:spLocks noChangeArrowheads="1"/>
            </p:cNvSpPr>
            <p:nvPr/>
          </p:nvSpPr>
          <p:spPr bwMode="auto">
            <a:xfrm>
              <a:off x="4419600" y="3733800"/>
              <a:ext cx="12954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m2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30752" name="Rectangle 32"/>
            <p:cNvSpPr>
              <a:spLocks noChangeArrowheads="1"/>
            </p:cNvSpPr>
            <p:nvPr/>
          </p:nvSpPr>
          <p:spPr bwMode="auto">
            <a:xfrm>
              <a:off x="5715000" y="3733800"/>
              <a:ext cx="3810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1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30753" name="Rectangle 33"/>
            <p:cNvSpPr>
              <a:spLocks noChangeArrowheads="1"/>
            </p:cNvSpPr>
            <p:nvPr/>
          </p:nvSpPr>
          <p:spPr bwMode="auto">
            <a:xfrm>
              <a:off x="4419600" y="4038600"/>
              <a:ext cx="16764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4" name="Rectangle 34"/>
            <p:cNvSpPr>
              <a:spLocks noChangeArrowheads="1"/>
            </p:cNvSpPr>
            <p:nvPr/>
          </p:nvSpPr>
          <p:spPr bwMode="auto">
            <a:xfrm>
              <a:off x="4419600" y="4343400"/>
              <a:ext cx="16764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5" name="Rectangle 35"/>
            <p:cNvSpPr>
              <a:spLocks noChangeArrowheads="1"/>
            </p:cNvSpPr>
            <p:nvPr/>
          </p:nvSpPr>
          <p:spPr bwMode="auto">
            <a:xfrm>
              <a:off x="4419600" y="4343400"/>
              <a:ext cx="12954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m2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30756" name="Rectangle 36"/>
            <p:cNvSpPr>
              <a:spLocks noChangeArrowheads="1"/>
            </p:cNvSpPr>
            <p:nvPr/>
          </p:nvSpPr>
          <p:spPr bwMode="auto">
            <a:xfrm>
              <a:off x="5715000" y="4343400"/>
              <a:ext cx="3810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1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30757" name="Rectangle 37"/>
            <p:cNvSpPr>
              <a:spLocks noChangeArrowheads="1"/>
            </p:cNvSpPr>
            <p:nvPr/>
          </p:nvSpPr>
          <p:spPr bwMode="auto">
            <a:xfrm>
              <a:off x="4419600" y="3733800"/>
              <a:ext cx="1676400" cy="914400"/>
            </a:xfrm>
            <a:prstGeom prst="rect">
              <a:avLst/>
            </a:prstGeom>
            <a:noFill/>
            <a:ln w="3816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8" name="Line 38"/>
            <p:cNvSpPr>
              <a:spLocks noChangeShapeType="1"/>
            </p:cNvSpPr>
            <p:nvPr/>
          </p:nvSpPr>
          <p:spPr bwMode="auto">
            <a:xfrm>
              <a:off x="3581400" y="3276600"/>
              <a:ext cx="609600" cy="1588"/>
            </a:xfrm>
            <a:prstGeom prst="line">
              <a:avLst/>
            </a:prstGeom>
            <a:noFill/>
            <a:ln w="25560">
              <a:solidFill>
                <a:schemeClr val="tx1"/>
              </a:solidFill>
              <a:miter lim="800000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0759" name="Rectangle 39"/>
            <p:cNvSpPr>
              <a:spLocks noChangeArrowheads="1"/>
            </p:cNvSpPr>
            <p:nvPr/>
          </p:nvSpPr>
          <p:spPr bwMode="auto">
            <a:xfrm>
              <a:off x="4419600" y="1905000"/>
              <a:ext cx="1676400" cy="1828800"/>
            </a:xfrm>
            <a:prstGeom prst="rect">
              <a:avLst/>
            </a:prstGeom>
            <a:noFill/>
            <a:ln w="3816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3" name="Rectangle 4"/>
          <p:cNvSpPr>
            <a:spLocks noGrp="1" noChangeArrowheads="1"/>
          </p:cNvSpPr>
          <p:nvPr>
            <p:ph type="title"/>
          </p:nvPr>
        </p:nvSpPr>
        <p:spPr>
          <a:xfrm>
            <a:off x="1943100" y="483418"/>
            <a:ext cx="8305800" cy="573087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dirty="0" smtClean="0"/>
              <a:t>常数时间合并（场景 </a:t>
            </a:r>
            <a:r>
              <a:rPr lang="en-US" altLang="zh-CN" dirty="0" smtClean="0"/>
              <a:t>3 </a:t>
            </a:r>
            <a:r>
              <a:rPr lang="zh-CN" altLang="en-US" dirty="0" smtClean="0"/>
              <a:t>）</a:t>
            </a:r>
            <a:endParaRPr lang="en-GB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1"/>
          <p:cNvSpPr>
            <a:spLocks noChangeArrowheads="1"/>
          </p:cNvSpPr>
          <p:nvPr/>
        </p:nvSpPr>
        <p:spPr bwMode="auto">
          <a:xfrm>
            <a:off x="3276600" y="1905000"/>
            <a:ext cx="1295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m1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31746" name="Rectangle 2"/>
          <p:cNvSpPr>
            <a:spLocks noChangeArrowheads="1"/>
          </p:cNvSpPr>
          <p:nvPr/>
        </p:nvSpPr>
        <p:spPr bwMode="auto">
          <a:xfrm>
            <a:off x="4572000" y="1905000"/>
            <a:ext cx="3810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0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3276600" y="2209800"/>
            <a:ext cx="1676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749" name="Rectangle 5"/>
          <p:cNvSpPr>
            <a:spLocks noChangeArrowheads="1"/>
          </p:cNvSpPr>
          <p:nvPr/>
        </p:nvSpPr>
        <p:spPr bwMode="auto">
          <a:xfrm>
            <a:off x="3276600" y="2514600"/>
            <a:ext cx="1676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750" name="Rectangle 6"/>
          <p:cNvSpPr>
            <a:spLocks noChangeArrowheads="1"/>
          </p:cNvSpPr>
          <p:nvPr/>
        </p:nvSpPr>
        <p:spPr bwMode="auto">
          <a:xfrm>
            <a:off x="3276600" y="2514600"/>
            <a:ext cx="1295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m1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31751" name="Rectangle 7"/>
          <p:cNvSpPr>
            <a:spLocks noChangeArrowheads="1"/>
          </p:cNvSpPr>
          <p:nvPr/>
        </p:nvSpPr>
        <p:spPr bwMode="auto">
          <a:xfrm>
            <a:off x="4572000" y="2514600"/>
            <a:ext cx="3810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0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31752" name="Rectangle 8"/>
          <p:cNvSpPr>
            <a:spLocks noChangeArrowheads="1"/>
          </p:cNvSpPr>
          <p:nvPr/>
        </p:nvSpPr>
        <p:spPr bwMode="auto">
          <a:xfrm>
            <a:off x="3276600" y="1905000"/>
            <a:ext cx="1676400" cy="914400"/>
          </a:xfrm>
          <a:prstGeom prst="rect">
            <a:avLst/>
          </a:prstGeom>
          <a:noFill/>
          <a:ln w="3816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753" name="Line 9"/>
          <p:cNvSpPr>
            <a:spLocks noChangeShapeType="1"/>
          </p:cNvSpPr>
          <p:nvPr/>
        </p:nvSpPr>
        <p:spPr bwMode="auto">
          <a:xfrm>
            <a:off x="4114800" y="4191000"/>
            <a:ext cx="1588" cy="457200"/>
          </a:xfrm>
          <a:prstGeom prst="line">
            <a:avLst/>
          </a:prstGeom>
          <a:noFill/>
          <a:ln w="25560">
            <a:solidFill>
              <a:schemeClr val="tx1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754" name="Rectangle 10"/>
          <p:cNvSpPr>
            <a:spLocks noChangeArrowheads="1"/>
          </p:cNvSpPr>
          <p:nvPr/>
        </p:nvSpPr>
        <p:spPr bwMode="auto">
          <a:xfrm>
            <a:off x="3276600" y="2819400"/>
            <a:ext cx="12954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n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31755" name="Rectangle 11"/>
          <p:cNvSpPr>
            <a:spLocks noChangeArrowheads="1"/>
          </p:cNvSpPr>
          <p:nvPr/>
        </p:nvSpPr>
        <p:spPr bwMode="auto">
          <a:xfrm>
            <a:off x="4572000" y="2819400"/>
            <a:ext cx="3810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1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31756" name="Rectangle 12"/>
          <p:cNvSpPr>
            <a:spLocks noChangeArrowheads="1"/>
          </p:cNvSpPr>
          <p:nvPr/>
        </p:nvSpPr>
        <p:spPr bwMode="auto">
          <a:xfrm>
            <a:off x="3276600" y="3124200"/>
            <a:ext cx="16764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757" name="Rectangle 13"/>
          <p:cNvSpPr>
            <a:spLocks noChangeArrowheads="1"/>
          </p:cNvSpPr>
          <p:nvPr/>
        </p:nvSpPr>
        <p:spPr bwMode="auto">
          <a:xfrm>
            <a:off x="3276600" y="3429000"/>
            <a:ext cx="1676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758" name="Rectangle 14"/>
          <p:cNvSpPr>
            <a:spLocks noChangeArrowheads="1"/>
          </p:cNvSpPr>
          <p:nvPr/>
        </p:nvSpPr>
        <p:spPr bwMode="auto">
          <a:xfrm>
            <a:off x="3276600" y="3429000"/>
            <a:ext cx="12954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n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31759" name="Rectangle 15"/>
          <p:cNvSpPr>
            <a:spLocks noChangeArrowheads="1"/>
          </p:cNvSpPr>
          <p:nvPr/>
        </p:nvSpPr>
        <p:spPr bwMode="auto">
          <a:xfrm>
            <a:off x="4572000" y="3429000"/>
            <a:ext cx="3810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1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31760" name="Rectangle 16"/>
          <p:cNvSpPr>
            <a:spLocks noChangeArrowheads="1"/>
          </p:cNvSpPr>
          <p:nvPr/>
        </p:nvSpPr>
        <p:spPr bwMode="auto">
          <a:xfrm>
            <a:off x="3276600" y="2819400"/>
            <a:ext cx="1676400" cy="914400"/>
          </a:xfrm>
          <a:prstGeom prst="rect">
            <a:avLst/>
          </a:prstGeom>
          <a:noFill/>
          <a:ln w="3816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761" name="Rectangle 17"/>
          <p:cNvSpPr>
            <a:spLocks noChangeArrowheads="1"/>
          </p:cNvSpPr>
          <p:nvPr/>
        </p:nvSpPr>
        <p:spPr bwMode="auto">
          <a:xfrm>
            <a:off x="3276600" y="3733800"/>
            <a:ext cx="1295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m2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31762" name="Rectangle 18"/>
          <p:cNvSpPr>
            <a:spLocks noChangeArrowheads="1"/>
          </p:cNvSpPr>
          <p:nvPr/>
        </p:nvSpPr>
        <p:spPr bwMode="auto">
          <a:xfrm>
            <a:off x="4572000" y="3733800"/>
            <a:ext cx="3810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0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31763" name="Rectangle 19"/>
          <p:cNvSpPr>
            <a:spLocks noChangeArrowheads="1"/>
          </p:cNvSpPr>
          <p:nvPr/>
        </p:nvSpPr>
        <p:spPr bwMode="auto">
          <a:xfrm>
            <a:off x="3276600" y="4038600"/>
            <a:ext cx="1676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764" name="Rectangle 20"/>
          <p:cNvSpPr>
            <a:spLocks noChangeArrowheads="1"/>
          </p:cNvSpPr>
          <p:nvPr/>
        </p:nvSpPr>
        <p:spPr bwMode="auto">
          <a:xfrm>
            <a:off x="3276600" y="4343400"/>
            <a:ext cx="1676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765" name="Rectangle 21"/>
          <p:cNvSpPr>
            <a:spLocks noChangeArrowheads="1"/>
          </p:cNvSpPr>
          <p:nvPr/>
        </p:nvSpPr>
        <p:spPr bwMode="auto">
          <a:xfrm>
            <a:off x="3276600" y="4343400"/>
            <a:ext cx="1295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m2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31766" name="Rectangle 22"/>
          <p:cNvSpPr>
            <a:spLocks noChangeArrowheads="1"/>
          </p:cNvSpPr>
          <p:nvPr/>
        </p:nvSpPr>
        <p:spPr bwMode="auto">
          <a:xfrm>
            <a:off x="4572000" y="4343400"/>
            <a:ext cx="3810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0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31767" name="Rectangle 23"/>
          <p:cNvSpPr>
            <a:spLocks noChangeArrowheads="1"/>
          </p:cNvSpPr>
          <p:nvPr/>
        </p:nvSpPr>
        <p:spPr bwMode="auto">
          <a:xfrm>
            <a:off x="3276600" y="3733800"/>
            <a:ext cx="1676400" cy="914400"/>
          </a:xfrm>
          <a:prstGeom prst="rect">
            <a:avLst/>
          </a:prstGeom>
          <a:noFill/>
          <a:ln w="3816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5105400" y="1905000"/>
            <a:ext cx="2514600" cy="2743200"/>
            <a:chOff x="3581400" y="1905000"/>
            <a:chExt cx="2514600" cy="2743200"/>
          </a:xfrm>
        </p:grpSpPr>
        <p:sp>
          <p:nvSpPr>
            <p:cNvPr id="31768" name="Rectangle 24"/>
            <p:cNvSpPr>
              <a:spLocks noChangeArrowheads="1"/>
            </p:cNvSpPr>
            <p:nvPr/>
          </p:nvSpPr>
          <p:spPr bwMode="auto">
            <a:xfrm>
              <a:off x="4419600" y="1905000"/>
              <a:ext cx="12954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n+m1+m2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31769" name="Rectangle 25"/>
            <p:cNvSpPr>
              <a:spLocks noChangeArrowheads="1"/>
            </p:cNvSpPr>
            <p:nvPr/>
          </p:nvSpPr>
          <p:spPr bwMode="auto">
            <a:xfrm>
              <a:off x="5715000" y="1905000"/>
              <a:ext cx="3810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0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31770" name="Rectangle 26"/>
            <p:cNvSpPr>
              <a:spLocks noChangeArrowheads="1"/>
            </p:cNvSpPr>
            <p:nvPr/>
          </p:nvSpPr>
          <p:spPr bwMode="auto">
            <a:xfrm>
              <a:off x="4419600" y="2209800"/>
              <a:ext cx="1676400" cy="2133600"/>
            </a:xfrm>
            <a:prstGeom prst="rect">
              <a:avLst/>
            </a:prstGeom>
            <a:solidFill>
              <a:schemeClr val="bg1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71" name="Rectangle 27"/>
            <p:cNvSpPr>
              <a:spLocks noChangeArrowheads="1"/>
            </p:cNvSpPr>
            <p:nvPr/>
          </p:nvSpPr>
          <p:spPr bwMode="auto">
            <a:xfrm>
              <a:off x="4419600" y="4343400"/>
              <a:ext cx="16764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72" name="Rectangle 28"/>
            <p:cNvSpPr>
              <a:spLocks noChangeArrowheads="1"/>
            </p:cNvSpPr>
            <p:nvPr/>
          </p:nvSpPr>
          <p:spPr bwMode="auto">
            <a:xfrm>
              <a:off x="4419600" y="4343400"/>
              <a:ext cx="12954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n+m1+m2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31773" name="Rectangle 29"/>
            <p:cNvSpPr>
              <a:spLocks noChangeArrowheads="1"/>
            </p:cNvSpPr>
            <p:nvPr/>
          </p:nvSpPr>
          <p:spPr bwMode="auto">
            <a:xfrm>
              <a:off x="5715000" y="4343400"/>
              <a:ext cx="3810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0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31774" name="Line 30"/>
            <p:cNvSpPr>
              <a:spLocks noChangeShapeType="1"/>
            </p:cNvSpPr>
            <p:nvPr/>
          </p:nvSpPr>
          <p:spPr bwMode="auto">
            <a:xfrm>
              <a:off x="3581400" y="3276600"/>
              <a:ext cx="609600" cy="1588"/>
            </a:xfrm>
            <a:prstGeom prst="line">
              <a:avLst/>
            </a:prstGeom>
            <a:noFill/>
            <a:ln w="25560">
              <a:solidFill>
                <a:schemeClr val="tx1"/>
              </a:solidFill>
              <a:miter lim="800000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1775" name="Rectangle 31"/>
            <p:cNvSpPr>
              <a:spLocks noChangeArrowheads="1"/>
            </p:cNvSpPr>
            <p:nvPr/>
          </p:nvSpPr>
          <p:spPr bwMode="auto">
            <a:xfrm>
              <a:off x="4419600" y="1905000"/>
              <a:ext cx="1676400" cy="2743200"/>
            </a:xfrm>
            <a:prstGeom prst="rect">
              <a:avLst/>
            </a:prstGeom>
            <a:noFill/>
            <a:ln w="3816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5" name="Rectangle 4"/>
          <p:cNvSpPr>
            <a:spLocks noGrp="1" noChangeArrowheads="1"/>
          </p:cNvSpPr>
          <p:nvPr>
            <p:ph type="title"/>
          </p:nvPr>
        </p:nvSpPr>
        <p:spPr>
          <a:xfrm>
            <a:off x="1943100" y="483418"/>
            <a:ext cx="8305800" cy="573087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dirty="0" smtClean="0"/>
              <a:t>常数时间合并（场景 </a:t>
            </a:r>
            <a:r>
              <a:rPr lang="en-US" altLang="zh-CN" dirty="0" smtClean="0"/>
              <a:t>4 </a:t>
            </a:r>
            <a:r>
              <a:rPr lang="zh-CN" altLang="en-US" dirty="0" smtClean="0"/>
              <a:t>）</a:t>
            </a:r>
            <a:endParaRPr lang="en-GB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堆结构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20276" y="3635194"/>
            <a:ext cx="7896225" cy="1685925"/>
          </a:xfrm>
        </p:spPr>
        <p:txBody>
          <a:bodyPr/>
          <a:lstStyle/>
          <a:p>
            <a:r>
              <a:rPr lang="zh-CN" altLang="en-US" dirty="0" smtClean="0"/>
              <a:t>第一个表头前面的虚拟表尾</a:t>
            </a:r>
            <a:endParaRPr lang="en-US" dirty="0"/>
          </a:p>
          <a:p>
            <a:pPr lvl="1"/>
            <a:r>
              <a:rPr lang="zh-CN" altLang="en-US" dirty="0" smtClean="0"/>
              <a:t>标记为已分配</a:t>
            </a:r>
            <a:endParaRPr lang="en-US" dirty="0"/>
          </a:p>
          <a:p>
            <a:pPr lvl="1"/>
            <a:r>
              <a:rPr lang="zh-CN" altLang="en-US" dirty="0" smtClean="0"/>
              <a:t>防止在释放第一个内存块时意外合并</a:t>
            </a:r>
            <a:endParaRPr lang="en-US" dirty="0"/>
          </a:p>
          <a:p>
            <a:r>
              <a:rPr lang="zh-CN" altLang="en-US" dirty="0" smtClean="0"/>
              <a:t>最后一个表尾后面的虚拟表头</a:t>
            </a:r>
            <a:endParaRPr lang="en-US" dirty="0"/>
          </a:p>
          <a:p>
            <a:pPr lvl="1"/>
            <a:r>
              <a:rPr lang="zh-CN" altLang="en-US" dirty="0" smtClean="0"/>
              <a:t>防止在释放最后一个内存块时意外合并</a:t>
            </a:r>
            <a:endParaRPr lang="en-US" dirty="0"/>
          </a:p>
        </p:txBody>
      </p:sp>
      <p:sp>
        <p:nvSpPr>
          <p:cNvPr id="4" name="Text Box 404"/>
          <p:cNvSpPr txBox="1">
            <a:spLocks noChangeAspect="1" noChangeArrowheads="1"/>
          </p:cNvSpPr>
          <p:nvPr/>
        </p:nvSpPr>
        <p:spPr bwMode="auto">
          <a:xfrm>
            <a:off x="1307381" y="1663083"/>
            <a:ext cx="1107996" cy="646331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zh-CN" altLang="en-US" sz="1800" b="0" dirty="0" smtClean="0">
                <a:latin typeface="Calibri" pitchFamily="34" charset="0"/>
                <a:cs typeface="Calibri" pitchFamily="34" charset="0"/>
              </a:rPr>
              <a:t>堆的</a:t>
            </a:r>
            <a:endParaRPr lang="en-US" altLang="zh-CN" sz="1800" b="0" dirty="0" smtClean="0"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zh-CN" altLang="en-US" sz="1800" b="0" dirty="0" smtClean="0">
                <a:latin typeface="Calibri" pitchFamily="34" charset="0"/>
                <a:cs typeface="Calibri" pitchFamily="34" charset="0"/>
              </a:rPr>
              <a:t>起始位置</a:t>
            </a:r>
            <a:endParaRPr lang="en-US" sz="18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" name="Rectangle 432"/>
          <p:cNvSpPr>
            <a:spLocks noChangeAspect="1" noChangeArrowheads="1"/>
          </p:cNvSpPr>
          <p:nvPr/>
        </p:nvSpPr>
        <p:spPr bwMode="auto">
          <a:xfrm>
            <a:off x="7662710" y="1778164"/>
            <a:ext cx="395470" cy="5180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2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" name="Rectangle 379"/>
          <p:cNvSpPr>
            <a:spLocks noChangeAspect="1" noChangeArrowheads="1"/>
          </p:cNvSpPr>
          <p:nvPr/>
        </p:nvSpPr>
        <p:spPr bwMode="auto">
          <a:xfrm>
            <a:off x="2925592" y="1778164"/>
            <a:ext cx="395470" cy="5180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 sz="1400" b="0" dirty="0">
                <a:latin typeface="Calibri" pitchFamily="34" charset="0"/>
                <a:cs typeface="Calibri" pitchFamily="34" charset="0"/>
              </a:rPr>
              <a:t>16/0</a:t>
            </a:r>
            <a:endParaRPr lang="en-US" sz="14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" name="Rectangle 380"/>
          <p:cNvSpPr>
            <a:spLocks noChangeAspect="1" noChangeArrowheads="1"/>
          </p:cNvSpPr>
          <p:nvPr/>
        </p:nvSpPr>
        <p:spPr bwMode="auto">
          <a:xfrm>
            <a:off x="3321062" y="1778164"/>
            <a:ext cx="393766" cy="5180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2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" name="Rectangle 384"/>
          <p:cNvSpPr>
            <a:spLocks noChangeAspect="1" noChangeArrowheads="1"/>
          </p:cNvSpPr>
          <p:nvPr/>
        </p:nvSpPr>
        <p:spPr bwMode="auto">
          <a:xfrm>
            <a:off x="3701190" y="1778164"/>
            <a:ext cx="393766" cy="518016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 sz="1400" b="0" dirty="0">
                <a:latin typeface="Calibri" pitchFamily="34" charset="0"/>
                <a:cs typeface="Calibri" pitchFamily="34" charset="0"/>
              </a:rPr>
              <a:t>32/1</a:t>
            </a:r>
            <a:endParaRPr lang="en-US" sz="14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" name="Rectangle 385"/>
          <p:cNvSpPr>
            <a:spLocks noChangeAspect="1" noChangeArrowheads="1"/>
          </p:cNvSpPr>
          <p:nvPr/>
        </p:nvSpPr>
        <p:spPr bwMode="auto">
          <a:xfrm>
            <a:off x="4094956" y="1778164"/>
            <a:ext cx="395470" cy="518016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2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0" name="Rectangle 386"/>
          <p:cNvSpPr>
            <a:spLocks noChangeAspect="1" noChangeArrowheads="1"/>
          </p:cNvSpPr>
          <p:nvPr/>
        </p:nvSpPr>
        <p:spPr bwMode="auto">
          <a:xfrm>
            <a:off x="4490426" y="1778164"/>
            <a:ext cx="395470" cy="518016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2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" name="Rectangle 387" descr="Wide upward diagonal"/>
          <p:cNvSpPr>
            <a:spLocks noChangeAspect="1" noChangeArrowheads="1"/>
          </p:cNvSpPr>
          <p:nvPr/>
        </p:nvSpPr>
        <p:spPr bwMode="auto">
          <a:xfrm>
            <a:off x="4885897" y="1778164"/>
            <a:ext cx="393766" cy="518016"/>
          </a:xfrm>
          <a:prstGeom prst="rect">
            <a:avLst/>
          </a:prstGeom>
          <a:pattFill prst="wdUpDiag">
            <a:fgClr>
              <a:srgbClr val="C0C0C0"/>
            </a:fgClr>
            <a:bgClr>
              <a:srgbClr val="FFFFFF"/>
            </a:bgClr>
          </a:patt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2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2" name="Rectangle 388"/>
          <p:cNvSpPr>
            <a:spLocks noChangeAspect="1" noChangeArrowheads="1"/>
          </p:cNvSpPr>
          <p:nvPr/>
        </p:nvSpPr>
        <p:spPr bwMode="auto">
          <a:xfrm>
            <a:off x="5702405" y="1778164"/>
            <a:ext cx="393766" cy="5180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2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" name="Rectangle 389"/>
          <p:cNvSpPr>
            <a:spLocks noChangeAspect="1" noChangeArrowheads="1"/>
          </p:cNvSpPr>
          <p:nvPr/>
        </p:nvSpPr>
        <p:spPr bwMode="auto">
          <a:xfrm>
            <a:off x="6096171" y="1778164"/>
            <a:ext cx="395470" cy="5180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2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4" name="Rectangle 390"/>
          <p:cNvSpPr>
            <a:spLocks noChangeAspect="1" noChangeArrowheads="1"/>
          </p:cNvSpPr>
          <p:nvPr/>
        </p:nvSpPr>
        <p:spPr bwMode="auto">
          <a:xfrm>
            <a:off x="6491641" y="1778164"/>
            <a:ext cx="393766" cy="5180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2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5" name="Rectangle 391"/>
          <p:cNvSpPr>
            <a:spLocks noChangeAspect="1" noChangeArrowheads="1"/>
          </p:cNvSpPr>
          <p:nvPr/>
        </p:nvSpPr>
        <p:spPr bwMode="auto">
          <a:xfrm>
            <a:off x="6885407" y="1778164"/>
            <a:ext cx="395470" cy="5180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2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" name="Rectangle 392"/>
          <p:cNvSpPr>
            <a:spLocks noChangeAspect="1" noChangeArrowheads="1"/>
          </p:cNvSpPr>
          <p:nvPr/>
        </p:nvSpPr>
        <p:spPr bwMode="auto">
          <a:xfrm>
            <a:off x="7280877" y="1778164"/>
            <a:ext cx="395470" cy="5180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2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7" name="Rectangle 393"/>
          <p:cNvSpPr>
            <a:spLocks noChangeAspect="1" noChangeArrowheads="1"/>
          </p:cNvSpPr>
          <p:nvPr/>
        </p:nvSpPr>
        <p:spPr bwMode="auto">
          <a:xfrm>
            <a:off x="8421263" y="1778164"/>
            <a:ext cx="395470" cy="518016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 sz="1400" b="0" dirty="0">
                <a:latin typeface="Calibri" pitchFamily="34" charset="0"/>
                <a:cs typeface="Calibri" pitchFamily="34" charset="0"/>
              </a:rPr>
              <a:t>32/1</a:t>
            </a:r>
            <a:endParaRPr lang="en-US" sz="14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8" name="Rectangle 394"/>
          <p:cNvSpPr>
            <a:spLocks noChangeAspect="1" noChangeArrowheads="1"/>
          </p:cNvSpPr>
          <p:nvPr/>
        </p:nvSpPr>
        <p:spPr bwMode="auto">
          <a:xfrm>
            <a:off x="8816733" y="1778164"/>
            <a:ext cx="393766" cy="518016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2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9" name="Rectangle 395"/>
          <p:cNvSpPr>
            <a:spLocks noChangeAspect="1" noChangeArrowheads="1"/>
          </p:cNvSpPr>
          <p:nvPr/>
        </p:nvSpPr>
        <p:spPr bwMode="auto">
          <a:xfrm>
            <a:off x="5306935" y="1778164"/>
            <a:ext cx="395470" cy="5180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 sz="1400" b="0" dirty="0">
                <a:latin typeface="Calibri" pitchFamily="34" charset="0"/>
                <a:cs typeface="Calibri" pitchFamily="34" charset="0"/>
              </a:rPr>
              <a:t>64/0</a:t>
            </a:r>
            <a:endParaRPr lang="en-US" sz="14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0" name="Freeform 396"/>
          <p:cNvSpPr>
            <a:spLocks noChangeAspect="1"/>
          </p:cNvSpPr>
          <p:nvPr/>
        </p:nvSpPr>
        <p:spPr bwMode="auto">
          <a:xfrm>
            <a:off x="3007413" y="1244452"/>
            <a:ext cx="806282" cy="497833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528" y="0"/>
              </a:cxn>
              <a:cxn ang="0">
                <a:pos x="960" y="144"/>
              </a:cxn>
            </a:cxnLst>
            <a:rect l="0" t="0" r="r" b="b"/>
            <a:pathLst>
              <a:path w="960" h="144">
                <a:moveTo>
                  <a:pt x="0" y="144"/>
                </a:moveTo>
                <a:cubicBezTo>
                  <a:pt x="184" y="72"/>
                  <a:pt x="368" y="0"/>
                  <a:pt x="528" y="0"/>
                </a:cubicBezTo>
                <a:cubicBezTo>
                  <a:pt x="688" y="0"/>
                  <a:pt x="824" y="72"/>
                  <a:pt x="960" y="144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 sz="12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1" name="Freeform 397"/>
          <p:cNvSpPr>
            <a:spLocks noChangeAspect="1"/>
          </p:cNvSpPr>
          <p:nvPr/>
        </p:nvSpPr>
        <p:spPr bwMode="auto">
          <a:xfrm>
            <a:off x="3885289" y="1244452"/>
            <a:ext cx="1493240" cy="497833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384" y="0"/>
              </a:cxn>
              <a:cxn ang="0">
                <a:pos x="768" y="144"/>
              </a:cxn>
            </a:cxnLst>
            <a:rect l="0" t="0" r="r" b="b"/>
            <a:pathLst>
              <a:path w="768" h="144">
                <a:moveTo>
                  <a:pt x="0" y="144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 sz="12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2" name="Freeform 398"/>
          <p:cNvSpPr>
            <a:spLocks noChangeAspect="1"/>
          </p:cNvSpPr>
          <p:nvPr/>
        </p:nvSpPr>
        <p:spPr bwMode="auto">
          <a:xfrm>
            <a:off x="5409212" y="1226512"/>
            <a:ext cx="3100690" cy="497833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576" y="0"/>
              </a:cxn>
              <a:cxn ang="0">
                <a:pos x="1152" y="144"/>
              </a:cxn>
            </a:cxnLst>
            <a:rect l="0" t="0" r="r" b="b"/>
            <a:pathLst>
              <a:path w="1152" h="144">
                <a:moveTo>
                  <a:pt x="0" y="144"/>
                </a:moveTo>
                <a:cubicBezTo>
                  <a:pt x="192" y="72"/>
                  <a:pt x="384" y="0"/>
                  <a:pt x="576" y="0"/>
                </a:cubicBezTo>
                <a:cubicBezTo>
                  <a:pt x="768" y="0"/>
                  <a:pt x="960" y="72"/>
                  <a:pt x="1152" y="144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 sz="12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" name="Rectangle 399"/>
          <p:cNvSpPr>
            <a:spLocks noChangeAspect="1" noChangeArrowheads="1"/>
          </p:cNvSpPr>
          <p:nvPr/>
        </p:nvSpPr>
        <p:spPr bwMode="auto">
          <a:xfrm>
            <a:off x="9210498" y="1778164"/>
            <a:ext cx="395470" cy="518016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2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4" name="Rectangle 403" descr="Wide upward diagonal"/>
          <p:cNvSpPr>
            <a:spLocks noChangeAspect="1" noChangeArrowheads="1"/>
          </p:cNvSpPr>
          <p:nvPr/>
        </p:nvSpPr>
        <p:spPr bwMode="auto">
          <a:xfrm>
            <a:off x="2530122" y="1778164"/>
            <a:ext cx="395470" cy="518016"/>
          </a:xfrm>
          <a:prstGeom prst="rect">
            <a:avLst/>
          </a:prstGeom>
          <a:pattFill prst="wdUpDiag">
            <a:fgClr>
              <a:srgbClr val="C0C0C0"/>
            </a:fgClr>
            <a:bgClr>
              <a:srgbClr val="FFFFFF"/>
            </a:bgClr>
          </a:patt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endParaRPr lang="en-US" sz="12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5" name="Rectangle 406"/>
          <p:cNvSpPr>
            <a:spLocks noChangeAspect="1" noChangeArrowheads="1"/>
          </p:cNvSpPr>
          <p:nvPr/>
        </p:nvSpPr>
        <p:spPr bwMode="auto">
          <a:xfrm>
            <a:off x="2925593" y="1775921"/>
            <a:ext cx="777303" cy="518016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2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6" name="Rectangle 407"/>
          <p:cNvSpPr>
            <a:spLocks noChangeAspect="1" noChangeArrowheads="1"/>
          </p:cNvSpPr>
          <p:nvPr/>
        </p:nvSpPr>
        <p:spPr bwMode="auto">
          <a:xfrm>
            <a:off x="3702895" y="1775921"/>
            <a:ext cx="1595518" cy="518016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2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7" name="Text Box 410"/>
          <p:cNvSpPr txBox="1">
            <a:spLocks noChangeAspect="1" noChangeArrowheads="1"/>
          </p:cNvSpPr>
          <p:nvPr/>
        </p:nvSpPr>
        <p:spPr bwMode="auto">
          <a:xfrm>
            <a:off x="9983368" y="1226511"/>
            <a:ext cx="543739" cy="52322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zh-CN" altLang="en-US" sz="1400" b="0" dirty="0" smtClean="0">
                <a:latin typeface="Calibri" pitchFamily="34" charset="0"/>
                <a:cs typeface="Calibri" pitchFamily="34" charset="0"/>
              </a:rPr>
              <a:t>虚拟</a:t>
            </a:r>
            <a:endParaRPr lang="en-US" altLang="zh-CN" sz="1400" b="0" dirty="0" smtClean="0"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zh-CN" altLang="en-US" sz="1400" b="0" dirty="0" smtClean="0">
                <a:latin typeface="Calibri" pitchFamily="34" charset="0"/>
                <a:cs typeface="Calibri" pitchFamily="34" charset="0"/>
              </a:rPr>
              <a:t>表头</a:t>
            </a:r>
            <a:endParaRPr lang="en-US" sz="14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8" name="Line 411"/>
          <p:cNvSpPr>
            <a:spLocks noChangeAspect="1" noChangeShapeType="1"/>
          </p:cNvSpPr>
          <p:nvPr/>
        </p:nvSpPr>
        <p:spPr bwMode="auto">
          <a:xfrm flipV="1">
            <a:off x="3321062" y="2349999"/>
            <a:ext cx="0" cy="55613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200">
              <a:latin typeface="+mn-lt"/>
            </a:endParaRPr>
          </a:p>
        </p:txBody>
      </p:sp>
      <p:sp>
        <p:nvSpPr>
          <p:cNvPr id="29" name="Line 413"/>
          <p:cNvSpPr>
            <a:spLocks noChangeAspect="1" noChangeShapeType="1"/>
          </p:cNvSpPr>
          <p:nvPr/>
        </p:nvSpPr>
        <p:spPr bwMode="auto">
          <a:xfrm flipV="1">
            <a:off x="4098365" y="2349999"/>
            <a:ext cx="0" cy="55613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200">
              <a:latin typeface="+mn-lt"/>
            </a:endParaRPr>
          </a:p>
        </p:txBody>
      </p:sp>
      <p:sp>
        <p:nvSpPr>
          <p:cNvPr id="30" name="Line 414"/>
          <p:cNvSpPr>
            <a:spLocks noChangeAspect="1" noChangeShapeType="1"/>
          </p:cNvSpPr>
          <p:nvPr/>
        </p:nvSpPr>
        <p:spPr bwMode="auto">
          <a:xfrm flipV="1">
            <a:off x="4889306" y="2349999"/>
            <a:ext cx="0" cy="55613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200">
              <a:latin typeface="+mn-lt"/>
            </a:endParaRPr>
          </a:p>
        </p:txBody>
      </p:sp>
      <p:sp>
        <p:nvSpPr>
          <p:cNvPr id="31" name="Line 415"/>
          <p:cNvSpPr>
            <a:spLocks noChangeAspect="1" noChangeShapeType="1"/>
          </p:cNvSpPr>
          <p:nvPr/>
        </p:nvSpPr>
        <p:spPr bwMode="auto">
          <a:xfrm flipV="1">
            <a:off x="5707520" y="2349999"/>
            <a:ext cx="0" cy="55613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200">
              <a:latin typeface="+mn-lt"/>
            </a:endParaRPr>
          </a:p>
        </p:txBody>
      </p:sp>
      <p:sp>
        <p:nvSpPr>
          <p:cNvPr id="32" name="Line 416"/>
          <p:cNvSpPr>
            <a:spLocks noChangeAspect="1" noChangeShapeType="1"/>
          </p:cNvSpPr>
          <p:nvPr/>
        </p:nvSpPr>
        <p:spPr bwMode="auto">
          <a:xfrm flipV="1">
            <a:off x="6498460" y="2349999"/>
            <a:ext cx="0" cy="55613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200">
              <a:latin typeface="+mn-lt"/>
            </a:endParaRPr>
          </a:p>
        </p:txBody>
      </p:sp>
      <p:sp>
        <p:nvSpPr>
          <p:cNvPr id="33" name="Line 417"/>
          <p:cNvSpPr>
            <a:spLocks noChangeAspect="1" noChangeShapeType="1"/>
          </p:cNvSpPr>
          <p:nvPr/>
        </p:nvSpPr>
        <p:spPr bwMode="auto">
          <a:xfrm flipV="1">
            <a:off x="7275763" y="2349999"/>
            <a:ext cx="0" cy="55613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200">
              <a:latin typeface="+mn-lt"/>
            </a:endParaRPr>
          </a:p>
        </p:txBody>
      </p:sp>
      <p:sp>
        <p:nvSpPr>
          <p:cNvPr id="34" name="Line 418"/>
          <p:cNvSpPr>
            <a:spLocks noChangeAspect="1" noChangeShapeType="1"/>
          </p:cNvSpPr>
          <p:nvPr/>
        </p:nvSpPr>
        <p:spPr bwMode="auto">
          <a:xfrm flipV="1">
            <a:off x="8830369" y="2349999"/>
            <a:ext cx="0" cy="55613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200">
              <a:latin typeface="+mn-lt"/>
            </a:endParaRPr>
          </a:p>
        </p:txBody>
      </p:sp>
      <p:sp>
        <p:nvSpPr>
          <p:cNvPr id="35" name="Line 419"/>
          <p:cNvSpPr>
            <a:spLocks noChangeAspect="1" noChangeShapeType="1"/>
          </p:cNvSpPr>
          <p:nvPr/>
        </p:nvSpPr>
        <p:spPr bwMode="auto">
          <a:xfrm flipV="1">
            <a:off x="2543759" y="2332059"/>
            <a:ext cx="0" cy="55613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200">
              <a:latin typeface="+mn-lt"/>
            </a:endParaRPr>
          </a:p>
        </p:txBody>
      </p:sp>
      <p:sp>
        <p:nvSpPr>
          <p:cNvPr id="36" name="Line 420"/>
          <p:cNvSpPr>
            <a:spLocks noChangeAspect="1" noChangeShapeType="1"/>
          </p:cNvSpPr>
          <p:nvPr/>
        </p:nvSpPr>
        <p:spPr bwMode="auto">
          <a:xfrm flipV="1">
            <a:off x="9621310" y="2349999"/>
            <a:ext cx="0" cy="55613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200">
              <a:latin typeface="+mn-lt"/>
            </a:endParaRPr>
          </a:p>
        </p:txBody>
      </p:sp>
      <p:sp>
        <p:nvSpPr>
          <p:cNvPr id="37" name="Rectangle 421"/>
          <p:cNvSpPr>
            <a:spLocks noChangeAspect="1" noChangeArrowheads="1"/>
          </p:cNvSpPr>
          <p:nvPr/>
        </p:nvSpPr>
        <p:spPr bwMode="auto">
          <a:xfrm>
            <a:off x="9605969" y="1778164"/>
            <a:ext cx="395470" cy="518016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2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8" name="Rectangle 409"/>
          <p:cNvSpPr>
            <a:spLocks noChangeAspect="1" noChangeArrowheads="1"/>
          </p:cNvSpPr>
          <p:nvPr/>
        </p:nvSpPr>
        <p:spPr bwMode="auto">
          <a:xfrm>
            <a:off x="8431491" y="1775921"/>
            <a:ext cx="1581880" cy="518016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2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9" name="Freeform 422"/>
          <p:cNvSpPr>
            <a:spLocks noChangeAspect="1"/>
          </p:cNvSpPr>
          <p:nvPr/>
        </p:nvSpPr>
        <p:spPr bwMode="auto">
          <a:xfrm>
            <a:off x="8562746" y="1219784"/>
            <a:ext cx="1493240" cy="497833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384" y="0"/>
              </a:cxn>
              <a:cxn ang="0">
                <a:pos x="768" y="144"/>
              </a:cxn>
            </a:cxnLst>
            <a:rect l="0" t="0" r="r" b="b"/>
            <a:pathLst>
              <a:path w="768" h="144">
                <a:moveTo>
                  <a:pt x="0" y="144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 sz="12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0" name="Rectangle 423" descr="Wide upward diagonal"/>
          <p:cNvSpPr>
            <a:spLocks noChangeAspect="1" noChangeArrowheads="1"/>
          </p:cNvSpPr>
          <p:nvPr/>
        </p:nvSpPr>
        <p:spPr bwMode="auto">
          <a:xfrm>
            <a:off x="10003143" y="1778164"/>
            <a:ext cx="395470" cy="518016"/>
          </a:xfrm>
          <a:prstGeom prst="rect">
            <a:avLst/>
          </a:prstGeom>
          <a:pattFill prst="wdUpDiag">
            <a:fgClr>
              <a:srgbClr val="C0C0C0"/>
            </a:fgClr>
            <a:bgClr>
              <a:srgbClr val="FFFFFF"/>
            </a:bgClr>
          </a:patt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 sz="1400" b="0" dirty="0">
                <a:latin typeface="Calibri" pitchFamily="34" charset="0"/>
                <a:cs typeface="Calibri" pitchFamily="34" charset="0"/>
              </a:rPr>
              <a:t>8/1</a:t>
            </a:r>
            <a:endParaRPr lang="en-US" sz="14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1" name="Rectangle 426"/>
          <p:cNvSpPr>
            <a:spLocks noChangeAspect="1" noChangeArrowheads="1"/>
          </p:cNvSpPr>
          <p:nvPr/>
        </p:nvSpPr>
        <p:spPr bwMode="auto">
          <a:xfrm>
            <a:off x="10003143" y="1775921"/>
            <a:ext cx="432171" cy="518016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2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2" name="Rectangle 433"/>
          <p:cNvSpPr>
            <a:spLocks noChangeAspect="1" noChangeArrowheads="1"/>
          </p:cNvSpPr>
          <p:nvPr/>
        </p:nvSpPr>
        <p:spPr bwMode="auto">
          <a:xfrm>
            <a:off x="8044543" y="1760223"/>
            <a:ext cx="395470" cy="5180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2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3" name="Rectangle 408"/>
          <p:cNvSpPr>
            <a:spLocks noChangeAspect="1" noChangeArrowheads="1"/>
          </p:cNvSpPr>
          <p:nvPr/>
        </p:nvSpPr>
        <p:spPr bwMode="auto">
          <a:xfrm>
            <a:off x="5298414" y="1775921"/>
            <a:ext cx="3136487" cy="518016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200" b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4" name="Line 434"/>
          <p:cNvSpPr>
            <a:spLocks noChangeAspect="1" noChangeShapeType="1"/>
          </p:cNvSpPr>
          <p:nvPr/>
        </p:nvSpPr>
        <p:spPr bwMode="auto">
          <a:xfrm flipV="1">
            <a:off x="8039430" y="2349999"/>
            <a:ext cx="0" cy="55613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ffectLst/>
        </p:spPr>
        <p:txBody>
          <a:bodyPr wrap="none" anchor="ctr"/>
          <a:lstStyle/>
          <a:p>
            <a:endParaRPr lang="en-US" sz="1200">
              <a:latin typeface="+mn-lt"/>
            </a:endParaRPr>
          </a:p>
        </p:txBody>
      </p:sp>
      <p:sp>
        <p:nvSpPr>
          <p:cNvPr id="45" name="Text Box 410"/>
          <p:cNvSpPr txBox="1">
            <a:spLocks noChangeAspect="1" noChangeArrowheads="1"/>
          </p:cNvSpPr>
          <p:nvPr/>
        </p:nvSpPr>
        <p:spPr bwMode="auto">
          <a:xfrm>
            <a:off x="2404583" y="1205607"/>
            <a:ext cx="543739" cy="52322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zh-CN" altLang="en-US" sz="1400" b="0" dirty="0" smtClean="0">
                <a:latin typeface="Calibri" pitchFamily="34" charset="0"/>
                <a:cs typeface="Calibri" pitchFamily="34" charset="0"/>
              </a:rPr>
              <a:t>虚拟</a:t>
            </a:r>
            <a:endParaRPr lang="en-US" altLang="zh-CN" sz="1400" b="0" dirty="0" smtClean="0"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zh-CN" altLang="en-US" sz="1400" b="0" dirty="0" smtClean="0">
                <a:latin typeface="Calibri" pitchFamily="34" charset="0"/>
                <a:cs typeface="Calibri" pitchFamily="34" charset="0"/>
              </a:rPr>
              <a:t>表尾</a:t>
            </a:r>
            <a:endParaRPr lang="en-US" sz="14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6" name="Rectangle 423" descr="Wide upward diagonal"/>
          <p:cNvSpPr>
            <a:spLocks noChangeAspect="1" noChangeArrowheads="1"/>
          </p:cNvSpPr>
          <p:nvPr/>
        </p:nvSpPr>
        <p:spPr bwMode="auto">
          <a:xfrm>
            <a:off x="2541209" y="1788336"/>
            <a:ext cx="395470" cy="518016"/>
          </a:xfrm>
          <a:prstGeom prst="rect">
            <a:avLst/>
          </a:prstGeom>
          <a:pattFill prst="wdUpDiag">
            <a:fgClr>
              <a:srgbClr val="C0C0C0"/>
            </a:fgClr>
            <a:bgClr>
              <a:srgbClr val="FFFFFF"/>
            </a:bgClr>
          </a:patt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 sz="1400" b="0" dirty="0">
                <a:latin typeface="Calibri" pitchFamily="34" charset="0"/>
                <a:cs typeface="Calibri" pitchFamily="34" charset="0"/>
              </a:rPr>
              <a:t>8/1</a:t>
            </a:r>
            <a:endParaRPr lang="en-US" sz="1400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7" name="Rectangle 426"/>
          <p:cNvSpPr>
            <a:spLocks noChangeAspect="1" noChangeArrowheads="1"/>
          </p:cNvSpPr>
          <p:nvPr/>
        </p:nvSpPr>
        <p:spPr bwMode="auto">
          <a:xfrm>
            <a:off x="2520696" y="1775921"/>
            <a:ext cx="415124" cy="518016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200" b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48" name="Straight Arrow Connector 47"/>
          <p:cNvCxnSpPr/>
          <p:nvPr/>
        </p:nvCxnSpPr>
        <p:spPr bwMode="auto">
          <a:xfrm flipV="1">
            <a:off x="3007414" y="2304109"/>
            <a:ext cx="118143" cy="72905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9" name="TextBox 48"/>
          <p:cNvSpPr txBox="1"/>
          <p:nvPr/>
        </p:nvSpPr>
        <p:spPr>
          <a:xfrm>
            <a:off x="2555378" y="3035665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heap_start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cxnSp>
        <p:nvCxnSpPr>
          <p:cNvPr id="50" name="Straight Arrow Connector 49"/>
          <p:cNvCxnSpPr/>
          <p:nvPr/>
        </p:nvCxnSpPr>
        <p:spPr bwMode="auto">
          <a:xfrm flipV="1">
            <a:off x="10055987" y="2304109"/>
            <a:ext cx="118143" cy="72905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1" name="TextBox 50"/>
          <p:cNvSpPr txBox="1"/>
          <p:nvPr/>
        </p:nvSpPr>
        <p:spPr>
          <a:xfrm>
            <a:off x="9005664" y="3033165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heap_end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顶</a:t>
            </a:r>
            <a:r>
              <a:rPr lang="zh-CN" altLang="en-US" dirty="0" smtClean="0"/>
              <a:t>层 </a:t>
            </a:r>
            <a:r>
              <a:rPr lang="en-US" dirty="0" err="1" smtClean="0"/>
              <a:t>Malloc</a:t>
            </a:r>
            <a:r>
              <a:rPr lang="en-US" dirty="0" smtClean="0"/>
              <a:t> </a:t>
            </a:r>
            <a:r>
              <a:rPr lang="zh-CN" altLang="en-US" dirty="0" smtClean="0"/>
              <a:t>代码</a:t>
            </a:r>
            <a:endParaRPr lang="en-US" dirty="0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752600" y="1290369"/>
            <a:ext cx="6229888" cy="4772718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r>
              <a:rPr lang="en-US" sz="1600" dirty="0">
                <a:solidFill>
                  <a:srgbClr val="39A428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const </a:t>
            </a:r>
            <a:r>
              <a:rPr lang="en-US" sz="1600" dirty="0" err="1">
                <a:solidFill>
                  <a:srgbClr val="39A428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size_t</a:t>
            </a:r>
            <a:r>
              <a:rPr lang="en-US" sz="1600" dirty="0">
                <a:solidFill>
                  <a:srgbClr val="39A428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sz="1600" dirty="0" err="1">
                <a:solidFill>
                  <a:srgbClr val="39A428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dsize</a:t>
            </a:r>
            <a:r>
              <a:rPr lang="en-US" sz="1600" dirty="0">
                <a:solidFill>
                  <a:srgbClr val="39A428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= 2*</a:t>
            </a:r>
            <a:r>
              <a:rPr lang="en-US" sz="1600" dirty="0" err="1">
                <a:solidFill>
                  <a:srgbClr val="39A428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sizeof</a:t>
            </a:r>
            <a:r>
              <a:rPr lang="en-US" sz="1600" dirty="0">
                <a:solidFill>
                  <a:srgbClr val="39A428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(</a:t>
            </a:r>
            <a:r>
              <a:rPr lang="en-US" sz="1600" dirty="0" err="1">
                <a:solidFill>
                  <a:srgbClr val="39A428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word_t</a:t>
            </a:r>
            <a:r>
              <a:rPr lang="en-US" sz="1600" dirty="0">
                <a:solidFill>
                  <a:srgbClr val="39A428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);</a:t>
            </a:r>
            <a:endParaRPr lang="en-US" sz="1600" dirty="0">
              <a:solidFill>
                <a:srgbClr val="39A428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1600" dirty="0">
              <a:solidFill>
                <a:srgbClr val="39A428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39A428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*</a:t>
            </a:r>
            <a:r>
              <a:rPr lang="en-US" sz="1600" dirty="0" err="1">
                <a:solidFill>
                  <a:srgbClr val="6122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mm_malloc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(</a:t>
            </a:r>
            <a:r>
              <a:rPr lang="en-US" sz="1600" dirty="0" err="1">
                <a:solidFill>
                  <a:srgbClr val="39A428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size_t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sz="1600" dirty="0">
                <a:solidFill>
                  <a:srgbClr val="C79725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size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)</a:t>
            </a:r>
            <a:endParaRPr lang="en-US" sz="1600" dirty="0">
              <a:solidFill>
                <a:srgbClr val="39A428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{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    </a:t>
            </a:r>
            <a:r>
              <a:rPr lang="en-US" sz="1600" dirty="0" err="1">
                <a:solidFill>
                  <a:srgbClr val="39A428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size_t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sz="1600" dirty="0" err="1">
                <a:solidFill>
                  <a:srgbClr val="C79725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asize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round_up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(size + 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dsize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dsize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);</a:t>
            </a:r>
            <a:b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</a:b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    </a:t>
            </a:r>
            <a:r>
              <a:rPr lang="en-US" sz="1600" dirty="0" err="1">
                <a:solidFill>
                  <a:srgbClr val="39A428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block_t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*</a:t>
            </a:r>
            <a:r>
              <a:rPr lang="en-US" sz="1600" dirty="0">
                <a:solidFill>
                  <a:srgbClr val="C79725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block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find_fit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asize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);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    </a:t>
            </a:r>
            <a:r>
              <a:rPr lang="en-US" sz="1600" dirty="0">
                <a:solidFill>
                  <a:srgbClr val="D422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(block == </a:t>
            </a:r>
            <a:r>
              <a:rPr lang="en-US" sz="1600" dirty="0">
                <a:solidFill>
                  <a:srgbClr val="69C0BE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)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        </a:t>
            </a:r>
            <a:r>
              <a:rPr lang="en-US" sz="1600" dirty="0">
                <a:solidFill>
                  <a:srgbClr val="D422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sz="1600" dirty="0">
                <a:solidFill>
                  <a:srgbClr val="69C0BE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    </a:t>
            </a:r>
            <a:r>
              <a:rPr lang="en-US" sz="1600" dirty="0" err="1">
                <a:solidFill>
                  <a:srgbClr val="39A428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size_t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sz="1600" dirty="0" err="1">
                <a:solidFill>
                  <a:srgbClr val="C79725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block_size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get_size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(block);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write_header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(block, 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block_size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, </a:t>
            </a:r>
            <a:r>
              <a:rPr lang="en-US" sz="1600" dirty="0">
                <a:solidFill>
                  <a:srgbClr val="69C0BE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true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);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write_footer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(block, 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block_size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, </a:t>
            </a:r>
            <a:r>
              <a:rPr lang="en-US" sz="1600" dirty="0">
                <a:solidFill>
                  <a:srgbClr val="69C0BE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true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);</a:t>
            </a:r>
            <a:b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</a:b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split_block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(block, 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asize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);</a:t>
            </a:r>
            <a:b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</a:b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    </a:t>
            </a:r>
            <a:r>
              <a:rPr lang="en-US" sz="1600" dirty="0">
                <a:solidFill>
                  <a:srgbClr val="D422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header_to_payload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(block);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}</a:t>
            </a:r>
            <a:endParaRPr lang="en-GB" sz="1600" dirty="0">
              <a:solidFill>
                <a:srgbClr val="99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799070" y="1905000"/>
            <a:ext cx="3383280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8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round_up</a:t>
            </a:r>
            <a:r>
              <a:rPr lang="en-US" sz="18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(n, m)</a:t>
            </a:r>
            <a:endParaRPr lang="en-US" sz="18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 algn="ctr"/>
            <a:r>
              <a:rPr lang="en-US" sz="18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=</a:t>
            </a:r>
            <a:endParaRPr lang="en-US" sz="18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pPr algn="ctr"/>
            <a:r>
              <a:rPr lang="en-US" sz="18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m *((n+m-1)/m)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顶</a:t>
            </a:r>
            <a:r>
              <a:rPr lang="zh-CN" altLang="en-US" dirty="0" smtClean="0"/>
              <a:t>层 </a:t>
            </a:r>
            <a:r>
              <a:rPr lang="en-US" dirty="0" smtClean="0"/>
              <a:t>Free </a:t>
            </a:r>
            <a:r>
              <a:rPr lang="zh-CN" altLang="en-US" dirty="0" smtClean="0"/>
              <a:t>代码</a:t>
            </a:r>
            <a:endParaRPr lang="en-US" dirty="0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438401" y="1228407"/>
            <a:ext cx="5489301" cy="2556727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r>
              <a:rPr lang="en-US" sz="1600" dirty="0">
                <a:solidFill>
                  <a:srgbClr val="39A428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sz="1600" dirty="0" err="1">
                <a:solidFill>
                  <a:srgbClr val="6122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mm_free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(</a:t>
            </a:r>
            <a:r>
              <a:rPr lang="en-US" sz="1600" dirty="0">
                <a:solidFill>
                  <a:srgbClr val="39A428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*</a:t>
            </a:r>
            <a:r>
              <a:rPr lang="en-US" sz="1600" dirty="0">
                <a:solidFill>
                  <a:srgbClr val="C79725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bp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)</a:t>
            </a:r>
            <a:endParaRPr lang="en-US" sz="1600" dirty="0">
              <a:solidFill>
                <a:srgbClr val="39A428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{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    </a:t>
            </a:r>
            <a:r>
              <a:rPr lang="en-US" sz="1600" dirty="0" err="1">
                <a:solidFill>
                  <a:srgbClr val="39A428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block_t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*</a:t>
            </a:r>
            <a:r>
              <a:rPr lang="en-US" sz="1600" dirty="0">
                <a:solidFill>
                  <a:srgbClr val="C79725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block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payload_to_header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(bp);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    </a:t>
            </a:r>
            <a:r>
              <a:rPr lang="en-US" sz="1600" dirty="0" err="1">
                <a:solidFill>
                  <a:srgbClr val="39A428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size_t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r>
              <a:rPr lang="en-US" sz="1600" dirty="0">
                <a:solidFill>
                  <a:srgbClr val="C79725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size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get_size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(block);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write_header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(block, size, </a:t>
            </a:r>
            <a:r>
              <a:rPr lang="en-US" sz="1600" dirty="0">
                <a:solidFill>
                  <a:srgbClr val="69C0BE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false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);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write_footer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(block, size, </a:t>
            </a:r>
            <a:r>
              <a:rPr lang="en-US" sz="1600" dirty="0">
                <a:solidFill>
                  <a:srgbClr val="69C0BE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false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);</a:t>
            </a:r>
            <a:b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</a:b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coalesce_block</a:t>
            </a:r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(block);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}</a:t>
            </a:r>
            <a:endParaRPr lang="en-US" sz="1600" dirty="0">
              <a:solidFill>
                <a:srgbClr val="000000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边界标记的缺点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内部碎片</a:t>
            </a:r>
            <a:endParaRPr lang="en-US"/>
          </a:p>
          <a:p>
            <a:endParaRPr lang="en-US"/>
          </a:p>
          <a:p>
            <a:r>
              <a:rPr lang="zh-CN" altLang="en-US"/>
              <a:t>可以优化吗？</a:t>
            </a:r>
            <a:endParaRPr lang="en-US"/>
          </a:p>
          <a:p>
            <a:pPr lvl="1"/>
            <a:r>
              <a:rPr lang="zh-CN" altLang="en-US"/>
              <a:t>哪些内存块需要表尾标签？</a:t>
            </a:r>
            <a:endParaRPr lang="en-US"/>
          </a:p>
          <a:p>
            <a:pPr lvl="1"/>
            <a:r>
              <a:rPr lang="zh-CN" altLang="en-US"/>
              <a:t>这意味着什么？</a:t>
            </a:r>
            <a:endParaRPr lang="zh-CN" altLang="en-US"/>
          </a:p>
        </p:txBody>
      </p:sp>
      <p:grpSp>
        <p:nvGrpSpPr>
          <p:cNvPr id="9" name="Group 8"/>
          <p:cNvGrpSpPr/>
          <p:nvPr/>
        </p:nvGrpSpPr>
        <p:grpSpPr>
          <a:xfrm>
            <a:off x="7696201" y="1981200"/>
            <a:ext cx="1677987" cy="2042584"/>
            <a:chOff x="3109913" y="4275288"/>
            <a:chExt cx="1677987" cy="2042584"/>
          </a:xfrm>
        </p:grpSpPr>
        <p:sp>
          <p:nvSpPr>
            <p:cNvPr id="4" name="Rectangle 3"/>
            <p:cNvSpPr>
              <a:spLocks noChangeArrowheads="1"/>
            </p:cNvSpPr>
            <p:nvPr/>
          </p:nvSpPr>
          <p:spPr bwMode="auto">
            <a:xfrm>
              <a:off x="3111500" y="4275288"/>
              <a:ext cx="1370013" cy="3810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sz="1600" dirty="0" smtClean="0">
                  <a:latin typeface="Calibri" pitchFamily="34" charset="0"/>
                </a:rPr>
                <a:t>内存块大小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3111500" y="4656288"/>
              <a:ext cx="1676400" cy="1285875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sz="1600" dirty="0" smtClean="0">
                  <a:latin typeface="Calibri" pitchFamily="34" charset="0"/>
                </a:rPr>
                <a:t>有效负载和填充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6" name="Rectangle 8"/>
            <p:cNvSpPr>
              <a:spLocks noChangeArrowheads="1"/>
            </p:cNvSpPr>
            <p:nvPr/>
          </p:nvSpPr>
          <p:spPr bwMode="auto">
            <a:xfrm>
              <a:off x="4483100" y="4275288"/>
              <a:ext cx="304800" cy="381000"/>
            </a:xfrm>
            <a:prstGeom prst="rect">
              <a:avLst/>
            </a:prstGeom>
            <a:solidFill>
              <a:srgbClr val="EBAFA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a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3109913" y="5936872"/>
              <a:ext cx="1370012" cy="3810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sz="1600" dirty="0" smtClean="0">
                  <a:latin typeface="Calibri" pitchFamily="34" charset="0"/>
                </a:rPr>
                <a:t>内存块大小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483100" y="5936872"/>
              <a:ext cx="304800" cy="381000"/>
            </a:xfrm>
            <a:prstGeom prst="rect">
              <a:avLst/>
            </a:prstGeom>
            <a:solidFill>
              <a:srgbClr val="EBAFA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a</a:t>
              </a:r>
              <a:endParaRPr lang="en-GB" sz="1600" dirty="0">
                <a:latin typeface="Calibri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已分配内存块没有边界标记</a:t>
            </a:r>
            <a:endParaRPr lang="en-US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514600" y="3340779"/>
            <a:ext cx="1370012" cy="381000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 smtClean="0">
                <a:latin typeface="Calibri" pitchFamily="34" charset="0"/>
              </a:rPr>
              <a:t>内存块大小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966404" y="2671005"/>
            <a:ext cx="746015" cy="335799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1 </a:t>
            </a:r>
            <a:r>
              <a:rPr lang="zh-CN" altLang="en-US" sz="1600" dirty="0" smtClean="0">
                <a:latin typeface="Calibri" pitchFamily="34" charset="0"/>
              </a:rPr>
              <a:t>个字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514600" y="3721780"/>
            <a:ext cx="1676400" cy="1285875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 smtClean="0">
                <a:latin typeface="Calibri" pitchFamily="34" charset="0"/>
              </a:rPr>
              <a:t>有效负载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4549775" y="3363435"/>
            <a:ext cx="3073575" cy="2024786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70C0"/>
                </a:solidFill>
                <a:latin typeface="Calibri" pitchFamily="34" charset="0"/>
              </a:rPr>
              <a:t>a = </a:t>
            </a:r>
            <a:r>
              <a:rPr lang="en-GB" sz="1600" dirty="0" smtClean="0">
                <a:solidFill>
                  <a:srgbClr val="0070C0"/>
                </a:solidFill>
                <a:latin typeface="Calibri" pitchFamily="34" charset="0"/>
              </a:rPr>
              <a:t>1</a:t>
            </a:r>
            <a:r>
              <a:rPr lang="zh-CN" altLang="en-US" sz="1600" dirty="0" smtClean="0">
                <a:solidFill>
                  <a:srgbClr val="0070C0"/>
                </a:solidFill>
                <a:latin typeface="Calibri" pitchFamily="34" charset="0"/>
              </a:rPr>
              <a:t>：已分配内存块</a:t>
            </a:r>
            <a:r>
              <a:rPr lang="en-GB" sz="1600" dirty="0" smtClean="0">
                <a:solidFill>
                  <a:srgbClr val="0070C0"/>
                </a:solidFill>
                <a:latin typeface="Calibri" pitchFamily="34" charset="0"/>
              </a:rPr>
              <a:t>  </a:t>
            </a:r>
            <a:endParaRPr lang="en-GB" sz="1600" dirty="0">
              <a:solidFill>
                <a:srgbClr val="0070C0"/>
              </a:solidFill>
              <a:latin typeface="Calibri" pitchFamily="34" charset="0"/>
            </a:endParaRP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0070C0"/>
                </a:solidFill>
                <a:latin typeface="Calibri" pitchFamily="34" charset="0"/>
              </a:rPr>
              <a:t>a = </a:t>
            </a:r>
            <a:r>
              <a:rPr lang="en-GB" sz="1600" dirty="0" smtClean="0">
                <a:solidFill>
                  <a:srgbClr val="0070C0"/>
                </a:solidFill>
                <a:latin typeface="Calibri" pitchFamily="34" charset="0"/>
              </a:rPr>
              <a:t>0</a:t>
            </a:r>
            <a:r>
              <a:rPr lang="zh-CN" altLang="en-US" sz="1600" dirty="0" smtClean="0">
                <a:solidFill>
                  <a:srgbClr val="0070C0"/>
                </a:solidFill>
                <a:latin typeface="Calibri" pitchFamily="34" charset="0"/>
              </a:rPr>
              <a:t>：空闲内存块</a:t>
            </a:r>
            <a:endParaRPr lang="en-GB" sz="1600" dirty="0">
              <a:solidFill>
                <a:srgbClr val="0070C0"/>
              </a:solidFill>
              <a:latin typeface="Calibri" pitchFamily="34" charset="0"/>
            </a:endParaRP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b = </a:t>
            </a:r>
            <a:r>
              <a:rPr lang="en-GB" sz="1600" dirty="0" smtClean="0">
                <a:solidFill>
                  <a:srgbClr val="C00000"/>
                </a:solidFill>
                <a:latin typeface="Calibri" pitchFamily="34" charset="0"/>
              </a:rPr>
              <a:t>1</a:t>
            </a:r>
            <a:r>
              <a:rPr lang="zh-CN" altLang="en-US" sz="1600" dirty="0" smtClean="0">
                <a:solidFill>
                  <a:srgbClr val="C00000"/>
                </a:solidFill>
                <a:latin typeface="Calibri" pitchFamily="34" charset="0"/>
              </a:rPr>
              <a:t>：前一个内存块是已分配的</a:t>
            </a:r>
            <a:endParaRPr lang="en-GB" sz="1600" dirty="0">
              <a:solidFill>
                <a:srgbClr val="C00000"/>
              </a:solidFill>
              <a:latin typeface="Calibri" pitchFamily="34" charset="0"/>
            </a:endParaRP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b = </a:t>
            </a:r>
            <a:r>
              <a:rPr lang="en-GB" sz="1600" dirty="0" smtClean="0">
                <a:solidFill>
                  <a:srgbClr val="C00000"/>
                </a:solidFill>
                <a:latin typeface="Calibri" pitchFamily="34" charset="0"/>
              </a:rPr>
              <a:t>0</a:t>
            </a:r>
            <a:r>
              <a:rPr lang="zh-CN" altLang="en-US" sz="1600" dirty="0" smtClean="0">
                <a:solidFill>
                  <a:srgbClr val="C00000"/>
                </a:solidFill>
                <a:latin typeface="Calibri" pitchFamily="34" charset="0"/>
              </a:rPr>
              <a:t>：前一个内存块是空闲的</a:t>
            </a:r>
            <a:endParaRPr lang="en-GB" sz="1600" dirty="0">
              <a:solidFill>
                <a:srgbClr val="C00000"/>
              </a:solidFill>
              <a:latin typeface="Calibri" pitchFamily="34" charset="0"/>
            </a:endParaRP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600" dirty="0">
              <a:latin typeface="Calibri" pitchFamily="34" charset="0"/>
            </a:endParaRP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 smtClean="0">
                <a:latin typeface="Calibri" pitchFamily="34" charset="0"/>
              </a:rPr>
              <a:t>Size</a:t>
            </a:r>
            <a:r>
              <a:rPr lang="zh-CN" altLang="en-US" sz="1600" dirty="0" smtClean="0">
                <a:latin typeface="Calibri" pitchFamily="34" charset="0"/>
              </a:rPr>
              <a:t>：内存块大小</a:t>
            </a:r>
            <a:endParaRPr lang="en-GB" sz="1600" dirty="0">
              <a:latin typeface="Calibri" pitchFamily="34" charset="0"/>
            </a:endParaRP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600" dirty="0">
              <a:latin typeface="Calibri" pitchFamily="34" charset="0"/>
            </a:endParaRP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 smtClean="0">
                <a:latin typeface="Calibri" pitchFamily="34" charset="0"/>
              </a:rPr>
              <a:t>Payload</a:t>
            </a:r>
            <a:r>
              <a:rPr lang="zh-CN" altLang="en-US" sz="1600" dirty="0" smtClean="0">
                <a:latin typeface="Calibri" pitchFamily="34" charset="0"/>
              </a:rPr>
              <a:t>：应用数据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3886200" y="3340779"/>
            <a:ext cx="304800" cy="381000"/>
          </a:xfrm>
          <a:prstGeom prst="rect">
            <a:avLst/>
          </a:prstGeom>
          <a:solidFill>
            <a:srgbClr val="EBAFA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b</a:t>
            </a:r>
            <a:r>
              <a:rPr lang="en-GB" sz="1600" dirty="0">
                <a:solidFill>
                  <a:srgbClr val="0070C0"/>
                </a:solidFill>
                <a:latin typeface="Calibri" pitchFamily="34" charset="0"/>
              </a:rPr>
              <a:t>1</a:t>
            </a:r>
            <a:endParaRPr lang="en-GB" sz="1600" dirty="0">
              <a:solidFill>
                <a:srgbClr val="0070C0"/>
              </a:solidFill>
              <a:latin typeface="Calibri" pitchFamily="34" charset="0"/>
            </a:endParaRPr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2514600" y="5004479"/>
            <a:ext cx="1676400" cy="6858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 smtClean="0">
                <a:latin typeface="Calibri" pitchFamily="34" charset="0"/>
              </a:rPr>
              <a:t>填充（可选）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10" name="AutoShape 8"/>
          <p:cNvSpPr/>
          <p:nvPr/>
        </p:nvSpPr>
        <p:spPr bwMode="auto">
          <a:xfrm rot="16200000">
            <a:off x="3238502" y="2282904"/>
            <a:ext cx="228600" cy="1676401"/>
          </a:xfrm>
          <a:prstGeom prst="rightBrace">
            <a:avLst>
              <a:gd name="adj1" fmla="val 118750"/>
              <a:gd name="adj2" fmla="val 50000"/>
            </a:avLst>
          </a:prstGeom>
          <a:noFill/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7923214" y="3306385"/>
            <a:ext cx="1370013" cy="381000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 smtClean="0">
                <a:latin typeface="Calibri" pitchFamily="34" charset="0"/>
              </a:rPr>
              <a:t>内存块大小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7924801" y="3692604"/>
            <a:ext cx="1676400" cy="16166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 smtClean="0">
                <a:latin typeface="Calibri" pitchFamily="34" charset="0"/>
              </a:rPr>
              <a:t>未分配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9296401" y="3306385"/>
            <a:ext cx="304800" cy="381000"/>
          </a:xfrm>
          <a:prstGeom prst="rect">
            <a:avLst/>
          </a:prstGeom>
          <a:solidFill>
            <a:srgbClr val="EBAFA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b</a:t>
            </a:r>
            <a:r>
              <a:rPr lang="en-GB" sz="1600" dirty="0">
                <a:solidFill>
                  <a:srgbClr val="0070C0"/>
                </a:solidFill>
                <a:latin typeface="Calibri" pitchFamily="34" charset="0"/>
              </a:rPr>
              <a:t>0</a:t>
            </a:r>
            <a:endParaRPr lang="en-GB" sz="1600" dirty="0">
              <a:solidFill>
                <a:srgbClr val="0070C0"/>
              </a:solidFill>
              <a:latin typeface="Calibri" pitchFamily="34" charset="0"/>
            </a:endParaRPr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7923214" y="5309279"/>
            <a:ext cx="1370012" cy="381000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 smtClean="0">
                <a:latin typeface="Calibri" pitchFamily="34" charset="0"/>
              </a:rPr>
              <a:t>内存块大小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9293226" y="5309279"/>
            <a:ext cx="304800" cy="381000"/>
          </a:xfrm>
          <a:prstGeom prst="rect">
            <a:avLst/>
          </a:prstGeom>
          <a:solidFill>
            <a:srgbClr val="EBAFA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b</a:t>
            </a:r>
            <a:r>
              <a:rPr lang="en-GB" sz="1600" dirty="0">
                <a:solidFill>
                  <a:srgbClr val="0070C0"/>
                </a:solidFill>
                <a:latin typeface="Calibri" pitchFamily="34" charset="0"/>
              </a:rPr>
              <a:t>0</a:t>
            </a:r>
            <a:endParaRPr lang="en-GB" sz="1600" dirty="0">
              <a:solidFill>
                <a:srgbClr val="0070C0"/>
              </a:solidFill>
              <a:latin typeface="Calibri" pitchFamily="34" charset="0"/>
            </a:endParaRPr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8379231" y="2637645"/>
            <a:ext cx="746015" cy="335799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1 </a:t>
            </a:r>
            <a:r>
              <a:rPr lang="zh-CN" altLang="en-US" sz="1600" dirty="0" smtClean="0">
                <a:latin typeface="Calibri" pitchFamily="34" charset="0"/>
              </a:rPr>
              <a:t>个字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17" name="AutoShape 8"/>
          <p:cNvSpPr/>
          <p:nvPr/>
        </p:nvSpPr>
        <p:spPr bwMode="auto">
          <a:xfrm rot="16200000">
            <a:off x="8651329" y="2249544"/>
            <a:ext cx="228600" cy="1676401"/>
          </a:xfrm>
          <a:prstGeom prst="rightBrace">
            <a:avLst>
              <a:gd name="adj1" fmla="val 118750"/>
              <a:gd name="adj2" fmla="val 50000"/>
            </a:avLst>
          </a:prstGeom>
          <a:noFill/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2843455" y="5906870"/>
            <a:ext cx="8819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800" dirty="0" smtClean="0">
                <a:latin typeface="Calibri" pitchFamily="34" charset="0"/>
              </a:rPr>
              <a:t>已分配</a:t>
            </a:r>
            <a:endParaRPr lang="en-US" altLang="zh-CN" sz="1800" dirty="0" smtClean="0">
              <a:latin typeface="Calibri" pitchFamily="34" charset="0"/>
            </a:endParaRPr>
          </a:p>
          <a:p>
            <a:pPr algn="ctr"/>
            <a:r>
              <a:rPr lang="zh-CN" altLang="en-US" sz="1800" dirty="0">
                <a:latin typeface="Calibri" pitchFamily="34" charset="0"/>
              </a:rPr>
              <a:t>内存块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63276" y="5830670"/>
            <a:ext cx="8819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800" dirty="0">
                <a:latin typeface="Calibri" pitchFamily="34" charset="0"/>
              </a:rPr>
              <a:t>空</a:t>
            </a:r>
            <a:r>
              <a:rPr lang="zh-CN" altLang="en-US" sz="1800" dirty="0" smtClean="0">
                <a:latin typeface="Calibri" pitchFamily="34" charset="0"/>
              </a:rPr>
              <a:t>闲</a:t>
            </a:r>
            <a:endParaRPr lang="en-US" altLang="zh-CN" sz="1800" dirty="0" smtClean="0">
              <a:latin typeface="Calibri" pitchFamily="34" charset="0"/>
            </a:endParaRPr>
          </a:p>
          <a:p>
            <a:pPr algn="ctr"/>
            <a:r>
              <a:rPr lang="zh-CN" altLang="en-US" sz="1800" dirty="0">
                <a:latin typeface="Calibri" pitchFamily="34" charset="0"/>
              </a:rPr>
              <a:t>内存块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20" name="Content Placeholder 2"/>
          <p:cNvSpPr>
            <a:spLocks noGrp="1"/>
          </p:cNvSpPr>
          <p:nvPr>
            <p:ph idx="1"/>
          </p:nvPr>
        </p:nvSpPr>
        <p:spPr>
          <a:xfrm>
            <a:off x="1920876" y="1352551"/>
            <a:ext cx="8442325" cy="897985"/>
          </a:xfrm>
        </p:spPr>
        <p:txBody>
          <a:bodyPr/>
          <a:lstStyle/>
          <a:p>
            <a:r>
              <a:rPr lang="zh-CN" altLang="en-US" dirty="0" smtClean="0"/>
              <a:t>只有空闲块才需要边界标记</a:t>
            </a:r>
            <a:endParaRPr lang="en-US" dirty="0"/>
          </a:p>
          <a:p>
            <a:r>
              <a:rPr lang="zh-CN" altLang="en-US" dirty="0" smtClean="0"/>
              <a:t>当大小为</a:t>
            </a:r>
            <a:r>
              <a:rPr lang="en-US" altLang="zh-CN" dirty="0" smtClean="0"/>
              <a:t>16</a:t>
            </a:r>
            <a:r>
              <a:rPr lang="zh-CN" altLang="en-US" dirty="0" smtClean="0"/>
              <a:t>的倍数时，有</a:t>
            </a:r>
            <a:r>
              <a:rPr lang="en-US" altLang="zh-CN" dirty="0" smtClean="0"/>
              <a:t>4</a:t>
            </a:r>
            <a:r>
              <a:rPr lang="zh-CN" altLang="en-US" dirty="0" smtClean="0"/>
              <a:t>个备用位（</a:t>
            </a:r>
            <a:r>
              <a:rPr lang="en-US" altLang="zh-CN" dirty="0"/>
              <a:t>spare </a:t>
            </a:r>
            <a:r>
              <a:rPr lang="en-US" altLang="zh-CN" dirty="0" smtClean="0"/>
              <a:t>bits</a:t>
            </a:r>
            <a:r>
              <a:rPr lang="zh-CN" altLang="en-US" dirty="0" smtClean="0"/>
              <a:t>）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/>
          <p:cNvSpPr>
            <a:spLocks noChangeArrowheads="1"/>
          </p:cNvSpPr>
          <p:nvPr/>
        </p:nvSpPr>
        <p:spPr bwMode="auto">
          <a:xfrm>
            <a:off x="4267200" y="2209800"/>
            <a:ext cx="1676400" cy="6096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678" name="Rectangle 6"/>
          <p:cNvSpPr>
            <a:spLocks noChangeArrowheads="1"/>
          </p:cNvSpPr>
          <p:nvPr/>
        </p:nvSpPr>
        <p:spPr bwMode="auto">
          <a:xfrm>
            <a:off x="4267200" y="1918245"/>
            <a:ext cx="12954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m1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28679" name="Rectangle 7"/>
          <p:cNvSpPr>
            <a:spLocks noChangeArrowheads="1"/>
          </p:cNvSpPr>
          <p:nvPr/>
        </p:nvSpPr>
        <p:spPr bwMode="auto">
          <a:xfrm>
            <a:off x="5562600" y="1905000"/>
            <a:ext cx="3810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?</a:t>
            </a:r>
            <a:r>
              <a:rPr lang="en-GB" sz="1600" dirty="0">
                <a:solidFill>
                  <a:srgbClr val="0070C0"/>
                </a:solidFill>
                <a:latin typeface="Calibri" pitchFamily="34" charset="0"/>
              </a:rPr>
              <a:t>1</a:t>
            </a:r>
            <a:endParaRPr lang="en-GB" sz="1600" dirty="0">
              <a:solidFill>
                <a:srgbClr val="0070C0"/>
              </a:solidFill>
              <a:latin typeface="Calibri" pitchFamily="34" charset="0"/>
            </a:endParaRPr>
          </a:p>
        </p:txBody>
      </p:sp>
      <p:sp>
        <p:nvSpPr>
          <p:cNvPr id="28680" name="Rectangle 8"/>
          <p:cNvSpPr>
            <a:spLocks noChangeArrowheads="1"/>
          </p:cNvSpPr>
          <p:nvPr/>
        </p:nvSpPr>
        <p:spPr bwMode="auto">
          <a:xfrm>
            <a:off x="4267200" y="1905000"/>
            <a:ext cx="1676400" cy="914400"/>
          </a:xfrm>
          <a:prstGeom prst="rect">
            <a:avLst/>
          </a:prstGeom>
          <a:noFill/>
          <a:ln w="3816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684" name="Rectangle 12"/>
          <p:cNvSpPr>
            <a:spLocks noChangeArrowheads="1"/>
          </p:cNvSpPr>
          <p:nvPr/>
        </p:nvSpPr>
        <p:spPr bwMode="auto">
          <a:xfrm>
            <a:off x="4267200" y="3132123"/>
            <a:ext cx="1676400" cy="6096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686" name="Rectangle 14"/>
          <p:cNvSpPr>
            <a:spLocks noChangeArrowheads="1"/>
          </p:cNvSpPr>
          <p:nvPr/>
        </p:nvSpPr>
        <p:spPr bwMode="auto">
          <a:xfrm>
            <a:off x="4267200" y="2829964"/>
            <a:ext cx="12954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n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28687" name="Rectangle 15"/>
          <p:cNvSpPr>
            <a:spLocks noChangeArrowheads="1"/>
          </p:cNvSpPr>
          <p:nvPr/>
        </p:nvSpPr>
        <p:spPr bwMode="auto">
          <a:xfrm>
            <a:off x="5562600" y="2819400"/>
            <a:ext cx="3810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1</a:t>
            </a:r>
            <a:r>
              <a:rPr lang="en-GB" sz="1600" dirty="0">
                <a:solidFill>
                  <a:srgbClr val="0070C0"/>
                </a:solidFill>
                <a:latin typeface="Calibri" pitchFamily="34" charset="0"/>
              </a:rPr>
              <a:t>1</a:t>
            </a:r>
            <a:endParaRPr lang="en-GB" sz="1600" dirty="0">
              <a:solidFill>
                <a:srgbClr val="0070C0"/>
              </a:solidFill>
              <a:latin typeface="Calibri" pitchFamily="34" charset="0"/>
            </a:endParaRPr>
          </a:p>
        </p:txBody>
      </p:sp>
      <p:sp>
        <p:nvSpPr>
          <p:cNvPr id="28688" name="Rectangle 16"/>
          <p:cNvSpPr>
            <a:spLocks noChangeArrowheads="1"/>
          </p:cNvSpPr>
          <p:nvPr/>
        </p:nvSpPr>
        <p:spPr bwMode="auto">
          <a:xfrm>
            <a:off x="4267200" y="2819400"/>
            <a:ext cx="1676400" cy="914400"/>
          </a:xfrm>
          <a:prstGeom prst="rect">
            <a:avLst/>
          </a:prstGeom>
          <a:noFill/>
          <a:ln w="3816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691" name="Rectangle 19"/>
          <p:cNvSpPr>
            <a:spLocks noChangeArrowheads="1"/>
          </p:cNvSpPr>
          <p:nvPr/>
        </p:nvSpPr>
        <p:spPr bwMode="auto">
          <a:xfrm>
            <a:off x="4269828" y="4054344"/>
            <a:ext cx="1676400" cy="6096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693" name="Rectangle 21"/>
          <p:cNvSpPr>
            <a:spLocks noChangeArrowheads="1"/>
          </p:cNvSpPr>
          <p:nvPr/>
        </p:nvSpPr>
        <p:spPr bwMode="auto">
          <a:xfrm>
            <a:off x="4259189" y="3752185"/>
            <a:ext cx="12954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m2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28694" name="Rectangle 22"/>
          <p:cNvSpPr>
            <a:spLocks noChangeArrowheads="1"/>
          </p:cNvSpPr>
          <p:nvPr/>
        </p:nvSpPr>
        <p:spPr bwMode="auto">
          <a:xfrm>
            <a:off x="5554589" y="3744262"/>
            <a:ext cx="3810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1</a:t>
            </a:r>
            <a:r>
              <a:rPr lang="en-GB" sz="1600" dirty="0">
                <a:solidFill>
                  <a:srgbClr val="0070C0"/>
                </a:solidFill>
                <a:latin typeface="Calibri" pitchFamily="34" charset="0"/>
              </a:rPr>
              <a:t>1</a:t>
            </a:r>
            <a:endParaRPr lang="en-GB" sz="1600" dirty="0">
              <a:solidFill>
                <a:srgbClr val="0070C0"/>
              </a:solidFill>
              <a:latin typeface="Calibri" pitchFamily="34" charset="0"/>
            </a:endParaRPr>
          </a:p>
        </p:txBody>
      </p:sp>
      <p:sp>
        <p:nvSpPr>
          <p:cNvPr id="28695" name="Rectangle 23"/>
          <p:cNvSpPr>
            <a:spLocks noChangeArrowheads="1"/>
          </p:cNvSpPr>
          <p:nvPr/>
        </p:nvSpPr>
        <p:spPr bwMode="auto">
          <a:xfrm>
            <a:off x="4267200" y="3733800"/>
            <a:ext cx="1676400" cy="914400"/>
          </a:xfrm>
          <a:prstGeom prst="rect">
            <a:avLst/>
          </a:prstGeom>
          <a:noFill/>
          <a:ln w="3816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6096000" y="1905001"/>
            <a:ext cx="2514600" cy="2743885"/>
            <a:chOff x="4572000" y="1905000"/>
            <a:chExt cx="2514600" cy="2743885"/>
          </a:xfrm>
        </p:grpSpPr>
        <p:sp>
          <p:nvSpPr>
            <p:cNvPr id="28698" name="Rectangle 26"/>
            <p:cNvSpPr>
              <a:spLocks noChangeArrowheads="1"/>
            </p:cNvSpPr>
            <p:nvPr/>
          </p:nvSpPr>
          <p:spPr bwMode="auto">
            <a:xfrm>
              <a:off x="5410200" y="2205682"/>
              <a:ext cx="1676400" cy="6096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00" name="Rectangle 28"/>
            <p:cNvSpPr>
              <a:spLocks noChangeArrowheads="1"/>
            </p:cNvSpPr>
            <p:nvPr/>
          </p:nvSpPr>
          <p:spPr bwMode="auto">
            <a:xfrm>
              <a:off x="5410200" y="1912883"/>
              <a:ext cx="12954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m1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28701" name="Rectangle 29"/>
            <p:cNvSpPr>
              <a:spLocks noChangeArrowheads="1"/>
            </p:cNvSpPr>
            <p:nvPr/>
          </p:nvSpPr>
          <p:spPr bwMode="auto">
            <a:xfrm>
              <a:off x="6705600" y="1924530"/>
              <a:ext cx="3810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solidFill>
                    <a:srgbClr val="C00000"/>
                  </a:solidFill>
                  <a:latin typeface="Calibri" pitchFamily="34" charset="0"/>
                </a:rPr>
                <a:t>?</a:t>
              </a:r>
              <a:r>
                <a:rPr lang="en-GB" sz="1600" dirty="0">
                  <a:solidFill>
                    <a:srgbClr val="0070C0"/>
                  </a:solidFill>
                  <a:latin typeface="Calibri" pitchFamily="34" charset="0"/>
                </a:rPr>
                <a:t>1</a:t>
              </a:r>
              <a:endParaRPr lang="en-GB" sz="1600" dirty="0">
                <a:solidFill>
                  <a:srgbClr val="0070C0"/>
                </a:solidFill>
                <a:latin typeface="Calibri" pitchFamily="34" charset="0"/>
              </a:endParaRPr>
            </a:p>
          </p:txBody>
        </p:sp>
        <p:sp>
          <p:nvSpPr>
            <p:cNvPr id="28702" name="Rectangle 30"/>
            <p:cNvSpPr>
              <a:spLocks noChangeArrowheads="1"/>
            </p:cNvSpPr>
            <p:nvPr/>
          </p:nvSpPr>
          <p:spPr bwMode="auto">
            <a:xfrm>
              <a:off x="5410200" y="1905000"/>
              <a:ext cx="1676400" cy="914400"/>
            </a:xfrm>
            <a:prstGeom prst="rect">
              <a:avLst/>
            </a:prstGeom>
            <a:noFill/>
            <a:ln w="3816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03" name="Line 31"/>
            <p:cNvSpPr>
              <a:spLocks noChangeShapeType="1"/>
            </p:cNvSpPr>
            <p:nvPr/>
          </p:nvSpPr>
          <p:spPr bwMode="auto">
            <a:xfrm>
              <a:off x="6248400" y="4191000"/>
              <a:ext cx="1588" cy="457200"/>
            </a:xfrm>
            <a:prstGeom prst="line">
              <a:avLst/>
            </a:prstGeom>
            <a:noFill/>
            <a:ln w="25560">
              <a:solidFill>
                <a:schemeClr val="tx1"/>
              </a:solidFill>
              <a:miter lim="800000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8704" name="Rectangle 32"/>
            <p:cNvSpPr>
              <a:spLocks noChangeArrowheads="1"/>
            </p:cNvSpPr>
            <p:nvPr/>
          </p:nvSpPr>
          <p:spPr bwMode="auto">
            <a:xfrm>
              <a:off x="5410200" y="2819400"/>
              <a:ext cx="12954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n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28705" name="Rectangle 33"/>
            <p:cNvSpPr>
              <a:spLocks noChangeArrowheads="1"/>
            </p:cNvSpPr>
            <p:nvPr/>
          </p:nvSpPr>
          <p:spPr bwMode="auto">
            <a:xfrm>
              <a:off x="6705600" y="2819400"/>
              <a:ext cx="3810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solidFill>
                    <a:srgbClr val="C00000"/>
                  </a:solidFill>
                  <a:latin typeface="Calibri" pitchFamily="34" charset="0"/>
                </a:rPr>
                <a:t>1</a:t>
              </a:r>
              <a:r>
                <a:rPr lang="en-GB" sz="1600" dirty="0">
                  <a:solidFill>
                    <a:srgbClr val="0070C0"/>
                  </a:solidFill>
                  <a:latin typeface="Calibri" pitchFamily="34" charset="0"/>
                </a:rPr>
                <a:t>0</a:t>
              </a:r>
              <a:endParaRPr lang="en-GB" sz="1600" dirty="0">
                <a:solidFill>
                  <a:srgbClr val="0070C0"/>
                </a:solidFill>
                <a:latin typeface="Calibri" pitchFamily="34" charset="0"/>
              </a:endParaRPr>
            </a:p>
          </p:txBody>
        </p:sp>
        <p:sp>
          <p:nvSpPr>
            <p:cNvPr id="28706" name="Rectangle 34"/>
            <p:cNvSpPr>
              <a:spLocks noChangeArrowheads="1"/>
            </p:cNvSpPr>
            <p:nvPr/>
          </p:nvSpPr>
          <p:spPr bwMode="auto">
            <a:xfrm>
              <a:off x="5410200" y="3124200"/>
              <a:ext cx="1676400" cy="304800"/>
            </a:xfrm>
            <a:prstGeom prst="rect">
              <a:avLst/>
            </a:prstGeom>
            <a:solidFill>
              <a:schemeClr val="bg1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07" name="Rectangle 35"/>
            <p:cNvSpPr>
              <a:spLocks noChangeArrowheads="1"/>
            </p:cNvSpPr>
            <p:nvPr/>
          </p:nvSpPr>
          <p:spPr bwMode="auto">
            <a:xfrm>
              <a:off x="5410200" y="3429000"/>
              <a:ext cx="16764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08" name="Rectangle 36"/>
            <p:cNvSpPr>
              <a:spLocks noChangeArrowheads="1"/>
            </p:cNvSpPr>
            <p:nvPr/>
          </p:nvSpPr>
          <p:spPr bwMode="auto">
            <a:xfrm>
              <a:off x="5410200" y="3429000"/>
              <a:ext cx="12954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n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28709" name="Rectangle 37"/>
            <p:cNvSpPr>
              <a:spLocks noChangeArrowheads="1"/>
            </p:cNvSpPr>
            <p:nvPr/>
          </p:nvSpPr>
          <p:spPr bwMode="auto">
            <a:xfrm>
              <a:off x="6705600" y="3429000"/>
              <a:ext cx="3810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solidFill>
                    <a:srgbClr val="C00000"/>
                  </a:solidFill>
                  <a:latin typeface="Calibri" pitchFamily="34" charset="0"/>
                </a:rPr>
                <a:t>1</a:t>
              </a:r>
              <a:r>
                <a:rPr lang="en-GB" sz="1600" dirty="0">
                  <a:solidFill>
                    <a:srgbClr val="0070C0"/>
                  </a:solidFill>
                  <a:latin typeface="Calibri" pitchFamily="34" charset="0"/>
                </a:rPr>
                <a:t>0</a:t>
              </a:r>
              <a:endParaRPr lang="en-GB" sz="1600" dirty="0">
                <a:solidFill>
                  <a:srgbClr val="0070C0"/>
                </a:solidFill>
                <a:latin typeface="Calibri" pitchFamily="34" charset="0"/>
              </a:endParaRPr>
            </a:p>
          </p:txBody>
        </p:sp>
        <p:sp>
          <p:nvSpPr>
            <p:cNvPr id="28710" name="Rectangle 38"/>
            <p:cNvSpPr>
              <a:spLocks noChangeArrowheads="1"/>
            </p:cNvSpPr>
            <p:nvPr/>
          </p:nvSpPr>
          <p:spPr bwMode="auto">
            <a:xfrm>
              <a:off x="5410200" y="2819400"/>
              <a:ext cx="1676400" cy="914400"/>
            </a:xfrm>
            <a:prstGeom prst="rect">
              <a:avLst/>
            </a:prstGeom>
            <a:noFill/>
            <a:ln w="3816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13" name="Rectangle 41"/>
            <p:cNvSpPr>
              <a:spLocks noChangeArrowheads="1"/>
            </p:cNvSpPr>
            <p:nvPr/>
          </p:nvSpPr>
          <p:spPr bwMode="auto">
            <a:xfrm>
              <a:off x="5410200" y="4039285"/>
              <a:ext cx="1676400" cy="6096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15" name="Rectangle 43"/>
            <p:cNvSpPr>
              <a:spLocks noChangeArrowheads="1"/>
            </p:cNvSpPr>
            <p:nvPr/>
          </p:nvSpPr>
          <p:spPr bwMode="auto">
            <a:xfrm>
              <a:off x="5410200" y="3753677"/>
              <a:ext cx="12954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m2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28716" name="Rectangle 44"/>
            <p:cNvSpPr>
              <a:spLocks noChangeArrowheads="1"/>
            </p:cNvSpPr>
            <p:nvPr/>
          </p:nvSpPr>
          <p:spPr bwMode="auto">
            <a:xfrm>
              <a:off x="6705600" y="3744351"/>
              <a:ext cx="3810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solidFill>
                    <a:srgbClr val="C00000"/>
                  </a:solidFill>
                  <a:latin typeface="Calibri" pitchFamily="34" charset="0"/>
                </a:rPr>
                <a:t>0</a:t>
              </a:r>
              <a:r>
                <a:rPr lang="en-GB" sz="1600" dirty="0">
                  <a:solidFill>
                    <a:srgbClr val="0070C0"/>
                  </a:solidFill>
                  <a:latin typeface="Calibri" pitchFamily="34" charset="0"/>
                </a:rPr>
                <a:t>1</a:t>
              </a:r>
              <a:endParaRPr lang="en-GB" sz="1600" dirty="0">
                <a:solidFill>
                  <a:srgbClr val="0070C0"/>
                </a:solidFill>
                <a:latin typeface="Calibri" pitchFamily="34" charset="0"/>
              </a:endParaRPr>
            </a:p>
          </p:txBody>
        </p:sp>
        <p:sp>
          <p:nvSpPr>
            <p:cNvPr id="28717" name="Rectangle 45"/>
            <p:cNvSpPr>
              <a:spLocks noChangeArrowheads="1"/>
            </p:cNvSpPr>
            <p:nvPr/>
          </p:nvSpPr>
          <p:spPr bwMode="auto">
            <a:xfrm>
              <a:off x="5410200" y="3733800"/>
              <a:ext cx="1676400" cy="914400"/>
            </a:xfrm>
            <a:prstGeom prst="rect">
              <a:avLst/>
            </a:prstGeom>
            <a:noFill/>
            <a:ln w="3816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18" name="Line 46"/>
            <p:cNvSpPr>
              <a:spLocks noChangeShapeType="1"/>
            </p:cNvSpPr>
            <p:nvPr/>
          </p:nvSpPr>
          <p:spPr bwMode="auto">
            <a:xfrm>
              <a:off x="4572000" y="3276600"/>
              <a:ext cx="609600" cy="1588"/>
            </a:xfrm>
            <a:prstGeom prst="line">
              <a:avLst/>
            </a:prstGeom>
            <a:noFill/>
            <a:ln w="25560">
              <a:solidFill>
                <a:schemeClr val="tx1"/>
              </a:solidFill>
              <a:miter lim="800000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2286001" y="5334001"/>
            <a:ext cx="66239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 smtClean="0">
                <a:latin typeface="Calibri" pitchFamily="34" charset="0"/>
              </a:rPr>
              <a:t>表头：使用</a:t>
            </a:r>
            <a:r>
              <a:rPr lang="en-US" altLang="zh-CN" sz="1800" dirty="0" smtClean="0">
                <a:latin typeface="Calibri" pitchFamily="34" charset="0"/>
              </a:rPr>
              <a:t>2</a:t>
            </a:r>
            <a:r>
              <a:rPr lang="zh-CN" altLang="en-US" sz="1800" dirty="0" smtClean="0">
                <a:latin typeface="Calibri" pitchFamily="34" charset="0"/>
              </a:rPr>
              <a:t>个位（由于对齐，地址位始终为</a:t>
            </a:r>
            <a:r>
              <a:rPr lang="en-US" altLang="zh-CN" sz="1800" dirty="0" smtClean="0">
                <a:latin typeface="Calibri" pitchFamily="34" charset="0"/>
              </a:rPr>
              <a:t>0</a:t>
            </a:r>
            <a:r>
              <a:rPr lang="zh-CN" altLang="en-US" sz="1800" dirty="0" smtClean="0">
                <a:latin typeface="Calibri" pitchFamily="34" charset="0"/>
              </a:rPr>
              <a:t>）：</a:t>
            </a:r>
            <a:br>
              <a:rPr lang="en-US" sz="1800" dirty="0">
                <a:latin typeface="Calibri" pitchFamily="34" charset="0"/>
              </a:rPr>
            </a:br>
            <a:r>
              <a:rPr lang="en-US" sz="1800" dirty="0">
                <a:latin typeface="Calibri" pitchFamily="34" charset="0"/>
              </a:rPr>
              <a:t>	</a:t>
            </a:r>
            <a:r>
              <a:rPr lang="zh-CN" altLang="en-US" sz="1800" dirty="0" smtClean="0">
                <a:latin typeface="Calibri" pitchFamily="34" charset="0"/>
              </a:rPr>
              <a:t>（</a:t>
            </a:r>
            <a:r>
              <a:rPr lang="zh-CN" altLang="en-US" sz="1800" dirty="0" smtClean="0">
                <a:solidFill>
                  <a:srgbClr val="C00000"/>
                </a:solidFill>
                <a:latin typeface="Calibri" pitchFamily="34" charset="0"/>
              </a:rPr>
              <a:t>前一个内存块已分配</a:t>
            </a:r>
            <a:r>
              <a:rPr lang="zh-CN" altLang="en-US" sz="1800" dirty="0" smtClean="0">
                <a:latin typeface="Calibri" pitchFamily="34" charset="0"/>
              </a:rPr>
              <a:t>）</a:t>
            </a:r>
            <a:r>
              <a:rPr lang="en-US" sz="1800" dirty="0" smtClean="0">
                <a:latin typeface="Calibri" pitchFamily="34" charset="0"/>
              </a:rPr>
              <a:t>&lt;&lt;</a:t>
            </a:r>
            <a:r>
              <a:rPr lang="en-US" sz="1800" dirty="0">
                <a:latin typeface="Calibri" pitchFamily="34" charset="0"/>
              </a:rPr>
              <a:t>1 | </a:t>
            </a:r>
            <a:r>
              <a:rPr lang="zh-CN" altLang="en-US" sz="1800" dirty="0" smtClean="0">
                <a:latin typeface="Calibri" pitchFamily="34" charset="0"/>
              </a:rPr>
              <a:t>（</a:t>
            </a:r>
            <a:r>
              <a:rPr lang="zh-CN" altLang="en-US" sz="1800" dirty="0" smtClean="0">
                <a:solidFill>
                  <a:srgbClr val="0070C0"/>
                </a:solidFill>
                <a:latin typeface="Calibri" pitchFamily="34" charset="0"/>
              </a:rPr>
              <a:t>当前内存块已分配</a:t>
            </a:r>
            <a:r>
              <a:rPr lang="zh-CN" altLang="en-US" sz="1800" dirty="0" smtClean="0">
                <a:latin typeface="Calibri" pitchFamily="34" charset="0"/>
              </a:rPr>
              <a:t>）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35665" y="2047105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800" b="0" dirty="0" smtClean="0">
                <a:latin typeface="Calibri" pitchFamily="34" charset="0"/>
              </a:rPr>
              <a:t>前一个</a:t>
            </a:r>
            <a:endParaRPr lang="en-US" altLang="zh-CN" sz="1800" b="0" dirty="0" smtClean="0">
              <a:latin typeface="Calibri" pitchFamily="34" charset="0"/>
            </a:endParaRPr>
          </a:p>
          <a:p>
            <a:pPr algn="ctr"/>
            <a:r>
              <a:rPr lang="zh-CN" altLang="en-US" sz="1800" b="0" dirty="0">
                <a:latin typeface="Calibri" pitchFamily="34" charset="0"/>
              </a:rPr>
              <a:t>内存块</a:t>
            </a:r>
            <a:endParaRPr lang="en-US" sz="1800" b="0" dirty="0">
              <a:latin typeface="Calibri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034410" y="2857412"/>
            <a:ext cx="8819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800" dirty="0" smtClean="0">
                <a:latin typeface="Calibri" pitchFamily="34" charset="0"/>
              </a:rPr>
              <a:t>已释放</a:t>
            </a:r>
            <a:endParaRPr lang="en-US" altLang="zh-CN" sz="1800" dirty="0" smtClean="0">
              <a:latin typeface="Calibri" pitchFamily="34" charset="0"/>
            </a:endParaRPr>
          </a:p>
          <a:p>
            <a:pPr algn="ctr"/>
            <a:r>
              <a:rPr lang="zh-CN" altLang="en-US" sz="1800" dirty="0">
                <a:latin typeface="Calibri" pitchFamily="34" charset="0"/>
              </a:rPr>
              <a:t>内存块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025798" y="3944721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800" b="0" dirty="0" smtClean="0">
                <a:latin typeface="Calibri" pitchFamily="34" charset="0"/>
              </a:rPr>
              <a:t>后一个</a:t>
            </a:r>
            <a:endParaRPr lang="en-US" altLang="zh-CN" sz="1800" b="0" dirty="0" smtClean="0">
              <a:latin typeface="Calibri" pitchFamily="34" charset="0"/>
            </a:endParaRPr>
          </a:p>
          <a:p>
            <a:pPr algn="ctr"/>
            <a:r>
              <a:rPr lang="zh-CN" altLang="en-US" sz="1800" b="0" dirty="0">
                <a:latin typeface="Calibri" pitchFamily="34" charset="0"/>
              </a:rPr>
              <a:t>内存块</a:t>
            </a:r>
            <a:endParaRPr lang="en-US" sz="1800" b="0" dirty="0">
              <a:latin typeface="Calibri" pitchFamily="34" charset="0"/>
            </a:endParaRPr>
          </a:p>
        </p:txBody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476025" y="435678"/>
            <a:ext cx="10122791" cy="762000"/>
          </a:xfrm>
        </p:spPr>
        <p:txBody>
          <a:bodyPr/>
          <a:lstStyle/>
          <a:p>
            <a:r>
              <a:rPr lang="zh-CN" altLang="en-US" dirty="0" smtClean="0"/>
              <a:t>场景 </a:t>
            </a:r>
            <a:r>
              <a:rPr lang="en-US" altLang="zh-CN" dirty="0" smtClean="0"/>
              <a:t>1：</a:t>
            </a:r>
            <a:r>
              <a:rPr lang="zh-CN" altLang="en-US" dirty="0" smtClean="0"/>
              <a:t>前</a:t>
            </a:r>
            <a:r>
              <a:rPr lang="en-US" altLang="zh-CN" dirty="0" smtClean="0"/>
              <a:t>、</a:t>
            </a:r>
            <a:r>
              <a:rPr lang="zh-CN" altLang="en-US" dirty="0" smtClean="0"/>
              <a:t>后已分配</a:t>
            </a:r>
            <a:r>
              <a:rPr lang="en-US" altLang="zh-CN" dirty="0" smtClean="0"/>
              <a:t> </a:t>
            </a:r>
            <a:endParaRPr 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12" name="Rectangle 16"/>
          <p:cNvSpPr>
            <a:spLocks noChangeArrowheads="1"/>
          </p:cNvSpPr>
          <p:nvPr/>
        </p:nvSpPr>
        <p:spPr bwMode="auto">
          <a:xfrm>
            <a:off x="4038600" y="2235036"/>
            <a:ext cx="1676400" cy="6096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714" name="Rectangle 18"/>
          <p:cNvSpPr>
            <a:spLocks noChangeArrowheads="1"/>
          </p:cNvSpPr>
          <p:nvPr/>
        </p:nvSpPr>
        <p:spPr bwMode="auto">
          <a:xfrm>
            <a:off x="4038600" y="1925501"/>
            <a:ext cx="12954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m1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29715" name="Rectangle 19"/>
          <p:cNvSpPr>
            <a:spLocks noChangeArrowheads="1"/>
          </p:cNvSpPr>
          <p:nvPr/>
        </p:nvSpPr>
        <p:spPr bwMode="auto">
          <a:xfrm>
            <a:off x="5334000" y="1925501"/>
            <a:ext cx="3810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?</a:t>
            </a:r>
            <a:r>
              <a:rPr lang="en-GB" sz="1600" dirty="0">
                <a:solidFill>
                  <a:srgbClr val="0070C0"/>
                </a:solidFill>
                <a:latin typeface="Calibri" pitchFamily="34" charset="0"/>
              </a:rPr>
              <a:t>1</a:t>
            </a:r>
            <a:endParaRPr lang="en-GB" sz="1600" dirty="0">
              <a:solidFill>
                <a:srgbClr val="0070C0"/>
              </a:solidFill>
              <a:latin typeface="Calibri" pitchFamily="34" charset="0"/>
            </a:endParaRPr>
          </a:p>
        </p:txBody>
      </p:sp>
      <p:sp>
        <p:nvSpPr>
          <p:cNvPr id="29716" name="Rectangle 20"/>
          <p:cNvSpPr>
            <a:spLocks noChangeArrowheads="1"/>
          </p:cNvSpPr>
          <p:nvPr/>
        </p:nvSpPr>
        <p:spPr bwMode="auto">
          <a:xfrm>
            <a:off x="4038600" y="1905000"/>
            <a:ext cx="1676400" cy="914400"/>
          </a:xfrm>
          <a:prstGeom prst="rect">
            <a:avLst/>
          </a:prstGeom>
          <a:noFill/>
          <a:ln w="3816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717" name="Line 21"/>
          <p:cNvSpPr>
            <a:spLocks noChangeShapeType="1"/>
          </p:cNvSpPr>
          <p:nvPr/>
        </p:nvSpPr>
        <p:spPr bwMode="auto">
          <a:xfrm>
            <a:off x="4876800" y="4191000"/>
            <a:ext cx="1588" cy="457200"/>
          </a:xfrm>
          <a:prstGeom prst="line">
            <a:avLst/>
          </a:prstGeom>
          <a:noFill/>
          <a:ln w="25560">
            <a:solidFill>
              <a:schemeClr val="tx1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720" name="Rectangle 24"/>
          <p:cNvSpPr>
            <a:spLocks noChangeArrowheads="1"/>
          </p:cNvSpPr>
          <p:nvPr/>
        </p:nvSpPr>
        <p:spPr bwMode="auto">
          <a:xfrm>
            <a:off x="4049110" y="3109214"/>
            <a:ext cx="1676400" cy="6096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722" name="Rectangle 26"/>
          <p:cNvSpPr>
            <a:spLocks noChangeArrowheads="1"/>
          </p:cNvSpPr>
          <p:nvPr/>
        </p:nvSpPr>
        <p:spPr bwMode="auto">
          <a:xfrm>
            <a:off x="4028090" y="2839901"/>
            <a:ext cx="12954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n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29723" name="Rectangle 27"/>
          <p:cNvSpPr>
            <a:spLocks noChangeArrowheads="1"/>
          </p:cNvSpPr>
          <p:nvPr/>
        </p:nvSpPr>
        <p:spPr bwMode="auto">
          <a:xfrm>
            <a:off x="5320862" y="2834386"/>
            <a:ext cx="3810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1</a:t>
            </a:r>
            <a:r>
              <a:rPr lang="en-GB" sz="1600" dirty="0">
                <a:solidFill>
                  <a:srgbClr val="0070C0"/>
                </a:solidFill>
                <a:latin typeface="Calibri" pitchFamily="34" charset="0"/>
              </a:rPr>
              <a:t>1</a:t>
            </a:r>
            <a:endParaRPr lang="en-GB" sz="1600" dirty="0">
              <a:solidFill>
                <a:srgbClr val="0070C0"/>
              </a:solidFill>
              <a:latin typeface="Calibri" pitchFamily="34" charset="0"/>
            </a:endParaRPr>
          </a:p>
        </p:txBody>
      </p:sp>
      <p:sp>
        <p:nvSpPr>
          <p:cNvPr id="29724" name="Rectangle 28"/>
          <p:cNvSpPr>
            <a:spLocks noChangeArrowheads="1"/>
          </p:cNvSpPr>
          <p:nvPr/>
        </p:nvSpPr>
        <p:spPr bwMode="auto">
          <a:xfrm>
            <a:off x="4038600" y="2819400"/>
            <a:ext cx="1676400" cy="914400"/>
          </a:xfrm>
          <a:prstGeom prst="rect">
            <a:avLst/>
          </a:prstGeom>
          <a:noFill/>
          <a:ln w="3816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725" name="Rectangle 29"/>
          <p:cNvSpPr>
            <a:spLocks noChangeArrowheads="1"/>
          </p:cNvSpPr>
          <p:nvPr/>
        </p:nvSpPr>
        <p:spPr bwMode="auto">
          <a:xfrm>
            <a:off x="4038600" y="3733800"/>
            <a:ext cx="12954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m2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29726" name="Rectangle 30"/>
          <p:cNvSpPr>
            <a:spLocks noChangeArrowheads="1"/>
          </p:cNvSpPr>
          <p:nvPr/>
        </p:nvSpPr>
        <p:spPr bwMode="auto">
          <a:xfrm>
            <a:off x="5334000" y="3733800"/>
            <a:ext cx="3810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1</a:t>
            </a:r>
            <a:r>
              <a:rPr lang="en-GB" sz="1600" dirty="0">
                <a:solidFill>
                  <a:srgbClr val="0070C0"/>
                </a:solidFill>
                <a:latin typeface="Calibri" pitchFamily="34" charset="0"/>
              </a:rPr>
              <a:t>0</a:t>
            </a:r>
            <a:endParaRPr lang="en-GB" sz="1600" dirty="0">
              <a:solidFill>
                <a:srgbClr val="0070C0"/>
              </a:solidFill>
              <a:latin typeface="Calibri" pitchFamily="34" charset="0"/>
            </a:endParaRPr>
          </a:p>
        </p:txBody>
      </p:sp>
      <p:sp>
        <p:nvSpPr>
          <p:cNvPr id="29727" name="Rectangle 31"/>
          <p:cNvSpPr>
            <a:spLocks noChangeArrowheads="1"/>
          </p:cNvSpPr>
          <p:nvPr/>
        </p:nvSpPr>
        <p:spPr bwMode="auto">
          <a:xfrm>
            <a:off x="4038600" y="4038600"/>
            <a:ext cx="16764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728" name="Rectangle 32"/>
          <p:cNvSpPr>
            <a:spLocks noChangeArrowheads="1"/>
          </p:cNvSpPr>
          <p:nvPr/>
        </p:nvSpPr>
        <p:spPr bwMode="auto">
          <a:xfrm>
            <a:off x="4038600" y="4343400"/>
            <a:ext cx="1676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729" name="Rectangle 33"/>
          <p:cNvSpPr>
            <a:spLocks noChangeArrowheads="1"/>
          </p:cNvSpPr>
          <p:nvPr/>
        </p:nvSpPr>
        <p:spPr bwMode="auto">
          <a:xfrm>
            <a:off x="4038600" y="4343400"/>
            <a:ext cx="12954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m2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29730" name="Rectangle 34"/>
          <p:cNvSpPr>
            <a:spLocks noChangeArrowheads="1"/>
          </p:cNvSpPr>
          <p:nvPr/>
        </p:nvSpPr>
        <p:spPr bwMode="auto">
          <a:xfrm>
            <a:off x="5334000" y="4343400"/>
            <a:ext cx="3810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1</a:t>
            </a:r>
            <a:r>
              <a:rPr lang="en-GB" sz="1600" dirty="0">
                <a:solidFill>
                  <a:srgbClr val="0070C0"/>
                </a:solidFill>
                <a:latin typeface="Calibri" pitchFamily="34" charset="0"/>
              </a:rPr>
              <a:t>0</a:t>
            </a:r>
            <a:endParaRPr lang="en-GB" sz="1600" dirty="0">
              <a:solidFill>
                <a:srgbClr val="0070C0"/>
              </a:solidFill>
              <a:latin typeface="Calibri" pitchFamily="34" charset="0"/>
            </a:endParaRPr>
          </a:p>
        </p:txBody>
      </p:sp>
      <p:sp>
        <p:nvSpPr>
          <p:cNvPr id="29731" name="Rectangle 35"/>
          <p:cNvSpPr>
            <a:spLocks noChangeArrowheads="1"/>
          </p:cNvSpPr>
          <p:nvPr/>
        </p:nvSpPr>
        <p:spPr bwMode="auto">
          <a:xfrm>
            <a:off x="4038600" y="3733800"/>
            <a:ext cx="1676400" cy="914400"/>
          </a:xfrm>
          <a:prstGeom prst="rect">
            <a:avLst/>
          </a:prstGeom>
          <a:noFill/>
          <a:ln w="3816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6019800" y="1905000"/>
            <a:ext cx="2514600" cy="2743200"/>
            <a:chOff x="4495800" y="1905000"/>
            <a:chExt cx="2514600" cy="2743200"/>
          </a:xfrm>
        </p:grpSpPr>
        <p:sp>
          <p:nvSpPr>
            <p:cNvPr id="29699" name="Rectangle 3"/>
            <p:cNvSpPr>
              <a:spLocks noChangeArrowheads="1"/>
            </p:cNvSpPr>
            <p:nvPr/>
          </p:nvSpPr>
          <p:spPr bwMode="auto">
            <a:xfrm>
              <a:off x="5334000" y="2219394"/>
              <a:ext cx="1676400" cy="6096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2" name="Rectangle 6"/>
            <p:cNvSpPr>
              <a:spLocks noChangeArrowheads="1"/>
            </p:cNvSpPr>
            <p:nvPr/>
          </p:nvSpPr>
          <p:spPr bwMode="auto">
            <a:xfrm>
              <a:off x="5334000" y="1924844"/>
              <a:ext cx="12954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m1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29703" name="Rectangle 7"/>
            <p:cNvSpPr>
              <a:spLocks noChangeArrowheads="1"/>
            </p:cNvSpPr>
            <p:nvPr/>
          </p:nvSpPr>
          <p:spPr bwMode="auto">
            <a:xfrm>
              <a:off x="6629400" y="1925501"/>
              <a:ext cx="3810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solidFill>
                    <a:srgbClr val="C00000"/>
                  </a:solidFill>
                  <a:latin typeface="Calibri" pitchFamily="34" charset="0"/>
                </a:rPr>
                <a:t>?</a:t>
              </a:r>
              <a:r>
                <a:rPr lang="en-GB" sz="1600" dirty="0">
                  <a:solidFill>
                    <a:srgbClr val="0070C0"/>
                  </a:solidFill>
                  <a:latin typeface="Calibri" pitchFamily="34" charset="0"/>
                </a:rPr>
                <a:t>1</a:t>
              </a:r>
              <a:endParaRPr lang="en-GB" sz="1600" dirty="0">
                <a:solidFill>
                  <a:srgbClr val="0070C0"/>
                </a:solidFill>
                <a:latin typeface="Calibri" pitchFamily="34" charset="0"/>
              </a:endParaRPr>
            </a:p>
          </p:txBody>
        </p:sp>
        <p:sp>
          <p:nvSpPr>
            <p:cNvPr id="29704" name="Rectangle 8"/>
            <p:cNvSpPr>
              <a:spLocks noChangeArrowheads="1"/>
            </p:cNvSpPr>
            <p:nvPr/>
          </p:nvSpPr>
          <p:spPr bwMode="auto">
            <a:xfrm>
              <a:off x="5334000" y="1905000"/>
              <a:ext cx="1676400" cy="914400"/>
            </a:xfrm>
            <a:prstGeom prst="rect">
              <a:avLst/>
            </a:prstGeom>
            <a:noFill/>
            <a:ln w="3816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5" name="Rectangle 9"/>
            <p:cNvSpPr>
              <a:spLocks noChangeArrowheads="1"/>
            </p:cNvSpPr>
            <p:nvPr/>
          </p:nvSpPr>
          <p:spPr bwMode="auto">
            <a:xfrm>
              <a:off x="5334000" y="2819400"/>
              <a:ext cx="12954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n+m2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29706" name="Rectangle 10"/>
            <p:cNvSpPr>
              <a:spLocks noChangeArrowheads="1"/>
            </p:cNvSpPr>
            <p:nvPr/>
          </p:nvSpPr>
          <p:spPr bwMode="auto">
            <a:xfrm>
              <a:off x="6629400" y="2819400"/>
              <a:ext cx="3810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solidFill>
                    <a:srgbClr val="C00000"/>
                  </a:solidFill>
                  <a:latin typeface="Calibri" pitchFamily="34" charset="0"/>
                </a:rPr>
                <a:t>1</a:t>
              </a:r>
              <a:r>
                <a:rPr lang="en-GB" sz="1600" dirty="0">
                  <a:solidFill>
                    <a:srgbClr val="0070C0"/>
                  </a:solidFill>
                  <a:latin typeface="Calibri" pitchFamily="34" charset="0"/>
                </a:rPr>
                <a:t>0</a:t>
              </a:r>
              <a:endParaRPr lang="en-GB" sz="1600" dirty="0">
                <a:solidFill>
                  <a:srgbClr val="0070C0"/>
                </a:solidFill>
                <a:latin typeface="Calibri" pitchFamily="34" charset="0"/>
              </a:endParaRPr>
            </a:p>
          </p:txBody>
        </p:sp>
        <p:sp>
          <p:nvSpPr>
            <p:cNvPr id="29707" name="Rectangle 11"/>
            <p:cNvSpPr>
              <a:spLocks noChangeArrowheads="1"/>
            </p:cNvSpPr>
            <p:nvPr/>
          </p:nvSpPr>
          <p:spPr bwMode="auto">
            <a:xfrm>
              <a:off x="5334000" y="4343400"/>
              <a:ext cx="16764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8" name="Rectangle 12"/>
            <p:cNvSpPr>
              <a:spLocks noChangeArrowheads="1"/>
            </p:cNvSpPr>
            <p:nvPr/>
          </p:nvSpPr>
          <p:spPr bwMode="auto">
            <a:xfrm>
              <a:off x="5334000" y="4343400"/>
              <a:ext cx="12954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n+m2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29709" name="Rectangle 13"/>
            <p:cNvSpPr>
              <a:spLocks noChangeArrowheads="1"/>
            </p:cNvSpPr>
            <p:nvPr/>
          </p:nvSpPr>
          <p:spPr bwMode="auto">
            <a:xfrm>
              <a:off x="6629400" y="4343400"/>
              <a:ext cx="3810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solidFill>
                    <a:srgbClr val="C00000"/>
                  </a:solidFill>
                  <a:latin typeface="Calibri" pitchFamily="34" charset="0"/>
                </a:rPr>
                <a:t>1</a:t>
              </a:r>
              <a:r>
                <a:rPr lang="en-GB" sz="1600" dirty="0">
                  <a:solidFill>
                    <a:srgbClr val="0070C0"/>
                  </a:solidFill>
                  <a:latin typeface="Calibri" pitchFamily="34" charset="0"/>
                </a:rPr>
                <a:t>0</a:t>
              </a:r>
              <a:endParaRPr lang="en-GB" sz="1600" dirty="0">
                <a:solidFill>
                  <a:srgbClr val="0070C0"/>
                </a:solidFill>
                <a:latin typeface="Calibri" pitchFamily="34" charset="0"/>
              </a:endParaRPr>
            </a:p>
          </p:txBody>
        </p:sp>
        <p:sp>
          <p:nvSpPr>
            <p:cNvPr id="29732" name="Line 36"/>
            <p:cNvSpPr>
              <a:spLocks noChangeShapeType="1"/>
            </p:cNvSpPr>
            <p:nvPr/>
          </p:nvSpPr>
          <p:spPr bwMode="auto">
            <a:xfrm>
              <a:off x="4495800" y="3276600"/>
              <a:ext cx="609600" cy="1588"/>
            </a:xfrm>
            <a:prstGeom prst="line">
              <a:avLst/>
            </a:prstGeom>
            <a:noFill/>
            <a:ln w="25560">
              <a:solidFill>
                <a:schemeClr val="tx1"/>
              </a:solidFill>
              <a:miter lim="800000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9733" name="Rectangle 37"/>
            <p:cNvSpPr>
              <a:spLocks noChangeArrowheads="1"/>
            </p:cNvSpPr>
            <p:nvPr/>
          </p:nvSpPr>
          <p:spPr bwMode="auto">
            <a:xfrm>
              <a:off x="5334000" y="3124200"/>
              <a:ext cx="1676400" cy="1219200"/>
            </a:xfrm>
            <a:prstGeom prst="rect">
              <a:avLst/>
            </a:prstGeom>
            <a:solidFill>
              <a:schemeClr val="bg1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4" name="Rectangle 38"/>
            <p:cNvSpPr>
              <a:spLocks noChangeArrowheads="1"/>
            </p:cNvSpPr>
            <p:nvPr/>
          </p:nvSpPr>
          <p:spPr bwMode="auto">
            <a:xfrm>
              <a:off x="5334000" y="2819400"/>
              <a:ext cx="1676400" cy="1828800"/>
            </a:xfrm>
            <a:prstGeom prst="rect">
              <a:avLst/>
            </a:prstGeom>
            <a:noFill/>
            <a:ln w="3816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0" name="Title 1"/>
          <p:cNvSpPr>
            <a:spLocks noGrp="1"/>
          </p:cNvSpPr>
          <p:nvPr>
            <p:ph type="title"/>
          </p:nvPr>
        </p:nvSpPr>
        <p:spPr>
          <a:xfrm>
            <a:off x="476025" y="435678"/>
            <a:ext cx="10122791" cy="762000"/>
          </a:xfrm>
        </p:spPr>
        <p:txBody>
          <a:bodyPr/>
          <a:lstStyle/>
          <a:p>
            <a:r>
              <a:rPr lang="zh-CN" altLang="en-US" dirty="0" smtClean="0"/>
              <a:t>场景 </a:t>
            </a:r>
            <a:r>
              <a:rPr lang="en-US" altLang="zh-CN" dirty="0"/>
              <a:t>2</a:t>
            </a:r>
            <a:r>
              <a:rPr lang="en-US" altLang="zh-CN" dirty="0" smtClean="0"/>
              <a:t> ：</a:t>
            </a:r>
            <a:r>
              <a:rPr lang="zh-CN" altLang="en-US" dirty="0" smtClean="0"/>
              <a:t>前分配</a:t>
            </a:r>
            <a:r>
              <a:rPr lang="en-US" altLang="zh-CN" dirty="0" smtClean="0"/>
              <a:t>、</a:t>
            </a:r>
            <a:r>
              <a:rPr lang="zh-CN" altLang="en-US" dirty="0" smtClean="0"/>
              <a:t>后未</a:t>
            </a:r>
            <a:r>
              <a:rPr lang="zh-CN" altLang="en-US" dirty="0" smtClean="0"/>
              <a:t>分配</a:t>
            </a:r>
            <a:endParaRPr lang="zh-CN" altLang="en-US" dirty="0" smtClean="0"/>
          </a:p>
        </p:txBody>
      </p:sp>
      <p:sp>
        <p:nvSpPr>
          <p:cNvPr id="41" name="TextBox 2"/>
          <p:cNvSpPr txBox="1"/>
          <p:nvPr/>
        </p:nvSpPr>
        <p:spPr>
          <a:xfrm>
            <a:off x="2286001" y="5334001"/>
            <a:ext cx="66239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 smtClean="0">
                <a:latin typeface="Calibri" pitchFamily="34" charset="0"/>
              </a:rPr>
              <a:t>表头：使用</a:t>
            </a:r>
            <a:r>
              <a:rPr lang="en-US" altLang="zh-CN" sz="1800" dirty="0" smtClean="0">
                <a:latin typeface="Calibri" pitchFamily="34" charset="0"/>
              </a:rPr>
              <a:t>2</a:t>
            </a:r>
            <a:r>
              <a:rPr lang="zh-CN" altLang="en-US" sz="1800" dirty="0" smtClean="0">
                <a:latin typeface="Calibri" pitchFamily="34" charset="0"/>
              </a:rPr>
              <a:t>个位（由于对齐，地址位始终为</a:t>
            </a:r>
            <a:r>
              <a:rPr lang="en-US" altLang="zh-CN" sz="1800" dirty="0" smtClean="0">
                <a:latin typeface="Calibri" pitchFamily="34" charset="0"/>
              </a:rPr>
              <a:t>0</a:t>
            </a:r>
            <a:r>
              <a:rPr lang="zh-CN" altLang="en-US" sz="1800" dirty="0" smtClean="0">
                <a:latin typeface="Calibri" pitchFamily="34" charset="0"/>
              </a:rPr>
              <a:t>）：</a:t>
            </a:r>
            <a:br>
              <a:rPr lang="en-US" sz="1800" dirty="0">
                <a:latin typeface="Calibri" pitchFamily="34" charset="0"/>
              </a:rPr>
            </a:br>
            <a:r>
              <a:rPr lang="en-US" sz="1800" dirty="0">
                <a:latin typeface="Calibri" pitchFamily="34" charset="0"/>
              </a:rPr>
              <a:t>	</a:t>
            </a:r>
            <a:r>
              <a:rPr lang="zh-CN" altLang="en-US" sz="1800" dirty="0" smtClean="0">
                <a:latin typeface="Calibri" pitchFamily="34" charset="0"/>
              </a:rPr>
              <a:t>（</a:t>
            </a:r>
            <a:r>
              <a:rPr lang="zh-CN" altLang="en-US" sz="1800" dirty="0" smtClean="0">
                <a:solidFill>
                  <a:srgbClr val="C00000"/>
                </a:solidFill>
                <a:latin typeface="Calibri" pitchFamily="34" charset="0"/>
              </a:rPr>
              <a:t>前一个内存块已分配</a:t>
            </a:r>
            <a:r>
              <a:rPr lang="zh-CN" altLang="en-US" sz="1800" dirty="0" smtClean="0">
                <a:latin typeface="Calibri" pitchFamily="34" charset="0"/>
              </a:rPr>
              <a:t>）</a:t>
            </a:r>
            <a:r>
              <a:rPr lang="en-US" sz="1800" dirty="0" smtClean="0">
                <a:latin typeface="Calibri" pitchFamily="34" charset="0"/>
              </a:rPr>
              <a:t>&lt;&lt;</a:t>
            </a:r>
            <a:r>
              <a:rPr lang="en-US" sz="1800" dirty="0">
                <a:latin typeface="Calibri" pitchFamily="34" charset="0"/>
              </a:rPr>
              <a:t>1 | </a:t>
            </a:r>
            <a:r>
              <a:rPr lang="zh-CN" altLang="en-US" sz="1800" dirty="0" smtClean="0">
                <a:latin typeface="Calibri" pitchFamily="34" charset="0"/>
              </a:rPr>
              <a:t>（</a:t>
            </a:r>
            <a:r>
              <a:rPr lang="zh-CN" altLang="en-US" sz="1800" dirty="0" smtClean="0">
                <a:solidFill>
                  <a:srgbClr val="0070C0"/>
                </a:solidFill>
                <a:latin typeface="Calibri" pitchFamily="34" charset="0"/>
              </a:rPr>
              <a:t>当前内存块已分配</a:t>
            </a:r>
            <a:r>
              <a:rPr lang="zh-CN" altLang="en-US" sz="1800" dirty="0" smtClean="0">
                <a:latin typeface="Calibri" pitchFamily="34" charset="0"/>
              </a:rPr>
              <a:t>）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42" name="TextBox 3"/>
          <p:cNvSpPr txBox="1"/>
          <p:nvPr/>
        </p:nvSpPr>
        <p:spPr>
          <a:xfrm>
            <a:off x="3035665" y="2047105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800" b="0" dirty="0" smtClean="0">
                <a:latin typeface="Calibri" pitchFamily="34" charset="0"/>
              </a:rPr>
              <a:t>前一个</a:t>
            </a:r>
            <a:endParaRPr lang="en-US" altLang="zh-CN" sz="1800" b="0" dirty="0" smtClean="0">
              <a:latin typeface="Calibri" pitchFamily="34" charset="0"/>
            </a:endParaRPr>
          </a:p>
          <a:p>
            <a:pPr algn="ctr"/>
            <a:r>
              <a:rPr lang="zh-CN" altLang="en-US" sz="1800" b="0" dirty="0">
                <a:latin typeface="Calibri" pitchFamily="34" charset="0"/>
              </a:rPr>
              <a:t>内存块</a:t>
            </a:r>
            <a:endParaRPr lang="en-US" sz="1800" b="0" dirty="0">
              <a:latin typeface="Calibri" pitchFamily="34" charset="0"/>
            </a:endParaRPr>
          </a:p>
        </p:txBody>
      </p:sp>
      <p:sp>
        <p:nvSpPr>
          <p:cNvPr id="43" name="TextBox 38"/>
          <p:cNvSpPr txBox="1"/>
          <p:nvPr/>
        </p:nvSpPr>
        <p:spPr>
          <a:xfrm>
            <a:off x="3034410" y="2857412"/>
            <a:ext cx="8819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800" dirty="0" smtClean="0">
                <a:latin typeface="Calibri" pitchFamily="34" charset="0"/>
              </a:rPr>
              <a:t>已释放</a:t>
            </a:r>
            <a:endParaRPr lang="en-US" altLang="zh-CN" sz="1800" dirty="0" smtClean="0">
              <a:latin typeface="Calibri" pitchFamily="34" charset="0"/>
            </a:endParaRPr>
          </a:p>
          <a:p>
            <a:pPr algn="ctr"/>
            <a:r>
              <a:rPr lang="zh-CN" altLang="en-US" sz="1800" dirty="0">
                <a:latin typeface="Calibri" pitchFamily="34" charset="0"/>
              </a:rPr>
              <a:t>内存块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44" name="TextBox 39"/>
          <p:cNvSpPr txBox="1"/>
          <p:nvPr/>
        </p:nvSpPr>
        <p:spPr>
          <a:xfrm>
            <a:off x="3025798" y="3944721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800" b="0" dirty="0" smtClean="0">
                <a:latin typeface="Calibri" pitchFamily="34" charset="0"/>
              </a:rPr>
              <a:t>后一个</a:t>
            </a:r>
            <a:endParaRPr lang="en-US" altLang="zh-CN" sz="1800" b="0" dirty="0" smtClean="0">
              <a:latin typeface="Calibri" pitchFamily="34" charset="0"/>
            </a:endParaRPr>
          </a:p>
          <a:p>
            <a:pPr algn="ctr"/>
            <a:r>
              <a:rPr lang="zh-CN" altLang="en-US" sz="1800" b="0" dirty="0">
                <a:latin typeface="Calibri" pitchFamily="34" charset="0"/>
              </a:rPr>
              <a:t>内存块</a:t>
            </a:r>
            <a:endParaRPr lang="en-US" sz="1800" b="0" dirty="0">
              <a:latin typeface="Calibri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1"/>
          <p:cNvSpPr>
            <a:spLocks noChangeArrowheads="1"/>
          </p:cNvSpPr>
          <p:nvPr/>
        </p:nvSpPr>
        <p:spPr bwMode="auto">
          <a:xfrm>
            <a:off x="4114800" y="1905000"/>
            <a:ext cx="1295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m1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5410200" y="1905000"/>
            <a:ext cx="3810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?</a:t>
            </a:r>
            <a:r>
              <a:rPr lang="en-GB" sz="1600" dirty="0">
                <a:solidFill>
                  <a:srgbClr val="0070C0"/>
                </a:solidFill>
                <a:latin typeface="Calibri" pitchFamily="34" charset="0"/>
              </a:rPr>
              <a:t>0</a:t>
            </a:r>
            <a:endParaRPr lang="en-GB" sz="1600" dirty="0">
              <a:solidFill>
                <a:srgbClr val="0070C0"/>
              </a:solidFill>
              <a:latin typeface="Calibri" pitchFamily="34" charset="0"/>
            </a:endParaRPr>
          </a:p>
        </p:txBody>
      </p:sp>
      <p:sp>
        <p:nvSpPr>
          <p:cNvPr id="30723" name="Rectangle 3"/>
          <p:cNvSpPr>
            <a:spLocks noChangeArrowheads="1"/>
          </p:cNvSpPr>
          <p:nvPr/>
        </p:nvSpPr>
        <p:spPr bwMode="auto">
          <a:xfrm>
            <a:off x="4114800" y="2209800"/>
            <a:ext cx="1676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725" name="Rectangle 5"/>
          <p:cNvSpPr>
            <a:spLocks noChangeArrowheads="1"/>
          </p:cNvSpPr>
          <p:nvPr/>
        </p:nvSpPr>
        <p:spPr bwMode="auto">
          <a:xfrm>
            <a:off x="4114800" y="2514600"/>
            <a:ext cx="1676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726" name="Rectangle 6"/>
          <p:cNvSpPr>
            <a:spLocks noChangeArrowheads="1"/>
          </p:cNvSpPr>
          <p:nvPr/>
        </p:nvSpPr>
        <p:spPr bwMode="auto">
          <a:xfrm>
            <a:off x="4114800" y="2514600"/>
            <a:ext cx="1295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m1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30727" name="Rectangle 7"/>
          <p:cNvSpPr>
            <a:spLocks noChangeArrowheads="1"/>
          </p:cNvSpPr>
          <p:nvPr/>
        </p:nvSpPr>
        <p:spPr bwMode="auto">
          <a:xfrm>
            <a:off x="5410200" y="2514600"/>
            <a:ext cx="3810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?</a:t>
            </a:r>
            <a:r>
              <a:rPr lang="en-GB" sz="1600" dirty="0">
                <a:solidFill>
                  <a:srgbClr val="0070C0"/>
                </a:solidFill>
                <a:latin typeface="Calibri" pitchFamily="34" charset="0"/>
              </a:rPr>
              <a:t>0</a:t>
            </a:r>
            <a:endParaRPr lang="en-GB" sz="1600" dirty="0">
              <a:solidFill>
                <a:srgbClr val="0070C0"/>
              </a:solidFill>
              <a:latin typeface="Calibri" pitchFamily="34" charset="0"/>
            </a:endParaRPr>
          </a:p>
        </p:txBody>
      </p:sp>
      <p:sp>
        <p:nvSpPr>
          <p:cNvPr id="30728" name="Rectangle 8"/>
          <p:cNvSpPr>
            <a:spLocks noChangeArrowheads="1"/>
          </p:cNvSpPr>
          <p:nvPr/>
        </p:nvSpPr>
        <p:spPr bwMode="auto">
          <a:xfrm>
            <a:off x="4114800" y="1905000"/>
            <a:ext cx="1676400" cy="914400"/>
          </a:xfrm>
          <a:prstGeom prst="rect">
            <a:avLst/>
          </a:prstGeom>
          <a:noFill/>
          <a:ln w="3816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730" name="Rectangle 10"/>
          <p:cNvSpPr>
            <a:spLocks noChangeArrowheads="1"/>
          </p:cNvSpPr>
          <p:nvPr/>
        </p:nvSpPr>
        <p:spPr bwMode="auto">
          <a:xfrm>
            <a:off x="4114800" y="2819400"/>
            <a:ext cx="12954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n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30731" name="Rectangle 11"/>
          <p:cNvSpPr>
            <a:spLocks noChangeArrowheads="1"/>
          </p:cNvSpPr>
          <p:nvPr/>
        </p:nvSpPr>
        <p:spPr bwMode="auto">
          <a:xfrm>
            <a:off x="5410200" y="2819400"/>
            <a:ext cx="3810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0</a:t>
            </a:r>
            <a:r>
              <a:rPr lang="en-GB" sz="1600" dirty="0">
                <a:solidFill>
                  <a:srgbClr val="0070C0"/>
                </a:solidFill>
                <a:latin typeface="Calibri" pitchFamily="34" charset="0"/>
              </a:rPr>
              <a:t>1</a:t>
            </a:r>
            <a:endParaRPr lang="en-GB" sz="1600" dirty="0">
              <a:solidFill>
                <a:srgbClr val="0070C0"/>
              </a:solidFill>
              <a:latin typeface="Calibri" pitchFamily="34" charset="0"/>
            </a:endParaRPr>
          </a:p>
        </p:txBody>
      </p:sp>
      <p:sp>
        <p:nvSpPr>
          <p:cNvPr id="30732" name="Rectangle 12"/>
          <p:cNvSpPr>
            <a:spLocks noChangeArrowheads="1"/>
          </p:cNvSpPr>
          <p:nvPr/>
        </p:nvSpPr>
        <p:spPr bwMode="auto">
          <a:xfrm>
            <a:off x="4114800" y="3124201"/>
            <a:ext cx="1676400" cy="588579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736" name="Rectangle 16"/>
          <p:cNvSpPr>
            <a:spLocks noChangeArrowheads="1"/>
          </p:cNvSpPr>
          <p:nvPr/>
        </p:nvSpPr>
        <p:spPr bwMode="auto">
          <a:xfrm>
            <a:off x="4114800" y="2819400"/>
            <a:ext cx="1676400" cy="914400"/>
          </a:xfrm>
          <a:prstGeom prst="rect">
            <a:avLst/>
          </a:prstGeom>
          <a:noFill/>
          <a:ln w="3816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737" name="Rectangle 17"/>
          <p:cNvSpPr>
            <a:spLocks noChangeArrowheads="1"/>
          </p:cNvSpPr>
          <p:nvPr/>
        </p:nvSpPr>
        <p:spPr bwMode="auto">
          <a:xfrm>
            <a:off x="4114800" y="3733800"/>
            <a:ext cx="12954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m2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30738" name="Rectangle 18"/>
          <p:cNvSpPr>
            <a:spLocks noChangeArrowheads="1"/>
          </p:cNvSpPr>
          <p:nvPr/>
        </p:nvSpPr>
        <p:spPr bwMode="auto">
          <a:xfrm>
            <a:off x="5410200" y="3733800"/>
            <a:ext cx="3810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1</a:t>
            </a:r>
            <a:r>
              <a:rPr lang="en-GB" sz="1600" dirty="0">
                <a:solidFill>
                  <a:srgbClr val="0070C0"/>
                </a:solidFill>
                <a:latin typeface="Calibri" pitchFamily="34" charset="0"/>
              </a:rPr>
              <a:t>1</a:t>
            </a:r>
            <a:endParaRPr lang="en-GB" sz="1600" dirty="0">
              <a:solidFill>
                <a:srgbClr val="0070C0"/>
              </a:solidFill>
              <a:latin typeface="Calibri" pitchFamily="34" charset="0"/>
            </a:endParaRPr>
          </a:p>
        </p:txBody>
      </p:sp>
      <p:sp>
        <p:nvSpPr>
          <p:cNvPr id="30739" name="Rectangle 19"/>
          <p:cNvSpPr>
            <a:spLocks noChangeArrowheads="1"/>
          </p:cNvSpPr>
          <p:nvPr/>
        </p:nvSpPr>
        <p:spPr bwMode="auto">
          <a:xfrm>
            <a:off x="4114800" y="4038600"/>
            <a:ext cx="1676400" cy="6096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743" name="Rectangle 23"/>
          <p:cNvSpPr>
            <a:spLocks noChangeArrowheads="1"/>
          </p:cNvSpPr>
          <p:nvPr/>
        </p:nvSpPr>
        <p:spPr bwMode="auto">
          <a:xfrm>
            <a:off x="4114800" y="3733800"/>
            <a:ext cx="1676400" cy="914400"/>
          </a:xfrm>
          <a:prstGeom prst="rect">
            <a:avLst/>
          </a:prstGeom>
          <a:noFill/>
          <a:ln w="3816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744" name="Rectangle 24"/>
          <p:cNvSpPr>
            <a:spLocks noChangeArrowheads="1"/>
          </p:cNvSpPr>
          <p:nvPr/>
        </p:nvSpPr>
        <p:spPr bwMode="auto">
          <a:xfrm>
            <a:off x="6781800" y="1905000"/>
            <a:ext cx="1295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n+m1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30745" name="Rectangle 25"/>
          <p:cNvSpPr>
            <a:spLocks noChangeArrowheads="1"/>
          </p:cNvSpPr>
          <p:nvPr/>
        </p:nvSpPr>
        <p:spPr bwMode="auto">
          <a:xfrm>
            <a:off x="8077200" y="1905000"/>
            <a:ext cx="3810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?</a:t>
            </a:r>
            <a:r>
              <a:rPr lang="en-GB" sz="1600" dirty="0">
                <a:solidFill>
                  <a:srgbClr val="0070C0"/>
                </a:solidFill>
                <a:latin typeface="Calibri" pitchFamily="34" charset="0"/>
              </a:rPr>
              <a:t>0</a:t>
            </a:r>
            <a:endParaRPr lang="en-GB" sz="1600" dirty="0">
              <a:solidFill>
                <a:srgbClr val="0070C0"/>
              </a:solidFill>
              <a:latin typeface="Calibri" pitchFamily="34" charset="0"/>
            </a:endParaRPr>
          </a:p>
        </p:txBody>
      </p:sp>
      <p:sp>
        <p:nvSpPr>
          <p:cNvPr id="30746" name="Rectangle 26"/>
          <p:cNvSpPr>
            <a:spLocks noChangeArrowheads="1"/>
          </p:cNvSpPr>
          <p:nvPr/>
        </p:nvSpPr>
        <p:spPr bwMode="auto">
          <a:xfrm>
            <a:off x="6781800" y="2209800"/>
            <a:ext cx="1676400" cy="12192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748" name="Rectangle 28"/>
          <p:cNvSpPr>
            <a:spLocks noChangeArrowheads="1"/>
          </p:cNvSpPr>
          <p:nvPr/>
        </p:nvSpPr>
        <p:spPr bwMode="auto">
          <a:xfrm>
            <a:off x="6781800" y="3429000"/>
            <a:ext cx="1676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749" name="Rectangle 29"/>
          <p:cNvSpPr>
            <a:spLocks noChangeArrowheads="1"/>
          </p:cNvSpPr>
          <p:nvPr/>
        </p:nvSpPr>
        <p:spPr bwMode="auto">
          <a:xfrm>
            <a:off x="6781800" y="3429000"/>
            <a:ext cx="1295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n+m1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30750" name="Rectangle 30"/>
          <p:cNvSpPr>
            <a:spLocks noChangeArrowheads="1"/>
          </p:cNvSpPr>
          <p:nvPr/>
        </p:nvSpPr>
        <p:spPr bwMode="auto">
          <a:xfrm>
            <a:off x="8077200" y="3429000"/>
            <a:ext cx="3810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?</a:t>
            </a:r>
            <a:r>
              <a:rPr lang="en-GB" sz="1600" dirty="0">
                <a:solidFill>
                  <a:srgbClr val="0070C0"/>
                </a:solidFill>
                <a:latin typeface="Calibri" pitchFamily="34" charset="0"/>
              </a:rPr>
              <a:t>0</a:t>
            </a:r>
            <a:endParaRPr lang="en-GB" sz="1600" dirty="0">
              <a:solidFill>
                <a:srgbClr val="0070C0"/>
              </a:solidFill>
              <a:latin typeface="Calibri" pitchFamily="34" charset="0"/>
            </a:endParaRPr>
          </a:p>
        </p:txBody>
      </p:sp>
      <p:sp>
        <p:nvSpPr>
          <p:cNvPr id="30751" name="Rectangle 31"/>
          <p:cNvSpPr>
            <a:spLocks noChangeArrowheads="1"/>
          </p:cNvSpPr>
          <p:nvPr/>
        </p:nvSpPr>
        <p:spPr bwMode="auto">
          <a:xfrm>
            <a:off x="6781800" y="3733800"/>
            <a:ext cx="12954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m2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30752" name="Rectangle 32"/>
          <p:cNvSpPr>
            <a:spLocks noChangeArrowheads="1"/>
          </p:cNvSpPr>
          <p:nvPr/>
        </p:nvSpPr>
        <p:spPr bwMode="auto">
          <a:xfrm>
            <a:off x="8077200" y="3733800"/>
            <a:ext cx="3810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0</a:t>
            </a:r>
            <a:r>
              <a:rPr lang="en-GB" sz="1600" dirty="0">
                <a:solidFill>
                  <a:srgbClr val="0070C0"/>
                </a:solidFill>
                <a:latin typeface="Calibri" pitchFamily="34" charset="0"/>
              </a:rPr>
              <a:t>1</a:t>
            </a:r>
            <a:endParaRPr lang="en-GB" sz="1600" dirty="0">
              <a:solidFill>
                <a:srgbClr val="0070C0"/>
              </a:solidFill>
              <a:latin typeface="Calibri" pitchFamily="34" charset="0"/>
            </a:endParaRPr>
          </a:p>
        </p:txBody>
      </p:sp>
      <p:sp>
        <p:nvSpPr>
          <p:cNvPr id="30757" name="Rectangle 37"/>
          <p:cNvSpPr>
            <a:spLocks noChangeArrowheads="1"/>
          </p:cNvSpPr>
          <p:nvPr/>
        </p:nvSpPr>
        <p:spPr bwMode="auto">
          <a:xfrm>
            <a:off x="6781800" y="3733800"/>
            <a:ext cx="1676400" cy="914400"/>
          </a:xfrm>
          <a:prstGeom prst="rect">
            <a:avLst/>
          </a:prstGeom>
          <a:noFill/>
          <a:ln w="3816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758" name="Line 38"/>
          <p:cNvSpPr>
            <a:spLocks noChangeShapeType="1"/>
          </p:cNvSpPr>
          <p:nvPr/>
        </p:nvSpPr>
        <p:spPr bwMode="auto">
          <a:xfrm>
            <a:off x="5943600" y="3276600"/>
            <a:ext cx="609600" cy="1588"/>
          </a:xfrm>
          <a:prstGeom prst="line">
            <a:avLst/>
          </a:prstGeom>
          <a:noFill/>
          <a:ln w="25560">
            <a:solidFill>
              <a:schemeClr val="tx1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759" name="Rectangle 39"/>
          <p:cNvSpPr>
            <a:spLocks noChangeArrowheads="1"/>
          </p:cNvSpPr>
          <p:nvPr/>
        </p:nvSpPr>
        <p:spPr bwMode="auto">
          <a:xfrm>
            <a:off x="6781800" y="1905000"/>
            <a:ext cx="1676400" cy="1828800"/>
          </a:xfrm>
          <a:prstGeom prst="rect">
            <a:avLst/>
          </a:prstGeom>
          <a:noFill/>
          <a:ln w="3816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8" name="Rectangle 19"/>
          <p:cNvSpPr>
            <a:spLocks noChangeArrowheads="1"/>
          </p:cNvSpPr>
          <p:nvPr/>
        </p:nvSpPr>
        <p:spPr bwMode="auto">
          <a:xfrm>
            <a:off x="6790998" y="4038600"/>
            <a:ext cx="1667203" cy="6096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" name="Title 1"/>
          <p:cNvSpPr>
            <a:spLocks noGrp="1"/>
          </p:cNvSpPr>
          <p:nvPr>
            <p:ph type="title"/>
          </p:nvPr>
        </p:nvSpPr>
        <p:spPr>
          <a:xfrm>
            <a:off x="476025" y="435678"/>
            <a:ext cx="10122791" cy="762000"/>
          </a:xfrm>
        </p:spPr>
        <p:txBody>
          <a:bodyPr/>
          <a:lstStyle/>
          <a:p>
            <a:r>
              <a:rPr lang="zh-CN" altLang="en-US" dirty="0" smtClean="0"/>
              <a:t>场景 </a:t>
            </a:r>
            <a:r>
              <a:rPr lang="en-US" altLang="zh-CN" dirty="0" smtClean="0"/>
              <a:t>3 ：</a:t>
            </a:r>
            <a:r>
              <a:rPr lang="zh-CN" altLang="en-US" dirty="0" smtClean="0"/>
              <a:t>前未分配</a:t>
            </a:r>
            <a:r>
              <a:rPr lang="en-US" altLang="zh-CN" dirty="0" smtClean="0"/>
              <a:t>、</a:t>
            </a:r>
            <a:r>
              <a:rPr lang="zh-CN" altLang="en-US" dirty="0" smtClean="0"/>
              <a:t>后已</a:t>
            </a:r>
            <a:r>
              <a:rPr lang="zh-CN" altLang="en-US" dirty="0" smtClean="0"/>
              <a:t>分配</a:t>
            </a:r>
            <a:endParaRPr lang="zh-CN" altLang="en-US" dirty="0" smtClean="0"/>
          </a:p>
        </p:txBody>
      </p:sp>
      <p:sp>
        <p:nvSpPr>
          <p:cNvPr id="36" name="TextBox 2"/>
          <p:cNvSpPr txBox="1"/>
          <p:nvPr/>
        </p:nvSpPr>
        <p:spPr>
          <a:xfrm>
            <a:off x="2286001" y="5334001"/>
            <a:ext cx="66239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 smtClean="0">
                <a:latin typeface="Calibri" pitchFamily="34" charset="0"/>
              </a:rPr>
              <a:t>表头：使用</a:t>
            </a:r>
            <a:r>
              <a:rPr lang="en-US" altLang="zh-CN" sz="1800" dirty="0" smtClean="0">
                <a:latin typeface="Calibri" pitchFamily="34" charset="0"/>
              </a:rPr>
              <a:t>2</a:t>
            </a:r>
            <a:r>
              <a:rPr lang="zh-CN" altLang="en-US" sz="1800" dirty="0" smtClean="0">
                <a:latin typeface="Calibri" pitchFamily="34" charset="0"/>
              </a:rPr>
              <a:t>个位（由于对齐，地址位始终为</a:t>
            </a:r>
            <a:r>
              <a:rPr lang="en-US" altLang="zh-CN" sz="1800" dirty="0" smtClean="0">
                <a:latin typeface="Calibri" pitchFamily="34" charset="0"/>
              </a:rPr>
              <a:t>0</a:t>
            </a:r>
            <a:r>
              <a:rPr lang="zh-CN" altLang="en-US" sz="1800" dirty="0" smtClean="0">
                <a:latin typeface="Calibri" pitchFamily="34" charset="0"/>
              </a:rPr>
              <a:t>）：</a:t>
            </a:r>
            <a:br>
              <a:rPr lang="en-US" sz="1800" dirty="0">
                <a:latin typeface="Calibri" pitchFamily="34" charset="0"/>
              </a:rPr>
            </a:br>
            <a:r>
              <a:rPr lang="en-US" sz="1800" dirty="0">
                <a:latin typeface="Calibri" pitchFamily="34" charset="0"/>
              </a:rPr>
              <a:t>	</a:t>
            </a:r>
            <a:r>
              <a:rPr lang="zh-CN" altLang="en-US" sz="1800" dirty="0" smtClean="0">
                <a:latin typeface="Calibri" pitchFamily="34" charset="0"/>
              </a:rPr>
              <a:t>（</a:t>
            </a:r>
            <a:r>
              <a:rPr lang="zh-CN" altLang="en-US" sz="1800" dirty="0" smtClean="0">
                <a:solidFill>
                  <a:srgbClr val="C00000"/>
                </a:solidFill>
                <a:latin typeface="Calibri" pitchFamily="34" charset="0"/>
              </a:rPr>
              <a:t>前一个内存块已分配</a:t>
            </a:r>
            <a:r>
              <a:rPr lang="zh-CN" altLang="en-US" sz="1800" dirty="0" smtClean="0">
                <a:latin typeface="Calibri" pitchFamily="34" charset="0"/>
              </a:rPr>
              <a:t>）</a:t>
            </a:r>
            <a:r>
              <a:rPr lang="en-US" sz="1800" dirty="0" smtClean="0">
                <a:latin typeface="Calibri" pitchFamily="34" charset="0"/>
              </a:rPr>
              <a:t>&lt;&lt;</a:t>
            </a:r>
            <a:r>
              <a:rPr lang="en-US" sz="1800" dirty="0">
                <a:latin typeface="Calibri" pitchFamily="34" charset="0"/>
              </a:rPr>
              <a:t>1 | </a:t>
            </a:r>
            <a:r>
              <a:rPr lang="zh-CN" altLang="en-US" sz="1800" dirty="0" smtClean="0">
                <a:latin typeface="Calibri" pitchFamily="34" charset="0"/>
              </a:rPr>
              <a:t>（</a:t>
            </a:r>
            <a:r>
              <a:rPr lang="zh-CN" altLang="en-US" sz="1800" dirty="0" smtClean="0">
                <a:solidFill>
                  <a:srgbClr val="0070C0"/>
                </a:solidFill>
                <a:latin typeface="Calibri" pitchFamily="34" charset="0"/>
              </a:rPr>
              <a:t>当前内存块已分配</a:t>
            </a:r>
            <a:r>
              <a:rPr lang="zh-CN" altLang="en-US" sz="1800" dirty="0" smtClean="0">
                <a:latin typeface="Calibri" pitchFamily="34" charset="0"/>
              </a:rPr>
              <a:t>）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37" name="TextBox 3"/>
          <p:cNvSpPr txBox="1"/>
          <p:nvPr/>
        </p:nvSpPr>
        <p:spPr>
          <a:xfrm>
            <a:off x="3035665" y="2047105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800" b="0" dirty="0" smtClean="0">
                <a:latin typeface="Calibri" pitchFamily="34" charset="0"/>
              </a:rPr>
              <a:t>前一个</a:t>
            </a:r>
            <a:endParaRPr lang="en-US" altLang="zh-CN" sz="1800" b="0" dirty="0" smtClean="0">
              <a:latin typeface="Calibri" pitchFamily="34" charset="0"/>
            </a:endParaRPr>
          </a:p>
          <a:p>
            <a:pPr algn="ctr"/>
            <a:r>
              <a:rPr lang="zh-CN" altLang="en-US" sz="1800" b="0" dirty="0">
                <a:latin typeface="Calibri" pitchFamily="34" charset="0"/>
              </a:rPr>
              <a:t>内存块</a:t>
            </a:r>
            <a:endParaRPr lang="en-US" sz="1800" b="0" dirty="0">
              <a:latin typeface="Calibri" pitchFamily="34" charset="0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3034410" y="2857412"/>
            <a:ext cx="8819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800" dirty="0" smtClean="0">
                <a:latin typeface="Calibri" pitchFamily="34" charset="0"/>
              </a:rPr>
              <a:t>已释放</a:t>
            </a:r>
            <a:endParaRPr lang="en-US" altLang="zh-CN" sz="1800" dirty="0" smtClean="0">
              <a:latin typeface="Calibri" pitchFamily="34" charset="0"/>
            </a:endParaRPr>
          </a:p>
          <a:p>
            <a:pPr algn="ctr"/>
            <a:r>
              <a:rPr lang="zh-CN" altLang="en-US" sz="1800" dirty="0">
                <a:latin typeface="Calibri" pitchFamily="34" charset="0"/>
              </a:rPr>
              <a:t>内存块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3025798" y="3944721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800" b="0" dirty="0" smtClean="0">
                <a:latin typeface="Calibri" pitchFamily="34" charset="0"/>
              </a:rPr>
              <a:t>后一个</a:t>
            </a:r>
            <a:endParaRPr lang="en-US" altLang="zh-CN" sz="1800" b="0" dirty="0" smtClean="0">
              <a:latin typeface="Calibri" pitchFamily="34" charset="0"/>
            </a:endParaRPr>
          </a:p>
          <a:p>
            <a:pPr algn="ctr"/>
            <a:r>
              <a:rPr lang="zh-CN" altLang="en-US" sz="1800" b="0" dirty="0">
                <a:latin typeface="Calibri" pitchFamily="34" charset="0"/>
              </a:rPr>
              <a:t>内存块</a:t>
            </a:r>
            <a:endParaRPr lang="en-US" sz="1800" b="0" dirty="0">
              <a:latin typeface="Calibri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4" grpId="0" animBg="1"/>
      <p:bldP spid="30745" grpId="0" animBg="1"/>
      <p:bldP spid="30746" grpId="0" animBg="1"/>
      <p:bldP spid="30748" grpId="0" animBg="1"/>
      <p:bldP spid="30749" grpId="0" animBg="1"/>
      <p:bldP spid="30750" grpId="0" animBg="1"/>
      <p:bldP spid="30751" grpId="0" animBg="1"/>
      <p:bldP spid="30752" grpId="0" animBg="1"/>
      <p:bldP spid="30757" grpId="0" animBg="1"/>
      <p:bldP spid="30758" grpId="0" animBg="1"/>
      <p:bldP spid="30759" grpId="0" animBg="1"/>
      <p:bldP spid="48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8"/>
          <p:cNvSpPr>
            <a:spLocks noChangeArrowheads="1"/>
          </p:cNvSpPr>
          <p:nvPr/>
        </p:nvSpPr>
        <p:spPr bwMode="auto">
          <a:xfrm>
            <a:off x="4038600" y="1925501"/>
            <a:ext cx="1295400" cy="304800"/>
          </a:xfrm>
          <a:prstGeom prst="rect">
            <a:avLst/>
          </a:prstGeom>
          <a:noFill/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m1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42" name="Rectangle 19"/>
          <p:cNvSpPr>
            <a:spLocks noChangeArrowheads="1"/>
          </p:cNvSpPr>
          <p:nvPr/>
        </p:nvSpPr>
        <p:spPr bwMode="auto">
          <a:xfrm>
            <a:off x="5334000" y="1925501"/>
            <a:ext cx="381000" cy="304800"/>
          </a:xfrm>
          <a:prstGeom prst="rect">
            <a:avLst/>
          </a:prstGeom>
          <a:noFill/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?</a:t>
            </a:r>
            <a:r>
              <a:rPr lang="en-GB" sz="1600" dirty="0">
                <a:solidFill>
                  <a:srgbClr val="0070C0"/>
                </a:solidFill>
                <a:latin typeface="Calibri" pitchFamily="34" charset="0"/>
              </a:rPr>
              <a:t>0</a:t>
            </a:r>
            <a:endParaRPr lang="en-GB" sz="1600" dirty="0">
              <a:solidFill>
                <a:srgbClr val="0070C0"/>
              </a:solidFill>
              <a:latin typeface="Calibri" pitchFamily="34" charset="0"/>
            </a:endParaRPr>
          </a:p>
        </p:txBody>
      </p:sp>
      <p:sp>
        <p:nvSpPr>
          <p:cNvPr id="44" name="Line 21"/>
          <p:cNvSpPr>
            <a:spLocks noChangeShapeType="1"/>
          </p:cNvSpPr>
          <p:nvPr/>
        </p:nvSpPr>
        <p:spPr bwMode="auto">
          <a:xfrm>
            <a:off x="4876800" y="4191000"/>
            <a:ext cx="1588" cy="457200"/>
          </a:xfrm>
          <a:prstGeom prst="line">
            <a:avLst/>
          </a:prstGeom>
          <a:noFill/>
          <a:ln w="25560">
            <a:solidFill>
              <a:schemeClr val="tx1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5" name="Rectangle 24"/>
          <p:cNvSpPr>
            <a:spLocks noChangeArrowheads="1"/>
          </p:cNvSpPr>
          <p:nvPr/>
        </p:nvSpPr>
        <p:spPr bwMode="auto">
          <a:xfrm>
            <a:off x="4049110" y="3109214"/>
            <a:ext cx="1676400" cy="6096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6" name="Rectangle 26"/>
          <p:cNvSpPr>
            <a:spLocks noChangeArrowheads="1"/>
          </p:cNvSpPr>
          <p:nvPr/>
        </p:nvSpPr>
        <p:spPr bwMode="auto">
          <a:xfrm>
            <a:off x="4028090" y="2839901"/>
            <a:ext cx="12954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n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47" name="Rectangle 27"/>
          <p:cNvSpPr>
            <a:spLocks noChangeArrowheads="1"/>
          </p:cNvSpPr>
          <p:nvPr/>
        </p:nvSpPr>
        <p:spPr bwMode="auto">
          <a:xfrm>
            <a:off x="5320862" y="2834386"/>
            <a:ext cx="3810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0</a:t>
            </a:r>
            <a:r>
              <a:rPr lang="en-GB" sz="1600" dirty="0">
                <a:solidFill>
                  <a:srgbClr val="0070C0"/>
                </a:solidFill>
                <a:latin typeface="Calibri" pitchFamily="34" charset="0"/>
              </a:rPr>
              <a:t>1</a:t>
            </a:r>
            <a:endParaRPr lang="en-GB" sz="1600" dirty="0">
              <a:solidFill>
                <a:srgbClr val="0070C0"/>
              </a:solidFill>
              <a:latin typeface="Calibri" pitchFamily="34" charset="0"/>
            </a:endParaRPr>
          </a:p>
        </p:txBody>
      </p:sp>
      <p:sp>
        <p:nvSpPr>
          <p:cNvPr id="48" name="Rectangle 28"/>
          <p:cNvSpPr>
            <a:spLocks noChangeArrowheads="1"/>
          </p:cNvSpPr>
          <p:nvPr/>
        </p:nvSpPr>
        <p:spPr bwMode="auto">
          <a:xfrm>
            <a:off x="4038600" y="2819400"/>
            <a:ext cx="1676400" cy="914400"/>
          </a:xfrm>
          <a:prstGeom prst="rect">
            <a:avLst/>
          </a:prstGeom>
          <a:noFill/>
          <a:ln w="3816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9" name="Rectangle 29"/>
          <p:cNvSpPr>
            <a:spLocks noChangeArrowheads="1"/>
          </p:cNvSpPr>
          <p:nvPr/>
        </p:nvSpPr>
        <p:spPr bwMode="auto">
          <a:xfrm>
            <a:off x="4038600" y="3733800"/>
            <a:ext cx="12954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m2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50" name="Rectangle 30"/>
          <p:cNvSpPr>
            <a:spLocks noChangeArrowheads="1"/>
          </p:cNvSpPr>
          <p:nvPr/>
        </p:nvSpPr>
        <p:spPr bwMode="auto">
          <a:xfrm>
            <a:off x="5334000" y="3733800"/>
            <a:ext cx="3810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1</a:t>
            </a:r>
            <a:r>
              <a:rPr lang="en-GB" sz="1600" dirty="0">
                <a:solidFill>
                  <a:srgbClr val="0070C0"/>
                </a:solidFill>
                <a:latin typeface="Calibri" pitchFamily="34" charset="0"/>
              </a:rPr>
              <a:t>0</a:t>
            </a:r>
            <a:endParaRPr lang="en-GB" sz="1600" dirty="0">
              <a:solidFill>
                <a:srgbClr val="0070C0"/>
              </a:solidFill>
              <a:latin typeface="Calibri" pitchFamily="34" charset="0"/>
            </a:endParaRPr>
          </a:p>
        </p:txBody>
      </p:sp>
      <p:sp>
        <p:nvSpPr>
          <p:cNvPr id="51" name="Rectangle 31"/>
          <p:cNvSpPr>
            <a:spLocks noChangeArrowheads="1"/>
          </p:cNvSpPr>
          <p:nvPr/>
        </p:nvSpPr>
        <p:spPr bwMode="auto">
          <a:xfrm>
            <a:off x="4038600" y="4038600"/>
            <a:ext cx="16764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" name="Rectangle 32"/>
          <p:cNvSpPr>
            <a:spLocks noChangeArrowheads="1"/>
          </p:cNvSpPr>
          <p:nvPr/>
        </p:nvSpPr>
        <p:spPr bwMode="auto">
          <a:xfrm>
            <a:off x="4038600" y="4343400"/>
            <a:ext cx="1676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" name="Rectangle 33"/>
          <p:cNvSpPr>
            <a:spLocks noChangeArrowheads="1"/>
          </p:cNvSpPr>
          <p:nvPr/>
        </p:nvSpPr>
        <p:spPr bwMode="auto">
          <a:xfrm>
            <a:off x="4038600" y="4343400"/>
            <a:ext cx="12954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m2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54" name="Rectangle 34"/>
          <p:cNvSpPr>
            <a:spLocks noChangeArrowheads="1"/>
          </p:cNvSpPr>
          <p:nvPr/>
        </p:nvSpPr>
        <p:spPr bwMode="auto">
          <a:xfrm>
            <a:off x="5334000" y="4343400"/>
            <a:ext cx="3810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1</a:t>
            </a:r>
            <a:r>
              <a:rPr lang="en-GB" sz="1600" dirty="0">
                <a:solidFill>
                  <a:srgbClr val="0070C0"/>
                </a:solidFill>
                <a:latin typeface="Calibri" pitchFamily="34" charset="0"/>
              </a:rPr>
              <a:t>0</a:t>
            </a:r>
            <a:endParaRPr lang="en-GB" sz="1600" dirty="0">
              <a:solidFill>
                <a:srgbClr val="0070C0"/>
              </a:solidFill>
              <a:latin typeface="Calibri" pitchFamily="34" charset="0"/>
            </a:endParaRPr>
          </a:p>
        </p:txBody>
      </p:sp>
      <p:sp>
        <p:nvSpPr>
          <p:cNvPr id="55" name="Rectangle 35"/>
          <p:cNvSpPr>
            <a:spLocks noChangeArrowheads="1"/>
          </p:cNvSpPr>
          <p:nvPr/>
        </p:nvSpPr>
        <p:spPr bwMode="auto">
          <a:xfrm>
            <a:off x="4038600" y="3733800"/>
            <a:ext cx="1676400" cy="914400"/>
          </a:xfrm>
          <a:prstGeom prst="rect">
            <a:avLst/>
          </a:prstGeom>
          <a:noFill/>
          <a:ln w="3816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6" name="Rectangle 6"/>
          <p:cNvSpPr>
            <a:spLocks noChangeArrowheads="1"/>
          </p:cNvSpPr>
          <p:nvPr/>
        </p:nvSpPr>
        <p:spPr bwMode="auto">
          <a:xfrm>
            <a:off x="4049110" y="2514600"/>
            <a:ext cx="128489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m1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57" name="Rectangle 7"/>
          <p:cNvSpPr>
            <a:spLocks noChangeArrowheads="1"/>
          </p:cNvSpPr>
          <p:nvPr/>
        </p:nvSpPr>
        <p:spPr bwMode="auto">
          <a:xfrm>
            <a:off x="5334000" y="2514600"/>
            <a:ext cx="3810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?</a:t>
            </a:r>
            <a:r>
              <a:rPr lang="en-GB" sz="1600" dirty="0">
                <a:solidFill>
                  <a:srgbClr val="0070C0"/>
                </a:solidFill>
                <a:latin typeface="Calibri" pitchFamily="34" charset="0"/>
              </a:rPr>
              <a:t>0</a:t>
            </a:r>
            <a:endParaRPr lang="en-GB" sz="1600" dirty="0">
              <a:solidFill>
                <a:srgbClr val="0070C0"/>
              </a:solidFill>
              <a:latin typeface="Calibri" pitchFamily="34" charset="0"/>
            </a:endParaRPr>
          </a:p>
        </p:txBody>
      </p:sp>
      <p:sp>
        <p:nvSpPr>
          <p:cNvPr id="43" name="Rectangle 20"/>
          <p:cNvSpPr>
            <a:spLocks noChangeArrowheads="1"/>
          </p:cNvSpPr>
          <p:nvPr/>
        </p:nvSpPr>
        <p:spPr bwMode="auto">
          <a:xfrm>
            <a:off x="4038600" y="1905000"/>
            <a:ext cx="1676400" cy="914400"/>
          </a:xfrm>
          <a:prstGeom prst="rect">
            <a:avLst/>
          </a:prstGeom>
          <a:noFill/>
          <a:ln w="3816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5779516" y="1907108"/>
            <a:ext cx="2514600" cy="2743200"/>
            <a:chOff x="4255516" y="1907108"/>
            <a:chExt cx="2514600" cy="2743200"/>
          </a:xfrm>
        </p:grpSpPr>
        <p:grpSp>
          <p:nvGrpSpPr>
            <p:cNvPr id="2" name="Group 1"/>
            <p:cNvGrpSpPr/>
            <p:nvPr/>
          </p:nvGrpSpPr>
          <p:grpSpPr>
            <a:xfrm>
              <a:off x="4255516" y="1907108"/>
              <a:ext cx="2514600" cy="2743200"/>
              <a:chOff x="3581400" y="1905000"/>
              <a:chExt cx="2514600" cy="2743200"/>
            </a:xfrm>
          </p:grpSpPr>
          <p:sp>
            <p:nvSpPr>
              <p:cNvPr id="31768" name="Rectangle 24"/>
              <p:cNvSpPr>
                <a:spLocks noChangeArrowheads="1"/>
              </p:cNvSpPr>
              <p:nvPr/>
            </p:nvSpPr>
            <p:spPr bwMode="auto">
              <a:xfrm>
                <a:off x="4419600" y="1905000"/>
                <a:ext cx="1295400" cy="304800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90000" tIns="46800" rIns="90000" bIns="46800" anchor="ctr"/>
              <a:lstStyle/>
              <a:p>
                <a:pPr algn="ctr">
                  <a:lnSpc>
                    <a:spcPct val="98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sz="1600" dirty="0">
                    <a:latin typeface="Calibri" pitchFamily="34" charset="0"/>
                  </a:rPr>
                  <a:t>n+m1+m2</a:t>
                </a:r>
                <a:endParaRPr lang="en-GB" sz="1600" dirty="0">
                  <a:latin typeface="Calibri" pitchFamily="34" charset="0"/>
                </a:endParaRPr>
              </a:p>
            </p:txBody>
          </p:sp>
          <p:sp>
            <p:nvSpPr>
              <p:cNvPr id="31770" name="Rectangle 26"/>
              <p:cNvSpPr>
                <a:spLocks noChangeArrowheads="1"/>
              </p:cNvSpPr>
              <p:nvPr/>
            </p:nvSpPr>
            <p:spPr bwMode="auto">
              <a:xfrm>
                <a:off x="4419600" y="2209800"/>
                <a:ext cx="1676400" cy="2133600"/>
              </a:xfrm>
              <a:prstGeom prst="rect">
                <a:avLst/>
              </a:prstGeom>
              <a:solidFill>
                <a:schemeClr val="bg1"/>
              </a:solidFill>
              <a:ln w="324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71" name="Rectangle 27"/>
              <p:cNvSpPr>
                <a:spLocks noChangeArrowheads="1"/>
              </p:cNvSpPr>
              <p:nvPr/>
            </p:nvSpPr>
            <p:spPr bwMode="auto">
              <a:xfrm>
                <a:off x="4419600" y="4343400"/>
                <a:ext cx="1676400" cy="304800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72" name="Rectangle 28"/>
              <p:cNvSpPr>
                <a:spLocks noChangeArrowheads="1"/>
              </p:cNvSpPr>
              <p:nvPr/>
            </p:nvSpPr>
            <p:spPr bwMode="auto">
              <a:xfrm>
                <a:off x="4419600" y="4343400"/>
                <a:ext cx="1295400" cy="304800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90000" tIns="46800" rIns="90000" bIns="46800" anchor="ctr"/>
              <a:lstStyle/>
              <a:p>
                <a:pPr algn="ctr">
                  <a:lnSpc>
                    <a:spcPct val="98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sz="1600" dirty="0">
                    <a:latin typeface="Calibri" pitchFamily="34" charset="0"/>
                  </a:rPr>
                  <a:t>n+m1+m2</a:t>
                </a:r>
                <a:endParaRPr lang="en-GB" sz="1600" dirty="0">
                  <a:latin typeface="Calibri" pitchFamily="34" charset="0"/>
                </a:endParaRPr>
              </a:p>
            </p:txBody>
          </p:sp>
          <p:sp>
            <p:nvSpPr>
              <p:cNvPr id="31773" name="Rectangle 29"/>
              <p:cNvSpPr>
                <a:spLocks noChangeArrowheads="1"/>
              </p:cNvSpPr>
              <p:nvPr/>
            </p:nvSpPr>
            <p:spPr bwMode="auto">
              <a:xfrm>
                <a:off x="5715000" y="4343400"/>
                <a:ext cx="381000" cy="304800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90000" tIns="46800" rIns="90000" bIns="46800" anchor="ctr"/>
              <a:lstStyle/>
              <a:p>
                <a:pPr algn="ctr">
                  <a:lnSpc>
                    <a:spcPct val="98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GB" sz="1600" dirty="0">
                  <a:latin typeface="Calibri" pitchFamily="34" charset="0"/>
                </a:endParaRPr>
              </a:p>
            </p:txBody>
          </p:sp>
          <p:sp>
            <p:nvSpPr>
              <p:cNvPr id="31774" name="Line 30"/>
              <p:cNvSpPr>
                <a:spLocks noChangeShapeType="1"/>
              </p:cNvSpPr>
              <p:nvPr/>
            </p:nvSpPr>
            <p:spPr bwMode="auto">
              <a:xfrm>
                <a:off x="3581400" y="3276600"/>
                <a:ext cx="609600" cy="1588"/>
              </a:xfrm>
              <a:prstGeom prst="line">
                <a:avLst/>
              </a:prstGeom>
              <a:noFill/>
              <a:ln w="25560">
                <a:solidFill>
                  <a:schemeClr val="tx1"/>
                </a:solidFill>
                <a:miter lim="800000"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75" name="Rectangle 31"/>
              <p:cNvSpPr>
                <a:spLocks noChangeArrowheads="1"/>
              </p:cNvSpPr>
              <p:nvPr/>
            </p:nvSpPr>
            <p:spPr bwMode="auto">
              <a:xfrm>
                <a:off x="4419600" y="1905000"/>
                <a:ext cx="1676400" cy="2743200"/>
              </a:xfrm>
              <a:prstGeom prst="rect">
                <a:avLst/>
              </a:prstGeom>
              <a:noFill/>
              <a:ln w="3816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8" name="Rectangle 19"/>
            <p:cNvSpPr>
              <a:spLocks noChangeArrowheads="1"/>
            </p:cNvSpPr>
            <p:nvPr/>
          </p:nvSpPr>
          <p:spPr bwMode="auto">
            <a:xfrm>
              <a:off x="6385034" y="1907108"/>
              <a:ext cx="381000" cy="304800"/>
            </a:xfrm>
            <a:prstGeom prst="rect">
              <a:avLst/>
            </a:prstGeom>
            <a:noFill/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solidFill>
                    <a:srgbClr val="C00000"/>
                  </a:solidFill>
                  <a:latin typeface="Calibri" pitchFamily="34" charset="0"/>
                </a:rPr>
                <a:t>?</a:t>
              </a:r>
              <a:r>
                <a:rPr lang="en-GB" sz="1600" dirty="0">
                  <a:solidFill>
                    <a:srgbClr val="0070C0"/>
                  </a:solidFill>
                  <a:latin typeface="Calibri" pitchFamily="34" charset="0"/>
                </a:rPr>
                <a:t>0</a:t>
              </a:r>
              <a:endParaRPr lang="en-GB" sz="1600" dirty="0">
                <a:solidFill>
                  <a:srgbClr val="0070C0"/>
                </a:solidFill>
                <a:latin typeface="Calibri" pitchFamily="34" charset="0"/>
              </a:endParaRPr>
            </a:p>
          </p:txBody>
        </p:sp>
        <p:sp>
          <p:nvSpPr>
            <p:cNvPr id="59" name="Rectangle 19"/>
            <p:cNvSpPr>
              <a:spLocks noChangeArrowheads="1"/>
            </p:cNvSpPr>
            <p:nvPr/>
          </p:nvSpPr>
          <p:spPr bwMode="auto">
            <a:xfrm>
              <a:off x="6385034" y="4342880"/>
              <a:ext cx="381000" cy="304800"/>
            </a:xfrm>
            <a:prstGeom prst="rect">
              <a:avLst/>
            </a:prstGeom>
            <a:noFill/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solidFill>
                    <a:srgbClr val="C00000"/>
                  </a:solidFill>
                  <a:latin typeface="Calibri" pitchFamily="34" charset="0"/>
                </a:rPr>
                <a:t>?</a:t>
              </a:r>
              <a:r>
                <a:rPr lang="en-GB" sz="1600" dirty="0">
                  <a:solidFill>
                    <a:srgbClr val="0070C0"/>
                  </a:solidFill>
                  <a:latin typeface="Calibri" pitchFamily="34" charset="0"/>
                </a:rPr>
                <a:t>0</a:t>
              </a:r>
              <a:endParaRPr lang="en-GB" sz="1600" dirty="0">
                <a:solidFill>
                  <a:srgbClr val="0070C0"/>
                </a:solidFill>
                <a:latin typeface="Calibri" pitchFamily="34" charset="0"/>
              </a:endParaRPr>
            </a:p>
          </p:txBody>
        </p:sp>
      </p:grpSp>
      <p:sp>
        <p:nvSpPr>
          <p:cNvPr id="36" name="Title 1"/>
          <p:cNvSpPr>
            <a:spLocks noGrp="1"/>
          </p:cNvSpPr>
          <p:nvPr>
            <p:ph type="title"/>
          </p:nvPr>
        </p:nvSpPr>
        <p:spPr>
          <a:xfrm>
            <a:off x="476025" y="435678"/>
            <a:ext cx="10122791" cy="762000"/>
          </a:xfrm>
        </p:spPr>
        <p:txBody>
          <a:bodyPr/>
          <a:lstStyle/>
          <a:p>
            <a:r>
              <a:rPr lang="zh-CN" altLang="en-US" dirty="0" smtClean="0"/>
              <a:t>场景 </a:t>
            </a:r>
            <a:r>
              <a:rPr lang="en-US" altLang="zh-CN" dirty="0" smtClean="0"/>
              <a:t>4 ：</a:t>
            </a:r>
            <a:r>
              <a:rPr lang="zh-CN" altLang="en-US" dirty="0" smtClean="0"/>
              <a:t>前未分配</a:t>
            </a:r>
            <a:r>
              <a:rPr lang="en-US" altLang="zh-CN" dirty="0" smtClean="0"/>
              <a:t>、</a:t>
            </a:r>
            <a:r>
              <a:rPr lang="zh-CN" altLang="en-US" dirty="0" smtClean="0"/>
              <a:t>后未</a:t>
            </a:r>
            <a:r>
              <a:rPr lang="zh-CN" altLang="en-US" dirty="0" smtClean="0"/>
              <a:t>分配</a:t>
            </a:r>
            <a:endParaRPr lang="zh-CN" altLang="en-US" dirty="0" smtClean="0"/>
          </a:p>
        </p:txBody>
      </p:sp>
      <p:sp>
        <p:nvSpPr>
          <p:cNvPr id="60" name="TextBox 2"/>
          <p:cNvSpPr txBox="1"/>
          <p:nvPr/>
        </p:nvSpPr>
        <p:spPr>
          <a:xfrm>
            <a:off x="2286001" y="5334001"/>
            <a:ext cx="66239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 smtClean="0">
                <a:latin typeface="Calibri" pitchFamily="34" charset="0"/>
              </a:rPr>
              <a:t>表头：使用</a:t>
            </a:r>
            <a:r>
              <a:rPr lang="en-US" altLang="zh-CN" sz="1800" dirty="0" smtClean="0">
                <a:latin typeface="Calibri" pitchFamily="34" charset="0"/>
              </a:rPr>
              <a:t>2</a:t>
            </a:r>
            <a:r>
              <a:rPr lang="zh-CN" altLang="en-US" sz="1800" dirty="0" smtClean="0">
                <a:latin typeface="Calibri" pitchFamily="34" charset="0"/>
              </a:rPr>
              <a:t>个位（由于对齐，地址位始终为</a:t>
            </a:r>
            <a:r>
              <a:rPr lang="en-US" altLang="zh-CN" sz="1800" dirty="0" smtClean="0">
                <a:latin typeface="Calibri" pitchFamily="34" charset="0"/>
              </a:rPr>
              <a:t>0</a:t>
            </a:r>
            <a:r>
              <a:rPr lang="zh-CN" altLang="en-US" sz="1800" dirty="0" smtClean="0">
                <a:latin typeface="Calibri" pitchFamily="34" charset="0"/>
              </a:rPr>
              <a:t>）：</a:t>
            </a:r>
            <a:br>
              <a:rPr lang="en-US" sz="1800" dirty="0">
                <a:latin typeface="Calibri" pitchFamily="34" charset="0"/>
              </a:rPr>
            </a:br>
            <a:r>
              <a:rPr lang="en-US" sz="1800" dirty="0">
                <a:latin typeface="Calibri" pitchFamily="34" charset="0"/>
              </a:rPr>
              <a:t>	</a:t>
            </a:r>
            <a:r>
              <a:rPr lang="zh-CN" altLang="en-US" sz="1800" dirty="0" smtClean="0">
                <a:latin typeface="Calibri" pitchFamily="34" charset="0"/>
              </a:rPr>
              <a:t>（</a:t>
            </a:r>
            <a:r>
              <a:rPr lang="zh-CN" altLang="en-US" sz="1800" dirty="0" smtClean="0">
                <a:solidFill>
                  <a:srgbClr val="C00000"/>
                </a:solidFill>
                <a:latin typeface="Calibri" pitchFamily="34" charset="0"/>
              </a:rPr>
              <a:t>前一个内存块已分配</a:t>
            </a:r>
            <a:r>
              <a:rPr lang="zh-CN" altLang="en-US" sz="1800" dirty="0" smtClean="0">
                <a:latin typeface="Calibri" pitchFamily="34" charset="0"/>
              </a:rPr>
              <a:t>）</a:t>
            </a:r>
            <a:r>
              <a:rPr lang="en-US" sz="1800" dirty="0" smtClean="0">
                <a:latin typeface="Calibri" pitchFamily="34" charset="0"/>
              </a:rPr>
              <a:t>&lt;&lt;</a:t>
            </a:r>
            <a:r>
              <a:rPr lang="en-US" sz="1800" dirty="0">
                <a:latin typeface="Calibri" pitchFamily="34" charset="0"/>
              </a:rPr>
              <a:t>1 | </a:t>
            </a:r>
            <a:r>
              <a:rPr lang="zh-CN" altLang="en-US" sz="1800" dirty="0" smtClean="0">
                <a:latin typeface="Calibri" pitchFamily="34" charset="0"/>
              </a:rPr>
              <a:t>（</a:t>
            </a:r>
            <a:r>
              <a:rPr lang="zh-CN" altLang="en-US" sz="1800" dirty="0" smtClean="0">
                <a:solidFill>
                  <a:srgbClr val="0070C0"/>
                </a:solidFill>
                <a:latin typeface="Calibri" pitchFamily="34" charset="0"/>
              </a:rPr>
              <a:t>当前内存块已分配</a:t>
            </a:r>
            <a:r>
              <a:rPr lang="zh-CN" altLang="en-US" sz="1800" dirty="0" smtClean="0">
                <a:latin typeface="Calibri" pitchFamily="34" charset="0"/>
              </a:rPr>
              <a:t>）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61" name="TextBox 3"/>
          <p:cNvSpPr txBox="1"/>
          <p:nvPr/>
        </p:nvSpPr>
        <p:spPr>
          <a:xfrm>
            <a:off x="3035665" y="2047105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800" b="0" dirty="0" smtClean="0">
                <a:latin typeface="Calibri" pitchFamily="34" charset="0"/>
              </a:rPr>
              <a:t>前一个</a:t>
            </a:r>
            <a:endParaRPr lang="en-US" altLang="zh-CN" sz="1800" b="0" dirty="0" smtClean="0">
              <a:latin typeface="Calibri" pitchFamily="34" charset="0"/>
            </a:endParaRPr>
          </a:p>
          <a:p>
            <a:pPr algn="ctr"/>
            <a:r>
              <a:rPr lang="zh-CN" altLang="en-US" sz="1800" b="0" dirty="0">
                <a:latin typeface="Calibri" pitchFamily="34" charset="0"/>
              </a:rPr>
              <a:t>内存块</a:t>
            </a:r>
            <a:endParaRPr lang="en-US" sz="1800" b="0" dirty="0">
              <a:latin typeface="Calibri" pitchFamily="34" charset="0"/>
            </a:endParaRPr>
          </a:p>
        </p:txBody>
      </p:sp>
      <p:sp>
        <p:nvSpPr>
          <p:cNvPr id="62" name="TextBox 38"/>
          <p:cNvSpPr txBox="1"/>
          <p:nvPr/>
        </p:nvSpPr>
        <p:spPr>
          <a:xfrm>
            <a:off x="3034410" y="2857412"/>
            <a:ext cx="8819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800" dirty="0" smtClean="0">
                <a:latin typeface="Calibri" pitchFamily="34" charset="0"/>
              </a:rPr>
              <a:t>已释放</a:t>
            </a:r>
            <a:endParaRPr lang="en-US" altLang="zh-CN" sz="1800" dirty="0" smtClean="0">
              <a:latin typeface="Calibri" pitchFamily="34" charset="0"/>
            </a:endParaRPr>
          </a:p>
          <a:p>
            <a:pPr algn="ctr"/>
            <a:r>
              <a:rPr lang="zh-CN" altLang="en-US" sz="1800" dirty="0">
                <a:latin typeface="Calibri" pitchFamily="34" charset="0"/>
              </a:rPr>
              <a:t>内存块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63" name="TextBox 39"/>
          <p:cNvSpPr txBox="1"/>
          <p:nvPr/>
        </p:nvSpPr>
        <p:spPr>
          <a:xfrm>
            <a:off x="3025798" y="3944721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800" b="0" dirty="0" smtClean="0">
                <a:latin typeface="Calibri" pitchFamily="34" charset="0"/>
              </a:rPr>
              <a:t>后一个</a:t>
            </a:r>
            <a:endParaRPr lang="en-US" altLang="zh-CN" sz="1800" b="0" dirty="0" smtClean="0">
              <a:latin typeface="Calibri" pitchFamily="34" charset="0"/>
            </a:endParaRPr>
          </a:p>
          <a:p>
            <a:pPr algn="ctr"/>
            <a:r>
              <a:rPr lang="zh-CN" altLang="en-US" sz="1800" b="0" dirty="0">
                <a:latin typeface="Calibri" pitchFamily="34" charset="0"/>
              </a:rPr>
              <a:t>内存块</a:t>
            </a:r>
            <a:endParaRPr lang="en-US" sz="1800" b="0" dirty="0">
              <a:latin typeface="Calibri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1"/>
          <p:cNvSpPr>
            <a:spLocks noGrp="1" noChangeArrowheads="1"/>
          </p:cNvSpPr>
          <p:nvPr>
            <p:ph type="title"/>
          </p:nvPr>
        </p:nvSpPr>
        <p:spPr>
          <a:xfrm>
            <a:off x="1873469" y="381001"/>
            <a:ext cx="8382000" cy="573087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dirty="0" smtClean="0"/>
              <a:t>分配器关键策略的总结</a:t>
            </a:r>
            <a:endParaRPr lang="en-GB" dirty="0"/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223010" y="1066800"/>
            <a:ext cx="8987790" cy="5497195"/>
          </a:xfrm>
        </p:spPr>
        <p:txBody>
          <a:bodyPr/>
          <a:lstStyle/>
          <a:p>
            <a:pPr>
              <a:lnSpc>
                <a:spcPct val="83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放置策略：</a:t>
            </a:r>
            <a:endParaRPr lang="en-GB" dirty="0"/>
          </a:p>
          <a:p>
            <a:pPr lvl="1">
              <a:lnSpc>
                <a:spcPct val="88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首</a:t>
            </a:r>
            <a:r>
              <a:rPr lang="zh-CN" altLang="en-US" dirty="0"/>
              <a:t>次</a:t>
            </a:r>
            <a:r>
              <a:rPr lang="zh-CN" altLang="en-US" dirty="0" smtClean="0"/>
              <a:t>适配，下次适配，最佳适配，等</a:t>
            </a:r>
            <a:endParaRPr lang="en-GB" dirty="0"/>
          </a:p>
          <a:p>
            <a:pPr lvl="1">
              <a:lnSpc>
                <a:spcPct val="88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为了减少碎片而降低吞吐量</a:t>
            </a:r>
            <a:r>
              <a:rPr lang="en-GB" dirty="0"/>
              <a:t>	</a:t>
            </a:r>
            <a:endParaRPr lang="en-GB" dirty="0"/>
          </a:p>
          <a:p>
            <a:pPr lvl="1">
              <a:lnSpc>
                <a:spcPct val="95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b="1" i="1" dirty="0" smtClean="0">
                <a:solidFill>
                  <a:srgbClr val="C00000"/>
                </a:solidFill>
              </a:rPr>
              <a:t>有趣的观察：</a:t>
            </a:r>
            <a:r>
              <a:rPr lang="en-GB" b="1" dirty="0" smtClean="0">
                <a:solidFill>
                  <a:srgbClr val="C00000"/>
                </a:solidFill>
              </a:rPr>
              <a:t> </a:t>
            </a:r>
            <a:r>
              <a:rPr lang="zh-CN" altLang="en-US" dirty="0" smtClean="0"/>
              <a:t>分离式空</a:t>
            </a:r>
            <a:r>
              <a:rPr lang="zh-CN" altLang="en-US" dirty="0" smtClean="0"/>
              <a:t>闲列表（下一讲）近似于最佳适配策略，且无需搜索整个空闲列表</a:t>
            </a:r>
            <a:endParaRPr lang="en-GB" dirty="0"/>
          </a:p>
          <a:p>
            <a:pPr>
              <a:lnSpc>
                <a:spcPct val="83000"/>
              </a:lnSpc>
              <a:spcBef>
                <a:spcPts val="1800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分割策略：</a:t>
            </a:r>
            <a:endParaRPr lang="en-GB" dirty="0"/>
          </a:p>
          <a:p>
            <a:pPr lvl="1">
              <a:lnSpc>
                <a:spcPct val="88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什么时候才会继续分割空闲列表？</a:t>
            </a:r>
            <a:endParaRPr lang="en-GB" dirty="0"/>
          </a:p>
          <a:p>
            <a:pPr lvl="1">
              <a:lnSpc>
                <a:spcPct val="88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能容忍多少内部碎片？</a:t>
            </a:r>
            <a:endParaRPr lang="en-GB" dirty="0"/>
          </a:p>
          <a:p>
            <a:pPr>
              <a:lnSpc>
                <a:spcPct val="83000"/>
              </a:lnSpc>
              <a:spcBef>
                <a:spcPts val="1800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合并策略：</a:t>
            </a:r>
            <a:endParaRPr lang="en-GB" dirty="0"/>
          </a:p>
          <a:p>
            <a:pPr lvl="1">
              <a:lnSpc>
                <a:spcPct val="88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b="1" i="1" dirty="0" smtClean="0">
                <a:solidFill>
                  <a:srgbClr val="C00000"/>
                </a:solidFill>
              </a:rPr>
              <a:t>立即合并：</a:t>
            </a:r>
            <a:r>
              <a:rPr lang="en-GB" b="1" i="1" dirty="0" smtClean="0">
                <a:solidFill>
                  <a:srgbClr val="C00000"/>
                </a:solidFill>
              </a:rPr>
              <a:t> </a:t>
            </a:r>
            <a:r>
              <a:rPr lang="zh-CN" altLang="en-US" dirty="0" smtClean="0"/>
              <a:t>每次调用</a:t>
            </a:r>
            <a:r>
              <a:rPr lang="en-GB" dirty="0" smtClean="0"/>
              <a:t> </a:t>
            </a:r>
            <a:r>
              <a:rPr lang="en-GB" b="1" dirty="0">
                <a:latin typeface="Courier New" panose="02070609020205020404" pitchFamily="49" charset="0"/>
              </a:rPr>
              <a:t>free</a:t>
            </a:r>
            <a:r>
              <a:rPr lang="en-GB" b="1" dirty="0"/>
              <a:t> </a:t>
            </a:r>
            <a:r>
              <a:rPr lang="zh-CN" altLang="en-US" dirty="0" smtClean="0"/>
              <a:t>时合并</a:t>
            </a:r>
            <a:endParaRPr lang="en-GB" dirty="0"/>
          </a:p>
          <a:p>
            <a:pPr lvl="1">
              <a:lnSpc>
                <a:spcPct val="88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b="1" i="1" dirty="0" smtClean="0">
                <a:solidFill>
                  <a:srgbClr val="C00000"/>
                </a:solidFill>
              </a:rPr>
              <a:t>延迟合并：</a:t>
            </a:r>
            <a:r>
              <a:rPr lang="en-GB" b="1" i="1" dirty="0" smtClean="0">
                <a:solidFill>
                  <a:srgbClr val="C00000"/>
                </a:solidFill>
              </a:rPr>
              <a:t> </a:t>
            </a:r>
            <a:r>
              <a:rPr lang="zh-CN" altLang="en-US" dirty="0" smtClean="0"/>
              <a:t>通过直到需要时才合并的方法，尝试改善 </a:t>
            </a:r>
            <a:r>
              <a:rPr lang="en-GB" altLang="zh-CN" b="1" dirty="0" smtClean="0">
                <a:latin typeface="Courier New" panose="02070609020205020404" pitchFamily="49" charset="0"/>
              </a:rPr>
              <a:t>free </a:t>
            </a:r>
            <a:r>
              <a:rPr lang="zh-CN" altLang="en-US" dirty="0" smtClean="0"/>
              <a:t>的性能</a:t>
            </a:r>
            <a:endParaRPr lang="en-GB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隐式列表：总结</a:t>
            </a:r>
            <a:endParaRPr lang="zh-CN" altLang="en-US"/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实现：非常简单</a:t>
            </a:r>
            <a:endParaRPr lang="en-GB"/>
          </a:p>
          <a:p>
            <a:r>
              <a:rPr lang="zh-CN" altLang="en-US"/>
              <a:t>分配成本：</a:t>
            </a:r>
            <a:r>
              <a:rPr lang="en-GB"/>
              <a:t> </a:t>
            </a:r>
            <a:endParaRPr lang="en-GB"/>
          </a:p>
          <a:p>
            <a:pPr lvl="1"/>
            <a:r>
              <a:rPr lang="zh-CN" altLang="en-US"/>
              <a:t>最坏的情况是线性时间</a:t>
            </a:r>
            <a:endParaRPr lang="en-GB"/>
          </a:p>
          <a:p>
            <a:r>
              <a:rPr lang="zh-CN" altLang="en-US"/>
              <a:t>释放成本：</a:t>
            </a:r>
            <a:endParaRPr lang="en-GB"/>
          </a:p>
          <a:p>
            <a:pPr lvl="1"/>
            <a:r>
              <a:rPr lang="zh-CN" altLang="en-US"/>
              <a:t>最坏的情况是常数时间</a:t>
            </a:r>
            <a:endParaRPr lang="en-GB"/>
          </a:p>
          <a:p>
            <a:pPr lvl="1"/>
            <a:r>
              <a:rPr lang="zh-CN" altLang="en-US"/>
              <a:t>即使算上合并</a:t>
            </a:r>
            <a:endParaRPr lang="en-GB"/>
          </a:p>
          <a:p>
            <a:r>
              <a:rPr lang="zh-CN" altLang="en-US"/>
              <a:t>存储器开销</a:t>
            </a:r>
            <a:endParaRPr lang="en-GB"/>
          </a:p>
          <a:p>
            <a:pPr lvl="1"/>
            <a:r>
              <a:rPr lang="zh-CN" altLang="en-US"/>
              <a:t>取决于放置策略</a:t>
            </a:r>
            <a:endParaRPr lang="en-GB"/>
          </a:p>
          <a:p>
            <a:pPr lvl="1"/>
            <a:r>
              <a:rPr lang="zh-CN" altLang="en-US"/>
              <a:t>首次适配，下次适配或最佳适配</a:t>
            </a:r>
            <a:endParaRPr lang="en-GB"/>
          </a:p>
          <a:p>
            <a:r>
              <a:rPr lang="zh-CN" altLang="en-US"/>
              <a:t>由于分配时间是线性的，所以在实际中不使用 </a:t>
            </a:r>
            <a:r>
              <a:rPr lang="en-GB"/>
              <a:t>malloc/free</a:t>
            </a:r>
            <a:endParaRPr lang="en-GB"/>
          </a:p>
          <a:p>
            <a:pPr lvl="1"/>
            <a:r>
              <a:rPr lang="zh-CN" altLang="en-US"/>
              <a:t>用于一些特殊用途的应用</a:t>
            </a:r>
            <a:endParaRPr lang="en-GB"/>
          </a:p>
          <a:p>
            <a:r>
              <a:rPr lang="zh-CN" altLang="en-US"/>
              <a:t>不过，分割和边界标记合并的概念通用于所有 </a:t>
            </a:r>
            <a:r>
              <a:rPr lang="zh-CN" altLang="en-US"/>
              <a:t>分配器</a:t>
            </a:r>
            <a:endParaRPr lang="zh-CN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TEXPOINTINIT" val=""/>
  <p:tag name="USEAMSFONTS" val="True"/>
  <p:tag name="EMBEDFONTS" val="False"/>
  <p:tag name="USEBOLDAMS" val="False"/>
  <p:tag name="DEFAULTDISPLAYSOURCE" val="\documentclass{slides}\pagestyle{empty}&#10;\begin{document}&#10;&#10;\end{document}&#10;"/>
  <p:tag name="TEX2PS" val="latex $(base).tex; dvips -D $(res) -E -o $(base).ps $(base).dvi"/>
  <p:tag name="EXTERNALEDITCOMMAND" val="notepad %"/>
  <p:tag name="GHOSTSCRIPTCOMMAND" val="gswin32c"/>
  <p:tag name="DEFAULTBITMAP" val="pngmono"/>
  <p:tag name="DEFAULTBLEND" val="False"/>
  <p:tag name="DEFAULTTRANSPARENT" val="False"/>
  <p:tag name="DEFAULTWORKAROUNDTRANSPARENCYBUG" val="False"/>
  <p:tag name="DEFAULTRESOLUTION" val="1200"/>
  <p:tag name="DEFAULTMAGNIFICATION" val="0.8"/>
  <p:tag name="DEFAULTFONTSIZE" val="10"/>
  <p:tag name="DEFAULTWIDTH" val="418"/>
  <p:tag name="DEFAULTHEIGHT" val="316"/>
</p:tagLst>
</file>

<file path=ppt/theme/theme1.xml><?xml version="1.0" encoding="utf-8"?>
<a:theme xmlns:a="http://schemas.openxmlformats.org/drawingml/2006/main" name="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自定义 1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>
            <a:lumMod val="20000"/>
            <a:lumOff val="80000"/>
          </a:schemeClr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a:spPr>
      <a:bodyPr vert="horz" wrap="square" lIns="91440" tIns="45720" rIns="91440" bIns="45720" numCol="1" rtlCol="0" anchor="ctr" anchorCtr="1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dirty="0" smtClean="0">
            <a:latin typeface="Calibri" pitchFamily="34" charset="0"/>
          </a:defRPr>
        </a:defPPr>
      </a:lstStyle>
    </a:spDef>
    <a:lnDef>
      <a:spPr bwMode="auto"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/>
      <a:lstStyle/>
    </a:lnDef>
    <a:txDef>
      <a:spPr>
        <a:noFill/>
      </a:spPr>
      <a:bodyPr wrap="none" rtlCol="0">
        <a:spAutoFit/>
      </a:bodyPr>
      <a:lstStyle>
        <a:defPPr>
          <a:defRPr sz="1800" dirty="0" smtClean="0">
            <a:latin typeface="Calibri" pitchFamily="34" charset="0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template2007</Template>
  <TotalTime>0</TotalTime>
  <Words>10381</Words>
  <Application>WPS Presentation</Application>
  <PresentationFormat>宽屏</PresentationFormat>
  <Paragraphs>1953</Paragraphs>
  <Slides>58</Slides>
  <Notes>44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85" baseType="lpstr">
      <vt:lpstr>Arial</vt:lpstr>
      <vt:lpstr>SimSun</vt:lpstr>
      <vt:lpstr>Wingdings</vt:lpstr>
      <vt:lpstr>Arial Narrow</vt:lpstr>
      <vt:lpstr>Calibri</vt:lpstr>
      <vt:lpstr>Helvetica Neue</vt:lpstr>
      <vt:lpstr>Times New Roman</vt:lpstr>
      <vt:lpstr>MS PGothic</vt:lpstr>
      <vt:lpstr>Wingdings 2</vt:lpstr>
      <vt:lpstr>msgothic</vt:lpstr>
      <vt:lpstr>苹方-简</vt:lpstr>
      <vt:lpstr>Arial Bold</vt:lpstr>
      <vt:lpstr>Courier New</vt:lpstr>
      <vt:lpstr>Courier New</vt:lpstr>
      <vt:lpstr>DejaVu Math TeX Gyre</vt:lpstr>
      <vt:lpstr>SimSun</vt:lpstr>
      <vt:lpstr>汉仪书宋二KW</vt:lpstr>
      <vt:lpstr>SimSun</vt:lpstr>
      <vt:lpstr>Microsoft YaHei</vt:lpstr>
      <vt:lpstr>汉仪旗黑</vt:lpstr>
      <vt:lpstr>Arial Unicode MS</vt:lpstr>
      <vt:lpstr>Cambria Math</vt:lpstr>
      <vt:lpstr>Kingsoft Math</vt:lpstr>
      <vt:lpstr>冬青黑体简体中文</vt:lpstr>
      <vt:lpstr>Wingdings</vt:lpstr>
      <vt:lpstr>SimSun</vt:lpstr>
      <vt:lpstr>template2007</vt:lpstr>
      <vt:lpstr>动态内存分配：基础概念  15-213/15-513/14-513: Introduction to Computer Systems 13th Lecture, Oct 7, 2025  </vt:lpstr>
      <vt:lpstr>Today</vt:lpstr>
      <vt:lpstr>Memory Allocation Example</vt:lpstr>
      <vt:lpstr>x86-64 Example Addresses</vt:lpstr>
      <vt:lpstr>动态内存分配	</vt:lpstr>
      <vt:lpstr>动态内存分配</vt:lpstr>
      <vt:lpstr> malloc 程序包</vt:lpstr>
      <vt:lpstr>malloc 示例</vt:lpstr>
      <vt:lpstr>堆可视化的约束条件</vt:lpstr>
      <vt:lpstr>分配示例（概念性）</vt:lpstr>
      <vt:lpstr>约束条件</vt:lpstr>
      <vt:lpstr>性能目标：吞吐量</vt:lpstr>
      <vt:lpstr>性能目标：最小化开销</vt:lpstr>
      <vt:lpstr>基准测试示例</vt:lpstr>
      <vt:lpstr>基准测试可视化</vt:lpstr>
      <vt:lpstr>典型基准测试行为</vt:lpstr>
      <vt:lpstr>碎片</vt:lpstr>
      <vt:lpstr>内部碎片</vt:lpstr>
      <vt:lpstr>内部碎片的影响</vt:lpstr>
      <vt:lpstr>外部碎片</vt:lpstr>
      <vt:lpstr>外部碎片的影响</vt:lpstr>
      <vt:lpstr>实现问题</vt:lpstr>
      <vt:lpstr>知道要释放多少空间</vt:lpstr>
      <vt:lpstr>持续跟踪空闲块</vt:lpstr>
      <vt:lpstr>Today</vt:lpstr>
      <vt:lpstr>方法 ：隐式空闲列表</vt:lpstr>
      <vt:lpstr>隐式空闲列表详解</vt:lpstr>
      <vt:lpstr>隐式列表：数据结构</vt:lpstr>
      <vt:lpstr>隐式列表：表头访问</vt:lpstr>
      <vt:lpstr>隐式列表：遍历列表</vt:lpstr>
      <vt:lpstr>隐式列表：查找空闲块</vt:lpstr>
      <vt:lpstr>隐式列表：查找空闲块</vt:lpstr>
      <vt:lpstr>策略比较</vt:lpstr>
      <vt:lpstr>隐式列表：分配空闲块</vt:lpstr>
      <vt:lpstr>隐式列表：分割空闲块</vt:lpstr>
      <vt:lpstr>隐式列表：释放内存块</vt:lpstr>
      <vt:lpstr>隐式列表：合并</vt:lpstr>
      <vt:lpstr>隐式列表：合并</vt:lpstr>
      <vt:lpstr>隐式列表：双向合并</vt:lpstr>
      <vt:lpstr>带表尾的实现</vt:lpstr>
      <vt:lpstr>带表尾的实现</vt:lpstr>
      <vt:lpstr>分割空闲块：完整版</vt:lpstr>
      <vt:lpstr>常数时间合并</vt:lpstr>
      <vt:lpstr>常数时间合并（场景 1 ）</vt:lpstr>
      <vt:lpstr>常数时间合并（场景 2 ）</vt:lpstr>
      <vt:lpstr>常数时间合并（场景 3 ）</vt:lpstr>
      <vt:lpstr>常数时间合并（场景 4 ）</vt:lpstr>
      <vt:lpstr>堆结构</vt:lpstr>
      <vt:lpstr>顶级 Malloc 代码</vt:lpstr>
      <vt:lpstr>顶级 Free 代码</vt:lpstr>
      <vt:lpstr>边界标签的缺点</vt:lpstr>
      <vt:lpstr>已分配内存块没有边界标签</vt:lpstr>
      <vt:lpstr>已分配内存块没有边界标签（场景 1 ）</vt:lpstr>
      <vt:lpstr>已分配内存块没有边界标签（场景 2 ）</vt:lpstr>
      <vt:lpstr>已分配内存块没有边界标签（场景 3 ）</vt:lpstr>
      <vt:lpstr>已分配内存块没有边界标签（场景 4 ）</vt:lpstr>
      <vt:lpstr>分配器关键策略的总结</vt:lpstr>
      <vt:lpstr>隐式列表：总结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 15-213/18-243, spring 2009</dc:title>
  <dc:creator>Markus Pueschel</dc:creator>
  <dc:description>Redesign of slides created by Randal E. Bryant and David R. O'Hallaron</dc:description>
  <cp:lastModifiedBy>00030832</cp:lastModifiedBy>
  <cp:revision>818</cp:revision>
  <cp:lastPrinted>2026-05-26T23:45:26Z</cp:lastPrinted>
  <dcterms:created xsi:type="dcterms:W3CDTF">2026-05-26T23:45:26Z</dcterms:created>
  <dcterms:modified xsi:type="dcterms:W3CDTF">2026-05-26T23:45:26Z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1033-12.1.24031.24031</vt:lpwstr>
  </property>
  <property fmtid="{D5CDD505-2E9C-101B-9397-08002B2CF9AE}" pid="3" name="ICV">
    <vt:lpwstr>EA2E9123EDA6CC20518DA169C9C16874_42</vt:lpwstr>
  </property>
</Properties>
</file>