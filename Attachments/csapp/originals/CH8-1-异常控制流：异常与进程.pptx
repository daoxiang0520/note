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41"/>
  </p:handoutMasterIdLst>
  <p:sldIdLst>
    <p:sldId id="542" r:id="rId3"/>
    <p:sldId id="1692" r:id="rId5"/>
    <p:sldId id="1204" r:id="rId6"/>
    <p:sldId id="1205" r:id="rId7"/>
    <p:sldId id="1206" r:id="rId8"/>
    <p:sldId id="1693" r:id="rId9"/>
    <p:sldId id="1207" r:id="rId10"/>
    <p:sldId id="1208" r:id="rId11"/>
    <p:sldId id="1209" r:id="rId12"/>
    <p:sldId id="1210" r:id="rId13"/>
    <p:sldId id="1695" r:id="rId14"/>
    <p:sldId id="1262" r:id="rId15"/>
    <p:sldId id="1678" r:id="rId16"/>
    <p:sldId id="1441" r:id="rId17"/>
    <p:sldId id="1594" r:id="rId18"/>
    <p:sldId id="1595" r:id="rId19"/>
    <p:sldId id="1696" r:id="rId20"/>
    <p:sldId id="1697" r:id="rId21"/>
    <p:sldId id="1698" r:id="rId22"/>
    <p:sldId id="1699" r:id="rId23"/>
    <p:sldId id="1212" r:id="rId24"/>
    <p:sldId id="1213" r:id="rId25"/>
    <p:sldId id="1680" r:id="rId26"/>
    <p:sldId id="1694" r:id="rId27"/>
    <p:sldId id="1691" r:id="rId28"/>
    <p:sldId id="1249" r:id="rId29"/>
    <p:sldId id="1250" r:id="rId30"/>
    <p:sldId id="1253" r:id="rId31"/>
    <p:sldId id="1254" r:id="rId32"/>
    <p:sldId id="1263" r:id="rId33"/>
    <p:sldId id="1264" r:id="rId34"/>
    <p:sldId id="1274" r:id="rId35"/>
    <p:sldId id="1255" r:id="rId36"/>
    <p:sldId id="1217" r:id="rId37"/>
    <p:sldId id="1216" r:id="rId38"/>
    <p:sldId id="1218" r:id="rId39"/>
    <p:sldId id="1235" r:id="rId40"/>
  </p:sldIdLst>
  <p:sldSz cx="12192000" cy="6858000"/>
  <p:notesSz cx="7302500" cy="9586595"/>
  <p:custDataLst>
    <p:tags r:id="rId4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6" userDrawn="1">
          <p15:clr>
            <a:srgbClr val="A4A3A4"/>
          </p15:clr>
        </p15:guide>
        <p15:guide id="2" pos="37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7F5CD"/>
    <a:srgbClr val="F6F5BD"/>
    <a:srgbClr val="AB8D8D"/>
    <a:srgbClr val="990000"/>
    <a:srgbClr val="D5F1CF"/>
    <a:srgbClr val="F1C7C7"/>
    <a:srgbClr val="E9E1C9"/>
    <a:srgbClr val="DED8C4"/>
    <a:srgbClr val="E7D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8" autoAdjust="0"/>
    <p:restoredTop sz="90909" autoAdjust="0"/>
  </p:normalViewPr>
  <p:slideViewPr>
    <p:cSldViewPr snapToObjects="1" showGuides="1">
      <p:cViewPr varScale="1">
        <p:scale>
          <a:sx n="114" d="100"/>
          <a:sy n="114" d="100"/>
        </p:scale>
        <p:origin x="280" y="184"/>
      </p:cViewPr>
      <p:guideLst>
        <p:guide orient="horz" pos="2336"/>
        <p:guide pos="374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defTabSz="965200">
              <a:defRPr sz="12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858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https://elixir.bootlin.com/linux/v7.0/source/arch/x86/entry/syscalls/syscall_64.tbl</a:t>
            </a: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0xffff </a:t>
            </a:r>
            <a:r>
              <a:rPr lang="en-US" altLang="zh-CN" dirty="0" err="1"/>
              <a:t>ffff</a:t>
            </a:r>
            <a:r>
              <a:rPr lang="en-US" altLang="zh-CN" dirty="0"/>
              <a:t> </a:t>
            </a:r>
            <a:r>
              <a:rPr lang="en-US" altLang="zh-CN" dirty="0" err="1"/>
              <a:t>ffff</a:t>
            </a:r>
            <a:r>
              <a:rPr lang="en-US" altLang="zh-CN" dirty="0"/>
              <a:t> f001 -4095</a:t>
            </a:r>
            <a:r>
              <a:rPr lang="zh-CN" altLang="en-US" dirty="0"/>
              <a:t>，错误号是一个</a:t>
            </a:r>
            <a:r>
              <a:rPr lang="en-US" altLang="zh-CN" dirty="0"/>
              <a:t>-4095</a:t>
            </a:r>
            <a:r>
              <a:rPr lang="zh-CN" altLang="en-US" dirty="0"/>
              <a:t>到</a:t>
            </a:r>
            <a:r>
              <a:rPr lang="en-US" altLang="zh-CN" dirty="0"/>
              <a:t>-1</a:t>
            </a:r>
            <a:r>
              <a:rPr lang="zh-CN" altLang="en-US" dirty="0"/>
              <a:t>之间的一个负数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0xffff </a:t>
            </a:r>
            <a:r>
              <a:rPr lang="en-US" altLang="zh-CN" dirty="0" err="1"/>
              <a:t>ffff</a:t>
            </a:r>
            <a:r>
              <a:rPr lang="en-US" altLang="zh-CN" dirty="0"/>
              <a:t> </a:t>
            </a:r>
            <a:r>
              <a:rPr lang="en-US" altLang="zh-CN" dirty="0" err="1"/>
              <a:t>ffff</a:t>
            </a:r>
            <a:r>
              <a:rPr lang="en-US" altLang="zh-CN" dirty="0"/>
              <a:t> f001 -4095</a:t>
            </a:r>
            <a:r>
              <a:rPr lang="zh-CN" altLang="en-US" dirty="0"/>
              <a:t>，错误号是一个</a:t>
            </a:r>
            <a:r>
              <a:rPr lang="en-US" altLang="zh-CN" dirty="0"/>
              <a:t>-4095</a:t>
            </a:r>
            <a:r>
              <a:rPr lang="zh-CN" altLang="en-US" dirty="0"/>
              <a:t>到</a:t>
            </a:r>
            <a:r>
              <a:rPr lang="en-US" altLang="zh-CN" dirty="0"/>
              <a:t>-1</a:t>
            </a:r>
            <a:r>
              <a:rPr lang="zh-CN" altLang="en-US" dirty="0"/>
              <a:t>之间的一个负数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0xffff </a:t>
            </a:r>
            <a:r>
              <a:rPr lang="en-US" altLang="zh-CN" dirty="0" err="1"/>
              <a:t>ffff</a:t>
            </a:r>
            <a:r>
              <a:rPr lang="en-US" altLang="zh-CN" dirty="0"/>
              <a:t> </a:t>
            </a:r>
            <a:r>
              <a:rPr lang="en-US" altLang="zh-CN" dirty="0" err="1"/>
              <a:t>ffff</a:t>
            </a:r>
            <a:r>
              <a:rPr lang="en-US" altLang="zh-CN" dirty="0"/>
              <a:t> f001 -4095</a:t>
            </a:r>
            <a:r>
              <a:rPr lang="zh-CN" altLang="en-US" dirty="0"/>
              <a:t>，错误号是一个</a:t>
            </a:r>
            <a:r>
              <a:rPr lang="en-US" altLang="zh-CN" dirty="0"/>
              <a:t>-4095</a:t>
            </a:r>
            <a:r>
              <a:rPr lang="zh-CN" altLang="en-US" dirty="0"/>
              <a:t>到</a:t>
            </a:r>
            <a:r>
              <a:rPr lang="en-US" altLang="zh-CN" dirty="0"/>
              <a:t>-1</a:t>
            </a:r>
            <a:r>
              <a:rPr lang="zh-CN" altLang="en-US" dirty="0"/>
              <a:t>之间的一个负数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defRPr>
            </a:lvl1pPr>
            <a:lvl2pPr>
              <a:defRPr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defRPr>
            </a:lvl2pPr>
            <a:lvl3pPr>
              <a:defRPr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defRPr>
            </a:lvl3pPr>
            <a:lvl4pPr>
              <a:defRPr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defRPr>
            </a:lvl4pPr>
            <a:lvl5pPr>
              <a:defRPr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anose="020F0502020204030204" pitchFamily="34" charset="0"/>
              </a:defRPr>
            </a:lvl1pPr>
            <a:lvl2pPr>
              <a:defRPr sz="2800">
                <a:latin typeface="Calibri" panose="020F0502020204030204" pitchFamily="34" charset="0"/>
              </a:defRPr>
            </a:lvl2pPr>
            <a:lvl3pPr>
              <a:defRPr sz="2400">
                <a:latin typeface="Calibri" panose="020F0502020204030204" pitchFamily="34" charset="0"/>
              </a:defRPr>
            </a:lvl3pPr>
            <a:lvl4pPr>
              <a:defRPr sz="2000">
                <a:latin typeface="Calibri" panose="020F0502020204030204" pitchFamily="34" charset="0"/>
              </a:defRPr>
            </a:lvl4pPr>
            <a:lvl5pPr>
              <a:defRPr sz="200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10530418" y="-26987"/>
            <a:ext cx="1746249" cy="27559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b="0" dirty="0">
                <a:solidFill>
                  <a:schemeClr val="bg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Carnegie Mellon</a:t>
            </a:r>
            <a:endParaRPr lang="en-US" sz="1200" b="0" dirty="0">
              <a:solidFill>
                <a:schemeClr val="bg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1774458" y="6611780"/>
            <a:ext cx="38989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</a:fld>
            <a:endParaRPr kumimoji="0" lang="en-US" sz="1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2" name="TextBox 8"/>
          <p:cNvSpPr txBox="1"/>
          <p:nvPr userDrawn="1"/>
        </p:nvSpPr>
        <p:spPr>
          <a:xfrm>
            <a:off x="215" y="6553201"/>
            <a:ext cx="3434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>
                <a:solidFill>
                  <a:schemeClr val="tx1">
                    <a:tint val="75000"/>
                  </a:schemeClr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+mn-ea"/>
              </a:rPr>
              <a:t>计算机系统基础-深入理解计算机系统（第三版）</a:t>
            </a:r>
            <a:endParaRPr lang="zh-CN" altLang="en-US" sz="1200" b="0" i="0" dirty="0">
              <a:solidFill>
                <a:schemeClr val="tx1">
                  <a:tint val="75000"/>
                </a:schemeClr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Times New Roman Regular" panose="02020603050405020304" charset="0"/>
          <a:ea typeface="Microsoft YaHei" charset="0"/>
          <a:cs typeface="Times New Roman Regular" panose="02020603050405020304" charset="0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0">
          <a:solidFill>
            <a:schemeClr val="tx1"/>
          </a:solidFill>
          <a:latin typeface="Times New Roman Regular" panose="02020603050405020304" charset="0"/>
          <a:ea typeface="Microsoft YaHei" charset="0"/>
          <a:cs typeface="Times New Roman Regular" panose="0202060305040502030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Microsoft YaHei" charset="0"/>
          <a:cs typeface="Times New Roman Regular" panose="0202060305040502030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Microsoft YaHei" charset="0"/>
          <a:cs typeface="Times New Roman Regular" panose="0202060305040502030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0">
          <a:solidFill>
            <a:schemeClr val="tx1"/>
          </a:solidFill>
          <a:latin typeface="Times New Roman Regular" panose="02020603050405020304" charset="0"/>
          <a:ea typeface="Microsoft YaHei" charset="0"/>
          <a:cs typeface="Times New Roman Regular" panose="0202060305040502030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0">
          <a:solidFill>
            <a:schemeClr val="tx1"/>
          </a:solidFill>
          <a:latin typeface="Times New Roman Regular" panose="02020603050405020304" charset="0"/>
          <a:ea typeface="Microsoft YaHei" charset="0"/>
          <a:cs typeface="Times New Roman Regular" panose="0202060305040502030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09800" y="1708151"/>
            <a:ext cx="7772400" cy="1470025"/>
          </a:xfrm>
        </p:spPr>
        <p:txBody>
          <a:bodyPr/>
          <a:lstStyle/>
          <a:p>
            <a:pPr marL="0" indent="0"/>
            <a:r>
              <a:rPr lang="zh-CN" altLang="en-US" sz="4400" dirty="0">
                <a:cs typeface="仿宋" panose="02010609060101010101" pitchFamily="49" charset="-122"/>
              </a:rPr>
              <a:t>异常控制流：异常与进程</a:t>
            </a:r>
            <a:br>
              <a:rPr lang="en-US" dirty="0">
                <a:cs typeface="仿宋" panose="02010609060101010101" pitchFamily="49" charset="-122"/>
              </a:rPr>
            </a:br>
            <a:br>
              <a:rPr lang="en-US" sz="4000" dirty="0">
                <a:cs typeface="仿宋" panose="02010609060101010101" pitchFamily="49" charset="-122"/>
              </a:rPr>
            </a:br>
            <a:r>
              <a:rPr lang="zh-CN" altLang="en-US" sz="2800" dirty="0">
                <a:cs typeface="仿宋" panose="02010609060101010101" pitchFamily="49" charset="-122"/>
                <a:sym typeface="+mn-ea"/>
              </a:rPr>
              <a:t>计算机系统基础</a:t>
            </a:r>
            <a:endParaRPr lang="zh-CN" altLang="en-US" sz="2800" b="0" dirty="0">
              <a:cs typeface="仿宋" panose="02010609060101010101" pitchFamily="49" charset="-122"/>
              <a:sym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965200" y="8255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914400" y="3962400"/>
            <a:ext cx="10236656" cy="1752600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主要内容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cs typeface="Consolas" panose="020B0609020204030204" pitchFamily="49" charset="0"/>
              </a:rPr>
              <a:t>异常控制流</a:t>
            </a:r>
            <a:endParaRPr lang="en-US" sz="2800" dirty="0"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异常</a:t>
            </a:r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</a:t>
            </a:r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进程的管理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进程的状态和终止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进程的创建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子进程的回收与同步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创建不同的进程</a:t>
            </a:r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onsolas" panose="020B0609020204030204" pitchFamily="49" charset="0"/>
              </a:rPr>
              <a:t>控制流</a:t>
            </a:r>
            <a:endParaRPr lang="en-US">
              <a:cs typeface="Consolas" panose="020B0609020204030204" pitchFamily="49" charset="0"/>
            </a:endParaRPr>
          </a:p>
        </p:txBody>
      </p:sp>
      <p:sp>
        <p:nvSpPr>
          <p:cNvPr id="472067" name="Text Box 1027"/>
          <p:cNvSpPr txBox="1">
            <a:spLocks noChangeArrowheads="1"/>
          </p:cNvSpPr>
          <p:nvPr/>
        </p:nvSpPr>
        <p:spPr bwMode="auto">
          <a:xfrm>
            <a:off x="9301480" y="3613150"/>
            <a:ext cx="1130300" cy="267652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&lt;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启动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指令</a:t>
            </a:r>
            <a:r>
              <a:rPr lang="en-US" baseline="-250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1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指令</a:t>
            </a:r>
            <a:r>
              <a:rPr lang="en-US" baseline="-250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2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指令</a:t>
            </a:r>
            <a:r>
              <a:rPr lang="en-US" baseline="-250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3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…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指令</a:t>
            </a:r>
            <a:r>
              <a:rPr lang="en-US" baseline="-25000" dirty="0" err="1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n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&lt;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关闭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72068" name="Rectangle 1028"/>
          <p:cNvSpPr>
            <a:spLocks noGrp="1" noChangeArrowheads="1"/>
          </p:cNvSpPr>
          <p:nvPr>
            <p:ph idx="1"/>
          </p:nvPr>
        </p:nvSpPr>
        <p:spPr>
          <a:xfrm>
            <a:off x="529167" y="1362075"/>
            <a:ext cx="10528300" cy="1304925"/>
          </a:xfrm>
          <a:noFill/>
        </p:spPr>
        <p:txBody>
          <a:bodyPr vert="horz" wrap="square" lIns="90487" tIns="44450" rIns="90487" bIns="44450" numCol="1" anchor="t" anchorCtr="0" compatLnSpc="1"/>
          <a:lstStyle/>
          <a:p>
            <a:r>
              <a:rPr lang="en-US" dirty="0">
                <a:cs typeface="仿宋" panose="02010609060101010101" pitchFamily="49" charset="-122"/>
              </a:rPr>
              <a:t>处理器只做一件事</a:t>
            </a:r>
            <a:r>
              <a:rPr lang="zh-CN" altLang="en-US" dirty="0">
                <a:cs typeface="仿宋" panose="02010609060101010101" pitchFamily="49" charset="-122"/>
              </a:rPr>
              <a:t>：</a:t>
            </a:r>
            <a:endParaRPr lang="en-US" dirty="0">
              <a:cs typeface="仿宋" panose="02010609060101010101" pitchFamily="49" charset="-122"/>
            </a:endParaRPr>
          </a:p>
          <a:p>
            <a:pPr lvl="1"/>
            <a:r>
              <a:rPr lang="en-US" dirty="0">
                <a:cs typeface="仿宋" panose="02010609060101010101" pitchFamily="49" charset="-122"/>
              </a:rPr>
              <a:t>读取</a:t>
            </a:r>
            <a:r>
              <a:rPr lang="zh-CN" altLang="en-US" dirty="0">
                <a:cs typeface="仿宋" panose="02010609060101010101" pitchFamily="49" charset="-122"/>
              </a:rPr>
              <a:t>一条指令</a:t>
            </a:r>
            <a:endParaRPr lang="zh-CN" altLang="en-US" dirty="0">
              <a:cs typeface="仿宋" panose="02010609060101010101" pitchFamily="49" charset="-122"/>
            </a:endParaRPr>
          </a:p>
          <a:p>
            <a:pPr lvl="1"/>
            <a:r>
              <a:rPr lang="en-US" dirty="0">
                <a:cs typeface="仿宋" panose="02010609060101010101" pitchFamily="49" charset="-122"/>
              </a:rPr>
              <a:t>执行（解释）</a:t>
            </a:r>
            <a:r>
              <a:rPr lang="zh-CN" altLang="en-US" dirty="0">
                <a:cs typeface="仿宋" panose="02010609060101010101" pitchFamily="49" charset="-122"/>
              </a:rPr>
              <a:t>该</a:t>
            </a:r>
            <a:r>
              <a:rPr lang="en-US" dirty="0">
                <a:cs typeface="仿宋" panose="02010609060101010101" pitchFamily="49" charset="-122"/>
              </a:rPr>
              <a:t>指令</a:t>
            </a:r>
            <a:endParaRPr lang="en-US" dirty="0">
              <a:cs typeface="仿宋" panose="02010609060101010101" pitchFamily="49" charset="-122"/>
            </a:endParaRPr>
          </a:p>
          <a:p>
            <a:pPr lvl="1"/>
            <a:r>
              <a:rPr lang="zh-CN" altLang="en-US" dirty="0">
                <a:cs typeface="仿宋" panose="02010609060101010101" pitchFamily="49" charset="-122"/>
              </a:rPr>
              <a:t>准备下一条指令的地址</a:t>
            </a:r>
            <a:r>
              <a:rPr lang="en-US" altLang="zh-CN" dirty="0">
                <a:cs typeface="仿宋" panose="02010609060101010101" pitchFamily="49" charset="-122"/>
              </a:rPr>
              <a:t>，</a:t>
            </a:r>
            <a:r>
              <a:rPr lang="zh-CN" altLang="en-US" dirty="0">
                <a:cs typeface="仿宋" panose="02010609060101010101" pitchFamily="49" charset="-122"/>
              </a:rPr>
              <a:t>重复上述过程</a:t>
            </a:r>
            <a:endParaRPr lang="zh-CN" altLang="en-US" dirty="0">
              <a:cs typeface="仿宋" panose="02010609060101010101" pitchFamily="49" charset="-122"/>
            </a:endParaRPr>
          </a:p>
          <a:p>
            <a:pPr lvl="2"/>
            <a:r>
              <a:rPr lang="zh-CN" altLang="en-US" dirty="0">
                <a:cs typeface="仿宋" panose="02010609060101010101" pitchFamily="49" charset="-122"/>
                <a:sym typeface="+mn-ea"/>
              </a:rPr>
              <a:t>要么顺序执行</a:t>
            </a:r>
            <a:r>
              <a:rPr lang="en-US" altLang="zh-CN" dirty="0">
                <a:cs typeface="仿宋" panose="02010609060101010101" pitchFamily="49" charset="-122"/>
                <a:sym typeface="+mn-ea"/>
              </a:rPr>
              <a:t>，</a:t>
            </a:r>
            <a:r>
              <a:rPr lang="zh-CN" altLang="en-US" dirty="0">
                <a:cs typeface="仿宋" panose="02010609060101010101" pitchFamily="49" charset="-122"/>
                <a:sym typeface="+mn-ea"/>
              </a:rPr>
              <a:t>要么通过控制指令</a:t>
            </a:r>
            <a:r>
              <a:rPr lang="en-US" altLang="zh-CN" dirty="0">
                <a:cs typeface="仿宋" panose="02010609060101010101" pitchFamily="49" charset="-122"/>
                <a:sym typeface="+mn-ea"/>
              </a:rPr>
              <a:t>（jx、call、ret</a:t>
            </a:r>
            <a:r>
              <a:rPr lang="zh-CN" altLang="en-US" dirty="0">
                <a:cs typeface="仿宋" panose="02010609060101010101" pitchFamily="49" charset="-122"/>
                <a:sym typeface="+mn-ea"/>
              </a:rPr>
              <a:t>等</a:t>
            </a:r>
            <a:r>
              <a:rPr lang="en-US" altLang="zh-CN" dirty="0">
                <a:cs typeface="仿宋" panose="02010609060101010101" pitchFamily="49" charset="-122"/>
                <a:sym typeface="+mn-ea"/>
              </a:rPr>
              <a:t>）</a:t>
            </a:r>
            <a:r>
              <a:rPr lang="zh-CN" altLang="en-US" dirty="0">
                <a:cs typeface="仿宋" panose="02010609060101010101" pitchFamily="49" charset="-122"/>
                <a:sym typeface="+mn-ea"/>
              </a:rPr>
              <a:t>转移控制</a:t>
            </a:r>
            <a:endParaRPr lang="en-US" altLang="en-US" sz="2000" dirty="0">
              <a:cs typeface="仿宋" panose="02010609060101010101" pitchFamily="49" charset="-122"/>
            </a:endParaRPr>
          </a:p>
          <a:p>
            <a:pPr lvl="0"/>
            <a:r>
              <a:rPr lang="zh-CN" altLang="en-US" dirty="0">
                <a:cs typeface="仿宋" panose="02010609060101010101" pitchFamily="49" charset="-122"/>
              </a:rPr>
              <a:t>这些</a:t>
            </a:r>
            <a:r>
              <a:rPr lang="en-US" dirty="0">
                <a:cs typeface="仿宋" panose="02010609060101010101" pitchFamily="49" charset="-122"/>
              </a:rPr>
              <a:t>指令序列，构成了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CPU </a:t>
            </a:r>
            <a:r>
              <a:rPr lang="en-US" dirty="0">
                <a:cs typeface="仿宋" panose="02010609060101010101" pitchFamily="49" charset="-122"/>
              </a:rPr>
              <a:t>的控制流</a:t>
            </a:r>
            <a:endParaRPr lang="en-US" dirty="0">
              <a:cs typeface="仿宋" panose="02010609060101010101" pitchFamily="49" charset="-122"/>
            </a:endParaRPr>
          </a:p>
          <a:p>
            <a:pPr lvl="1"/>
            <a:endParaRPr lang="en-US" dirty="0">
              <a:cs typeface="仿宋" panose="02010609060101010101" pitchFamily="49" charset="-122"/>
            </a:endParaRPr>
          </a:p>
          <a:p>
            <a:pPr lvl="1"/>
            <a:endParaRPr lang="en-US" dirty="0">
              <a:cs typeface="仿宋" panose="02010609060101010101" pitchFamily="49" charset="-122"/>
            </a:endParaRPr>
          </a:p>
        </p:txBody>
      </p:sp>
      <p:sp>
        <p:nvSpPr>
          <p:cNvPr id="472069" name="Text Box 1029"/>
          <p:cNvSpPr txBox="1">
            <a:spLocks noChangeArrowheads="1"/>
          </p:cNvSpPr>
          <p:nvPr/>
        </p:nvSpPr>
        <p:spPr bwMode="auto">
          <a:xfrm>
            <a:off x="9301480" y="3048001"/>
            <a:ext cx="1755609" cy="46166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rgbClr val="C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物理控制流</a:t>
            </a:r>
            <a:endParaRPr lang="zh-CN" altLang="en-US" i="1" dirty="0">
              <a:solidFill>
                <a:srgbClr val="C00000"/>
              </a:solidFill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72071" name="Text Box 1031"/>
          <p:cNvSpPr txBox="1">
            <a:spLocks noChangeArrowheads="1"/>
          </p:cNvSpPr>
          <p:nvPr/>
        </p:nvSpPr>
        <p:spPr bwMode="auto">
          <a:xfrm>
            <a:off x="7426353" y="4523086"/>
            <a:ext cx="1127232" cy="46166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时间轴</a:t>
            </a:r>
            <a:endParaRPr lang="zh-CN" alt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>
            <a:off x="8549005" y="3765550"/>
            <a:ext cx="457200" cy="23622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66800" y="4029075"/>
            <a:ext cx="5795010" cy="18351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600"/>
              </a:spcBef>
              <a:spcAft>
                <a:spcPts val="1600"/>
              </a:spcAft>
            </a:pPr>
            <a:r>
              <a:rPr sz="2000" b="0" i="0">
                <a:solidFill>
                  <a:srgbClr val="0F1115"/>
                </a:solidFill>
                <a:latin typeface="quote-cjk-patch"/>
                <a:ea typeface="quote-cjk-patch"/>
              </a:rPr>
              <a:t>模式是经典的 REPL（Read-Eval-Print Loop）：</a:t>
            </a:r>
            <a:endParaRPr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r>
              <a:rPr sz="2000" b="0" i="0">
                <a:solidFill>
                  <a:srgbClr val="0F1115"/>
                </a:solidFill>
                <a:latin typeface="quote-cjk-patch"/>
                <a:ea typeface="quote-cjk-patch"/>
              </a:rPr>
              <a:t>R</a:t>
            </a:r>
            <a:r>
              <a:rPr sz="2000" b="0" i="0">
                <a:solidFill>
                  <a:srgbClr val="0F1115"/>
                </a:solidFill>
                <a:latin typeface="quote-cjk-patch"/>
                <a:ea typeface="quote-cjk-patch"/>
              </a:rPr>
              <a:t>ead：读取命令</a:t>
            </a:r>
            <a:endParaRPr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r>
              <a:rPr sz="2000" b="0" i="0">
                <a:solidFill>
                  <a:srgbClr val="0F1115"/>
                </a:solidFill>
                <a:latin typeface="quote-cjk-patch"/>
                <a:ea typeface="quote-cjk-patch"/>
              </a:rPr>
              <a:t>E</a:t>
            </a:r>
            <a:r>
              <a:rPr sz="2000" b="0" i="0">
                <a:solidFill>
                  <a:srgbClr val="0F1115"/>
                </a:solidFill>
                <a:latin typeface="quote-cjk-patch"/>
                <a:ea typeface="quote-cjk-patch"/>
              </a:rPr>
              <a:t>val：执行命令</a:t>
            </a:r>
            <a:endParaRPr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r>
              <a:rPr sz="2000" b="0" i="0">
                <a:solidFill>
                  <a:srgbClr val="0F1115"/>
                </a:solidFill>
                <a:latin typeface="quote-cjk-patch"/>
                <a:ea typeface="quote-cjk-patch"/>
              </a:rPr>
              <a:t>Print：打印结果（通常在 eval 内部完成）</a:t>
            </a:r>
            <a:endParaRPr sz="20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r>
              <a:rPr sz="2000" b="0" i="0">
                <a:solidFill>
                  <a:srgbClr val="0F1115"/>
                </a:solidFill>
                <a:latin typeface="quote-cjk-patch"/>
                <a:ea typeface="quote-cjk-patch"/>
              </a:rPr>
              <a:t>Loop：重复上述过程</a:t>
            </a:r>
            <a:endParaRPr sz="20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onsolas" panose="020B0609020204030204" pitchFamily="49" charset="0"/>
              </a:rPr>
              <a:t>改变控制流</a:t>
            </a:r>
            <a:endParaRPr lang="en-US" dirty="0">
              <a:cs typeface="Consolas" panose="020B0609020204030204" pitchFamily="49" charset="0"/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Consolas" panose="020B0609020204030204" pitchFamily="49" charset="0"/>
              </a:rPr>
              <a:t>默认按照顺序执行控制流</a:t>
            </a:r>
            <a:endParaRPr lang="en-US" dirty="0">
              <a:cs typeface="Consolas" panose="020B0609020204030204" pitchFamily="49" charset="0"/>
            </a:endParaRPr>
          </a:p>
          <a:p>
            <a:r>
              <a:rPr lang="en-US" dirty="0">
                <a:cs typeface="Consolas" panose="020B0609020204030204" pitchFamily="49" charset="0"/>
              </a:rPr>
              <a:t>到目前为止，有两种机制可以</a:t>
            </a:r>
            <a:r>
              <a:rPr lang="zh-CN" altLang="en-US" b="1" dirty="0">
                <a:cs typeface="Consolas" panose="020B0609020204030204" pitchFamily="49" charset="0"/>
              </a:rPr>
              <a:t>正常</a:t>
            </a:r>
            <a:r>
              <a:rPr lang="zh-CN" altLang="en-US" dirty="0">
                <a:cs typeface="Consolas" panose="020B0609020204030204" pitchFamily="49" charset="0"/>
              </a:rPr>
              <a:t>地</a:t>
            </a:r>
            <a:r>
              <a:rPr lang="en-US" dirty="0">
                <a:cs typeface="Consolas" panose="020B0609020204030204" pitchFamily="49" charset="0"/>
              </a:rPr>
              <a:t>改变控制流</a:t>
            </a:r>
            <a:r>
              <a:rPr lang="zh-CN" altLang="en-US" dirty="0">
                <a:cs typeface="Consolas" panose="020B0609020204030204" pitchFamily="49" charset="0"/>
              </a:rPr>
              <a:t>：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cs typeface="Consolas" panose="020B0609020204030204" pitchFamily="49" charset="0"/>
              </a:rPr>
              <a:t>跳转和分支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cs typeface="Consolas" panose="020B0609020204030204" pitchFamily="49" charset="0"/>
              </a:rPr>
              <a:t>调用和返回</a:t>
            </a:r>
            <a:endParaRPr lang="en-US" dirty="0">
              <a:cs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cs typeface="Consolas" panose="020B0609020204030204" pitchFamily="49" charset="0"/>
              </a:rPr>
              <a:t>响应</a:t>
            </a:r>
            <a:r>
              <a:rPr lang="zh-CN" altLang="en-US" b="1" i="1" dirty="0">
                <a:solidFill>
                  <a:srgbClr val="C00000"/>
                </a:solidFill>
                <a:cs typeface="Consolas" panose="020B0609020204030204" pitchFamily="49" charset="0"/>
              </a:rPr>
              <a:t>程序状态</a:t>
            </a:r>
            <a:r>
              <a:rPr lang="zh-CN" altLang="en-US" dirty="0">
                <a:cs typeface="Consolas" panose="020B0609020204030204" pitchFamily="49" charset="0"/>
                <a:sym typeface="+mn-ea"/>
              </a:rPr>
              <a:t>的变化</a:t>
            </a:r>
            <a:endParaRPr lang="en-US" b="1" i="1" dirty="0">
              <a:solidFill>
                <a:srgbClr val="C00000"/>
              </a:solidFill>
              <a:cs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dirty="0">
              <a:cs typeface="Consolas" panose="020B0609020204030204" pitchFamily="49" charset="0"/>
            </a:endParaRPr>
          </a:p>
          <a:p>
            <a:r>
              <a:rPr lang="en-US" dirty="0" err="1">
                <a:cs typeface="Consolas" panose="020B0609020204030204" pitchFamily="49" charset="0"/>
              </a:rPr>
              <a:t>对于构建一个实用的系统来说还不足够：难以响应</a:t>
            </a:r>
            <a:r>
              <a:rPr lang="en-US" i="1" dirty="0" err="1">
                <a:solidFill>
                  <a:srgbClr val="C00000"/>
                </a:solidFill>
                <a:cs typeface="Consolas" panose="020B0609020204030204" pitchFamily="49" charset="0"/>
              </a:rPr>
              <a:t>系统状态</a:t>
            </a:r>
            <a:r>
              <a:rPr lang="en-US" dirty="0" err="1">
                <a:cs typeface="Consolas" panose="020B0609020204030204" pitchFamily="49" charset="0"/>
              </a:rPr>
              <a:t>的变化</a:t>
            </a:r>
            <a:endParaRPr lang="en-US" i="1" dirty="0">
              <a:solidFill>
                <a:srgbClr val="C00000"/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cs typeface="Consolas" panose="020B0609020204030204" pitchFamily="49" charset="0"/>
              </a:rPr>
              <a:t>切换到内核代码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数据从磁盘或网络适配器到达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指令发生除零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cs typeface="Consolas" panose="020B0609020204030204" pitchFamily="49" charset="0"/>
              </a:rPr>
              <a:t>用户按下键盘上的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Ctrl-C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cs typeface="Consolas" panose="020B0609020204030204" pitchFamily="49" charset="0"/>
              </a:rPr>
              <a:t>系统定时器到时</a:t>
            </a:r>
            <a:endParaRPr lang="en-US" dirty="0">
              <a:cs typeface="Consolas" panose="020B0609020204030204" pitchFamily="49" charset="0"/>
            </a:endParaRPr>
          </a:p>
          <a:p>
            <a:r>
              <a:rPr lang="en-US" dirty="0">
                <a:cs typeface="Consolas" panose="020B0609020204030204" pitchFamily="49" charset="0"/>
              </a:rPr>
              <a:t>系统需要“异常控制流”机制</a:t>
            </a:r>
            <a:endParaRPr lang="en-US" dirty="0"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onsolas" panose="020B0609020204030204" pitchFamily="49" charset="0"/>
                <a:sym typeface="+mn-ea"/>
              </a:rPr>
              <a:t>异常控制流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4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Consolas" panose="020B0609020204030204" pitchFamily="49" charset="0"/>
              </a:rPr>
              <a:t>发生在</a:t>
            </a:r>
            <a:r>
              <a:rPr lang="en-US" dirty="0">
                <a:cs typeface="Consolas" panose="020B0609020204030204" pitchFamily="49" charset="0"/>
              </a:rPr>
              <a:t>计算机系统的</a:t>
            </a:r>
            <a:r>
              <a:rPr lang="zh-CN" altLang="en-US" dirty="0">
                <a:cs typeface="Consolas" panose="020B0609020204030204" pitchFamily="49" charset="0"/>
              </a:rPr>
              <a:t>各个层次</a:t>
            </a:r>
            <a:endParaRPr lang="en-US" dirty="0">
              <a:cs typeface="Consolas" panose="020B0609020204030204" pitchFamily="49" charset="0"/>
            </a:endParaRPr>
          </a:p>
          <a:p>
            <a:r>
              <a:rPr lang="en-US" dirty="0">
                <a:cs typeface="Consolas" panose="020B0609020204030204" pitchFamily="49" charset="0"/>
              </a:rPr>
              <a:t>低</a:t>
            </a:r>
            <a:r>
              <a:rPr lang="zh-CN" altLang="en-US" dirty="0">
                <a:cs typeface="Consolas" panose="020B0609020204030204" pitchFamily="49" charset="0"/>
              </a:rPr>
              <a:t>层次</a:t>
            </a:r>
            <a:r>
              <a:rPr lang="en-US" dirty="0">
                <a:cs typeface="Consolas" panose="020B0609020204030204" pitchFamily="49" charset="0"/>
              </a:rPr>
              <a:t>机制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1.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异常</a:t>
            </a:r>
            <a:endParaRPr lang="en-US" b="1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2"/>
            <a:r>
              <a:rPr lang="en-US" dirty="0" err="1">
                <a:cs typeface="Consolas" panose="020B0609020204030204" pitchFamily="49" charset="0"/>
              </a:rPr>
              <a:t>为响应系统事件（即系统状态变化）引发的控制流变化——</a:t>
            </a:r>
            <a:r>
              <a:rPr lang="zh-CN" altLang="en-US" b="1" dirty="0" err="1">
                <a:cs typeface="Consolas" panose="020B0609020204030204" pitchFamily="49" charset="0"/>
              </a:rPr>
              <a:t>控制流转移到内核</a:t>
            </a:r>
            <a:endParaRPr lang="en-US" b="1" dirty="0">
              <a:cs typeface="Consolas" panose="020B0609020204030204" pitchFamily="49" charset="0"/>
            </a:endParaRPr>
          </a:p>
          <a:p>
            <a:pPr lvl="2"/>
            <a:r>
              <a:rPr lang="en-US" dirty="0">
                <a:cs typeface="Consolas" panose="020B0609020204030204" pitchFamily="49" charset="0"/>
              </a:rPr>
              <a:t>通过硬件和操作系统软件的结合实现	</a:t>
            </a:r>
            <a:endParaRPr lang="en-US" dirty="0">
              <a:cs typeface="Consolas" panose="020B0609020204030204" pitchFamily="49" charset="0"/>
            </a:endParaRPr>
          </a:p>
          <a:p>
            <a:r>
              <a:rPr lang="en-US" dirty="0">
                <a:cs typeface="Consolas" panose="020B0609020204030204" pitchFamily="49" charset="0"/>
              </a:rPr>
              <a:t>高</a:t>
            </a:r>
            <a:r>
              <a:rPr lang="zh-CN" altLang="en-US" dirty="0">
                <a:cs typeface="Consolas" panose="020B0609020204030204" pitchFamily="49" charset="0"/>
              </a:rPr>
              <a:t>层次</a:t>
            </a:r>
            <a:r>
              <a:rPr lang="en-US" dirty="0">
                <a:cs typeface="Consolas" panose="020B0609020204030204" pitchFamily="49" charset="0"/>
              </a:rPr>
              <a:t>机制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2.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进程上下文切换</a:t>
            </a:r>
            <a:endParaRPr lang="en-US" b="1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2"/>
            <a:r>
              <a:rPr lang="en-US" dirty="0">
                <a:cs typeface="Consolas" panose="020B0609020204030204" pitchFamily="49" charset="0"/>
              </a:rPr>
              <a:t>通过操作系统软件和硬件定时器实现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3. </a:t>
            </a:r>
            <a:r>
              <a:rPr lang="zh-CN" alt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信号</a:t>
            </a:r>
            <a:endParaRPr lang="en-US" b="1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2"/>
            <a:r>
              <a:rPr lang="en-US" dirty="0">
                <a:cs typeface="Consolas" panose="020B0609020204030204" pitchFamily="49" charset="0"/>
              </a:rPr>
              <a:t>通过操作系统软件实现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4.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非本地跳转</a:t>
            </a:r>
            <a:endParaRPr lang="en-US" b="1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2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setjmp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longjmp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dirty="0">
                <a:cs typeface="Consolas" panose="020B0609020204030204" pitchFamily="49" charset="0"/>
              </a:rPr>
              <a:t>由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 </a:t>
            </a:r>
            <a:r>
              <a:rPr lang="en-US" dirty="0">
                <a:cs typeface="Consolas" panose="020B0609020204030204" pitchFamily="49" charset="0"/>
              </a:rPr>
              <a:t>运行时库实现</a:t>
            </a:r>
            <a:endParaRPr lang="en-US" dirty="0"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主要内容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cs typeface="Consolas" panose="020B0609020204030204" pitchFamily="49" charset="0"/>
              </a:rPr>
              <a:t>异常控制流</a:t>
            </a:r>
            <a:endParaRPr lang="en-US" sz="2800" dirty="0"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tx1"/>
                </a:solidFill>
                <a:cs typeface="Consolas" panose="020B0609020204030204" pitchFamily="49" charset="0"/>
              </a:rPr>
              <a:t>异常</a:t>
            </a:r>
            <a:endParaRPr lang="en-US" sz="2330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</a:t>
            </a:r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进程的管理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进程的状态和终止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进程的创建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子进程的回收与同步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创建不同的进程</a:t>
            </a:r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 bwMode="auto">
          <a:xfrm>
            <a:off x="2349501" y="3200400"/>
            <a:ext cx="8089898" cy="29718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1294" tIns="45647" rIns="91294" bIns="45647" numCol="1" anchor="t" anchorCtr="0" compatLnSpc="1"/>
          <a:lstStyle/>
          <a:p>
            <a:r>
              <a:rPr lang="zh-CN" altLang="en-US">
                <a:latin typeface="Consolas" panose="020B0609020204030204" pitchFamily="49" charset="0"/>
                <a:cs typeface="Consolas" panose="020B0609020204030204" pitchFamily="49" charset="0"/>
              </a:rPr>
              <a:t>异常</a:t>
            </a:r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zh-CN" altLang="en-US" i="1" dirty="0">
                <a:solidFill>
                  <a:srgbClr val="C00000"/>
                </a:solidFill>
                <a:cs typeface="Consolas" panose="020B0609020204030204" pitchFamily="49" charset="0"/>
              </a:rPr>
              <a:t>异常</a:t>
            </a:r>
            <a:r>
              <a:rPr lang="en-US" dirty="0" err="1">
                <a:cs typeface="Consolas" panose="020B0609020204030204" pitchFamily="49" charset="0"/>
              </a:rPr>
              <a:t>是指在响应某些事件（即处理器状态变化）时，控制流被转移到操作系统内核的过程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内核是操作系统中常驻内存的部分</a:t>
            </a:r>
            <a:endParaRPr lang="en-US" dirty="0"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事件示例：</a:t>
            </a:r>
            <a:r>
              <a:rPr lang="zh-CN" altLang="en-US" dirty="0">
                <a:cs typeface="Consolas" panose="020B0609020204030204" pitchFamily="49" charset="0"/>
              </a:rPr>
              <a:t>除</a:t>
            </a:r>
            <a:r>
              <a:rPr lang="en-US" dirty="0" err="1">
                <a:cs typeface="Consolas" panose="020B0609020204030204" pitchFamily="49" charset="0"/>
              </a:rPr>
              <a:t>零</a:t>
            </a:r>
            <a:r>
              <a:rPr lang="zh-CN" altLang="en-US" dirty="0">
                <a:cs typeface="Consolas" panose="020B0609020204030204" pitchFamily="49" charset="0"/>
              </a:rPr>
              <a:t>，</a:t>
            </a:r>
            <a:r>
              <a:rPr lang="en-US" dirty="0">
                <a:cs typeface="Consolas" panose="020B0609020204030204" pitchFamily="49" charset="0"/>
              </a:rPr>
              <a:t>算术溢出</a:t>
            </a:r>
            <a:r>
              <a:rPr lang="zh-CN" altLang="en-US" dirty="0">
                <a:cs typeface="Consolas" panose="020B0609020204030204" pitchFamily="49" charset="0"/>
              </a:rPr>
              <a:t>，缺页异常，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I/O </a:t>
            </a:r>
            <a:r>
              <a:rPr lang="en-US" dirty="0">
                <a:cs typeface="Consolas" panose="020B0609020204030204" pitchFamily="49" charset="0"/>
              </a:rPr>
              <a:t>请求完成</a:t>
            </a:r>
            <a:r>
              <a:rPr lang="zh-CN" altLang="en-US" dirty="0">
                <a:cs typeface="Consolas" panose="020B0609020204030204" pitchFamily="49" charset="0"/>
              </a:rPr>
              <a:t>，</a:t>
            </a:r>
            <a:r>
              <a:rPr lang="en-US" dirty="0">
                <a:cs typeface="Consolas" panose="020B0609020204030204" pitchFamily="49" charset="0"/>
              </a:rPr>
              <a:t>用户按下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Ctrl-C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4" name="Rectangle 4"/>
          <p:cNvSpPr>
            <a:spLocks noChangeArrowheads="1"/>
          </p:cNvSpPr>
          <p:nvPr/>
        </p:nvSpPr>
        <p:spPr bwMode="auto">
          <a:xfrm>
            <a:off x="4047793" y="3281374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SimSun" pitchFamily="2" charset="-122"/>
                <a:cs typeface="Consolas" panose="020B0609020204030204" pitchFamily="49" charset="0"/>
              </a:rPr>
              <a:t>用户代码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SimSun" pitchFamily="2" charset="-122"/>
              <a:cs typeface="Consolas" panose="020B0609020204030204" pitchFamily="49" charset="0"/>
            </a:endParaRPr>
          </a:p>
        </p:txBody>
      </p:sp>
      <p:sp>
        <p:nvSpPr>
          <p:cNvPr id="476165" name="Rectangle 5"/>
          <p:cNvSpPr>
            <a:spLocks noChangeArrowheads="1"/>
          </p:cNvSpPr>
          <p:nvPr/>
        </p:nvSpPr>
        <p:spPr bwMode="auto">
          <a:xfrm>
            <a:off x="6709974" y="3281374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SimSun" pitchFamily="2" charset="-122"/>
                <a:cs typeface="Consolas" panose="020B0609020204030204" pitchFamily="49" charset="0"/>
              </a:rPr>
              <a:t>内核代码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SimSun" pitchFamily="2" charset="-122"/>
              <a:cs typeface="Consolas" panose="020B0609020204030204" pitchFamily="49" charset="0"/>
            </a:endParaRPr>
          </a:p>
        </p:txBody>
      </p:sp>
      <p:sp>
        <p:nvSpPr>
          <p:cNvPr id="476166" name="Line 6"/>
          <p:cNvSpPr>
            <a:spLocks noChangeShapeType="1"/>
          </p:cNvSpPr>
          <p:nvPr/>
        </p:nvSpPr>
        <p:spPr bwMode="auto">
          <a:xfrm>
            <a:off x="4757738" y="3794125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7" name="Line 7"/>
          <p:cNvSpPr>
            <a:spLocks noChangeShapeType="1"/>
          </p:cNvSpPr>
          <p:nvPr/>
        </p:nvSpPr>
        <p:spPr bwMode="auto">
          <a:xfrm>
            <a:off x="4764088" y="4398963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8" name="Line 8"/>
          <p:cNvSpPr>
            <a:spLocks noChangeShapeType="1"/>
          </p:cNvSpPr>
          <p:nvPr/>
        </p:nvSpPr>
        <p:spPr bwMode="auto">
          <a:xfrm>
            <a:off x="7577138" y="4405313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9" name="Line 9"/>
          <p:cNvSpPr>
            <a:spLocks noChangeShapeType="1"/>
          </p:cNvSpPr>
          <p:nvPr/>
        </p:nvSpPr>
        <p:spPr bwMode="auto">
          <a:xfrm flipH="1" flipV="1">
            <a:off x="4751388" y="4468813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0" name="Line 10"/>
          <p:cNvSpPr>
            <a:spLocks noChangeShapeType="1"/>
          </p:cNvSpPr>
          <p:nvPr/>
        </p:nvSpPr>
        <p:spPr bwMode="auto">
          <a:xfrm>
            <a:off x="4757738" y="4495800"/>
            <a:ext cx="0" cy="1512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1" name="Rectangle 11"/>
          <p:cNvSpPr>
            <a:spLocks noChangeArrowheads="1"/>
          </p:cNvSpPr>
          <p:nvPr/>
        </p:nvSpPr>
        <p:spPr bwMode="auto">
          <a:xfrm>
            <a:off x="5626100" y="4071939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异常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sp>
        <p:nvSpPr>
          <p:cNvPr id="476172" name="Rectangle 12"/>
          <p:cNvSpPr>
            <a:spLocks noChangeArrowheads="1"/>
          </p:cNvSpPr>
          <p:nvPr/>
        </p:nvSpPr>
        <p:spPr bwMode="auto">
          <a:xfrm>
            <a:off x="7607299" y="4344989"/>
            <a:ext cx="2832100" cy="6413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异常处理</a:t>
            </a:r>
            <a:r>
              <a:rPr lang="zh-CN" altLang="en-US" sz="180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：</a:t>
            </a:r>
            <a:endParaRPr lang="zh-CN" altLang="en-US" sz="1800" i="1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80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由异常处理程序完成</a:t>
            </a:r>
            <a:endParaRPr lang="en-US" sz="1800" i="1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sp>
        <p:nvSpPr>
          <p:cNvPr id="476173" name="Rectangle 13"/>
          <p:cNvSpPr>
            <a:spLocks noChangeArrowheads="1"/>
          </p:cNvSpPr>
          <p:nvPr/>
        </p:nvSpPr>
        <p:spPr bwMode="auto">
          <a:xfrm>
            <a:off x="4918961" y="5030985"/>
            <a:ext cx="2199303" cy="92075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800" b="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  <a:sym typeface="+mn-ea"/>
              </a:rPr>
              <a:t>返回</a:t>
            </a:r>
            <a:r>
              <a:rPr lang="en-US" sz="1800" b="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-US" sz="1800" b="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I_current</a:t>
            </a:r>
            <a:endParaRPr lang="zh-CN" altLang="en-US" sz="1800" b="0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800" b="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返回</a:t>
            </a:r>
            <a:r>
              <a:rPr 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I_next</a:t>
            </a:r>
            <a:endParaRPr 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800" b="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程序中止</a:t>
            </a:r>
            <a:endParaRPr lang="zh-CN" altLang="en-US" sz="1800" b="0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sp>
        <p:nvSpPr>
          <p:cNvPr id="476174" name="Rectangle 14"/>
          <p:cNvSpPr>
            <a:spLocks noChangeArrowheads="1"/>
          </p:cNvSpPr>
          <p:nvPr/>
        </p:nvSpPr>
        <p:spPr bwMode="auto">
          <a:xfrm>
            <a:off x="2371890" y="4130567"/>
            <a:ext cx="997113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i="1" dirty="0">
                <a:solidFill>
                  <a:srgbClr val="C00000"/>
                </a:solidFill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事件</a:t>
            </a:r>
            <a:r>
              <a:rPr lang="en-US" sz="18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800" i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5" name="Text Box 15"/>
          <p:cNvSpPr txBox="1">
            <a:spLocks noChangeArrowheads="1"/>
          </p:cNvSpPr>
          <p:nvPr/>
        </p:nvSpPr>
        <p:spPr bwMode="auto">
          <a:xfrm>
            <a:off x="3733800" y="4167352"/>
            <a:ext cx="106299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I_current</a:t>
            </a:r>
            <a:endParaRPr lang="en-US" sz="14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6" name="Text Box 16"/>
          <p:cNvSpPr txBox="1">
            <a:spLocks noChangeArrowheads="1"/>
          </p:cNvSpPr>
          <p:nvPr/>
        </p:nvSpPr>
        <p:spPr bwMode="auto">
          <a:xfrm>
            <a:off x="3950974" y="4372711"/>
            <a:ext cx="76962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I_next</a:t>
            </a:r>
            <a:endParaRPr lang="en-US" sz="14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7" name="Line 17"/>
          <p:cNvSpPr>
            <a:spLocks noChangeShapeType="1"/>
          </p:cNvSpPr>
          <p:nvPr/>
        </p:nvSpPr>
        <p:spPr bwMode="auto">
          <a:xfrm>
            <a:off x="3124200" y="4316023"/>
            <a:ext cx="6858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7" grpId="0" animBg="1"/>
      <p:bldP spid="476168" grpId="0" animBg="1"/>
      <p:bldP spid="476169" grpId="0" animBg="1"/>
      <p:bldP spid="476170" grpId="0" animBg="1"/>
      <p:bldP spid="476171" grpId="0" bldLvl="0" animBg="1"/>
      <p:bldP spid="476172" grpId="0" bldLvl="0" animBg="1"/>
      <p:bldP spid="476173" grpId="0" bldLvl="0" animBg="1"/>
      <p:bldP spid="476174" grpId="0" bldLvl="0" animBg="1"/>
      <p:bldP spid="476176" grpId="0" bldLvl="0" animBg="1"/>
      <p:bldP spid="4761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13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</a:t>
            </a:r>
            <a:r>
              <a:rPr lang="zh-CN" altLang="en-US" dirty="0"/>
              <a:t>的处理</a:t>
            </a:r>
            <a:r>
              <a:rPr lang="en-US" altLang="zh-CN" dirty="0"/>
              <a:t>：</a:t>
            </a:r>
            <a:r>
              <a:rPr lang="zh-CN" altLang="en-US" dirty="0"/>
              <a:t>异常表</a:t>
            </a:r>
            <a:endParaRPr lang="zh-CN" altLang="en-US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982788" y="3501862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982788" y="3730462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982788" y="3959062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2551113" y="4022562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690687" y="3434185"/>
            <a:ext cx="296876" cy="338554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690687" y="3637385"/>
            <a:ext cx="296876" cy="338554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690687" y="3891385"/>
            <a:ext cx="296876" cy="338554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2376488" y="3971762"/>
            <a:ext cx="436562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latin typeface="Arial" panose="020B0704020202020204" pitchFamily="34" charset="0"/>
              </a:rPr>
              <a:t>...</a:t>
            </a:r>
            <a:endParaRPr lang="en-US" sz="2400">
              <a:latin typeface="Arial" panose="020B0704020202020204" pitchFamily="34" charset="0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1982788" y="4441662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1524000" y="4373986"/>
            <a:ext cx="521297" cy="338554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n-1</a:t>
            </a: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2551113" y="3590762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Oval 20"/>
          <p:cNvSpPr>
            <a:spLocks noChangeArrowheads="1"/>
          </p:cNvSpPr>
          <p:nvPr/>
        </p:nvSpPr>
        <p:spPr bwMode="auto">
          <a:xfrm>
            <a:off x="2551113" y="3806662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Oval 25"/>
          <p:cNvSpPr>
            <a:spLocks noChangeArrowheads="1"/>
          </p:cNvSpPr>
          <p:nvPr/>
        </p:nvSpPr>
        <p:spPr bwMode="auto">
          <a:xfrm>
            <a:off x="2551113" y="4505162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Rectangle 30"/>
          <p:cNvSpPr txBox="1">
            <a:spLocks noChangeArrowheads="1"/>
          </p:cNvSpPr>
          <p:nvPr/>
        </p:nvSpPr>
        <p:spPr bwMode="auto">
          <a:xfrm>
            <a:off x="6553200" y="2286000"/>
            <a:ext cx="3810000" cy="32224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just"/>
            <a:r>
              <a:rPr lang="zh-CN" alt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每种类型的事件都有一个唯一的异常号</a:t>
            </a:r>
            <a:r>
              <a:rPr lang="en-US" altLang="zh-CN" sz="2000" b="0" kern="0" dirty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k</a:t>
            </a:r>
            <a:endParaRPr lang="en-US" sz="2000" b="0" kern="0" dirty="0">
              <a:latin typeface="Microsoft YaHei" charset="0"/>
              <a:ea typeface="Microsoft YaHei" charset="0"/>
              <a:cs typeface="Microsoft YaHei" charset="0"/>
            </a:endParaRPr>
          </a:p>
          <a:p>
            <a:pPr algn="just"/>
            <a:endParaRPr lang="en-US" sz="2000" b="0" kern="0" dirty="0">
              <a:latin typeface="Microsoft YaHei" charset="0"/>
              <a:ea typeface="Microsoft YaHei" charset="0"/>
              <a:cs typeface="Microsoft YaHei" charset="0"/>
            </a:endParaRPr>
          </a:p>
          <a:p>
            <a:pPr algn="just"/>
            <a:r>
              <a:rPr 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k = </a:t>
            </a:r>
            <a:r>
              <a:rPr lang="zh-CN" alt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在异常表中的索引（又称中断向量）</a:t>
            </a:r>
            <a:endParaRPr lang="zh-CN" altLang="en-US" sz="2000" b="0" kern="0" dirty="0">
              <a:latin typeface="Microsoft YaHei" charset="0"/>
              <a:ea typeface="Microsoft YaHei" charset="0"/>
              <a:cs typeface="Microsoft YaHei" charset="0"/>
            </a:endParaRPr>
          </a:p>
          <a:p>
            <a:pPr algn="just"/>
            <a:endParaRPr lang="en-US" sz="2000" b="0" kern="0" dirty="0">
              <a:latin typeface="Microsoft YaHei" charset="0"/>
              <a:ea typeface="Microsoft YaHei" charset="0"/>
              <a:cs typeface="Microsoft YaHei" charset="0"/>
            </a:endParaRPr>
          </a:p>
          <a:p>
            <a:pPr algn="just"/>
            <a:r>
              <a:rPr lang="zh-CN" alt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每次发生异常</a:t>
            </a:r>
            <a:r>
              <a:rPr 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 k </a:t>
            </a:r>
            <a:r>
              <a:rPr lang="zh-CN" alt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时，都会调用对应的处理程序</a:t>
            </a:r>
            <a:r>
              <a:rPr lang="en-US" sz="2000" b="0" kern="0" dirty="0">
                <a:latin typeface="Microsoft YaHei" charset="0"/>
                <a:ea typeface="Microsoft YaHei" charset="0"/>
                <a:cs typeface="Microsoft YaHei" charset="0"/>
              </a:rPr>
              <a:t> k</a:t>
            </a:r>
            <a:endParaRPr lang="en-US" sz="2000" b="0" kern="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982919" y="2978077"/>
            <a:ext cx="889650" cy="366759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latin typeface="FangSong" panose="02010609060101010101" pitchFamily="49" charset="-122"/>
                <a:ea typeface="FangSong" panose="02010609060101010101" pitchFamily="49" charset="-122"/>
              </a:rPr>
              <a:t>异常表</a:t>
            </a:r>
            <a:endParaRPr lang="zh-CN" altLang="en-US" sz="18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 flipV="1">
            <a:off x="2592388" y="3743162"/>
            <a:ext cx="1219200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 flipV="1">
            <a:off x="2592388" y="2371562"/>
            <a:ext cx="1219200" cy="1257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3811588" y="2371562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异常处理程序</a:t>
            </a:r>
            <a:r>
              <a:rPr 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0 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的代码</a:t>
            </a:r>
            <a:endParaRPr lang="zh-CN" alt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3811588" y="3057362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异常处理程序</a:t>
            </a:r>
            <a:r>
              <a:rPr 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 1 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的代码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V="1">
            <a:off x="2592388" y="3057362"/>
            <a:ext cx="1219200" cy="793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811588" y="3743162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异常处理程序</a:t>
            </a:r>
            <a:r>
              <a:rPr 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 2 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的代码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3811588" y="5051262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异常处理程序</a:t>
            </a:r>
            <a:r>
              <a:rPr 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 n-1 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的代码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4724400" y="4350530"/>
            <a:ext cx="694421" cy="4616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...</a:t>
            </a:r>
            <a:endParaRPr lang="en-US" sz="24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2592388" y="4549612"/>
            <a:ext cx="1219200" cy="50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1237578" y="1741364"/>
            <a:ext cx="1354810" cy="36933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异常编号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29" name="Straight Arrow Connector 28"/>
          <p:cNvCxnSpPr/>
          <p:nvPr/>
        </p:nvCxnSpPr>
        <p:spPr bwMode="auto">
          <a:xfrm rot="5400000">
            <a:off x="1246706" y="2783012"/>
            <a:ext cx="1336100" cy="1588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文本框 1"/>
          <p:cNvSpPr txBox="1"/>
          <p:nvPr/>
        </p:nvSpPr>
        <p:spPr>
          <a:xfrm>
            <a:off x="4267200" y="601980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CN" altLang="en-US" sz="2000" b="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思考</a:t>
            </a:r>
            <a:r>
              <a:rPr lang="en-US" altLang="zh-CN" sz="2000" b="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：</a:t>
            </a:r>
            <a:r>
              <a:rPr lang="zh-CN" altLang="en-US" sz="2000" b="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跟</a:t>
            </a:r>
            <a:r>
              <a:rPr lang="en-US" altLang="zh-CN" sz="2000" b="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switch</a:t>
            </a:r>
            <a:r>
              <a:rPr lang="zh-CN" altLang="en-US" sz="2000" b="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跳转表类似的优化原理</a:t>
            </a:r>
            <a:r>
              <a:rPr lang="en-US" altLang="zh-CN" sz="2000" b="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...</a:t>
            </a:r>
            <a:endParaRPr lang="en-US" altLang="zh-CN" sz="2000" b="0" kern="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异步异常（</a:t>
            </a:r>
            <a:r>
              <a:rPr lang="zh-CN" altLang="en-US">
                <a:solidFill>
                  <a:srgbClr val="FF0000"/>
                </a:solidFill>
              </a:rPr>
              <a:t>中断</a:t>
            </a:r>
            <a:r>
              <a:rPr lang="zh-CN" altLang="en-US"/>
              <a:t>）</a:t>
            </a:r>
            <a:r>
              <a:rPr lang="en-US" altLang="zh-CN"/>
              <a:t>——</a:t>
            </a:r>
            <a:r>
              <a:rPr lang="zh-CN" altLang="en-US"/>
              <a:t>线程外部</a:t>
            </a:r>
            <a:r>
              <a:rPr lang="zh-CN" altLang="en-US"/>
              <a:t>的打断</a:t>
            </a:r>
            <a:endParaRPr lang="zh-CN" altLang="en-US"/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由处理器外部事件来</a:t>
            </a:r>
            <a:r>
              <a:rPr lang="zh-CN" altLang="en-US" dirty="0"/>
              <a:t>触发</a:t>
            </a:r>
            <a:endParaRPr lang="zh-CN" altLang="en-US" dirty="0"/>
          </a:p>
          <a:p>
            <a:pPr lvl="1"/>
            <a:r>
              <a:rPr lang="zh-CN" altLang="en-US" dirty="0"/>
              <a:t>外部通过向处理器的</a:t>
            </a:r>
            <a:r>
              <a:rPr lang="zh-CN" altLang="en-US" i="1" dirty="0"/>
              <a:t>中断引脚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(interrupt pin)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发信号来触发</a:t>
            </a:r>
            <a:endParaRPr lang="en-US" i="1" dirty="0"/>
          </a:p>
          <a:p>
            <a:pPr lvl="1"/>
            <a:r>
              <a:rPr lang="zh-CN" altLang="en-US" dirty="0"/>
              <a:t>处理程序返回到</a:t>
            </a:r>
            <a:r>
              <a:rPr lang="en-US" altLang="zh-CN" dirty="0"/>
              <a:t>“</a:t>
            </a:r>
            <a:r>
              <a:rPr lang="zh-CN" altLang="en-US" dirty="0"/>
              <a:t>下一条</a:t>
            </a:r>
            <a:r>
              <a:rPr lang="en-US" altLang="zh-CN" dirty="0"/>
              <a:t>”</a:t>
            </a:r>
            <a:r>
              <a:rPr lang="zh-CN" altLang="en-US" dirty="0"/>
              <a:t>指令</a:t>
            </a:r>
            <a:endParaRPr lang="zh-CN" altLang="en-US" dirty="0"/>
          </a:p>
          <a:p>
            <a:endParaRPr lang="en-US" dirty="0"/>
          </a:p>
          <a:p>
            <a:r>
              <a:rPr lang="zh-CN" altLang="en-US" dirty="0"/>
              <a:t>例如：</a:t>
            </a:r>
            <a:endParaRPr lang="en-US" dirty="0"/>
          </a:p>
          <a:p>
            <a:pPr lvl="1"/>
            <a:r>
              <a:rPr lang="zh-CN" altLang="en-US" dirty="0"/>
              <a:t>周期性外部事件</a:t>
            </a:r>
            <a:r>
              <a:rPr lang="en-US" altLang="zh-CN" dirty="0"/>
              <a:t>：</a:t>
            </a:r>
            <a:r>
              <a:rPr lang="zh-CN" altLang="en-US" dirty="0"/>
              <a:t>定时器中断</a:t>
            </a:r>
            <a:endParaRPr lang="zh-CN" altLang="en-US" dirty="0"/>
          </a:p>
          <a:p>
            <a:pPr lvl="2"/>
            <a:r>
              <a:rPr lang="zh-CN" altLang="en-US" dirty="0"/>
              <a:t>每隔几毫秒，外部定时器芯片触发一次中断</a:t>
            </a:r>
            <a:endParaRPr lang="zh-CN" altLang="en-US" dirty="0"/>
          </a:p>
          <a:p>
            <a:pPr lvl="2"/>
            <a:r>
              <a:rPr lang="zh-CN" altLang="en-US" b="1" dirty="0"/>
              <a:t>进程调度与时间片管理的</a:t>
            </a:r>
            <a:r>
              <a:rPr lang="zh-CN" altLang="en-US" dirty="0"/>
              <a:t>场景</a:t>
            </a:r>
            <a:r>
              <a:rPr lang="en-US" altLang="zh-CN" dirty="0"/>
              <a:t>：</a:t>
            </a:r>
            <a:r>
              <a:rPr lang="zh-CN" altLang="en-US" dirty="0"/>
              <a:t>内核利用此机制从用户程序中取回控制权</a:t>
            </a:r>
            <a:endParaRPr lang="zh-CN" altLang="en-US" dirty="0"/>
          </a:p>
          <a:p>
            <a:pPr lvl="2"/>
            <a:r>
              <a:rPr lang="zh-CN" altLang="en-US" b="1" dirty="0"/>
              <a:t>维护系统时钟</a:t>
            </a:r>
            <a:r>
              <a:rPr lang="zh-CN" altLang="en-US" dirty="0"/>
              <a:t>的场景</a:t>
            </a:r>
            <a:r>
              <a:rPr lang="en-US" altLang="zh-CN" dirty="0"/>
              <a:t>：</a:t>
            </a:r>
            <a:r>
              <a:rPr lang="zh-CN" altLang="en-US" dirty="0"/>
              <a:t>每次时钟中断都会更新</a:t>
            </a:r>
            <a:r>
              <a:rPr lang="en-US" altLang="zh-CN" dirty="0"/>
              <a:t>，time</a:t>
            </a:r>
            <a:r>
              <a:rPr lang="zh-CN" altLang="en-US" dirty="0"/>
              <a:t>函数的</a:t>
            </a:r>
            <a:r>
              <a:rPr lang="zh-CN" altLang="en-US" dirty="0"/>
              <a:t>数据来源</a:t>
            </a:r>
            <a:endParaRPr lang="zh-CN" altLang="en-US" dirty="0"/>
          </a:p>
          <a:p>
            <a:pPr lvl="1"/>
            <a:r>
              <a:rPr lang="zh-CN" altLang="en-US" dirty="0"/>
              <a:t>非周期性外部事件</a:t>
            </a:r>
            <a:r>
              <a:rPr lang="en-US" altLang="zh-CN" dirty="0"/>
              <a:t>：</a:t>
            </a:r>
            <a:r>
              <a:rPr lang="zh-CN" altLang="en-US" dirty="0"/>
              <a:t>外部设备的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I/O </a:t>
            </a:r>
            <a:r>
              <a:rPr lang="zh-CN" altLang="en-US" dirty="0"/>
              <a:t>中断</a:t>
            </a:r>
            <a:endParaRPr lang="zh-CN" altLang="en-US" dirty="0"/>
          </a:p>
          <a:p>
            <a:pPr lvl="2"/>
            <a:r>
              <a:rPr lang="en-US" dirty="0">
                <a:cs typeface="Consolas" panose="020B0609020204030204" pitchFamily="49" charset="0"/>
                <a:sym typeface="+mn-ea"/>
              </a:rPr>
              <a:t>用户按下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Ctrl-C（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键盘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）</a:t>
            </a:r>
            <a:endParaRPr lang="en-US" dirty="0"/>
          </a:p>
          <a:p>
            <a:pPr lvl="2"/>
            <a:r>
              <a:rPr lang="zh-CN" altLang="en-US" dirty="0"/>
              <a:t>网络数据包到达</a:t>
            </a:r>
            <a:r>
              <a:rPr lang="en-US" altLang="zh-CN" dirty="0"/>
              <a:t>（</a:t>
            </a:r>
            <a:r>
              <a:rPr lang="zh-CN" altLang="en-US" dirty="0"/>
              <a:t>网卡</a:t>
            </a:r>
            <a:r>
              <a:rPr lang="en-US" altLang="zh-CN" dirty="0"/>
              <a:t>）</a:t>
            </a:r>
            <a:endParaRPr lang="zh-CN" altLang="en-US" dirty="0"/>
          </a:p>
          <a:p>
            <a:pPr lvl="2"/>
            <a:r>
              <a:rPr lang="zh-CN" altLang="en-US" dirty="0"/>
              <a:t>磁盘数据到达</a:t>
            </a:r>
            <a:r>
              <a:rPr lang="en-US" altLang="zh-CN" dirty="0"/>
              <a:t>（</a:t>
            </a:r>
            <a:r>
              <a:rPr lang="zh-CN" altLang="en-US" dirty="0"/>
              <a:t>磁盘</a:t>
            </a:r>
            <a:r>
              <a:rPr lang="en-US" altLang="zh-CN" dirty="0"/>
              <a:t>）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 bwMode="auto">
          <a:xfrm>
            <a:off x="4114801" y="1087120"/>
            <a:ext cx="8089898" cy="29718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4" name="Rectangle 4"/>
          <p:cNvSpPr>
            <a:spLocks noChangeArrowheads="1"/>
          </p:cNvSpPr>
          <p:nvPr/>
        </p:nvSpPr>
        <p:spPr bwMode="auto">
          <a:xfrm>
            <a:off x="5813093" y="1168094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SimSun" pitchFamily="2" charset="-122"/>
                <a:cs typeface="Consolas" panose="020B0609020204030204" pitchFamily="49" charset="0"/>
              </a:rPr>
              <a:t>用户代码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SimSun" pitchFamily="2" charset="-122"/>
              <a:cs typeface="Consolas" panose="020B0609020204030204" pitchFamily="49" charset="0"/>
            </a:endParaRPr>
          </a:p>
        </p:txBody>
      </p:sp>
      <p:sp>
        <p:nvSpPr>
          <p:cNvPr id="476165" name="Rectangle 5"/>
          <p:cNvSpPr>
            <a:spLocks noChangeArrowheads="1"/>
          </p:cNvSpPr>
          <p:nvPr/>
        </p:nvSpPr>
        <p:spPr bwMode="auto">
          <a:xfrm>
            <a:off x="8475274" y="1168094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SimSun" pitchFamily="2" charset="-122"/>
                <a:cs typeface="Consolas" panose="020B0609020204030204" pitchFamily="49" charset="0"/>
              </a:rPr>
              <a:t>内核代码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SimSun" pitchFamily="2" charset="-122"/>
              <a:cs typeface="Consolas" panose="020B0609020204030204" pitchFamily="49" charset="0"/>
            </a:endParaRPr>
          </a:p>
        </p:txBody>
      </p:sp>
      <p:sp>
        <p:nvSpPr>
          <p:cNvPr id="476166" name="Line 6"/>
          <p:cNvSpPr>
            <a:spLocks noChangeShapeType="1"/>
          </p:cNvSpPr>
          <p:nvPr/>
        </p:nvSpPr>
        <p:spPr bwMode="auto">
          <a:xfrm>
            <a:off x="6523038" y="1680845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7" name="Line 7"/>
          <p:cNvSpPr>
            <a:spLocks noChangeShapeType="1"/>
          </p:cNvSpPr>
          <p:nvPr/>
        </p:nvSpPr>
        <p:spPr bwMode="auto">
          <a:xfrm>
            <a:off x="6529388" y="2285683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8" name="Line 8"/>
          <p:cNvSpPr>
            <a:spLocks noChangeShapeType="1"/>
          </p:cNvSpPr>
          <p:nvPr/>
        </p:nvSpPr>
        <p:spPr bwMode="auto">
          <a:xfrm>
            <a:off x="9342438" y="2292033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69" name="Line 9"/>
          <p:cNvSpPr>
            <a:spLocks noChangeShapeType="1"/>
          </p:cNvSpPr>
          <p:nvPr/>
        </p:nvSpPr>
        <p:spPr bwMode="auto">
          <a:xfrm flipH="1" flipV="1">
            <a:off x="6516688" y="2355533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0" name="Line 10"/>
          <p:cNvSpPr>
            <a:spLocks noChangeShapeType="1"/>
          </p:cNvSpPr>
          <p:nvPr/>
        </p:nvSpPr>
        <p:spPr bwMode="auto">
          <a:xfrm>
            <a:off x="6523038" y="2382520"/>
            <a:ext cx="0" cy="1512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1" name="Rectangle 11"/>
          <p:cNvSpPr>
            <a:spLocks noChangeArrowheads="1"/>
          </p:cNvSpPr>
          <p:nvPr/>
        </p:nvSpPr>
        <p:spPr bwMode="auto">
          <a:xfrm>
            <a:off x="7391400" y="1958659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异常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sp>
        <p:nvSpPr>
          <p:cNvPr id="476172" name="Rectangle 12"/>
          <p:cNvSpPr>
            <a:spLocks noChangeArrowheads="1"/>
          </p:cNvSpPr>
          <p:nvPr/>
        </p:nvSpPr>
        <p:spPr bwMode="auto">
          <a:xfrm>
            <a:off x="9372599" y="2231709"/>
            <a:ext cx="2832100" cy="6413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p>
            <a:pPr algn="l">
              <a:lnSpc>
                <a:spcPct val="100000"/>
              </a:lnSpc>
            </a:pPr>
            <a:r>
              <a:rPr lang="en-US" sz="1800" b="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异常处理</a:t>
            </a: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：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800" b="0" i="1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由异常处理程序完成</a:t>
            </a:r>
            <a:endParaRPr lang="en-US" sz="1800" b="0" i="1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sp>
        <p:nvSpPr>
          <p:cNvPr id="476173" name="Rectangle 13"/>
          <p:cNvSpPr>
            <a:spLocks noChangeArrowheads="1"/>
          </p:cNvSpPr>
          <p:nvPr/>
        </p:nvSpPr>
        <p:spPr bwMode="auto">
          <a:xfrm>
            <a:off x="6684261" y="2917705"/>
            <a:ext cx="2199303" cy="92075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800" b="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  <a:sym typeface="+mn-ea"/>
              </a:rPr>
              <a:t>返回</a:t>
            </a:r>
            <a:r>
              <a:rPr lang="en-US" sz="1800" b="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-US" sz="1800" b="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I_current</a:t>
            </a:r>
            <a:endParaRPr lang="zh-CN" altLang="en-US" sz="1800" b="0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800" b="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返回</a:t>
            </a:r>
            <a:r>
              <a:rPr 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I_next</a:t>
            </a:r>
            <a:endParaRPr 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800" b="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程序中止</a:t>
            </a:r>
            <a:endParaRPr lang="zh-CN" altLang="en-US" sz="1800" b="0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sp>
        <p:nvSpPr>
          <p:cNvPr id="476174" name="Rectangle 14"/>
          <p:cNvSpPr>
            <a:spLocks noChangeArrowheads="1"/>
          </p:cNvSpPr>
          <p:nvPr/>
        </p:nvSpPr>
        <p:spPr bwMode="auto">
          <a:xfrm>
            <a:off x="4137190" y="2017287"/>
            <a:ext cx="997113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800" i="1" dirty="0">
                <a:solidFill>
                  <a:srgbClr val="C00000"/>
                </a:solidFill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事件</a:t>
            </a:r>
            <a:r>
              <a:rPr lang="en-US" sz="18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800" i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5" name="Text Box 15"/>
          <p:cNvSpPr txBox="1">
            <a:spLocks noChangeArrowheads="1"/>
          </p:cNvSpPr>
          <p:nvPr/>
        </p:nvSpPr>
        <p:spPr bwMode="auto">
          <a:xfrm>
            <a:off x="5499100" y="2054072"/>
            <a:ext cx="106299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I_current</a:t>
            </a:r>
            <a:endParaRPr lang="en-US" sz="14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6" name="Text Box 16"/>
          <p:cNvSpPr txBox="1">
            <a:spLocks noChangeArrowheads="1"/>
          </p:cNvSpPr>
          <p:nvPr/>
        </p:nvSpPr>
        <p:spPr bwMode="auto">
          <a:xfrm>
            <a:off x="5716274" y="2259431"/>
            <a:ext cx="76962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I_next</a:t>
            </a:r>
            <a:endParaRPr lang="en-US" sz="14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6177" name="Line 17"/>
          <p:cNvSpPr>
            <a:spLocks noChangeShapeType="1"/>
          </p:cNvSpPr>
          <p:nvPr/>
        </p:nvSpPr>
        <p:spPr bwMode="auto">
          <a:xfrm>
            <a:off x="4889500" y="2202743"/>
            <a:ext cx="6858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同步异常</a:t>
            </a:r>
            <a:r>
              <a:rPr lang="en-US" altLang="zh-CN"/>
              <a:t>——</a:t>
            </a:r>
            <a:r>
              <a:rPr lang="zh-CN" altLang="en-US"/>
              <a:t>线程内部的障碍或</a:t>
            </a:r>
            <a:r>
              <a:rPr lang="zh-CN" altLang="en-US"/>
              <a:t>陷阱</a:t>
            </a:r>
            <a:endParaRPr lang="zh-CN" altLang="en-US"/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由执行指令时发生的事件引发</a:t>
            </a:r>
            <a:endParaRPr lang="zh-CN" alt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C00000"/>
                </a:solidFill>
                <a:cs typeface="+mn-ea"/>
              </a:rPr>
              <a:t>陷阱(trap)</a:t>
            </a:r>
            <a:endParaRPr lang="zh-CN" altLang="en-US" dirty="0"/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有意的</a:t>
            </a:r>
            <a:endParaRPr lang="en-US" dirty="0"/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示例：</a:t>
            </a:r>
            <a:r>
              <a:rPr lang="zh-CN" altLang="en-US" b="1" dirty="0">
                <a:solidFill>
                  <a:srgbClr val="00B050"/>
                </a:solidFill>
              </a:rPr>
              <a:t>系统调用</a:t>
            </a:r>
            <a:r>
              <a:rPr lang="zh-CN" altLang="en-US" dirty="0"/>
              <a:t>、断点陷阱、特殊指令</a:t>
            </a:r>
            <a:endParaRPr lang="zh-CN" altLang="en-US" dirty="0"/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返回控制权到</a:t>
            </a:r>
            <a:r>
              <a:rPr lang="en-US" altLang="zh-CN" dirty="0"/>
              <a:t>“</a:t>
            </a:r>
            <a:r>
              <a:rPr lang="zh-CN" altLang="en-US" dirty="0"/>
              <a:t>下一条</a:t>
            </a:r>
            <a:r>
              <a:rPr lang="en-US" altLang="zh-CN" dirty="0"/>
              <a:t>”</a:t>
            </a:r>
            <a:r>
              <a:rPr lang="zh-CN" altLang="en-US" dirty="0"/>
              <a:t>指令</a:t>
            </a:r>
            <a:endParaRPr lang="zh-CN" alt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b="1" i="1" dirty="0">
                <a:solidFill>
                  <a:srgbClr val="C00000"/>
                </a:solidFill>
              </a:rPr>
              <a:t>故障</a:t>
            </a:r>
            <a:r>
              <a:rPr lang="en-US" altLang="zh-CN" b="1" i="1" dirty="0">
                <a:solidFill>
                  <a:srgbClr val="C00000"/>
                </a:solidFill>
              </a:rPr>
              <a:t>(fault)</a:t>
            </a:r>
            <a:endParaRPr lang="en-US" b="1" i="1" dirty="0">
              <a:solidFill>
                <a:srgbClr val="C00000"/>
              </a:solidFill>
            </a:endParaRPr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无意的，但可能是可恢复的</a:t>
            </a:r>
            <a:endParaRPr lang="en-US" dirty="0"/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示例：</a:t>
            </a:r>
            <a:r>
              <a:rPr lang="zh-CN" altLang="en-US" b="1" dirty="0">
                <a:solidFill>
                  <a:srgbClr val="00B050"/>
                </a:solidFill>
              </a:rPr>
              <a:t>缺页异常</a:t>
            </a:r>
            <a:r>
              <a:rPr lang="zh-CN" altLang="en-US" dirty="0"/>
              <a:t>（可恢复的），保护错误（不可恢复的），浮点异常</a:t>
            </a:r>
            <a:endParaRPr lang="zh-CN" altLang="en-US" dirty="0"/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重新执行导致故障的（</a:t>
            </a:r>
            <a:r>
              <a:rPr lang="en-US" altLang="zh-CN" dirty="0"/>
              <a:t>“</a:t>
            </a:r>
            <a:r>
              <a:rPr lang="zh-CN" altLang="en-US" dirty="0"/>
              <a:t>当前</a:t>
            </a:r>
            <a:r>
              <a:rPr lang="en-US" altLang="zh-CN" dirty="0"/>
              <a:t>”</a:t>
            </a:r>
            <a:r>
              <a:rPr lang="zh-CN" altLang="en-US" dirty="0"/>
              <a:t>）指令或终止程序</a:t>
            </a:r>
            <a:endParaRPr lang="zh-CN" alt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b="1" i="1" dirty="0">
                <a:solidFill>
                  <a:srgbClr val="C00000"/>
                </a:solidFill>
              </a:rPr>
              <a:t>终止</a:t>
            </a:r>
            <a:r>
              <a:rPr lang="en-US" altLang="zh-CN" b="1" i="1" dirty="0">
                <a:solidFill>
                  <a:srgbClr val="C00000"/>
                </a:solidFill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</a:rPr>
              <a:t>abort)</a:t>
            </a:r>
            <a:endParaRPr lang="en-US" b="1" i="1" dirty="0">
              <a:solidFill>
                <a:srgbClr val="C00000"/>
              </a:solidFill>
            </a:endParaRPr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无意的，且不可恢复的</a:t>
            </a:r>
            <a:endParaRPr lang="en-US" dirty="0"/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示例：</a:t>
            </a:r>
            <a:r>
              <a:rPr lang="zh-CN" altLang="en-US" b="1" dirty="0">
                <a:solidFill>
                  <a:srgbClr val="00B050"/>
                </a:solidFill>
              </a:rPr>
              <a:t>非法的内存地址</a:t>
            </a:r>
            <a:r>
              <a:rPr lang="en-US" altLang="zh-CN" dirty="0"/>
              <a:t>、</a:t>
            </a:r>
            <a:r>
              <a:rPr lang="zh-CN" altLang="en-US" dirty="0"/>
              <a:t>非法指令、奇偶校验错、硬件检测错误</a:t>
            </a:r>
            <a:endParaRPr lang="zh-CN" altLang="en-US" dirty="0"/>
          </a:p>
          <a:p>
            <a:pPr lvl="2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终止当前程序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7" grpId="0" bldLvl="0" animBg="1"/>
      <p:bldP spid="476168" grpId="0" bldLvl="0" animBg="1"/>
      <p:bldP spid="476169" grpId="0" bldLvl="0" animBg="1"/>
      <p:bldP spid="476170" grpId="0" bldLvl="0" animBg="1"/>
      <p:bldP spid="476171" grpId="0" bldLvl="0" animBg="1"/>
      <p:bldP spid="476172" grpId="0" bldLvl="0" animBg="1"/>
      <p:bldP spid="476173" grpId="0" bldLvl="0" animBg="1"/>
      <p:bldP spid="476174" grpId="0" bldLvl="0" animBg="1"/>
      <p:bldP spid="476176" grpId="0" bldLvl="0" animBg="1"/>
      <p:bldP spid="47617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什么是系统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/>
              <a:t>系统调用</a:t>
            </a:r>
            <a:r>
              <a:rPr lang="zh-CN" altLang="en-US"/>
              <a:t>是操作系统（</a:t>
            </a:r>
            <a:r>
              <a:rPr lang="en-US" altLang="en-US"/>
              <a:t>OS</a:t>
            </a:r>
            <a:r>
              <a:rPr lang="zh-CN" altLang="en-US"/>
              <a:t>）内核提供给应用程序使用的一项核心接口。</a:t>
            </a:r>
            <a:endParaRPr lang="zh-CN" altLang="en-US"/>
          </a:p>
          <a:p>
            <a:pPr lvl="1"/>
            <a:r>
              <a:rPr lang="zh-CN" altLang="en-US"/>
              <a:t>是程序向操作系统内核请求服务的特殊函数调用。</a:t>
            </a:r>
            <a:endParaRPr lang="en-US" altLang="en-US"/>
          </a:p>
          <a:p>
            <a:pPr lvl="1"/>
            <a:r>
              <a:rPr lang="zh-CN" altLang="en-US"/>
              <a:t>它完成了从用户态到内核态的切换，因为操作核心硬件或关键数据等特权操作只能在内核态执行。</a:t>
            </a:r>
            <a:endParaRPr lang="zh-CN" altLang="en-US"/>
          </a:p>
          <a:p>
            <a:pPr lvl="0"/>
            <a:r>
              <a:rPr lang="zh-CN" altLang="en-US"/>
              <a:t>为什么需要它？</a:t>
            </a:r>
            <a:endParaRPr lang="zh-CN" altLang="en-US"/>
          </a:p>
          <a:p>
            <a:pPr lvl="1"/>
            <a:r>
              <a:rPr lang="zh-CN" altLang="en-US"/>
              <a:t>安全与稳定：防止普通程序直接访问硬件或内核内存，避免系统崩溃或被恶意破坏。</a:t>
            </a:r>
            <a:endParaRPr lang="zh-CN" altLang="en-US"/>
          </a:p>
          <a:p>
            <a:pPr lvl="1"/>
            <a:r>
              <a:rPr lang="zh-CN" altLang="en-US"/>
              <a:t>抽象与便利：程序员无需直接操作物理硬件（如硬盘、网卡），只需调用</a:t>
            </a:r>
            <a:r>
              <a:rPr lang="en-US" altLang="en-US"/>
              <a:t> read()</a:t>
            </a:r>
            <a:r>
              <a:rPr lang="zh-CN" altLang="en-US"/>
              <a:t>、</a:t>
            </a:r>
            <a:r>
              <a:rPr lang="en-US" altLang="en-US"/>
              <a:t>write() </a:t>
            </a:r>
            <a:r>
              <a:rPr lang="zh-CN" altLang="en-US"/>
              <a:t>等简单接口即可。</a:t>
            </a:r>
            <a:endParaRPr lang="zh-CN" altLang="en-US"/>
          </a:p>
          <a:p>
            <a:pPr lvl="0"/>
            <a:r>
              <a:rPr lang="zh-CN" altLang="en-US"/>
              <a:t>比喻</a:t>
            </a:r>
            <a:r>
              <a:rPr lang="en-US" altLang="zh-CN"/>
              <a:t>：</a:t>
            </a:r>
            <a:endParaRPr lang="en-US" altLang="zh-CN"/>
          </a:p>
          <a:p>
            <a:pPr lvl="1"/>
            <a:r>
              <a:rPr lang="zh-CN" altLang="en-US"/>
              <a:t>把操作系统比作银行。你想取钱（操作硬件），不能直接冲进金库（内核态），而是要通过柜台窗口（系统调用）告诉有权限</a:t>
            </a:r>
            <a:r>
              <a:rPr lang="zh-CN" altLang="en-US"/>
              <a:t>的柜员（内核）你的请求，柜员帮你办理后把钱交给你。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20876" y="1219200"/>
            <a:ext cx="7896225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每个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x86-64 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系统调用都有一个唯一的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ID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号</a:t>
            </a:r>
            <a:endParaRPr lang="zh-CN" alt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例如：</a:t>
            </a:r>
            <a:endParaRPr lang="zh-CN" alt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33600" y="2311400"/>
          <a:ext cx="7086600" cy="37084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447800"/>
                <a:gridCol w="25908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i="1" dirty="0">
                          <a:solidFill>
                            <a:srgbClr val="C00000"/>
                          </a:solidFill>
                          <a:latin typeface="SimHei" panose="02010600030101010101" charset="-122"/>
                          <a:ea typeface="SimHei" panose="02010600030101010101" charset="-122"/>
                        </a:rPr>
                        <a:t>编号</a:t>
                      </a:r>
                      <a:endParaRPr lang="zh-CN" altLang="en-US" i="1" dirty="0">
                        <a:solidFill>
                          <a:srgbClr val="C00000"/>
                        </a:solidFill>
                        <a:latin typeface="SimHei" panose="02010600030101010101" charset="-122"/>
                        <a:ea typeface="SimHei" panose="02010600030101010101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i="1" dirty="0">
                          <a:solidFill>
                            <a:srgbClr val="C00000"/>
                          </a:solidFill>
                          <a:latin typeface="SimHei" panose="02010600030101010101" charset="-122"/>
                          <a:ea typeface="SimHei" panose="02010600030101010101" charset="-122"/>
                        </a:rPr>
                        <a:t>名字</a:t>
                      </a:r>
                      <a:endParaRPr lang="zh-CN" altLang="en-US" i="1" dirty="0">
                        <a:solidFill>
                          <a:srgbClr val="C00000"/>
                        </a:solidFill>
                        <a:latin typeface="SimHei" panose="02010600030101010101" charset="-122"/>
                        <a:ea typeface="SimHei" panose="02010600030101010101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i="1" dirty="0">
                          <a:solidFill>
                            <a:srgbClr val="C00000"/>
                          </a:solidFill>
                          <a:latin typeface="SimHei" panose="02010600030101010101" charset="-122"/>
                          <a:ea typeface="SimHei" panose="02010600030101010101" charset="-122"/>
                        </a:rPr>
                        <a:t>描述</a:t>
                      </a:r>
                      <a:endParaRPr lang="zh-CN" altLang="en-US" i="1" dirty="0">
                        <a:solidFill>
                          <a:srgbClr val="C00000"/>
                        </a:solidFill>
                        <a:latin typeface="SimHei" panose="02010600030101010101" charset="-122"/>
                        <a:ea typeface="SimHei" panose="02010600030101010101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0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read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读文件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1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write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写文件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2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open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打开文件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3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close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关闭文件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4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stat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获得文件信息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57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fork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创建进程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59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urier New" panose="02070609020205020404"/>
                        </a:rPr>
                        <a:t>execve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执行一个程序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60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_exit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终止进程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</a:rPr>
                        <a:t>62</a:t>
                      </a:r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609020205020404"/>
                        </a:rPr>
                        <a:t>kill</a:t>
                      </a:r>
                      <a:endParaRPr lang="en-US" b="0" dirty="0">
                        <a:latin typeface="Courier New" panose="02070609020205020404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发送信号到一个进程</a:t>
                      </a:r>
                      <a:endParaRPr lang="zh-CN" altLang="en-US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x86-64</a:t>
            </a:r>
            <a:r>
              <a:rPr lang="zh-CN" altLang="en-US"/>
              <a:t>系统调用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当前</a:t>
            </a:r>
            <a:r>
              <a:rPr lang="en-US" altLang="zh-CN"/>
              <a:t>Linux 7.0</a:t>
            </a:r>
            <a:r>
              <a:rPr lang="zh-CN" altLang="en-US"/>
              <a:t>中</a:t>
            </a:r>
            <a:r>
              <a:rPr lang="en-US" altLang="zh-CN"/>
              <a:t>，</a:t>
            </a:r>
            <a:r>
              <a:rPr lang="zh-CN" altLang="en-US"/>
              <a:t>支持</a:t>
            </a:r>
            <a:r>
              <a:rPr lang="en-US" altLang="zh-CN"/>
              <a:t>548</a:t>
            </a:r>
            <a:r>
              <a:rPr lang="zh-CN" altLang="en-US"/>
              <a:t>个系统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295400" y="6096000"/>
            <a:ext cx="9220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800" dirty="0" smtClean="0">
                <a:latin typeface="Calibri" panose="020F0502020204030204" pitchFamily="34" charset="0"/>
              </a:rPr>
              <a:t>https://elixir.bootlin.com/linux/v7.0/source/arch/x86/entry/syscalls/syscall_64.tbl</a:t>
            </a:r>
            <a:endParaRPr lang="en-US" sz="1800" dirty="0" smtClean="0">
              <a:latin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225" y="1794510"/>
            <a:ext cx="7375525" cy="4216400"/>
          </a:xfrm>
          <a:prstGeom prst="rect">
            <a:avLst/>
          </a:prstGeom>
        </p:spPr>
      </p:pic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 bwMode="auto">
          <a:xfrm>
            <a:off x="1428320" y="4191000"/>
            <a:ext cx="4876800" cy="22860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025" y="130878"/>
            <a:ext cx="10122791" cy="762000"/>
          </a:xfrm>
          <a:noFill/>
        </p:spPr>
        <p:txBody>
          <a:bodyPr/>
          <a:lstStyle/>
          <a:p>
            <a:r>
              <a:rPr lang="zh-CN" altLang="en-US" dirty="0"/>
              <a:t>系统调用示例：打开文件</a:t>
            </a:r>
            <a:endParaRPr lang="zh-CN" altLang="en-US" dirty="0"/>
          </a:p>
        </p:txBody>
      </p:sp>
      <p:sp>
        <p:nvSpPr>
          <p:cNvPr id="480271" name="Rectangle 15"/>
          <p:cNvSpPr>
            <a:spLocks noGrp="1" noChangeArrowheads="1"/>
          </p:cNvSpPr>
          <p:nvPr>
            <p:ph idx="1"/>
          </p:nvPr>
        </p:nvSpPr>
        <p:spPr>
          <a:xfrm>
            <a:off x="529167" y="1057275"/>
            <a:ext cx="10528300" cy="4972050"/>
          </a:xfrm>
        </p:spPr>
        <p:txBody>
          <a:bodyPr>
            <a:normAutofit/>
          </a:bodyPr>
          <a:lstStyle/>
          <a:p>
            <a:r>
              <a:rPr lang="zh-CN" altLang="en-US" sz="2000" b="0" dirty="0"/>
              <a:t>用户调用：</a:t>
            </a:r>
            <a:r>
              <a:rPr lang="en-US" sz="2000" dirty="0">
                <a:latin typeface="Courier New" panose="02070609020205020404" pitchFamily="49" charset="0"/>
              </a:rPr>
              <a:t>open(filename, options)</a:t>
            </a:r>
            <a:endParaRPr lang="en-US" sz="2000" b="0" dirty="0"/>
          </a:p>
          <a:p>
            <a:r>
              <a:rPr lang="zh-CN" altLang="en-US" sz="2000" b="0" dirty="0"/>
              <a:t>调用</a:t>
            </a:r>
            <a:r>
              <a:rPr lang="en-US" sz="2000" b="0" dirty="0"/>
              <a:t> __</a:t>
            </a:r>
            <a:r>
              <a:rPr lang="en-US" sz="2000" dirty="0">
                <a:latin typeface="Courier New" panose="02070609020205020404" pitchFamily="49" charset="0"/>
              </a:rPr>
              <a:t>open</a:t>
            </a:r>
            <a:r>
              <a:rPr lang="en-US" sz="2000" b="0" dirty="0"/>
              <a:t> </a:t>
            </a:r>
            <a:r>
              <a:rPr lang="zh-CN" altLang="en-US" sz="2000" b="0" dirty="0"/>
              <a:t>函数，该函数</a:t>
            </a:r>
            <a:r>
              <a:rPr lang="zh-CN" altLang="en-US" sz="2000" b="0" dirty="0"/>
              <a:t>执行系统调用指令</a:t>
            </a:r>
            <a:r>
              <a:rPr lang="en-US" sz="2000" b="0" dirty="0"/>
              <a:t> </a:t>
            </a:r>
            <a:r>
              <a:rPr lang="en-US" sz="2000" dirty="0" err="1">
                <a:latin typeface="Courier New" panose="02070609020205020404" pitchFamily="49" charset="0"/>
              </a:rPr>
              <a:t>syscall</a:t>
            </a:r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0272" name="Text Box 16"/>
          <p:cNvSpPr txBox="1">
            <a:spLocks noChangeArrowheads="1"/>
          </p:cNvSpPr>
          <p:nvPr/>
        </p:nvSpPr>
        <p:spPr bwMode="auto">
          <a:xfrm>
            <a:off x="1440852" y="1952337"/>
            <a:ext cx="9292303" cy="18148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00000000000e5d70 &lt;__open&gt;: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...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sk-S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e5d79:   b8 02 00 00 00      mov  $0x2,%eax  # open is syscall #2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e5d7e:   0f 05       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syscall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       # return value in %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rax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e5d80:   48 3d 01 f0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ff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ff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cmp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$0xfffffffffffff001,%rax 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...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e5dfa:   c3                 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retq</a:t>
            </a:r>
            <a:endParaRPr lang="en-US" sz="1600" dirty="0">
              <a:latin typeface="Menlo-Regular" panose="020B0609030804020204" charset="0"/>
              <a:cs typeface="Menlo-Regular" panose="020B0609030804020204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529703" y="41910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用户代码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221092" y="41910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内核代码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2344090" y="4713287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2350440" y="5318125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63490" y="5324475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 flipH="1" flipV="1">
            <a:off x="2337740" y="5387975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H="1">
            <a:off x="2337740" y="5414962"/>
            <a:ext cx="6350" cy="909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3212452" y="4953001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</a:rPr>
              <a:t>异常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</a:endParaRP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5193652" y="5410201"/>
            <a:ext cx="121920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Calibri" panose="020F0502020204030204" pitchFamily="34" charset="0"/>
                <a:ea typeface="SimSun" pitchFamily="2" charset="-122"/>
              </a:rPr>
              <a:t>打开文件</a:t>
            </a:r>
            <a:endParaRPr lang="zh-CN" altLang="en-US" sz="1800" b="0" i="1" dirty="0"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3212452" y="5719763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</a:rPr>
              <a:t>返回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</a:endParaRPr>
          </a:p>
        </p:txBody>
      </p:sp>
      <p:sp>
        <p:nvSpPr>
          <p:cNvPr id="32" name="Rectangle 15"/>
          <p:cNvSpPr txBox="1">
            <a:spLocks noChangeArrowheads="1"/>
          </p:cNvSpPr>
          <p:nvPr/>
        </p:nvSpPr>
        <p:spPr bwMode="auto">
          <a:xfrm>
            <a:off x="6457519" y="4114800"/>
            <a:ext cx="4275635" cy="2540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rax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包含系统调用号</a:t>
            </a:r>
            <a:endParaRPr lang="en-US" sz="2000" b="0" dirty="0"/>
          </a:p>
          <a:p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rdi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rsi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rdx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%r10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%r8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%r9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包含最多6个参数</a:t>
            </a:r>
            <a:endParaRPr lang="en-US" sz="2000" b="0" dirty="0">
              <a:latin typeface="Courier New" panose="02070609020205020404"/>
              <a:cs typeface="Courier New" panose="02070609020205020404"/>
            </a:endParaRPr>
          </a:p>
          <a:p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从系统调用返回时，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rax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包含返回值</a:t>
            </a:r>
            <a:endParaRPr lang="en-US" sz="2000" b="0" dirty="0">
              <a:latin typeface="Courier New" panose="02070609020205020404"/>
              <a:cs typeface="Courier New" panose="02070609020205020404"/>
            </a:endParaRPr>
          </a:p>
          <a:p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负数返回值表明发生了错误，对应于负的</a:t>
            </a:r>
            <a:r>
              <a:rPr lang="en-US" sz="2000" b="0" dirty="0">
                <a:latin typeface="Calibri" panose="020F0502020204030204"/>
                <a:cs typeface="Calibri" panose="020F0502020204030204"/>
              </a:rPr>
              <a:t>  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errno</a:t>
            </a:r>
            <a:endParaRPr lang="en-US" sz="2000" b="0" dirty="0"/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1428321" y="5086514"/>
            <a:ext cx="92964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syscall</a:t>
            </a:r>
            <a:endParaRPr lang="en-US" sz="1400" b="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601055" y="5291873"/>
            <a:ext cx="50292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cmp</a:t>
            </a:r>
            <a:endParaRPr lang="en-US" sz="1400" b="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 bwMode="auto">
          <a:xfrm>
            <a:off x="1428320" y="4191000"/>
            <a:ext cx="4876800" cy="22860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025" y="130878"/>
            <a:ext cx="10122791" cy="762000"/>
          </a:xfrm>
          <a:noFill/>
        </p:spPr>
        <p:txBody>
          <a:bodyPr/>
          <a:lstStyle/>
          <a:p>
            <a:r>
              <a:rPr lang="zh-CN" altLang="en-US" dirty="0"/>
              <a:t>系统调用示例：打开文件</a:t>
            </a:r>
            <a:endParaRPr lang="zh-CN" altLang="en-US" dirty="0"/>
          </a:p>
        </p:txBody>
      </p:sp>
      <p:sp>
        <p:nvSpPr>
          <p:cNvPr id="480271" name="Rectangle 15"/>
          <p:cNvSpPr>
            <a:spLocks noGrp="1" noChangeArrowheads="1"/>
          </p:cNvSpPr>
          <p:nvPr>
            <p:ph idx="1"/>
          </p:nvPr>
        </p:nvSpPr>
        <p:spPr>
          <a:xfrm>
            <a:off x="529167" y="1057275"/>
            <a:ext cx="10528300" cy="4972050"/>
          </a:xfrm>
        </p:spPr>
        <p:txBody>
          <a:bodyPr>
            <a:normAutofit/>
          </a:bodyPr>
          <a:lstStyle/>
          <a:p>
            <a:r>
              <a:rPr lang="zh-CN" altLang="en-US" sz="2000" b="0" dirty="0"/>
              <a:t>用户调用：</a:t>
            </a:r>
            <a:r>
              <a:rPr lang="en-US" sz="2000" dirty="0">
                <a:latin typeface="Courier New" panose="02070609020205020404" pitchFamily="49" charset="0"/>
              </a:rPr>
              <a:t>open(filename, options)</a:t>
            </a:r>
            <a:endParaRPr lang="en-US" sz="2000" b="0" dirty="0"/>
          </a:p>
          <a:p>
            <a:r>
              <a:rPr lang="zh-CN" altLang="en-US" sz="2000" b="0" dirty="0"/>
              <a:t>调用</a:t>
            </a:r>
            <a:r>
              <a:rPr lang="en-US" sz="2000" b="0" dirty="0"/>
              <a:t> __</a:t>
            </a:r>
            <a:r>
              <a:rPr lang="en-US" sz="2000" dirty="0">
                <a:latin typeface="Courier New" panose="02070609020205020404" pitchFamily="49" charset="0"/>
              </a:rPr>
              <a:t>open</a:t>
            </a:r>
            <a:r>
              <a:rPr lang="en-US" sz="2000" b="0" dirty="0"/>
              <a:t> </a:t>
            </a:r>
            <a:r>
              <a:rPr lang="zh-CN" altLang="en-US" sz="2000" b="0" dirty="0"/>
              <a:t>函数，该函数触发系统调用指令</a:t>
            </a:r>
            <a:r>
              <a:rPr lang="en-US" sz="2000" b="0" dirty="0"/>
              <a:t> </a:t>
            </a:r>
            <a:r>
              <a:rPr lang="en-US" sz="2000" dirty="0" err="1">
                <a:latin typeface="Courier New" panose="02070609020205020404" pitchFamily="49" charset="0"/>
              </a:rPr>
              <a:t>syscall</a:t>
            </a:r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0272" name="Text Box 16"/>
          <p:cNvSpPr txBox="1">
            <a:spLocks noChangeArrowheads="1"/>
          </p:cNvSpPr>
          <p:nvPr/>
        </p:nvSpPr>
        <p:spPr bwMode="auto">
          <a:xfrm>
            <a:off x="1440852" y="1952337"/>
            <a:ext cx="9292303" cy="18148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00000000000e5d70 &lt;__open&gt;: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...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sk-S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e5d79:   b8 02 00 00 00      mov  $0x2,%eax  # open is syscall #2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e5d7e:   0f 05       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syscall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       # return value in %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rax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e5d80:   48 3d 01 f0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ff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ff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cmp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$0xfffffffffffff001,%rax 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...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e5dfa:   c3                 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retq</a:t>
            </a:r>
            <a:endParaRPr lang="en-US" sz="1600" dirty="0">
              <a:latin typeface="Menlo-Regular" panose="020B0609030804020204" charset="0"/>
              <a:cs typeface="Menlo-Regular" panose="020B0609030804020204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529703" y="41910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用户代码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221092" y="41910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内核代码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2344090" y="4713287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2350440" y="5318125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63490" y="5324475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 flipH="1" flipV="1">
            <a:off x="2337740" y="5387975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H="1">
            <a:off x="2337740" y="5414962"/>
            <a:ext cx="6350" cy="909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3212452" y="4953001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</a:rPr>
              <a:t>异常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</a:endParaRP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5193652" y="5410201"/>
            <a:ext cx="121920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Calibri" panose="020F0502020204030204" pitchFamily="34" charset="0"/>
                <a:ea typeface="SimSun" pitchFamily="2" charset="-122"/>
              </a:rPr>
              <a:t>打开文件</a:t>
            </a:r>
            <a:endParaRPr lang="zh-CN" altLang="en-US" sz="1800" b="0" i="1" dirty="0"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3212452" y="5719763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</a:rPr>
              <a:t>返回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</a:endParaRPr>
          </a:p>
        </p:txBody>
      </p:sp>
      <p:sp>
        <p:nvSpPr>
          <p:cNvPr id="32" name="Rectangle 15"/>
          <p:cNvSpPr txBox="1">
            <a:spLocks noChangeArrowheads="1"/>
          </p:cNvSpPr>
          <p:nvPr/>
        </p:nvSpPr>
        <p:spPr bwMode="auto">
          <a:xfrm>
            <a:off x="6457519" y="4114800"/>
            <a:ext cx="4275635" cy="2540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rax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包含系统调用号</a:t>
            </a:r>
            <a:endParaRPr lang="en-US" sz="2000" b="0" dirty="0"/>
          </a:p>
          <a:p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rdi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rsi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rdx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%r10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%r8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%r9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包含最多6个参数</a:t>
            </a:r>
            <a:endParaRPr lang="en-US" sz="2000" b="0" dirty="0">
              <a:latin typeface="Courier New" panose="02070609020205020404"/>
              <a:cs typeface="Courier New" panose="02070609020205020404"/>
            </a:endParaRPr>
          </a:p>
          <a:p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从系统调用返回时，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rax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包含返回值</a:t>
            </a:r>
            <a:endParaRPr lang="en-US" sz="2000" b="0" dirty="0">
              <a:latin typeface="Courier New" panose="02070609020205020404"/>
              <a:cs typeface="Courier New" panose="02070609020205020404"/>
            </a:endParaRPr>
          </a:p>
          <a:p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负数返回值表明发生了错误，对应于负的</a:t>
            </a:r>
            <a:r>
              <a:rPr lang="en-US" sz="2000" b="0" dirty="0">
                <a:latin typeface="Calibri" panose="020F0502020204030204"/>
                <a:cs typeface="Calibri" panose="020F0502020204030204"/>
              </a:rPr>
              <a:t>  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errno</a:t>
            </a:r>
            <a:endParaRPr lang="en-US" sz="2000" b="0" dirty="0"/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1428321" y="5086514"/>
            <a:ext cx="92964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syscall</a:t>
            </a:r>
            <a:endParaRPr lang="en-US" sz="1400" b="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601055" y="5291873"/>
            <a:ext cx="50292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cmp</a:t>
            </a:r>
            <a:endParaRPr lang="en-US" sz="1400" b="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36407" y="3358386"/>
            <a:ext cx="4355593" cy="646331"/>
          </a:xfrm>
          <a:prstGeom prst="rect">
            <a:avLst/>
          </a:prstGeom>
          <a:solidFill>
            <a:srgbClr val="F7F5CD"/>
          </a:solidFill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0xffff </a:t>
            </a:r>
            <a:r>
              <a:rPr lang="en-US" altLang="zh-CN" sz="1800" dirty="0" err="1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ffff</a:t>
            </a:r>
            <a:r>
              <a:rPr lang="en-US" altLang="zh-CN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ffff</a:t>
            </a:r>
            <a:r>
              <a:rPr lang="en-US" altLang="zh-CN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f001 -4095</a:t>
            </a:r>
            <a:r>
              <a:rPr lang="zh-CN" altLang="en-US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，错误号是一个</a:t>
            </a:r>
            <a:r>
              <a:rPr lang="en-US" altLang="zh-CN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-4095</a:t>
            </a:r>
            <a:r>
              <a:rPr lang="zh-CN" altLang="en-US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到</a:t>
            </a:r>
            <a:r>
              <a:rPr lang="en-US" altLang="zh-CN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en-US" sz="1800" dirty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之间的一个负数。</a:t>
            </a:r>
            <a:endParaRPr lang="en-US" sz="1800" dirty="0"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7086600" y="3276600"/>
            <a:ext cx="749807" cy="40495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 bwMode="auto">
          <a:xfrm>
            <a:off x="1428320" y="4191000"/>
            <a:ext cx="4876800" cy="22860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025" y="130878"/>
            <a:ext cx="10122791" cy="762000"/>
          </a:xfrm>
          <a:noFill/>
        </p:spPr>
        <p:txBody>
          <a:bodyPr/>
          <a:lstStyle/>
          <a:p>
            <a:r>
              <a:rPr lang="zh-CN" altLang="en-US" dirty="0"/>
              <a:t>系统调用示例：打开文件</a:t>
            </a:r>
            <a:endParaRPr lang="zh-CN" altLang="en-US" dirty="0"/>
          </a:p>
        </p:txBody>
      </p:sp>
      <p:sp>
        <p:nvSpPr>
          <p:cNvPr id="480271" name="Rectangle 15"/>
          <p:cNvSpPr>
            <a:spLocks noGrp="1" noChangeArrowheads="1"/>
          </p:cNvSpPr>
          <p:nvPr>
            <p:ph idx="1"/>
          </p:nvPr>
        </p:nvSpPr>
        <p:spPr>
          <a:xfrm>
            <a:off x="529167" y="1057275"/>
            <a:ext cx="10528300" cy="4972050"/>
          </a:xfrm>
        </p:spPr>
        <p:txBody>
          <a:bodyPr>
            <a:normAutofit/>
          </a:bodyPr>
          <a:lstStyle/>
          <a:p>
            <a:r>
              <a:rPr lang="zh-CN" altLang="en-US" sz="2000" b="0" dirty="0"/>
              <a:t>用户调用：</a:t>
            </a:r>
            <a:r>
              <a:rPr lang="en-US" sz="2000" dirty="0">
                <a:latin typeface="Courier New" panose="02070609020205020404" pitchFamily="49" charset="0"/>
              </a:rPr>
              <a:t>open(filename, options)</a:t>
            </a:r>
            <a:endParaRPr lang="en-US" sz="2000" b="0" dirty="0"/>
          </a:p>
          <a:p>
            <a:r>
              <a:rPr lang="zh-CN" altLang="en-US" sz="2000" b="0" dirty="0"/>
              <a:t>调用</a:t>
            </a:r>
            <a:r>
              <a:rPr lang="en-US" sz="2000" b="0" dirty="0"/>
              <a:t> __</a:t>
            </a:r>
            <a:r>
              <a:rPr lang="en-US" sz="2000" dirty="0">
                <a:latin typeface="Courier New" panose="02070609020205020404" pitchFamily="49" charset="0"/>
              </a:rPr>
              <a:t>open</a:t>
            </a:r>
            <a:r>
              <a:rPr lang="en-US" sz="2000" b="0" dirty="0"/>
              <a:t> </a:t>
            </a:r>
            <a:r>
              <a:rPr lang="zh-CN" altLang="en-US" sz="2000" b="0" dirty="0"/>
              <a:t>函数，该函数触发系统调用指令</a:t>
            </a:r>
            <a:r>
              <a:rPr lang="en-US" sz="2000" b="0" dirty="0"/>
              <a:t> </a:t>
            </a:r>
            <a:r>
              <a:rPr lang="en-US" sz="2000" dirty="0" err="1">
                <a:latin typeface="Courier New" panose="02070609020205020404" pitchFamily="49" charset="0"/>
              </a:rPr>
              <a:t>syscall</a:t>
            </a:r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0272" name="Text Box 16"/>
          <p:cNvSpPr txBox="1">
            <a:spLocks noChangeArrowheads="1"/>
          </p:cNvSpPr>
          <p:nvPr/>
        </p:nvSpPr>
        <p:spPr bwMode="auto">
          <a:xfrm>
            <a:off x="1440852" y="1952337"/>
            <a:ext cx="9292303" cy="18148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00000000000e5d70 &lt;__open&gt;: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...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sk-S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e5d79:   b8 02 00 00 00      mov  $0x2,%eax  # open is syscall #2</a:t>
            </a:r>
            <a:endParaRPr lang="de-DE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e5d7e:   0f 05       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syscall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       # return value in %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rax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e5d80:   48 3d 01 f0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ff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ff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cmp</a:t>
            </a:r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  $0xfffffffffffff001,%rax 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...</a:t>
            </a:r>
            <a:endParaRPr lang="en-US" sz="1600" dirty="0">
              <a:solidFill>
                <a:srgbClr val="000000"/>
              </a:solidFill>
              <a:latin typeface="Menlo-Regular" panose="020B0609030804020204" charset="0"/>
              <a:cs typeface="Menlo-Regular" panose="020B0609030804020204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e5dfa:   c3                  </a:t>
            </a:r>
            <a:r>
              <a:rPr lang="da-DK" sz="1600" dirty="0" err="1">
                <a:solidFill>
                  <a:srgbClr val="000000"/>
                </a:solidFill>
                <a:latin typeface="Menlo-Regular" panose="020B0609030804020204" charset="0"/>
                <a:cs typeface="Menlo-Regular" panose="020B0609030804020204" charset="0"/>
              </a:rPr>
              <a:t>retq</a:t>
            </a:r>
            <a:endParaRPr lang="en-US" sz="1600" dirty="0">
              <a:latin typeface="Menlo-Regular" panose="020B0609030804020204" charset="0"/>
              <a:cs typeface="Menlo-Regular" panose="020B0609030804020204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529703" y="41910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用户代码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221092" y="41910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内核代码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2344090" y="4713287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2350440" y="5318125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63490" y="5324475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 flipH="1" flipV="1">
            <a:off x="2337740" y="5387975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H="1">
            <a:off x="2337740" y="5414962"/>
            <a:ext cx="6350" cy="909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3212452" y="4953001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</a:rPr>
              <a:t>异常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</a:endParaRP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5193652" y="5410201"/>
            <a:ext cx="121920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Calibri" panose="020F0502020204030204" pitchFamily="34" charset="0"/>
                <a:ea typeface="SimSun" pitchFamily="2" charset="-122"/>
              </a:rPr>
              <a:t>打开文件</a:t>
            </a:r>
            <a:endParaRPr lang="zh-CN" altLang="en-US" sz="1800" b="0" i="1" dirty="0"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3212452" y="5719763"/>
            <a:ext cx="63754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SimHei" panose="02010600030101010101" charset="-122"/>
                <a:ea typeface="SimHei" panose="02010600030101010101" charset="-122"/>
              </a:rPr>
              <a:t>返回</a:t>
            </a:r>
            <a:endParaRPr lang="zh-CN" altLang="en-US" sz="1800" b="0" i="1" dirty="0">
              <a:latin typeface="SimHei" panose="02010600030101010101" charset="-122"/>
              <a:ea typeface="SimHei" panose="02010600030101010101" charset="-122"/>
            </a:endParaRPr>
          </a:p>
        </p:txBody>
      </p:sp>
      <p:sp>
        <p:nvSpPr>
          <p:cNvPr id="32" name="Rectangle 15"/>
          <p:cNvSpPr txBox="1">
            <a:spLocks noChangeArrowheads="1"/>
          </p:cNvSpPr>
          <p:nvPr/>
        </p:nvSpPr>
        <p:spPr bwMode="auto">
          <a:xfrm>
            <a:off x="6457519" y="4114800"/>
            <a:ext cx="4275635" cy="2540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rax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包含系统调用号</a:t>
            </a:r>
            <a:endParaRPr lang="en-US" sz="2000" b="0" dirty="0"/>
          </a:p>
          <a:p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rdi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rsi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rdx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%r10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%r8</a:t>
            </a:r>
            <a:r>
              <a:rPr lang="en-US" sz="2000" b="0" dirty="0"/>
              <a:t>, 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%r9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包含最多6个参数</a:t>
            </a:r>
            <a:endParaRPr lang="en-US" sz="2000" b="0" dirty="0">
              <a:latin typeface="Courier New" panose="02070609020205020404"/>
              <a:cs typeface="Courier New" panose="02070609020205020404"/>
            </a:endParaRPr>
          </a:p>
          <a:p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从系统调用返回时，</a:t>
            </a:r>
            <a:r>
              <a:rPr lang="en-US" sz="2000" b="0" dirty="0">
                <a:latin typeface="Courier New" panose="02070609020205020404"/>
                <a:cs typeface="Courier New" panose="02070609020205020404"/>
              </a:rPr>
              <a:t>%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rax </a:t>
            </a:r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包含返回值</a:t>
            </a:r>
            <a:endParaRPr lang="en-US" sz="2000" b="0" dirty="0">
              <a:latin typeface="Courier New" panose="02070609020205020404"/>
              <a:cs typeface="Courier New" panose="02070609020205020404"/>
            </a:endParaRPr>
          </a:p>
          <a:p>
            <a:r>
              <a: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</a:rPr>
              <a:t>负数返回值表明发生了错误，对应于负的</a:t>
            </a:r>
            <a:r>
              <a:rPr lang="en-US" sz="2000" b="0" dirty="0">
                <a:latin typeface="Calibri" panose="020F0502020204030204"/>
                <a:cs typeface="Calibri" panose="020F0502020204030204"/>
              </a:rPr>
              <a:t>  </a:t>
            </a:r>
            <a:r>
              <a:rPr lang="en-US" sz="2000" b="0" dirty="0" err="1">
                <a:latin typeface="Courier New" panose="02070609020205020404"/>
                <a:cs typeface="Courier New" panose="02070609020205020404"/>
              </a:rPr>
              <a:t>errno</a:t>
            </a:r>
            <a:endParaRPr lang="en-US" sz="2000" b="0" dirty="0"/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1428321" y="5086514"/>
            <a:ext cx="92964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syscall</a:t>
            </a:r>
            <a:endParaRPr lang="en-US" sz="1400" b="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601055" y="5291873"/>
            <a:ext cx="502920" cy="30670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cmp</a:t>
            </a:r>
            <a:endParaRPr lang="en-US" sz="1400" b="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14260" y="36195"/>
            <a:ext cx="4664710" cy="4092575"/>
          </a:xfrm>
          <a:prstGeom prst="rect">
            <a:avLst/>
          </a:prstGeom>
          <a:solidFill>
            <a:srgbClr val="F7F5CD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几乎类似于函数调用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控制流的转移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返回时执行下一条指令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按照调用约定传递参数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结果存储于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20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2000" b="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285750" indent="-285750">
              <a:buFontTx/>
              <a:buChar char="-"/>
            </a:pPr>
            <a:endParaRPr lang="en-US" sz="2000" b="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不同之处在于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由内核执行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，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拥有不同的权限级别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还有其他差异：</a:t>
            </a:r>
            <a:r>
              <a:rPr lang="en-US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 </a:t>
            </a:r>
            <a:endParaRPr lang="en-US" sz="20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例如，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“</a:t>
            </a:r>
            <a:r>
              <a:rPr lang="zh-CN" altLang="en-US" sz="2000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函数</a:t>
            </a:r>
            <a:r>
              <a:rPr lang="en-US" altLang="zh-CN" sz="2000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”</a:t>
            </a:r>
            <a:r>
              <a:rPr lang="zh-CN" altLang="en-US" sz="2000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“</a:t>
            </a:r>
            <a:r>
              <a:rPr lang="zh-CN" altLang="en-US" sz="2000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地址</a:t>
            </a:r>
            <a:r>
              <a:rPr lang="en-US" altLang="zh-CN" sz="2000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”</a:t>
            </a:r>
            <a:r>
              <a:rPr lang="zh-CN" altLang="en-US" sz="2000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存储于</a:t>
            </a:r>
            <a:r>
              <a:rPr lang="en-US" sz="2000" b="0" dirty="0">
                <a:solidFill>
                  <a:srgbClr val="00B050"/>
                </a:solidFill>
                <a:latin typeface="Calibri" panose="020F0502020204030204" pitchFamily="34" charset="0"/>
              </a:rPr>
              <a:t> </a:t>
            </a:r>
            <a:r>
              <a:rPr lang="en-US" sz="2000" b="0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2000" b="0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2000" b="0" dirty="0">
              <a:solidFill>
                <a:srgbClr val="00B05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使用</a:t>
            </a:r>
            <a:r>
              <a:rPr lang="en-US" altLang="zh-CN" sz="2000" b="0" dirty="0">
                <a:latin typeface="SimHei" panose="02010600030101010101" charset="-122"/>
                <a:ea typeface="SimHei" panose="02010600030101010101" charset="-122"/>
              </a:rPr>
              <a:t> 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errno</a:t>
            </a:r>
            <a:endParaRPr lang="en-US" sz="2000" b="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etc.</a:t>
            </a:r>
            <a:endParaRPr 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有哪些系统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6216650" cy="4972050"/>
          </a:xfrm>
        </p:spPr>
        <p:txBody>
          <a:bodyPr/>
          <a:p>
            <a:r>
              <a:rPr lang="en-US"/>
              <a:t>man</a:t>
            </a:r>
            <a:r>
              <a:rPr lang="zh-CN" altLang="en-US"/>
              <a:t>手册</a:t>
            </a:r>
            <a:endParaRPr lang="zh-CN" altLang="en-US"/>
          </a:p>
          <a:p>
            <a:pPr lvl="1"/>
            <a:r>
              <a:rPr lang="en-US" altLang="en-US"/>
              <a:t>man </a:t>
            </a:r>
            <a:r>
              <a:rPr lang="zh-CN" altLang="en-US"/>
              <a:t>在</a:t>
            </a:r>
            <a:r>
              <a:rPr lang="en-US" altLang="en-US"/>
              <a:t> Linux/Unix </a:t>
            </a:r>
            <a:r>
              <a:rPr lang="zh-CN" altLang="en-US"/>
              <a:t>世界中的地位：它是系统的</a:t>
            </a:r>
            <a:r>
              <a:rPr lang="en-US" altLang="en-US"/>
              <a:t>“</a:t>
            </a:r>
            <a:r>
              <a:rPr lang="zh-CN" altLang="en-US"/>
              <a:t>内置</a:t>
            </a:r>
            <a:r>
              <a:rPr lang="en-US" altLang="en-US"/>
              <a:t> DNA”</a:t>
            </a:r>
            <a:r>
              <a:rPr lang="zh-CN" altLang="en-US"/>
              <a:t>和</a:t>
            </a:r>
            <a:r>
              <a:rPr lang="en-US" altLang="en-US"/>
              <a:t>“</a:t>
            </a:r>
            <a:r>
              <a:rPr lang="zh-CN" altLang="en-US"/>
              <a:t>第一真理之源</a:t>
            </a:r>
            <a:r>
              <a:rPr lang="en-US" altLang="en-US"/>
              <a:t>”</a:t>
            </a:r>
            <a:endParaRPr lang="en-US" altLang="en-US"/>
          </a:p>
          <a:p>
            <a:pPr lvl="1"/>
            <a:r>
              <a:rPr lang="zh-CN" altLang="en-US"/>
              <a:t>绝对的权威性：在网上搜到的博客、教程可能是过时的、错误的，甚至是</a:t>
            </a:r>
            <a:r>
              <a:rPr lang="en-US" altLang="en-US"/>
              <a:t> AI </a:t>
            </a:r>
            <a:r>
              <a:rPr lang="zh-CN" altLang="en-US"/>
              <a:t>生成的。但</a:t>
            </a:r>
            <a:r>
              <a:rPr lang="en-US" altLang="en-US"/>
              <a:t> man </a:t>
            </a:r>
            <a:r>
              <a:rPr lang="zh-CN" altLang="en-US"/>
              <a:t>页面直接来源于你当前系统安装的软件和内核。它告诉你的，是你这台机器上实际存在的</a:t>
            </a:r>
            <a:r>
              <a:rPr lang="en-US" altLang="en-US"/>
              <a:t> API </a:t>
            </a:r>
            <a:r>
              <a:rPr lang="zh-CN" altLang="en-US"/>
              <a:t>和行为。</a:t>
            </a:r>
            <a:endParaRPr lang="zh-CN" altLang="en-US"/>
          </a:p>
          <a:p>
            <a:pPr lvl="0"/>
            <a:r>
              <a:rPr lang="en-US" altLang="zh-CN"/>
              <a:t>man</a:t>
            </a:r>
            <a:r>
              <a:rPr lang="zh-CN" altLang="en-US"/>
              <a:t>的</a:t>
            </a:r>
            <a:r>
              <a:rPr lang="zh-CN" altLang="en-US"/>
              <a:t>内容</a:t>
            </a:r>
            <a:endParaRPr lang="zh-CN" altLang="en-US"/>
          </a:p>
          <a:p>
            <a:pPr lvl="1"/>
            <a:r>
              <a:rPr lang="zh-CN" altLang="en-US"/>
              <a:t>包括通用命令</a:t>
            </a:r>
            <a:r>
              <a:rPr lang="en-US" altLang="zh-CN"/>
              <a:t>、</a:t>
            </a:r>
            <a:r>
              <a:rPr lang="zh-CN" altLang="en-US"/>
              <a:t>系统调用</a:t>
            </a:r>
            <a:r>
              <a:rPr lang="en-US" altLang="zh-CN"/>
              <a:t>、</a:t>
            </a:r>
            <a:r>
              <a:rPr lang="zh-CN" altLang="en-US"/>
              <a:t>库函数</a:t>
            </a:r>
            <a:r>
              <a:rPr lang="en-US" altLang="zh-CN"/>
              <a:t>、</a:t>
            </a:r>
            <a:r>
              <a:rPr lang="zh-CN" altLang="en-US"/>
              <a:t>内核接口</a:t>
            </a:r>
            <a:r>
              <a:rPr lang="en-US" altLang="zh-CN"/>
              <a:t>、</a:t>
            </a:r>
            <a:r>
              <a:rPr lang="zh-CN" altLang="en-US"/>
              <a:t>文件格式、游戏手册</a:t>
            </a:r>
            <a:r>
              <a:rPr lang="en-US" altLang="zh-CN"/>
              <a:t>、</a:t>
            </a:r>
            <a:r>
              <a:rPr lang="zh-CN" altLang="en-US"/>
              <a:t>系统管理员手册</a:t>
            </a:r>
            <a:r>
              <a:rPr lang="en-US" altLang="zh-CN"/>
              <a:t>、</a:t>
            </a:r>
            <a:r>
              <a:rPr lang="zh-CN" altLang="en-US"/>
              <a:t>内核开发人员手册</a:t>
            </a:r>
            <a:r>
              <a:rPr lang="zh-CN" altLang="en-US"/>
              <a:t>等</a:t>
            </a:r>
            <a:endParaRPr lang="zh-CN" altLang="en-US"/>
          </a:p>
          <a:p>
            <a:pPr lvl="1"/>
            <a:r>
              <a:rPr lang="en-US" altLang="zh-CN"/>
              <a:t>&gt; man man</a:t>
            </a:r>
            <a:endParaRPr lang="en-US" altLang="zh-C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200" y="1524000"/>
            <a:ext cx="4699000" cy="4276725"/>
          </a:xfrm>
          <a:prstGeom prst="rect">
            <a:avLst/>
          </a:prstGeom>
        </p:spPr>
      </p:pic>
      <p:sp>
        <p:nvSpPr>
          <p:cNvPr id="7" name="Cloud Callout 6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有哪些系统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man</a:t>
            </a:r>
            <a:r>
              <a:rPr lang="zh-CN" altLang="en-US"/>
              <a:t>手册</a:t>
            </a:r>
            <a:endParaRPr lang="zh-CN" altLang="en-US"/>
          </a:p>
          <a:p>
            <a:pPr lvl="1"/>
            <a:r>
              <a:rPr lang="en-US" altLang="zh-CN"/>
              <a:t>man 2 open</a:t>
            </a:r>
            <a:endParaRPr lang="en-US" altLang="zh-CN"/>
          </a:p>
          <a:p>
            <a:pPr lvl="1"/>
            <a:r>
              <a:rPr lang="en-US" altLang="zh-CN"/>
              <a:t>man 2 read</a:t>
            </a:r>
            <a:endParaRPr lang="en-US" altLang="zh-C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609600"/>
            <a:ext cx="4935855" cy="27184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810000"/>
            <a:ext cx="4157345" cy="2595880"/>
          </a:xfrm>
          <a:prstGeom prst="rect">
            <a:avLst/>
          </a:prstGeom>
        </p:spPr>
      </p:pic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系统调用</a:t>
            </a:r>
            <a:r>
              <a:rPr lang="en-US" altLang="zh-CN"/>
              <a:t> vs </a:t>
            </a:r>
            <a:r>
              <a:rPr lang="zh-CN" altLang="en-US"/>
              <a:t>库函数</a:t>
            </a:r>
            <a:endParaRPr lang="zh-CN" altLang="en-US"/>
          </a:p>
        </p:txBody>
      </p:sp>
      <p:sp>
        <p:nvSpPr>
          <p:cNvPr id="5" name="Content Placeholder 4"/>
          <p:cNvSpPr/>
          <p:nvPr>
            <p:ph idx="1"/>
          </p:nvPr>
        </p:nvSpPr>
        <p:spPr/>
        <p:txBody>
          <a:bodyPr/>
          <a:p>
            <a:r>
              <a:rPr lang="zh-CN" altLang="en-US"/>
              <a:t>系统调用</a:t>
            </a:r>
            <a:r>
              <a:rPr lang="en-US" altLang="zh-CN"/>
              <a:t>syscall</a:t>
            </a:r>
            <a:endParaRPr lang="zh-CN" altLang="en-US"/>
          </a:p>
          <a:p>
            <a:pPr lvl="1"/>
            <a:r>
              <a:rPr lang="en-US" altLang="zh-CN"/>
              <a:t>OS</a:t>
            </a:r>
            <a:r>
              <a:rPr lang="zh-CN" altLang="en-US"/>
              <a:t>内核提供的接口</a:t>
            </a:r>
            <a:r>
              <a:rPr lang="zh-CN" altLang="en-US"/>
              <a:t>定义</a:t>
            </a:r>
            <a:endParaRPr lang="zh-CN" altLang="en-US"/>
          </a:p>
          <a:p>
            <a:pPr lvl="0"/>
            <a:r>
              <a:rPr lang="zh-CN" altLang="en-US" sz="2400"/>
              <a:t>库函数</a:t>
            </a:r>
            <a:endParaRPr lang="zh-CN" altLang="en-US" sz="2400"/>
          </a:p>
          <a:p>
            <a:pPr lvl="1"/>
            <a:r>
              <a:rPr lang="zh-CN" altLang="en-US" sz="2000"/>
              <a:t>编程语言提供的库函数</a:t>
            </a:r>
            <a:endParaRPr lang="zh-CN" altLang="en-US" sz="2000"/>
          </a:p>
          <a:p>
            <a:pPr lvl="1"/>
            <a:r>
              <a:rPr lang="zh-CN" altLang="en-US" sz="2000"/>
              <a:t>其中</a:t>
            </a:r>
            <a:r>
              <a:rPr lang="zh-CN" altLang="en-US" sz="2000"/>
              <a:t>一些封装了</a:t>
            </a:r>
            <a:r>
              <a:rPr lang="en-US" altLang="zh-CN" sz="2000"/>
              <a:t>syscall</a:t>
            </a:r>
            <a:endParaRPr lang="zh-CN" altLang="en-US" sz="2000"/>
          </a:p>
          <a:p>
            <a:pPr lvl="0"/>
            <a:r>
              <a:rPr lang="en-US" altLang="zh-CN"/>
              <a:t>man</a:t>
            </a:r>
            <a:r>
              <a:rPr lang="zh-CN" altLang="en-US"/>
              <a:t>手册</a:t>
            </a:r>
            <a:endParaRPr lang="zh-CN" altLang="en-US"/>
          </a:p>
          <a:p>
            <a:pPr lvl="1"/>
            <a:r>
              <a:rPr lang="en-US" altLang="zh-CN"/>
              <a:t>man 3 fopen</a:t>
            </a:r>
            <a:endParaRPr lang="en-US" altLang="zh-CN"/>
          </a:p>
          <a:p>
            <a:pPr lvl="1"/>
            <a:r>
              <a:rPr lang="en-US" altLang="zh-CN"/>
              <a:t>man 3 printf</a:t>
            </a:r>
            <a:endParaRPr lang="en-US" altLang="zh-CN"/>
          </a:p>
          <a:p>
            <a:pPr marL="0" lvl="0" indent="0">
              <a:buNone/>
            </a:pPr>
            <a:endParaRPr lang="en-US" altLang="zh-CN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5140" y="1295400"/>
            <a:ext cx="3646805" cy="4232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47800"/>
            <a:ext cx="4066540" cy="21443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4038600"/>
            <a:ext cx="3606800" cy="2214880"/>
          </a:xfrm>
          <a:prstGeom prst="rect">
            <a:avLst/>
          </a:prstGeom>
        </p:spPr>
      </p:pic>
      <p:sp>
        <p:nvSpPr>
          <p:cNvPr id="9" name="Cloud Callout 8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当前进程触发</a:t>
            </a:r>
            <a:r>
              <a:rPr lang="zh-CN" altLang="en-US"/>
              <a:t>了哪些系统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strace</a:t>
            </a:r>
            <a:r>
              <a:rPr lang="zh-CN" altLang="en-US"/>
              <a:t>命令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跟踪</a:t>
            </a:r>
            <a:r>
              <a:rPr lang="en-US" altLang="zh-CN">
                <a:sym typeface="+mn-ea"/>
              </a:rPr>
              <a:t>ls</a:t>
            </a:r>
            <a:r>
              <a:rPr lang="zh-CN" altLang="en-US">
                <a:sym typeface="+mn-ea"/>
              </a:rPr>
              <a:t>命令调用了哪些系统调用</a:t>
            </a:r>
            <a:endParaRPr lang="zh-CN" altLang="en-US"/>
          </a:p>
          <a:p>
            <a:pPr lvl="1"/>
            <a:r>
              <a:rPr lang="en-US" altLang="zh-CN"/>
              <a:t>&gt;strace ls 1&gt;/dev/null</a:t>
            </a:r>
            <a:endParaRPr lang="zh-CN" altLang="en-US"/>
          </a:p>
        </p:txBody>
      </p:sp>
      <p:sp>
        <p:nvSpPr>
          <p:cNvPr id="9" name="Cloud Callout 8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2743200"/>
            <a:ext cx="7468870" cy="35071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故障示例：缺页异常</a:t>
            </a:r>
            <a:endParaRPr lang="zh-CN" altLang="en-US" dirty="0"/>
          </a:p>
        </p:txBody>
      </p:sp>
      <p:sp>
        <p:nvSpPr>
          <p:cNvPr id="481297" name="Rectangle 1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用户尝试写入一个内存地址</a:t>
            </a:r>
            <a:endParaRPr lang="zh-CN" altLang="en-US" dirty="0"/>
          </a:p>
          <a:p>
            <a:r>
              <a:rPr lang="zh-CN" altLang="en-US" dirty="0"/>
              <a:t>用户内存的该部分（页）当前存储在磁盘上</a:t>
            </a:r>
            <a:endParaRPr lang="zh-CN" altLang="en-US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1298" name="Text Box 18"/>
          <p:cNvSpPr txBox="1">
            <a:spLocks noChangeArrowheads="1"/>
          </p:cNvSpPr>
          <p:nvPr/>
        </p:nvSpPr>
        <p:spPr bwMode="auto">
          <a:xfrm>
            <a:off x="7712710" y="1175385"/>
            <a:ext cx="3125470" cy="14763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panose="02070609020205020404" pitchFamily="49" charset="0"/>
              </a:rPr>
              <a:t>int</a:t>
            </a:r>
            <a:r>
              <a:rPr lang="en-US" sz="1800" dirty="0">
                <a:latin typeface="Courier New" panose="02070609020205020404" pitchFamily="49" charset="0"/>
              </a:rPr>
              <a:t> a[1000]={...};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main ()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{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    a[500] = 13;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}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481299" name="Text Box 19"/>
          <p:cNvSpPr txBox="1">
            <a:spLocks noChangeArrowheads="1"/>
          </p:cNvSpPr>
          <p:nvPr/>
        </p:nvSpPr>
        <p:spPr bwMode="auto">
          <a:xfrm>
            <a:off x="1483483" y="2939534"/>
            <a:ext cx="861966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latin typeface="Courier New" panose="02070609020205020404" pitchFamily="49" charset="0"/>
              </a:rPr>
              <a:t> 80483b7:	c7 05 10 9d 04 08 0d 	movl   $0xd,0x8049d10</a:t>
            </a:r>
            <a:endParaRPr lang="en-US" sz="1800">
              <a:latin typeface="Courier New" panose="02070609020205020404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124200" y="3733800"/>
            <a:ext cx="5715000" cy="2286000"/>
            <a:chOff x="3238500" y="3733800"/>
            <a:chExt cx="5715000" cy="2286000"/>
          </a:xfrm>
        </p:grpSpPr>
        <p:sp>
          <p:nvSpPr>
            <p:cNvPr id="32" name="Rectangle 31"/>
            <p:cNvSpPr/>
            <p:nvPr/>
          </p:nvSpPr>
          <p:spPr bwMode="auto">
            <a:xfrm>
              <a:off x="3238500" y="3733800"/>
              <a:ext cx="5715000" cy="2286000"/>
            </a:xfrm>
            <a:prstGeom prst="rect">
              <a:avLst/>
            </a:prstGeom>
            <a:solidFill>
              <a:srgbClr val="E9E1C9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3314701" y="3786351"/>
              <a:ext cx="1404620" cy="456565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SimSun" pitchFamily="2" charset="-122"/>
                </a:rPr>
                <a:t>用户代码</a:t>
              </a:r>
              <a:endPara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endParaRP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6057900" y="3786351"/>
              <a:ext cx="1404620" cy="456565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SimSun" pitchFamily="2" charset="-122"/>
                </a:rPr>
                <a:t>内核代码</a:t>
              </a:r>
              <a:endPara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endParaRPr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>
              <a:off x="4129088" y="4308638"/>
              <a:ext cx="0" cy="598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>
              <a:off x="4135438" y="4913476"/>
              <a:ext cx="28067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>
              <a:off x="6948488" y="4919826"/>
              <a:ext cx="0" cy="596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 flipH="1" flipV="1">
              <a:off x="4122737" y="4919826"/>
              <a:ext cx="28321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H="1">
              <a:off x="4122738" y="5010313"/>
              <a:ext cx="6350" cy="909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5104384" y="4555337"/>
              <a:ext cx="1106055" cy="366759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1800" b="0" i="1" dirty="0">
                  <a:latin typeface="FangSong" panose="02010609060101010101" pitchFamily="49" charset="-122"/>
                  <a:ea typeface="FangSong" panose="02010609060101010101" pitchFamily="49" charset="-122"/>
                </a:rPr>
                <a:t>缺页异常</a:t>
              </a:r>
              <a:endParaRPr lang="zh-CN" altLang="en-US" sz="1800" b="0" i="1" dirty="0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6978650" y="4892566"/>
              <a:ext cx="1974850" cy="6413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squar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1800" b="0" i="1" dirty="0">
                  <a:latin typeface="FangSong" panose="02010609060101010101" pitchFamily="49" charset="-122"/>
                  <a:ea typeface="FangSong" panose="02010609060101010101" pitchFamily="49" charset="-122"/>
                </a:rPr>
                <a:t>将页从磁盘复制到内存中</a:t>
              </a:r>
              <a:endParaRPr lang="zh-CN" altLang="en-US" sz="1800" b="0" i="1" dirty="0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4845051" y="5223642"/>
              <a:ext cx="2124290" cy="643758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squar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1800" b="0" i="1" dirty="0">
                  <a:latin typeface="Consolas" panose="020B0609020204030204" pitchFamily="49" charset="0"/>
                  <a:ea typeface="FangSong" panose="02010609060101010101" pitchFamily="49" charset="-122"/>
                  <a:cs typeface="Consolas" panose="020B0609020204030204" pitchFamily="49" charset="0"/>
                </a:rPr>
                <a:t>返回</a:t>
              </a:r>
              <a:endParaRPr lang="zh-CN" altLang="en-US" sz="1800" b="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zh-CN" altLang="en-US" sz="1800" b="0" i="1" dirty="0">
                  <a:latin typeface="Consolas" panose="020B0609020204030204" pitchFamily="49" charset="0"/>
                  <a:ea typeface="FangSong" panose="02010609060101010101" pitchFamily="49" charset="-122"/>
                  <a:cs typeface="Consolas" panose="020B0609020204030204" pitchFamily="49" charset="0"/>
                </a:rPr>
                <a:t>重新执行</a:t>
              </a:r>
              <a:r>
                <a:rPr lang="en-US" sz="1800" b="0" i="1" dirty="0">
                  <a:latin typeface="Consolas" panose="020B0609020204030204" pitchFamily="49" charset="0"/>
                  <a:ea typeface="FangSong" panose="02010609060101010101" pitchFamily="49" charset="-122"/>
                  <a:cs typeface="Consolas" panose="020B0609020204030204" pitchFamily="49" charset="0"/>
                </a:rPr>
                <a:t> </a:t>
              </a:r>
              <a:r>
                <a:rPr lang="en-US" sz="1800" b="0" dirty="0" err="1">
                  <a:latin typeface="Consolas" panose="020B0609020204030204" pitchFamily="49" charset="0"/>
                  <a:ea typeface="FangSong" panose="02010609060101010101" pitchFamily="49" charset="-122"/>
                  <a:cs typeface="Consolas" panose="020B0609020204030204" pitchFamily="49" charset="0"/>
                </a:rPr>
                <a:t>movl</a:t>
              </a:r>
              <a:endParaRPr lang="en-US" sz="1800" b="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0" name="Text Box 15"/>
            <p:cNvSpPr txBox="1">
              <a:spLocks noChangeArrowheads="1"/>
            </p:cNvSpPr>
            <p:nvPr/>
          </p:nvSpPr>
          <p:spPr bwMode="auto">
            <a:xfrm>
              <a:off x="3498633" y="4748050"/>
              <a:ext cx="691215" cy="369332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movl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故障示</a:t>
            </a:r>
            <a:r>
              <a:rPr lang="zh-CN" altLang="en-US"/>
              <a:t>例：</a:t>
            </a:r>
            <a:r>
              <a:rPr lang="zh-CN" altLang="en-US"/>
              <a:t>非法的内存引用</a:t>
            </a:r>
            <a:endParaRPr lang="zh-CN" altLang="en-US"/>
          </a:p>
        </p:txBody>
      </p:sp>
      <p:sp>
        <p:nvSpPr>
          <p:cNvPr id="482318" name="Rectangle 14"/>
          <p:cNvSpPr>
            <a:spLocks noGrp="1" noChangeArrowheads="1"/>
          </p:cNvSpPr>
          <p:nvPr>
            <p:ph idx="1"/>
          </p:nvPr>
        </p:nvSpPr>
        <p:spPr>
          <a:xfrm>
            <a:off x="528955" y="5553075"/>
            <a:ext cx="10528300" cy="937895"/>
          </a:xfrm>
        </p:spPr>
        <p:txBody>
          <a:bodyPr/>
          <a:lstStyle/>
          <a:p>
            <a:r>
              <a:rPr lang="zh-CN" altLang="en-US" sz="2000" b="0" dirty="0"/>
              <a:t>向用户进程发送</a:t>
            </a:r>
            <a:r>
              <a:rPr lang="en-US" sz="2000" b="0" dirty="0"/>
              <a:t> </a:t>
            </a:r>
            <a:r>
              <a:rPr lang="en-US" sz="2000" dirty="0">
                <a:latin typeface="Courier New" panose="02070609020205020404" pitchFamily="49" charset="0"/>
              </a:rPr>
              <a:t>SIGSEGV</a:t>
            </a:r>
            <a:r>
              <a:rPr lang="en-US" sz="2000" b="0" dirty="0"/>
              <a:t> </a:t>
            </a:r>
            <a:r>
              <a:rPr lang="zh-CN" altLang="en-US" sz="2000" b="0" dirty="0"/>
              <a:t>信号</a:t>
            </a:r>
            <a:endParaRPr lang="en-US" sz="2000" b="0" dirty="0"/>
          </a:p>
          <a:p>
            <a:r>
              <a:rPr lang="zh-CN" altLang="en-US" sz="2000" b="0" dirty="0"/>
              <a:t>用户进程退出，报“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segmentation</a:t>
            </a: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fault</a:t>
            </a:r>
            <a:r>
              <a:rPr lang="zh-CN" altLang="en-US" sz="2000" b="0" dirty="0"/>
              <a:t>”</a:t>
            </a:r>
            <a:r>
              <a:rPr lang="zh-CN" altLang="en-US" sz="2000" b="0" dirty="0">
                <a:sym typeface="+mn-ea"/>
              </a:rPr>
              <a:t>错</a:t>
            </a:r>
            <a:endParaRPr lang="zh-CN" altLang="en-US" sz="2000" b="0" dirty="0">
              <a:sym typeface="+mn-ea"/>
            </a:endParaRPr>
          </a:p>
        </p:txBody>
      </p:sp>
      <p:sp>
        <p:nvSpPr>
          <p:cNvPr id="482319" name="Text Box 15"/>
          <p:cNvSpPr txBox="1">
            <a:spLocks noChangeArrowheads="1"/>
          </p:cNvSpPr>
          <p:nvPr/>
        </p:nvSpPr>
        <p:spPr bwMode="auto">
          <a:xfrm>
            <a:off x="2057400" y="1219200"/>
            <a:ext cx="2528256" cy="147732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anose="02070609020205020404" pitchFamily="49" charset="0"/>
              </a:rPr>
              <a:t>int a[1000];</a:t>
            </a:r>
            <a:endParaRPr lang="en-US" sz="1800" dirty="0" err="1">
              <a:latin typeface="Courier New" panose="02070609020205020404" pitchFamily="49" charset="0"/>
            </a:endParaRPr>
          </a:p>
          <a:p>
            <a:r>
              <a:rPr lang="en-US" sz="1800" dirty="0" err="1">
                <a:latin typeface="Courier New" panose="02070609020205020404" pitchFamily="49" charset="0"/>
              </a:rPr>
              <a:t>main ()</a:t>
            </a:r>
            <a:endParaRPr lang="en-US" sz="1800" dirty="0" err="1">
              <a:latin typeface="Courier New" panose="02070609020205020404" pitchFamily="49" charset="0"/>
            </a:endParaRPr>
          </a:p>
          <a:p>
            <a:r>
              <a:rPr lang="en-US" sz="1800" dirty="0" err="1">
                <a:latin typeface="Courier New" panose="02070609020205020404" pitchFamily="49" charset="0"/>
              </a:rPr>
              <a:t>{</a:t>
            </a:r>
            <a:endParaRPr lang="en-US" sz="1800" dirty="0" err="1">
              <a:latin typeface="Courier New" panose="02070609020205020404" pitchFamily="49" charset="0"/>
            </a:endParaRPr>
          </a:p>
          <a:p>
            <a:r>
              <a:rPr lang="en-US" sz="1800" dirty="0" err="1">
                <a:latin typeface="Courier New" panose="02070609020205020404" pitchFamily="49" charset="0"/>
              </a:rPr>
              <a:t>    a[5000] = 13;</a:t>
            </a:r>
            <a:endParaRPr lang="en-US" sz="1800" dirty="0" err="1">
              <a:latin typeface="Courier New" panose="02070609020205020404" pitchFamily="49" charset="0"/>
            </a:endParaRPr>
          </a:p>
          <a:p>
            <a:r>
              <a:rPr lang="en-US" sz="1800" dirty="0" err="1">
                <a:latin typeface="Courier New" panose="02070609020205020404" pitchFamily="49" charset="0"/>
              </a:rPr>
              <a:t>}</a:t>
            </a:r>
            <a:endParaRPr lang="en-US" sz="1800" dirty="0" err="1">
              <a:latin typeface="Courier New" panose="02070609020205020404" pitchFamily="49" charset="0"/>
            </a:endParaRPr>
          </a:p>
        </p:txBody>
      </p:sp>
      <p:sp>
        <p:nvSpPr>
          <p:cNvPr id="482320" name="Text Box 16"/>
          <p:cNvSpPr txBox="1">
            <a:spLocks noChangeArrowheads="1"/>
          </p:cNvSpPr>
          <p:nvPr/>
        </p:nvSpPr>
        <p:spPr bwMode="auto">
          <a:xfrm>
            <a:off x="2057400" y="2800853"/>
            <a:ext cx="861966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anose="02070609020205020404" pitchFamily="49" charset="0"/>
              </a:rPr>
              <a:t> 80483b7:	c7 05 60 e3 04 08 0d 	movl   $0xd,0x804e360</a:t>
            </a:r>
            <a:endParaRPr lang="en-US" sz="1800">
              <a:latin typeface="Courier New" panose="02070609020205020404" pitchFamily="49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057400" y="3276600"/>
            <a:ext cx="7270532" cy="20574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158783" y="32766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用户代码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060732" y="3276600"/>
            <a:ext cx="1404620" cy="4565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SimSun" pitchFamily="2" charset="-122"/>
              </a:rPr>
              <a:t>内核代码</a:t>
            </a:r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SimSun" pitchFamily="2" charset="-122"/>
            </a:endParaRPr>
          </a:p>
        </p:txBody>
      </p:sp>
      <p:sp>
        <p:nvSpPr>
          <p:cNvPr id="21" name="Line 6"/>
          <p:cNvSpPr>
            <a:spLocks noChangeShapeType="1"/>
          </p:cNvSpPr>
          <p:nvPr/>
        </p:nvSpPr>
        <p:spPr bwMode="auto">
          <a:xfrm>
            <a:off x="2973170" y="3798887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>
            <a:off x="2979520" y="4403725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3" name="Line 8"/>
          <p:cNvSpPr>
            <a:spLocks noChangeShapeType="1"/>
          </p:cNvSpPr>
          <p:nvPr/>
        </p:nvSpPr>
        <p:spPr bwMode="auto">
          <a:xfrm>
            <a:off x="5792570" y="4410075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3832896" y="4038601"/>
            <a:ext cx="1106055" cy="366759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FangSong" panose="02010609060101010101" pitchFamily="49" charset="-122"/>
                <a:ea typeface="FangSong" panose="02010609060101010101" pitchFamily="49" charset="-122"/>
              </a:rPr>
              <a:t>缺页异常</a:t>
            </a:r>
            <a:endParaRPr lang="zh-CN" altLang="en-US" sz="1800" b="0" i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5822732" y="4495801"/>
            <a:ext cx="228600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FangSong" panose="02010609060101010101" pitchFamily="49" charset="-122"/>
                <a:ea typeface="FangSong" panose="02010609060101010101" pitchFamily="49" charset="-122"/>
              </a:rPr>
              <a:t>检测到无效地址</a:t>
            </a:r>
            <a:endParaRPr lang="zh-CN" altLang="en-US" sz="1800" b="0" i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9" name="Text Box 15"/>
          <p:cNvSpPr txBox="1">
            <a:spLocks noChangeArrowheads="1"/>
          </p:cNvSpPr>
          <p:nvPr/>
        </p:nvSpPr>
        <p:spPr bwMode="auto">
          <a:xfrm>
            <a:off x="2341182" y="4240575"/>
            <a:ext cx="691215" cy="36933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movl</a:t>
            </a:r>
            <a:endParaRPr 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5806966" y="5005551"/>
            <a:ext cx="17683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7575332" y="4814570"/>
            <a:ext cx="1940560" cy="3644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i="1" dirty="0">
                <a:latin typeface="FangSong" panose="02010609060101010101" pitchFamily="49" charset="-122"/>
                <a:ea typeface="FangSong" panose="02010609060101010101" pitchFamily="49" charset="-122"/>
              </a:rPr>
              <a:t>向进程发送信号</a:t>
            </a:r>
            <a:endParaRPr lang="zh-CN" altLang="en-US" sz="1800" b="0" i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8" grpId="0" build="p"/>
      <p:bldP spid="18" grpId="0" animBg="1"/>
      <p:bldP spid="19" grpId="0" bldLvl="0" animBg="1"/>
      <p:bldP spid="20" grpId="0" bldLvl="0" animBg="1"/>
      <p:bldP spid="21" grpId="0" animBg="1"/>
      <p:bldP spid="22" grpId="0" animBg="1"/>
      <p:bldP spid="23" grpId="0" animBg="1"/>
      <p:bldP spid="26" grpId="0" bldLvl="0" animBg="1"/>
      <p:bldP spid="27" grpId="0" bldLvl="0" animBg="1"/>
      <p:bldP spid="29" grpId="0" bldLvl="0" animBg="1"/>
      <p:bldP spid="31" grpId="0" animBg="1"/>
      <p:bldP spid="32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Fault</a:t>
            </a:r>
            <a:r>
              <a:rPr lang="zh-CN" altLang="en-US"/>
              <a:t>的例子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 Page Fault</a:t>
            </a:r>
            <a:r>
              <a:rPr lang="zh-CN" altLang="en-US"/>
              <a:t>（页错误）是最典型的</a:t>
            </a:r>
            <a:r>
              <a:rPr lang="en-US" altLang="en-US"/>
              <a:t> Fault </a:t>
            </a:r>
            <a:r>
              <a:rPr lang="zh-CN" altLang="en-US"/>
              <a:t>类型。</a:t>
            </a:r>
            <a:endParaRPr lang="zh-CN" altLang="en-US"/>
          </a:p>
          <a:p>
            <a:r>
              <a:rPr lang="zh-CN" altLang="en-US"/>
              <a:t>不可恢复的</a:t>
            </a:r>
            <a:r>
              <a:rPr lang="en-US" altLang="zh-CN"/>
              <a:t>fault，</a:t>
            </a:r>
            <a:r>
              <a:rPr lang="zh-CN" altLang="en-US"/>
              <a:t>最后的处理机制通常跟</a:t>
            </a:r>
            <a:r>
              <a:rPr lang="en-US" altLang="zh-CN"/>
              <a:t>Abort</a:t>
            </a:r>
            <a:r>
              <a:rPr lang="zh-CN" altLang="en-US"/>
              <a:t>一样。</a:t>
            </a:r>
            <a:endParaRPr lang="zh-CN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19400"/>
            <a:ext cx="12192000" cy="16217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异常</a:t>
            </a:r>
            <a:r>
              <a:rPr lang="zh-CN" altLang="en-US"/>
              <a:t>向量表的</a:t>
            </a:r>
            <a:r>
              <a:rPr lang="zh-CN" altLang="en-US"/>
              <a:t>组织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异常向量</a:t>
            </a:r>
            <a:r>
              <a:rPr lang="zh-CN" altLang="en-US"/>
              <a:t>表</a:t>
            </a:r>
            <a:endParaRPr lang="zh-CN" altLang="en-US"/>
          </a:p>
          <a:p>
            <a:pPr lvl="1"/>
            <a:r>
              <a:rPr lang="en-US" altLang="en-US"/>
              <a:t>Linux x86-64 </a:t>
            </a:r>
            <a:r>
              <a:rPr lang="zh-CN" altLang="en-US"/>
              <a:t>通过</a:t>
            </a:r>
            <a:r>
              <a:rPr lang="en-US" altLang="en-US"/>
              <a:t>IDT </a:t>
            </a:r>
            <a:r>
              <a:rPr lang="zh-CN" altLang="en-US"/>
              <a:t>统一管理异常的</a:t>
            </a:r>
            <a:r>
              <a:rPr lang="zh-CN" altLang="en-US"/>
              <a:t>处理。</a:t>
            </a:r>
            <a:r>
              <a:rPr lang="en-US" altLang="en-US"/>
              <a:t>IDT </a:t>
            </a:r>
            <a:r>
              <a:rPr lang="zh-CN" altLang="en-US"/>
              <a:t>是一个包含</a:t>
            </a:r>
            <a:r>
              <a:rPr lang="en-US" altLang="en-US"/>
              <a:t> 256 </a:t>
            </a:r>
            <a:r>
              <a:rPr lang="zh-CN" altLang="en-US"/>
              <a:t>个表项的数组，每个表项存储了处理代码的地址</a:t>
            </a:r>
            <a:endParaRPr lang="zh-CN" altLang="en-US"/>
          </a:p>
          <a:p>
            <a:pPr lvl="2"/>
            <a:r>
              <a:rPr lang="zh-CN" altLang="en-US" b="1"/>
              <a:t>内部异常</a:t>
            </a:r>
            <a:r>
              <a:rPr lang="en-US" altLang="zh-CN"/>
              <a:t>，</a:t>
            </a:r>
            <a:r>
              <a:rPr lang="zh-CN" altLang="en-US"/>
              <a:t>直接</a:t>
            </a:r>
            <a:r>
              <a:rPr lang="zh-CN" altLang="en-US"/>
              <a:t>处理</a:t>
            </a:r>
            <a:endParaRPr lang="zh-CN" altLang="en-US"/>
          </a:p>
          <a:p>
            <a:pPr lvl="2"/>
            <a:r>
              <a:rPr lang="zh-CN" altLang="en-US" b="1"/>
              <a:t>外部中断</a:t>
            </a:r>
            <a:r>
              <a:rPr lang="en-US" altLang="zh-CN"/>
              <a:t>，</a:t>
            </a:r>
            <a:r>
              <a:rPr lang="zh-CN" altLang="en-US"/>
              <a:t>通过中断路由表进行</a:t>
            </a:r>
            <a:r>
              <a:rPr lang="zh-CN" altLang="en-US" b="1"/>
              <a:t>二次分发</a:t>
            </a:r>
            <a:r>
              <a:rPr lang="en-US" altLang="zh-CN"/>
              <a:t>，</a:t>
            </a:r>
            <a:r>
              <a:rPr lang="zh-CN" altLang="en-US"/>
              <a:t>以便支持大量的</a:t>
            </a:r>
            <a:r>
              <a:rPr lang="zh-CN" altLang="en-US"/>
              <a:t>外设</a:t>
            </a:r>
            <a:endParaRPr lang="zh-CN" altLang="en-US"/>
          </a:p>
          <a:p>
            <a:pPr lvl="2"/>
            <a:r>
              <a:rPr lang="zh-CN" altLang="en-US" b="1"/>
              <a:t>内部系统调用</a:t>
            </a:r>
            <a:r>
              <a:rPr lang="en-US" altLang="zh-CN"/>
              <a:t>，</a:t>
            </a:r>
            <a:r>
              <a:rPr lang="zh-CN" altLang="en-US"/>
              <a:t>通过系统调用表进行</a:t>
            </a:r>
            <a:r>
              <a:rPr lang="zh-CN" altLang="en-US" b="1"/>
              <a:t>二次分发</a:t>
            </a:r>
            <a:r>
              <a:rPr lang="en-US" altLang="zh-CN"/>
              <a:t>，</a:t>
            </a:r>
            <a:r>
              <a:rPr lang="zh-CN" altLang="en-US"/>
              <a:t>以便支持</a:t>
            </a:r>
            <a:r>
              <a:rPr lang="en-US" altLang="zh-CN"/>
              <a:t>548+</a:t>
            </a:r>
            <a:r>
              <a:rPr lang="zh-CN" altLang="en-US"/>
              <a:t>个系统</a:t>
            </a:r>
            <a:r>
              <a:rPr lang="zh-CN" altLang="en-US"/>
              <a:t>调用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70" y="3657600"/>
            <a:ext cx="11365865" cy="2399665"/>
          </a:xfrm>
          <a:prstGeom prst="rect">
            <a:avLst/>
          </a:prstGeom>
        </p:spPr>
      </p:pic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66800" y="6096000"/>
            <a:ext cx="10287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0" dirty="0" smtClean="0">
                <a:latin typeface="Calibri" panose="020F0502020204030204" pitchFamily="34" charset="0"/>
              </a:rPr>
              <a:t>参考</a:t>
            </a:r>
            <a:r>
              <a:rPr lang="en-US" altLang="zh-CN" sz="1800" b="0" dirty="0" smtClean="0">
                <a:latin typeface="Calibri" panose="020F0502020204030204" pitchFamily="34" charset="0"/>
              </a:rPr>
              <a:t>：</a:t>
            </a:r>
            <a:r>
              <a:rPr lang="en-US" altLang="en-US" sz="1800" b="0" dirty="0" smtClean="0">
                <a:latin typeface="Calibri" panose="020F0502020204030204" pitchFamily="34" charset="0"/>
              </a:rPr>
              <a:t>https://elixir.bootlin.com/linux/v7.0.1/source/arch/x86/include/asm/irq_vectors.h</a:t>
            </a:r>
            <a:endParaRPr lang="en-US" altLang="en-US" sz="1800" b="0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主要内容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cs typeface="Consolas" panose="020B0609020204030204" pitchFamily="49" charset="0"/>
              </a:rPr>
              <a:t>异常控制流</a:t>
            </a:r>
            <a:endParaRPr lang="en-US" sz="2800" dirty="0"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tx1"/>
                </a:solidFill>
                <a:cs typeface="Consolas" panose="020B0609020204030204" pitchFamily="49" charset="0"/>
              </a:rPr>
              <a:t>异常</a:t>
            </a:r>
            <a:endParaRPr lang="en-US" sz="2330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tx1"/>
                </a:solidFill>
                <a:cs typeface="Consolas" panose="020B0609020204030204" pitchFamily="49" charset="0"/>
              </a:rPr>
              <a:t>进程</a:t>
            </a:r>
            <a:endParaRPr lang="en-US" sz="2330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进程的管理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进程的状态和终止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进程的创建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子进程的回收与同步</a:t>
            </a:r>
            <a:endParaRPr lang="zh-CN" alt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r>
              <a:rPr lang="zh-CN" altLang="en-US" sz="2330" dirty="0">
                <a:solidFill>
                  <a:schemeClr val="bg1">
                    <a:lumMod val="50000"/>
                  </a:schemeClr>
                </a:solidFill>
                <a:cs typeface="Consolas" panose="020B0609020204030204" pitchFamily="49" charset="0"/>
              </a:rPr>
              <a:t>创建不同的进程</a:t>
            </a:r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  <a:p>
            <a:pPr lvl="1"/>
            <a:endParaRPr lang="en-US" sz="2330" dirty="0">
              <a:solidFill>
                <a:schemeClr val="bg1">
                  <a:lumMod val="50000"/>
                </a:schemeClr>
              </a:solidFill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50900" y="457200"/>
            <a:ext cx="5245100" cy="573088"/>
          </a:xfrm>
        </p:spPr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 (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143000"/>
            <a:ext cx="9525000" cy="5530850"/>
          </a:xfrm>
        </p:spPr>
        <p:txBody>
          <a:bodyPr/>
          <a:lstStyle/>
          <a:p>
            <a:r>
              <a:rPr lang="zh-CN" altLang="en-US" dirty="0"/>
              <a:t>定义：</a:t>
            </a:r>
            <a:r>
              <a:rPr lang="zh-CN" altLang="en-US" i="1" dirty="0">
                <a:solidFill>
                  <a:srgbClr val="C00000"/>
                </a:solidFill>
              </a:rPr>
              <a:t>进程</a:t>
            </a:r>
            <a:r>
              <a:rPr lang="zh-CN" altLang="en-US" dirty="0"/>
              <a:t>是一个正在运行的程序的实例</a:t>
            </a:r>
            <a:endParaRPr lang="en-US" dirty="0"/>
          </a:p>
          <a:p>
            <a:pPr lvl="1"/>
            <a:r>
              <a:rPr lang="zh-CN" altLang="en-US" dirty="0"/>
              <a:t>计算机科学中最深刻的思想之一</a:t>
            </a:r>
            <a:endParaRPr lang="zh-CN" altLang="en-US" dirty="0"/>
          </a:p>
          <a:p>
            <a:pPr lvl="1"/>
            <a:r>
              <a:rPr lang="zh-CN" altLang="en-US" dirty="0"/>
              <a:t>与</a:t>
            </a:r>
            <a:r>
              <a:rPr lang="en-US" altLang="zh-CN" dirty="0"/>
              <a:t>“</a:t>
            </a:r>
            <a:r>
              <a:rPr lang="zh-CN" altLang="en-US" dirty="0"/>
              <a:t>程序</a:t>
            </a:r>
            <a:r>
              <a:rPr lang="en-US" altLang="zh-CN" dirty="0"/>
              <a:t>”</a:t>
            </a:r>
            <a:r>
              <a:rPr lang="zh-CN" altLang="en-US" dirty="0"/>
              <a:t>或</a:t>
            </a:r>
            <a:r>
              <a:rPr lang="en-US" altLang="zh-CN" dirty="0"/>
              <a:t>“</a:t>
            </a:r>
            <a:r>
              <a:rPr lang="zh-CN" altLang="en-US" dirty="0"/>
              <a:t>处理器</a:t>
            </a:r>
            <a:r>
              <a:rPr lang="en-US" altLang="zh-CN" dirty="0"/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(processor) </a:t>
            </a:r>
            <a:r>
              <a:rPr lang="en-US" altLang="zh-CN" dirty="0"/>
              <a:t>”</a:t>
            </a:r>
            <a:r>
              <a:rPr lang="zh-CN" altLang="en-US" dirty="0"/>
              <a:t>不同</a:t>
            </a:r>
            <a:endParaRPr lang="zh-CN" alt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进程为每个程序提供两个关键抽象</a:t>
            </a:r>
            <a:r>
              <a:rPr lang="en-US" altLang="zh-CN" dirty="0"/>
              <a:t>:</a:t>
            </a:r>
            <a:endParaRPr lang="zh-CN" altLang="en-US" dirty="0"/>
          </a:p>
          <a:p>
            <a:pPr lvl="1"/>
            <a:r>
              <a:rPr lang="zh-CN" altLang="en-US" b="1" i="1" dirty="0">
                <a:solidFill>
                  <a:srgbClr val="FF0000"/>
                </a:solidFill>
              </a:rPr>
              <a:t>逻辑控制流</a:t>
            </a:r>
            <a:endParaRPr lang="en-US" b="1" i="1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看起来好像程序独占地使用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zh-CN" altLang="en-US" dirty="0"/>
              <a:t>由称为</a:t>
            </a:r>
            <a:r>
              <a:rPr lang="zh-CN" altLang="en-US" b="1" i="1" dirty="0">
                <a:solidFill>
                  <a:srgbClr val="00B050"/>
                </a:solidFill>
              </a:rPr>
              <a:t>上下文切换</a:t>
            </a:r>
            <a:r>
              <a:rPr lang="zh-CN" altLang="en-US" dirty="0"/>
              <a:t>的内核机制提供</a:t>
            </a:r>
            <a:endParaRPr lang="en-US" i="1" dirty="0"/>
          </a:p>
          <a:p>
            <a:pPr lvl="1"/>
            <a:r>
              <a:rPr lang="zh-CN" altLang="en-US" b="1" i="1" dirty="0">
                <a:solidFill>
                  <a:srgbClr val="FF0000"/>
                </a:solidFill>
              </a:rPr>
              <a:t>私有地址空间</a:t>
            </a:r>
            <a:endParaRPr lang="en-US" b="1" i="1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ym typeface="+mn-ea"/>
              </a:rPr>
              <a:t>看起来好像程序独占地使用</a:t>
            </a:r>
            <a:r>
              <a:rPr lang="zh-CN" altLang="en-US" b="1" dirty="0">
                <a:solidFill>
                  <a:srgbClr val="00B050"/>
                </a:solidFill>
                <a:sym typeface="+mn-ea"/>
              </a:rPr>
              <a:t>主存</a:t>
            </a:r>
            <a:endParaRPr lang="en-US" dirty="0"/>
          </a:p>
          <a:p>
            <a:pPr lvl="2"/>
            <a:r>
              <a:rPr lang="zh-CN" altLang="en-US" dirty="0">
                <a:sym typeface="+mn-ea"/>
              </a:rPr>
              <a:t>由称为</a:t>
            </a:r>
            <a:r>
              <a:rPr lang="zh-CN" altLang="en-US" b="1" i="1" dirty="0">
                <a:solidFill>
                  <a:srgbClr val="00B050"/>
                </a:solidFill>
                <a:sym typeface="+mn-ea"/>
              </a:rPr>
              <a:t>虚拟内存</a:t>
            </a:r>
            <a:r>
              <a:rPr lang="zh-CN" altLang="en-US" dirty="0">
                <a:sym typeface="+mn-ea"/>
              </a:rPr>
              <a:t>的内核机制提供</a:t>
            </a:r>
            <a:endParaRPr lang="en-US" i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9829800" y="3962400"/>
            <a:ext cx="1371600" cy="990600"/>
            <a:chOff x="7208670" y="5257800"/>
            <a:chExt cx="1371600" cy="990600"/>
          </a:xfrm>
        </p:grpSpPr>
        <p:sp>
          <p:nvSpPr>
            <p:cNvPr id="5" name="Rectangle 4"/>
            <p:cNvSpPr/>
            <p:nvPr/>
          </p:nvSpPr>
          <p:spPr bwMode="auto">
            <a:xfrm>
              <a:off x="7208670" y="5257800"/>
              <a:ext cx="1371600" cy="990600"/>
            </a:xfrm>
            <a:prstGeom prst="rect">
              <a:avLst/>
            </a:prstGeom>
            <a:solidFill>
              <a:srgbClr val="F6F5BD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t" anchorCtr="1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CPU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" name="Rectangle 2"/>
            <p:cNvSpPr/>
            <p:nvPr/>
          </p:nvSpPr>
          <p:spPr bwMode="auto">
            <a:xfrm>
              <a:off x="7361070" y="5715000"/>
              <a:ext cx="1066800" cy="3048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Registers</a:t>
              </a:r>
              <a:endParaRPr lang="en-US" sz="1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833280" y="1996099"/>
            <a:ext cx="1371600" cy="1905000"/>
            <a:chOff x="7212150" y="3291499"/>
            <a:chExt cx="1371600" cy="1905000"/>
          </a:xfrm>
        </p:grpSpPr>
        <p:sp>
          <p:nvSpPr>
            <p:cNvPr id="2" name="Rectangle 1"/>
            <p:cNvSpPr/>
            <p:nvPr/>
          </p:nvSpPr>
          <p:spPr bwMode="auto">
            <a:xfrm>
              <a:off x="7212150" y="3291499"/>
              <a:ext cx="1371600" cy="1905000"/>
            </a:xfrm>
            <a:prstGeom prst="rect">
              <a:avLst/>
            </a:prstGeom>
            <a:solidFill>
              <a:srgbClr val="F1C7C7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t" anchorCtr="1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Memory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7348740" y="3861884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Stack</a:t>
              </a:r>
              <a:endParaRPr lang="en-US" sz="1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7348740" y="4166685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Heap</a:t>
              </a:r>
              <a:endParaRPr lang="en-US" sz="1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7348740" y="4739470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Code</a:t>
              </a:r>
              <a:endParaRPr lang="en-US" sz="1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7348740" y="4455389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Data</a:t>
              </a:r>
              <a:endParaRPr lang="en-US" sz="1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多进程：一种假象</a:t>
            </a:r>
            <a:endParaRPr lang="zh-CN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1920876" y="4501452"/>
            <a:ext cx="7896225" cy="1975548"/>
          </a:xfrm>
        </p:spPr>
        <p:txBody>
          <a:bodyPr/>
          <a:lstStyle/>
          <a:p>
            <a:r>
              <a:rPr lang="zh-CN" altLang="en-US"/>
              <a:t>计算机同时运行多个进程</a:t>
            </a:r>
            <a:endParaRPr lang="zh-CN" altLang="en-US"/>
          </a:p>
          <a:p>
            <a:pPr lvl="1"/>
            <a:r>
              <a:rPr lang="zh-CN" altLang="en-US"/>
              <a:t>一个或多个用户的应用程序</a:t>
            </a:r>
            <a:endParaRPr lang="zh-CN" altLang="en-US"/>
          </a:p>
          <a:p>
            <a:pPr lvl="2"/>
            <a:r>
              <a:rPr lang="zh-CN" altLang="en-US"/>
              <a:t>网页浏览器、电子邮件客户端、编辑器</a:t>
            </a:r>
            <a:r>
              <a:rPr lang="en-US" dirty="0"/>
              <a:t>…</a:t>
            </a:r>
            <a:endParaRPr lang="en-US" dirty="0"/>
          </a:p>
          <a:p>
            <a:pPr lvl="1"/>
            <a:r>
              <a:rPr lang="zh-CN" altLang="en-US"/>
              <a:t>后台任务</a:t>
            </a:r>
            <a:endParaRPr lang="zh-CN" altLang="en-US"/>
          </a:p>
          <a:p>
            <a:pPr lvl="2"/>
            <a:r>
              <a:rPr lang="zh-CN" altLang="en-US"/>
              <a:t>监控网络和</a:t>
            </a:r>
            <a:r>
              <a:rPr lang="en-US" altLang="zh-CN"/>
              <a:t> 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I/O </a:t>
            </a:r>
            <a:r>
              <a:rPr lang="zh-CN" altLang="en-US"/>
              <a:t>设备</a:t>
            </a:r>
            <a:endParaRPr lang="zh-CN" altLang="en-US"/>
          </a:p>
          <a:p>
            <a:pPr lvl="2"/>
            <a:endParaRPr lang="en-US" dirty="0"/>
          </a:p>
        </p:txBody>
      </p:sp>
      <p:sp>
        <p:nvSpPr>
          <p:cNvPr id="23" name="Rectangle 22"/>
          <p:cNvSpPr/>
          <p:nvPr/>
        </p:nvSpPr>
        <p:spPr bwMode="auto">
          <a:xfrm>
            <a:off x="2057400" y="3344923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3802123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2060880" y="1371600"/>
            <a:ext cx="1371600" cy="1905000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2197470" y="1941986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197470" y="224678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2197470" y="281957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2197470" y="2535491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3837318" y="3345095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3989718" y="3802295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3840798" y="1371772"/>
            <a:ext cx="1371600" cy="1905000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3977388" y="194215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3977388" y="224695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3977388" y="281974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977388" y="253566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91200" y="2254664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6778320" y="33528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6930720" y="38100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6781800" y="1379477"/>
            <a:ext cx="1371600" cy="1905000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918390" y="194986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6918390" y="225466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6918390" y="282744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918390" y="254336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多进程示例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5410200"/>
            <a:ext cx="7896225" cy="923924"/>
          </a:xfrm>
          <a:solidFill>
            <a:schemeClr val="bg1">
              <a:alpha val="76000"/>
            </a:schemeClr>
          </a:solidFill>
        </p:spPr>
        <p:txBody>
          <a:bodyPr/>
          <a:lstStyle/>
          <a:p>
            <a:r>
              <a:rPr lang="zh-CN" altLang="en-US"/>
              <a:t>在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Mac </a:t>
            </a:r>
            <a:r>
              <a:rPr lang="zh-CN" altLang="en-US"/>
              <a:t>上运行程序</a:t>
            </a:r>
            <a:r>
              <a:rPr lang="en-US" altLang="zh-CN"/>
              <a:t> “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en-US" altLang="zh-CN"/>
              <a:t>” （Windows</a:t>
            </a:r>
            <a:r>
              <a:rPr lang="zh-CN" altLang="en-US"/>
              <a:t>的任务管理器</a:t>
            </a:r>
            <a:r>
              <a:rPr lang="en-US" altLang="zh-CN"/>
              <a:t>）</a:t>
            </a:r>
            <a:endParaRPr lang="en-US" altLang="zh-CN"/>
          </a:p>
          <a:p>
            <a:pPr lvl="1"/>
            <a:r>
              <a:rPr lang="zh-CN" altLang="en-US"/>
              <a:t>系统有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402 </a:t>
            </a:r>
            <a:r>
              <a:rPr lang="zh-CN" altLang="en-US"/>
              <a:t>个进程，其中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3 </a:t>
            </a:r>
            <a:r>
              <a:rPr lang="zh-CN" altLang="en-US"/>
              <a:t>个处于活动状态</a:t>
            </a:r>
            <a:endParaRPr lang="zh-CN" altLang="en-US"/>
          </a:p>
          <a:p>
            <a:pPr lvl="1"/>
            <a:r>
              <a:rPr lang="zh-CN" altLang="en-US"/>
              <a:t>由进程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ID </a:t>
            </a:r>
            <a:r>
              <a:rPr lang="zh-CN" altLang="en-US">
                <a:latin typeface="Consolas" panose="020B0609020204030204" pitchFamily="49" charset="0"/>
                <a:cs typeface="Consolas" panose="020B0609020204030204" pitchFamily="49" charset="0"/>
              </a:rPr>
              <a:t>（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zh-CN" altLang="en-US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r>
              <a:rPr lang="en-US" altLang="zh-CN"/>
              <a:t> </a:t>
            </a:r>
            <a:r>
              <a:rPr lang="zh-CN" altLang="en-US"/>
              <a:t>标识</a:t>
            </a:r>
            <a:endParaRPr lang="zh-CN" altLang="en-US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1016635"/>
            <a:ext cx="8221980" cy="43935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多进程：单处理器</a:t>
            </a:r>
            <a:endParaRPr lang="en-US" altLang="zh-CN"/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2590800" y="5105400"/>
            <a:ext cx="5869940" cy="1325880"/>
          </a:xfrm>
        </p:spPr>
        <p:txBody>
          <a:bodyPr/>
          <a:lstStyle/>
          <a:p>
            <a:r>
              <a:rPr lang="zh-CN" altLang="en-US"/>
              <a:t>单个处理器同时执行多个进程</a:t>
            </a:r>
            <a:endParaRPr lang="zh-CN" altLang="en-US"/>
          </a:p>
          <a:p>
            <a:pPr lvl="1"/>
            <a:r>
              <a:rPr lang="zh-CN" altLang="en-US"/>
              <a:t>进程</a:t>
            </a:r>
            <a:r>
              <a:rPr lang="zh-CN" altLang="en-US">
                <a:sym typeface="+mn-ea"/>
              </a:rPr>
              <a:t>交错</a:t>
            </a:r>
            <a:r>
              <a:rPr lang="zh-CN" altLang="en-US"/>
              <a:t>执行（多任务处理）</a:t>
            </a:r>
            <a:endParaRPr lang="zh-CN" altLang="en-US"/>
          </a:p>
          <a:p>
            <a:pPr lvl="1"/>
            <a:r>
              <a:rPr lang="zh-CN" altLang="en-US"/>
              <a:t>地址空间由虚拟内存系统管理</a:t>
            </a:r>
            <a:endParaRPr lang="zh-CN" altLang="en-US"/>
          </a:p>
          <a:p>
            <a:pPr lvl="1"/>
            <a:r>
              <a:rPr lang="zh-CN" altLang="en-US"/>
              <a:t>非执行</a:t>
            </a:r>
            <a:r>
              <a:rPr lang="zh-CN" altLang="en-US"/>
              <a:t>进程的寄存器值保存在内存中</a:t>
            </a:r>
            <a:endParaRPr lang="zh-CN" alt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24384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5767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275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64386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64386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564386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564386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23622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564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254870" y="17895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254870" y="2094391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254870" y="2667176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254870" y="238309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4254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68456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68456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68456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8456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6845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67400" y="2165367"/>
            <a:ext cx="5080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多进程：单处理器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2590800" y="5334000"/>
            <a:ext cx="4474210" cy="630555"/>
          </a:xfrm>
        </p:spPr>
        <p:txBody>
          <a:bodyPr/>
          <a:lstStyle/>
          <a:p>
            <a:r>
              <a:rPr lang="zh-CN" altLang="en-US"/>
              <a:t>将当前寄存器保存到内存中</a:t>
            </a:r>
            <a:endParaRPr lang="zh-CN" alt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24384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5767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275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64386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64386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564386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564386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23622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564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254870" y="17895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254870" y="2094391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254870" y="2667176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254870" y="238309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4254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68456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68456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68456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8456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6845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67400" y="2165367"/>
            <a:ext cx="4343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Up Arrow 4"/>
          <p:cNvSpPr/>
          <p:nvPr/>
        </p:nvSpPr>
        <p:spPr bwMode="auto">
          <a:xfrm>
            <a:off x="2971800" y="3573700"/>
            <a:ext cx="228600" cy="464901"/>
          </a:xfrm>
          <a:prstGeom prst="up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多进程：单处理器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2564130" y="5334000"/>
            <a:ext cx="3490595" cy="572135"/>
          </a:xfrm>
        </p:spPr>
        <p:txBody>
          <a:bodyPr>
            <a:normAutofit/>
          </a:bodyPr>
          <a:lstStyle/>
          <a:p>
            <a:r>
              <a:rPr lang="zh-CN" altLang="en-US"/>
              <a:t>调度下一个进程执行</a:t>
            </a:r>
            <a:endParaRPr lang="zh-CN" alt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1148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2531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275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64386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64386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564386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564386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40386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564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254870" y="17895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254870" y="2094391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254870" y="2667176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254870" y="238309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4254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68456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68456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68456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8456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6845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67400" y="2165367"/>
            <a:ext cx="5080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41148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2531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275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64386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64386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564386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564386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40386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564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254870" y="17895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254870" y="2094391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254870" y="2667176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254870" y="238309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4254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68456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68456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68456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8456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6845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67400" y="2165367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Up Arrow 4"/>
          <p:cNvSpPr/>
          <p:nvPr/>
        </p:nvSpPr>
        <p:spPr bwMode="auto">
          <a:xfrm flipV="1">
            <a:off x="4724400" y="3573700"/>
            <a:ext cx="228600" cy="464901"/>
          </a:xfrm>
          <a:prstGeom prst="up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多进程：单处理器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idx="1"/>
          </p:nvPr>
        </p:nvSpPr>
        <p:spPr>
          <a:xfrm>
            <a:off x="2564130" y="5334000"/>
            <a:ext cx="7473950" cy="572135"/>
          </a:xfrm>
        </p:spPr>
        <p:txBody>
          <a:bodyPr>
            <a:normAutofit/>
          </a:bodyPr>
          <a:lstStyle/>
          <a:p>
            <a:r>
              <a:rPr lang="zh-CN" altLang="en-US" dirty="0"/>
              <a:t>加载保存的寄存器并切换地址空间（上下文切换）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5715000" y="3957955"/>
            <a:ext cx="5483860" cy="2671445"/>
          </a:xfrm>
        </p:spPr>
        <p:txBody>
          <a:bodyPr/>
          <a:lstStyle/>
          <a:p>
            <a:r>
              <a:rPr lang="zh-CN" altLang="en-US"/>
              <a:t>多核处理器</a:t>
            </a:r>
            <a:endParaRPr lang="zh-CN" altLang="en-US"/>
          </a:p>
          <a:p>
            <a:pPr lvl="1"/>
            <a:r>
              <a:rPr lang="zh-CN" altLang="en-US"/>
              <a:t>单个芯片上集成多个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CPU</a:t>
            </a:r>
            <a:endParaRPr lang="en-US" altLang="zh-CN"/>
          </a:p>
          <a:p>
            <a:pPr lvl="1"/>
            <a:r>
              <a:rPr lang="zh-CN" altLang="en-US"/>
              <a:t>共享主内存（以及部分缓存）</a:t>
            </a:r>
            <a:endParaRPr lang="zh-CN" altLang="en-US"/>
          </a:p>
          <a:p>
            <a:pPr lvl="1"/>
            <a:r>
              <a:rPr lang="zh-CN" altLang="en-US"/>
              <a:t>每个核心可以执行独立的进程</a:t>
            </a:r>
            <a:endParaRPr lang="zh-CN" altLang="en-US"/>
          </a:p>
          <a:p>
            <a:pPr lvl="2"/>
            <a:r>
              <a:rPr lang="zh-CN" altLang="en-US"/>
              <a:t>内核负责将进程调度到核心上执行</a:t>
            </a:r>
            <a:endParaRPr lang="zh-CN" altLang="en-US"/>
          </a:p>
          <a:p>
            <a:endParaRPr lang="en-US" dirty="0"/>
          </a:p>
        </p:txBody>
      </p:sp>
      <p:sp>
        <p:nvSpPr>
          <p:cNvPr id="17" name="Rectangle 16"/>
          <p:cNvSpPr/>
          <p:nvPr/>
        </p:nvSpPr>
        <p:spPr bwMode="auto">
          <a:xfrm>
            <a:off x="41148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2531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2275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2564386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564386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2564386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2564386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0386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564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4254870" y="17895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4254870" y="2094391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254870" y="2667176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4254870" y="238309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4254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8456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68456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Heap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68456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68456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6845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Saved 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67400" y="2165367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2438400" y="4046304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2576716" y="4503504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362200" y="1676400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多进程：多核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用户视角下的并发进程</a:t>
            </a:r>
            <a:endParaRPr lang="zh-CN" altLang="en-US"/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如果两个进程的执行在时间上有重叠，它们就是</a:t>
            </a:r>
            <a:r>
              <a:rPr lang="zh-CN" altLang="en-US" i="1" dirty="0">
                <a:solidFill>
                  <a:srgbClr val="C00000"/>
                </a:solidFill>
              </a:rPr>
              <a:t>并发的</a:t>
            </a:r>
            <a:endParaRPr lang="en-US" dirty="0"/>
          </a:p>
          <a:p>
            <a:r>
              <a:rPr lang="zh-CN" altLang="en-US" dirty="0"/>
              <a:t>否则，它们就是</a:t>
            </a:r>
            <a:r>
              <a:rPr lang="zh-CN" altLang="en-US" i="1" dirty="0">
                <a:solidFill>
                  <a:srgbClr val="C00000"/>
                </a:solidFill>
              </a:rPr>
              <a:t>顺序的</a:t>
            </a:r>
            <a:endParaRPr lang="en-US" i="1" dirty="0">
              <a:solidFill>
                <a:srgbClr val="C00000"/>
              </a:solidFill>
            </a:endParaRPr>
          </a:p>
          <a:p>
            <a:r>
              <a:rPr lang="zh-CN" altLang="en-US"/>
              <a:t>并发进程看起来像是彼此</a:t>
            </a:r>
            <a:r>
              <a:rPr lang="zh-CN" altLang="en-US" b="1">
                <a:solidFill>
                  <a:srgbClr val="00B050"/>
                </a:solidFill>
              </a:rPr>
              <a:t>并行</a:t>
            </a:r>
            <a:r>
              <a:rPr lang="zh-CN" altLang="en-US"/>
              <a:t>运行</a:t>
            </a:r>
            <a:endParaRPr lang="zh-CN" altLang="en-US"/>
          </a:p>
          <a:p>
            <a:pPr lvl="1"/>
            <a:r>
              <a:rPr lang="zh-CN" altLang="en-US"/>
              <a:t>这意味着它们可能会相互干扰</a:t>
            </a:r>
            <a:endParaRPr lang="zh-CN" altLang="en-US"/>
          </a:p>
          <a:p>
            <a:pPr lvl="0"/>
            <a:r>
              <a:rPr lang="zh-CN" altLang="en-US"/>
              <a:t>并发</a:t>
            </a:r>
            <a:r>
              <a:rPr lang="en-US" altLang="zh-CN"/>
              <a:t> vs </a:t>
            </a:r>
            <a:r>
              <a:rPr lang="zh-CN" altLang="en-US"/>
              <a:t>并行</a:t>
            </a:r>
            <a:endParaRPr lang="zh-CN" altLang="en-US"/>
          </a:p>
          <a:p>
            <a:pPr lvl="1"/>
            <a:r>
              <a:rPr lang="zh-CN" altLang="en-US"/>
              <a:t>并行</a:t>
            </a:r>
            <a:r>
              <a:rPr lang="en-US" altLang="zh-CN"/>
              <a:t>：</a:t>
            </a:r>
            <a:r>
              <a:rPr lang="zh-CN" altLang="en-US"/>
              <a:t>是指物理上的同时</a:t>
            </a:r>
            <a:r>
              <a:rPr lang="zh-CN" altLang="en-US"/>
              <a:t>发生</a:t>
            </a:r>
            <a:endParaRPr lang="zh-CN" altLang="en-US"/>
          </a:p>
          <a:p>
            <a:pPr lvl="1"/>
            <a:r>
              <a:rPr lang="zh-CN" altLang="en-US"/>
              <a:t>并发</a:t>
            </a:r>
            <a:r>
              <a:rPr lang="en-US" altLang="zh-CN"/>
              <a:t>：</a:t>
            </a:r>
            <a:r>
              <a:rPr lang="zh-CN" altLang="en-US"/>
              <a:t>是指用户视角</a:t>
            </a:r>
            <a:r>
              <a:rPr lang="en-US" altLang="zh-CN"/>
              <a:t>/</a:t>
            </a:r>
            <a:r>
              <a:rPr lang="zh-CN" altLang="en-US"/>
              <a:t>感受上的同时</a:t>
            </a:r>
            <a:r>
              <a:rPr lang="zh-CN" altLang="en-US"/>
              <a:t>发生</a:t>
            </a:r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2819400" y="4438646"/>
            <a:ext cx="5638800" cy="1447800"/>
            <a:chOff x="1219200" y="3810000"/>
            <a:chExt cx="5638800" cy="1447800"/>
          </a:xfrm>
        </p:grpSpPr>
        <p:sp>
          <p:nvSpPr>
            <p:cNvPr id="3" name="Text Box 5"/>
            <p:cNvSpPr txBox="1">
              <a:spLocks noChangeArrowheads="1"/>
            </p:cNvSpPr>
            <p:nvPr/>
          </p:nvSpPr>
          <p:spPr bwMode="auto">
            <a:xfrm>
              <a:off x="1219200" y="4311650"/>
              <a:ext cx="853440" cy="460375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Time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" name="Line 6"/>
            <p:cNvSpPr>
              <a:spLocks noChangeShapeType="1"/>
            </p:cNvSpPr>
            <p:nvPr/>
          </p:nvSpPr>
          <p:spPr bwMode="auto">
            <a:xfrm>
              <a:off x="3276600" y="4191000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2709863" y="3810000"/>
              <a:ext cx="999697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i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Process A</a:t>
              </a:r>
              <a:endParaRPr lang="en-US" sz="16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4233863" y="3810000"/>
              <a:ext cx="990079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i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Process B</a:t>
              </a:r>
              <a:endParaRPr lang="en-US" sz="16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5757863" y="3810000"/>
              <a:ext cx="983667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i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Process C</a:t>
              </a:r>
              <a:endParaRPr lang="en-US" sz="16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4800600" y="4343400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6324600" y="4648200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3276600" y="4495800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2819400" y="4191000"/>
              <a:ext cx="403860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2819400" y="4800600"/>
              <a:ext cx="403860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6324600" y="4953000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2819400" y="4343400"/>
              <a:ext cx="403860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>
              <a:off x="2819400" y="4648200"/>
              <a:ext cx="403860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6" name="Down Arrow 15"/>
            <p:cNvSpPr/>
            <p:nvPr/>
          </p:nvSpPr>
          <p:spPr bwMode="auto">
            <a:xfrm>
              <a:off x="1981200" y="4000500"/>
              <a:ext cx="457200" cy="1257300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/>
            <a:lstStyle/>
            <a:p>
              <a:pPr algn="ctr"/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7" name="Straight Arrow Connector 16"/>
          <p:cNvCxnSpPr/>
          <p:nvPr/>
        </p:nvCxnSpPr>
        <p:spPr bwMode="auto">
          <a:xfrm>
            <a:off x="4876802" y="5124446"/>
            <a:ext cx="1523999" cy="0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9" name="Callout: Bent Line 4"/>
          <p:cNvSpPr/>
          <p:nvPr/>
        </p:nvSpPr>
        <p:spPr bwMode="auto">
          <a:xfrm>
            <a:off x="8748257" y="3962400"/>
            <a:ext cx="983666" cy="476246"/>
          </a:xfrm>
          <a:prstGeom prst="borderCallout2">
            <a:avLst>
              <a:gd name="adj1" fmla="val 18750"/>
              <a:gd name="adj2" fmla="val -678"/>
              <a:gd name="adj3" fmla="val 18750"/>
              <a:gd name="adj4" fmla="val -16667"/>
              <a:gd name="adj5" fmla="val 243513"/>
              <a:gd name="adj6" fmla="val -269767"/>
            </a:avLst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 and B 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zh-CN" altLang="en-US" sz="140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并发</a:t>
            </a:r>
            <a:r>
              <a:rPr lang="zh-CN" altLang="en-US" sz="140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  <a:sym typeface="+mn-ea"/>
              </a:rPr>
              <a:t>执行</a:t>
            </a:r>
            <a:endParaRPr lang="zh-CN" altLang="en-US" sz="1400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sp>
        <p:nvSpPr>
          <p:cNvPr id="20" name="Callout: Bent Line 21"/>
          <p:cNvSpPr/>
          <p:nvPr/>
        </p:nvSpPr>
        <p:spPr bwMode="auto">
          <a:xfrm>
            <a:off x="8748257" y="4630829"/>
            <a:ext cx="983666" cy="476246"/>
          </a:xfrm>
          <a:prstGeom prst="borderCallout2">
            <a:avLst>
              <a:gd name="adj1" fmla="val 18750"/>
              <a:gd name="adj2" fmla="val -678"/>
              <a:gd name="adj3" fmla="val 18750"/>
              <a:gd name="adj4" fmla="val -16667"/>
              <a:gd name="adj5" fmla="val 153159"/>
              <a:gd name="adj6" fmla="val -197588"/>
            </a:avLst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 and C </a:t>
            </a:r>
            <a:r>
              <a:rPr lang="zh-CN" altLang="en-US" sz="140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并发</a:t>
            </a:r>
            <a:r>
              <a:rPr lang="zh-CN" altLang="en-US" sz="140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  <a:sym typeface="+mn-ea"/>
              </a:rPr>
              <a:t>执行</a:t>
            </a:r>
            <a:endParaRPr lang="zh-CN" altLang="en-US" sz="1400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4876800" y="5353046"/>
            <a:ext cx="3048000" cy="0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2" name="Callout: Bent Line 24"/>
          <p:cNvSpPr/>
          <p:nvPr/>
        </p:nvSpPr>
        <p:spPr bwMode="auto">
          <a:xfrm>
            <a:off x="8748257" y="5299930"/>
            <a:ext cx="983666" cy="476246"/>
          </a:xfrm>
          <a:prstGeom prst="borderCallout2">
            <a:avLst>
              <a:gd name="adj1" fmla="val 84256"/>
              <a:gd name="adj2" fmla="val 416"/>
              <a:gd name="adj3" fmla="val 84256"/>
              <a:gd name="adj4" fmla="val -22135"/>
              <a:gd name="adj5" fmla="val -442"/>
              <a:gd name="adj6" fmla="val -133064"/>
            </a:avLst>
          </a:prstGeom>
          <a:noFill/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B and C 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zh-CN" altLang="en-US" sz="1400" dirty="0">
                <a:latin typeface="SimHei" panose="02010600030101010101" charset="-122"/>
                <a:ea typeface="SimHei" panose="02010600030101010101" charset="-122"/>
                <a:cs typeface="Consolas" panose="020B0609020204030204" pitchFamily="49" charset="0"/>
              </a:rPr>
              <a:t>顺序执行</a:t>
            </a:r>
            <a:endParaRPr lang="zh-CN" altLang="en-US" sz="1400" dirty="0">
              <a:latin typeface="SimHei" panose="02010600030101010101" charset="-122"/>
              <a:ea typeface="SimHei" panose="02010600030101010101" charset="-122"/>
              <a:cs typeface="Consolas" panose="020B0609020204030204" pitchFamily="49" charset="0"/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6400800" y="5276846"/>
            <a:ext cx="1524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19" grpId="1" bldLvl="0" animBg="1"/>
      <p:bldP spid="20" grpId="0" bldLvl="0" animBg="1"/>
      <p:bldP spid="20" grpId="1" bldLvl="0" animBg="1"/>
      <p:bldP spid="22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并发进程（单处理器）</a:t>
            </a:r>
            <a:endParaRPr lang="zh-CN" altLang="en-US"/>
          </a:p>
        </p:txBody>
      </p:sp>
      <p:sp>
        <p:nvSpPr>
          <p:cNvPr id="485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同一时刻只有一个进程在运行</a:t>
            </a:r>
            <a:endParaRPr lang="zh-CN" altLang="en-US"/>
          </a:p>
          <a:p>
            <a:r>
              <a:rPr lang="zh-CN" altLang="en-US"/>
              <a:t>进程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zh-CN" altLang="en-US"/>
              <a:t>和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B </a:t>
            </a:r>
            <a:r>
              <a:rPr lang="zh-CN" altLang="en-US"/>
              <a:t>的执行是</a:t>
            </a:r>
            <a:r>
              <a:rPr lang="zh-CN" altLang="en-US" i="1" dirty="0"/>
              <a:t>交错的</a:t>
            </a:r>
            <a:r>
              <a:rPr lang="zh-CN" altLang="en-US" dirty="0"/>
              <a:t>，</a:t>
            </a:r>
            <a:r>
              <a:rPr lang="zh-CN" altLang="en-US"/>
              <a:t>并非真正的并发</a:t>
            </a:r>
            <a:endParaRPr lang="zh-CN" altLang="en-US"/>
          </a:p>
          <a:p>
            <a:r>
              <a:rPr lang="zh-CN" altLang="en-US"/>
              <a:t>进程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zh-CN" altLang="en-US"/>
              <a:t>和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C </a:t>
            </a:r>
            <a:r>
              <a:rPr lang="zh-CN" altLang="en-US"/>
              <a:t>也是类似的情况</a:t>
            </a:r>
            <a:endParaRPr lang="zh-CN" altLang="en-US"/>
          </a:p>
          <a:p>
            <a:r>
              <a:rPr lang="zh-CN" altLang="en-US"/>
              <a:t>仍然可能发生进程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zh-CN" altLang="en-US"/>
              <a:t>与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B </a:t>
            </a:r>
            <a:r>
              <a:rPr lang="zh-CN" altLang="en-US"/>
              <a:t>或进程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zh-CN" altLang="en-US"/>
              <a:t>与</a:t>
            </a: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 C </a:t>
            </a:r>
            <a:r>
              <a:rPr lang="zh-CN" altLang="en-US"/>
              <a:t>之间的相互干扰</a:t>
            </a:r>
            <a:endParaRPr lang="zh-CN" altLang="en-US"/>
          </a:p>
        </p:txBody>
      </p:sp>
      <p:sp>
        <p:nvSpPr>
          <p:cNvPr id="485383" name="Line 7"/>
          <p:cNvSpPr>
            <a:spLocks noChangeShapeType="1"/>
          </p:cNvSpPr>
          <p:nvPr/>
        </p:nvSpPr>
        <p:spPr bwMode="auto">
          <a:xfrm>
            <a:off x="4648200" y="4038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84" name="Text Box 8"/>
          <p:cNvSpPr txBox="1">
            <a:spLocks noChangeArrowheads="1"/>
          </p:cNvSpPr>
          <p:nvPr/>
        </p:nvSpPr>
        <p:spPr bwMode="auto">
          <a:xfrm>
            <a:off x="4146333" y="3657600"/>
            <a:ext cx="1188720" cy="33718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A</a:t>
            </a:r>
            <a:endParaRPr lang="en-US" sz="1600" i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5385" name="Text Box 9"/>
          <p:cNvSpPr txBox="1">
            <a:spLocks noChangeArrowheads="1"/>
          </p:cNvSpPr>
          <p:nvPr/>
        </p:nvSpPr>
        <p:spPr bwMode="auto">
          <a:xfrm>
            <a:off x="5670333" y="3657600"/>
            <a:ext cx="970915" cy="33718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B</a:t>
            </a:r>
            <a:endParaRPr lang="en-US" sz="1600" i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5386" name="Text Box 10"/>
          <p:cNvSpPr txBox="1">
            <a:spLocks noChangeArrowheads="1"/>
          </p:cNvSpPr>
          <p:nvPr/>
        </p:nvSpPr>
        <p:spPr bwMode="auto">
          <a:xfrm>
            <a:off x="7194333" y="3657600"/>
            <a:ext cx="962660" cy="33718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C</a:t>
            </a:r>
            <a:endParaRPr lang="en-US" sz="1600" i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5387" name="Line 11"/>
          <p:cNvSpPr>
            <a:spLocks noChangeShapeType="1"/>
          </p:cNvSpPr>
          <p:nvPr/>
        </p:nvSpPr>
        <p:spPr bwMode="auto">
          <a:xfrm>
            <a:off x="6172200" y="4343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88" name="Line 12"/>
          <p:cNvSpPr>
            <a:spLocks noChangeShapeType="1"/>
          </p:cNvSpPr>
          <p:nvPr/>
        </p:nvSpPr>
        <p:spPr bwMode="auto">
          <a:xfrm>
            <a:off x="7696200" y="4648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89" name="Line 13"/>
          <p:cNvSpPr>
            <a:spLocks noChangeShapeType="1"/>
          </p:cNvSpPr>
          <p:nvPr/>
        </p:nvSpPr>
        <p:spPr bwMode="auto">
          <a:xfrm>
            <a:off x="4648200" y="4953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90" name="Line 14"/>
          <p:cNvSpPr>
            <a:spLocks noChangeShapeType="1"/>
          </p:cNvSpPr>
          <p:nvPr/>
        </p:nvSpPr>
        <p:spPr bwMode="auto">
          <a:xfrm>
            <a:off x="7696200" y="5257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91" name="Line 15"/>
          <p:cNvSpPr>
            <a:spLocks noChangeShapeType="1"/>
          </p:cNvSpPr>
          <p:nvPr/>
        </p:nvSpPr>
        <p:spPr bwMode="auto">
          <a:xfrm>
            <a:off x="4191000" y="43434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92" name="Line 16"/>
          <p:cNvSpPr>
            <a:spLocks noChangeShapeType="1"/>
          </p:cNvSpPr>
          <p:nvPr/>
        </p:nvSpPr>
        <p:spPr bwMode="auto">
          <a:xfrm>
            <a:off x="4191000" y="46482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93" name="Line 17"/>
          <p:cNvSpPr>
            <a:spLocks noChangeShapeType="1"/>
          </p:cNvSpPr>
          <p:nvPr/>
        </p:nvSpPr>
        <p:spPr bwMode="auto">
          <a:xfrm>
            <a:off x="4191000" y="49530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94" name="Line 18"/>
          <p:cNvSpPr>
            <a:spLocks noChangeShapeType="1"/>
          </p:cNvSpPr>
          <p:nvPr/>
        </p:nvSpPr>
        <p:spPr bwMode="auto">
          <a:xfrm>
            <a:off x="4191000" y="52578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5395" name="Line 19"/>
          <p:cNvSpPr>
            <a:spLocks noChangeShapeType="1"/>
          </p:cNvSpPr>
          <p:nvPr/>
        </p:nvSpPr>
        <p:spPr bwMode="auto">
          <a:xfrm>
            <a:off x="4191000" y="55626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0" name="Text Box 1031"/>
          <p:cNvSpPr txBox="1">
            <a:spLocks noChangeArrowheads="1"/>
          </p:cNvSpPr>
          <p:nvPr/>
        </p:nvSpPr>
        <p:spPr bwMode="auto">
          <a:xfrm>
            <a:off x="2451100" y="4567555"/>
            <a:ext cx="90170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Down Arrow 20"/>
          <p:cNvSpPr/>
          <p:nvPr/>
        </p:nvSpPr>
        <p:spPr bwMode="auto">
          <a:xfrm>
            <a:off x="3276600" y="4191000"/>
            <a:ext cx="457200" cy="16002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3" grpId="0" animBg="1"/>
      <p:bldP spid="485384" grpId="0" bldLvl="0" animBg="1"/>
      <p:bldP spid="485385" grpId="0" bldLvl="0" animBg="1"/>
      <p:bldP spid="485386" grpId="0" bldLvl="0" animBg="1"/>
      <p:bldP spid="485387" grpId="0" animBg="1"/>
      <p:bldP spid="485388" grpId="0" animBg="1"/>
      <p:bldP spid="485389" grpId="0" animBg="1"/>
      <p:bldP spid="485390" grpId="0" animBg="1"/>
      <p:bldP spid="485391" grpId="0" animBg="1"/>
      <p:bldP spid="485392" grpId="0" animBg="1"/>
      <p:bldP spid="485393" grpId="0" animBg="1"/>
      <p:bldP spid="485394" grpId="0" animBg="1"/>
      <p:bldP spid="485395" grpId="0" animBg="1"/>
      <p:bldP spid="20" grpId="0" bldLvl="0" animBg="1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 bwMode="auto">
          <a:xfrm>
            <a:off x="3644444" y="4799460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3644444" y="4374010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3644444" y="5224910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644444" y="3942666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3644444" y="3517216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上下文切换</a:t>
            </a:r>
            <a:endParaRPr lang="zh-CN" altLang="en-US"/>
          </a:p>
        </p:txBody>
      </p:sp>
      <p:sp>
        <p:nvSpPr>
          <p:cNvPr id="487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进程由一个常驻内存的</a:t>
            </a:r>
            <a:r>
              <a:rPr lang="en-US" altLang="zh-CN"/>
              <a:t>、</a:t>
            </a:r>
            <a:r>
              <a:rPr lang="zh-CN" altLang="en-US">
                <a:sym typeface="+mn-ea"/>
              </a:rPr>
              <a:t>共享的</a:t>
            </a:r>
            <a:r>
              <a:rPr lang="zh-CN" altLang="en-US"/>
              <a:t>操作系统代码块（</a:t>
            </a:r>
            <a:r>
              <a:rPr lang="zh-CN" altLang="en-US">
                <a:sym typeface="+mn-ea"/>
              </a:rPr>
              <a:t>称作</a:t>
            </a:r>
            <a:r>
              <a:rPr lang="en-US" i="1" dirty="0">
                <a:solidFill>
                  <a:srgbClr val="C00000"/>
                </a:solidFill>
                <a:sym typeface="+mn-ea"/>
              </a:rPr>
              <a:t>内核</a:t>
            </a:r>
            <a:r>
              <a:rPr lang="zh-CN" altLang="en-US" dirty="0"/>
              <a:t>）管理</a:t>
            </a:r>
            <a:endParaRPr lang="en-US" i="1" dirty="0">
              <a:solidFill>
                <a:srgbClr val="C0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注意：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内核不是一个独立的进程，而是作为某个现有进程的一部分运行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控制流通过</a:t>
            </a:r>
            <a:r>
              <a:rPr lang="en-US" i="1" dirty="0">
                <a:solidFill>
                  <a:srgbClr val="C00000"/>
                </a:solidFill>
              </a:rPr>
              <a:t>上下文切换</a:t>
            </a:r>
            <a:r>
              <a:rPr lang="zh-CN" altLang="en-US"/>
              <a:t>从一个进程转移到另一个进程</a:t>
            </a:r>
            <a:endParaRPr lang="zh-CN" altLang="en-US"/>
          </a:p>
        </p:txBody>
      </p:sp>
      <p:sp>
        <p:nvSpPr>
          <p:cNvPr id="487428" name="Text Box 4"/>
          <p:cNvSpPr txBox="1">
            <a:spLocks noChangeArrowheads="1"/>
          </p:cNvSpPr>
          <p:nvPr/>
        </p:nvSpPr>
        <p:spPr bwMode="auto">
          <a:xfrm>
            <a:off x="3866466" y="2895600"/>
            <a:ext cx="1080770" cy="3683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A</a:t>
            </a:r>
            <a:endParaRPr lang="en-US" sz="1800" i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7429" name="Text Box 5"/>
          <p:cNvSpPr txBox="1">
            <a:spLocks noChangeArrowheads="1"/>
          </p:cNvSpPr>
          <p:nvPr/>
        </p:nvSpPr>
        <p:spPr bwMode="auto">
          <a:xfrm>
            <a:off x="5389458" y="2895600"/>
            <a:ext cx="1070610" cy="3683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B</a:t>
            </a:r>
            <a:endParaRPr lang="en-US" sz="1800" i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7430" name="Line 6"/>
          <p:cNvSpPr>
            <a:spLocks noChangeShapeType="1"/>
          </p:cNvSpPr>
          <p:nvPr/>
        </p:nvSpPr>
        <p:spPr bwMode="auto">
          <a:xfrm flipH="1">
            <a:off x="4419600" y="3520400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7435" name="Line 11"/>
          <p:cNvSpPr>
            <a:spLocks noChangeShapeType="1"/>
          </p:cNvSpPr>
          <p:nvPr/>
        </p:nvSpPr>
        <p:spPr bwMode="auto">
          <a:xfrm flipH="1">
            <a:off x="5245100" y="2895600"/>
            <a:ext cx="12700" cy="312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87436" name="Text Box 12"/>
          <p:cNvSpPr txBox="1">
            <a:spLocks noChangeArrowheads="1"/>
          </p:cNvSpPr>
          <p:nvPr/>
        </p:nvSpPr>
        <p:spPr bwMode="auto">
          <a:xfrm>
            <a:off x="6946901" y="3581400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用户代码</a:t>
            </a:r>
            <a:endParaRPr lang="zh-CN" altLang="en-US" sz="16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37" name="Text Box 13"/>
          <p:cNvSpPr txBox="1">
            <a:spLocks noChangeArrowheads="1"/>
          </p:cNvSpPr>
          <p:nvPr/>
        </p:nvSpPr>
        <p:spPr bwMode="auto">
          <a:xfrm>
            <a:off x="6946901" y="3995738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内核代码</a:t>
            </a:r>
            <a:endParaRPr lang="zh-CN" altLang="en-US" sz="16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38" name="Text Box 14"/>
          <p:cNvSpPr txBox="1">
            <a:spLocks noChangeArrowheads="1"/>
          </p:cNvSpPr>
          <p:nvPr/>
        </p:nvSpPr>
        <p:spPr bwMode="auto">
          <a:xfrm>
            <a:off x="6946901" y="4408488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用户代码</a:t>
            </a:r>
            <a:endParaRPr lang="zh-CN" altLang="en-US" sz="16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39" name="Text Box 15"/>
          <p:cNvSpPr txBox="1">
            <a:spLocks noChangeArrowheads="1"/>
          </p:cNvSpPr>
          <p:nvPr/>
        </p:nvSpPr>
        <p:spPr bwMode="auto">
          <a:xfrm>
            <a:off x="6929439" y="4845050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内核代码</a:t>
            </a:r>
            <a:endParaRPr lang="zh-CN" altLang="en-US" sz="16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40" name="Text Box 16"/>
          <p:cNvSpPr txBox="1">
            <a:spLocks noChangeArrowheads="1"/>
          </p:cNvSpPr>
          <p:nvPr/>
        </p:nvSpPr>
        <p:spPr bwMode="auto">
          <a:xfrm>
            <a:off x="6946901" y="5302250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用户代码</a:t>
            </a:r>
            <a:endParaRPr lang="zh-CN" altLang="en-US" sz="16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51" name="AutoShape 27"/>
          <p:cNvSpPr/>
          <p:nvPr/>
        </p:nvSpPr>
        <p:spPr bwMode="auto">
          <a:xfrm>
            <a:off x="8382000" y="3941543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52" name="Text Box 28"/>
          <p:cNvSpPr txBox="1">
            <a:spLocks noChangeArrowheads="1"/>
          </p:cNvSpPr>
          <p:nvPr/>
        </p:nvSpPr>
        <p:spPr bwMode="auto">
          <a:xfrm>
            <a:off x="8461375" y="3962766"/>
            <a:ext cx="1234633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i="1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上下文切换</a:t>
            </a:r>
            <a:endParaRPr lang="zh-CN" altLang="en-US" sz="1600" i="1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53" name="AutoShape 29"/>
          <p:cNvSpPr/>
          <p:nvPr/>
        </p:nvSpPr>
        <p:spPr bwMode="auto">
          <a:xfrm>
            <a:off x="8382000" y="4811037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7454" name="Text Box 30"/>
          <p:cNvSpPr txBox="1">
            <a:spLocks noChangeArrowheads="1"/>
          </p:cNvSpPr>
          <p:nvPr/>
        </p:nvSpPr>
        <p:spPr bwMode="auto">
          <a:xfrm>
            <a:off x="8461375" y="4832260"/>
            <a:ext cx="1234633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i="1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上下文切换</a:t>
            </a:r>
            <a:endParaRPr lang="zh-CN" altLang="en-US" sz="1600" i="1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2057401" y="4267201"/>
            <a:ext cx="81026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Down Arrow 31"/>
          <p:cNvSpPr/>
          <p:nvPr/>
        </p:nvSpPr>
        <p:spPr bwMode="auto">
          <a:xfrm>
            <a:off x="2819400" y="3467100"/>
            <a:ext cx="457200" cy="24003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>
            <a:off x="4413250" y="5218176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9" name="Line 6"/>
          <p:cNvSpPr>
            <a:spLocks noChangeShapeType="1"/>
          </p:cNvSpPr>
          <p:nvPr/>
        </p:nvSpPr>
        <p:spPr bwMode="auto">
          <a:xfrm flipH="1">
            <a:off x="6013450" y="4379976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cxnSp>
        <p:nvCxnSpPr>
          <p:cNvPr id="41" name="Straight Arrow Connector 40"/>
          <p:cNvCxnSpPr>
            <a:stCxn id="487430" idx="1"/>
            <a:endCxn id="39" idx="0"/>
          </p:cNvCxnSpPr>
          <p:nvPr/>
        </p:nvCxnSpPr>
        <p:spPr bwMode="auto">
          <a:xfrm rot="16200000" flipH="1">
            <a:off x="5000224" y="3360400"/>
            <a:ext cx="438952" cy="1600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</p:cxnSp>
      <p:cxnSp>
        <p:nvCxnSpPr>
          <p:cNvPr id="43" name="Straight Arrow Connector 42"/>
          <p:cNvCxnSpPr>
            <a:stCxn id="39" idx="1"/>
            <a:endCxn id="38" idx="0"/>
          </p:cNvCxnSpPr>
          <p:nvPr/>
        </p:nvCxnSpPr>
        <p:spPr bwMode="auto">
          <a:xfrm rot="16200000" flipH="1" flipV="1">
            <a:off x="5007737" y="4212463"/>
            <a:ext cx="417576" cy="15938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  <a:endParaRPr lang="zh-CN" altLang="en-US" dirty="0"/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异常</a:t>
            </a:r>
            <a:endParaRPr lang="en-US" dirty="0"/>
          </a:p>
          <a:p>
            <a:pPr lvl="1"/>
            <a:r>
              <a:rPr lang="zh-CN" altLang="en-US" dirty="0"/>
              <a:t>需要非标准控制流的事件</a:t>
            </a:r>
            <a:endParaRPr lang="zh-CN" altLang="en-US" dirty="0"/>
          </a:p>
          <a:p>
            <a:pPr lvl="1"/>
            <a:r>
              <a:rPr lang="zh-CN" altLang="en-US" dirty="0"/>
              <a:t>外部生成（中断）或内部生成（陷阱和故障）</a:t>
            </a:r>
            <a:endParaRPr lang="zh-CN" altLang="en-US" dirty="0"/>
          </a:p>
          <a:p>
            <a:endParaRPr lang="en-US" dirty="0"/>
          </a:p>
          <a:p>
            <a:r>
              <a:rPr lang="zh-CN" altLang="en-US" dirty="0"/>
              <a:t>进程</a:t>
            </a:r>
            <a:endParaRPr lang="en-US" dirty="0"/>
          </a:p>
          <a:p>
            <a:pPr lvl="1"/>
            <a:r>
              <a:rPr lang="zh-CN" altLang="en-US" dirty="0"/>
              <a:t>系统在任意给定时间有多个活动进程</a:t>
            </a:r>
            <a:endParaRPr lang="zh-CN" altLang="en-US" dirty="0"/>
          </a:p>
          <a:p>
            <a:pPr lvl="1"/>
            <a:r>
              <a:rPr lang="zh-CN" altLang="en-US" dirty="0"/>
              <a:t>但同一时间在单个核心上只能有一个进程执行</a:t>
            </a:r>
            <a:endParaRPr lang="zh-CN" altLang="en-US" dirty="0"/>
          </a:p>
          <a:p>
            <a:pPr lvl="1"/>
            <a:r>
              <a:rPr lang="zh-CN" altLang="en-US" dirty="0"/>
              <a:t>每个进程看起来都可以完全控制处理器和私有内存空间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  <p:tag name="COMMONDATA" val="eyJoZGlkIjoiMmVjYmFiNGMzNjE5YmJlMzVhMTZjYWY0ZDAxOTI0YzIifQ==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6365</Words>
  <Application>WPS Sheets</Application>
  <PresentationFormat>Widescreen</PresentationFormat>
  <Paragraphs>932</Paragraphs>
  <Slides>37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77" baseType="lpstr">
      <vt:lpstr>Arial</vt:lpstr>
      <vt:lpstr>SimSun</vt:lpstr>
      <vt:lpstr>Wingdings</vt:lpstr>
      <vt:lpstr>Arial Narrow</vt:lpstr>
      <vt:lpstr>Calibri</vt:lpstr>
      <vt:lpstr>Helvetica Neue</vt:lpstr>
      <vt:lpstr>Times New Roman Regular</vt:lpstr>
      <vt:lpstr>Microsoft YaHei</vt:lpstr>
      <vt:lpstr>汉仪旗黑</vt:lpstr>
      <vt:lpstr>Wingdings 2</vt:lpstr>
      <vt:lpstr>仿宋</vt:lpstr>
      <vt:lpstr>方正仿宋_GBK</vt:lpstr>
      <vt:lpstr>Times New Roman</vt:lpstr>
      <vt:lpstr>Consolas</vt:lpstr>
      <vt:lpstr>苹方-简</vt:lpstr>
      <vt:lpstr>FangSong</vt:lpstr>
      <vt:lpstr>quote-cjk-patch</vt:lpstr>
      <vt:lpstr>Arial</vt:lpstr>
      <vt:lpstr>SimHei</vt:lpstr>
      <vt:lpstr>Microsoft YaHei</vt:lpstr>
      <vt:lpstr>Arial Unicode MS</vt:lpstr>
      <vt:lpstr>Courier New</vt:lpstr>
      <vt:lpstr>Courier New</vt:lpstr>
      <vt:lpstr>Menlo-Regular</vt:lpstr>
      <vt:lpstr>Calibri</vt:lpstr>
      <vt:lpstr>Menlo-Regular</vt:lpstr>
      <vt:lpstr>Wingdings</vt:lpstr>
      <vt:lpstr>msgothic</vt:lpstr>
      <vt:lpstr>Times New Roman Bold</vt:lpstr>
      <vt:lpstr>汉仪中黑KW</vt:lpstr>
      <vt:lpstr>汉仪书宋二KW</vt:lpstr>
      <vt:lpstr>Thonburi</vt:lpstr>
      <vt:lpstr>SimSun</vt:lpstr>
      <vt:lpstr>FangSong</vt:lpstr>
      <vt:lpstr>SimHei</vt:lpstr>
      <vt:lpstr>Wingdings</vt:lpstr>
      <vt:lpstr>quote-cjk-patch</vt:lpstr>
      <vt:lpstr>仿宋</vt:lpstr>
      <vt:lpstr>SimSun</vt:lpstr>
      <vt:lpstr>template2007</vt:lpstr>
      <vt:lpstr>异常控制流：异常与进程  计算机系统基础</vt:lpstr>
      <vt:lpstr>主要内容</vt:lpstr>
      <vt:lpstr>控制流</vt:lpstr>
      <vt:lpstr>改变控制流</vt:lpstr>
      <vt:lpstr>异常控制流</vt:lpstr>
      <vt:lpstr>主要内容</vt:lpstr>
      <vt:lpstr>异常</vt:lpstr>
      <vt:lpstr>异常的处理：异常表</vt:lpstr>
      <vt:lpstr>异步异常（中断）——线程外部的打断</vt:lpstr>
      <vt:lpstr>同步异常——线程内部的障碍或陷阱</vt:lpstr>
      <vt:lpstr>什么是系统调用</vt:lpstr>
      <vt:lpstr>系统调用</vt:lpstr>
      <vt:lpstr>x86-64系统调用</vt:lpstr>
      <vt:lpstr>系统调用示例：打开文件</vt:lpstr>
      <vt:lpstr>系统调用示例：打开文件</vt:lpstr>
      <vt:lpstr>系统调用示例：打开文件</vt:lpstr>
      <vt:lpstr>有哪些系统调用</vt:lpstr>
      <vt:lpstr>有哪些系统调用</vt:lpstr>
      <vt:lpstr>系统调用 vs 库函数</vt:lpstr>
      <vt:lpstr>当前进程触发了哪些系统调用</vt:lpstr>
      <vt:lpstr>故障示例：缺页异常</vt:lpstr>
      <vt:lpstr>故障示例：非法的内存引用</vt:lpstr>
      <vt:lpstr>Fault的例子</vt:lpstr>
      <vt:lpstr>异常向量表的组织</vt:lpstr>
      <vt:lpstr>主要内容</vt:lpstr>
      <vt:lpstr>进程 (process)</vt:lpstr>
      <vt:lpstr>多进程：一种假象</vt:lpstr>
      <vt:lpstr>多进程示例</vt:lpstr>
      <vt:lpstr>多进程：单处理器</vt:lpstr>
      <vt:lpstr>多进程：单处理器</vt:lpstr>
      <vt:lpstr>多进程：单处理器</vt:lpstr>
      <vt:lpstr>多进程：单处理器</vt:lpstr>
      <vt:lpstr>多进程：多核</vt:lpstr>
      <vt:lpstr>用户视角下的并发进程</vt:lpstr>
      <vt:lpstr>并发进程（单处理器）</vt:lpstr>
      <vt:lpstr>上下文切换</vt:lpstr>
      <vt:lpstr>总结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qali</cp:lastModifiedBy>
  <cp:revision>1118</cp:revision>
  <cp:lastPrinted>2026-05-12T01:22:11Z</cp:lastPrinted>
  <dcterms:created xsi:type="dcterms:W3CDTF">2026-05-12T01:22:11Z</dcterms:created>
  <dcterms:modified xsi:type="dcterms:W3CDTF">2026-05-12T01:22:11Z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B8D89B508AE0D9513DF6FB692D6E4FB4_43</vt:lpwstr>
  </property>
  <property fmtid="{D5CDD505-2E9C-101B-9397-08002B2CF9AE}" pid="3" name="KSOProductBuildVer">
    <vt:lpwstr>1033-12.1.24031.24031</vt:lpwstr>
  </property>
</Properties>
</file>